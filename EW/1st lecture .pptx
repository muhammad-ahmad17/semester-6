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3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 idx="3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9D563B-3FD8-48EF-8045-E79FA9EE1D2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57440" y="3663000"/>
            <a:ext cx="4064040" cy="24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B219B-536F-4C78-9521-1E2152078F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11C05-16A6-45E4-B296-31A6A83C08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39C5D1E-F4CC-4992-91B7-D3E4F33A23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EA4F84A-7194-466C-8C7F-E8CDA74B7AE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6E62F2F-D6BA-4A45-8DD8-606B27BA7BA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96FD2D6-5074-44DC-989F-4AF670A2A31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BB3A52B-E757-4B1D-8297-506BAECB085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57440" y="3663000"/>
            <a:ext cx="4064040" cy="24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E9201CE-2F10-4C46-8B66-697F75A814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D1E52A6-D079-4329-BBB3-A432AAAE08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757440" y="3663000"/>
            <a:ext cx="1983240" cy="24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2840400" y="3663000"/>
            <a:ext cx="1983240" cy="24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F565C3A-0B48-474D-891D-25B7442396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3741AE5D-2740-4A64-8846-9236703FDD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E0BAC09-26E3-43F6-B5E4-9B812D413C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CC6A259F-4E0B-4FCB-BAC8-9B646DC3F4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661CB071-6DC8-4A6B-80A1-E6BD354513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C7C05492-AF60-4CE6-A7A7-A271E2FCBA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78600" y="889920"/>
            <a:ext cx="998928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5400" spc="29" strike="noStrike" cap="all">
                <a:solidFill>
                  <a:schemeClr val="dk1"/>
                </a:solidFill>
                <a:latin typeface="Univers Condensed"/>
              </a:rPr>
              <a:t>Click to edit </a:t>
            </a:r>
            <a:r>
              <a:rPr b="0" lang="en-US" sz="5400" spc="29" strike="noStrike" cap="all">
                <a:solidFill>
                  <a:schemeClr val="dk1"/>
                </a:solidFill>
                <a:latin typeface="Univers Condensed"/>
              </a:rPr>
              <a:t>Master title </a:t>
            </a:r>
            <a:r>
              <a:rPr b="0" lang="en-US" sz="5400" spc="29" strike="noStrike" cap="all">
                <a:solidFill>
                  <a:schemeClr val="dk1"/>
                </a:solidFill>
                <a:latin typeface="Univers Condensed"/>
              </a:rPr>
              <a:t>style</a:t>
            </a:r>
            <a:endParaRPr b="0" lang="en-US" sz="5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9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00560" y="921960"/>
            <a:ext cx="10690920" cy="137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00560" y="2293200"/>
            <a:ext cx="10690920" cy="363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6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242280" y="997920"/>
            <a:ext cx="2348640" cy="49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997920"/>
            <a:ext cx="8403840" cy="49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cxnSp>
        <p:nvCxnSpPr>
          <p:cNvPr id="23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908640"/>
            <a:ext cx="4058280" cy="522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699160" y="0"/>
            <a:ext cx="5785920" cy="613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Click icon to insert picture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0"/>
          </p:nvPr>
        </p:nvSpPr>
        <p:spPr>
          <a:xfrm>
            <a:off x="10919160" y="6274080"/>
            <a:ext cx="67212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27" name="Straight Connector 2"/>
          <p:cNvCxnSpPr/>
          <p:nvPr/>
        </p:nvCxnSpPr>
        <p:spPr>
          <a:xfrm>
            <a:off x="799920" y="723600"/>
            <a:ext cx="163872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cxnSp>
        <p:nvCxnSpPr>
          <p:cNvPr id="28" name="Straight Connector 5"/>
          <p:cNvCxnSpPr/>
          <p:nvPr/>
        </p:nvCxnSpPr>
        <p:spPr>
          <a:xfrm>
            <a:off x="5699160" y="6136920"/>
            <a:ext cx="578700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30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05960" y="723960"/>
            <a:ext cx="3503520" cy="53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582160" y="2053080"/>
            <a:ext cx="5902920" cy="39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add content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743040" indent="-28584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200240" indent="-28584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57440" indent="-28584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114640" indent="-28584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1"/>
          </p:nvPr>
        </p:nvSpPr>
        <p:spPr>
          <a:xfrm>
            <a:off x="10919160" y="6274080"/>
            <a:ext cx="67212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4" name="Straight Connector 4"/>
          <p:cNvCxnSpPr/>
          <p:nvPr/>
        </p:nvCxnSpPr>
        <p:spPr>
          <a:xfrm>
            <a:off x="5695200" y="723600"/>
            <a:ext cx="579096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35" name="Straight Connector 5"/>
          <p:cNvCxnSpPr/>
          <p:nvPr/>
        </p:nvCxnSpPr>
        <p:spPr>
          <a:xfrm>
            <a:off x="5699160" y="6136920"/>
            <a:ext cx="578700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37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38" name="Straight Connector 9"/>
          <p:cNvCxnSpPr/>
          <p:nvPr/>
        </p:nvCxnSpPr>
        <p:spPr>
          <a:xfrm>
            <a:off x="5715000" y="738000"/>
            <a:ext cx="567720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636880" y="817560"/>
            <a:ext cx="5935680" cy="52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87656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cxnSp>
        <p:nvCxnSpPr>
          <p:cNvPr id="41" name="Straight Connector 11"/>
          <p:cNvCxnSpPr/>
          <p:nvPr/>
        </p:nvCxnSpPr>
        <p:spPr>
          <a:xfrm>
            <a:off x="5715000" y="6134040"/>
            <a:ext cx="567720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43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10640" y="776880"/>
            <a:ext cx="5853960" cy="307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0" y="0"/>
            <a:ext cx="487656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cxnSp>
        <p:nvCxnSpPr>
          <p:cNvPr id="46" name="Straight Connector 2"/>
          <p:cNvCxnSpPr/>
          <p:nvPr/>
        </p:nvCxnSpPr>
        <p:spPr>
          <a:xfrm>
            <a:off x="724320" y="723600"/>
            <a:ext cx="578700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47" name="Straight Connector 3"/>
          <p:cNvCxnSpPr/>
          <p:nvPr/>
        </p:nvCxnSpPr>
        <p:spPr>
          <a:xfrm>
            <a:off x="724320" y="6136920"/>
            <a:ext cx="578700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49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4760" y="977040"/>
            <a:ext cx="10999800" cy="12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34760" y="2244600"/>
            <a:ext cx="7813800" cy="42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add content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2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Straight Connector 5"/>
          <p:cNvCxnSpPr/>
          <p:nvPr/>
        </p:nvCxnSpPr>
        <p:spPr>
          <a:xfrm>
            <a:off x="724320" y="723600"/>
            <a:ext cx="1101060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cxnSp>
        <p:nvCxnSpPr>
          <p:cNvPr id="55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7440" y="3663000"/>
            <a:ext cx="4064040" cy="246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add content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marL="45720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marL="91440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marL="137160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marL="182880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707800" y="0"/>
            <a:ext cx="5785920" cy="613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Click icon to insert picture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</p:txBody>
      </p:sp>
      <p:cxnSp>
        <p:nvCxnSpPr>
          <p:cNvPr id="59" name="Straight Connector 4"/>
          <p:cNvCxnSpPr/>
          <p:nvPr/>
        </p:nvCxnSpPr>
        <p:spPr>
          <a:xfrm>
            <a:off x="814320" y="720720"/>
            <a:ext cx="163872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sp>
        <p:nvSpPr>
          <p:cNvPr id="60" name="PlaceHolder 4"/>
          <p:cNvSpPr>
            <a:spLocks noGrp="1"/>
          </p:cNvSpPr>
          <p:nvPr>
            <p:ph type="sldNum" idx="13"/>
          </p:nvPr>
        </p:nvSpPr>
        <p:spPr>
          <a:xfrm>
            <a:off x="10919160" y="6274080"/>
            <a:ext cx="67212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61" name="Straight Connector 1"/>
          <p:cNvCxnSpPr/>
          <p:nvPr/>
        </p:nvCxnSpPr>
        <p:spPr>
          <a:xfrm>
            <a:off x="5699160" y="6136920"/>
            <a:ext cx="578700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cxnSp>
        <p:nvCxnSpPr>
          <p:cNvPr id="63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cxnSp>
        <p:nvCxnSpPr>
          <p:cNvPr id="65" name="Straight Connector 4"/>
          <p:cNvCxnSpPr/>
          <p:nvPr/>
        </p:nvCxnSpPr>
        <p:spPr>
          <a:xfrm>
            <a:off x="814320" y="720720"/>
            <a:ext cx="1638720" cy="360"/>
          </a:xfrm>
          <a:prstGeom prst="straightConnector1">
            <a:avLst/>
          </a:prstGeom>
          <a:ln w="44450">
            <a:solidFill>
              <a:srgbClr val="ffffff"/>
            </a:solidFill>
          </a:ln>
        </p:spPr>
      </p:cxnSp>
      <p:cxnSp>
        <p:nvCxnSpPr>
          <p:cNvPr id="66" name="Straight Connector 10"/>
          <p:cNvCxnSpPr/>
          <p:nvPr/>
        </p:nvCxnSpPr>
        <p:spPr>
          <a:xfrm>
            <a:off x="5713560" y="6134040"/>
            <a:ext cx="578700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7440" y="3663000"/>
            <a:ext cx="4064040" cy="246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add content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marL="457200"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marL="914400"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marL="1371600"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marL="1828800"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69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00560" y="921960"/>
            <a:ext cx="10690920" cy="137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00560" y="2293200"/>
            <a:ext cx="10690920" cy="363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14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15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16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78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15320" y="1709640"/>
            <a:ext cx="1063188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6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15320" y="4589640"/>
            <a:ext cx="1063188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sto M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17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18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19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85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0560" y="921960"/>
            <a:ext cx="10690920" cy="112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15320" y="2128680"/>
            <a:ext cx="5303880" cy="384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172200" y="2128680"/>
            <a:ext cx="5219280" cy="384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20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21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22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96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5800" y="929160"/>
            <a:ext cx="10639800" cy="76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15320" y="1681200"/>
            <a:ext cx="52819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Univers Condensed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715320" y="2505240"/>
            <a:ext cx="5281920" cy="34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Univers Condensed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4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dt" idx="23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7"/>
          <p:cNvSpPr>
            <a:spLocks noGrp="1"/>
          </p:cNvSpPr>
          <p:nvPr>
            <p:ph type="ftr" idx="24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8"/>
          <p:cNvSpPr>
            <a:spLocks noGrp="1"/>
          </p:cNvSpPr>
          <p:nvPr>
            <p:ph type="sldNum" idx="25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06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00560" y="921960"/>
            <a:ext cx="10690920" cy="137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dt" idx="26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27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28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13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4" name="PlaceHolder 1"/>
          <p:cNvSpPr>
            <a:spLocks noGrp="1"/>
          </p:cNvSpPr>
          <p:nvPr>
            <p:ph type="dt" idx="29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30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31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18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78600" y="781560"/>
            <a:ext cx="4093200" cy="122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sto MT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88320" y="2315520"/>
            <a:ext cx="4093200" cy="355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32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 idx="33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 idx="34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26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83280" y="1066680"/>
            <a:ext cx="410292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183280" y="1066680"/>
            <a:ext cx="6171840" cy="47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sto MT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83280" y="2552760"/>
            <a:ext cx="4102920" cy="331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sto M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35"/>
          </p:nvPr>
        </p:nvSpPr>
        <p:spPr>
          <a:xfrm>
            <a:off x="8369280" y="6356520"/>
            <a:ext cx="2592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36"/>
          </p:nvPr>
        </p:nvSpPr>
        <p:spPr>
          <a:xfrm>
            <a:off x="71532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37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85800" y="908640"/>
            <a:ext cx="4058280" cy="522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i="1" lang="en-US" sz="5400" spc="29" strike="noStrike" cap="all">
                <a:solidFill>
                  <a:schemeClr val="dk1"/>
                </a:solidFill>
                <a:latin typeface="Abadi"/>
              </a:rPr>
              <a:t>Expository Writing </a:t>
            </a:r>
            <a:br>
              <a:rPr sz="5400"/>
            </a:br>
            <a:r>
              <a:rPr b="1" i="1" lang="en-US" sz="5400" spc="29" strike="noStrike" cap="all">
                <a:solidFill>
                  <a:schemeClr val="dk1"/>
                </a:solidFill>
                <a:latin typeface="Abadi"/>
              </a:rPr>
              <a:t> </a:t>
            </a:r>
            <a:r>
              <a:rPr b="1" i="1" lang="en-US" sz="2400" spc="29" strike="noStrike" cap="all">
                <a:solidFill>
                  <a:schemeClr val="dk1"/>
                </a:solidFill>
                <a:latin typeface="Abadi"/>
              </a:rPr>
              <a:t>hannan Riaz </a:t>
            </a:r>
            <a:br>
              <a:rPr sz="2400"/>
            </a:b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</p:txBody>
      </p:sp>
      <p:pic>
        <p:nvPicPr>
          <p:cNvPr id="140" name="Picture Placeholder 13" descr="A close-up of a pine cone"/>
          <p:cNvPicPr/>
          <p:nvPr/>
        </p:nvPicPr>
        <p:blipFill>
          <a:blip r:embed="rId1"/>
          <a:srcRect l="0" t="2887" r="0" b="2887"/>
          <a:stretch/>
        </p:blipFill>
        <p:spPr>
          <a:xfrm>
            <a:off x="5699160" y="0"/>
            <a:ext cx="5785920" cy="613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06320" y="1150200"/>
            <a:ext cx="3503520" cy="508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r>
              <a:rPr b="1" lang="en-US" sz="3800" spc="29" strike="noStrike" cap="all">
                <a:solidFill>
                  <a:schemeClr val="dk1"/>
                </a:solidFill>
                <a:latin typeface="Abadi"/>
              </a:rPr>
              <a:t>Introduction</a:t>
            </a:r>
            <a:r>
              <a:rPr b="1" lang="en-US" sz="3800" spc="29" strike="noStrike" cap="all">
                <a:solidFill>
                  <a:schemeClr val="dk1"/>
                </a:solidFill>
                <a:latin typeface="Univers Condensed"/>
              </a:rPr>
              <a:t> </a:t>
            </a:r>
            <a:endParaRPr b="0" lang="en-US" sz="3800" spc="-1" strike="noStrike">
              <a:solidFill>
                <a:schemeClr val="dk1"/>
              </a:solidFill>
              <a:latin typeface="Calisto MT"/>
            </a:endParaRPr>
          </a:p>
        </p:txBody>
      </p:sp>
      <p:grpSp>
        <p:nvGrpSpPr>
          <p:cNvPr id="142" name="Content Placeholder 4"/>
          <p:cNvGrpSpPr/>
          <p:nvPr/>
        </p:nvGrpSpPr>
        <p:grpSpPr>
          <a:xfrm>
            <a:off x="4838040" y="856080"/>
            <a:ext cx="5906160" cy="5087520"/>
            <a:chOff x="4838040" y="856080"/>
            <a:chExt cx="5906160" cy="5087520"/>
          </a:xfrm>
        </p:grpSpPr>
        <p:sp>
          <p:nvSpPr>
            <p:cNvPr id="143" name=""/>
            <p:cNvSpPr/>
            <p:nvPr/>
          </p:nvSpPr>
          <p:spPr>
            <a:xfrm>
              <a:off x="4838040" y="856080"/>
              <a:ext cx="5903640" cy="508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Rectangles 2"/>
            <p:cNvSpPr/>
            <p:nvPr/>
          </p:nvSpPr>
          <p:spPr>
            <a:xfrm>
              <a:off x="4841640" y="1011240"/>
              <a:ext cx="2810520" cy="2319840"/>
            </a:xfrm>
            <a:prstGeom prst="rect">
              <a:avLst/>
            </a:prstGeom>
            <a:solidFill>
              <a:srgbClr val="7f6e8c"/>
            </a:solidFill>
            <a:ln>
              <a:solidFill>
                <a:srgbClr val="ffffff"/>
              </a:solidFill>
            </a:ln>
          </p:spPr>
          <p:style>
            <a:lnRef idx="2">
              <a:schemeClr val="lt1"/>
            </a:lnRef>
            <a:fillRef idx="1">
              <a:schemeClr val="accent4">
                <a:hueOff val="0"/>
                <a:satOff val="0"/>
                <a:lumOff val="0"/>
                <a:alpha val="100000"/>
              </a:schemeClr>
            </a:fillRef>
            <a:effectRef idx="0"/>
            <a:fontRef idx="minor"/>
          </p:style>
          <p:txBody>
            <a:bodyPr lIns="87480" rIns="87480" tIns="87480" bIns="87480" anchor="ctr">
              <a:noAutofit/>
            </a:bodyPr>
            <a:p>
              <a:pPr algn="ctr" defTabSz="914400">
                <a:lnSpc>
                  <a:spcPct val="100000"/>
                </a:lnSpc>
                <a:spcAft>
                  <a:spcPts val="805"/>
                </a:spcAft>
              </a:pPr>
              <a:r>
                <a:rPr b="1" lang="en-US" sz="2300" spc="-1" strike="noStrike">
                  <a:solidFill>
                    <a:schemeClr val="lt1"/>
                  </a:solidFill>
                  <a:latin typeface="Calisto MT"/>
                </a:rPr>
                <a:t>Expose means UNCOVER or REVEAL </a:t>
              </a:r>
              <a:endParaRPr b="0" lang="en-US" sz="2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Rectangles 3"/>
            <p:cNvSpPr/>
            <p:nvPr/>
          </p:nvSpPr>
          <p:spPr>
            <a:xfrm>
              <a:off x="7933680" y="1011240"/>
              <a:ext cx="2810520" cy="2319840"/>
            </a:xfrm>
            <a:prstGeom prst="rect">
              <a:avLst/>
            </a:prstGeom>
            <a:solidFill>
              <a:srgbClr val="74a7ac"/>
            </a:solidFill>
            <a:ln>
              <a:solidFill>
                <a:srgbClr val="ffffff"/>
              </a:solidFill>
            </a:ln>
          </p:spPr>
          <p:style>
            <a:lnRef idx="2">
              <a:schemeClr val="lt1"/>
            </a:lnRef>
            <a:fillRef idx="1">
              <a:schemeClr val="accent4">
                <a:hueOff val="-5319999"/>
                <a:satOff val="13203"/>
                <a:lumOff val="7320"/>
                <a:alpha val="100000"/>
              </a:schemeClr>
            </a:fillRef>
            <a:effectRef idx="0"/>
            <a:fontRef idx="minor"/>
          </p:style>
          <p:txBody>
            <a:bodyPr lIns="87480" rIns="87480" tIns="87480" bIns="87480" anchor="ctr">
              <a:noAutofit/>
            </a:bodyPr>
            <a:p>
              <a:pPr algn="ctr" defTabSz="914400">
                <a:lnSpc>
                  <a:spcPct val="100000"/>
                </a:lnSpc>
                <a:spcAft>
                  <a:spcPts val="805"/>
                </a:spcAft>
              </a:pPr>
              <a:r>
                <a:rPr b="0" lang="en-US" sz="2300" spc="-1" strike="noStrike">
                  <a:solidFill>
                    <a:schemeClr val="lt1"/>
                  </a:solidFill>
                  <a:latin typeface="Calisto MT"/>
                </a:rPr>
                <a:t>Definition:                             Writing that explains describes or informs the reader about a topic.</a:t>
              </a:r>
              <a:endParaRPr b="0" lang="en-US" sz="23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Rectangles 4"/>
            <p:cNvSpPr/>
            <p:nvPr/>
          </p:nvSpPr>
          <p:spPr>
            <a:xfrm>
              <a:off x="4841640" y="3610080"/>
              <a:ext cx="2810520" cy="2178360"/>
            </a:xfrm>
            <a:prstGeom prst="rect">
              <a:avLst/>
            </a:prstGeom>
            <a:solidFill>
              <a:srgbClr val="9ac67f"/>
            </a:solidFill>
            <a:ln>
              <a:solidFill>
                <a:srgbClr val="ffffff"/>
              </a:solidFill>
            </a:ln>
          </p:spPr>
          <p:style>
            <a:lnRef idx="2">
              <a:schemeClr val="lt1"/>
            </a:lnRef>
            <a:fillRef idx="1">
              <a:schemeClr val="accent4">
                <a:hueOff val="-10639999"/>
                <a:satOff val="26405"/>
                <a:lumOff val="14641"/>
                <a:alpha val="100000"/>
              </a:schemeClr>
            </a:fillRef>
            <a:effectRef idx="0"/>
            <a:fontRef idx="minor"/>
          </p:style>
          <p:txBody>
            <a:bodyPr lIns="87480" rIns="87480" tIns="87480" bIns="87480" anchor="ctr">
              <a:noAutofit/>
            </a:bodyPr>
            <a:p>
              <a:pPr algn="ctr" defTabSz="914400">
                <a:lnSpc>
                  <a:spcPct val="100000"/>
                </a:lnSpc>
                <a:spcAft>
                  <a:spcPts val="805"/>
                </a:spcAft>
              </a:pPr>
              <a:r>
                <a:rPr b="1" lang="en-US" sz="2300" spc="-1" strike="noStrike">
                  <a:solidFill>
                    <a:schemeClr val="lt1"/>
                  </a:solidFill>
                  <a:latin typeface="Calisto MT"/>
                </a:rPr>
                <a:t>Purpose:                       To provide clear, concise information or explain a concept or process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Rectangles 5"/>
            <p:cNvSpPr/>
            <p:nvPr/>
          </p:nvSpPr>
          <p:spPr>
            <a:xfrm>
              <a:off x="7933680" y="3629160"/>
              <a:ext cx="2810520" cy="2140200"/>
            </a:xfrm>
            <a:prstGeom prst="rect">
              <a:avLst/>
            </a:prstGeom>
            <a:solidFill>
              <a:srgbClr val="db998f"/>
            </a:solidFill>
            <a:ln>
              <a:solidFill>
                <a:srgbClr val="ffffff"/>
              </a:solidFill>
            </a:ln>
          </p:spPr>
          <p:style>
            <a:lnRef idx="2">
              <a:schemeClr val="lt1"/>
            </a:lnRef>
            <a:fillRef idx="1">
              <a:schemeClr val="accent4">
                <a:hueOff val="-15960000"/>
                <a:satOff val="39608"/>
                <a:lumOff val="21961"/>
                <a:alpha val="100000"/>
              </a:schemeClr>
            </a:fillRef>
            <a:effectRef idx="0"/>
            <a:fontRef idx="minor"/>
          </p:style>
          <p:txBody>
            <a:bodyPr lIns="87480" rIns="87480" tIns="87480" bIns="87480" anchor="ctr">
              <a:noAutofit/>
            </a:bodyPr>
            <a:p>
              <a:pPr algn="ctr" defTabSz="914400">
                <a:lnSpc>
                  <a:spcPct val="100000"/>
                </a:lnSpc>
                <a:spcAft>
                  <a:spcPts val="805"/>
                </a:spcAft>
              </a:pPr>
              <a:r>
                <a:rPr b="1" lang="en-US" sz="2300" spc="-1" strike="noStrike">
                  <a:solidFill>
                    <a:schemeClr val="lt1"/>
                  </a:solidFill>
                  <a:latin typeface="Calisto MT"/>
                </a:rPr>
                <a:t>Common forms:                               Essays, Manuals, Articles, Reports, Instructions.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854BD25-FD21-437A-B577-B2833054D5F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05960" y="723960"/>
            <a:ext cx="3503520" cy="53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br>
              <a:rPr sz="4800"/>
            </a:br>
            <a:br>
              <a:rPr sz="4800"/>
            </a:br>
            <a:r>
              <a:rPr b="1" lang="en-US" sz="4800" spc="29" strike="noStrike" cap="all">
                <a:solidFill>
                  <a:schemeClr val="dk1"/>
                </a:solidFill>
                <a:latin typeface="Univers Condensed"/>
              </a:rPr>
              <a:t>Examples of expository Writing </a:t>
            </a:r>
            <a:endParaRPr b="0" lang="en-US" sz="4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582160" y="723960"/>
            <a:ext cx="5902920" cy="53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0474"/>
          </a:bodyPr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Essays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Magazine Articles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Instruction Manuals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Textbooks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Encyclopedia Articles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Letters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Reports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News Articles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Academic Essays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marL="571680" indent="-5716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5900" spc="-1" strike="noStrike">
                <a:solidFill>
                  <a:schemeClr val="dk1"/>
                </a:solidFill>
                <a:latin typeface="Calisto MT"/>
              </a:rPr>
              <a:t>Guidebooks  </a:t>
            </a:r>
            <a:endParaRPr b="0" lang="en-US" sz="5900" spc="-1" strike="noStrike">
              <a:solidFill>
                <a:schemeClr val="dk1"/>
              </a:solidFill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062197C-2D2C-46C1-9A8F-ACA5852E362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05960" y="723960"/>
            <a:ext cx="3503520" cy="53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br>
              <a:rPr sz="4800"/>
            </a:br>
            <a:br>
              <a:rPr sz="4800"/>
            </a:br>
            <a:r>
              <a:rPr b="1" lang="en-US" sz="4800" spc="29" strike="noStrike" cap="all">
                <a:solidFill>
                  <a:schemeClr val="dk1"/>
                </a:solidFill>
                <a:latin typeface="Univers Condensed"/>
              </a:rPr>
              <a:t>Purpose of expository writing </a:t>
            </a:r>
            <a:endParaRPr b="0" lang="en-US" sz="4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486400" y="1600200"/>
            <a:ext cx="5390640" cy="40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Inform             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Textbooks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explain                  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Process of photosynthesis 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clarify and Define Terms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Essay on globalization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90ECBD-437C-41FC-9729-86136BE0F0E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05960" y="723960"/>
            <a:ext cx="3503520" cy="53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br>
              <a:rPr sz="4800"/>
            </a:br>
            <a:br>
              <a:rPr sz="4800"/>
            </a:br>
            <a:r>
              <a:rPr b="1" lang="en-US" sz="4800" spc="29" strike="noStrike" cap="all">
                <a:solidFill>
                  <a:schemeClr val="dk1"/>
                </a:solidFill>
                <a:latin typeface="Univers Condensed"/>
              </a:rPr>
              <a:t>Purpose of expository writing </a:t>
            </a:r>
            <a:endParaRPr b="0" lang="en-US" sz="4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582160" y="1076760"/>
            <a:ext cx="5902920" cy="496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52"/>
          </a:bodyPr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analyze and interpret information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Analyze theme in a novel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provide instructions or Guide the Reader 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Recipe books                                                           How to use a computer or mobile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record data       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Weather record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answer questions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FAQS</a:t>
            </a: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 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Calisto MT"/>
              </a:rPr>
              <a:t>To educate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Calisto MT"/>
              </a:rPr>
              <a:t>Article on climate change </a:t>
            </a:r>
            <a:endParaRPr b="0" lang="en-US" sz="2800" spc="-1" strike="noStrike">
              <a:solidFill>
                <a:schemeClr val="dk1"/>
              </a:solidFill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103FCD8-E343-4BA6-8FF7-3DCA7F3A8AE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636880" y="817560"/>
            <a:ext cx="5935680" cy="52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29" strike="noStrike" cap="all">
                <a:solidFill>
                  <a:schemeClr val="dk1"/>
                </a:solidFill>
                <a:latin typeface="Univers Condensed"/>
              </a:rPr>
              <a:t>Characteristics </a:t>
            </a:r>
            <a:br>
              <a:rPr sz="4400"/>
            </a:br>
            <a:r>
              <a:rPr b="0" lang="en-US" sz="3600" spc="29" strike="noStrike" cap="all">
                <a:solidFill>
                  <a:schemeClr val="dk1"/>
                </a:solidFill>
                <a:latin typeface="Univers Condensed"/>
              </a:rPr>
              <a:t>clarity</a:t>
            </a:r>
            <a:br>
              <a:rPr sz="3600"/>
            </a:br>
            <a:r>
              <a:rPr b="0" lang="en-US" sz="3600" spc="29" strike="noStrike" cap="all">
                <a:solidFill>
                  <a:schemeClr val="dk1"/>
                </a:solidFill>
                <a:latin typeface="Univers Condensed"/>
              </a:rPr>
              <a:t>objectivity</a:t>
            </a:r>
            <a:br>
              <a:rPr sz="3600"/>
            </a:br>
            <a:r>
              <a:rPr b="0" lang="en-US" sz="3600" spc="29" strike="noStrike" cap="all">
                <a:solidFill>
                  <a:schemeClr val="dk1"/>
                </a:solidFill>
                <a:latin typeface="Univers Condensed"/>
              </a:rPr>
              <a:t>logical structure </a:t>
            </a:r>
            <a:br>
              <a:rPr sz="3600"/>
            </a:br>
            <a:r>
              <a:rPr b="0" lang="en-US" sz="3600" spc="29" strike="noStrike" cap="all">
                <a:solidFill>
                  <a:schemeClr val="dk1"/>
                </a:solidFill>
                <a:latin typeface="Univers Condensed"/>
              </a:rPr>
              <a:t>evidenced based </a:t>
            </a:r>
            <a:br>
              <a:rPr sz="3600"/>
            </a:br>
            <a:r>
              <a:rPr b="0" lang="en-US" sz="3600" spc="29" strike="noStrike" cap="all">
                <a:solidFill>
                  <a:schemeClr val="dk1"/>
                </a:solidFill>
                <a:latin typeface="Univers Condensed"/>
              </a:rPr>
              <a:t>formal Neutral tone  </a:t>
            </a:r>
            <a:endParaRPr b="0" lang="en-US" sz="3600" spc="-1" strike="noStrike">
              <a:solidFill>
                <a:schemeClr val="dk1"/>
              </a:solidFill>
              <a:latin typeface="Calisto MT"/>
            </a:endParaRPr>
          </a:p>
        </p:txBody>
      </p:sp>
      <p:pic>
        <p:nvPicPr>
          <p:cNvPr id="155" name="Picture Placeholder 16" descr="Logs Stacked "/>
          <p:cNvPicPr/>
          <p:nvPr/>
        </p:nvPicPr>
        <p:blipFill>
          <a:blip r:embed="rId1"/>
          <a:srcRect l="258" t="0" r="258" b="0"/>
          <a:stretch/>
        </p:blipFill>
        <p:spPr>
          <a:xfrm>
            <a:off x="0" y="0"/>
            <a:ext cx="4876560" cy="6857640"/>
          </a:xfrm>
          <a:prstGeom prst="rect">
            <a:avLst/>
          </a:prstGeom>
          <a:ln w="0">
            <a:noFill/>
          </a:ln>
          <a:effectLst>
            <a:glow rad="127080">
              <a:srgbClr val="ffff00"/>
            </a:glo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10640" y="888480"/>
            <a:ext cx="5853960" cy="14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9053"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29" strike="noStrike" cap="all">
                <a:solidFill>
                  <a:schemeClr val="dk1"/>
                </a:solidFill>
                <a:latin typeface="Univers Condensed"/>
              </a:rPr>
              <a:t>Types of expository Writing  </a:t>
            </a:r>
            <a:endParaRPr b="0" lang="en-US" sz="4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721080" y="2345040"/>
            <a:ext cx="5841720" cy="37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456"/>
          </a:bodyPr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Bierstadt"/>
              </a:rPr>
              <a:t>Descriptive                  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Bierstadt"/>
              </a:rPr>
              <a:t>Essay on Amazon Rainforest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Bierstadt"/>
              </a:rPr>
              <a:t>Process or “How-To”                          </a:t>
            </a:r>
            <a:r>
              <a:rPr b="0" lang="en-US" sz="2800" spc="-1" strike="noStrike">
                <a:solidFill>
                  <a:schemeClr val="dk1"/>
                </a:solidFill>
                <a:latin typeface="Bierstadt"/>
              </a:rPr>
              <a:t>Article on baking a cake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Bierstadt"/>
              </a:rPr>
              <a:t>Compare and contrast Expository </a:t>
            </a:r>
            <a:r>
              <a:rPr b="0" lang="en-US" sz="2800" spc="-1" strike="noStrike">
                <a:solidFill>
                  <a:schemeClr val="dk1"/>
                </a:solidFill>
                <a:latin typeface="Bierstadt"/>
              </a:rPr>
              <a:t>  e-books vs printed books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Bierstadt"/>
              </a:rPr>
              <a:t>Cause and Effect Expository Writing     </a:t>
            </a:r>
            <a:r>
              <a:rPr b="0" lang="en-US" sz="2800" spc="-1" strike="noStrike">
                <a:solidFill>
                  <a:schemeClr val="dk1"/>
                </a:solidFill>
                <a:latin typeface="Bierstadt"/>
              </a:rPr>
              <a:t>Essay on air pollution 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chemeClr val="dk1"/>
                </a:solidFill>
                <a:latin typeface="Bierstadt"/>
              </a:rPr>
              <a:t>Problem and Solution Expository   </a:t>
            </a:r>
            <a:r>
              <a:rPr b="0" lang="en-US" sz="2800" spc="-1" strike="noStrike">
                <a:solidFill>
                  <a:schemeClr val="dk1"/>
                </a:solidFill>
                <a:latin typeface="Bierstadt"/>
              </a:rPr>
              <a:t>Writing  essay on homelessness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Picture Placeholder 12" descr="A dog sitting in the sun rays coming through the trees in a forest "/>
          <p:cNvPicPr/>
          <p:nvPr/>
        </p:nvPicPr>
        <p:blipFill>
          <a:blip r:embed="rId1"/>
          <a:srcRect l="6989" t="0" r="6989" b="0"/>
          <a:stretch/>
        </p:blipFill>
        <p:spPr>
          <a:xfrm>
            <a:off x="7315200" y="0"/>
            <a:ext cx="48765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34760" y="977040"/>
            <a:ext cx="10999800" cy="12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 lnSpcReduction="20000"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800" spc="29" strike="noStrike" cap="all">
                <a:solidFill>
                  <a:schemeClr val="dk1"/>
                </a:solidFill>
                <a:latin typeface="Univers Condensed"/>
              </a:rPr>
              <a:t>Structure of expository writing </a:t>
            </a:r>
            <a:endParaRPr b="0" lang="en-US" sz="48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734760" y="2392560"/>
            <a:ext cx="10743840" cy="378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0949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4000" spc="-1" strike="noStrike">
                <a:solidFill>
                  <a:schemeClr val="dk1"/>
                </a:solidFill>
                <a:latin typeface="Calisto MT"/>
              </a:rPr>
              <a:t>Introduction                                 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4000" spc="-1" strike="noStrike">
                <a:solidFill>
                  <a:schemeClr val="dk1"/>
                </a:solidFill>
                <a:latin typeface="Calisto MT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sto MT"/>
              </a:rPr>
              <a:t>Present the topic and state the purpose 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4000" spc="-1" strike="noStrike">
                <a:solidFill>
                  <a:schemeClr val="dk1"/>
                </a:solidFill>
                <a:latin typeface="Calisto MT"/>
              </a:rPr>
              <a:t>Body                                            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sto MT"/>
              </a:rPr>
              <a:t>Paragraphs develop the topic with evidence and explanations 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4000" spc="-1" strike="noStrike">
                <a:solidFill>
                  <a:schemeClr val="dk1"/>
                </a:solidFill>
                <a:latin typeface="Calisto MT"/>
              </a:rPr>
              <a:t>Conclusion                             </a:t>
            </a:r>
            <a:endParaRPr b="0" lang="en-US" sz="4000" spc="-1" strike="noStrike">
              <a:solidFill>
                <a:schemeClr val="dk1"/>
              </a:solidFill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500" spc="-1" strike="noStrike">
                <a:solidFill>
                  <a:schemeClr val="dk1"/>
                </a:solidFill>
                <a:latin typeface="Calisto MT"/>
              </a:rPr>
              <a:t>Summarize the key points and reinforce the purpose  </a:t>
            </a:r>
            <a:endParaRPr b="0" lang="en-US" sz="35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8BED2CA-0B56-4DF6-93B3-CCBD3CC0A42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29" strike="noStrike" cap="all">
                <a:solidFill>
                  <a:schemeClr val="dk1"/>
                </a:solidFill>
                <a:latin typeface="Univers Condensed"/>
              </a:rPr>
              <a:t>Tips for strong expository writing </a:t>
            </a:r>
            <a:endParaRPr b="0" lang="en-US" sz="44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757440" y="3429000"/>
            <a:ext cx="4064040" cy="273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439" lnSpcReduction="10000"/>
          </a:bodyPr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sto MT"/>
              </a:rPr>
              <a:t>Be clear and concise 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sto MT"/>
              </a:rPr>
              <a:t>Stay objective 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sto MT"/>
              </a:rPr>
              <a:t>Use Logical organization 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sto MT"/>
              </a:rPr>
              <a:t>Edit and proofread 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sto MT"/>
              </a:rPr>
              <a:t>Practice </a:t>
            </a:r>
            <a:endParaRPr b="0" lang="en-US" sz="2400" spc="-1" strike="noStrike">
              <a:solidFill>
                <a:schemeClr val="dk1"/>
              </a:solidFill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  <p:pic>
        <p:nvPicPr>
          <p:cNvPr id="163" name="Picture Placeholder 33" descr="A river with boats in it surrounded by trees"/>
          <p:cNvPicPr/>
          <p:nvPr/>
        </p:nvPicPr>
        <p:blipFill>
          <a:blip r:embed="rId1"/>
          <a:srcRect l="18583" t="0" r="18583" b="0"/>
          <a:stretch/>
        </p:blipFill>
        <p:spPr>
          <a:xfrm>
            <a:off x="5707800" y="0"/>
            <a:ext cx="5785920" cy="613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63560" y="684360"/>
            <a:ext cx="4058280" cy="27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29" strike="noStrike" cap="all">
                <a:solidFill>
                  <a:schemeClr val="dk1"/>
                </a:solidFill>
                <a:latin typeface="Univers Condensed"/>
              </a:rPr>
              <a:t>Thank you</a:t>
            </a:r>
            <a:endParaRPr b="0" lang="en-US" sz="3200" spc="-1" strike="noStrike">
              <a:solidFill>
                <a:schemeClr val="dk1"/>
              </a:solidFill>
              <a:latin typeface="Calisto M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757440" y="3663000"/>
            <a:ext cx="4064040" cy="86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Hannan Riaz 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sto MT"/>
              </a:rPr>
              <a:t>hannanriaz@cuilahore.edu.pk</a:t>
            </a:r>
            <a:endParaRPr b="0" lang="en-US" sz="2000" spc="-1" strike="noStrike">
              <a:solidFill>
                <a:schemeClr val="dk1"/>
              </a:solidFill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B916DD8-9028-41F0-AB19-FE384D2009A2}">
  <ds:schemaRefs/>
</ds:datastoreItem>
</file>

<file path=customXml/itemProps2.xml><?xml version="1.0" encoding="utf-8"?>
<ds:datastoreItem xmlns:ds="http://schemas.openxmlformats.org/officeDocument/2006/customXml" ds:itemID="{778B3239-FE1A-45AC-BACA-CC3412D875A1}">
  <ds:schemaRefs/>
</ds:datastoreItem>
</file>

<file path=customXml/itemProps3.xml><?xml version="1.0" encoding="utf-8"?>
<ds:datastoreItem xmlns:ds="http://schemas.openxmlformats.org/officeDocument/2006/customXml" ds:itemID="{D1C92F81-A6B6-4190-80A1-406B3B4C18B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{0939C1FF-CF11-4E02-93AF-ECA076A9C9CA}tf67498733_win32</Template>
  <TotalTime>3</TotalTime>
  <Application>LibreOffice/24.2.7.2$Linux_X86_64 LibreOffice_project/420$Build-2</Application>
  <AppVersion>15.0000</AppVersion>
  <Words>1983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2025-02-08T07:12:00Z</dcterms:created>
  <dc:creator>FA21-BPH-038 (AHMAD SAEED)</dc:creator>
  <dc:description/>
  <dc:language>en-US</dc:language>
  <cp:lastModifiedBy/>
  <dcterms:modified xsi:type="dcterms:W3CDTF">2026-04-15T18:03:15Z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EE3C4964C69E4D7AADE770E4C38E7E41_12</vt:lpwstr>
  </property>
  <property fmtid="{D5CDD505-2E9C-101B-9397-08002B2CF9AE}" pid="4" name="KSOProductBuildVer">
    <vt:lpwstr>1033-12.2.0.23196</vt:lpwstr>
  </property>
  <property fmtid="{D5CDD505-2E9C-101B-9397-08002B2CF9AE}" pid="5" name="Notes">
    <vt:i4>8</vt:i4>
  </property>
  <property fmtid="{D5CDD505-2E9C-101B-9397-08002B2CF9AE}" pid="6" name="PresentationFormat">
    <vt:lpwstr>Widescreen</vt:lpwstr>
  </property>
  <property fmtid="{D5CDD505-2E9C-101B-9397-08002B2CF9AE}" pid="7" name="Slides">
    <vt:i4>10</vt:i4>
  </property>
</Properties>
</file>