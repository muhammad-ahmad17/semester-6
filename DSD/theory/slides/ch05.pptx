
<file path=[Content_Types].xml><?xml version="1.0" encoding="utf-8"?>
<Types xmlns="http://schemas.openxmlformats.org/package/2006/content-types">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6"/>
  </p:notesMasterIdLst>
  <p:sldIdLst>
    <p:sldId id="441" r:id="rId2"/>
    <p:sldId id="258" r:id="rId3"/>
    <p:sldId id="348" r:id="rId4"/>
    <p:sldId id="349" r:id="rId5"/>
    <p:sldId id="350" r:id="rId6"/>
    <p:sldId id="351" r:id="rId7"/>
    <p:sldId id="352" r:id="rId8"/>
    <p:sldId id="353" r:id="rId9"/>
    <p:sldId id="354" r:id="rId10"/>
    <p:sldId id="356" r:id="rId11"/>
    <p:sldId id="355" r:id="rId12"/>
    <p:sldId id="357" r:id="rId13"/>
    <p:sldId id="358" r:id="rId14"/>
    <p:sldId id="359" r:id="rId15"/>
    <p:sldId id="360" r:id="rId16"/>
    <p:sldId id="361" r:id="rId17"/>
    <p:sldId id="362" r:id="rId18"/>
    <p:sldId id="363" r:id="rId19"/>
    <p:sldId id="364" r:id="rId20"/>
    <p:sldId id="365" r:id="rId21"/>
    <p:sldId id="366" r:id="rId22"/>
    <p:sldId id="367" r:id="rId23"/>
    <p:sldId id="368" r:id="rId24"/>
    <p:sldId id="369" r:id="rId25"/>
    <p:sldId id="370" r:id="rId26"/>
    <p:sldId id="371" r:id="rId27"/>
    <p:sldId id="372" r:id="rId28"/>
    <p:sldId id="373" r:id="rId29"/>
    <p:sldId id="374" r:id="rId30"/>
    <p:sldId id="375" r:id="rId31"/>
    <p:sldId id="377" r:id="rId32"/>
    <p:sldId id="378" r:id="rId33"/>
    <p:sldId id="379" r:id="rId34"/>
    <p:sldId id="380" r:id="rId35"/>
    <p:sldId id="381" r:id="rId36"/>
    <p:sldId id="382" r:id="rId37"/>
    <p:sldId id="383" r:id="rId38"/>
    <p:sldId id="384" r:id="rId39"/>
    <p:sldId id="385" r:id="rId40"/>
    <p:sldId id="386" r:id="rId41"/>
    <p:sldId id="387" r:id="rId42"/>
    <p:sldId id="388" r:id="rId43"/>
    <p:sldId id="389" r:id="rId44"/>
    <p:sldId id="390" r:id="rId45"/>
    <p:sldId id="391" r:id="rId46"/>
    <p:sldId id="392" r:id="rId47"/>
    <p:sldId id="393" r:id="rId48"/>
    <p:sldId id="394" r:id="rId49"/>
    <p:sldId id="395" r:id="rId50"/>
    <p:sldId id="396" r:id="rId51"/>
    <p:sldId id="397" r:id="rId52"/>
    <p:sldId id="398" r:id="rId53"/>
    <p:sldId id="399" r:id="rId54"/>
    <p:sldId id="400" r:id="rId55"/>
    <p:sldId id="401" r:id="rId56"/>
    <p:sldId id="402" r:id="rId57"/>
    <p:sldId id="403" r:id="rId58"/>
    <p:sldId id="404" r:id="rId59"/>
    <p:sldId id="405" r:id="rId60"/>
    <p:sldId id="406" r:id="rId61"/>
    <p:sldId id="407" r:id="rId62"/>
    <p:sldId id="408" r:id="rId63"/>
    <p:sldId id="409" r:id="rId64"/>
    <p:sldId id="412" r:id="rId65"/>
    <p:sldId id="413" r:id="rId66"/>
    <p:sldId id="414" r:id="rId67"/>
    <p:sldId id="411" r:id="rId68"/>
    <p:sldId id="415" r:id="rId69"/>
    <p:sldId id="416" r:id="rId70"/>
    <p:sldId id="417" r:id="rId71"/>
    <p:sldId id="418" r:id="rId72"/>
    <p:sldId id="419" r:id="rId73"/>
    <p:sldId id="420" r:id="rId74"/>
    <p:sldId id="421" r:id="rId75"/>
    <p:sldId id="422" r:id="rId76"/>
    <p:sldId id="423" r:id="rId77"/>
    <p:sldId id="424" r:id="rId78"/>
    <p:sldId id="425" r:id="rId79"/>
    <p:sldId id="426" r:id="rId80"/>
    <p:sldId id="427" r:id="rId81"/>
    <p:sldId id="429" r:id="rId82"/>
    <p:sldId id="430" r:id="rId83"/>
    <p:sldId id="431" r:id="rId84"/>
    <p:sldId id="428" r:id="rId85"/>
    <p:sldId id="432" r:id="rId86"/>
    <p:sldId id="433" r:id="rId87"/>
    <p:sldId id="434" r:id="rId88"/>
    <p:sldId id="435" r:id="rId89"/>
    <p:sldId id="436" r:id="rId90"/>
    <p:sldId id="437" r:id="rId91"/>
    <p:sldId id="438" r:id="rId92"/>
    <p:sldId id="439" r:id="rId93"/>
    <p:sldId id="440" r:id="rId94"/>
    <p:sldId id="347" r:id="rId95"/>
  </p:sldIdLst>
  <p:sldSz cx="9144000" cy="6858000" type="screen4x3"/>
  <p:notesSz cx="7315200" cy="9601200"/>
  <p:defaultTextStyle>
    <a:defPPr>
      <a:defRPr lang="en-US"/>
    </a:defPPr>
    <a:lvl1pPr algn="l" rtl="0" fontAlgn="base">
      <a:spcBef>
        <a:spcPct val="0"/>
      </a:spcBef>
      <a:spcAft>
        <a:spcPct val="0"/>
      </a:spcAft>
      <a:defRPr sz="2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000" kern="12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3300"/>
    <a:srgbClr val="00FF00"/>
    <a:srgbClr val="33CC33"/>
    <a:srgbClr val="6600CC"/>
    <a:srgbClr val="3399FF"/>
    <a:srgbClr val="FF3399"/>
    <a:srgbClr val="0033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p:scale>
          <a:sx n="100" d="100"/>
          <a:sy n="100" d="100"/>
        </p:scale>
        <p:origin x="498" y="-852"/>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46" d="100"/>
          <a:sy n="46" d="100"/>
        </p:scale>
        <p:origin x="-1421" y="-77"/>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_rels/viewProps.xml.rels><?xml version="1.0" encoding="UTF-8" standalone="yes"?>
<Relationships xmlns="http://schemas.openxmlformats.org/package/2006/relationships"><Relationship Id="rId3" Type="http://schemas.openxmlformats.org/officeDocument/2006/relationships/slide" Target="slides/slide56.xml"/><Relationship Id="rId2" Type="http://schemas.openxmlformats.org/officeDocument/2006/relationships/slide" Target="slides/slide29.xml"/><Relationship Id="rId1"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defTabSz="966788">
              <a:defRPr sz="1300"/>
            </a:lvl1pPr>
          </a:lstStyle>
          <a:p>
            <a:endParaRPr lang="en-US" altLang="en-US"/>
          </a:p>
        </p:txBody>
      </p:sp>
      <p:sp>
        <p:nvSpPr>
          <p:cNvPr id="23555" name="Rectangle 3"/>
          <p:cNvSpPr>
            <a:spLocks noGrp="1" noChangeArrowheads="1"/>
          </p:cNvSpPr>
          <p:nvPr>
            <p:ph type="dt" idx="1"/>
          </p:nvPr>
        </p:nvSpPr>
        <p:spPr bwMode="auto">
          <a:xfrm>
            <a:off x="4144963" y="0"/>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a:defRPr sz="1300"/>
            </a:lvl1pPr>
          </a:lstStyle>
          <a:p>
            <a:endParaRPr lang="en-US" altLang="en-US"/>
          </a:p>
        </p:txBody>
      </p:sp>
      <p:sp>
        <p:nvSpPr>
          <p:cNvPr id="23556" name="Rectangle 4"/>
          <p:cNvSpPr>
            <a:spLocks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3557" name="Rectangle 5"/>
          <p:cNvSpPr>
            <a:spLocks noGrp="1" noChangeArrowheads="1"/>
          </p:cNvSpPr>
          <p:nvPr>
            <p:ph type="body" sz="quarter" idx="3"/>
          </p:nvPr>
        </p:nvSpPr>
        <p:spPr bwMode="auto">
          <a:xfrm>
            <a:off x="974725" y="4560888"/>
            <a:ext cx="5365750"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3558" name="Rectangle 6"/>
          <p:cNvSpPr>
            <a:spLocks noGrp="1" noChangeArrowheads="1"/>
          </p:cNvSpPr>
          <p:nvPr>
            <p:ph type="ftr" sz="quarter" idx="4"/>
          </p:nvPr>
        </p:nvSpPr>
        <p:spPr bwMode="auto">
          <a:xfrm>
            <a:off x="0" y="9121775"/>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defTabSz="966788">
              <a:defRPr sz="1300"/>
            </a:lvl1pPr>
          </a:lstStyle>
          <a:p>
            <a:endParaRPr lang="en-US" altLang="en-US"/>
          </a:p>
        </p:txBody>
      </p:sp>
      <p:sp>
        <p:nvSpPr>
          <p:cNvPr id="23559" name="Rectangle 7"/>
          <p:cNvSpPr>
            <a:spLocks noGrp="1" noChangeArrowheads="1"/>
          </p:cNvSpPr>
          <p:nvPr>
            <p:ph type="sldNum" sz="quarter" idx="5"/>
          </p:nvPr>
        </p:nvSpPr>
        <p:spPr bwMode="auto">
          <a:xfrm>
            <a:off x="4144963" y="9121775"/>
            <a:ext cx="3170237"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a:defRPr sz="1300"/>
            </a:lvl1pPr>
          </a:lstStyle>
          <a:p>
            <a:fld id="{8DB61C81-A863-482B-BACE-877321CCE38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001F63B-79BD-4B7C-94B9-50E12369ECE9}" type="slidenum">
              <a:rPr lang="en-US" altLang="en-US"/>
              <a:pPr/>
              <a:t>1</a:t>
            </a:fld>
            <a:endParaRPr lang="en-US" altLang="en-US"/>
          </a:p>
        </p:txBody>
      </p:sp>
      <p:sp>
        <p:nvSpPr>
          <p:cNvPr id="613378" name="Rectangle 2"/>
          <p:cNvSpPr>
            <a:spLocks noChangeArrowheads="1" noTextEdit="1"/>
          </p:cNvSpPr>
          <p:nvPr>
            <p:ph type="sldImg"/>
          </p:nvPr>
        </p:nvSpPr>
        <p:spPr>
          <a:ln/>
        </p:spPr>
      </p:sp>
      <p:sp>
        <p:nvSpPr>
          <p:cNvPr id="6133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CF37AD4-8B80-471F-9A67-84127586F6B7}" type="slidenum">
              <a:rPr lang="en-US" altLang="en-US"/>
              <a:pPr/>
              <a:t>2</a:t>
            </a:fld>
            <a:endParaRPr lang="en-US" altLang="en-US"/>
          </a:p>
        </p:txBody>
      </p:sp>
      <p:sp>
        <p:nvSpPr>
          <p:cNvPr id="279554" name="Rectangle 2"/>
          <p:cNvSpPr>
            <a:spLocks noChangeArrowheads="1" noTextEdit="1"/>
          </p:cNvSpPr>
          <p:nvPr>
            <p:ph type="sldImg"/>
          </p:nvPr>
        </p:nvSpPr>
        <p:spPr>
          <a:ln/>
        </p:spPr>
      </p:sp>
      <p:sp>
        <p:nvSpPr>
          <p:cNvPr id="2795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FDD46F-2D81-4C3A-BD3A-C11F3DA264C7}" type="slidenum">
              <a:rPr lang="en-US" altLang="en-US"/>
              <a:pPr/>
              <a:t>3</a:t>
            </a:fld>
            <a:endParaRPr lang="en-US" altLang="en-US"/>
          </a:p>
        </p:txBody>
      </p:sp>
      <p:sp>
        <p:nvSpPr>
          <p:cNvPr id="467970" name="Rectangle 2"/>
          <p:cNvSpPr>
            <a:spLocks noChangeArrowheads="1" noTextEdit="1"/>
          </p:cNvSpPr>
          <p:nvPr>
            <p:ph type="sldImg"/>
          </p:nvPr>
        </p:nvSpPr>
        <p:spPr>
          <a:ln/>
        </p:spPr>
      </p:sp>
      <p:sp>
        <p:nvSpPr>
          <p:cNvPr id="46797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74B4503-1D9C-4C67-9C1B-7190E0248D58}" type="slidenum">
              <a:rPr lang="en-US" altLang="en-US"/>
              <a:pPr/>
              <a:t>4</a:t>
            </a:fld>
            <a:endParaRPr lang="en-US" altLang="en-US"/>
          </a:p>
        </p:txBody>
      </p:sp>
      <p:sp>
        <p:nvSpPr>
          <p:cNvPr id="471042" name="Rectangle 2"/>
          <p:cNvSpPr>
            <a:spLocks noChangeArrowheads="1" noTextEdit="1"/>
          </p:cNvSpPr>
          <p:nvPr>
            <p:ph type="sldImg"/>
          </p:nvPr>
        </p:nvSpPr>
        <p:spPr>
          <a:ln/>
        </p:spPr>
      </p:sp>
      <p:sp>
        <p:nvSpPr>
          <p:cNvPr id="47104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882908-B6F4-4D83-99EC-4A0F22E1F841}" type="slidenum">
              <a:rPr lang="en-US" altLang="en-US"/>
              <a:pPr/>
              <a:t>5</a:t>
            </a:fld>
            <a:endParaRPr lang="en-US" altLang="en-US"/>
          </a:p>
        </p:txBody>
      </p:sp>
      <p:sp>
        <p:nvSpPr>
          <p:cNvPr id="472066" name="Rectangle 2"/>
          <p:cNvSpPr>
            <a:spLocks noChangeArrowheads="1" noTextEdit="1"/>
          </p:cNvSpPr>
          <p:nvPr>
            <p:ph type="sldImg"/>
          </p:nvPr>
        </p:nvSpPr>
        <p:spPr>
          <a:ln/>
        </p:spPr>
      </p:sp>
      <p:sp>
        <p:nvSpPr>
          <p:cNvPr id="4720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F003FA-568C-4BB6-AA29-A4A8EF27C12F}" type="slidenum">
              <a:rPr lang="en-US" altLang="en-US"/>
              <a:pPr/>
              <a:t>6</a:t>
            </a:fld>
            <a:endParaRPr lang="en-US" altLang="en-US"/>
          </a:p>
        </p:txBody>
      </p:sp>
      <p:sp>
        <p:nvSpPr>
          <p:cNvPr id="474114" name="Rectangle 2"/>
          <p:cNvSpPr>
            <a:spLocks noChangeArrowheads="1" noTextEdit="1"/>
          </p:cNvSpPr>
          <p:nvPr>
            <p:ph type="sldImg"/>
          </p:nvPr>
        </p:nvSpPr>
        <p:spPr>
          <a:ln/>
        </p:spPr>
      </p:sp>
      <p:sp>
        <p:nvSpPr>
          <p:cNvPr id="4741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E56CAD-E115-4E44-9566-8BBF1905C833}" type="slidenum">
              <a:rPr lang="en-US" altLang="en-US"/>
              <a:pPr/>
              <a:t>7</a:t>
            </a:fld>
            <a:endParaRPr lang="en-US" altLang="en-US"/>
          </a:p>
        </p:txBody>
      </p:sp>
      <p:sp>
        <p:nvSpPr>
          <p:cNvPr id="476162" name="Rectangle 2"/>
          <p:cNvSpPr>
            <a:spLocks noChangeArrowheads="1" noTextEdit="1"/>
          </p:cNvSpPr>
          <p:nvPr>
            <p:ph type="sldImg"/>
          </p:nvPr>
        </p:nvSpPr>
        <p:spPr>
          <a:ln/>
        </p:spPr>
      </p:sp>
      <p:sp>
        <p:nvSpPr>
          <p:cNvPr id="4761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B7CC7DA-C3F9-4E8F-B196-6E45D89A965C}" type="slidenum">
              <a:rPr lang="en-US" altLang="en-US"/>
              <a:pPr/>
              <a:t>8</a:t>
            </a:fld>
            <a:endParaRPr lang="en-US" altLang="en-US"/>
          </a:p>
        </p:txBody>
      </p:sp>
      <p:sp>
        <p:nvSpPr>
          <p:cNvPr id="506882" name="Rectangle 2"/>
          <p:cNvSpPr>
            <a:spLocks noChangeArrowheads="1" noTextEdit="1"/>
          </p:cNvSpPr>
          <p:nvPr>
            <p:ph type="sldImg"/>
          </p:nvPr>
        </p:nvSpPr>
        <p:spPr>
          <a:ln/>
        </p:spPr>
      </p:sp>
      <p:sp>
        <p:nvSpPr>
          <p:cNvPr id="50688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CEFB81-D90E-490D-AA12-1D56659EAC42}" type="slidenum">
              <a:rPr lang="en-US" altLang="en-US"/>
              <a:pPr/>
              <a:t>9</a:t>
            </a:fld>
            <a:endParaRPr lang="en-US" altLang="en-US"/>
          </a:p>
        </p:txBody>
      </p:sp>
      <p:sp>
        <p:nvSpPr>
          <p:cNvPr id="507906" name="Rectangle 2"/>
          <p:cNvSpPr>
            <a:spLocks noChangeArrowheads="1" noTextEdit="1"/>
          </p:cNvSpPr>
          <p:nvPr>
            <p:ph type="sldImg"/>
          </p:nvPr>
        </p:nvSpPr>
        <p:spPr>
          <a:ln/>
        </p:spPr>
      </p:sp>
      <p:sp>
        <p:nvSpPr>
          <p:cNvPr id="50790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E41B2C-CAAD-4985-9382-DDC4CA29C1D0}" type="slidenum">
              <a:rPr lang="en-US" altLang="en-US"/>
              <a:pPr/>
              <a:t>10</a:t>
            </a:fld>
            <a:endParaRPr lang="en-US" altLang="en-US"/>
          </a:p>
        </p:txBody>
      </p:sp>
      <p:sp>
        <p:nvSpPr>
          <p:cNvPr id="508930" name="Rectangle 2"/>
          <p:cNvSpPr>
            <a:spLocks noChangeArrowheads="1" noTextEdit="1"/>
          </p:cNvSpPr>
          <p:nvPr>
            <p:ph type="sldImg"/>
          </p:nvPr>
        </p:nvSpPr>
        <p:spPr>
          <a:ln/>
        </p:spPr>
      </p:sp>
      <p:sp>
        <p:nvSpPr>
          <p:cNvPr id="50893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96DD7F-E0EC-4C2C-9C3E-C86EF6EE78B6}" type="slidenum">
              <a:rPr lang="en-US" altLang="en-US"/>
              <a:pPr/>
              <a:t>11</a:t>
            </a:fld>
            <a:endParaRPr lang="en-US" altLang="en-US"/>
          </a:p>
        </p:txBody>
      </p:sp>
      <p:sp>
        <p:nvSpPr>
          <p:cNvPr id="509954" name="Rectangle 2"/>
          <p:cNvSpPr>
            <a:spLocks noChangeArrowheads="1" noTextEdit="1"/>
          </p:cNvSpPr>
          <p:nvPr>
            <p:ph type="sldImg"/>
          </p:nvPr>
        </p:nvSpPr>
        <p:spPr>
          <a:ln/>
        </p:spPr>
      </p:sp>
      <p:sp>
        <p:nvSpPr>
          <p:cNvPr id="50995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B09C89-A4A0-4233-A3C8-8D1B0A53CC00}" type="slidenum">
              <a:rPr lang="en-US" altLang="en-US"/>
              <a:pPr/>
              <a:t>12</a:t>
            </a:fld>
            <a:endParaRPr lang="en-US" altLang="en-US"/>
          </a:p>
        </p:txBody>
      </p:sp>
      <p:sp>
        <p:nvSpPr>
          <p:cNvPr id="510978" name="Rectangle 2"/>
          <p:cNvSpPr>
            <a:spLocks noChangeArrowheads="1" noTextEdit="1"/>
          </p:cNvSpPr>
          <p:nvPr>
            <p:ph type="sldImg"/>
          </p:nvPr>
        </p:nvSpPr>
        <p:spPr>
          <a:ln/>
        </p:spPr>
      </p:sp>
      <p:sp>
        <p:nvSpPr>
          <p:cNvPr id="51097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B940FF0-B9C8-4C95-BD30-BF14F78F4F7F}" type="slidenum">
              <a:rPr lang="en-US" altLang="en-US"/>
              <a:pPr/>
              <a:t>13</a:t>
            </a:fld>
            <a:endParaRPr lang="en-US" altLang="en-US"/>
          </a:p>
        </p:txBody>
      </p:sp>
      <p:sp>
        <p:nvSpPr>
          <p:cNvPr id="512002" name="Rectangle 2"/>
          <p:cNvSpPr>
            <a:spLocks noChangeArrowheads="1" noTextEdit="1"/>
          </p:cNvSpPr>
          <p:nvPr>
            <p:ph type="sldImg"/>
          </p:nvPr>
        </p:nvSpPr>
        <p:spPr>
          <a:ln/>
        </p:spPr>
      </p:sp>
      <p:sp>
        <p:nvSpPr>
          <p:cNvPr id="5120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7FB102E-653A-4766-B4DB-F88F8B5C1E76}" type="slidenum">
              <a:rPr lang="en-US" altLang="en-US"/>
              <a:pPr/>
              <a:t>14</a:t>
            </a:fld>
            <a:endParaRPr lang="en-US" altLang="en-US"/>
          </a:p>
        </p:txBody>
      </p:sp>
      <p:sp>
        <p:nvSpPr>
          <p:cNvPr id="513026" name="Rectangle 2"/>
          <p:cNvSpPr>
            <a:spLocks noChangeArrowheads="1" noTextEdit="1"/>
          </p:cNvSpPr>
          <p:nvPr>
            <p:ph type="sldImg"/>
          </p:nvPr>
        </p:nvSpPr>
        <p:spPr>
          <a:ln/>
        </p:spPr>
      </p:sp>
      <p:sp>
        <p:nvSpPr>
          <p:cNvPr id="51302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07DF1C0-BE25-438A-8D78-F1F7C8D5345F}" type="slidenum">
              <a:rPr lang="en-US" altLang="en-US"/>
              <a:pPr/>
              <a:t>15</a:t>
            </a:fld>
            <a:endParaRPr lang="en-US" altLang="en-US"/>
          </a:p>
        </p:txBody>
      </p:sp>
      <p:sp>
        <p:nvSpPr>
          <p:cNvPr id="514050" name="Rectangle 2"/>
          <p:cNvSpPr>
            <a:spLocks noChangeArrowheads="1" noTextEdit="1"/>
          </p:cNvSpPr>
          <p:nvPr>
            <p:ph type="sldImg"/>
          </p:nvPr>
        </p:nvSpPr>
        <p:spPr>
          <a:ln/>
        </p:spPr>
      </p:sp>
      <p:sp>
        <p:nvSpPr>
          <p:cNvPr id="51405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FD0C44-1524-4941-B5C7-9A20E02FDFA9}" type="slidenum">
              <a:rPr lang="en-US" altLang="en-US"/>
              <a:pPr/>
              <a:t>16</a:t>
            </a:fld>
            <a:endParaRPr lang="en-US" altLang="en-US"/>
          </a:p>
        </p:txBody>
      </p:sp>
      <p:sp>
        <p:nvSpPr>
          <p:cNvPr id="515074" name="Rectangle 2"/>
          <p:cNvSpPr>
            <a:spLocks noChangeArrowheads="1" noTextEdit="1"/>
          </p:cNvSpPr>
          <p:nvPr>
            <p:ph type="sldImg"/>
          </p:nvPr>
        </p:nvSpPr>
        <p:spPr>
          <a:ln/>
        </p:spPr>
      </p:sp>
      <p:sp>
        <p:nvSpPr>
          <p:cNvPr id="51507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4B59FE-9881-40A2-B6C7-2740296C3A88}" type="slidenum">
              <a:rPr lang="en-US" altLang="en-US"/>
              <a:pPr/>
              <a:t>17</a:t>
            </a:fld>
            <a:endParaRPr lang="en-US" altLang="en-US"/>
          </a:p>
        </p:txBody>
      </p:sp>
      <p:sp>
        <p:nvSpPr>
          <p:cNvPr id="516098" name="Rectangle 2"/>
          <p:cNvSpPr>
            <a:spLocks noChangeArrowheads="1" noTextEdit="1"/>
          </p:cNvSpPr>
          <p:nvPr>
            <p:ph type="sldImg"/>
          </p:nvPr>
        </p:nvSpPr>
        <p:spPr>
          <a:ln/>
        </p:spPr>
      </p:sp>
      <p:sp>
        <p:nvSpPr>
          <p:cNvPr id="51609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08C90D8-D4CA-44D1-AB08-BBECD013755B}" type="slidenum">
              <a:rPr lang="en-US" altLang="en-US"/>
              <a:pPr/>
              <a:t>18</a:t>
            </a:fld>
            <a:endParaRPr lang="en-US" altLang="en-US"/>
          </a:p>
        </p:txBody>
      </p:sp>
      <p:sp>
        <p:nvSpPr>
          <p:cNvPr id="517122" name="Rectangle 2"/>
          <p:cNvSpPr>
            <a:spLocks noChangeArrowheads="1" noTextEdit="1"/>
          </p:cNvSpPr>
          <p:nvPr>
            <p:ph type="sldImg"/>
          </p:nvPr>
        </p:nvSpPr>
        <p:spPr>
          <a:ln/>
        </p:spPr>
      </p:sp>
      <p:sp>
        <p:nvSpPr>
          <p:cNvPr id="51712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FADBB2-1823-475A-B342-806E20CCF80B}" type="slidenum">
              <a:rPr lang="en-US" altLang="en-US"/>
              <a:pPr/>
              <a:t>19</a:t>
            </a:fld>
            <a:endParaRPr lang="en-US" altLang="en-US"/>
          </a:p>
        </p:txBody>
      </p:sp>
      <p:sp>
        <p:nvSpPr>
          <p:cNvPr id="518146" name="Rectangle 2"/>
          <p:cNvSpPr>
            <a:spLocks noChangeArrowheads="1" noTextEdit="1"/>
          </p:cNvSpPr>
          <p:nvPr>
            <p:ph type="sldImg"/>
          </p:nvPr>
        </p:nvSpPr>
        <p:spPr>
          <a:ln/>
        </p:spPr>
      </p:sp>
      <p:sp>
        <p:nvSpPr>
          <p:cNvPr id="51814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B516BCC-9F60-4FE1-B4B0-2D09D0E2956F}" type="slidenum">
              <a:rPr lang="en-US" altLang="en-US"/>
              <a:pPr/>
              <a:t>20</a:t>
            </a:fld>
            <a:endParaRPr lang="en-US" altLang="en-US"/>
          </a:p>
        </p:txBody>
      </p:sp>
      <p:sp>
        <p:nvSpPr>
          <p:cNvPr id="519170" name="Rectangle 2"/>
          <p:cNvSpPr>
            <a:spLocks noChangeArrowheads="1" noTextEdit="1"/>
          </p:cNvSpPr>
          <p:nvPr>
            <p:ph type="sldImg"/>
          </p:nvPr>
        </p:nvSpPr>
        <p:spPr>
          <a:ln/>
        </p:spPr>
      </p:sp>
      <p:sp>
        <p:nvSpPr>
          <p:cNvPr id="51917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B605A9-62E4-4D30-8E85-9D5697D47C2A}" type="slidenum">
              <a:rPr lang="en-US" altLang="en-US"/>
              <a:pPr/>
              <a:t>21</a:t>
            </a:fld>
            <a:endParaRPr lang="en-US" altLang="en-US"/>
          </a:p>
        </p:txBody>
      </p:sp>
      <p:sp>
        <p:nvSpPr>
          <p:cNvPr id="520194" name="Rectangle 2"/>
          <p:cNvSpPr>
            <a:spLocks noChangeArrowheads="1" noTextEdit="1"/>
          </p:cNvSpPr>
          <p:nvPr>
            <p:ph type="sldImg"/>
          </p:nvPr>
        </p:nvSpPr>
        <p:spPr>
          <a:ln/>
        </p:spPr>
      </p:sp>
      <p:sp>
        <p:nvSpPr>
          <p:cNvPr id="52019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CC99C6-ACD5-4F7C-AE51-3F1A2273C9E0}" type="slidenum">
              <a:rPr lang="en-US" altLang="en-US"/>
              <a:pPr/>
              <a:t>22</a:t>
            </a:fld>
            <a:endParaRPr lang="en-US" altLang="en-US"/>
          </a:p>
        </p:txBody>
      </p:sp>
      <p:sp>
        <p:nvSpPr>
          <p:cNvPr id="521218" name="Rectangle 2"/>
          <p:cNvSpPr>
            <a:spLocks noChangeArrowheads="1" noTextEdit="1"/>
          </p:cNvSpPr>
          <p:nvPr>
            <p:ph type="sldImg"/>
          </p:nvPr>
        </p:nvSpPr>
        <p:spPr>
          <a:ln/>
        </p:spPr>
      </p:sp>
      <p:sp>
        <p:nvSpPr>
          <p:cNvPr id="52121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2CFC5AF-8F37-4A28-8524-F927CB1469CD}" type="slidenum">
              <a:rPr lang="en-US" altLang="en-US"/>
              <a:pPr/>
              <a:t>23</a:t>
            </a:fld>
            <a:endParaRPr lang="en-US" altLang="en-US"/>
          </a:p>
        </p:txBody>
      </p:sp>
      <p:sp>
        <p:nvSpPr>
          <p:cNvPr id="522242" name="Rectangle 2"/>
          <p:cNvSpPr>
            <a:spLocks noChangeArrowheads="1" noTextEdit="1"/>
          </p:cNvSpPr>
          <p:nvPr>
            <p:ph type="sldImg"/>
          </p:nvPr>
        </p:nvSpPr>
        <p:spPr>
          <a:ln/>
        </p:spPr>
      </p:sp>
      <p:sp>
        <p:nvSpPr>
          <p:cNvPr id="52224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ECB2F1-561C-4828-B92B-26A90F530260}" type="slidenum">
              <a:rPr lang="en-US" altLang="en-US"/>
              <a:pPr/>
              <a:t>24</a:t>
            </a:fld>
            <a:endParaRPr lang="en-US" altLang="en-US"/>
          </a:p>
        </p:txBody>
      </p:sp>
      <p:sp>
        <p:nvSpPr>
          <p:cNvPr id="523266" name="Rectangle 2"/>
          <p:cNvSpPr>
            <a:spLocks noChangeArrowheads="1" noTextEdit="1"/>
          </p:cNvSpPr>
          <p:nvPr>
            <p:ph type="sldImg"/>
          </p:nvPr>
        </p:nvSpPr>
        <p:spPr>
          <a:ln/>
        </p:spPr>
      </p:sp>
      <p:sp>
        <p:nvSpPr>
          <p:cNvPr id="5232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682B87F-D2D6-4C51-98C8-62F0376D104F}" type="slidenum">
              <a:rPr lang="en-US" altLang="en-US"/>
              <a:pPr/>
              <a:t>25</a:t>
            </a:fld>
            <a:endParaRPr lang="en-US" altLang="en-US"/>
          </a:p>
        </p:txBody>
      </p:sp>
      <p:sp>
        <p:nvSpPr>
          <p:cNvPr id="524290" name="Rectangle 2"/>
          <p:cNvSpPr>
            <a:spLocks noChangeArrowheads="1" noTextEdit="1"/>
          </p:cNvSpPr>
          <p:nvPr>
            <p:ph type="sldImg"/>
          </p:nvPr>
        </p:nvSpPr>
        <p:spPr>
          <a:ln/>
        </p:spPr>
      </p:sp>
      <p:sp>
        <p:nvSpPr>
          <p:cNvPr id="5242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FB41338-BB46-49C9-9E5A-05A51A71DF43}" type="slidenum">
              <a:rPr lang="en-US" altLang="en-US"/>
              <a:pPr/>
              <a:t>26</a:t>
            </a:fld>
            <a:endParaRPr lang="en-US" altLang="en-US"/>
          </a:p>
        </p:txBody>
      </p:sp>
      <p:sp>
        <p:nvSpPr>
          <p:cNvPr id="525314" name="Rectangle 2"/>
          <p:cNvSpPr>
            <a:spLocks noChangeArrowheads="1" noTextEdit="1"/>
          </p:cNvSpPr>
          <p:nvPr>
            <p:ph type="sldImg"/>
          </p:nvPr>
        </p:nvSpPr>
        <p:spPr>
          <a:ln/>
        </p:spPr>
      </p:sp>
      <p:sp>
        <p:nvSpPr>
          <p:cNvPr id="52531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AFC780-134F-4061-B92E-20DEB4AF0DA4}" type="slidenum">
              <a:rPr lang="en-US" altLang="en-US"/>
              <a:pPr/>
              <a:t>27</a:t>
            </a:fld>
            <a:endParaRPr lang="en-US" altLang="en-US"/>
          </a:p>
        </p:txBody>
      </p:sp>
      <p:sp>
        <p:nvSpPr>
          <p:cNvPr id="526338" name="Rectangle 2"/>
          <p:cNvSpPr>
            <a:spLocks noChangeArrowheads="1" noTextEdit="1"/>
          </p:cNvSpPr>
          <p:nvPr>
            <p:ph type="sldImg"/>
          </p:nvPr>
        </p:nvSpPr>
        <p:spPr>
          <a:ln/>
        </p:spPr>
      </p:sp>
      <p:sp>
        <p:nvSpPr>
          <p:cNvPr id="5263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707503-04A4-4DE6-A705-3894C79BF81D}" type="slidenum">
              <a:rPr lang="en-US" altLang="en-US"/>
              <a:pPr/>
              <a:t>28</a:t>
            </a:fld>
            <a:endParaRPr lang="en-US" altLang="en-US"/>
          </a:p>
        </p:txBody>
      </p:sp>
      <p:sp>
        <p:nvSpPr>
          <p:cNvPr id="527362" name="Rectangle 2"/>
          <p:cNvSpPr>
            <a:spLocks noChangeArrowheads="1" noTextEdit="1"/>
          </p:cNvSpPr>
          <p:nvPr>
            <p:ph type="sldImg"/>
          </p:nvPr>
        </p:nvSpPr>
        <p:spPr>
          <a:ln/>
        </p:spPr>
      </p:sp>
      <p:sp>
        <p:nvSpPr>
          <p:cNvPr id="52736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B9AA0DE-908E-4DCA-B958-6FD4D2A8D44B}" type="slidenum">
              <a:rPr lang="en-US" altLang="en-US"/>
              <a:pPr/>
              <a:t>29</a:t>
            </a:fld>
            <a:endParaRPr lang="en-US" altLang="en-US"/>
          </a:p>
        </p:txBody>
      </p:sp>
      <p:sp>
        <p:nvSpPr>
          <p:cNvPr id="528386" name="Rectangle 2"/>
          <p:cNvSpPr>
            <a:spLocks noChangeArrowheads="1" noTextEdit="1"/>
          </p:cNvSpPr>
          <p:nvPr>
            <p:ph type="sldImg"/>
          </p:nvPr>
        </p:nvSpPr>
        <p:spPr>
          <a:ln/>
        </p:spPr>
      </p:sp>
      <p:sp>
        <p:nvSpPr>
          <p:cNvPr id="52838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83E963-ED4B-4B8F-A656-39C41FCA3C60}" type="slidenum">
              <a:rPr lang="en-US" altLang="en-US"/>
              <a:pPr/>
              <a:t>30</a:t>
            </a:fld>
            <a:endParaRPr lang="en-US" altLang="en-US"/>
          </a:p>
        </p:txBody>
      </p:sp>
      <p:sp>
        <p:nvSpPr>
          <p:cNvPr id="529410" name="Rectangle 2"/>
          <p:cNvSpPr>
            <a:spLocks noChangeArrowheads="1" noTextEdit="1"/>
          </p:cNvSpPr>
          <p:nvPr>
            <p:ph type="sldImg"/>
          </p:nvPr>
        </p:nvSpPr>
        <p:spPr>
          <a:ln/>
        </p:spPr>
      </p:sp>
      <p:sp>
        <p:nvSpPr>
          <p:cNvPr id="52941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056CA45-8804-4763-A727-73140BA117C0}" type="slidenum">
              <a:rPr lang="en-US" altLang="en-US"/>
              <a:pPr/>
              <a:t>31</a:t>
            </a:fld>
            <a:endParaRPr lang="en-US" altLang="en-US"/>
          </a:p>
        </p:txBody>
      </p:sp>
      <p:sp>
        <p:nvSpPr>
          <p:cNvPr id="530434" name="Rectangle 2"/>
          <p:cNvSpPr>
            <a:spLocks noChangeArrowheads="1" noTextEdit="1"/>
          </p:cNvSpPr>
          <p:nvPr>
            <p:ph type="sldImg"/>
          </p:nvPr>
        </p:nvSpPr>
        <p:spPr>
          <a:ln/>
        </p:spPr>
      </p:sp>
      <p:sp>
        <p:nvSpPr>
          <p:cNvPr id="53043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C53E82-FB75-4B02-A925-1867B07F2A99}" type="slidenum">
              <a:rPr lang="en-US" altLang="en-US"/>
              <a:pPr/>
              <a:t>32</a:t>
            </a:fld>
            <a:endParaRPr lang="en-US" altLang="en-US"/>
          </a:p>
        </p:txBody>
      </p:sp>
      <p:sp>
        <p:nvSpPr>
          <p:cNvPr id="531458" name="Rectangle 2"/>
          <p:cNvSpPr>
            <a:spLocks noChangeArrowheads="1" noTextEdit="1"/>
          </p:cNvSpPr>
          <p:nvPr>
            <p:ph type="sldImg"/>
          </p:nvPr>
        </p:nvSpPr>
        <p:spPr>
          <a:ln/>
        </p:spPr>
      </p:sp>
      <p:sp>
        <p:nvSpPr>
          <p:cNvPr id="53145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E7B989F-3038-48CB-AE82-9DD17902DB6D}" type="slidenum">
              <a:rPr lang="en-US" altLang="en-US"/>
              <a:pPr/>
              <a:t>33</a:t>
            </a:fld>
            <a:endParaRPr lang="en-US" altLang="en-US"/>
          </a:p>
        </p:txBody>
      </p:sp>
      <p:sp>
        <p:nvSpPr>
          <p:cNvPr id="534530" name="Rectangle 2"/>
          <p:cNvSpPr>
            <a:spLocks noChangeArrowheads="1" noTextEdit="1"/>
          </p:cNvSpPr>
          <p:nvPr>
            <p:ph type="sldImg"/>
          </p:nvPr>
        </p:nvSpPr>
        <p:spPr>
          <a:ln/>
        </p:spPr>
      </p:sp>
      <p:sp>
        <p:nvSpPr>
          <p:cNvPr id="53453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ED5361-3F70-47E0-B4D9-320DB1F2927E}" type="slidenum">
              <a:rPr lang="en-US" altLang="en-US"/>
              <a:pPr/>
              <a:t>34</a:t>
            </a:fld>
            <a:endParaRPr lang="en-US" altLang="en-US"/>
          </a:p>
        </p:txBody>
      </p:sp>
      <p:sp>
        <p:nvSpPr>
          <p:cNvPr id="537602" name="Rectangle 2"/>
          <p:cNvSpPr>
            <a:spLocks noChangeArrowheads="1" noTextEdit="1"/>
          </p:cNvSpPr>
          <p:nvPr>
            <p:ph type="sldImg"/>
          </p:nvPr>
        </p:nvSpPr>
        <p:spPr>
          <a:ln/>
        </p:spPr>
      </p:sp>
      <p:sp>
        <p:nvSpPr>
          <p:cNvPr id="53760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28958A-15B0-4B69-902B-E4DB9E6B9C67}" type="slidenum">
              <a:rPr lang="en-US" altLang="en-US"/>
              <a:pPr/>
              <a:t>35</a:t>
            </a:fld>
            <a:endParaRPr lang="en-US" altLang="en-US"/>
          </a:p>
        </p:txBody>
      </p:sp>
      <p:sp>
        <p:nvSpPr>
          <p:cNvPr id="539650" name="Rectangle 2"/>
          <p:cNvSpPr>
            <a:spLocks noChangeArrowheads="1" noTextEdit="1"/>
          </p:cNvSpPr>
          <p:nvPr>
            <p:ph type="sldImg"/>
          </p:nvPr>
        </p:nvSpPr>
        <p:spPr>
          <a:ln/>
        </p:spPr>
      </p:sp>
      <p:sp>
        <p:nvSpPr>
          <p:cNvPr id="53965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5859DF-941D-4B34-8F0A-C3A4DD6A655C}" type="slidenum">
              <a:rPr lang="en-US" altLang="en-US"/>
              <a:pPr/>
              <a:t>36</a:t>
            </a:fld>
            <a:endParaRPr lang="en-US" altLang="en-US"/>
          </a:p>
        </p:txBody>
      </p:sp>
      <p:sp>
        <p:nvSpPr>
          <p:cNvPr id="541698" name="Rectangle 2"/>
          <p:cNvSpPr>
            <a:spLocks noChangeArrowheads="1" noTextEdit="1"/>
          </p:cNvSpPr>
          <p:nvPr>
            <p:ph type="sldImg"/>
          </p:nvPr>
        </p:nvSpPr>
        <p:spPr>
          <a:ln/>
        </p:spPr>
      </p:sp>
      <p:sp>
        <p:nvSpPr>
          <p:cNvPr id="54169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2879AF1-F3E2-4BB6-B11D-DEE03AC2FF65}" type="slidenum">
              <a:rPr lang="en-US" altLang="en-US"/>
              <a:pPr/>
              <a:t>37</a:t>
            </a:fld>
            <a:endParaRPr lang="en-US" altLang="en-US"/>
          </a:p>
        </p:txBody>
      </p:sp>
      <p:sp>
        <p:nvSpPr>
          <p:cNvPr id="543746" name="Rectangle 2"/>
          <p:cNvSpPr>
            <a:spLocks noChangeArrowheads="1" noTextEdit="1"/>
          </p:cNvSpPr>
          <p:nvPr>
            <p:ph type="sldImg"/>
          </p:nvPr>
        </p:nvSpPr>
        <p:spPr>
          <a:ln/>
        </p:spPr>
      </p:sp>
      <p:sp>
        <p:nvSpPr>
          <p:cNvPr id="54374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929D3E-7394-4536-AD4B-1BD1BD11199A}" type="slidenum">
              <a:rPr lang="en-US" altLang="en-US"/>
              <a:pPr/>
              <a:t>38</a:t>
            </a:fld>
            <a:endParaRPr lang="en-US" altLang="en-US"/>
          </a:p>
        </p:txBody>
      </p:sp>
      <p:sp>
        <p:nvSpPr>
          <p:cNvPr id="545794" name="Rectangle 2"/>
          <p:cNvSpPr>
            <a:spLocks noChangeArrowheads="1" noTextEdit="1"/>
          </p:cNvSpPr>
          <p:nvPr>
            <p:ph type="sldImg"/>
          </p:nvPr>
        </p:nvSpPr>
        <p:spPr>
          <a:ln/>
        </p:spPr>
      </p:sp>
      <p:sp>
        <p:nvSpPr>
          <p:cNvPr id="54579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10D38A0-9155-483B-BEC1-C6F4A9D78364}" type="slidenum">
              <a:rPr lang="en-US" altLang="en-US"/>
              <a:pPr/>
              <a:t>39</a:t>
            </a:fld>
            <a:endParaRPr lang="en-US" altLang="en-US"/>
          </a:p>
        </p:txBody>
      </p:sp>
      <p:sp>
        <p:nvSpPr>
          <p:cNvPr id="547842" name="Rectangle 2"/>
          <p:cNvSpPr>
            <a:spLocks noChangeArrowheads="1" noTextEdit="1"/>
          </p:cNvSpPr>
          <p:nvPr>
            <p:ph type="sldImg"/>
          </p:nvPr>
        </p:nvSpPr>
        <p:spPr>
          <a:ln/>
        </p:spPr>
      </p:sp>
      <p:sp>
        <p:nvSpPr>
          <p:cNvPr id="547843"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DB60CA-201F-49BA-A560-E6ABC4390FB6}" type="slidenum">
              <a:rPr lang="en-US" altLang="en-US"/>
              <a:pPr/>
              <a:t>40</a:t>
            </a:fld>
            <a:endParaRPr lang="en-US" altLang="en-US"/>
          </a:p>
        </p:txBody>
      </p:sp>
      <p:sp>
        <p:nvSpPr>
          <p:cNvPr id="549890" name="Rectangle 2"/>
          <p:cNvSpPr>
            <a:spLocks noChangeArrowheads="1" noTextEdit="1"/>
          </p:cNvSpPr>
          <p:nvPr>
            <p:ph type="sldImg"/>
          </p:nvPr>
        </p:nvSpPr>
        <p:spPr>
          <a:ln/>
        </p:spPr>
      </p:sp>
      <p:sp>
        <p:nvSpPr>
          <p:cNvPr id="5498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20D16A-2AD9-4359-BF82-0ED0411E6044}" type="slidenum">
              <a:rPr lang="en-US" altLang="en-US"/>
              <a:pPr/>
              <a:t>41</a:t>
            </a:fld>
            <a:endParaRPr lang="en-US" altLang="en-US"/>
          </a:p>
        </p:txBody>
      </p:sp>
      <p:sp>
        <p:nvSpPr>
          <p:cNvPr id="551938" name="Rectangle 2"/>
          <p:cNvSpPr>
            <a:spLocks noChangeArrowheads="1" noTextEdit="1"/>
          </p:cNvSpPr>
          <p:nvPr>
            <p:ph type="sldImg"/>
          </p:nvPr>
        </p:nvSpPr>
        <p:spPr>
          <a:ln/>
        </p:spPr>
      </p:sp>
      <p:sp>
        <p:nvSpPr>
          <p:cNvPr id="55193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43673D8-BAE5-416D-951B-F63B2B607627}" type="slidenum">
              <a:rPr lang="en-US" altLang="en-US"/>
              <a:pPr/>
              <a:t>42</a:t>
            </a:fld>
            <a:endParaRPr lang="en-US" altLang="en-US"/>
          </a:p>
        </p:txBody>
      </p:sp>
      <p:sp>
        <p:nvSpPr>
          <p:cNvPr id="553986" name="Rectangle 2"/>
          <p:cNvSpPr>
            <a:spLocks noChangeArrowheads="1" noTextEdit="1"/>
          </p:cNvSpPr>
          <p:nvPr>
            <p:ph type="sldImg"/>
          </p:nvPr>
        </p:nvSpPr>
        <p:spPr>
          <a:ln/>
        </p:spPr>
      </p:sp>
      <p:sp>
        <p:nvSpPr>
          <p:cNvPr id="55398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5289EC1-A74F-4BF5-ABB6-79E1399E9EA7}" type="slidenum">
              <a:rPr lang="en-US" altLang="en-US"/>
              <a:pPr/>
              <a:t>43</a:t>
            </a:fld>
            <a:endParaRPr lang="en-US" altLang="en-US"/>
          </a:p>
        </p:txBody>
      </p:sp>
      <p:sp>
        <p:nvSpPr>
          <p:cNvPr id="556034" name="Rectangle 2"/>
          <p:cNvSpPr>
            <a:spLocks noChangeArrowheads="1" noTextEdit="1"/>
          </p:cNvSpPr>
          <p:nvPr>
            <p:ph type="sldImg"/>
          </p:nvPr>
        </p:nvSpPr>
        <p:spPr>
          <a:ln/>
        </p:spPr>
      </p:sp>
      <p:sp>
        <p:nvSpPr>
          <p:cNvPr id="556035"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D60516E-C60B-428C-93DA-48DA945D3228}" type="slidenum">
              <a:rPr lang="en-US" altLang="en-US"/>
              <a:pPr/>
              <a:t>94</a:t>
            </a:fld>
            <a:endParaRPr lang="en-US" altLang="en-US"/>
          </a:p>
        </p:txBody>
      </p:sp>
      <p:sp>
        <p:nvSpPr>
          <p:cNvPr id="463874" name="Rectangle 2"/>
          <p:cNvSpPr>
            <a:spLocks noChangeArrowheads="1" noTextEdit="1"/>
          </p:cNvSpPr>
          <p:nvPr>
            <p:ph type="sldImg"/>
          </p:nvPr>
        </p:nvSpPr>
        <p:spPr>
          <a:ln/>
        </p:spPr>
      </p:sp>
      <p:sp>
        <p:nvSpPr>
          <p:cNvPr id="463875" name="Rectangle 3"/>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Slide Number Placeholder 3"/>
          <p:cNvSpPr>
            <a:spLocks noGrp="1"/>
          </p:cNvSpPr>
          <p:nvPr>
            <p:ph type="sldNum" sz="quarter" idx="10"/>
          </p:nvPr>
        </p:nvSpPr>
        <p:spPr/>
        <p:txBody>
          <a:bodyPr/>
          <a:lstStyle>
            <a:lvl1pPr>
              <a:defRPr/>
            </a:lvl1pPr>
          </a:lstStyle>
          <a:p>
            <a:fld id="{F6F93664-B6D0-469E-8464-01D6A2DD768C}" type="slidenum">
              <a:rPr lang="en-US" altLang="en-US"/>
              <a:pPr/>
              <a:t>‹#›</a:t>
            </a:fld>
            <a:endParaRPr lang="en-US" altLang="en-US"/>
          </a:p>
        </p:txBody>
      </p:sp>
    </p:spTree>
    <p:extLst>
      <p:ext uri="{BB962C8B-B14F-4D97-AF65-F5344CB8AC3E}">
        <p14:creationId xmlns:p14="http://schemas.microsoft.com/office/powerpoint/2010/main" val="2457102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032EB1EF-AB0E-4FA0-96FB-6C51FFFCC3BE}" type="slidenum">
              <a:rPr lang="en-US" altLang="en-US"/>
              <a:pPr/>
              <a:t>‹#›</a:t>
            </a:fld>
            <a:endParaRPr lang="en-US" altLang="en-US"/>
          </a:p>
        </p:txBody>
      </p:sp>
    </p:spTree>
    <p:extLst>
      <p:ext uri="{BB962C8B-B14F-4D97-AF65-F5344CB8AC3E}">
        <p14:creationId xmlns:p14="http://schemas.microsoft.com/office/powerpoint/2010/main" val="27247096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Slide Number Placeholder 3"/>
          <p:cNvSpPr>
            <a:spLocks noGrp="1"/>
          </p:cNvSpPr>
          <p:nvPr>
            <p:ph type="sldNum" sz="quarter" idx="10"/>
          </p:nvPr>
        </p:nvSpPr>
        <p:spPr/>
        <p:txBody>
          <a:bodyPr/>
          <a:lstStyle>
            <a:lvl1pPr>
              <a:defRPr/>
            </a:lvl1pPr>
          </a:lstStyle>
          <a:p>
            <a:fld id="{948FE861-14B6-41AD-AD0C-999B2EBD05CB}" type="slidenum">
              <a:rPr lang="en-US" altLang="en-US"/>
              <a:pPr/>
              <a:t>‹#›</a:t>
            </a:fld>
            <a:endParaRPr lang="en-US" altLang="en-US"/>
          </a:p>
        </p:txBody>
      </p:sp>
    </p:spTree>
    <p:extLst>
      <p:ext uri="{BB962C8B-B14F-4D97-AF65-F5344CB8AC3E}">
        <p14:creationId xmlns:p14="http://schemas.microsoft.com/office/powerpoint/2010/main" val="439117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219200"/>
            <a:ext cx="4229100" cy="4876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219200"/>
            <a:ext cx="4229100" cy="4876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p:txBody>
          <a:bodyPr/>
          <a:lstStyle>
            <a:lvl1pPr>
              <a:defRPr/>
            </a:lvl1pPr>
          </a:lstStyle>
          <a:p>
            <a:fld id="{BD82C035-9118-4DEF-B332-CEB6953159CD}" type="slidenum">
              <a:rPr lang="en-US" altLang="en-US"/>
              <a:pPr/>
              <a:t>‹#›</a:t>
            </a:fld>
            <a:endParaRPr lang="en-US" altLang="en-US"/>
          </a:p>
        </p:txBody>
      </p:sp>
    </p:spTree>
    <p:extLst>
      <p:ext uri="{BB962C8B-B14F-4D97-AF65-F5344CB8AC3E}">
        <p14:creationId xmlns:p14="http://schemas.microsoft.com/office/powerpoint/2010/main" val="467434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p:txBody>
          <a:bodyPr/>
          <a:lstStyle>
            <a:lvl1pPr>
              <a:defRPr/>
            </a:lvl1pPr>
          </a:lstStyle>
          <a:p>
            <a:fld id="{ADB53ABA-C1E7-41AE-8EB8-98F78D7A7CBE}" type="slidenum">
              <a:rPr lang="en-US" altLang="en-US"/>
              <a:pPr/>
              <a:t>‹#›</a:t>
            </a:fld>
            <a:endParaRPr lang="en-US" altLang="en-US"/>
          </a:p>
        </p:txBody>
      </p:sp>
    </p:spTree>
    <p:extLst>
      <p:ext uri="{BB962C8B-B14F-4D97-AF65-F5344CB8AC3E}">
        <p14:creationId xmlns:p14="http://schemas.microsoft.com/office/powerpoint/2010/main" val="1975256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p:txBody>
          <a:bodyPr/>
          <a:lstStyle>
            <a:lvl1pPr>
              <a:defRPr/>
            </a:lvl1pPr>
          </a:lstStyle>
          <a:p>
            <a:fld id="{765B9AA0-9F2E-4924-AEC9-4073C4F6B433}" type="slidenum">
              <a:rPr lang="en-US" altLang="en-US"/>
              <a:pPr/>
              <a:t>‹#›</a:t>
            </a:fld>
            <a:endParaRPr lang="en-US" altLang="en-US"/>
          </a:p>
        </p:txBody>
      </p:sp>
    </p:spTree>
    <p:extLst>
      <p:ext uri="{BB962C8B-B14F-4D97-AF65-F5344CB8AC3E}">
        <p14:creationId xmlns:p14="http://schemas.microsoft.com/office/powerpoint/2010/main" val="3717684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D4981EE7-9BBE-470A-9895-AC6CFE7C7171}" type="slidenum">
              <a:rPr lang="en-US" altLang="en-US"/>
              <a:pPr/>
              <a:t>‹#›</a:t>
            </a:fld>
            <a:endParaRPr lang="en-US" altLang="en-US"/>
          </a:p>
        </p:txBody>
      </p:sp>
    </p:spTree>
    <p:extLst>
      <p:ext uri="{BB962C8B-B14F-4D97-AF65-F5344CB8AC3E}">
        <p14:creationId xmlns:p14="http://schemas.microsoft.com/office/powerpoint/2010/main" val="785231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Slide Number Placeholder 4"/>
          <p:cNvSpPr>
            <a:spLocks noGrp="1"/>
          </p:cNvSpPr>
          <p:nvPr>
            <p:ph type="sldNum" sz="quarter" idx="10"/>
          </p:nvPr>
        </p:nvSpPr>
        <p:spPr/>
        <p:txBody>
          <a:bodyPr/>
          <a:lstStyle>
            <a:lvl1pPr>
              <a:defRPr/>
            </a:lvl1pPr>
          </a:lstStyle>
          <a:p>
            <a:fld id="{1533C62E-6687-4162-9C1A-8CB493390183}" type="slidenum">
              <a:rPr lang="en-US" altLang="en-US"/>
              <a:pPr/>
              <a:t>‹#›</a:t>
            </a:fld>
            <a:endParaRPr lang="en-US" altLang="en-US"/>
          </a:p>
        </p:txBody>
      </p:sp>
    </p:spTree>
    <p:extLst>
      <p:ext uri="{BB962C8B-B14F-4D97-AF65-F5344CB8AC3E}">
        <p14:creationId xmlns:p14="http://schemas.microsoft.com/office/powerpoint/2010/main" val="568334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Slide Number Placeholder 4"/>
          <p:cNvSpPr>
            <a:spLocks noGrp="1"/>
          </p:cNvSpPr>
          <p:nvPr>
            <p:ph type="sldNum" sz="quarter" idx="10"/>
          </p:nvPr>
        </p:nvSpPr>
        <p:spPr/>
        <p:txBody>
          <a:bodyPr/>
          <a:lstStyle>
            <a:lvl1pPr>
              <a:defRPr/>
            </a:lvl1pPr>
          </a:lstStyle>
          <a:p>
            <a:fld id="{E25F9392-F499-4558-A4CF-63F28991B049}" type="slidenum">
              <a:rPr lang="en-US" altLang="en-US"/>
              <a:pPr/>
              <a:t>‹#›</a:t>
            </a:fld>
            <a:endParaRPr lang="en-US" altLang="en-US"/>
          </a:p>
        </p:txBody>
      </p:sp>
    </p:spTree>
    <p:extLst>
      <p:ext uri="{BB962C8B-B14F-4D97-AF65-F5344CB8AC3E}">
        <p14:creationId xmlns:p14="http://schemas.microsoft.com/office/powerpoint/2010/main" val="1555718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88F4D5D7-263E-403E-9B20-E4B2F2B6C413}" type="slidenum">
              <a:rPr lang="en-US" altLang="en-US"/>
              <a:pPr/>
              <a:t>‹#›</a:t>
            </a:fld>
            <a:endParaRPr lang="en-US" altLang="en-US"/>
          </a:p>
        </p:txBody>
      </p:sp>
    </p:spTree>
    <p:extLst>
      <p:ext uri="{BB962C8B-B14F-4D97-AF65-F5344CB8AC3E}">
        <p14:creationId xmlns:p14="http://schemas.microsoft.com/office/powerpoint/2010/main" val="3228271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304800"/>
            <a:ext cx="215265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305550" cy="57912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p:txBody>
          <a:bodyPr/>
          <a:lstStyle>
            <a:lvl1pPr>
              <a:defRPr/>
            </a:lvl1pPr>
          </a:lstStyle>
          <a:p>
            <a:fld id="{F4758065-1AFC-4AFF-BD0E-0FF1DD7F4529}" type="slidenum">
              <a:rPr lang="en-US" altLang="en-US"/>
              <a:pPr/>
              <a:t>‹#›</a:t>
            </a:fld>
            <a:endParaRPr lang="en-US" altLang="en-US"/>
          </a:p>
        </p:txBody>
      </p:sp>
    </p:spTree>
    <p:extLst>
      <p:ext uri="{BB962C8B-B14F-4D97-AF65-F5344CB8AC3E}">
        <p14:creationId xmlns:p14="http://schemas.microsoft.com/office/powerpoint/2010/main" val="1533623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28600" y="304800"/>
            <a:ext cx="86106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228600" y="1219200"/>
            <a:ext cx="8610600"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6781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4F6B1038-AEF2-44CE-958B-24B1A895D84E}" type="slidenum">
              <a:rPr lang="en-US" altLang="en-US"/>
              <a:pPr/>
              <a:t>‹#›</a:t>
            </a:fld>
            <a:endParaRPr lang="en-US" altLang="en-US"/>
          </a:p>
        </p:txBody>
      </p:sp>
      <p:pic>
        <p:nvPicPr>
          <p:cNvPr id="1031" name="Picture 7" descr="dd_book_pe_cover_frontart_lowres_croppe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28600" y="6019800"/>
            <a:ext cx="712788" cy="693738"/>
          </a:xfrm>
          <a:prstGeom prst="rect">
            <a:avLst/>
          </a:prstGeom>
          <a:noFill/>
          <a:extLst>
            <a:ext uri="{909E8E84-426E-40DD-AFC4-6F175D3DCCD1}">
              <a14:hiddenFill xmlns:a14="http://schemas.microsoft.com/office/drawing/2010/main">
                <a:solidFill>
                  <a:srgbClr val="FFFFFF"/>
                </a:solidFill>
              </a14:hiddenFill>
            </a:ext>
          </a:extLst>
        </p:spPr>
      </p:pic>
      <p:sp>
        <p:nvSpPr>
          <p:cNvPr id="1033" name="Text Box 9"/>
          <p:cNvSpPr txBox="1">
            <a:spLocks noChangeArrowheads="1"/>
          </p:cNvSpPr>
          <p:nvPr userDrawn="1"/>
        </p:nvSpPr>
        <p:spPr bwMode="auto">
          <a:xfrm>
            <a:off x="914400" y="6065838"/>
            <a:ext cx="1524000" cy="63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200"/>
              <a:t>Digital Design</a:t>
            </a:r>
          </a:p>
          <a:p>
            <a:r>
              <a:rPr lang="en-US" altLang="en-US" sz="1200"/>
              <a:t>Copyright </a:t>
            </a:r>
            <a:r>
              <a:rPr lang="en-US" altLang="en-US" sz="1200">
                <a:cs typeface="Times New Roman" panose="02020603050405020304" pitchFamily="18" charset="0"/>
              </a:rPr>
              <a:t>© 2006</a:t>
            </a:r>
            <a:r>
              <a:rPr lang="en-US" altLang="en-US" sz="1200"/>
              <a:t> </a:t>
            </a:r>
          </a:p>
          <a:p>
            <a:r>
              <a:rPr lang="en-US" altLang="en-US" sz="1200"/>
              <a:t>Frank Vahid</a:t>
            </a:r>
          </a:p>
        </p:txBody>
      </p:sp>
      <p:sp>
        <p:nvSpPr>
          <p:cNvPr id="1035" name="Rectangle 11"/>
          <p:cNvSpPr>
            <a:spLocks noChangeArrowheads="1"/>
          </p:cNvSpPr>
          <p:nvPr userDrawn="1"/>
        </p:nvSpPr>
        <p:spPr bwMode="auto">
          <a:xfrm>
            <a:off x="0" y="1016000"/>
            <a:ext cx="1450975" cy="131763"/>
          </a:xfrm>
          <a:prstGeom prst="rect">
            <a:avLst/>
          </a:prstGeom>
          <a:gradFill rotWithShape="0">
            <a:gsLst>
              <a:gs pos="0">
                <a:srgbClr val="FFFF00"/>
              </a:gs>
              <a:gs pos="100000">
                <a:srgbClr val="0066FF"/>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sy="-50000" kx="2453608" rotWithShape="0">
                    <a:schemeClr val="bg2"/>
                  </a:outerShdw>
                </a:effectLst>
              </a14:hiddenEffects>
            </a:ext>
          </a:extLst>
        </p:spPr>
        <p:txBody>
          <a:bodyPr wrap="none" anchor="ctr"/>
          <a:lstStyle/>
          <a:p>
            <a:endParaRPr lang="en-US"/>
          </a:p>
        </p:txBody>
      </p:sp>
      <p:sp>
        <p:nvSpPr>
          <p:cNvPr id="1036" name="Rectangle 12"/>
          <p:cNvSpPr>
            <a:spLocks noChangeArrowheads="1"/>
          </p:cNvSpPr>
          <p:nvPr userDrawn="1"/>
        </p:nvSpPr>
        <p:spPr bwMode="auto">
          <a:xfrm>
            <a:off x="7693025" y="6548438"/>
            <a:ext cx="1450975" cy="131762"/>
          </a:xfrm>
          <a:prstGeom prst="rect">
            <a:avLst/>
          </a:prstGeom>
          <a:gradFill rotWithShape="0">
            <a:gsLst>
              <a:gs pos="0">
                <a:srgbClr val="0066FF"/>
              </a:gs>
              <a:gs pos="100000">
                <a:srgbClr val="FFFF00"/>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sy="-50000" kx="2453608" rotWithShape="0">
                    <a:schemeClr val="bg2"/>
                  </a:outerShdw>
                </a:effectLst>
              </a14:hiddenEffects>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sz="3600" kern="1200">
          <a:solidFill>
            <a:srgbClr val="0000CC"/>
          </a:solidFill>
          <a:latin typeface="+mj-lt"/>
          <a:ea typeface="+mj-ea"/>
          <a:cs typeface="+mj-cs"/>
        </a:defRPr>
      </a:lvl1pPr>
      <a:lvl2pPr algn="ctr" rtl="0" fontAlgn="base">
        <a:spcBef>
          <a:spcPct val="0"/>
        </a:spcBef>
        <a:spcAft>
          <a:spcPct val="0"/>
        </a:spcAft>
        <a:defRPr sz="3600">
          <a:solidFill>
            <a:srgbClr val="0000CC"/>
          </a:solidFill>
          <a:latin typeface="Arial Narrow" panose="020B0606020202030204" pitchFamily="34" charset="0"/>
        </a:defRPr>
      </a:lvl2pPr>
      <a:lvl3pPr algn="ctr" rtl="0" fontAlgn="base">
        <a:spcBef>
          <a:spcPct val="0"/>
        </a:spcBef>
        <a:spcAft>
          <a:spcPct val="0"/>
        </a:spcAft>
        <a:defRPr sz="3600">
          <a:solidFill>
            <a:srgbClr val="0000CC"/>
          </a:solidFill>
          <a:latin typeface="Arial Narrow" panose="020B0606020202030204" pitchFamily="34" charset="0"/>
        </a:defRPr>
      </a:lvl3pPr>
      <a:lvl4pPr algn="ctr" rtl="0" fontAlgn="base">
        <a:spcBef>
          <a:spcPct val="0"/>
        </a:spcBef>
        <a:spcAft>
          <a:spcPct val="0"/>
        </a:spcAft>
        <a:defRPr sz="3600">
          <a:solidFill>
            <a:srgbClr val="0000CC"/>
          </a:solidFill>
          <a:latin typeface="Arial Narrow" panose="020B0606020202030204" pitchFamily="34" charset="0"/>
        </a:defRPr>
      </a:lvl4pPr>
      <a:lvl5pPr algn="ctr" rtl="0" fontAlgn="base">
        <a:spcBef>
          <a:spcPct val="0"/>
        </a:spcBef>
        <a:spcAft>
          <a:spcPct val="0"/>
        </a:spcAft>
        <a:defRPr sz="3600">
          <a:solidFill>
            <a:srgbClr val="0000CC"/>
          </a:solidFill>
          <a:latin typeface="Arial Narrow" panose="020B0606020202030204" pitchFamily="34" charset="0"/>
        </a:defRPr>
      </a:lvl5pPr>
      <a:lvl6pPr marL="457200" algn="ctr" rtl="0" fontAlgn="base">
        <a:spcBef>
          <a:spcPct val="0"/>
        </a:spcBef>
        <a:spcAft>
          <a:spcPct val="0"/>
        </a:spcAft>
        <a:defRPr sz="3600">
          <a:solidFill>
            <a:srgbClr val="0000CC"/>
          </a:solidFill>
          <a:latin typeface="Arial Narrow" panose="020B0606020202030204" pitchFamily="34" charset="0"/>
        </a:defRPr>
      </a:lvl6pPr>
      <a:lvl7pPr marL="914400" algn="ctr" rtl="0" fontAlgn="base">
        <a:spcBef>
          <a:spcPct val="0"/>
        </a:spcBef>
        <a:spcAft>
          <a:spcPct val="0"/>
        </a:spcAft>
        <a:defRPr sz="3600">
          <a:solidFill>
            <a:srgbClr val="0000CC"/>
          </a:solidFill>
          <a:latin typeface="Arial Narrow" panose="020B0606020202030204" pitchFamily="34" charset="0"/>
        </a:defRPr>
      </a:lvl7pPr>
      <a:lvl8pPr marL="1371600" algn="ctr" rtl="0" fontAlgn="base">
        <a:spcBef>
          <a:spcPct val="0"/>
        </a:spcBef>
        <a:spcAft>
          <a:spcPct val="0"/>
        </a:spcAft>
        <a:defRPr sz="3600">
          <a:solidFill>
            <a:srgbClr val="0000CC"/>
          </a:solidFill>
          <a:latin typeface="Arial Narrow" panose="020B0606020202030204" pitchFamily="34" charset="0"/>
        </a:defRPr>
      </a:lvl8pPr>
      <a:lvl9pPr marL="1828800" algn="ctr" rtl="0" fontAlgn="base">
        <a:spcBef>
          <a:spcPct val="0"/>
        </a:spcBef>
        <a:spcAft>
          <a:spcPct val="0"/>
        </a:spcAft>
        <a:defRPr sz="3600">
          <a:solidFill>
            <a:srgbClr val="0000CC"/>
          </a:solidFill>
          <a:latin typeface="Arial Narrow" panose="020B0606020202030204" pitchFamily="34" charset="0"/>
        </a:defRPr>
      </a:lvl9pPr>
    </p:titleStyle>
    <p:bodyStyle>
      <a:lvl1pPr marL="342900" indent="-342900" algn="l" rtl="0" fontAlgn="base">
        <a:spcBef>
          <a:spcPct val="20000"/>
        </a:spcBef>
        <a:spcAft>
          <a:spcPct val="0"/>
        </a:spcAft>
        <a:buChar char="•"/>
        <a:defRPr sz="2400" kern="1200">
          <a:solidFill>
            <a:schemeClr val="tx1"/>
          </a:solidFill>
          <a:latin typeface="+mn-lt"/>
          <a:ea typeface="+mn-ea"/>
          <a:cs typeface="+mn-cs"/>
        </a:defRPr>
      </a:lvl1pPr>
      <a:lvl2pPr marL="742950" indent="-285750" algn="l" rtl="0" fontAlgn="base">
        <a:spcBef>
          <a:spcPct val="20000"/>
        </a:spcBef>
        <a:spcAft>
          <a:spcPct val="0"/>
        </a:spcAft>
        <a:buChar char="–"/>
        <a:defRPr sz="2000" kern="1200">
          <a:solidFill>
            <a:schemeClr val="tx1"/>
          </a:solidFill>
          <a:latin typeface="+mn-lt"/>
          <a:ea typeface="+mn-ea"/>
          <a:cs typeface="+mn-cs"/>
        </a:defRPr>
      </a:lvl2pPr>
      <a:lvl3pPr marL="1143000" indent="-228600" algn="l" rtl="0" fontAlgn="base">
        <a:spcBef>
          <a:spcPct val="20000"/>
        </a:spcBef>
        <a:spcAft>
          <a:spcPct val="0"/>
        </a:spcAft>
        <a:buChar char="•"/>
        <a:defRPr kern="1200">
          <a:solidFill>
            <a:schemeClr val="tx1"/>
          </a:solidFill>
          <a:latin typeface="+mn-lt"/>
          <a:ea typeface="+mn-ea"/>
          <a:cs typeface="+mn-cs"/>
        </a:defRPr>
      </a:lvl3pPr>
      <a:lvl4pPr marL="1600200" indent="-228600" algn="l" rtl="0" fontAlgn="base">
        <a:spcBef>
          <a:spcPct val="20000"/>
        </a:spcBef>
        <a:spcAft>
          <a:spcPct val="0"/>
        </a:spcAft>
        <a:buChar char="–"/>
        <a:defRPr sz="1600" kern="1200">
          <a:solidFill>
            <a:schemeClr val="tx1"/>
          </a:solidFill>
          <a:latin typeface="+mn-lt"/>
          <a:ea typeface="+mn-ea"/>
          <a:cs typeface="+mn-cs"/>
        </a:defRPr>
      </a:lvl4pPr>
      <a:lvl5pPr marL="2057400" indent="-228600" algn="l" rtl="0" fontAlgn="base">
        <a:spcBef>
          <a:spcPct val="20000"/>
        </a:spcBef>
        <a:spcAft>
          <a:spcPct val="0"/>
        </a:spcAft>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ddvahid.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 Id="rId5" Type="http://schemas.openxmlformats.org/officeDocument/2006/relationships/image" Target="../media/image13.emf"/><Relationship Id="rId4" Type="http://schemas.openxmlformats.org/officeDocument/2006/relationships/image" Target="../media/image12.emf"/></Relationships>
</file>

<file path=ppt/slides/_rels/slide5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image" Target="../media/image25.emf"/><Relationship Id="rId7" Type="http://schemas.openxmlformats.org/officeDocument/2006/relationships/image" Target="../media/image29.emf"/><Relationship Id="rId2" Type="http://schemas.openxmlformats.org/officeDocument/2006/relationships/image" Target="../media/image24.emf"/><Relationship Id="rId1" Type="http://schemas.openxmlformats.org/officeDocument/2006/relationships/slideLayout" Target="../slideLayouts/slideLayout2.xml"/><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emf"/></Relationships>
</file>

<file path=ppt/slides/_rels/slide64.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 Id="rId4" Type="http://schemas.openxmlformats.org/officeDocument/2006/relationships/image" Target="../media/image33.emf"/></Relationships>
</file>

<file path=ppt/slides/_rels/slide6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1.emf"/><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36.emf"/><Relationship Id="rId4" Type="http://schemas.openxmlformats.org/officeDocument/2006/relationships/image" Target="../media/image35.emf"/></Relationships>
</file>

<file path=ppt/slides/_rels/slide66.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0.emf"/><Relationship Id="rId7" Type="http://schemas.openxmlformats.org/officeDocument/2006/relationships/image" Target="../media/image44.emf"/><Relationship Id="rId2" Type="http://schemas.openxmlformats.org/officeDocument/2006/relationships/image" Target="../media/image39.emf"/><Relationship Id="rId1" Type="http://schemas.openxmlformats.org/officeDocument/2006/relationships/slideLayout" Target="../slideLayouts/slideLayout2.xml"/><Relationship Id="rId6" Type="http://schemas.openxmlformats.org/officeDocument/2006/relationships/image" Target="../media/image43.emf"/><Relationship Id="rId5" Type="http://schemas.openxmlformats.org/officeDocument/2006/relationships/image" Target="../media/image42.emf"/><Relationship Id="rId4" Type="http://schemas.openxmlformats.org/officeDocument/2006/relationships/image" Target="../media/image41.emf"/></Relationships>
</file>

<file path=ppt/slides/_rels/slide69.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8" Type="http://schemas.openxmlformats.org/officeDocument/2006/relationships/image" Target="../media/image28.emf"/><Relationship Id="rId3" Type="http://schemas.openxmlformats.org/officeDocument/2006/relationships/image" Target="../media/image29.emf"/><Relationship Id="rId7" Type="http://schemas.openxmlformats.org/officeDocument/2006/relationships/image" Target="../media/image27.emf"/><Relationship Id="rId2" Type="http://schemas.openxmlformats.org/officeDocument/2006/relationships/image" Target="../media/image24.emf"/><Relationship Id="rId1" Type="http://schemas.openxmlformats.org/officeDocument/2006/relationships/slideLayout" Target="../slideLayouts/slideLayout2.xml"/><Relationship Id="rId6" Type="http://schemas.openxmlformats.org/officeDocument/2006/relationships/image" Target="../media/image26.emf"/><Relationship Id="rId5" Type="http://schemas.openxmlformats.org/officeDocument/2006/relationships/image" Target="../media/image25.emf"/><Relationship Id="rId4" Type="http://schemas.openxmlformats.org/officeDocument/2006/relationships/image" Target="../media/image30.emf"/></Relationships>
</file>

<file path=ppt/slides/_rels/slide74.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53.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55.emf"/><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3"/>
          <p:cNvSpPr>
            <a:spLocks noGrp="1"/>
          </p:cNvSpPr>
          <p:nvPr>
            <p:ph type="sldNum" sz="quarter" idx="10"/>
          </p:nvPr>
        </p:nvSpPr>
        <p:spPr/>
        <p:txBody>
          <a:bodyPr/>
          <a:lstStyle/>
          <a:p>
            <a:fld id="{57B658B2-3773-489C-9698-08B0D45095F9}" type="slidenum">
              <a:rPr lang="en-US" altLang="en-US"/>
              <a:pPr/>
              <a:t>1</a:t>
            </a:fld>
            <a:endParaRPr lang="en-US" altLang="en-US"/>
          </a:p>
        </p:txBody>
      </p:sp>
      <p:sp>
        <p:nvSpPr>
          <p:cNvPr id="612354" name="Rectangle 2"/>
          <p:cNvSpPr>
            <a:spLocks noGrp="1" noChangeArrowheads="1"/>
          </p:cNvSpPr>
          <p:nvPr>
            <p:ph type="ctrTitle"/>
          </p:nvPr>
        </p:nvSpPr>
        <p:spPr>
          <a:xfrm>
            <a:off x="3581400" y="1524000"/>
            <a:ext cx="5181600" cy="1143000"/>
          </a:xfrm>
        </p:spPr>
        <p:txBody>
          <a:bodyPr anchor="ctr"/>
          <a:lstStyle/>
          <a:p>
            <a:r>
              <a:rPr lang="en-US" altLang="en-US" sz="4000" b="1">
                <a:solidFill>
                  <a:srgbClr val="174928"/>
                </a:solidFill>
                <a:latin typeface="Arial" panose="020B0604020202020204" pitchFamily="34" charset="0"/>
              </a:rPr>
              <a:t>Digital Design</a:t>
            </a:r>
          </a:p>
        </p:txBody>
      </p:sp>
      <p:sp>
        <p:nvSpPr>
          <p:cNvPr id="612355" name="Rectangle 3"/>
          <p:cNvSpPr>
            <a:spLocks noGrp="1" noChangeArrowheads="1"/>
          </p:cNvSpPr>
          <p:nvPr>
            <p:ph type="subTitle" idx="1"/>
          </p:nvPr>
        </p:nvSpPr>
        <p:spPr>
          <a:xfrm>
            <a:off x="3581400" y="2463800"/>
            <a:ext cx="5029200" cy="1257300"/>
          </a:xfrm>
        </p:spPr>
        <p:txBody>
          <a:bodyPr/>
          <a:lstStyle/>
          <a:p>
            <a:pPr>
              <a:lnSpc>
                <a:spcPct val="90000"/>
              </a:lnSpc>
            </a:pPr>
            <a:r>
              <a:rPr lang="en-US" altLang="en-US"/>
              <a:t>Chapter 5: </a:t>
            </a:r>
          </a:p>
          <a:p>
            <a:pPr>
              <a:lnSpc>
                <a:spcPct val="90000"/>
              </a:lnSpc>
            </a:pPr>
            <a:r>
              <a:rPr lang="en-US" altLang="en-US"/>
              <a:t>Register-Transfer Level </a:t>
            </a:r>
          </a:p>
          <a:p>
            <a:pPr>
              <a:lnSpc>
                <a:spcPct val="90000"/>
              </a:lnSpc>
            </a:pPr>
            <a:r>
              <a:rPr lang="en-US" altLang="en-US"/>
              <a:t>(RTL) Design</a:t>
            </a:r>
          </a:p>
        </p:txBody>
      </p:sp>
      <p:sp>
        <p:nvSpPr>
          <p:cNvPr id="612356" name="Text Box 4"/>
          <p:cNvSpPr txBox="1">
            <a:spLocks noChangeArrowheads="1"/>
          </p:cNvSpPr>
          <p:nvPr/>
        </p:nvSpPr>
        <p:spPr bwMode="auto">
          <a:xfrm>
            <a:off x="3505200" y="3810000"/>
            <a:ext cx="5410200"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200"/>
              <a:t>Slides to accompany the textbook </a:t>
            </a:r>
            <a:r>
              <a:rPr lang="en-US" altLang="en-US" sz="1200" i="1"/>
              <a:t>Digital Design</a:t>
            </a:r>
            <a:r>
              <a:rPr lang="en-US" altLang="en-US" sz="1200"/>
              <a:t>, First Edition, </a:t>
            </a:r>
          </a:p>
          <a:p>
            <a:pPr algn="ctr"/>
            <a:r>
              <a:rPr lang="en-US" altLang="en-US" sz="1200"/>
              <a:t>by Frank Vahid, John Wiley and Sons Publishers, 2007. </a:t>
            </a:r>
          </a:p>
          <a:p>
            <a:pPr algn="ctr"/>
            <a:r>
              <a:rPr lang="en-US" altLang="en-US" sz="1200"/>
              <a:t>http://www.ddvahid.com </a:t>
            </a:r>
          </a:p>
        </p:txBody>
      </p:sp>
      <p:pic>
        <p:nvPicPr>
          <p:cNvPr id="61235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676400"/>
            <a:ext cx="3219450" cy="307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2358" name="Rectangle 6"/>
          <p:cNvSpPr>
            <a:spLocks noChangeArrowheads="1"/>
          </p:cNvSpPr>
          <p:nvPr/>
        </p:nvSpPr>
        <p:spPr bwMode="auto">
          <a:xfrm>
            <a:off x="0" y="914400"/>
            <a:ext cx="15240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2359" name="Rectangle 7"/>
          <p:cNvSpPr>
            <a:spLocks noChangeArrowheads="1"/>
          </p:cNvSpPr>
          <p:nvPr/>
        </p:nvSpPr>
        <p:spPr bwMode="auto">
          <a:xfrm>
            <a:off x="7620000" y="6324600"/>
            <a:ext cx="15240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2360" name="Text Box 8"/>
          <p:cNvSpPr txBox="1">
            <a:spLocks noChangeArrowheads="1"/>
          </p:cNvSpPr>
          <p:nvPr/>
        </p:nvSpPr>
        <p:spPr bwMode="auto">
          <a:xfrm>
            <a:off x="152400" y="5630863"/>
            <a:ext cx="8839200" cy="1087437"/>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Copyright </a:t>
            </a:r>
            <a:r>
              <a:rPr lang="en-US" altLang="en-US" sz="1600">
                <a:cs typeface="Times New Roman" panose="02020603050405020304" pitchFamily="18" charset="0"/>
              </a:rPr>
              <a:t>© 2007 </a:t>
            </a:r>
            <a:r>
              <a:rPr lang="en-US" altLang="en-US" sz="1200">
                <a:cs typeface="Times New Roman" panose="02020603050405020304" pitchFamily="18" charset="0"/>
              </a:rPr>
              <a:t>Frank Vahid</a:t>
            </a:r>
          </a:p>
          <a:p>
            <a:pPr>
              <a:spcBef>
                <a:spcPct val="50000"/>
              </a:spcBef>
            </a:pPr>
            <a:r>
              <a:rPr lang="en-US" altLang="en-US" sz="900" i="1">
                <a:cs typeface="Times New Roman" panose="02020603050405020304" pitchFamily="18" charset="0"/>
              </a:rPr>
              <a:t>Instructors of courses requiring Vahid's Digital Design textbook (published by John Wiley and Sons) have permission to modify and use these slides for customary course-related activities, subject to keeping this copyright notice in place and unmodified. These slides may be posted as </a:t>
            </a:r>
            <a:r>
              <a:rPr lang="en-US" altLang="en-US" sz="900" i="1" u="sng">
                <a:cs typeface="Times New Roman" panose="02020603050405020304" pitchFamily="18" charset="0"/>
              </a:rPr>
              <a:t>unanimated</a:t>
            </a:r>
            <a:r>
              <a:rPr lang="en-US" altLang="en-US" sz="900" i="1">
                <a:cs typeface="Times New Roman" panose="02020603050405020304" pitchFamily="18" charset="0"/>
              </a:rPr>
              <a:t> pdf versions on publicly-accessible course websites.. PowerPoint source (or pdf with animations) may </a:t>
            </a:r>
            <a:r>
              <a:rPr lang="en-US" altLang="en-US" sz="900" b="1" i="1" u="sng">
                <a:cs typeface="Times New Roman" panose="02020603050405020304" pitchFamily="18" charset="0"/>
              </a:rPr>
              <a:t>not</a:t>
            </a:r>
            <a:r>
              <a:rPr lang="en-US" altLang="en-US" sz="900" i="1">
                <a:cs typeface="Times New Roman" panose="02020603050405020304" pitchFamily="18" charset="0"/>
              </a:rPr>
              <a:t> be posted to publicly-accessible websites, but may be posted for students on internal protected sites or distributed directly to students by other electronic means. Instructors may make printouts of the slides available to students for a reasonable photocopying charge, without incurring royalties. Any other use requires explicit permission. Instructors may obtain PowerPoint source or obtain special use permissions from Wiley – see </a:t>
            </a:r>
            <a:r>
              <a:rPr lang="en-US" altLang="en-US" sz="900" i="1">
                <a:cs typeface="Times New Roman" panose="02020603050405020304" pitchFamily="18" charset="0"/>
                <a:hlinkClick r:id="rId4"/>
              </a:rPr>
              <a:t>http://www.ddvahid.com</a:t>
            </a:r>
            <a:r>
              <a:rPr lang="en-US" altLang="en-US" sz="900" i="1">
                <a:cs typeface="Times New Roman" panose="02020603050405020304" pitchFamily="18" charset="0"/>
              </a:rPr>
              <a:t> for information.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lide Number Placeholder 3"/>
          <p:cNvSpPr>
            <a:spLocks noGrp="1"/>
          </p:cNvSpPr>
          <p:nvPr>
            <p:ph type="sldNum" sz="quarter" idx="10"/>
          </p:nvPr>
        </p:nvSpPr>
        <p:spPr/>
        <p:txBody>
          <a:bodyPr/>
          <a:lstStyle/>
          <a:p>
            <a:fld id="{52ADF030-BA3A-4F1F-9A03-ADD8E0722CF0}" type="slidenum">
              <a:rPr lang="en-US" altLang="en-US"/>
              <a:pPr/>
              <a:t>2</a:t>
            </a:fld>
            <a:endParaRPr lang="en-US" altLang="en-US"/>
          </a:p>
        </p:txBody>
      </p:sp>
      <p:sp>
        <p:nvSpPr>
          <p:cNvPr id="278530" name="Rectangle 2"/>
          <p:cNvSpPr>
            <a:spLocks noGrp="1" noChangeArrowheads="1"/>
          </p:cNvSpPr>
          <p:nvPr>
            <p:ph type="title"/>
          </p:nvPr>
        </p:nvSpPr>
        <p:spPr/>
        <p:txBody>
          <a:bodyPr/>
          <a:lstStyle/>
          <a:p>
            <a:r>
              <a:rPr lang="en-US" altLang="en-US" u="sng"/>
              <a:t>Introduction</a:t>
            </a:r>
          </a:p>
        </p:txBody>
      </p:sp>
      <p:sp>
        <p:nvSpPr>
          <p:cNvPr id="278531" name="Rectangle 3"/>
          <p:cNvSpPr>
            <a:spLocks noGrp="1" noChangeArrowheads="1"/>
          </p:cNvSpPr>
          <p:nvPr>
            <p:ph type="body" idx="1"/>
          </p:nvPr>
        </p:nvSpPr>
        <p:spPr>
          <a:xfrm>
            <a:off x="228600" y="1219200"/>
            <a:ext cx="4956175" cy="4689475"/>
          </a:xfrm>
        </p:spPr>
        <p:txBody>
          <a:bodyPr/>
          <a:lstStyle/>
          <a:p>
            <a:pPr>
              <a:lnSpc>
                <a:spcPct val="90000"/>
              </a:lnSpc>
            </a:pPr>
            <a:r>
              <a:rPr lang="en-US" altLang="en-US" sz="2000"/>
              <a:t>Chapter 3: Controllers</a:t>
            </a:r>
          </a:p>
          <a:p>
            <a:pPr lvl="1">
              <a:lnSpc>
                <a:spcPct val="90000"/>
              </a:lnSpc>
            </a:pPr>
            <a:r>
              <a:rPr lang="en-US" altLang="en-US" sz="1800"/>
              <a:t>Control input/output: single bit (or just a few) representing event or state</a:t>
            </a:r>
          </a:p>
          <a:p>
            <a:pPr lvl="1">
              <a:lnSpc>
                <a:spcPct val="90000"/>
              </a:lnSpc>
            </a:pPr>
            <a:r>
              <a:rPr lang="en-US" altLang="en-US" sz="1800"/>
              <a:t>Finite-state machine describes behavior; implemented as state register and combinational logic</a:t>
            </a:r>
          </a:p>
          <a:p>
            <a:pPr>
              <a:lnSpc>
                <a:spcPct val="90000"/>
              </a:lnSpc>
            </a:pPr>
            <a:r>
              <a:rPr lang="en-US" altLang="en-US" sz="2000"/>
              <a:t>Chapter 4: Datapath components</a:t>
            </a:r>
          </a:p>
          <a:p>
            <a:pPr lvl="1">
              <a:lnSpc>
                <a:spcPct val="90000"/>
              </a:lnSpc>
            </a:pPr>
            <a:r>
              <a:rPr lang="en-US" altLang="en-US" sz="1800"/>
              <a:t>Data input/output: Multiple bits collectively representing single entity</a:t>
            </a:r>
          </a:p>
          <a:p>
            <a:pPr lvl="1">
              <a:lnSpc>
                <a:spcPct val="90000"/>
              </a:lnSpc>
            </a:pPr>
            <a:r>
              <a:rPr lang="en-US" altLang="en-US" sz="1800"/>
              <a:t>Datapath components included registers, adders, ALU, comparators, register files, etc. </a:t>
            </a:r>
          </a:p>
          <a:p>
            <a:pPr>
              <a:lnSpc>
                <a:spcPct val="90000"/>
              </a:lnSpc>
            </a:pPr>
            <a:r>
              <a:rPr lang="en-US" altLang="en-US" sz="2000"/>
              <a:t>This chapter: custom </a:t>
            </a:r>
            <a:r>
              <a:rPr lang="en-US" altLang="en-US" sz="2000" b="1">
                <a:solidFill>
                  <a:schemeClr val="accent1"/>
                </a:solidFill>
              </a:rPr>
              <a:t>processors</a:t>
            </a:r>
          </a:p>
          <a:p>
            <a:pPr lvl="1">
              <a:lnSpc>
                <a:spcPct val="90000"/>
              </a:lnSpc>
            </a:pPr>
            <a:r>
              <a:rPr lang="en-US" altLang="en-US" sz="1800"/>
              <a:t>Processor: Controller and datapath components working together to implement an algorithm</a:t>
            </a:r>
          </a:p>
          <a:p>
            <a:pPr>
              <a:lnSpc>
                <a:spcPct val="90000"/>
              </a:lnSpc>
            </a:pPr>
            <a:endParaRPr lang="en-US" altLang="en-US" sz="2000"/>
          </a:p>
          <a:p>
            <a:pPr>
              <a:lnSpc>
                <a:spcPct val="90000"/>
              </a:lnSpc>
            </a:pPr>
            <a:endParaRPr lang="en-US" altLang="en-US" sz="2000"/>
          </a:p>
        </p:txBody>
      </p:sp>
      <p:sp>
        <p:nvSpPr>
          <p:cNvPr id="278532" name="Text Box 4"/>
          <p:cNvSpPr txBox="1">
            <a:spLocks noChangeArrowheads="1"/>
          </p:cNvSpPr>
          <p:nvPr/>
        </p:nvSpPr>
        <p:spPr bwMode="auto">
          <a:xfrm>
            <a:off x="8458200" y="152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5.1</a:t>
            </a:r>
          </a:p>
        </p:txBody>
      </p:sp>
      <p:sp>
        <p:nvSpPr>
          <p:cNvPr id="278533" name="Rectangle 5"/>
          <p:cNvSpPr>
            <a:spLocks noChangeArrowheads="1"/>
          </p:cNvSpPr>
          <p:nvPr/>
        </p:nvSpPr>
        <p:spPr bwMode="auto">
          <a:xfrm>
            <a:off x="5634038" y="37020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si</a:t>
            </a:r>
            <a:endParaRPr lang="en-US" altLang="en-US" sz="2400"/>
          </a:p>
        </p:txBody>
      </p:sp>
      <p:sp>
        <p:nvSpPr>
          <p:cNvPr id="278534" name="Rectangle 6"/>
          <p:cNvSpPr>
            <a:spLocks noChangeArrowheads="1"/>
          </p:cNvSpPr>
          <p:nvPr/>
        </p:nvSpPr>
        <p:spPr bwMode="auto">
          <a:xfrm>
            <a:off x="5924550" y="47021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z</a:t>
            </a:r>
            <a:endParaRPr lang="en-US" altLang="en-US" sz="2400"/>
          </a:p>
        </p:txBody>
      </p:sp>
      <p:sp>
        <p:nvSpPr>
          <p:cNvPr id="278535" name="Rectangle 7"/>
          <p:cNvSpPr>
            <a:spLocks noChangeArrowheads="1"/>
          </p:cNvSpPr>
          <p:nvPr/>
        </p:nvSpPr>
        <p:spPr bwMode="auto">
          <a:xfrm>
            <a:off x="5924550" y="46243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a:t>
            </a:r>
            <a:endParaRPr lang="en-US" altLang="en-US" sz="2400"/>
          </a:p>
        </p:txBody>
      </p:sp>
      <p:sp>
        <p:nvSpPr>
          <p:cNvPr id="278536" name="Rectangle 8"/>
          <p:cNvSpPr>
            <a:spLocks noChangeArrowheads="1"/>
          </p:cNvSpPr>
          <p:nvPr/>
        </p:nvSpPr>
        <p:spPr bwMode="auto">
          <a:xfrm>
            <a:off x="5854700" y="38369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ansis</a:t>
            </a:r>
            <a:endParaRPr lang="en-US" altLang="en-US" sz="2400"/>
          </a:p>
        </p:txBody>
      </p:sp>
      <p:grpSp>
        <p:nvGrpSpPr>
          <p:cNvPr id="278577" name="Group 49"/>
          <p:cNvGrpSpPr>
            <a:grpSpLocks/>
          </p:cNvGrpSpPr>
          <p:nvPr/>
        </p:nvGrpSpPr>
        <p:grpSpPr bwMode="auto">
          <a:xfrm>
            <a:off x="5927725" y="1101725"/>
            <a:ext cx="2665413" cy="1849438"/>
            <a:chOff x="2399" y="838"/>
            <a:chExt cx="1555" cy="1078"/>
          </a:xfrm>
        </p:grpSpPr>
        <p:sp>
          <p:nvSpPr>
            <p:cNvPr id="278578" name="Line 50"/>
            <p:cNvSpPr>
              <a:spLocks noChangeShapeType="1"/>
            </p:cNvSpPr>
            <p:nvPr/>
          </p:nvSpPr>
          <p:spPr bwMode="auto">
            <a:xfrm>
              <a:off x="2666" y="992"/>
              <a:ext cx="100" cy="1"/>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579" name="Freeform 51"/>
            <p:cNvSpPr>
              <a:spLocks/>
            </p:cNvSpPr>
            <p:nvPr/>
          </p:nvSpPr>
          <p:spPr bwMode="auto">
            <a:xfrm>
              <a:off x="2751" y="969"/>
              <a:ext cx="91" cy="45"/>
            </a:xfrm>
            <a:custGeom>
              <a:avLst/>
              <a:gdLst>
                <a:gd name="T0" fmla="*/ 91 w 91"/>
                <a:gd name="T1" fmla="*/ 23 h 45"/>
                <a:gd name="T2" fmla="*/ 0 w 91"/>
                <a:gd name="T3" fmla="*/ 0 h 45"/>
                <a:gd name="T4" fmla="*/ 0 w 91"/>
                <a:gd name="T5" fmla="*/ 45 h 45"/>
                <a:gd name="T6" fmla="*/ 91 w 91"/>
                <a:gd name="T7" fmla="*/ 23 h 45"/>
              </a:gdLst>
              <a:ahLst/>
              <a:cxnLst>
                <a:cxn ang="0">
                  <a:pos x="T0" y="T1"/>
                </a:cxn>
                <a:cxn ang="0">
                  <a:pos x="T2" y="T3"/>
                </a:cxn>
                <a:cxn ang="0">
                  <a:pos x="T4" y="T5"/>
                </a:cxn>
                <a:cxn ang="0">
                  <a:pos x="T6" y="T7"/>
                </a:cxn>
              </a:cxnLst>
              <a:rect l="0" t="0" r="r" b="b"/>
              <a:pathLst>
                <a:path w="91" h="45">
                  <a:moveTo>
                    <a:pt x="91" y="23"/>
                  </a:moveTo>
                  <a:lnTo>
                    <a:pt x="0" y="0"/>
                  </a:lnTo>
                  <a:lnTo>
                    <a:pt x="0" y="45"/>
                  </a:lnTo>
                  <a:lnTo>
                    <a:pt x="91"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580" name="Line 52"/>
            <p:cNvSpPr>
              <a:spLocks noChangeShapeType="1"/>
            </p:cNvSpPr>
            <p:nvPr/>
          </p:nvSpPr>
          <p:spPr bwMode="auto">
            <a:xfrm>
              <a:off x="3531" y="992"/>
              <a:ext cx="102" cy="1"/>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581" name="Freeform 53"/>
            <p:cNvSpPr>
              <a:spLocks/>
            </p:cNvSpPr>
            <p:nvPr/>
          </p:nvSpPr>
          <p:spPr bwMode="auto">
            <a:xfrm>
              <a:off x="3616" y="969"/>
              <a:ext cx="90" cy="45"/>
            </a:xfrm>
            <a:custGeom>
              <a:avLst/>
              <a:gdLst>
                <a:gd name="T0" fmla="*/ 90 w 90"/>
                <a:gd name="T1" fmla="*/ 23 h 45"/>
                <a:gd name="T2" fmla="*/ 0 w 90"/>
                <a:gd name="T3" fmla="*/ 0 h 45"/>
                <a:gd name="T4" fmla="*/ 0 w 90"/>
                <a:gd name="T5" fmla="*/ 45 h 45"/>
                <a:gd name="T6" fmla="*/ 90 w 90"/>
                <a:gd name="T7" fmla="*/ 23 h 45"/>
              </a:gdLst>
              <a:ahLst/>
              <a:cxnLst>
                <a:cxn ang="0">
                  <a:pos x="T0" y="T1"/>
                </a:cxn>
                <a:cxn ang="0">
                  <a:pos x="T2" y="T3"/>
                </a:cxn>
                <a:cxn ang="0">
                  <a:pos x="T4" y="T5"/>
                </a:cxn>
                <a:cxn ang="0">
                  <a:pos x="T6" y="T7"/>
                </a:cxn>
              </a:cxnLst>
              <a:rect l="0" t="0" r="r" b="b"/>
              <a:pathLst>
                <a:path w="90" h="45">
                  <a:moveTo>
                    <a:pt x="90" y="23"/>
                  </a:moveTo>
                  <a:lnTo>
                    <a:pt x="0" y="0"/>
                  </a:lnTo>
                  <a:lnTo>
                    <a:pt x="0" y="45"/>
                  </a:lnTo>
                  <a:lnTo>
                    <a:pt x="9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582" name="Line 54"/>
            <p:cNvSpPr>
              <a:spLocks noChangeShapeType="1"/>
            </p:cNvSpPr>
            <p:nvPr/>
          </p:nvSpPr>
          <p:spPr bwMode="auto">
            <a:xfrm>
              <a:off x="2663" y="1669"/>
              <a:ext cx="103" cy="1"/>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583" name="Freeform 55"/>
            <p:cNvSpPr>
              <a:spLocks/>
            </p:cNvSpPr>
            <p:nvPr/>
          </p:nvSpPr>
          <p:spPr bwMode="auto">
            <a:xfrm>
              <a:off x="2749" y="1647"/>
              <a:ext cx="90" cy="45"/>
            </a:xfrm>
            <a:custGeom>
              <a:avLst/>
              <a:gdLst>
                <a:gd name="T0" fmla="*/ 90 w 90"/>
                <a:gd name="T1" fmla="*/ 22 h 45"/>
                <a:gd name="T2" fmla="*/ 0 w 90"/>
                <a:gd name="T3" fmla="*/ 0 h 45"/>
                <a:gd name="T4" fmla="*/ 0 w 90"/>
                <a:gd name="T5" fmla="*/ 45 h 45"/>
                <a:gd name="T6" fmla="*/ 90 w 90"/>
                <a:gd name="T7" fmla="*/ 22 h 45"/>
              </a:gdLst>
              <a:ahLst/>
              <a:cxnLst>
                <a:cxn ang="0">
                  <a:pos x="T0" y="T1"/>
                </a:cxn>
                <a:cxn ang="0">
                  <a:pos x="T2" y="T3"/>
                </a:cxn>
                <a:cxn ang="0">
                  <a:pos x="T4" y="T5"/>
                </a:cxn>
                <a:cxn ang="0">
                  <a:pos x="T6" y="T7"/>
                </a:cxn>
              </a:cxnLst>
              <a:rect l="0" t="0" r="r" b="b"/>
              <a:pathLst>
                <a:path w="90" h="45">
                  <a:moveTo>
                    <a:pt x="90" y="22"/>
                  </a:moveTo>
                  <a:lnTo>
                    <a:pt x="0" y="0"/>
                  </a:lnTo>
                  <a:lnTo>
                    <a:pt x="0" y="45"/>
                  </a:lnTo>
                  <a:lnTo>
                    <a:pt x="9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584" name="Line 56"/>
            <p:cNvSpPr>
              <a:spLocks noChangeShapeType="1"/>
            </p:cNvSpPr>
            <p:nvPr/>
          </p:nvSpPr>
          <p:spPr bwMode="auto">
            <a:xfrm flipV="1">
              <a:off x="3145" y="1408"/>
              <a:ext cx="1" cy="100"/>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585" name="Freeform 57"/>
            <p:cNvSpPr>
              <a:spLocks/>
            </p:cNvSpPr>
            <p:nvPr/>
          </p:nvSpPr>
          <p:spPr bwMode="auto">
            <a:xfrm>
              <a:off x="3123" y="1332"/>
              <a:ext cx="45" cy="91"/>
            </a:xfrm>
            <a:custGeom>
              <a:avLst/>
              <a:gdLst>
                <a:gd name="T0" fmla="*/ 22 w 45"/>
                <a:gd name="T1" fmla="*/ 0 h 91"/>
                <a:gd name="T2" fmla="*/ 0 w 45"/>
                <a:gd name="T3" fmla="*/ 91 h 91"/>
                <a:gd name="T4" fmla="*/ 45 w 45"/>
                <a:gd name="T5" fmla="*/ 91 h 91"/>
                <a:gd name="T6" fmla="*/ 22 w 45"/>
                <a:gd name="T7" fmla="*/ 0 h 91"/>
              </a:gdLst>
              <a:ahLst/>
              <a:cxnLst>
                <a:cxn ang="0">
                  <a:pos x="T0" y="T1"/>
                </a:cxn>
                <a:cxn ang="0">
                  <a:pos x="T2" y="T3"/>
                </a:cxn>
                <a:cxn ang="0">
                  <a:pos x="T4" y="T5"/>
                </a:cxn>
                <a:cxn ang="0">
                  <a:pos x="T6" y="T7"/>
                </a:cxn>
              </a:cxnLst>
              <a:rect l="0" t="0" r="r" b="b"/>
              <a:pathLst>
                <a:path w="45" h="91">
                  <a:moveTo>
                    <a:pt x="22" y="0"/>
                  </a:moveTo>
                  <a:lnTo>
                    <a:pt x="0" y="91"/>
                  </a:lnTo>
                  <a:lnTo>
                    <a:pt x="45" y="9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586" name="Line 58"/>
            <p:cNvSpPr>
              <a:spLocks noChangeShapeType="1"/>
            </p:cNvSpPr>
            <p:nvPr/>
          </p:nvSpPr>
          <p:spPr bwMode="auto">
            <a:xfrm flipV="1">
              <a:off x="3230" y="1408"/>
              <a:ext cx="1" cy="100"/>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587" name="Freeform 59"/>
            <p:cNvSpPr>
              <a:spLocks/>
            </p:cNvSpPr>
            <p:nvPr/>
          </p:nvSpPr>
          <p:spPr bwMode="auto">
            <a:xfrm>
              <a:off x="3208" y="1332"/>
              <a:ext cx="45" cy="91"/>
            </a:xfrm>
            <a:custGeom>
              <a:avLst/>
              <a:gdLst>
                <a:gd name="T0" fmla="*/ 22 w 45"/>
                <a:gd name="T1" fmla="*/ 0 h 91"/>
                <a:gd name="T2" fmla="*/ 0 w 45"/>
                <a:gd name="T3" fmla="*/ 91 h 91"/>
                <a:gd name="T4" fmla="*/ 45 w 45"/>
                <a:gd name="T5" fmla="*/ 91 h 91"/>
                <a:gd name="T6" fmla="*/ 22 w 45"/>
                <a:gd name="T7" fmla="*/ 0 h 91"/>
              </a:gdLst>
              <a:ahLst/>
              <a:cxnLst>
                <a:cxn ang="0">
                  <a:pos x="T0" y="T1"/>
                </a:cxn>
                <a:cxn ang="0">
                  <a:pos x="T2" y="T3"/>
                </a:cxn>
                <a:cxn ang="0">
                  <a:pos x="T4" y="T5"/>
                </a:cxn>
                <a:cxn ang="0">
                  <a:pos x="T6" y="T7"/>
                </a:cxn>
              </a:cxnLst>
              <a:rect l="0" t="0" r="r" b="b"/>
              <a:pathLst>
                <a:path w="45" h="91">
                  <a:moveTo>
                    <a:pt x="22" y="0"/>
                  </a:moveTo>
                  <a:lnTo>
                    <a:pt x="0" y="91"/>
                  </a:lnTo>
                  <a:lnTo>
                    <a:pt x="45" y="9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588" name="Freeform 60"/>
            <p:cNvSpPr>
              <a:spLocks/>
            </p:cNvSpPr>
            <p:nvPr/>
          </p:nvSpPr>
          <p:spPr bwMode="auto">
            <a:xfrm>
              <a:off x="3145" y="1252"/>
              <a:ext cx="539" cy="664"/>
            </a:xfrm>
            <a:custGeom>
              <a:avLst/>
              <a:gdLst>
                <a:gd name="T0" fmla="*/ 0 w 539"/>
                <a:gd name="T1" fmla="*/ 565 h 664"/>
                <a:gd name="T2" fmla="*/ 0 w 539"/>
                <a:gd name="T3" fmla="*/ 664 h 664"/>
                <a:gd name="T4" fmla="*/ 539 w 539"/>
                <a:gd name="T5" fmla="*/ 664 h 664"/>
                <a:gd name="T6" fmla="*/ 539 w 539"/>
                <a:gd name="T7" fmla="*/ 0 h 664"/>
                <a:gd name="T8" fmla="*/ 389 w 539"/>
                <a:gd name="T9" fmla="*/ 0 h 664"/>
              </a:gdLst>
              <a:ahLst/>
              <a:cxnLst>
                <a:cxn ang="0">
                  <a:pos x="T0" y="T1"/>
                </a:cxn>
                <a:cxn ang="0">
                  <a:pos x="T2" y="T3"/>
                </a:cxn>
                <a:cxn ang="0">
                  <a:pos x="T4" y="T5"/>
                </a:cxn>
                <a:cxn ang="0">
                  <a:pos x="T6" y="T7"/>
                </a:cxn>
                <a:cxn ang="0">
                  <a:pos x="T8" y="T9"/>
                </a:cxn>
              </a:cxnLst>
              <a:rect l="0" t="0" r="r" b="b"/>
              <a:pathLst>
                <a:path w="539" h="664">
                  <a:moveTo>
                    <a:pt x="0" y="565"/>
                  </a:moveTo>
                  <a:lnTo>
                    <a:pt x="0" y="664"/>
                  </a:lnTo>
                  <a:lnTo>
                    <a:pt x="539" y="664"/>
                  </a:lnTo>
                  <a:lnTo>
                    <a:pt x="539" y="0"/>
                  </a:lnTo>
                  <a:lnTo>
                    <a:pt x="389" y="0"/>
                  </a:lnTo>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589" name="Freeform 61"/>
            <p:cNvSpPr>
              <a:spLocks/>
            </p:cNvSpPr>
            <p:nvPr/>
          </p:nvSpPr>
          <p:spPr bwMode="auto">
            <a:xfrm>
              <a:off x="3123" y="1743"/>
              <a:ext cx="45" cy="91"/>
            </a:xfrm>
            <a:custGeom>
              <a:avLst/>
              <a:gdLst>
                <a:gd name="T0" fmla="*/ 22 w 45"/>
                <a:gd name="T1" fmla="*/ 0 h 91"/>
                <a:gd name="T2" fmla="*/ 0 w 45"/>
                <a:gd name="T3" fmla="*/ 91 h 91"/>
                <a:gd name="T4" fmla="*/ 45 w 45"/>
                <a:gd name="T5" fmla="*/ 91 h 91"/>
                <a:gd name="T6" fmla="*/ 22 w 45"/>
                <a:gd name="T7" fmla="*/ 0 h 91"/>
              </a:gdLst>
              <a:ahLst/>
              <a:cxnLst>
                <a:cxn ang="0">
                  <a:pos x="T0" y="T1"/>
                </a:cxn>
                <a:cxn ang="0">
                  <a:pos x="T2" y="T3"/>
                </a:cxn>
                <a:cxn ang="0">
                  <a:pos x="T4" y="T5"/>
                </a:cxn>
                <a:cxn ang="0">
                  <a:pos x="T6" y="T7"/>
                </a:cxn>
              </a:cxnLst>
              <a:rect l="0" t="0" r="r" b="b"/>
              <a:pathLst>
                <a:path w="45" h="91">
                  <a:moveTo>
                    <a:pt x="22" y="0"/>
                  </a:moveTo>
                  <a:lnTo>
                    <a:pt x="0" y="91"/>
                  </a:lnTo>
                  <a:lnTo>
                    <a:pt x="45" y="9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590" name="Freeform 62"/>
            <p:cNvSpPr>
              <a:spLocks/>
            </p:cNvSpPr>
            <p:nvPr/>
          </p:nvSpPr>
          <p:spPr bwMode="auto">
            <a:xfrm>
              <a:off x="3230" y="1298"/>
              <a:ext cx="417" cy="587"/>
            </a:xfrm>
            <a:custGeom>
              <a:avLst/>
              <a:gdLst>
                <a:gd name="T0" fmla="*/ 0 w 417"/>
                <a:gd name="T1" fmla="*/ 519 h 587"/>
                <a:gd name="T2" fmla="*/ 0 w 417"/>
                <a:gd name="T3" fmla="*/ 587 h 587"/>
                <a:gd name="T4" fmla="*/ 417 w 417"/>
                <a:gd name="T5" fmla="*/ 587 h 587"/>
                <a:gd name="T6" fmla="*/ 417 w 417"/>
                <a:gd name="T7" fmla="*/ 0 h 587"/>
                <a:gd name="T8" fmla="*/ 301 w 417"/>
                <a:gd name="T9" fmla="*/ 0 h 587"/>
              </a:gdLst>
              <a:ahLst/>
              <a:cxnLst>
                <a:cxn ang="0">
                  <a:pos x="T0" y="T1"/>
                </a:cxn>
                <a:cxn ang="0">
                  <a:pos x="T2" y="T3"/>
                </a:cxn>
                <a:cxn ang="0">
                  <a:pos x="T4" y="T5"/>
                </a:cxn>
                <a:cxn ang="0">
                  <a:pos x="T6" y="T7"/>
                </a:cxn>
                <a:cxn ang="0">
                  <a:pos x="T8" y="T9"/>
                </a:cxn>
              </a:cxnLst>
              <a:rect l="0" t="0" r="r" b="b"/>
              <a:pathLst>
                <a:path w="417" h="587">
                  <a:moveTo>
                    <a:pt x="0" y="519"/>
                  </a:moveTo>
                  <a:lnTo>
                    <a:pt x="0" y="587"/>
                  </a:lnTo>
                  <a:lnTo>
                    <a:pt x="417" y="587"/>
                  </a:lnTo>
                  <a:lnTo>
                    <a:pt x="417" y="0"/>
                  </a:lnTo>
                  <a:lnTo>
                    <a:pt x="301" y="0"/>
                  </a:lnTo>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591" name="Freeform 63"/>
            <p:cNvSpPr>
              <a:spLocks/>
            </p:cNvSpPr>
            <p:nvPr/>
          </p:nvSpPr>
          <p:spPr bwMode="auto">
            <a:xfrm>
              <a:off x="3208" y="1743"/>
              <a:ext cx="45" cy="91"/>
            </a:xfrm>
            <a:custGeom>
              <a:avLst/>
              <a:gdLst>
                <a:gd name="T0" fmla="*/ 22 w 45"/>
                <a:gd name="T1" fmla="*/ 0 h 91"/>
                <a:gd name="T2" fmla="*/ 0 w 45"/>
                <a:gd name="T3" fmla="*/ 91 h 91"/>
                <a:gd name="T4" fmla="*/ 45 w 45"/>
                <a:gd name="T5" fmla="*/ 91 h 91"/>
                <a:gd name="T6" fmla="*/ 22 w 45"/>
                <a:gd name="T7" fmla="*/ 0 h 91"/>
              </a:gdLst>
              <a:ahLst/>
              <a:cxnLst>
                <a:cxn ang="0">
                  <a:pos x="T0" y="T1"/>
                </a:cxn>
                <a:cxn ang="0">
                  <a:pos x="T2" y="T3"/>
                </a:cxn>
                <a:cxn ang="0">
                  <a:pos x="T4" y="T5"/>
                </a:cxn>
                <a:cxn ang="0">
                  <a:pos x="T6" y="T7"/>
                </a:cxn>
              </a:cxnLst>
              <a:rect l="0" t="0" r="r" b="b"/>
              <a:pathLst>
                <a:path w="45" h="91">
                  <a:moveTo>
                    <a:pt x="22" y="0"/>
                  </a:moveTo>
                  <a:lnTo>
                    <a:pt x="0" y="91"/>
                  </a:lnTo>
                  <a:lnTo>
                    <a:pt x="45" y="9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592" name="Rectangle 64"/>
            <p:cNvSpPr>
              <a:spLocks noChangeArrowheads="1"/>
            </p:cNvSpPr>
            <p:nvPr/>
          </p:nvSpPr>
          <p:spPr bwMode="auto">
            <a:xfrm>
              <a:off x="2845" y="906"/>
              <a:ext cx="686" cy="423"/>
            </a:xfrm>
            <a:prstGeom prst="rect">
              <a:avLst/>
            </a:prstGeom>
            <a:noFill/>
            <a:ln w="12700">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593" name="Rectangle 65"/>
            <p:cNvSpPr>
              <a:spLocks noChangeArrowheads="1"/>
            </p:cNvSpPr>
            <p:nvPr/>
          </p:nvSpPr>
          <p:spPr bwMode="auto">
            <a:xfrm>
              <a:off x="2845" y="1508"/>
              <a:ext cx="686" cy="229"/>
            </a:xfrm>
            <a:prstGeom prst="rect">
              <a:avLst/>
            </a:prstGeom>
            <a:noFill/>
            <a:ln w="12700">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594" name="Rectangle 66"/>
            <p:cNvSpPr>
              <a:spLocks noChangeArrowheads="1"/>
            </p:cNvSpPr>
            <p:nvPr/>
          </p:nvSpPr>
          <p:spPr bwMode="auto">
            <a:xfrm>
              <a:off x="2904" y="1021"/>
              <a:ext cx="5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300">
                  <a:solidFill>
                    <a:srgbClr val="000000"/>
                  </a:solidFill>
                  <a:latin typeface="Myriad Roman" charset="0"/>
                </a:rPr>
                <a:t>Combinational</a:t>
              </a:r>
            </a:p>
            <a:p>
              <a:pPr algn="ctr"/>
              <a:r>
                <a:rPr lang="en-US" altLang="en-US" sz="1300">
                  <a:solidFill>
                    <a:srgbClr val="000000"/>
                  </a:solidFill>
                  <a:latin typeface="Myriad Roman" charset="0"/>
                </a:rPr>
                <a:t>logic</a:t>
              </a:r>
              <a:endParaRPr lang="en-US" altLang="en-US" sz="2800"/>
            </a:p>
          </p:txBody>
        </p:sp>
        <p:sp>
          <p:nvSpPr>
            <p:cNvPr id="278595" name="Freeform 67"/>
            <p:cNvSpPr>
              <a:spLocks/>
            </p:cNvSpPr>
            <p:nvPr/>
          </p:nvSpPr>
          <p:spPr bwMode="auto">
            <a:xfrm>
              <a:off x="2848" y="1621"/>
              <a:ext cx="93" cy="97"/>
            </a:xfrm>
            <a:custGeom>
              <a:avLst/>
              <a:gdLst>
                <a:gd name="T0" fmla="*/ 0 w 93"/>
                <a:gd name="T1" fmla="*/ 97 h 97"/>
                <a:gd name="T2" fmla="*/ 93 w 93"/>
                <a:gd name="T3" fmla="*/ 48 h 97"/>
                <a:gd name="T4" fmla="*/ 0 w 93"/>
                <a:gd name="T5" fmla="*/ 0 h 97"/>
              </a:gdLst>
              <a:ahLst/>
              <a:cxnLst>
                <a:cxn ang="0">
                  <a:pos x="T0" y="T1"/>
                </a:cxn>
                <a:cxn ang="0">
                  <a:pos x="T2" y="T3"/>
                </a:cxn>
                <a:cxn ang="0">
                  <a:pos x="T4" y="T5"/>
                </a:cxn>
              </a:cxnLst>
              <a:rect l="0" t="0" r="r" b="b"/>
              <a:pathLst>
                <a:path w="93" h="97">
                  <a:moveTo>
                    <a:pt x="0" y="97"/>
                  </a:moveTo>
                  <a:lnTo>
                    <a:pt x="93" y="48"/>
                  </a:lnTo>
                  <a:lnTo>
                    <a:pt x="0" y="0"/>
                  </a:lnTo>
                </a:path>
              </a:pathLst>
            </a:custGeom>
            <a:noFill/>
            <a:ln w="793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596" name="Rectangle 68"/>
            <p:cNvSpPr>
              <a:spLocks noChangeArrowheads="1"/>
            </p:cNvSpPr>
            <p:nvPr/>
          </p:nvSpPr>
          <p:spPr bwMode="auto">
            <a:xfrm>
              <a:off x="3530" y="1321"/>
              <a:ext cx="9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n0</a:t>
              </a:r>
              <a:endParaRPr lang="en-US" altLang="en-US" sz="2800"/>
            </a:p>
          </p:txBody>
        </p:sp>
        <p:sp>
          <p:nvSpPr>
            <p:cNvPr id="278597" name="Rectangle 69"/>
            <p:cNvSpPr>
              <a:spLocks noChangeArrowheads="1"/>
            </p:cNvSpPr>
            <p:nvPr/>
          </p:nvSpPr>
          <p:spPr bwMode="auto">
            <a:xfrm>
              <a:off x="3013" y="1403"/>
              <a:ext cx="8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s1</a:t>
              </a:r>
              <a:endParaRPr lang="en-US" altLang="en-US" sz="2800"/>
            </a:p>
          </p:txBody>
        </p:sp>
        <p:sp>
          <p:nvSpPr>
            <p:cNvPr id="278598" name="Rectangle 70"/>
            <p:cNvSpPr>
              <a:spLocks noChangeArrowheads="1"/>
            </p:cNvSpPr>
            <p:nvPr/>
          </p:nvSpPr>
          <p:spPr bwMode="auto">
            <a:xfrm>
              <a:off x="3274" y="1403"/>
              <a:ext cx="8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s0</a:t>
              </a:r>
              <a:endParaRPr lang="en-US" altLang="en-US" sz="2800"/>
            </a:p>
          </p:txBody>
        </p:sp>
        <p:sp>
          <p:nvSpPr>
            <p:cNvPr id="278599" name="Rectangle 71"/>
            <p:cNvSpPr>
              <a:spLocks noChangeArrowheads="1"/>
            </p:cNvSpPr>
            <p:nvPr/>
          </p:nvSpPr>
          <p:spPr bwMode="auto">
            <a:xfrm>
              <a:off x="3561" y="1153"/>
              <a:ext cx="9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n1</a:t>
              </a:r>
              <a:endParaRPr lang="en-US" altLang="en-US" sz="2800"/>
            </a:p>
          </p:txBody>
        </p:sp>
        <p:sp>
          <p:nvSpPr>
            <p:cNvPr id="278600" name="Rectangle 72"/>
            <p:cNvSpPr>
              <a:spLocks noChangeArrowheads="1"/>
            </p:cNvSpPr>
            <p:nvPr/>
          </p:nvSpPr>
          <p:spPr bwMode="auto">
            <a:xfrm>
              <a:off x="3553" y="865"/>
              <a:ext cx="9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bo</a:t>
              </a:r>
              <a:endParaRPr lang="en-US" altLang="en-US" sz="2800"/>
            </a:p>
          </p:txBody>
        </p:sp>
        <p:sp>
          <p:nvSpPr>
            <p:cNvPr id="278601" name="Rectangle 73"/>
            <p:cNvSpPr>
              <a:spLocks noChangeArrowheads="1"/>
            </p:cNvSpPr>
            <p:nvPr/>
          </p:nvSpPr>
          <p:spPr bwMode="auto">
            <a:xfrm>
              <a:off x="2687" y="865"/>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bi</a:t>
              </a:r>
              <a:endParaRPr lang="en-US" altLang="en-US" sz="2800"/>
            </a:p>
          </p:txBody>
        </p:sp>
        <p:sp>
          <p:nvSpPr>
            <p:cNvPr id="278602" name="Rectangle 74"/>
            <p:cNvSpPr>
              <a:spLocks noChangeArrowheads="1"/>
            </p:cNvSpPr>
            <p:nvPr/>
          </p:nvSpPr>
          <p:spPr bwMode="auto">
            <a:xfrm>
              <a:off x="2552" y="1615"/>
              <a:ext cx="11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clk</a:t>
              </a:r>
              <a:endParaRPr lang="en-US" altLang="en-US" sz="2800"/>
            </a:p>
          </p:txBody>
        </p:sp>
        <p:sp>
          <p:nvSpPr>
            <p:cNvPr id="278603" name="Rectangle 75"/>
            <p:cNvSpPr>
              <a:spLocks noChangeArrowheads="1"/>
            </p:cNvSpPr>
            <p:nvPr/>
          </p:nvSpPr>
          <p:spPr bwMode="auto">
            <a:xfrm>
              <a:off x="2940" y="1565"/>
              <a:ext cx="50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State register</a:t>
              </a:r>
              <a:endParaRPr lang="en-US" altLang="en-US" sz="2800"/>
            </a:p>
          </p:txBody>
        </p:sp>
        <p:sp>
          <p:nvSpPr>
            <p:cNvPr id="278604" name="Rectangle 76"/>
            <p:cNvSpPr>
              <a:spLocks noChangeArrowheads="1"/>
            </p:cNvSpPr>
            <p:nvPr/>
          </p:nvSpPr>
          <p:spPr bwMode="auto">
            <a:xfrm rot="16200000">
              <a:off x="2397" y="865"/>
              <a:ext cx="235"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300">
                  <a:solidFill>
                    <a:srgbClr val="000000"/>
                  </a:solidFill>
                  <a:latin typeface="Myriad Roman" charset="0"/>
                </a:rPr>
                <a:t>FSM</a:t>
              </a:r>
            </a:p>
            <a:p>
              <a:pPr algn="ctr"/>
              <a:r>
                <a:rPr lang="en-US" altLang="en-US" sz="1300">
                  <a:solidFill>
                    <a:srgbClr val="000000"/>
                  </a:solidFill>
                  <a:latin typeface="Myriad Roman" charset="0"/>
                </a:rPr>
                <a:t>inputs</a:t>
              </a:r>
              <a:endParaRPr lang="en-US" altLang="en-US" sz="2800"/>
            </a:p>
          </p:txBody>
        </p:sp>
        <p:sp>
          <p:nvSpPr>
            <p:cNvPr id="278605" name="Rectangle 77"/>
            <p:cNvSpPr>
              <a:spLocks noChangeArrowheads="1"/>
            </p:cNvSpPr>
            <p:nvPr/>
          </p:nvSpPr>
          <p:spPr bwMode="auto">
            <a:xfrm rot="16200000">
              <a:off x="3697" y="864"/>
              <a:ext cx="28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300">
                  <a:solidFill>
                    <a:srgbClr val="000000"/>
                  </a:solidFill>
                  <a:latin typeface="Myriad Roman" charset="0"/>
                </a:rPr>
                <a:t>FSM</a:t>
              </a:r>
            </a:p>
            <a:p>
              <a:pPr algn="ctr"/>
              <a:r>
                <a:rPr lang="en-US" altLang="en-US" sz="1300">
                  <a:solidFill>
                    <a:srgbClr val="000000"/>
                  </a:solidFill>
                  <a:latin typeface="Myriad Roman" charset="0"/>
                </a:rPr>
                <a:t>outputs</a:t>
              </a:r>
              <a:endParaRPr lang="en-US" altLang="en-US" sz="2800"/>
            </a:p>
          </p:txBody>
        </p:sp>
      </p:grpSp>
      <p:sp>
        <p:nvSpPr>
          <p:cNvPr id="278713" name="Rectangle 185"/>
          <p:cNvSpPr>
            <a:spLocks noChangeArrowheads="1"/>
          </p:cNvSpPr>
          <p:nvPr/>
        </p:nvSpPr>
        <p:spPr bwMode="auto">
          <a:xfrm>
            <a:off x="5713413" y="3895725"/>
            <a:ext cx="1398587" cy="3841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altLang="en-US" sz="1800"/>
              <a:t>ALU</a:t>
            </a:r>
          </a:p>
        </p:txBody>
      </p:sp>
      <p:sp>
        <p:nvSpPr>
          <p:cNvPr id="278714" name="Rectangle 186"/>
          <p:cNvSpPr>
            <a:spLocks noChangeArrowheads="1"/>
          </p:cNvSpPr>
          <p:nvPr/>
        </p:nvSpPr>
        <p:spPr bwMode="auto">
          <a:xfrm>
            <a:off x="7405688" y="3311525"/>
            <a:ext cx="1416050" cy="3841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altLang="en-US" sz="1800"/>
              <a:t>Comparator</a:t>
            </a:r>
          </a:p>
        </p:txBody>
      </p:sp>
      <p:sp>
        <p:nvSpPr>
          <p:cNvPr id="278716" name="Rectangle 188"/>
          <p:cNvSpPr>
            <a:spLocks noChangeArrowheads="1"/>
          </p:cNvSpPr>
          <p:nvPr/>
        </p:nvSpPr>
        <p:spPr bwMode="auto">
          <a:xfrm>
            <a:off x="7388225" y="3875088"/>
            <a:ext cx="1416050" cy="3841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altLang="en-US" sz="1800"/>
              <a:t>Register file</a:t>
            </a:r>
          </a:p>
        </p:txBody>
      </p:sp>
      <p:sp>
        <p:nvSpPr>
          <p:cNvPr id="278717" name="Rectangle 189"/>
          <p:cNvSpPr>
            <a:spLocks noChangeArrowheads="1"/>
          </p:cNvSpPr>
          <p:nvPr/>
        </p:nvSpPr>
        <p:spPr bwMode="auto">
          <a:xfrm>
            <a:off x="5732463" y="3309938"/>
            <a:ext cx="1398587" cy="3841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altLang="en-US" sz="1800"/>
              <a:t>Register</a:t>
            </a:r>
          </a:p>
        </p:txBody>
      </p:sp>
      <p:grpSp>
        <p:nvGrpSpPr>
          <p:cNvPr id="278747" name="Group 219"/>
          <p:cNvGrpSpPr>
            <a:grpSpLocks/>
          </p:cNvGrpSpPr>
          <p:nvPr/>
        </p:nvGrpSpPr>
        <p:grpSpPr bwMode="auto">
          <a:xfrm>
            <a:off x="5256213" y="4592638"/>
            <a:ext cx="1606550" cy="1589087"/>
            <a:chOff x="3643" y="2795"/>
            <a:chExt cx="1123" cy="1136"/>
          </a:xfrm>
        </p:grpSpPr>
        <p:sp>
          <p:nvSpPr>
            <p:cNvPr id="278719" name="Line 191"/>
            <p:cNvSpPr>
              <a:spLocks noChangeShapeType="1"/>
            </p:cNvSpPr>
            <p:nvPr/>
          </p:nvSpPr>
          <p:spPr bwMode="auto">
            <a:xfrm>
              <a:off x="3643" y="2932"/>
              <a:ext cx="108" cy="2"/>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720" name="Freeform 192"/>
            <p:cNvSpPr>
              <a:spLocks/>
            </p:cNvSpPr>
            <p:nvPr/>
          </p:nvSpPr>
          <p:spPr bwMode="auto">
            <a:xfrm>
              <a:off x="3735" y="2908"/>
              <a:ext cx="98" cy="48"/>
            </a:xfrm>
            <a:custGeom>
              <a:avLst/>
              <a:gdLst>
                <a:gd name="T0" fmla="*/ 91 w 91"/>
                <a:gd name="T1" fmla="*/ 23 h 45"/>
                <a:gd name="T2" fmla="*/ 0 w 91"/>
                <a:gd name="T3" fmla="*/ 0 h 45"/>
                <a:gd name="T4" fmla="*/ 0 w 91"/>
                <a:gd name="T5" fmla="*/ 45 h 45"/>
                <a:gd name="T6" fmla="*/ 91 w 91"/>
                <a:gd name="T7" fmla="*/ 23 h 45"/>
              </a:gdLst>
              <a:ahLst/>
              <a:cxnLst>
                <a:cxn ang="0">
                  <a:pos x="T0" y="T1"/>
                </a:cxn>
                <a:cxn ang="0">
                  <a:pos x="T2" y="T3"/>
                </a:cxn>
                <a:cxn ang="0">
                  <a:pos x="T4" y="T5"/>
                </a:cxn>
                <a:cxn ang="0">
                  <a:pos x="T6" y="T7"/>
                </a:cxn>
              </a:cxnLst>
              <a:rect l="0" t="0" r="r" b="b"/>
              <a:pathLst>
                <a:path w="91" h="45">
                  <a:moveTo>
                    <a:pt x="91" y="23"/>
                  </a:moveTo>
                  <a:lnTo>
                    <a:pt x="0" y="0"/>
                  </a:lnTo>
                  <a:lnTo>
                    <a:pt x="0" y="45"/>
                  </a:lnTo>
                  <a:lnTo>
                    <a:pt x="91"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721" name="Line 193"/>
            <p:cNvSpPr>
              <a:spLocks noChangeShapeType="1"/>
            </p:cNvSpPr>
            <p:nvPr/>
          </p:nvSpPr>
          <p:spPr bwMode="auto">
            <a:xfrm>
              <a:off x="4577" y="2932"/>
              <a:ext cx="110" cy="2"/>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722" name="Freeform 194"/>
            <p:cNvSpPr>
              <a:spLocks/>
            </p:cNvSpPr>
            <p:nvPr/>
          </p:nvSpPr>
          <p:spPr bwMode="auto">
            <a:xfrm>
              <a:off x="4669" y="2908"/>
              <a:ext cx="97" cy="48"/>
            </a:xfrm>
            <a:custGeom>
              <a:avLst/>
              <a:gdLst>
                <a:gd name="T0" fmla="*/ 90 w 90"/>
                <a:gd name="T1" fmla="*/ 23 h 45"/>
                <a:gd name="T2" fmla="*/ 0 w 90"/>
                <a:gd name="T3" fmla="*/ 0 h 45"/>
                <a:gd name="T4" fmla="*/ 0 w 90"/>
                <a:gd name="T5" fmla="*/ 45 h 45"/>
                <a:gd name="T6" fmla="*/ 90 w 90"/>
                <a:gd name="T7" fmla="*/ 23 h 45"/>
              </a:gdLst>
              <a:ahLst/>
              <a:cxnLst>
                <a:cxn ang="0">
                  <a:pos x="T0" y="T1"/>
                </a:cxn>
                <a:cxn ang="0">
                  <a:pos x="T2" y="T3"/>
                </a:cxn>
                <a:cxn ang="0">
                  <a:pos x="T4" y="T5"/>
                </a:cxn>
                <a:cxn ang="0">
                  <a:pos x="T6" y="T7"/>
                </a:cxn>
              </a:cxnLst>
              <a:rect l="0" t="0" r="r" b="b"/>
              <a:pathLst>
                <a:path w="90" h="45">
                  <a:moveTo>
                    <a:pt x="90" y="23"/>
                  </a:moveTo>
                  <a:lnTo>
                    <a:pt x="0" y="0"/>
                  </a:lnTo>
                  <a:lnTo>
                    <a:pt x="0" y="45"/>
                  </a:lnTo>
                  <a:lnTo>
                    <a:pt x="90"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725" name="Line 197"/>
            <p:cNvSpPr>
              <a:spLocks noChangeShapeType="1"/>
            </p:cNvSpPr>
            <p:nvPr/>
          </p:nvSpPr>
          <p:spPr bwMode="auto">
            <a:xfrm flipV="1">
              <a:off x="4160" y="3382"/>
              <a:ext cx="2" cy="108"/>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726" name="Freeform 198"/>
            <p:cNvSpPr>
              <a:spLocks/>
            </p:cNvSpPr>
            <p:nvPr/>
          </p:nvSpPr>
          <p:spPr bwMode="auto">
            <a:xfrm>
              <a:off x="4137" y="3300"/>
              <a:ext cx="48" cy="98"/>
            </a:xfrm>
            <a:custGeom>
              <a:avLst/>
              <a:gdLst>
                <a:gd name="T0" fmla="*/ 22 w 45"/>
                <a:gd name="T1" fmla="*/ 0 h 91"/>
                <a:gd name="T2" fmla="*/ 0 w 45"/>
                <a:gd name="T3" fmla="*/ 91 h 91"/>
                <a:gd name="T4" fmla="*/ 45 w 45"/>
                <a:gd name="T5" fmla="*/ 91 h 91"/>
                <a:gd name="T6" fmla="*/ 22 w 45"/>
                <a:gd name="T7" fmla="*/ 0 h 91"/>
              </a:gdLst>
              <a:ahLst/>
              <a:cxnLst>
                <a:cxn ang="0">
                  <a:pos x="T0" y="T1"/>
                </a:cxn>
                <a:cxn ang="0">
                  <a:pos x="T2" y="T3"/>
                </a:cxn>
                <a:cxn ang="0">
                  <a:pos x="T4" y="T5"/>
                </a:cxn>
                <a:cxn ang="0">
                  <a:pos x="T6" y="T7"/>
                </a:cxn>
              </a:cxnLst>
              <a:rect l="0" t="0" r="r" b="b"/>
              <a:pathLst>
                <a:path w="45" h="91">
                  <a:moveTo>
                    <a:pt x="22" y="0"/>
                  </a:moveTo>
                  <a:lnTo>
                    <a:pt x="0" y="91"/>
                  </a:lnTo>
                  <a:lnTo>
                    <a:pt x="45" y="9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727" name="Line 199"/>
            <p:cNvSpPr>
              <a:spLocks noChangeShapeType="1"/>
            </p:cNvSpPr>
            <p:nvPr/>
          </p:nvSpPr>
          <p:spPr bwMode="auto">
            <a:xfrm flipV="1">
              <a:off x="4252" y="3382"/>
              <a:ext cx="1" cy="108"/>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278728" name="Freeform 200"/>
            <p:cNvSpPr>
              <a:spLocks/>
            </p:cNvSpPr>
            <p:nvPr/>
          </p:nvSpPr>
          <p:spPr bwMode="auto">
            <a:xfrm>
              <a:off x="4229" y="3300"/>
              <a:ext cx="48" cy="98"/>
            </a:xfrm>
            <a:custGeom>
              <a:avLst/>
              <a:gdLst>
                <a:gd name="T0" fmla="*/ 22 w 45"/>
                <a:gd name="T1" fmla="*/ 0 h 91"/>
                <a:gd name="T2" fmla="*/ 0 w 45"/>
                <a:gd name="T3" fmla="*/ 91 h 91"/>
                <a:gd name="T4" fmla="*/ 45 w 45"/>
                <a:gd name="T5" fmla="*/ 91 h 91"/>
                <a:gd name="T6" fmla="*/ 22 w 45"/>
                <a:gd name="T7" fmla="*/ 0 h 91"/>
              </a:gdLst>
              <a:ahLst/>
              <a:cxnLst>
                <a:cxn ang="0">
                  <a:pos x="T0" y="T1"/>
                </a:cxn>
                <a:cxn ang="0">
                  <a:pos x="T2" y="T3"/>
                </a:cxn>
                <a:cxn ang="0">
                  <a:pos x="T4" y="T5"/>
                </a:cxn>
                <a:cxn ang="0">
                  <a:pos x="T6" y="T7"/>
                </a:cxn>
              </a:cxnLst>
              <a:rect l="0" t="0" r="r" b="b"/>
              <a:pathLst>
                <a:path w="45" h="91">
                  <a:moveTo>
                    <a:pt x="22" y="0"/>
                  </a:moveTo>
                  <a:lnTo>
                    <a:pt x="0" y="91"/>
                  </a:lnTo>
                  <a:lnTo>
                    <a:pt x="45" y="9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729" name="Freeform 201"/>
            <p:cNvSpPr>
              <a:spLocks/>
            </p:cNvSpPr>
            <p:nvPr/>
          </p:nvSpPr>
          <p:spPr bwMode="auto">
            <a:xfrm>
              <a:off x="4160" y="3213"/>
              <a:ext cx="582" cy="718"/>
            </a:xfrm>
            <a:custGeom>
              <a:avLst/>
              <a:gdLst>
                <a:gd name="T0" fmla="*/ 0 w 539"/>
                <a:gd name="T1" fmla="*/ 565 h 664"/>
                <a:gd name="T2" fmla="*/ 0 w 539"/>
                <a:gd name="T3" fmla="*/ 664 h 664"/>
                <a:gd name="T4" fmla="*/ 539 w 539"/>
                <a:gd name="T5" fmla="*/ 664 h 664"/>
                <a:gd name="T6" fmla="*/ 539 w 539"/>
                <a:gd name="T7" fmla="*/ 0 h 664"/>
                <a:gd name="T8" fmla="*/ 389 w 539"/>
                <a:gd name="T9" fmla="*/ 0 h 664"/>
              </a:gdLst>
              <a:ahLst/>
              <a:cxnLst>
                <a:cxn ang="0">
                  <a:pos x="T0" y="T1"/>
                </a:cxn>
                <a:cxn ang="0">
                  <a:pos x="T2" y="T3"/>
                </a:cxn>
                <a:cxn ang="0">
                  <a:pos x="T4" y="T5"/>
                </a:cxn>
                <a:cxn ang="0">
                  <a:pos x="T6" y="T7"/>
                </a:cxn>
                <a:cxn ang="0">
                  <a:pos x="T8" y="T9"/>
                </a:cxn>
              </a:cxnLst>
              <a:rect l="0" t="0" r="r" b="b"/>
              <a:pathLst>
                <a:path w="539" h="664">
                  <a:moveTo>
                    <a:pt x="0" y="565"/>
                  </a:moveTo>
                  <a:lnTo>
                    <a:pt x="0" y="664"/>
                  </a:lnTo>
                  <a:lnTo>
                    <a:pt x="539" y="664"/>
                  </a:lnTo>
                  <a:lnTo>
                    <a:pt x="539" y="0"/>
                  </a:lnTo>
                  <a:lnTo>
                    <a:pt x="389" y="0"/>
                  </a:lnTo>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730" name="Freeform 202"/>
            <p:cNvSpPr>
              <a:spLocks/>
            </p:cNvSpPr>
            <p:nvPr/>
          </p:nvSpPr>
          <p:spPr bwMode="auto">
            <a:xfrm>
              <a:off x="4137" y="3744"/>
              <a:ext cx="48" cy="98"/>
            </a:xfrm>
            <a:custGeom>
              <a:avLst/>
              <a:gdLst>
                <a:gd name="T0" fmla="*/ 22 w 45"/>
                <a:gd name="T1" fmla="*/ 0 h 91"/>
                <a:gd name="T2" fmla="*/ 0 w 45"/>
                <a:gd name="T3" fmla="*/ 91 h 91"/>
                <a:gd name="T4" fmla="*/ 45 w 45"/>
                <a:gd name="T5" fmla="*/ 91 h 91"/>
                <a:gd name="T6" fmla="*/ 22 w 45"/>
                <a:gd name="T7" fmla="*/ 0 h 91"/>
              </a:gdLst>
              <a:ahLst/>
              <a:cxnLst>
                <a:cxn ang="0">
                  <a:pos x="T0" y="T1"/>
                </a:cxn>
                <a:cxn ang="0">
                  <a:pos x="T2" y="T3"/>
                </a:cxn>
                <a:cxn ang="0">
                  <a:pos x="T4" y="T5"/>
                </a:cxn>
                <a:cxn ang="0">
                  <a:pos x="T6" y="T7"/>
                </a:cxn>
              </a:cxnLst>
              <a:rect l="0" t="0" r="r" b="b"/>
              <a:pathLst>
                <a:path w="45" h="91">
                  <a:moveTo>
                    <a:pt x="22" y="0"/>
                  </a:moveTo>
                  <a:lnTo>
                    <a:pt x="0" y="91"/>
                  </a:lnTo>
                  <a:lnTo>
                    <a:pt x="45" y="9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731" name="Freeform 203"/>
            <p:cNvSpPr>
              <a:spLocks/>
            </p:cNvSpPr>
            <p:nvPr/>
          </p:nvSpPr>
          <p:spPr bwMode="auto">
            <a:xfrm>
              <a:off x="4252" y="3263"/>
              <a:ext cx="451" cy="634"/>
            </a:xfrm>
            <a:custGeom>
              <a:avLst/>
              <a:gdLst>
                <a:gd name="T0" fmla="*/ 0 w 417"/>
                <a:gd name="T1" fmla="*/ 519 h 587"/>
                <a:gd name="T2" fmla="*/ 0 w 417"/>
                <a:gd name="T3" fmla="*/ 587 h 587"/>
                <a:gd name="T4" fmla="*/ 417 w 417"/>
                <a:gd name="T5" fmla="*/ 587 h 587"/>
                <a:gd name="T6" fmla="*/ 417 w 417"/>
                <a:gd name="T7" fmla="*/ 0 h 587"/>
                <a:gd name="T8" fmla="*/ 301 w 417"/>
                <a:gd name="T9" fmla="*/ 0 h 587"/>
              </a:gdLst>
              <a:ahLst/>
              <a:cxnLst>
                <a:cxn ang="0">
                  <a:pos x="T0" y="T1"/>
                </a:cxn>
                <a:cxn ang="0">
                  <a:pos x="T2" y="T3"/>
                </a:cxn>
                <a:cxn ang="0">
                  <a:pos x="T4" y="T5"/>
                </a:cxn>
                <a:cxn ang="0">
                  <a:pos x="T6" y="T7"/>
                </a:cxn>
                <a:cxn ang="0">
                  <a:pos x="T8" y="T9"/>
                </a:cxn>
              </a:cxnLst>
              <a:rect l="0" t="0" r="r" b="b"/>
              <a:pathLst>
                <a:path w="417" h="587">
                  <a:moveTo>
                    <a:pt x="0" y="519"/>
                  </a:moveTo>
                  <a:lnTo>
                    <a:pt x="0" y="587"/>
                  </a:lnTo>
                  <a:lnTo>
                    <a:pt x="417" y="587"/>
                  </a:lnTo>
                  <a:lnTo>
                    <a:pt x="417" y="0"/>
                  </a:lnTo>
                  <a:lnTo>
                    <a:pt x="301" y="0"/>
                  </a:lnTo>
                </a:path>
              </a:pathLst>
            </a:custGeom>
            <a:noFill/>
            <a:ln w="174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732" name="Freeform 204"/>
            <p:cNvSpPr>
              <a:spLocks/>
            </p:cNvSpPr>
            <p:nvPr/>
          </p:nvSpPr>
          <p:spPr bwMode="auto">
            <a:xfrm>
              <a:off x="4229" y="3744"/>
              <a:ext cx="48" cy="98"/>
            </a:xfrm>
            <a:custGeom>
              <a:avLst/>
              <a:gdLst>
                <a:gd name="T0" fmla="*/ 22 w 45"/>
                <a:gd name="T1" fmla="*/ 0 h 91"/>
                <a:gd name="T2" fmla="*/ 0 w 45"/>
                <a:gd name="T3" fmla="*/ 91 h 91"/>
                <a:gd name="T4" fmla="*/ 45 w 45"/>
                <a:gd name="T5" fmla="*/ 91 h 91"/>
                <a:gd name="T6" fmla="*/ 22 w 45"/>
                <a:gd name="T7" fmla="*/ 0 h 91"/>
              </a:gdLst>
              <a:ahLst/>
              <a:cxnLst>
                <a:cxn ang="0">
                  <a:pos x="T0" y="T1"/>
                </a:cxn>
                <a:cxn ang="0">
                  <a:pos x="T2" y="T3"/>
                </a:cxn>
                <a:cxn ang="0">
                  <a:pos x="T4" y="T5"/>
                </a:cxn>
                <a:cxn ang="0">
                  <a:pos x="T6" y="T7"/>
                </a:cxn>
              </a:cxnLst>
              <a:rect l="0" t="0" r="r" b="b"/>
              <a:pathLst>
                <a:path w="45" h="91">
                  <a:moveTo>
                    <a:pt x="22" y="0"/>
                  </a:moveTo>
                  <a:lnTo>
                    <a:pt x="0" y="91"/>
                  </a:lnTo>
                  <a:lnTo>
                    <a:pt x="45" y="91"/>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8733" name="Rectangle 205"/>
            <p:cNvSpPr>
              <a:spLocks noChangeArrowheads="1"/>
            </p:cNvSpPr>
            <p:nvPr/>
          </p:nvSpPr>
          <p:spPr bwMode="auto">
            <a:xfrm>
              <a:off x="3837" y="2839"/>
              <a:ext cx="740" cy="458"/>
            </a:xfrm>
            <a:prstGeom prst="rect">
              <a:avLst/>
            </a:prstGeom>
            <a:noFill/>
            <a:ln w="12700">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734" name="Rectangle 206"/>
            <p:cNvSpPr>
              <a:spLocks noChangeArrowheads="1"/>
            </p:cNvSpPr>
            <p:nvPr/>
          </p:nvSpPr>
          <p:spPr bwMode="auto">
            <a:xfrm>
              <a:off x="3837" y="3490"/>
              <a:ext cx="740" cy="248"/>
            </a:xfrm>
            <a:prstGeom prst="rect">
              <a:avLst/>
            </a:prstGeom>
            <a:noFill/>
            <a:ln w="12700">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735" name="Rectangle 207"/>
            <p:cNvSpPr>
              <a:spLocks noChangeArrowheads="1"/>
            </p:cNvSpPr>
            <p:nvPr/>
          </p:nvSpPr>
          <p:spPr bwMode="auto">
            <a:xfrm>
              <a:off x="3867" y="2964"/>
              <a:ext cx="686" cy="2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300">
                  <a:solidFill>
                    <a:srgbClr val="000000"/>
                  </a:solidFill>
                  <a:latin typeface="Myriad Roman" charset="0"/>
                </a:rPr>
                <a:t>Combinational</a:t>
              </a:r>
            </a:p>
            <a:p>
              <a:pPr algn="ctr"/>
              <a:r>
                <a:rPr lang="en-US" altLang="en-US" sz="1300">
                  <a:solidFill>
                    <a:srgbClr val="000000"/>
                  </a:solidFill>
                  <a:latin typeface="Myriad Roman" charset="0"/>
                </a:rPr>
                <a:t>logic</a:t>
              </a:r>
              <a:endParaRPr lang="en-US" altLang="en-US" sz="2800"/>
            </a:p>
          </p:txBody>
        </p:sp>
        <p:sp>
          <p:nvSpPr>
            <p:cNvPr id="278736" name="Freeform 208"/>
            <p:cNvSpPr>
              <a:spLocks/>
            </p:cNvSpPr>
            <p:nvPr/>
          </p:nvSpPr>
          <p:spPr bwMode="auto">
            <a:xfrm>
              <a:off x="3840" y="3612"/>
              <a:ext cx="100" cy="105"/>
            </a:xfrm>
            <a:custGeom>
              <a:avLst/>
              <a:gdLst>
                <a:gd name="T0" fmla="*/ 0 w 93"/>
                <a:gd name="T1" fmla="*/ 97 h 97"/>
                <a:gd name="T2" fmla="*/ 93 w 93"/>
                <a:gd name="T3" fmla="*/ 48 h 97"/>
                <a:gd name="T4" fmla="*/ 0 w 93"/>
                <a:gd name="T5" fmla="*/ 0 h 97"/>
              </a:gdLst>
              <a:ahLst/>
              <a:cxnLst>
                <a:cxn ang="0">
                  <a:pos x="T0" y="T1"/>
                </a:cxn>
                <a:cxn ang="0">
                  <a:pos x="T2" y="T3"/>
                </a:cxn>
                <a:cxn ang="0">
                  <a:pos x="T4" y="T5"/>
                </a:cxn>
              </a:cxnLst>
              <a:rect l="0" t="0" r="r" b="b"/>
              <a:pathLst>
                <a:path w="93" h="97">
                  <a:moveTo>
                    <a:pt x="0" y="97"/>
                  </a:moveTo>
                  <a:lnTo>
                    <a:pt x="93" y="48"/>
                  </a:lnTo>
                  <a:lnTo>
                    <a:pt x="0" y="0"/>
                  </a:lnTo>
                </a:path>
              </a:pathLst>
            </a:custGeom>
            <a:noFill/>
            <a:ln w="793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8737" name="Rectangle 209"/>
            <p:cNvSpPr>
              <a:spLocks noChangeArrowheads="1"/>
            </p:cNvSpPr>
            <p:nvPr/>
          </p:nvSpPr>
          <p:spPr bwMode="auto">
            <a:xfrm>
              <a:off x="4576" y="3288"/>
              <a:ext cx="116"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n0</a:t>
              </a:r>
              <a:endParaRPr lang="en-US" altLang="en-US" sz="2800"/>
            </a:p>
          </p:txBody>
        </p:sp>
        <p:sp>
          <p:nvSpPr>
            <p:cNvPr id="278738" name="Rectangle 210"/>
            <p:cNvSpPr>
              <a:spLocks noChangeArrowheads="1"/>
            </p:cNvSpPr>
            <p:nvPr/>
          </p:nvSpPr>
          <p:spPr bwMode="auto">
            <a:xfrm>
              <a:off x="4018" y="3377"/>
              <a:ext cx="10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s1</a:t>
              </a:r>
              <a:endParaRPr lang="en-US" altLang="en-US" sz="2800"/>
            </a:p>
          </p:txBody>
        </p:sp>
        <p:sp>
          <p:nvSpPr>
            <p:cNvPr id="278739" name="Rectangle 211"/>
            <p:cNvSpPr>
              <a:spLocks noChangeArrowheads="1"/>
            </p:cNvSpPr>
            <p:nvPr/>
          </p:nvSpPr>
          <p:spPr bwMode="auto">
            <a:xfrm>
              <a:off x="4300" y="3377"/>
              <a:ext cx="10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s0</a:t>
              </a:r>
              <a:endParaRPr lang="en-US" altLang="en-US" sz="2800"/>
            </a:p>
          </p:txBody>
        </p:sp>
        <p:sp>
          <p:nvSpPr>
            <p:cNvPr id="278740" name="Rectangle 212"/>
            <p:cNvSpPr>
              <a:spLocks noChangeArrowheads="1"/>
            </p:cNvSpPr>
            <p:nvPr/>
          </p:nvSpPr>
          <p:spPr bwMode="auto">
            <a:xfrm>
              <a:off x="4610" y="3106"/>
              <a:ext cx="11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n1</a:t>
              </a:r>
              <a:endParaRPr lang="en-US" altLang="en-US" sz="2800"/>
            </a:p>
          </p:txBody>
        </p:sp>
        <p:sp>
          <p:nvSpPr>
            <p:cNvPr id="278741" name="Rectangle 213"/>
            <p:cNvSpPr>
              <a:spLocks noChangeArrowheads="1"/>
            </p:cNvSpPr>
            <p:nvPr/>
          </p:nvSpPr>
          <p:spPr bwMode="auto">
            <a:xfrm>
              <a:off x="4601" y="2795"/>
              <a:ext cx="11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bo</a:t>
              </a:r>
              <a:endParaRPr lang="en-US" altLang="en-US" sz="2800"/>
            </a:p>
          </p:txBody>
        </p:sp>
        <p:sp>
          <p:nvSpPr>
            <p:cNvPr id="278742" name="Rectangle 214"/>
            <p:cNvSpPr>
              <a:spLocks noChangeArrowheads="1"/>
            </p:cNvSpPr>
            <p:nvPr/>
          </p:nvSpPr>
          <p:spPr bwMode="auto">
            <a:xfrm>
              <a:off x="3666" y="2795"/>
              <a:ext cx="90"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bi</a:t>
              </a:r>
              <a:endParaRPr lang="en-US" altLang="en-US" sz="2800"/>
            </a:p>
          </p:txBody>
        </p:sp>
        <p:sp>
          <p:nvSpPr>
            <p:cNvPr id="278744" name="Rectangle 216"/>
            <p:cNvSpPr>
              <a:spLocks noChangeArrowheads="1"/>
            </p:cNvSpPr>
            <p:nvPr/>
          </p:nvSpPr>
          <p:spPr bwMode="auto">
            <a:xfrm>
              <a:off x="3939" y="3552"/>
              <a:ext cx="60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State register</a:t>
              </a:r>
              <a:endParaRPr lang="en-US" altLang="en-US" sz="2800"/>
            </a:p>
          </p:txBody>
        </p:sp>
      </p:grpSp>
      <p:sp>
        <p:nvSpPr>
          <p:cNvPr id="278749" name="Rectangle 221"/>
          <p:cNvSpPr>
            <a:spLocks noChangeArrowheads="1"/>
          </p:cNvSpPr>
          <p:nvPr/>
        </p:nvSpPr>
        <p:spPr bwMode="auto">
          <a:xfrm>
            <a:off x="7388225" y="4711700"/>
            <a:ext cx="1416050" cy="3841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altLang="en-US" sz="1800"/>
              <a:t>Register file</a:t>
            </a:r>
          </a:p>
        </p:txBody>
      </p:sp>
      <p:sp>
        <p:nvSpPr>
          <p:cNvPr id="278750" name="Rectangle 222"/>
          <p:cNvSpPr>
            <a:spLocks noChangeArrowheads="1"/>
          </p:cNvSpPr>
          <p:nvPr/>
        </p:nvSpPr>
        <p:spPr bwMode="auto">
          <a:xfrm>
            <a:off x="7386638" y="5276850"/>
            <a:ext cx="1398587" cy="3841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r>
              <a:rPr lang="en-US" altLang="en-US" sz="1800"/>
              <a:t>ALU</a:t>
            </a:r>
          </a:p>
        </p:txBody>
      </p:sp>
      <p:sp>
        <p:nvSpPr>
          <p:cNvPr id="278751" name="Rectangle 223"/>
          <p:cNvSpPr>
            <a:spLocks noChangeArrowheads="1"/>
          </p:cNvSpPr>
          <p:nvPr/>
        </p:nvSpPr>
        <p:spPr bwMode="auto">
          <a:xfrm>
            <a:off x="7275513" y="4494213"/>
            <a:ext cx="1616075" cy="173196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p>
        </p:txBody>
      </p:sp>
      <p:sp>
        <p:nvSpPr>
          <p:cNvPr id="278753" name="Text Box 225"/>
          <p:cNvSpPr txBox="1">
            <a:spLocks noChangeArrowheads="1"/>
          </p:cNvSpPr>
          <p:nvPr/>
        </p:nvSpPr>
        <p:spPr bwMode="auto">
          <a:xfrm>
            <a:off x="7553325" y="5778500"/>
            <a:ext cx="11001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Datapath</a:t>
            </a:r>
          </a:p>
        </p:txBody>
      </p:sp>
      <p:sp>
        <p:nvSpPr>
          <p:cNvPr id="278754" name="Rectangle 226"/>
          <p:cNvSpPr>
            <a:spLocks noChangeArrowheads="1"/>
          </p:cNvSpPr>
          <p:nvPr/>
        </p:nvSpPr>
        <p:spPr bwMode="auto">
          <a:xfrm>
            <a:off x="5232400" y="4513263"/>
            <a:ext cx="1674813" cy="204311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400"/>
          </a:p>
        </p:txBody>
      </p:sp>
      <p:sp>
        <p:nvSpPr>
          <p:cNvPr id="278755" name="Text Box 227"/>
          <p:cNvSpPr txBox="1">
            <a:spLocks noChangeArrowheads="1"/>
          </p:cNvSpPr>
          <p:nvPr/>
        </p:nvSpPr>
        <p:spPr bwMode="auto">
          <a:xfrm>
            <a:off x="5487988" y="6186488"/>
            <a:ext cx="12255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Controller</a:t>
            </a:r>
          </a:p>
        </p:txBody>
      </p:sp>
      <p:sp>
        <p:nvSpPr>
          <p:cNvPr id="278756" name="Line 228"/>
          <p:cNvSpPr>
            <a:spLocks noChangeShapeType="1"/>
          </p:cNvSpPr>
          <p:nvPr/>
        </p:nvSpPr>
        <p:spPr bwMode="auto">
          <a:xfrm>
            <a:off x="6905625" y="5057775"/>
            <a:ext cx="388938" cy="0"/>
          </a:xfrm>
          <a:prstGeom prst="line">
            <a:avLst/>
          </a:prstGeom>
          <a:noFill/>
          <a:ln w="12700">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8757" name="Text Box 229"/>
          <p:cNvSpPr txBox="1">
            <a:spLocks noChangeArrowheads="1"/>
          </p:cNvSpPr>
          <p:nvPr/>
        </p:nvSpPr>
        <p:spPr bwMode="auto">
          <a:xfrm>
            <a:off x="2667000" y="6553200"/>
            <a:ext cx="4073525"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a:t>Note: Slides with animation are denoted with a small red "</a:t>
            </a:r>
            <a:r>
              <a:rPr lang="en-US" altLang="en-US" sz="900">
                <a:solidFill>
                  <a:srgbClr val="CC0000"/>
                </a:solidFill>
              </a:rPr>
              <a:t>a</a:t>
            </a:r>
            <a:r>
              <a:rPr lang="en-US" altLang="en-US" sz="900"/>
              <a:t>" near the animated items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2190B980-FEDB-4066-92F7-8667C3A289E9}" type="slidenum">
              <a:rPr lang="en-US" altLang="en-US"/>
              <a:pPr/>
              <a:t>3</a:t>
            </a:fld>
            <a:endParaRPr lang="en-US" altLang="en-US"/>
          </a:p>
        </p:txBody>
      </p:sp>
      <p:sp>
        <p:nvSpPr>
          <p:cNvPr id="466946" name="Rectangle 2"/>
          <p:cNvSpPr>
            <a:spLocks noGrp="1" noChangeArrowheads="1"/>
          </p:cNvSpPr>
          <p:nvPr>
            <p:ph type="title"/>
          </p:nvPr>
        </p:nvSpPr>
        <p:spPr/>
        <p:txBody>
          <a:bodyPr/>
          <a:lstStyle/>
          <a:p>
            <a:r>
              <a:rPr lang="en-US" altLang="en-US"/>
              <a:t>RTL Design: Capture Behavior, Convert to Circuit</a:t>
            </a:r>
          </a:p>
        </p:txBody>
      </p:sp>
      <p:sp>
        <p:nvSpPr>
          <p:cNvPr id="466947" name="Rectangle 3"/>
          <p:cNvSpPr>
            <a:spLocks noGrp="1" noChangeArrowheads="1"/>
          </p:cNvSpPr>
          <p:nvPr>
            <p:ph type="body" idx="1"/>
          </p:nvPr>
        </p:nvSpPr>
        <p:spPr>
          <a:xfrm>
            <a:off x="228600" y="1219200"/>
            <a:ext cx="5945188" cy="4876800"/>
          </a:xfrm>
        </p:spPr>
        <p:txBody>
          <a:bodyPr/>
          <a:lstStyle/>
          <a:p>
            <a:r>
              <a:rPr lang="en-US" altLang="en-US"/>
              <a:t>Recall</a:t>
            </a:r>
          </a:p>
          <a:p>
            <a:pPr lvl="1"/>
            <a:r>
              <a:rPr lang="en-US" altLang="en-US"/>
              <a:t>Chapter 2: Combinational Logic Design</a:t>
            </a:r>
          </a:p>
          <a:p>
            <a:pPr lvl="2"/>
            <a:r>
              <a:rPr lang="en-US" altLang="en-US"/>
              <a:t>First step: Capture behavior (using equation or truth table)</a:t>
            </a:r>
          </a:p>
          <a:p>
            <a:pPr lvl="2"/>
            <a:r>
              <a:rPr lang="en-US" altLang="en-US"/>
              <a:t>Remaining steps: Convert to circuit</a:t>
            </a:r>
          </a:p>
          <a:p>
            <a:pPr lvl="1"/>
            <a:r>
              <a:rPr lang="en-US" altLang="en-US"/>
              <a:t>Chapter 3: Sequential Logic Design</a:t>
            </a:r>
          </a:p>
          <a:p>
            <a:pPr lvl="2"/>
            <a:r>
              <a:rPr lang="en-US" altLang="en-US"/>
              <a:t>First step: Capture behavior (using FSM)</a:t>
            </a:r>
          </a:p>
          <a:p>
            <a:pPr lvl="2"/>
            <a:r>
              <a:rPr lang="en-US" altLang="en-US"/>
              <a:t>Remaining steps: Convert to circuit</a:t>
            </a:r>
          </a:p>
          <a:p>
            <a:r>
              <a:rPr lang="en-US" altLang="en-US"/>
              <a:t>RTL Design (the method for creating custom processors)</a:t>
            </a:r>
          </a:p>
          <a:p>
            <a:pPr lvl="1"/>
            <a:r>
              <a:rPr lang="en-US" altLang="en-US"/>
              <a:t>First step: Capture behavior (using high-level state machine, to be introduced) </a:t>
            </a:r>
          </a:p>
          <a:p>
            <a:pPr lvl="1"/>
            <a:r>
              <a:rPr lang="en-US" altLang="en-US"/>
              <a:t>Remaining steps: Convert to circuit</a:t>
            </a:r>
          </a:p>
        </p:txBody>
      </p:sp>
      <p:sp>
        <p:nvSpPr>
          <p:cNvPr id="466948" name="Line 4"/>
          <p:cNvSpPr>
            <a:spLocks noChangeShapeType="1"/>
          </p:cNvSpPr>
          <p:nvPr/>
        </p:nvSpPr>
        <p:spPr bwMode="auto">
          <a:xfrm>
            <a:off x="7691438" y="3302000"/>
            <a:ext cx="1587" cy="7016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66949" name="Freeform 5"/>
          <p:cNvSpPr>
            <a:spLocks/>
          </p:cNvSpPr>
          <p:nvPr/>
        </p:nvSpPr>
        <p:spPr bwMode="auto">
          <a:xfrm>
            <a:off x="7645400" y="3897313"/>
            <a:ext cx="93663" cy="27622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66950" name="Rectangle 6"/>
          <p:cNvSpPr>
            <a:spLocks noChangeArrowheads="1"/>
          </p:cNvSpPr>
          <p:nvPr/>
        </p:nvSpPr>
        <p:spPr bwMode="auto">
          <a:xfrm>
            <a:off x="6818313" y="2805113"/>
            <a:ext cx="16605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Capture behavior</a:t>
            </a:r>
            <a:endParaRPr lang="en-US" altLang="en-US" sz="3200"/>
          </a:p>
        </p:txBody>
      </p:sp>
      <p:sp>
        <p:nvSpPr>
          <p:cNvPr id="466956" name="Freeform 12"/>
          <p:cNvSpPr>
            <a:spLocks/>
          </p:cNvSpPr>
          <p:nvPr/>
        </p:nvSpPr>
        <p:spPr bwMode="auto">
          <a:xfrm>
            <a:off x="6608763" y="2611438"/>
            <a:ext cx="2117725" cy="682625"/>
          </a:xfrm>
          <a:custGeom>
            <a:avLst/>
            <a:gdLst>
              <a:gd name="T0" fmla="*/ 39 w 364"/>
              <a:gd name="T1" fmla="*/ 79 h 79"/>
              <a:gd name="T2" fmla="*/ 0 w 364"/>
              <a:gd name="T3" fmla="*/ 39 h 79"/>
              <a:gd name="T4" fmla="*/ 39 w 364"/>
              <a:gd name="T5" fmla="*/ 0 h 79"/>
              <a:gd name="T6" fmla="*/ 325 w 364"/>
              <a:gd name="T7" fmla="*/ 0 h 79"/>
              <a:gd name="T8" fmla="*/ 364 w 364"/>
              <a:gd name="T9" fmla="*/ 39 h 79"/>
              <a:gd name="T10" fmla="*/ 325 w 364"/>
              <a:gd name="T11" fmla="*/ 79 h 79"/>
              <a:gd name="T12" fmla="*/ 39 w 364"/>
              <a:gd name="T13" fmla="*/ 79 h 79"/>
            </a:gdLst>
            <a:ahLst/>
            <a:cxnLst>
              <a:cxn ang="0">
                <a:pos x="T0" y="T1"/>
              </a:cxn>
              <a:cxn ang="0">
                <a:pos x="T2" y="T3"/>
              </a:cxn>
              <a:cxn ang="0">
                <a:pos x="T4" y="T5"/>
              </a:cxn>
              <a:cxn ang="0">
                <a:pos x="T6" y="T7"/>
              </a:cxn>
              <a:cxn ang="0">
                <a:pos x="T8" y="T9"/>
              </a:cxn>
              <a:cxn ang="0">
                <a:pos x="T10" y="T11"/>
              </a:cxn>
              <a:cxn ang="0">
                <a:pos x="T12" y="T13"/>
              </a:cxn>
            </a:cxnLst>
            <a:rect l="0" t="0" r="r" b="b"/>
            <a:pathLst>
              <a:path w="364" h="79">
                <a:moveTo>
                  <a:pt x="39" y="79"/>
                </a:moveTo>
                <a:cubicBezTo>
                  <a:pt x="17" y="79"/>
                  <a:pt x="0" y="61"/>
                  <a:pt x="0" y="39"/>
                </a:cubicBezTo>
                <a:cubicBezTo>
                  <a:pt x="0" y="17"/>
                  <a:pt x="17" y="0"/>
                  <a:pt x="39" y="0"/>
                </a:cubicBezTo>
                <a:cubicBezTo>
                  <a:pt x="325" y="0"/>
                  <a:pt x="325" y="0"/>
                  <a:pt x="325" y="0"/>
                </a:cubicBezTo>
                <a:cubicBezTo>
                  <a:pt x="347" y="0"/>
                  <a:pt x="364" y="17"/>
                  <a:pt x="364" y="39"/>
                </a:cubicBezTo>
                <a:cubicBezTo>
                  <a:pt x="364" y="61"/>
                  <a:pt x="347" y="79"/>
                  <a:pt x="325" y="79"/>
                </a:cubicBezTo>
                <a:lnTo>
                  <a:pt x="39" y="79"/>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66957" name="Rectangle 13"/>
          <p:cNvSpPr>
            <a:spLocks noChangeArrowheads="1"/>
          </p:cNvSpPr>
          <p:nvPr/>
        </p:nvSpPr>
        <p:spPr bwMode="auto">
          <a:xfrm>
            <a:off x="6875463" y="4367213"/>
            <a:ext cx="16224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Convert to circuit</a:t>
            </a:r>
            <a:endParaRPr lang="en-US" altLang="en-US" sz="3200"/>
          </a:p>
        </p:txBody>
      </p:sp>
      <p:sp>
        <p:nvSpPr>
          <p:cNvPr id="466968" name="Freeform 24"/>
          <p:cNvSpPr>
            <a:spLocks/>
          </p:cNvSpPr>
          <p:nvPr/>
        </p:nvSpPr>
        <p:spPr bwMode="auto">
          <a:xfrm>
            <a:off x="6608763" y="4173538"/>
            <a:ext cx="2117725" cy="682625"/>
          </a:xfrm>
          <a:custGeom>
            <a:avLst/>
            <a:gdLst>
              <a:gd name="T0" fmla="*/ 39 w 364"/>
              <a:gd name="T1" fmla="*/ 79 h 79"/>
              <a:gd name="T2" fmla="*/ 0 w 364"/>
              <a:gd name="T3" fmla="*/ 39 h 79"/>
              <a:gd name="T4" fmla="*/ 39 w 364"/>
              <a:gd name="T5" fmla="*/ 0 h 79"/>
              <a:gd name="T6" fmla="*/ 325 w 364"/>
              <a:gd name="T7" fmla="*/ 0 h 79"/>
              <a:gd name="T8" fmla="*/ 364 w 364"/>
              <a:gd name="T9" fmla="*/ 39 h 79"/>
              <a:gd name="T10" fmla="*/ 325 w 364"/>
              <a:gd name="T11" fmla="*/ 79 h 79"/>
              <a:gd name="T12" fmla="*/ 39 w 364"/>
              <a:gd name="T13" fmla="*/ 79 h 79"/>
            </a:gdLst>
            <a:ahLst/>
            <a:cxnLst>
              <a:cxn ang="0">
                <a:pos x="T0" y="T1"/>
              </a:cxn>
              <a:cxn ang="0">
                <a:pos x="T2" y="T3"/>
              </a:cxn>
              <a:cxn ang="0">
                <a:pos x="T4" y="T5"/>
              </a:cxn>
              <a:cxn ang="0">
                <a:pos x="T6" y="T7"/>
              </a:cxn>
              <a:cxn ang="0">
                <a:pos x="T8" y="T9"/>
              </a:cxn>
              <a:cxn ang="0">
                <a:pos x="T10" y="T11"/>
              </a:cxn>
              <a:cxn ang="0">
                <a:pos x="T12" y="T13"/>
              </a:cxn>
            </a:cxnLst>
            <a:rect l="0" t="0" r="r" b="b"/>
            <a:pathLst>
              <a:path w="364" h="79">
                <a:moveTo>
                  <a:pt x="39" y="79"/>
                </a:moveTo>
                <a:cubicBezTo>
                  <a:pt x="17" y="79"/>
                  <a:pt x="0" y="61"/>
                  <a:pt x="0" y="39"/>
                </a:cubicBezTo>
                <a:cubicBezTo>
                  <a:pt x="0" y="17"/>
                  <a:pt x="17" y="0"/>
                  <a:pt x="39" y="0"/>
                </a:cubicBezTo>
                <a:cubicBezTo>
                  <a:pt x="325" y="0"/>
                  <a:pt x="325" y="0"/>
                  <a:pt x="325" y="0"/>
                </a:cubicBezTo>
                <a:cubicBezTo>
                  <a:pt x="347" y="0"/>
                  <a:pt x="364" y="17"/>
                  <a:pt x="364" y="39"/>
                </a:cubicBezTo>
                <a:cubicBezTo>
                  <a:pt x="364" y="61"/>
                  <a:pt x="347" y="79"/>
                  <a:pt x="325" y="79"/>
                </a:cubicBezTo>
                <a:lnTo>
                  <a:pt x="39" y="79"/>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AA2EAEA1-7D07-4AA5-8B5A-585E502A4E81}" type="slidenum">
              <a:rPr lang="en-US" altLang="en-US"/>
              <a:pPr/>
              <a:t>4</a:t>
            </a:fld>
            <a:endParaRPr lang="en-US" altLang="en-US"/>
          </a:p>
        </p:txBody>
      </p:sp>
      <p:sp>
        <p:nvSpPr>
          <p:cNvPr id="468994" name="Rectangle 2"/>
          <p:cNvSpPr>
            <a:spLocks noGrp="1" noChangeArrowheads="1"/>
          </p:cNvSpPr>
          <p:nvPr>
            <p:ph type="title"/>
          </p:nvPr>
        </p:nvSpPr>
        <p:spPr/>
        <p:txBody>
          <a:bodyPr/>
          <a:lstStyle/>
          <a:p>
            <a:r>
              <a:rPr lang="en-US" altLang="en-US" u="sng"/>
              <a:t>RTL Design Method</a:t>
            </a:r>
          </a:p>
        </p:txBody>
      </p:sp>
      <p:sp>
        <p:nvSpPr>
          <p:cNvPr id="469000" name="Text Box 8"/>
          <p:cNvSpPr txBox="1">
            <a:spLocks noChangeArrowheads="1"/>
          </p:cNvSpPr>
          <p:nvPr/>
        </p:nvSpPr>
        <p:spPr bwMode="auto">
          <a:xfrm>
            <a:off x="8458200" y="152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5.2</a:t>
            </a:r>
          </a:p>
        </p:txBody>
      </p:sp>
      <p:pic>
        <p:nvPicPr>
          <p:cNvPr id="469003" name="Picture 11"/>
          <p:cNvPicPr>
            <a:picLocks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454025" y="1939925"/>
            <a:ext cx="8159750" cy="3433763"/>
          </a:xfrm>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Slide Number Placeholder 3"/>
          <p:cNvSpPr>
            <a:spLocks noGrp="1"/>
          </p:cNvSpPr>
          <p:nvPr>
            <p:ph type="sldNum" sz="quarter" idx="10"/>
          </p:nvPr>
        </p:nvSpPr>
        <p:spPr/>
        <p:txBody>
          <a:bodyPr/>
          <a:lstStyle/>
          <a:p>
            <a:fld id="{9D6E1849-2DEE-4D2A-BB50-1FE73791D2ED}" type="slidenum">
              <a:rPr lang="en-US" altLang="en-US"/>
              <a:pPr/>
              <a:t>5</a:t>
            </a:fld>
            <a:endParaRPr lang="en-US" altLang="en-US"/>
          </a:p>
        </p:txBody>
      </p:sp>
      <p:sp>
        <p:nvSpPr>
          <p:cNvPr id="470018" name="Rectangle 2"/>
          <p:cNvSpPr>
            <a:spLocks noGrp="1" noChangeArrowheads="1"/>
          </p:cNvSpPr>
          <p:nvPr>
            <p:ph type="title"/>
          </p:nvPr>
        </p:nvSpPr>
        <p:spPr/>
        <p:txBody>
          <a:bodyPr/>
          <a:lstStyle/>
          <a:p>
            <a:r>
              <a:rPr lang="en-US" altLang="en-US"/>
              <a:t>RTL Design Method: “Preview” Example</a:t>
            </a:r>
          </a:p>
        </p:txBody>
      </p:sp>
      <p:sp>
        <p:nvSpPr>
          <p:cNvPr id="470019" name="Rectangle 3"/>
          <p:cNvSpPr>
            <a:spLocks noGrp="1" noChangeArrowheads="1"/>
          </p:cNvSpPr>
          <p:nvPr>
            <p:ph type="body" idx="1"/>
          </p:nvPr>
        </p:nvSpPr>
        <p:spPr>
          <a:xfrm>
            <a:off x="228600" y="1219200"/>
            <a:ext cx="4408488" cy="4876800"/>
          </a:xfrm>
        </p:spPr>
        <p:txBody>
          <a:bodyPr/>
          <a:lstStyle/>
          <a:p>
            <a:r>
              <a:rPr lang="en-US" altLang="en-US"/>
              <a:t>Soda dispenser</a:t>
            </a:r>
          </a:p>
          <a:p>
            <a:pPr lvl="1"/>
            <a:r>
              <a:rPr lang="en-US" altLang="en-US" i="1"/>
              <a:t>c</a:t>
            </a:r>
            <a:r>
              <a:rPr lang="en-US" altLang="en-US"/>
              <a:t>: bit input, 1 when coin deposited</a:t>
            </a:r>
          </a:p>
          <a:p>
            <a:pPr lvl="1"/>
            <a:r>
              <a:rPr lang="en-US" altLang="en-US" i="1"/>
              <a:t>a</a:t>
            </a:r>
            <a:r>
              <a:rPr lang="en-US" altLang="en-US"/>
              <a:t>: 8-bit input having value of deposited coin</a:t>
            </a:r>
          </a:p>
          <a:p>
            <a:pPr lvl="1"/>
            <a:r>
              <a:rPr lang="en-US" altLang="en-US" i="1"/>
              <a:t>s</a:t>
            </a:r>
            <a:r>
              <a:rPr lang="en-US" altLang="en-US"/>
              <a:t>: 8-bit input having cost of a soda</a:t>
            </a:r>
          </a:p>
          <a:p>
            <a:pPr lvl="1"/>
            <a:r>
              <a:rPr lang="en-US" altLang="en-US" i="1"/>
              <a:t>d</a:t>
            </a:r>
            <a:r>
              <a:rPr lang="en-US" altLang="en-US"/>
              <a:t>: bit output, processor sets to 1 when total value of deposited coins equals or exceeds cost of a soda</a:t>
            </a:r>
          </a:p>
        </p:txBody>
      </p:sp>
      <p:grpSp>
        <p:nvGrpSpPr>
          <p:cNvPr id="470094" name="Group 78"/>
          <p:cNvGrpSpPr>
            <a:grpSpLocks/>
          </p:cNvGrpSpPr>
          <p:nvPr/>
        </p:nvGrpSpPr>
        <p:grpSpPr bwMode="auto">
          <a:xfrm>
            <a:off x="5314950" y="3827463"/>
            <a:ext cx="3005138" cy="1919287"/>
            <a:chOff x="3348" y="2411"/>
            <a:chExt cx="1893" cy="1209"/>
          </a:xfrm>
        </p:grpSpPr>
        <p:sp>
          <p:nvSpPr>
            <p:cNvPr id="470049" name="Line 33"/>
            <p:cNvSpPr>
              <a:spLocks noChangeShapeType="1"/>
            </p:cNvSpPr>
            <p:nvPr/>
          </p:nvSpPr>
          <p:spPr bwMode="auto">
            <a:xfrm>
              <a:off x="4542" y="2579"/>
              <a:ext cx="2" cy="25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0050" name="Freeform 34"/>
            <p:cNvSpPr>
              <a:spLocks/>
            </p:cNvSpPr>
            <p:nvPr/>
          </p:nvSpPr>
          <p:spPr bwMode="auto">
            <a:xfrm>
              <a:off x="4503" y="2779"/>
              <a:ext cx="78" cy="136"/>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0051" name="Line 35"/>
            <p:cNvSpPr>
              <a:spLocks noChangeShapeType="1"/>
            </p:cNvSpPr>
            <p:nvPr/>
          </p:nvSpPr>
          <p:spPr bwMode="auto">
            <a:xfrm>
              <a:off x="3460" y="3055"/>
              <a:ext cx="28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0052" name="Freeform 36"/>
            <p:cNvSpPr>
              <a:spLocks/>
            </p:cNvSpPr>
            <p:nvPr/>
          </p:nvSpPr>
          <p:spPr bwMode="auto">
            <a:xfrm>
              <a:off x="3688" y="3021"/>
              <a:ext cx="155" cy="6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0053" name="Line 37"/>
            <p:cNvSpPr>
              <a:spLocks noChangeShapeType="1"/>
            </p:cNvSpPr>
            <p:nvPr/>
          </p:nvSpPr>
          <p:spPr bwMode="auto">
            <a:xfrm flipH="1">
              <a:off x="3562" y="3263"/>
              <a:ext cx="291"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0054" name="Freeform 38"/>
            <p:cNvSpPr>
              <a:spLocks/>
            </p:cNvSpPr>
            <p:nvPr/>
          </p:nvSpPr>
          <p:spPr bwMode="auto">
            <a:xfrm>
              <a:off x="3464" y="3229"/>
              <a:ext cx="156" cy="68"/>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0055" name="Rectangle 39"/>
            <p:cNvSpPr>
              <a:spLocks noChangeArrowheads="1"/>
            </p:cNvSpPr>
            <p:nvPr/>
          </p:nvSpPr>
          <p:spPr bwMode="auto">
            <a:xfrm>
              <a:off x="3853" y="2923"/>
              <a:ext cx="1388" cy="697"/>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0057" name="Line 41"/>
            <p:cNvSpPr>
              <a:spLocks noChangeShapeType="1"/>
            </p:cNvSpPr>
            <p:nvPr/>
          </p:nvSpPr>
          <p:spPr bwMode="auto">
            <a:xfrm>
              <a:off x="4969" y="2579"/>
              <a:ext cx="2" cy="25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0058" name="Freeform 42"/>
            <p:cNvSpPr>
              <a:spLocks/>
            </p:cNvSpPr>
            <p:nvPr/>
          </p:nvSpPr>
          <p:spPr bwMode="auto">
            <a:xfrm>
              <a:off x="4930" y="2779"/>
              <a:ext cx="78" cy="136"/>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0062" name="Rectangle 46"/>
            <p:cNvSpPr>
              <a:spLocks noChangeArrowheads="1"/>
            </p:cNvSpPr>
            <p:nvPr/>
          </p:nvSpPr>
          <p:spPr bwMode="auto">
            <a:xfrm>
              <a:off x="4934" y="2411"/>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a</a:t>
              </a:r>
              <a:endParaRPr lang="en-US" altLang="en-US" sz="3600"/>
            </a:p>
          </p:txBody>
        </p:sp>
        <p:sp>
          <p:nvSpPr>
            <p:cNvPr id="470063" name="Rectangle 47"/>
            <p:cNvSpPr>
              <a:spLocks noChangeArrowheads="1"/>
            </p:cNvSpPr>
            <p:nvPr/>
          </p:nvSpPr>
          <p:spPr bwMode="auto">
            <a:xfrm>
              <a:off x="4513" y="241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s</a:t>
              </a:r>
              <a:endParaRPr lang="en-US" altLang="en-US" sz="3600"/>
            </a:p>
          </p:txBody>
        </p:sp>
        <p:sp>
          <p:nvSpPr>
            <p:cNvPr id="470064" name="Rectangle 48"/>
            <p:cNvSpPr>
              <a:spLocks noChangeArrowheads="1"/>
            </p:cNvSpPr>
            <p:nvPr/>
          </p:nvSpPr>
          <p:spPr bwMode="auto">
            <a:xfrm>
              <a:off x="3357" y="296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c</a:t>
              </a:r>
              <a:endParaRPr lang="en-US" altLang="en-US" sz="3600"/>
            </a:p>
          </p:txBody>
        </p:sp>
        <p:sp>
          <p:nvSpPr>
            <p:cNvPr id="470065" name="Rectangle 49"/>
            <p:cNvSpPr>
              <a:spLocks noChangeArrowheads="1"/>
            </p:cNvSpPr>
            <p:nvPr/>
          </p:nvSpPr>
          <p:spPr bwMode="auto">
            <a:xfrm>
              <a:off x="3348" y="3173"/>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d</a:t>
              </a:r>
              <a:endParaRPr lang="en-US" altLang="en-US" sz="3600"/>
            </a:p>
          </p:txBody>
        </p:sp>
        <p:sp>
          <p:nvSpPr>
            <p:cNvPr id="470066" name="Rectangle 50"/>
            <p:cNvSpPr>
              <a:spLocks noChangeArrowheads="1"/>
            </p:cNvSpPr>
            <p:nvPr/>
          </p:nvSpPr>
          <p:spPr bwMode="auto">
            <a:xfrm>
              <a:off x="4384" y="3033"/>
              <a:ext cx="3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Soda</a:t>
              </a:r>
              <a:endParaRPr lang="en-US" altLang="en-US" sz="3600"/>
            </a:p>
          </p:txBody>
        </p:sp>
        <p:sp>
          <p:nvSpPr>
            <p:cNvPr id="470068" name="Rectangle 52"/>
            <p:cNvSpPr>
              <a:spLocks noChangeArrowheads="1"/>
            </p:cNvSpPr>
            <p:nvPr/>
          </p:nvSpPr>
          <p:spPr bwMode="auto">
            <a:xfrm>
              <a:off x="4233" y="3184"/>
              <a:ext cx="66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dispenser</a:t>
              </a:r>
              <a:endParaRPr lang="en-US" altLang="en-US" sz="3600"/>
            </a:p>
          </p:txBody>
        </p:sp>
        <p:sp>
          <p:nvSpPr>
            <p:cNvPr id="470069" name="Rectangle 53"/>
            <p:cNvSpPr>
              <a:spLocks noChangeArrowheads="1"/>
            </p:cNvSpPr>
            <p:nvPr/>
          </p:nvSpPr>
          <p:spPr bwMode="auto">
            <a:xfrm>
              <a:off x="4233" y="3339"/>
              <a:ext cx="67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processor</a:t>
              </a:r>
              <a:endParaRPr lang="en-US" altLang="en-US" sz="3600"/>
            </a:p>
          </p:txBody>
        </p:sp>
      </p:grpSp>
      <p:grpSp>
        <p:nvGrpSpPr>
          <p:cNvPr id="470087" name="Group 71"/>
          <p:cNvGrpSpPr>
            <a:grpSpLocks/>
          </p:cNvGrpSpPr>
          <p:nvPr/>
        </p:nvGrpSpPr>
        <p:grpSpPr bwMode="auto">
          <a:xfrm>
            <a:off x="4870450" y="3744913"/>
            <a:ext cx="3560763" cy="1060450"/>
            <a:chOff x="3068" y="2359"/>
            <a:chExt cx="2243" cy="668"/>
          </a:xfrm>
        </p:grpSpPr>
        <p:sp>
          <p:nvSpPr>
            <p:cNvPr id="470075" name="Text Box 59"/>
            <p:cNvSpPr txBox="1">
              <a:spLocks noChangeArrowheads="1"/>
            </p:cNvSpPr>
            <p:nvPr/>
          </p:nvSpPr>
          <p:spPr bwMode="auto">
            <a:xfrm>
              <a:off x="5003" y="2359"/>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hlink"/>
                  </a:solidFill>
                </a:rPr>
                <a:t>25</a:t>
              </a:r>
            </a:p>
          </p:txBody>
        </p:sp>
        <p:sp>
          <p:nvSpPr>
            <p:cNvPr id="470077" name="Text Box 61"/>
            <p:cNvSpPr txBox="1">
              <a:spLocks noChangeArrowheads="1"/>
            </p:cNvSpPr>
            <p:nvPr/>
          </p:nvSpPr>
          <p:spPr bwMode="auto">
            <a:xfrm>
              <a:off x="3068" y="2739"/>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hlink"/>
                  </a:solidFill>
                </a:rPr>
                <a:t>1</a:t>
              </a:r>
            </a:p>
          </p:txBody>
        </p:sp>
      </p:grpSp>
      <p:sp>
        <p:nvSpPr>
          <p:cNvPr id="470079" name="Text Box 63"/>
          <p:cNvSpPr txBox="1">
            <a:spLocks noChangeArrowheads="1"/>
          </p:cNvSpPr>
          <p:nvPr/>
        </p:nvSpPr>
        <p:spPr bwMode="auto">
          <a:xfrm>
            <a:off x="5160963" y="43497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0</a:t>
            </a:r>
          </a:p>
        </p:txBody>
      </p:sp>
      <p:grpSp>
        <p:nvGrpSpPr>
          <p:cNvPr id="470089" name="Group 73"/>
          <p:cNvGrpSpPr>
            <a:grpSpLocks/>
          </p:cNvGrpSpPr>
          <p:nvPr/>
        </p:nvGrpSpPr>
        <p:grpSpPr bwMode="auto">
          <a:xfrm>
            <a:off x="5454650" y="4095750"/>
            <a:ext cx="2976563" cy="709613"/>
            <a:chOff x="3436" y="2580"/>
            <a:chExt cx="1875" cy="447"/>
          </a:xfrm>
        </p:grpSpPr>
        <p:sp>
          <p:nvSpPr>
            <p:cNvPr id="470076" name="Text Box 60"/>
            <p:cNvSpPr txBox="1">
              <a:spLocks noChangeArrowheads="1"/>
            </p:cNvSpPr>
            <p:nvPr/>
          </p:nvSpPr>
          <p:spPr bwMode="auto">
            <a:xfrm>
              <a:off x="5003" y="2580"/>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33CC33"/>
                  </a:solidFill>
                </a:rPr>
                <a:t>25</a:t>
              </a:r>
            </a:p>
          </p:txBody>
        </p:sp>
        <p:sp>
          <p:nvSpPr>
            <p:cNvPr id="470080" name="Text Box 64"/>
            <p:cNvSpPr txBox="1">
              <a:spLocks noChangeArrowheads="1"/>
            </p:cNvSpPr>
            <p:nvPr/>
          </p:nvSpPr>
          <p:spPr bwMode="auto">
            <a:xfrm>
              <a:off x="3436" y="2739"/>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33CC33"/>
                  </a:solidFill>
                </a:rPr>
                <a:t>1</a:t>
              </a:r>
            </a:p>
          </p:txBody>
        </p:sp>
      </p:grpSp>
      <p:sp>
        <p:nvSpPr>
          <p:cNvPr id="470082" name="Text Box 66"/>
          <p:cNvSpPr txBox="1">
            <a:spLocks noChangeArrowheads="1"/>
          </p:cNvSpPr>
          <p:nvPr/>
        </p:nvSpPr>
        <p:spPr bwMode="auto">
          <a:xfrm>
            <a:off x="5354638" y="5222875"/>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rgbClr val="33CC33"/>
                </a:solidFill>
              </a:rPr>
              <a:t>1</a:t>
            </a:r>
          </a:p>
        </p:txBody>
      </p:sp>
      <p:grpSp>
        <p:nvGrpSpPr>
          <p:cNvPr id="470086" name="Group 70"/>
          <p:cNvGrpSpPr>
            <a:grpSpLocks/>
          </p:cNvGrpSpPr>
          <p:nvPr/>
        </p:nvGrpSpPr>
        <p:grpSpPr bwMode="auto">
          <a:xfrm>
            <a:off x="4578350" y="4230688"/>
            <a:ext cx="2608263" cy="1471612"/>
            <a:chOff x="2884" y="2665"/>
            <a:chExt cx="1643" cy="927"/>
          </a:xfrm>
        </p:grpSpPr>
        <p:sp>
          <p:nvSpPr>
            <p:cNvPr id="470074" name="Text Box 58"/>
            <p:cNvSpPr txBox="1">
              <a:spLocks noChangeArrowheads="1"/>
            </p:cNvSpPr>
            <p:nvPr/>
          </p:nvSpPr>
          <p:spPr bwMode="auto">
            <a:xfrm>
              <a:off x="4219" y="2665"/>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accent2"/>
                  </a:solidFill>
                </a:rPr>
                <a:t>50</a:t>
              </a:r>
            </a:p>
          </p:txBody>
        </p:sp>
        <p:sp>
          <p:nvSpPr>
            <p:cNvPr id="470078" name="Text Box 62"/>
            <p:cNvSpPr txBox="1">
              <a:spLocks noChangeArrowheads="1"/>
            </p:cNvSpPr>
            <p:nvPr/>
          </p:nvSpPr>
          <p:spPr bwMode="auto">
            <a:xfrm>
              <a:off x="2884" y="275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0</a:t>
              </a:r>
            </a:p>
          </p:txBody>
        </p:sp>
        <p:sp>
          <p:nvSpPr>
            <p:cNvPr id="470083" name="Text Box 67"/>
            <p:cNvSpPr txBox="1">
              <a:spLocks noChangeArrowheads="1"/>
            </p:cNvSpPr>
            <p:nvPr/>
          </p:nvSpPr>
          <p:spPr bwMode="auto">
            <a:xfrm>
              <a:off x="3596" y="3304"/>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0</a:t>
              </a:r>
            </a:p>
          </p:txBody>
        </p:sp>
      </p:grpSp>
      <p:grpSp>
        <p:nvGrpSpPr>
          <p:cNvPr id="470091" name="Group 75"/>
          <p:cNvGrpSpPr>
            <a:grpSpLocks/>
          </p:cNvGrpSpPr>
          <p:nvPr/>
        </p:nvGrpSpPr>
        <p:grpSpPr bwMode="auto">
          <a:xfrm>
            <a:off x="4987925" y="4351338"/>
            <a:ext cx="1154113" cy="1331912"/>
            <a:chOff x="3142" y="2741"/>
            <a:chExt cx="727" cy="839"/>
          </a:xfrm>
        </p:grpSpPr>
        <p:sp>
          <p:nvSpPr>
            <p:cNvPr id="470081" name="Text Box 65"/>
            <p:cNvSpPr txBox="1">
              <a:spLocks noChangeArrowheads="1"/>
            </p:cNvSpPr>
            <p:nvPr/>
          </p:nvSpPr>
          <p:spPr bwMode="auto">
            <a:xfrm>
              <a:off x="3657" y="2741"/>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0</a:t>
              </a:r>
            </a:p>
          </p:txBody>
        </p:sp>
        <p:sp>
          <p:nvSpPr>
            <p:cNvPr id="470084" name="Text Box 68"/>
            <p:cNvSpPr txBox="1">
              <a:spLocks noChangeArrowheads="1"/>
            </p:cNvSpPr>
            <p:nvPr/>
          </p:nvSpPr>
          <p:spPr bwMode="auto">
            <a:xfrm>
              <a:off x="3142" y="3292"/>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0</a:t>
              </a:r>
            </a:p>
          </p:txBody>
        </p:sp>
      </p:grpSp>
      <p:sp>
        <p:nvSpPr>
          <p:cNvPr id="470088" name="Text Box 72"/>
          <p:cNvSpPr txBox="1">
            <a:spLocks noChangeArrowheads="1"/>
          </p:cNvSpPr>
          <p:nvPr/>
        </p:nvSpPr>
        <p:spPr bwMode="auto">
          <a:xfrm>
            <a:off x="7769225" y="4794250"/>
            <a:ext cx="7175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b="1">
                <a:solidFill>
                  <a:schemeClr val="accent1"/>
                </a:solidFill>
              </a:rPr>
              <a:t>tot: </a:t>
            </a:r>
          </a:p>
          <a:p>
            <a:r>
              <a:rPr lang="en-US" altLang="en-US" sz="2400" b="1">
                <a:solidFill>
                  <a:schemeClr val="accent1"/>
                </a:solidFill>
              </a:rPr>
              <a:t>25</a:t>
            </a:r>
          </a:p>
        </p:txBody>
      </p:sp>
      <p:sp>
        <p:nvSpPr>
          <p:cNvPr id="470090" name="Text Box 74"/>
          <p:cNvSpPr txBox="1">
            <a:spLocks noChangeArrowheads="1"/>
          </p:cNvSpPr>
          <p:nvPr/>
        </p:nvSpPr>
        <p:spPr bwMode="auto">
          <a:xfrm>
            <a:off x="7785100" y="4791075"/>
            <a:ext cx="522288" cy="82232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rIns="0">
            <a:spAutoFit/>
          </a:bodyPr>
          <a:lstStyle/>
          <a:p>
            <a:r>
              <a:rPr lang="en-US" altLang="en-US" sz="2400" b="1">
                <a:solidFill>
                  <a:schemeClr val="accent1"/>
                </a:solidFill>
              </a:rPr>
              <a:t>tot: </a:t>
            </a:r>
          </a:p>
          <a:p>
            <a:r>
              <a:rPr lang="en-US" altLang="en-US" sz="2400" b="1">
                <a:solidFill>
                  <a:schemeClr val="accent1"/>
                </a:solidFill>
              </a:rPr>
              <a:t>50</a:t>
            </a:r>
          </a:p>
        </p:txBody>
      </p:sp>
      <p:sp>
        <p:nvSpPr>
          <p:cNvPr id="470092" name="Text Box 76"/>
          <p:cNvSpPr txBox="1">
            <a:spLocks noChangeArrowheads="1"/>
          </p:cNvSpPr>
          <p:nvPr/>
        </p:nvSpPr>
        <p:spPr bwMode="auto">
          <a:xfrm>
            <a:off x="2592388" y="5827713"/>
            <a:ext cx="43116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How can we precisely describe this processor’s behavior?</a:t>
            </a:r>
          </a:p>
        </p:txBody>
      </p:sp>
      <p:sp>
        <p:nvSpPr>
          <p:cNvPr id="470093" name="Text Box 77"/>
          <p:cNvSpPr txBox="1">
            <a:spLocks noChangeArrowheads="1"/>
          </p:cNvSpPr>
          <p:nvPr/>
        </p:nvSpPr>
        <p:spPr bwMode="auto">
          <a:xfrm>
            <a:off x="8448675" y="508952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470112" name="Group 96"/>
          <p:cNvGrpSpPr>
            <a:grpSpLocks/>
          </p:cNvGrpSpPr>
          <p:nvPr/>
        </p:nvGrpSpPr>
        <p:grpSpPr bwMode="auto">
          <a:xfrm>
            <a:off x="5207000" y="1470025"/>
            <a:ext cx="3005138" cy="1919288"/>
            <a:chOff x="3348" y="2411"/>
            <a:chExt cx="1893" cy="1209"/>
          </a:xfrm>
        </p:grpSpPr>
        <p:sp>
          <p:nvSpPr>
            <p:cNvPr id="470113" name="Line 97"/>
            <p:cNvSpPr>
              <a:spLocks noChangeShapeType="1"/>
            </p:cNvSpPr>
            <p:nvPr/>
          </p:nvSpPr>
          <p:spPr bwMode="auto">
            <a:xfrm>
              <a:off x="4542" y="2579"/>
              <a:ext cx="2" cy="25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0114" name="Freeform 98"/>
            <p:cNvSpPr>
              <a:spLocks/>
            </p:cNvSpPr>
            <p:nvPr/>
          </p:nvSpPr>
          <p:spPr bwMode="auto">
            <a:xfrm>
              <a:off x="4503" y="2779"/>
              <a:ext cx="78" cy="136"/>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0115" name="Line 99"/>
            <p:cNvSpPr>
              <a:spLocks noChangeShapeType="1"/>
            </p:cNvSpPr>
            <p:nvPr/>
          </p:nvSpPr>
          <p:spPr bwMode="auto">
            <a:xfrm>
              <a:off x="3460" y="3055"/>
              <a:ext cx="28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0116" name="Freeform 100"/>
            <p:cNvSpPr>
              <a:spLocks/>
            </p:cNvSpPr>
            <p:nvPr/>
          </p:nvSpPr>
          <p:spPr bwMode="auto">
            <a:xfrm>
              <a:off x="3688" y="3021"/>
              <a:ext cx="155" cy="6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0117" name="Line 101"/>
            <p:cNvSpPr>
              <a:spLocks noChangeShapeType="1"/>
            </p:cNvSpPr>
            <p:nvPr/>
          </p:nvSpPr>
          <p:spPr bwMode="auto">
            <a:xfrm flipH="1">
              <a:off x="3562" y="3263"/>
              <a:ext cx="291"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0118" name="Freeform 102"/>
            <p:cNvSpPr>
              <a:spLocks/>
            </p:cNvSpPr>
            <p:nvPr/>
          </p:nvSpPr>
          <p:spPr bwMode="auto">
            <a:xfrm>
              <a:off x="3464" y="3229"/>
              <a:ext cx="156" cy="68"/>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0119" name="Rectangle 103"/>
            <p:cNvSpPr>
              <a:spLocks noChangeArrowheads="1"/>
            </p:cNvSpPr>
            <p:nvPr/>
          </p:nvSpPr>
          <p:spPr bwMode="auto">
            <a:xfrm>
              <a:off x="3853" y="2923"/>
              <a:ext cx="1388" cy="697"/>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0120" name="Line 104"/>
            <p:cNvSpPr>
              <a:spLocks noChangeShapeType="1"/>
            </p:cNvSpPr>
            <p:nvPr/>
          </p:nvSpPr>
          <p:spPr bwMode="auto">
            <a:xfrm>
              <a:off x="4969" y="2579"/>
              <a:ext cx="2" cy="25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0121" name="Freeform 105"/>
            <p:cNvSpPr>
              <a:spLocks/>
            </p:cNvSpPr>
            <p:nvPr/>
          </p:nvSpPr>
          <p:spPr bwMode="auto">
            <a:xfrm>
              <a:off x="4930" y="2779"/>
              <a:ext cx="78" cy="136"/>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0122" name="Rectangle 106"/>
            <p:cNvSpPr>
              <a:spLocks noChangeArrowheads="1"/>
            </p:cNvSpPr>
            <p:nvPr/>
          </p:nvSpPr>
          <p:spPr bwMode="auto">
            <a:xfrm>
              <a:off x="4934" y="2411"/>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a</a:t>
              </a:r>
              <a:endParaRPr lang="en-US" altLang="en-US" sz="3600"/>
            </a:p>
          </p:txBody>
        </p:sp>
        <p:sp>
          <p:nvSpPr>
            <p:cNvPr id="470123" name="Rectangle 107"/>
            <p:cNvSpPr>
              <a:spLocks noChangeArrowheads="1"/>
            </p:cNvSpPr>
            <p:nvPr/>
          </p:nvSpPr>
          <p:spPr bwMode="auto">
            <a:xfrm>
              <a:off x="4513" y="2411"/>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s</a:t>
              </a:r>
              <a:endParaRPr lang="en-US" altLang="en-US" sz="3600"/>
            </a:p>
          </p:txBody>
        </p:sp>
        <p:sp>
          <p:nvSpPr>
            <p:cNvPr id="470124" name="Rectangle 108"/>
            <p:cNvSpPr>
              <a:spLocks noChangeArrowheads="1"/>
            </p:cNvSpPr>
            <p:nvPr/>
          </p:nvSpPr>
          <p:spPr bwMode="auto">
            <a:xfrm>
              <a:off x="3357" y="2969"/>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c</a:t>
              </a:r>
              <a:endParaRPr lang="en-US" altLang="en-US" sz="3600"/>
            </a:p>
          </p:txBody>
        </p:sp>
        <p:sp>
          <p:nvSpPr>
            <p:cNvPr id="470125" name="Rectangle 109"/>
            <p:cNvSpPr>
              <a:spLocks noChangeArrowheads="1"/>
            </p:cNvSpPr>
            <p:nvPr/>
          </p:nvSpPr>
          <p:spPr bwMode="auto">
            <a:xfrm>
              <a:off x="3348" y="3173"/>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d</a:t>
              </a:r>
              <a:endParaRPr lang="en-US" altLang="en-US" sz="3600"/>
            </a:p>
          </p:txBody>
        </p:sp>
        <p:sp>
          <p:nvSpPr>
            <p:cNvPr id="470126" name="Rectangle 110"/>
            <p:cNvSpPr>
              <a:spLocks noChangeArrowheads="1"/>
            </p:cNvSpPr>
            <p:nvPr/>
          </p:nvSpPr>
          <p:spPr bwMode="auto">
            <a:xfrm>
              <a:off x="4384" y="3033"/>
              <a:ext cx="35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Soda</a:t>
              </a:r>
              <a:endParaRPr lang="en-US" altLang="en-US" sz="3600"/>
            </a:p>
          </p:txBody>
        </p:sp>
        <p:sp>
          <p:nvSpPr>
            <p:cNvPr id="470127" name="Rectangle 111"/>
            <p:cNvSpPr>
              <a:spLocks noChangeArrowheads="1"/>
            </p:cNvSpPr>
            <p:nvPr/>
          </p:nvSpPr>
          <p:spPr bwMode="auto">
            <a:xfrm>
              <a:off x="4233" y="3184"/>
              <a:ext cx="662"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dispenser</a:t>
              </a:r>
              <a:endParaRPr lang="en-US" altLang="en-US" sz="3600"/>
            </a:p>
          </p:txBody>
        </p:sp>
        <p:sp>
          <p:nvSpPr>
            <p:cNvPr id="470128" name="Rectangle 112"/>
            <p:cNvSpPr>
              <a:spLocks noChangeArrowheads="1"/>
            </p:cNvSpPr>
            <p:nvPr/>
          </p:nvSpPr>
          <p:spPr bwMode="auto">
            <a:xfrm>
              <a:off x="4233" y="3339"/>
              <a:ext cx="670"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processor</a:t>
              </a:r>
              <a:endParaRPr lang="en-US" altLang="en-US" sz="36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7009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470086"/>
                                        </p:tgtEl>
                                        <p:attrNameLst>
                                          <p:attrName>style.visibility</p:attrName>
                                        </p:attrNameLst>
                                      </p:cBhvr>
                                      <p:to>
                                        <p:strVal val="visible"/>
                                      </p:to>
                                    </p:set>
                                    <p:animEffect transition="in" filter="dissolve">
                                      <p:cBhvr>
                                        <p:cTn id="11" dur="500"/>
                                        <p:tgtEl>
                                          <p:spTgt spid="47008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470087"/>
                                        </p:tgtEl>
                                        <p:attrNameLst>
                                          <p:attrName>style.visibility</p:attrName>
                                        </p:attrNameLst>
                                      </p:cBhvr>
                                      <p:to>
                                        <p:strVal val="visible"/>
                                      </p:to>
                                    </p:set>
                                    <p:animEffect transition="in" filter="dissolve">
                                      <p:cBhvr>
                                        <p:cTn id="16" dur="500"/>
                                        <p:tgtEl>
                                          <p:spTgt spid="47008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470088"/>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470079"/>
                                        </p:tgtEl>
                                        <p:attrNameLst>
                                          <p:attrName>style.visibility</p:attrName>
                                        </p:attrNameLst>
                                      </p:cBhvr>
                                      <p:to>
                                        <p:strVal val="visible"/>
                                      </p:to>
                                    </p:set>
                                    <p:animEffect transition="in" filter="dissolve">
                                      <p:cBhvr>
                                        <p:cTn id="25" dur="500"/>
                                        <p:tgtEl>
                                          <p:spTgt spid="47007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470089"/>
                                        </p:tgtEl>
                                        <p:attrNameLst>
                                          <p:attrName>style.visibility</p:attrName>
                                        </p:attrNameLst>
                                      </p:cBhvr>
                                      <p:to>
                                        <p:strVal val="visible"/>
                                      </p:to>
                                    </p:set>
                                    <p:animEffect transition="in" filter="dissolve">
                                      <p:cBhvr>
                                        <p:cTn id="30" dur="500"/>
                                        <p:tgtEl>
                                          <p:spTgt spid="470089"/>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9" presetClass="entr" presetSubtype="0" fill="hold" grpId="0" nodeType="clickEffect">
                                  <p:stCondLst>
                                    <p:cond delay="0"/>
                                  </p:stCondLst>
                                  <p:childTnLst>
                                    <p:set>
                                      <p:cBhvr>
                                        <p:cTn id="34" dur="1" fill="hold">
                                          <p:stCondLst>
                                            <p:cond delay="0"/>
                                          </p:stCondLst>
                                        </p:cTn>
                                        <p:tgtEl>
                                          <p:spTgt spid="470090"/>
                                        </p:tgtEl>
                                        <p:attrNameLst>
                                          <p:attrName>style.visibility</p:attrName>
                                        </p:attrNameLst>
                                      </p:cBhvr>
                                      <p:to>
                                        <p:strVal val="visible"/>
                                      </p:to>
                                    </p:set>
                                    <p:animEffect transition="in" filter="dissolve">
                                      <p:cBhvr>
                                        <p:cTn id="35" dur="500"/>
                                        <p:tgtEl>
                                          <p:spTgt spid="47009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470082"/>
                                        </p:tgtEl>
                                        <p:attrNameLst>
                                          <p:attrName>style.visibility</p:attrName>
                                        </p:attrNameLst>
                                      </p:cBhvr>
                                      <p:to>
                                        <p:strVal val="visible"/>
                                      </p:to>
                                    </p:set>
                                    <p:animEffect transition="in" filter="dissolve">
                                      <p:cBhvr>
                                        <p:cTn id="40" dur="500"/>
                                        <p:tgtEl>
                                          <p:spTgt spid="47008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9" presetClass="entr" presetSubtype="0" fill="hold" nodeType="clickEffect">
                                  <p:stCondLst>
                                    <p:cond delay="0"/>
                                  </p:stCondLst>
                                  <p:childTnLst>
                                    <p:set>
                                      <p:cBhvr>
                                        <p:cTn id="44" dur="1" fill="hold">
                                          <p:stCondLst>
                                            <p:cond delay="0"/>
                                          </p:stCondLst>
                                        </p:cTn>
                                        <p:tgtEl>
                                          <p:spTgt spid="470091"/>
                                        </p:tgtEl>
                                        <p:attrNameLst>
                                          <p:attrName>style.visibility</p:attrName>
                                        </p:attrNameLst>
                                      </p:cBhvr>
                                      <p:to>
                                        <p:strVal val="visible"/>
                                      </p:to>
                                    </p:set>
                                    <p:animEffect transition="in" filter="dissolve">
                                      <p:cBhvr>
                                        <p:cTn id="45" dur="500"/>
                                        <p:tgtEl>
                                          <p:spTgt spid="470091"/>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470092"/>
                                        </p:tgtEl>
                                        <p:attrNameLst>
                                          <p:attrName>style.visibility</p:attrName>
                                        </p:attrNameLst>
                                      </p:cBhvr>
                                      <p:to>
                                        <p:strVal val="visible"/>
                                      </p:to>
                                    </p:set>
                                    <p:anim calcmode="lin" valueType="num">
                                      <p:cBhvr additive="base">
                                        <p:cTn id="50" dur="500" fill="hold"/>
                                        <p:tgtEl>
                                          <p:spTgt spid="470092"/>
                                        </p:tgtEl>
                                        <p:attrNameLst>
                                          <p:attrName>ppt_x</p:attrName>
                                        </p:attrNameLst>
                                      </p:cBhvr>
                                      <p:tavLst>
                                        <p:tav tm="0">
                                          <p:val>
                                            <p:strVal val="#ppt_x"/>
                                          </p:val>
                                        </p:tav>
                                        <p:tav tm="100000">
                                          <p:val>
                                            <p:strVal val="#ppt_x"/>
                                          </p:val>
                                        </p:tav>
                                      </p:tavLst>
                                    </p:anim>
                                    <p:anim calcmode="lin" valueType="num">
                                      <p:cBhvr additive="base">
                                        <p:cTn id="51" dur="500" fill="hold"/>
                                        <p:tgtEl>
                                          <p:spTgt spid="4700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79" grpId="0" autoUpdateAnimBg="0"/>
      <p:bldP spid="470082" grpId="0" autoUpdateAnimBg="0"/>
      <p:bldP spid="470088" grpId="0" autoUpdateAnimBg="0"/>
      <p:bldP spid="470090" grpId="0" animBg="1" autoUpdateAnimBg="0"/>
      <p:bldP spid="470092"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Slide Number Placeholder 3"/>
          <p:cNvSpPr>
            <a:spLocks noGrp="1"/>
          </p:cNvSpPr>
          <p:nvPr>
            <p:ph type="sldNum" sz="quarter" idx="10"/>
          </p:nvPr>
        </p:nvSpPr>
        <p:spPr/>
        <p:txBody>
          <a:bodyPr/>
          <a:lstStyle/>
          <a:p>
            <a:fld id="{61769D40-047C-43E0-8F51-D1E162EDDEC7}" type="slidenum">
              <a:rPr lang="en-US" altLang="en-US"/>
              <a:pPr/>
              <a:t>6</a:t>
            </a:fld>
            <a:endParaRPr lang="en-US" altLang="en-US"/>
          </a:p>
        </p:txBody>
      </p:sp>
      <p:sp>
        <p:nvSpPr>
          <p:cNvPr id="473090" name="Rectangle 2"/>
          <p:cNvSpPr>
            <a:spLocks noGrp="1" noChangeArrowheads="1"/>
          </p:cNvSpPr>
          <p:nvPr>
            <p:ph type="title"/>
          </p:nvPr>
        </p:nvSpPr>
        <p:spPr/>
        <p:txBody>
          <a:bodyPr/>
          <a:lstStyle/>
          <a:p>
            <a:r>
              <a:rPr lang="en-US" altLang="en-US"/>
              <a:t>Preview Example: </a:t>
            </a:r>
            <a:r>
              <a:rPr lang="en-US" altLang="en-US" sz="3200"/>
              <a:t>Step 1 --</a:t>
            </a:r>
            <a:br>
              <a:rPr lang="en-US" altLang="en-US" sz="3200"/>
            </a:br>
            <a:r>
              <a:rPr lang="en-US" altLang="en-US" sz="3200"/>
              <a:t>Capture High-Level State Machine</a:t>
            </a:r>
          </a:p>
        </p:txBody>
      </p:sp>
      <p:sp>
        <p:nvSpPr>
          <p:cNvPr id="473091" name="Rectangle 3"/>
          <p:cNvSpPr>
            <a:spLocks noGrp="1" noChangeArrowheads="1"/>
          </p:cNvSpPr>
          <p:nvPr>
            <p:ph type="body" idx="1"/>
          </p:nvPr>
        </p:nvSpPr>
        <p:spPr>
          <a:xfrm>
            <a:off x="228600" y="1219200"/>
            <a:ext cx="4252913" cy="4876800"/>
          </a:xfrm>
        </p:spPr>
        <p:txBody>
          <a:bodyPr/>
          <a:lstStyle/>
          <a:p>
            <a:r>
              <a:rPr lang="en-US" altLang="en-US" sz="2000"/>
              <a:t>Declare local register </a:t>
            </a:r>
            <a:r>
              <a:rPr lang="en-US" altLang="en-US" sz="2000" i="1"/>
              <a:t>tot</a:t>
            </a:r>
          </a:p>
          <a:p>
            <a:r>
              <a:rPr lang="en-US" altLang="en-US" sz="2000" b="1"/>
              <a:t>Init</a:t>
            </a:r>
            <a:r>
              <a:rPr lang="en-US" altLang="en-US" sz="2000"/>
              <a:t> state: Set d=0, tot=0</a:t>
            </a:r>
          </a:p>
          <a:p>
            <a:r>
              <a:rPr lang="en-US" altLang="en-US" sz="2000" b="1"/>
              <a:t>Wait</a:t>
            </a:r>
            <a:r>
              <a:rPr lang="en-US" altLang="en-US" sz="2000"/>
              <a:t> state: wait for coin</a:t>
            </a:r>
          </a:p>
          <a:p>
            <a:pPr lvl="1"/>
            <a:r>
              <a:rPr lang="en-US" altLang="en-US" sz="1800"/>
              <a:t>If see coin, go to </a:t>
            </a:r>
            <a:r>
              <a:rPr lang="en-US" altLang="en-US" sz="1800" b="1"/>
              <a:t>Add</a:t>
            </a:r>
            <a:r>
              <a:rPr lang="en-US" altLang="en-US" sz="1800"/>
              <a:t> state</a:t>
            </a:r>
          </a:p>
          <a:p>
            <a:r>
              <a:rPr lang="en-US" altLang="en-US" sz="2000" b="1"/>
              <a:t>Add</a:t>
            </a:r>
            <a:r>
              <a:rPr lang="en-US" altLang="en-US" sz="2000"/>
              <a:t> state: Update total value:  tot = tot + a</a:t>
            </a:r>
          </a:p>
          <a:p>
            <a:pPr lvl="1"/>
            <a:r>
              <a:rPr lang="en-US" altLang="en-US" sz="1800"/>
              <a:t>Remember, </a:t>
            </a:r>
            <a:r>
              <a:rPr lang="en-US" altLang="en-US" sz="1800" i="1"/>
              <a:t>a</a:t>
            </a:r>
            <a:r>
              <a:rPr lang="en-US" altLang="en-US" sz="1800"/>
              <a:t> is present coin’s value</a:t>
            </a:r>
          </a:p>
          <a:p>
            <a:pPr lvl="1"/>
            <a:r>
              <a:rPr lang="en-US" altLang="en-US" sz="1800"/>
              <a:t>Go back to </a:t>
            </a:r>
            <a:r>
              <a:rPr lang="en-US" altLang="en-US" sz="1800" b="1"/>
              <a:t>Wait</a:t>
            </a:r>
            <a:r>
              <a:rPr lang="en-US" altLang="en-US" sz="1800"/>
              <a:t> state</a:t>
            </a:r>
          </a:p>
          <a:p>
            <a:r>
              <a:rPr lang="en-US" altLang="en-US" sz="2000"/>
              <a:t>In </a:t>
            </a:r>
            <a:r>
              <a:rPr lang="en-US" altLang="en-US" sz="2000" b="1"/>
              <a:t>Wait</a:t>
            </a:r>
            <a:r>
              <a:rPr lang="en-US" altLang="en-US" sz="2000"/>
              <a:t> state, if tot &gt;= s, go to </a:t>
            </a:r>
            <a:r>
              <a:rPr lang="en-US" altLang="en-US" sz="2000" b="1"/>
              <a:t>Disp</a:t>
            </a:r>
            <a:r>
              <a:rPr lang="en-US" altLang="en-US" sz="2000"/>
              <a:t>(ense) state</a:t>
            </a:r>
          </a:p>
          <a:p>
            <a:r>
              <a:rPr lang="en-US" altLang="en-US" sz="2000" b="1"/>
              <a:t>Disp</a:t>
            </a:r>
            <a:r>
              <a:rPr lang="en-US" altLang="en-US" sz="2000"/>
              <a:t> state: Set d=1 (dispense soda)</a:t>
            </a:r>
          </a:p>
          <a:p>
            <a:pPr lvl="1"/>
            <a:r>
              <a:rPr lang="en-US" altLang="en-US" sz="1800"/>
              <a:t>Return to </a:t>
            </a:r>
            <a:r>
              <a:rPr lang="en-US" altLang="en-US" sz="1800" b="1"/>
              <a:t>Init</a:t>
            </a:r>
            <a:r>
              <a:rPr lang="en-US" altLang="en-US" sz="1800"/>
              <a:t> state</a:t>
            </a:r>
          </a:p>
        </p:txBody>
      </p:sp>
      <p:grpSp>
        <p:nvGrpSpPr>
          <p:cNvPr id="473199" name="Group 111"/>
          <p:cNvGrpSpPr>
            <a:grpSpLocks/>
          </p:cNvGrpSpPr>
          <p:nvPr/>
        </p:nvGrpSpPr>
        <p:grpSpPr bwMode="auto">
          <a:xfrm>
            <a:off x="4824413" y="2509838"/>
            <a:ext cx="3919537" cy="3560762"/>
            <a:chOff x="3039" y="1581"/>
            <a:chExt cx="2469" cy="2243"/>
          </a:xfrm>
        </p:grpSpPr>
        <p:sp>
          <p:nvSpPr>
            <p:cNvPr id="473092" name="Line 4"/>
            <p:cNvSpPr>
              <a:spLocks noChangeShapeType="1"/>
            </p:cNvSpPr>
            <p:nvPr/>
          </p:nvSpPr>
          <p:spPr bwMode="auto">
            <a:xfrm flipH="1">
              <a:off x="4654" y="2588"/>
              <a:ext cx="341" cy="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3093" name="Freeform 5"/>
            <p:cNvSpPr>
              <a:spLocks/>
            </p:cNvSpPr>
            <p:nvPr/>
          </p:nvSpPr>
          <p:spPr bwMode="auto">
            <a:xfrm>
              <a:off x="4535" y="2550"/>
              <a:ext cx="135" cy="77"/>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094" name="Freeform 6"/>
            <p:cNvSpPr>
              <a:spLocks/>
            </p:cNvSpPr>
            <p:nvPr/>
          </p:nvSpPr>
          <p:spPr bwMode="auto">
            <a:xfrm>
              <a:off x="4442" y="2879"/>
              <a:ext cx="127" cy="122"/>
            </a:xfrm>
            <a:custGeom>
              <a:avLst/>
              <a:gdLst>
                <a:gd name="T0" fmla="*/ 0 w 94"/>
                <a:gd name="T1" fmla="*/ 0 h 79"/>
                <a:gd name="T2" fmla="*/ 66 w 94"/>
                <a:gd name="T3" fmla="*/ 79 h 79"/>
                <a:gd name="T4" fmla="*/ 94 w 94"/>
                <a:gd name="T5" fmla="*/ 38 h 79"/>
                <a:gd name="T6" fmla="*/ 0 w 94"/>
                <a:gd name="T7" fmla="*/ 0 h 79"/>
              </a:gdLst>
              <a:ahLst/>
              <a:cxnLst>
                <a:cxn ang="0">
                  <a:pos x="T0" y="T1"/>
                </a:cxn>
                <a:cxn ang="0">
                  <a:pos x="T2" y="T3"/>
                </a:cxn>
                <a:cxn ang="0">
                  <a:pos x="T4" y="T5"/>
                </a:cxn>
                <a:cxn ang="0">
                  <a:pos x="T6" y="T7"/>
                </a:cxn>
              </a:cxnLst>
              <a:rect l="0" t="0" r="r" b="b"/>
              <a:pathLst>
                <a:path w="94" h="79">
                  <a:moveTo>
                    <a:pt x="0" y="0"/>
                  </a:moveTo>
                  <a:lnTo>
                    <a:pt x="66" y="79"/>
                  </a:lnTo>
                  <a:lnTo>
                    <a:pt x="94" y="3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095" name="Freeform 7"/>
            <p:cNvSpPr>
              <a:spLocks/>
            </p:cNvSpPr>
            <p:nvPr/>
          </p:nvSpPr>
          <p:spPr bwMode="auto">
            <a:xfrm>
              <a:off x="3360" y="2351"/>
              <a:ext cx="135" cy="101"/>
            </a:xfrm>
            <a:custGeom>
              <a:avLst/>
              <a:gdLst>
                <a:gd name="T0" fmla="*/ 100 w 100"/>
                <a:gd name="T1" fmla="*/ 65 h 65"/>
                <a:gd name="T2" fmla="*/ 22 w 100"/>
                <a:gd name="T3" fmla="*/ 0 h 65"/>
                <a:gd name="T4" fmla="*/ 0 w 100"/>
                <a:gd name="T5" fmla="*/ 44 h 65"/>
                <a:gd name="T6" fmla="*/ 100 w 100"/>
                <a:gd name="T7" fmla="*/ 65 h 65"/>
              </a:gdLst>
              <a:ahLst/>
              <a:cxnLst>
                <a:cxn ang="0">
                  <a:pos x="T0" y="T1"/>
                </a:cxn>
                <a:cxn ang="0">
                  <a:pos x="T2" y="T3"/>
                </a:cxn>
                <a:cxn ang="0">
                  <a:pos x="T4" y="T5"/>
                </a:cxn>
                <a:cxn ang="0">
                  <a:pos x="T6" y="T7"/>
                </a:cxn>
              </a:cxnLst>
              <a:rect l="0" t="0" r="r" b="b"/>
              <a:pathLst>
                <a:path w="100" h="65">
                  <a:moveTo>
                    <a:pt x="100" y="65"/>
                  </a:moveTo>
                  <a:lnTo>
                    <a:pt x="22" y="0"/>
                  </a:lnTo>
                  <a:lnTo>
                    <a:pt x="0" y="44"/>
                  </a:lnTo>
                  <a:lnTo>
                    <a:pt x="10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096" name="Freeform 8"/>
            <p:cNvSpPr>
              <a:spLocks/>
            </p:cNvSpPr>
            <p:nvPr/>
          </p:nvSpPr>
          <p:spPr bwMode="auto">
            <a:xfrm>
              <a:off x="3978" y="2404"/>
              <a:ext cx="141" cy="93"/>
            </a:xfrm>
            <a:custGeom>
              <a:avLst/>
              <a:gdLst>
                <a:gd name="T0" fmla="*/ 104 w 104"/>
                <a:gd name="T1" fmla="*/ 60 h 60"/>
                <a:gd name="T2" fmla="*/ 19 w 104"/>
                <a:gd name="T3" fmla="*/ 0 h 60"/>
                <a:gd name="T4" fmla="*/ 0 w 104"/>
                <a:gd name="T5" fmla="*/ 47 h 60"/>
                <a:gd name="T6" fmla="*/ 104 w 104"/>
                <a:gd name="T7" fmla="*/ 60 h 60"/>
              </a:gdLst>
              <a:ahLst/>
              <a:cxnLst>
                <a:cxn ang="0">
                  <a:pos x="T0" y="T1"/>
                </a:cxn>
                <a:cxn ang="0">
                  <a:pos x="T2" y="T3"/>
                </a:cxn>
                <a:cxn ang="0">
                  <a:pos x="T4" y="T5"/>
                </a:cxn>
                <a:cxn ang="0">
                  <a:pos x="T6" y="T7"/>
                </a:cxn>
              </a:cxnLst>
              <a:rect l="0" t="0" r="r" b="b"/>
              <a:pathLst>
                <a:path w="104" h="60">
                  <a:moveTo>
                    <a:pt x="104" y="60"/>
                  </a:moveTo>
                  <a:lnTo>
                    <a:pt x="19" y="0"/>
                  </a:lnTo>
                  <a:lnTo>
                    <a:pt x="0" y="47"/>
                  </a:lnTo>
                  <a:lnTo>
                    <a:pt x="104"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097" name="Rectangle 9"/>
            <p:cNvSpPr>
              <a:spLocks noChangeArrowheads="1"/>
            </p:cNvSpPr>
            <p:nvPr/>
          </p:nvSpPr>
          <p:spPr bwMode="auto">
            <a:xfrm>
              <a:off x="3092" y="1581"/>
              <a:ext cx="199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c (bit), a (8 bits), s (8 bits)</a:t>
              </a:r>
              <a:endParaRPr lang="en-US" altLang="en-US" sz="3200"/>
            </a:p>
          </p:txBody>
        </p:sp>
        <p:sp>
          <p:nvSpPr>
            <p:cNvPr id="473106" name="Rectangle 18"/>
            <p:cNvSpPr>
              <a:spLocks noChangeArrowheads="1"/>
            </p:cNvSpPr>
            <p:nvPr/>
          </p:nvSpPr>
          <p:spPr bwMode="auto">
            <a:xfrm>
              <a:off x="3092" y="1753"/>
              <a:ext cx="90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d (bit)</a:t>
              </a:r>
              <a:endParaRPr lang="en-US" altLang="en-US" sz="3200"/>
            </a:p>
          </p:txBody>
        </p:sp>
        <p:sp>
          <p:nvSpPr>
            <p:cNvPr id="473110" name="Rectangle 22"/>
            <p:cNvSpPr>
              <a:spLocks noChangeArrowheads="1"/>
            </p:cNvSpPr>
            <p:nvPr/>
          </p:nvSpPr>
          <p:spPr bwMode="auto">
            <a:xfrm>
              <a:off x="3092" y="1930"/>
              <a:ext cx="15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Local registers: tot (8 bits)</a:t>
              </a:r>
              <a:endParaRPr lang="en-US" altLang="en-US" sz="3200"/>
            </a:p>
          </p:txBody>
        </p:sp>
        <p:sp>
          <p:nvSpPr>
            <p:cNvPr id="473121" name="Freeform 33"/>
            <p:cNvSpPr>
              <a:spLocks/>
            </p:cNvSpPr>
            <p:nvPr/>
          </p:nvSpPr>
          <p:spPr bwMode="auto">
            <a:xfrm>
              <a:off x="3681" y="2331"/>
              <a:ext cx="404" cy="175"/>
            </a:xfrm>
            <a:custGeom>
              <a:avLst/>
              <a:gdLst>
                <a:gd name="T0" fmla="*/ 0 w 96"/>
                <a:gd name="T1" fmla="*/ 36 h 36"/>
                <a:gd name="T2" fmla="*/ 96 w 96"/>
                <a:gd name="T3" fmla="*/ 30 h 36"/>
              </a:gdLst>
              <a:ahLst/>
              <a:cxnLst>
                <a:cxn ang="0">
                  <a:pos x="T0" y="T1"/>
                </a:cxn>
                <a:cxn ang="0">
                  <a:pos x="T2" y="T3"/>
                </a:cxn>
              </a:cxnLst>
              <a:rect l="0" t="0" r="r" b="b"/>
              <a:pathLst>
                <a:path w="96" h="36">
                  <a:moveTo>
                    <a:pt x="0" y="36"/>
                  </a:moveTo>
                  <a:cubicBezTo>
                    <a:pt x="0" y="36"/>
                    <a:pt x="29" y="0"/>
                    <a:pt x="96" y="3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22" name="Freeform 34"/>
            <p:cNvSpPr>
              <a:spLocks/>
            </p:cNvSpPr>
            <p:nvPr/>
          </p:nvSpPr>
          <p:spPr bwMode="auto">
            <a:xfrm>
              <a:off x="4805" y="2404"/>
              <a:ext cx="138" cy="93"/>
            </a:xfrm>
            <a:custGeom>
              <a:avLst/>
              <a:gdLst>
                <a:gd name="T0" fmla="*/ 103 w 103"/>
                <a:gd name="T1" fmla="*/ 60 h 60"/>
                <a:gd name="T2" fmla="*/ 19 w 103"/>
                <a:gd name="T3" fmla="*/ 0 h 60"/>
                <a:gd name="T4" fmla="*/ 0 w 103"/>
                <a:gd name="T5" fmla="*/ 47 h 60"/>
                <a:gd name="T6" fmla="*/ 103 w 103"/>
                <a:gd name="T7" fmla="*/ 60 h 60"/>
              </a:gdLst>
              <a:ahLst/>
              <a:cxnLst>
                <a:cxn ang="0">
                  <a:pos x="T0" y="T1"/>
                </a:cxn>
                <a:cxn ang="0">
                  <a:pos x="T2" y="T3"/>
                </a:cxn>
                <a:cxn ang="0">
                  <a:pos x="T4" y="T5"/>
                </a:cxn>
                <a:cxn ang="0">
                  <a:pos x="T6" y="T7"/>
                </a:cxn>
              </a:cxnLst>
              <a:rect l="0" t="0" r="r" b="b"/>
              <a:pathLst>
                <a:path w="103" h="60">
                  <a:moveTo>
                    <a:pt x="103" y="60"/>
                  </a:moveTo>
                  <a:lnTo>
                    <a:pt x="19" y="0"/>
                  </a:lnTo>
                  <a:lnTo>
                    <a:pt x="0" y="47"/>
                  </a:lnTo>
                  <a:lnTo>
                    <a:pt x="103"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123" name="Freeform 35"/>
            <p:cNvSpPr>
              <a:spLocks/>
            </p:cNvSpPr>
            <p:nvPr/>
          </p:nvSpPr>
          <p:spPr bwMode="auto">
            <a:xfrm>
              <a:off x="4650" y="3306"/>
              <a:ext cx="138" cy="83"/>
            </a:xfrm>
            <a:custGeom>
              <a:avLst/>
              <a:gdLst>
                <a:gd name="T0" fmla="*/ 103 w 103"/>
                <a:gd name="T1" fmla="*/ 54 h 54"/>
                <a:gd name="T2" fmla="*/ 15 w 103"/>
                <a:gd name="T3" fmla="*/ 0 h 54"/>
                <a:gd name="T4" fmla="*/ 0 w 103"/>
                <a:gd name="T5" fmla="*/ 50 h 54"/>
                <a:gd name="T6" fmla="*/ 103 w 103"/>
                <a:gd name="T7" fmla="*/ 54 h 54"/>
              </a:gdLst>
              <a:ahLst/>
              <a:cxnLst>
                <a:cxn ang="0">
                  <a:pos x="T0" y="T1"/>
                </a:cxn>
                <a:cxn ang="0">
                  <a:pos x="T2" y="T3"/>
                </a:cxn>
                <a:cxn ang="0">
                  <a:pos x="T4" y="T5"/>
                </a:cxn>
                <a:cxn ang="0">
                  <a:pos x="T6" y="T7"/>
                </a:cxn>
              </a:cxnLst>
              <a:rect l="0" t="0" r="r" b="b"/>
              <a:pathLst>
                <a:path w="103" h="54">
                  <a:moveTo>
                    <a:pt x="103" y="54"/>
                  </a:moveTo>
                  <a:lnTo>
                    <a:pt x="15" y="0"/>
                  </a:lnTo>
                  <a:lnTo>
                    <a:pt x="0" y="50"/>
                  </a:lnTo>
                  <a:lnTo>
                    <a:pt x="103"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124" name="Freeform 36"/>
            <p:cNvSpPr>
              <a:spLocks/>
            </p:cNvSpPr>
            <p:nvPr/>
          </p:nvSpPr>
          <p:spPr bwMode="auto">
            <a:xfrm>
              <a:off x="3689" y="2879"/>
              <a:ext cx="105" cy="150"/>
            </a:xfrm>
            <a:custGeom>
              <a:avLst/>
              <a:gdLst>
                <a:gd name="T0" fmla="*/ 0 w 78"/>
                <a:gd name="T1" fmla="*/ 0 h 97"/>
                <a:gd name="T2" fmla="*/ 34 w 78"/>
                <a:gd name="T3" fmla="*/ 97 h 97"/>
                <a:gd name="T4" fmla="*/ 78 w 78"/>
                <a:gd name="T5" fmla="*/ 66 h 97"/>
                <a:gd name="T6" fmla="*/ 0 w 78"/>
                <a:gd name="T7" fmla="*/ 0 h 97"/>
              </a:gdLst>
              <a:ahLst/>
              <a:cxnLst>
                <a:cxn ang="0">
                  <a:pos x="T0" y="T1"/>
                </a:cxn>
                <a:cxn ang="0">
                  <a:pos x="T2" y="T3"/>
                </a:cxn>
                <a:cxn ang="0">
                  <a:pos x="T4" y="T5"/>
                </a:cxn>
                <a:cxn ang="0">
                  <a:pos x="T6" y="T7"/>
                </a:cxn>
              </a:cxnLst>
              <a:rect l="0" t="0" r="r" b="b"/>
              <a:pathLst>
                <a:path w="78" h="97">
                  <a:moveTo>
                    <a:pt x="0" y="0"/>
                  </a:moveTo>
                  <a:lnTo>
                    <a:pt x="34" y="97"/>
                  </a:lnTo>
                  <a:lnTo>
                    <a:pt x="78" y="6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125" name="Freeform 37"/>
            <p:cNvSpPr>
              <a:spLocks/>
            </p:cNvSpPr>
            <p:nvPr/>
          </p:nvSpPr>
          <p:spPr bwMode="auto">
            <a:xfrm>
              <a:off x="4451" y="2331"/>
              <a:ext cx="459" cy="175"/>
            </a:xfrm>
            <a:custGeom>
              <a:avLst/>
              <a:gdLst>
                <a:gd name="T0" fmla="*/ 0 w 109"/>
                <a:gd name="T1" fmla="*/ 36 h 36"/>
                <a:gd name="T2" fmla="*/ 109 w 109"/>
                <a:gd name="T3" fmla="*/ 30 h 36"/>
              </a:gdLst>
              <a:ahLst/>
              <a:cxnLst>
                <a:cxn ang="0">
                  <a:pos x="T0" y="T1"/>
                </a:cxn>
                <a:cxn ang="0">
                  <a:pos x="T2" y="T3"/>
                </a:cxn>
              </a:cxnLst>
              <a:rect l="0" t="0" r="r" b="b"/>
              <a:pathLst>
                <a:path w="109" h="36">
                  <a:moveTo>
                    <a:pt x="0" y="36"/>
                  </a:moveTo>
                  <a:cubicBezTo>
                    <a:pt x="0" y="36"/>
                    <a:pt x="42" y="0"/>
                    <a:pt x="109" y="3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26" name="Freeform 38"/>
            <p:cNvSpPr>
              <a:spLocks/>
            </p:cNvSpPr>
            <p:nvPr/>
          </p:nvSpPr>
          <p:spPr bwMode="auto">
            <a:xfrm>
              <a:off x="3039" y="2269"/>
              <a:ext cx="404" cy="173"/>
            </a:xfrm>
            <a:custGeom>
              <a:avLst/>
              <a:gdLst>
                <a:gd name="T0" fmla="*/ 0 w 96"/>
                <a:gd name="T1" fmla="*/ 36 h 36"/>
                <a:gd name="T2" fmla="*/ 96 w 96"/>
                <a:gd name="T3" fmla="*/ 31 h 36"/>
              </a:gdLst>
              <a:ahLst/>
              <a:cxnLst>
                <a:cxn ang="0">
                  <a:pos x="T0" y="T1"/>
                </a:cxn>
                <a:cxn ang="0">
                  <a:pos x="T2" y="T3"/>
                </a:cxn>
              </a:cxnLst>
              <a:rect l="0" t="0" r="r" b="b"/>
              <a:pathLst>
                <a:path w="96" h="36">
                  <a:moveTo>
                    <a:pt x="0" y="36"/>
                  </a:moveTo>
                  <a:cubicBezTo>
                    <a:pt x="0" y="36"/>
                    <a:pt x="29" y="0"/>
                    <a:pt x="96" y="31"/>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27" name="Freeform 39"/>
            <p:cNvSpPr>
              <a:spLocks/>
            </p:cNvSpPr>
            <p:nvPr/>
          </p:nvSpPr>
          <p:spPr bwMode="auto">
            <a:xfrm>
              <a:off x="4172" y="2904"/>
              <a:ext cx="540" cy="461"/>
            </a:xfrm>
            <a:custGeom>
              <a:avLst/>
              <a:gdLst>
                <a:gd name="T0" fmla="*/ 0 w 128"/>
                <a:gd name="T1" fmla="*/ 0 h 95"/>
                <a:gd name="T2" fmla="*/ 128 w 128"/>
                <a:gd name="T3" fmla="*/ 95 h 95"/>
              </a:gdLst>
              <a:ahLst/>
              <a:cxnLst>
                <a:cxn ang="0">
                  <a:pos x="T0" y="T1"/>
                </a:cxn>
                <a:cxn ang="0">
                  <a:pos x="T2" y="T3"/>
                </a:cxn>
              </a:cxnLst>
              <a:rect l="0" t="0" r="r" b="b"/>
              <a:pathLst>
                <a:path w="128" h="95">
                  <a:moveTo>
                    <a:pt x="0" y="0"/>
                  </a:moveTo>
                  <a:cubicBezTo>
                    <a:pt x="0" y="0"/>
                    <a:pt x="13" y="59"/>
                    <a:pt x="128" y="95"/>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28" name="Freeform 40"/>
            <p:cNvSpPr>
              <a:spLocks/>
            </p:cNvSpPr>
            <p:nvPr/>
          </p:nvSpPr>
          <p:spPr bwMode="auto">
            <a:xfrm>
              <a:off x="3714" y="2924"/>
              <a:ext cx="1132" cy="886"/>
            </a:xfrm>
            <a:custGeom>
              <a:avLst/>
              <a:gdLst>
                <a:gd name="T0" fmla="*/ 0 w 269"/>
                <a:gd name="T1" fmla="*/ 0 h 183"/>
                <a:gd name="T2" fmla="*/ 269 w 269"/>
                <a:gd name="T3" fmla="*/ 129 h 183"/>
              </a:gdLst>
              <a:ahLst/>
              <a:cxnLst>
                <a:cxn ang="0">
                  <a:pos x="T0" y="T1"/>
                </a:cxn>
                <a:cxn ang="0">
                  <a:pos x="T2" y="T3"/>
                </a:cxn>
              </a:cxnLst>
              <a:rect l="0" t="0" r="r" b="b"/>
              <a:pathLst>
                <a:path w="269" h="183">
                  <a:moveTo>
                    <a:pt x="0" y="0"/>
                  </a:moveTo>
                  <a:cubicBezTo>
                    <a:pt x="0" y="0"/>
                    <a:pt x="103" y="183"/>
                    <a:pt x="269" y="129"/>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29" name="Rectangle 41"/>
            <p:cNvSpPr>
              <a:spLocks noChangeArrowheads="1"/>
            </p:cNvSpPr>
            <p:nvPr/>
          </p:nvSpPr>
          <p:spPr bwMode="auto">
            <a:xfrm>
              <a:off x="4139" y="2596"/>
              <a:ext cx="27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Wait</a:t>
              </a:r>
              <a:endParaRPr lang="en-US" altLang="en-US" sz="3200"/>
            </a:p>
          </p:txBody>
        </p:sp>
        <p:sp>
          <p:nvSpPr>
            <p:cNvPr id="473131" name="Rectangle 43"/>
            <p:cNvSpPr>
              <a:spLocks noChangeArrowheads="1"/>
            </p:cNvSpPr>
            <p:nvPr/>
          </p:nvSpPr>
          <p:spPr bwMode="auto">
            <a:xfrm>
              <a:off x="5090" y="2368"/>
              <a:ext cx="24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Add</a:t>
              </a:r>
              <a:endParaRPr lang="en-US" altLang="en-US" sz="3200"/>
            </a:p>
          </p:txBody>
        </p:sp>
        <p:sp>
          <p:nvSpPr>
            <p:cNvPr id="473133" name="Rectangle 45"/>
            <p:cNvSpPr>
              <a:spLocks noChangeArrowheads="1"/>
            </p:cNvSpPr>
            <p:nvPr/>
          </p:nvSpPr>
          <p:spPr bwMode="auto">
            <a:xfrm>
              <a:off x="4957" y="3318"/>
              <a:ext cx="27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Disp</a:t>
              </a:r>
              <a:endParaRPr lang="en-US" altLang="en-US" sz="3200"/>
            </a:p>
          </p:txBody>
        </p:sp>
        <p:sp>
          <p:nvSpPr>
            <p:cNvPr id="473134" name="Rectangle 46"/>
            <p:cNvSpPr>
              <a:spLocks noChangeArrowheads="1"/>
            </p:cNvSpPr>
            <p:nvPr/>
          </p:nvSpPr>
          <p:spPr bwMode="auto">
            <a:xfrm>
              <a:off x="3431" y="2596"/>
              <a:ext cx="3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a:t>
              </a:r>
              <a:endParaRPr lang="en-US" altLang="en-US" sz="3200"/>
            </a:p>
          </p:txBody>
        </p:sp>
        <p:sp>
          <p:nvSpPr>
            <p:cNvPr id="473135" name="Rectangle 47"/>
            <p:cNvSpPr>
              <a:spLocks noChangeArrowheads="1"/>
            </p:cNvSpPr>
            <p:nvPr/>
          </p:nvSpPr>
          <p:spPr bwMode="auto">
            <a:xfrm>
              <a:off x="3465" y="2596"/>
              <a:ext cx="14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nit</a:t>
              </a:r>
              <a:endParaRPr lang="en-US" altLang="en-US" sz="3200"/>
            </a:p>
          </p:txBody>
        </p:sp>
        <p:sp>
          <p:nvSpPr>
            <p:cNvPr id="473136" name="Rectangle 48"/>
            <p:cNvSpPr>
              <a:spLocks noChangeArrowheads="1"/>
            </p:cNvSpPr>
            <p:nvPr/>
          </p:nvSpPr>
          <p:spPr bwMode="auto">
            <a:xfrm>
              <a:off x="3375" y="2952"/>
              <a:ext cx="23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d=0</a:t>
              </a:r>
              <a:endParaRPr lang="en-US" altLang="en-US" sz="3200"/>
            </a:p>
          </p:txBody>
        </p:sp>
        <p:sp>
          <p:nvSpPr>
            <p:cNvPr id="473137" name="Rectangle 49"/>
            <p:cNvSpPr>
              <a:spLocks noChangeArrowheads="1"/>
            </p:cNvSpPr>
            <p:nvPr/>
          </p:nvSpPr>
          <p:spPr bwMode="auto">
            <a:xfrm>
              <a:off x="3375" y="3124"/>
              <a:ext cx="3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tot=0</a:t>
              </a:r>
              <a:endParaRPr lang="en-US" altLang="en-US" sz="3200"/>
            </a:p>
          </p:txBody>
        </p:sp>
        <p:sp>
          <p:nvSpPr>
            <p:cNvPr id="473139" name="Freeform 51"/>
            <p:cNvSpPr>
              <a:spLocks/>
            </p:cNvSpPr>
            <p:nvPr/>
          </p:nvSpPr>
          <p:spPr bwMode="auto">
            <a:xfrm>
              <a:off x="4489" y="2691"/>
              <a:ext cx="290" cy="363"/>
            </a:xfrm>
            <a:custGeom>
              <a:avLst/>
              <a:gdLst>
                <a:gd name="T0" fmla="*/ 16 w 69"/>
                <a:gd name="T1" fmla="*/ 0 h 75"/>
                <a:gd name="T2" fmla="*/ 50 w 69"/>
                <a:gd name="T3" fmla="*/ 45 h 75"/>
                <a:gd name="T4" fmla="*/ 0 w 69"/>
                <a:gd name="T5" fmla="*/ 48 h 75"/>
              </a:gdLst>
              <a:ahLst/>
              <a:cxnLst>
                <a:cxn ang="0">
                  <a:pos x="T0" y="T1"/>
                </a:cxn>
                <a:cxn ang="0">
                  <a:pos x="T2" y="T3"/>
                </a:cxn>
                <a:cxn ang="0">
                  <a:pos x="T4" y="T5"/>
                </a:cxn>
              </a:cxnLst>
              <a:rect l="0" t="0" r="r" b="b"/>
              <a:pathLst>
                <a:path w="69" h="75">
                  <a:moveTo>
                    <a:pt x="16" y="0"/>
                  </a:moveTo>
                  <a:cubicBezTo>
                    <a:pt x="16" y="0"/>
                    <a:pt x="69" y="9"/>
                    <a:pt x="50" y="45"/>
                  </a:cubicBezTo>
                  <a:cubicBezTo>
                    <a:pt x="50" y="45"/>
                    <a:pt x="33" y="75"/>
                    <a:pt x="0" y="48"/>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46" name="Rectangle 58"/>
            <p:cNvSpPr>
              <a:spLocks noChangeArrowheads="1"/>
            </p:cNvSpPr>
            <p:nvPr/>
          </p:nvSpPr>
          <p:spPr bwMode="auto">
            <a:xfrm>
              <a:off x="4675" y="2921"/>
              <a:ext cx="54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c’*(tot&lt;s)</a:t>
              </a:r>
              <a:endParaRPr lang="en-US" altLang="en-US" sz="3200"/>
            </a:p>
          </p:txBody>
        </p:sp>
        <p:sp>
          <p:nvSpPr>
            <p:cNvPr id="473152" name="Rectangle 64"/>
            <p:cNvSpPr>
              <a:spLocks noChangeArrowheads="1"/>
            </p:cNvSpPr>
            <p:nvPr/>
          </p:nvSpPr>
          <p:spPr bwMode="auto">
            <a:xfrm>
              <a:off x="4958" y="3661"/>
              <a:ext cx="23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d=1</a:t>
              </a:r>
              <a:endParaRPr lang="en-US" altLang="en-US" sz="3200"/>
            </a:p>
          </p:txBody>
        </p:sp>
        <p:sp>
          <p:nvSpPr>
            <p:cNvPr id="473153" name="Rectangle 65"/>
            <p:cNvSpPr>
              <a:spLocks noChangeArrowheads="1"/>
            </p:cNvSpPr>
            <p:nvPr/>
          </p:nvSpPr>
          <p:spPr bwMode="auto">
            <a:xfrm>
              <a:off x="4666" y="2213"/>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a:t>
              </a:r>
              <a:endParaRPr lang="en-US" altLang="en-US" sz="3200"/>
            </a:p>
          </p:txBody>
        </p:sp>
        <p:sp>
          <p:nvSpPr>
            <p:cNvPr id="473154" name="Oval 66"/>
            <p:cNvSpPr>
              <a:spLocks noChangeArrowheads="1"/>
            </p:cNvSpPr>
            <p:nvPr/>
          </p:nvSpPr>
          <p:spPr bwMode="auto">
            <a:xfrm>
              <a:off x="3233" y="2463"/>
              <a:ext cx="557" cy="45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55" name="Oval 67"/>
            <p:cNvSpPr>
              <a:spLocks noChangeArrowheads="1"/>
            </p:cNvSpPr>
            <p:nvPr/>
          </p:nvSpPr>
          <p:spPr bwMode="auto">
            <a:xfrm>
              <a:off x="4000" y="2463"/>
              <a:ext cx="557" cy="45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56" name="Oval 68"/>
            <p:cNvSpPr>
              <a:spLocks noChangeArrowheads="1"/>
            </p:cNvSpPr>
            <p:nvPr/>
          </p:nvSpPr>
          <p:spPr bwMode="auto">
            <a:xfrm>
              <a:off x="4939" y="2225"/>
              <a:ext cx="557" cy="455"/>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57" name="Oval 69"/>
            <p:cNvSpPr>
              <a:spLocks noChangeArrowheads="1"/>
            </p:cNvSpPr>
            <p:nvPr/>
          </p:nvSpPr>
          <p:spPr bwMode="auto">
            <a:xfrm>
              <a:off x="4792" y="3180"/>
              <a:ext cx="556" cy="456"/>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58" name="Rectangle 70"/>
            <p:cNvSpPr>
              <a:spLocks noChangeArrowheads="1"/>
            </p:cNvSpPr>
            <p:nvPr/>
          </p:nvSpPr>
          <p:spPr bwMode="auto">
            <a:xfrm>
              <a:off x="4970" y="2678"/>
              <a:ext cx="53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tot=tot+a</a:t>
              </a:r>
              <a:endParaRPr lang="en-US" altLang="en-US" sz="3200"/>
            </a:p>
          </p:txBody>
        </p:sp>
      </p:grpSp>
      <p:grpSp>
        <p:nvGrpSpPr>
          <p:cNvPr id="473198" name="Group 110"/>
          <p:cNvGrpSpPr>
            <a:grpSpLocks/>
          </p:cNvGrpSpPr>
          <p:nvPr/>
        </p:nvGrpSpPr>
        <p:grpSpPr bwMode="auto">
          <a:xfrm>
            <a:off x="6867525" y="1103313"/>
            <a:ext cx="1760538" cy="1025525"/>
            <a:chOff x="4326" y="695"/>
            <a:chExt cx="1109" cy="646"/>
          </a:xfrm>
        </p:grpSpPr>
        <p:sp>
          <p:nvSpPr>
            <p:cNvPr id="473164" name="Line 76"/>
            <p:cNvSpPr>
              <a:spLocks noChangeShapeType="1"/>
            </p:cNvSpPr>
            <p:nvPr/>
          </p:nvSpPr>
          <p:spPr bwMode="auto">
            <a:xfrm>
              <a:off x="5026" y="785"/>
              <a:ext cx="1" cy="13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3165" name="Freeform 77"/>
            <p:cNvSpPr>
              <a:spLocks/>
            </p:cNvSpPr>
            <p:nvPr/>
          </p:nvSpPr>
          <p:spPr bwMode="auto">
            <a:xfrm>
              <a:off x="5003" y="892"/>
              <a:ext cx="45" cy="7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166" name="Line 78"/>
            <p:cNvSpPr>
              <a:spLocks noChangeShapeType="1"/>
            </p:cNvSpPr>
            <p:nvPr/>
          </p:nvSpPr>
          <p:spPr bwMode="auto">
            <a:xfrm>
              <a:off x="4392" y="1039"/>
              <a:ext cx="167"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3167" name="Freeform 79"/>
            <p:cNvSpPr>
              <a:spLocks/>
            </p:cNvSpPr>
            <p:nvPr/>
          </p:nvSpPr>
          <p:spPr bwMode="auto">
            <a:xfrm>
              <a:off x="4525" y="1021"/>
              <a:ext cx="91" cy="3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168" name="Line 80"/>
            <p:cNvSpPr>
              <a:spLocks noChangeShapeType="1"/>
            </p:cNvSpPr>
            <p:nvPr/>
          </p:nvSpPr>
          <p:spPr bwMode="auto">
            <a:xfrm flipH="1">
              <a:off x="4452" y="1150"/>
              <a:ext cx="170"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3169" name="Freeform 81"/>
            <p:cNvSpPr>
              <a:spLocks/>
            </p:cNvSpPr>
            <p:nvPr/>
          </p:nvSpPr>
          <p:spPr bwMode="auto">
            <a:xfrm>
              <a:off x="4394" y="1132"/>
              <a:ext cx="91" cy="36"/>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170" name="Rectangle 82"/>
            <p:cNvSpPr>
              <a:spLocks noChangeArrowheads="1"/>
            </p:cNvSpPr>
            <p:nvPr/>
          </p:nvSpPr>
          <p:spPr bwMode="auto">
            <a:xfrm>
              <a:off x="4622" y="969"/>
              <a:ext cx="813" cy="37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3171" name="Line 83"/>
            <p:cNvSpPr>
              <a:spLocks noChangeShapeType="1"/>
            </p:cNvSpPr>
            <p:nvPr/>
          </p:nvSpPr>
          <p:spPr bwMode="auto">
            <a:xfrm flipH="1">
              <a:off x="4994" y="817"/>
              <a:ext cx="65" cy="5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3172" name="Line 84"/>
            <p:cNvSpPr>
              <a:spLocks noChangeShapeType="1"/>
            </p:cNvSpPr>
            <p:nvPr/>
          </p:nvSpPr>
          <p:spPr bwMode="auto">
            <a:xfrm>
              <a:off x="5276" y="785"/>
              <a:ext cx="1" cy="13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3173" name="Freeform 85"/>
            <p:cNvSpPr>
              <a:spLocks/>
            </p:cNvSpPr>
            <p:nvPr/>
          </p:nvSpPr>
          <p:spPr bwMode="auto">
            <a:xfrm>
              <a:off x="5253" y="892"/>
              <a:ext cx="46" cy="7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3174" name="Line 86"/>
            <p:cNvSpPr>
              <a:spLocks noChangeShapeType="1"/>
            </p:cNvSpPr>
            <p:nvPr/>
          </p:nvSpPr>
          <p:spPr bwMode="auto">
            <a:xfrm flipH="1">
              <a:off x="5244" y="817"/>
              <a:ext cx="65" cy="5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3175" name="Rectangle 87"/>
            <p:cNvSpPr>
              <a:spLocks noChangeArrowheads="1"/>
            </p:cNvSpPr>
            <p:nvPr/>
          </p:nvSpPr>
          <p:spPr bwMode="auto">
            <a:xfrm>
              <a:off x="5066" y="805"/>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8</a:t>
              </a:r>
              <a:endParaRPr lang="en-US" altLang="en-US" sz="2400"/>
            </a:p>
          </p:txBody>
        </p:sp>
        <p:sp>
          <p:nvSpPr>
            <p:cNvPr id="473176" name="Rectangle 88"/>
            <p:cNvSpPr>
              <a:spLocks noChangeArrowheads="1"/>
            </p:cNvSpPr>
            <p:nvPr/>
          </p:nvSpPr>
          <p:spPr bwMode="auto">
            <a:xfrm>
              <a:off x="5329" y="805"/>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8</a:t>
              </a:r>
              <a:endParaRPr lang="en-US" altLang="en-US" sz="2400"/>
            </a:p>
          </p:txBody>
        </p:sp>
        <p:sp>
          <p:nvSpPr>
            <p:cNvPr id="473177" name="Rectangle 89"/>
            <p:cNvSpPr>
              <a:spLocks noChangeArrowheads="1"/>
            </p:cNvSpPr>
            <p:nvPr/>
          </p:nvSpPr>
          <p:spPr bwMode="auto">
            <a:xfrm>
              <a:off x="5255" y="695"/>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473178" name="Rectangle 90"/>
            <p:cNvSpPr>
              <a:spLocks noChangeArrowheads="1"/>
            </p:cNvSpPr>
            <p:nvPr/>
          </p:nvSpPr>
          <p:spPr bwMode="auto">
            <a:xfrm>
              <a:off x="5008" y="69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73179" name="Rectangle 91"/>
            <p:cNvSpPr>
              <a:spLocks noChangeArrowheads="1"/>
            </p:cNvSpPr>
            <p:nvPr/>
          </p:nvSpPr>
          <p:spPr bwMode="auto">
            <a:xfrm>
              <a:off x="4331" y="993"/>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73180" name="Rectangle 92"/>
            <p:cNvSpPr>
              <a:spLocks noChangeArrowheads="1"/>
            </p:cNvSpPr>
            <p:nvPr/>
          </p:nvSpPr>
          <p:spPr bwMode="auto">
            <a:xfrm>
              <a:off x="4326" y="110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73181" name="Rectangle 93"/>
            <p:cNvSpPr>
              <a:spLocks noChangeArrowheads="1"/>
            </p:cNvSpPr>
            <p:nvPr/>
          </p:nvSpPr>
          <p:spPr bwMode="auto">
            <a:xfrm>
              <a:off x="4933" y="1027"/>
              <a:ext cx="24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Soda</a:t>
              </a:r>
              <a:endParaRPr lang="en-US" altLang="en-US" sz="2400"/>
            </a:p>
          </p:txBody>
        </p:sp>
        <p:sp>
          <p:nvSpPr>
            <p:cNvPr id="473183" name="Rectangle 95"/>
            <p:cNvSpPr>
              <a:spLocks noChangeArrowheads="1"/>
            </p:cNvSpPr>
            <p:nvPr/>
          </p:nvSpPr>
          <p:spPr bwMode="auto">
            <a:xfrm>
              <a:off x="4845" y="1108"/>
              <a:ext cx="4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dispenser</a:t>
              </a:r>
              <a:endParaRPr lang="en-US" altLang="en-US" sz="2400"/>
            </a:p>
          </p:txBody>
        </p:sp>
        <p:sp>
          <p:nvSpPr>
            <p:cNvPr id="473184" name="Rectangle 96"/>
            <p:cNvSpPr>
              <a:spLocks noChangeArrowheads="1"/>
            </p:cNvSpPr>
            <p:nvPr/>
          </p:nvSpPr>
          <p:spPr bwMode="auto">
            <a:xfrm>
              <a:off x="4845" y="1191"/>
              <a:ext cx="4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processor</a:t>
              </a:r>
              <a:endParaRPr lang="en-US" altLang="en-US" sz="2400"/>
            </a:p>
          </p:txBody>
        </p:sp>
      </p:grpSp>
      <p:sp>
        <p:nvSpPr>
          <p:cNvPr id="473189" name="Line 101"/>
          <p:cNvSpPr>
            <a:spLocks noChangeShapeType="1"/>
          </p:cNvSpPr>
          <p:nvPr/>
        </p:nvSpPr>
        <p:spPr bwMode="auto">
          <a:xfrm flipH="1">
            <a:off x="4941888" y="2100263"/>
            <a:ext cx="2413000" cy="2349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3190" name="Line 102"/>
          <p:cNvSpPr>
            <a:spLocks noChangeShapeType="1"/>
          </p:cNvSpPr>
          <p:nvPr/>
        </p:nvSpPr>
        <p:spPr bwMode="auto">
          <a:xfrm>
            <a:off x="8597900" y="2141538"/>
            <a:ext cx="234950" cy="1360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3191" name="Rectangle 103"/>
          <p:cNvSpPr>
            <a:spLocks noChangeArrowheads="1"/>
          </p:cNvSpPr>
          <p:nvPr/>
        </p:nvSpPr>
        <p:spPr bwMode="auto">
          <a:xfrm>
            <a:off x="6497638" y="4856163"/>
            <a:ext cx="9048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c’*(tot&lt;s)’</a:t>
            </a:r>
            <a:endParaRPr lang="en-US" altLang="en-US" sz="3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Slide Number Placeholder 3"/>
          <p:cNvSpPr>
            <a:spLocks noGrp="1"/>
          </p:cNvSpPr>
          <p:nvPr>
            <p:ph type="sldNum" sz="quarter" idx="10"/>
          </p:nvPr>
        </p:nvSpPr>
        <p:spPr/>
        <p:txBody>
          <a:bodyPr/>
          <a:lstStyle/>
          <a:p>
            <a:fld id="{2E4B41D8-943D-4BD2-B7B0-45924DD3EB09}" type="slidenum">
              <a:rPr lang="en-US" altLang="en-US"/>
              <a:pPr/>
              <a:t>7</a:t>
            </a:fld>
            <a:endParaRPr lang="en-US" altLang="en-US"/>
          </a:p>
        </p:txBody>
      </p:sp>
      <p:sp>
        <p:nvSpPr>
          <p:cNvPr id="475138" name="Rectangle 2"/>
          <p:cNvSpPr>
            <a:spLocks noGrp="1" noChangeArrowheads="1"/>
          </p:cNvSpPr>
          <p:nvPr>
            <p:ph type="title"/>
          </p:nvPr>
        </p:nvSpPr>
        <p:spPr/>
        <p:txBody>
          <a:bodyPr/>
          <a:lstStyle/>
          <a:p>
            <a:r>
              <a:rPr lang="en-US" altLang="en-US"/>
              <a:t>Preview Example: </a:t>
            </a:r>
            <a:br>
              <a:rPr lang="en-US" altLang="en-US"/>
            </a:br>
            <a:r>
              <a:rPr lang="en-US" altLang="en-US" sz="3200"/>
              <a:t>Step 2 -- Create Datapath</a:t>
            </a:r>
          </a:p>
        </p:txBody>
      </p:sp>
      <p:sp>
        <p:nvSpPr>
          <p:cNvPr id="475139" name="Rectangle 3"/>
          <p:cNvSpPr>
            <a:spLocks noGrp="1" noChangeArrowheads="1"/>
          </p:cNvSpPr>
          <p:nvPr>
            <p:ph type="body" idx="1"/>
          </p:nvPr>
        </p:nvSpPr>
        <p:spPr>
          <a:xfrm>
            <a:off x="228600" y="1219200"/>
            <a:ext cx="3573463" cy="4876800"/>
          </a:xfrm>
        </p:spPr>
        <p:txBody>
          <a:bodyPr/>
          <a:lstStyle/>
          <a:p>
            <a:r>
              <a:rPr lang="en-US" altLang="en-US"/>
              <a:t>Need </a:t>
            </a:r>
            <a:r>
              <a:rPr lang="en-US" altLang="en-US" i="1"/>
              <a:t>tot</a:t>
            </a:r>
            <a:r>
              <a:rPr lang="en-US" altLang="en-US"/>
              <a:t> register</a:t>
            </a:r>
          </a:p>
          <a:p>
            <a:r>
              <a:rPr lang="en-US" altLang="en-US"/>
              <a:t>Need 8-bit comparator to compare </a:t>
            </a:r>
            <a:r>
              <a:rPr lang="en-US" altLang="en-US" i="1"/>
              <a:t>s</a:t>
            </a:r>
            <a:r>
              <a:rPr lang="en-US" altLang="en-US"/>
              <a:t> and </a:t>
            </a:r>
            <a:r>
              <a:rPr lang="en-US" altLang="en-US" i="1"/>
              <a:t>tot</a:t>
            </a:r>
          </a:p>
          <a:p>
            <a:r>
              <a:rPr lang="en-US" altLang="en-US"/>
              <a:t>Need 8-bit adder to perform tot = tot + a</a:t>
            </a:r>
          </a:p>
          <a:p>
            <a:r>
              <a:rPr lang="en-US" altLang="en-US"/>
              <a:t>Wire the components as needed for above</a:t>
            </a:r>
          </a:p>
          <a:p>
            <a:r>
              <a:rPr lang="en-US" altLang="en-US"/>
              <a:t>Create control input/outputs, give them names</a:t>
            </a:r>
          </a:p>
        </p:txBody>
      </p:sp>
      <p:grpSp>
        <p:nvGrpSpPr>
          <p:cNvPr id="475296" name="Group 160"/>
          <p:cNvGrpSpPr>
            <a:grpSpLocks/>
          </p:cNvGrpSpPr>
          <p:nvPr/>
        </p:nvGrpSpPr>
        <p:grpSpPr bwMode="auto">
          <a:xfrm>
            <a:off x="3821113" y="2725738"/>
            <a:ext cx="3894137" cy="3549650"/>
            <a:chOff x="2407" y="1717"/>
            <a:chExt cx="2453" cy="2236"/>
          </a:xfrm>
        </p:grpSpPr>
        <p:sp>
          <p:nvSpPr>
            <p:cNvPr id="475140" name="Rectangle 4"/>
            <p:cNvSpPr>
              <a:spLocks noChangeArrowheads="1"/>
            </p:cNvSpPr>
            <p:nvPr/>
          </p:nvSpPr>
          <p:spPr bwMode="auto">
            <a:xfrm>
              <a:off x="3030" y="1896"/>
              <a:ext cx="1830" cy="205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141" name="Freeform 5"/>
            <p:cNvSpPr>
              <a:spLocks/>
            </p:cNvSpPr>
            <p:nvPr/>
          </p:nvSpPr>
          <p:spPr bwMode="auto">
            <a:xfrm>
              <a:off x="3422" y="2344"/>
              <a:ext cx="121" cy="7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42" name="Freeform 6"/>
            <p:cNvSpPr>
              <a:spLocks/>
            </p:cNvSpPr>
            <p:nvPr/>
          </p:nvSpPr>
          <p:spPr bwMode="auto">
            <a:xfrm>
              <a:off x="3422" y="2538"/>
              <a:ext cx="121" cy="7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43" name="Line 7"/>
            <p:cNvSpPr>
              <a:spLocks noChangeShapeType="1"/>
            </p:cNvSpPr>
            <p:nvPr/>
          </p:nvSpPr>
          <p:spPr bwMode="auto">
            <a:xfrm flipH="1">
              <a:off x="2936" y="3435"/>
              <a:ext cx="426" cy="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44" name="Freeform 8"/>
            <p:cNvSpPr>
              <a:spLocks/>
            </p:cNvSpPr>
            <p:nvPr/>
          </p:nvSpPr>
          <p:spPr bwMode="auto">
            <a:xfrm>
              <a:off x="2838" y="3398"/>
              <a:ext cx="121" cy="74"/>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45" name="Freeform 9"/>
            <p:cNvSpPr>
              <a:spLocks/>
            </p:cNvSpPr>
            <p:nvPr/>
          </p:nvSpPr>
          <p:spPr bwMode="auto">
            <a:xfrm>
              <a:off x="3493" y="2811"/>
              <a:ext cx="707" cy="255"/>
            </a:xfrm>
            <a:custGeom>
              <a:avLst/>
              <a:gdLst>
                <a:gd name="T0" fmla="*/ 0 w 585"/>
                <a:gd name="T1" fmla="*/ 172 h 172"/>
                <a:gd name="T2" fmla="*/ 4 w 585"/>
                <a:gd name="T3" fmla="*/ 0 h 172"/>
                <a:gd name="T4" fmla="*/ 585 w 585"/>
                <a:gd name="T5" fmla="*/ 0 h 172"/>
              </a:gdLst>
              <a:ahLst/>
              <a:cxnLst>
                <a:cxn ang="0">
                  <a:pos x="T0" y="T1"/>
                </a:cxn>
                <a:cxn ang="0">
                  <a:pos x="T2" y="T3"/>
                </a:cxn>
                <a:cxn ang="0">
                  <a:pos x="T4" y="T5"/>
                </a:cxn>
              </a:cxnLst>
              <a:rect l="0" t="0" r="r" b="b"/>
              <a:pathLst>
                <a:path w="585" h="172">
                  <a:moveTo>
                    <a:pt x="0" y="172"/>
                  </a:moveTo>
                  <a:lnTo>
                    <a:pt x="4" y="0"/>
                  </a:lnTo>
                  <a:lnTo>
                    <a:pt x="585" y="0"/>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146" name="Freeform 10"/>
            <p:cNvSpPr>
              <a:spLocks/>
            </p:cNvSpPr>
            <p:nvPr/>
          </p:nvSpPr>
          <p:spPr bwMode="auto">
            <a:xfrm>
              <a:off x="3463" y="3042"/>
              <a:ext cx="61" cy="14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47" name="Freeform 11"/>
            <p:cNvSpPr>
              <a:spLocks/>
            </p:cNvSpPr>
            <p:nvPr/>
          </p:nvSpPr>
          <p:spPr bwMode="auto">
            <a:xfrm>
              <a:off x="3218" y="1757"/>
              <a:ext cx="627" cy="1309"/>
            </a:xfrm>
            <a:custGeom>
              <a:avLst/>
              <a:gdLst>
                <a:gd name="T0" fmla="*/ 516 w 519"/>
                <a:gd name="T1" fmla="*/ 885 h 885"/>
                <a:gd name="T2" fmla="*/ 519 w 519"/>
                <a:gd name="T3" fmla="*/ 800 h 885"/>
                <a:gd name="T4" fmla="*/ 0 w 519"/>
                <a:gd name="T5" fmla="*/ 800 h 885"/>
                <a:gd name="T6" fmla="*/ 0 w 519"/>
                <a:gd name="T7" fmla="*/ 0 h 885"/>
              </a:gdLst>
              <a:ahLst/>
              <a:cxnLst>
                <a:cxn ang="0">
                  <a:pos x="T0" y="T1"/>
                </a:cxn>
                <a:cxn ang="0">
                  <a:pos x="T2" y="T3"/>
                </a:cxn>
                <a:cxn ang="0">
                  <a:pos x="T4" y="T5"/>
                </a:cxn>
                <a:cxn ang="0">
                  <a:pos x="T6" y="T7"/>
                </a:cxn>
              </a:cxnLst>
              <a:rect l="0" t="0" r="r" b="b"/>
              <a:pathLst>
                <a:path w="519" h="885">
                  <a:moveTo>
                    <a:pt x="516" y="885"/>
                  </a:moveTo>
                  <a:lnTo>
                    <a:pt x="519" y="800"/>
                  </a:lnTo>
                  <a:lnTo>
                    <a:pt x="0" y="800"/>
                  </a:lnTo>
                  <a:lnTo>
                    <a:pt x="0" y="0"/>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148" name="Freeform 12"/>
            <p:cNvSpPr>
              <a:spLocks/>
            </p:cNvSpPr>
            <p:nvPr/>
          </p:nvSpPr>
          <p:spPr bwMode="auto">
            <a:xfrm>
              <a:off x="3811" y="3042"/>
              <a:ext cx="60" cy="14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49" name="Line 13"/>
            <p:cNvSpPr>
              <a:spLocks noChangeShapeType="1"/>
            </p:cNvSpPr>
            <p:nvPr/>
          </p:nvSpPr>
          <p:spPr bwMode="auto">
            <a:xfrm flipH="1">
              <a:off x="4196" y="2714"/>
              <a:ext cx="4" cy="35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50" name="Freeform 14"/>
            <p:cNvSpPr>
              <a:spLocks/>
            </p:cNvSpPr>
            <p:nvPr/>
          </p:nvSpPr>
          <p:spPr bwMode="auto">
            <a:xfrm>
              <a:off x="4166" y="3042"/>
              <a:ext cx="60" cy="14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51" name="Freeform 15"/>
            <p:cNvSpPr>
              <a:spLocks/>
            </p:cNvSpPr>
            <p:nvPr/>
          </p:nvSpPr>
          <p:spPr bwMode="auto">
            <a:xfrm>
              <a:off x="3969" y="2031"/>
              <a:ext cx="811" cy="1820"/>
            </a:xfrm>
            <a:custGeom>
              <a:avLst/>
              <a:gdLst>
                <a:gd name="T0" fmla="*/ 0 w 672"/>
                <a:gd name="T1" fmla="*/ 56 h 1231"/>
                <a:gd name="T2" fmla="*/ 0 w 672"/>
                <a:gd name="T3" fmla="*/ 0 h 1231"/>
                <a:gd name="T4" fmla="*/ 672 w 672"/>
                <a:gd name="T5" fmla="*/ 0 h 1231"/>
                <a:gd name="T6" fmla="*/ 672 w 672"/>
                <a:gd name="T7" fmla="*/ 1231 h 1231"/>
                <a:gd name="T8" fmla="*/ 332 w 672"/>
                <a:gd name="T9" fmla="*/ 1231 h 1231"/>
                <a:gd name="T10" fmla="*/ 332 w 672"/>
                <a:gd name="T11" fmla="*/ 1109 h 1231"/>
              </a:gdLst>
              <a:ahLst/>
              <a:cxnLst>
                <a:cxn ang="0">
                  <a:pos x="T0" y="T1"/>
                </a:cxn>
                <a:cxn ang="0">
                  <a:pos x="T2" y="T3"/>
                </a:cxn>
                <a:cxn ang="0">
                  <a:pos x="T4" y="T5"/>
                </a:cxn>
                <a:cxn ang="0">
                  <a:pos x="T6" y="T7"/>
                </a:cxn>
                <a:cxn ang="0">
                  <a:pos x="T8" y="T9"/>
                </a:cxn>
                <a:cxn ang="0">
                  <a:pos x="T10" y="T11"/>
                </a:cxn>
              </a:cxnLst>
              <a:rect l="0" t="0" r="r" b="b"/>
              <a:pathLst>
                <a:path w="672" h="1231">
                  <a:moveTo>
                    <a:pt x="0" y="56"/>
                  </a:moveTo>
                  <a:lnTo>
                    <a:pt x="0" y="0"/>
                  </a:lnTo>
                  <a:lnTo>
                    <a:pt x="672" y="0"/>
                  </a:lnTo>
                  <a:lnTo>
                    <a:pt x="672" y="1231"/>
                  </a:lnTo>
                  <a:lnTo>
                    <a:pt x="332" y="1231"/>
                  </a:lnTo>
                  <a:lnTo>
                    <a:pt x="332" y="1109"/>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152" name="Freeform 16"/>
            <p:cNvSpPr>
              <a:spLocks/>
            </p:cNvSpPr>
            <p:nvPr/>
          </p:nvSpPr>
          <p:spPr bwMode="auto">
            <a:xfrm>
              <a:off x="3935" y="2085"/>
              <a:ext cx="61" cy="14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53" name="Line 17"/>
            <p:cNvSpPr>
              <a:spLocks noChangeShapeType="1"/>
            </p:cNvSpPr>
            <p:nvPr/>
          </p:nvSpPr>
          <p:spPr bwMode="auto">
            <a:xfrm flipV="1">
              <a:off x="4546" y="1757"/>
              <a:ext cx="1" cy="1309"/>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54" name="Freeform 18"/>
            <p:cNvSpPr>
              <a:spLocks/>
            </p:cNvSpPr>
            <p:nvPr/>
          </p:nvSpPr>
          <p:spPr bwMode="auto">
            <a:xfrm>
              <a:off x="4512" y="3042"/>
              <a:ext cx="61" cy="14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55" name="Line 19"/>
            <p:cNvSpPr>
              <a:spLocks noChangeShapeType="1"/>
            </p:cNvSpPr>
            <p:nvPr/>
          </p:nvSpPr>
          <p:spPr bwMode="auto">
            <a:xfrm flipH="1">
              <a:off x="3170" y="2755"/>
              <a:ext cx="98" cy="12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56" name="Line 20"/>
            <p:cNvSpPr>
              <a:spLocks noChangeShapeType="1"/>
            </p:cNvSpPr>
            <p:nvPr/>
          </p:nvSpPr>
          <p:spPr bwMode="auto">
            <a:xfrm flipH="1">
              <a:off x="4147" y="2876"/>
              <a:ext cx="97" cy="12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57" name="Line 21"/>
            <p:cNvSpPr>
              <a:spLocks noChangeShapeType="1"/>
            </p:cNvSpPr>
            <p:nvPr/>
          </p:nvSpPr>
          <p:spPr bwMode="auto">
            <a:xfrm flipH="1">
              <a:off x="4320" y="3703"/>
              <a:ext cx="98" cy="12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58" name="Line 22"/>
            <p:cNvSpPr>
              <a:spLocks noChangeShapeType="1"/>
            </p:cNvSpPr>
            <p:nvPr/>
          </p:nvSpPr>
          <p:spPr bwMode="auto">
            <a:xfrm flipH="1">
              <a:off x="4494" y="2876"/>
              <a:ext cx="98" cy="12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59" name="Oval 23"/>
            <p:cNvSpPr>
              <a:spLocks noChangeArrowheads="1"/>
            </p:cNvSpPr>
            <p:nvPr/>
          </p:nvSpPr>
          <p:spPr bwMode="auto">
            <a:xfrm>
              <a:off x="4173" y="2774"/>
              <a:ext cx="57" cy="74"/>
            </a:xfrm>
            <a:prstGeom prst="ellipse">
              <a:avLst/>
            </a:prstGeom>
            <a:solidFill>
              <a:srgbClr val="000000"/>
            </a:solidFill>
            <a:ln w="11113">
              <a:solidFill>
                <a:srgbClr val="000000"/>
              </a:solidFill>
              <a:miter lim="800000"/>
              <a:headEnd/>
              <a:tailEnd/>
            </a:ln>
          </p:spPr>
          <p:txBody>
            <a:bodyPr/>
            <a:lstStyle/>
            <a:p>
              <a:endParaRPr lang="en-US"/>
            </a:p>
          </p:txBody>
        </p:sp>
        <p:sp>
          <p:nvSpPr>
            <p:cNvPr id="475160" name="Freeform 24"/>
            <p:cNvSpPr>
              <a:spLocks/>
            </p:cNvSpPr>
            <p:nvPr/>
          </p:nvSpPr>
          <p:spPr bwMode="auto">
            <a:xfrm>
              <a:off x="4260" y="2533"/>
              <a:ext cx="124" cy="153"/>
            </a:xfrm>
            <a:custGeom>
              <a:avLst/>
              <a:gdLst>
                <a:gd name="T0" fmla="*/ 103 w 103"/>
                <a:gd name="T1" fmla="*/ 103 h 103"/>
                <a:gd name="T2" fmla="*/ 0 w 103"/>
                <a:gd name="T3" fmla="*/ 50 h 103"/>
                <a:gd name="T4" fmla="*/ 103 w 103"/>
                <a:gd name="T5" fmla="*/ 0 h 103"/>
              </a:gdLst>
              <a:ahLst/>
              <a:cxnLst>
                <a:cxn ang="0">
                  <a:pos x="T0" y="T1"/>
                </a:cxn>
                <a:cxn ang="0">
                  <a:pos x="T2" y="T3"/>
                </a:cxn>
                <a:cxn ang="0">
                  <a:pos x="T4" y="T5"/>
                </a:cxn>
              </a:cxnLst>
              <a:rect l="0" t="0" r="r" b="b"/>
              <a:pathLst>
                <a:path w="103" h="103">
                  <a:moveTo>
                    <a:pt x="103" y="103"/>
                  </a:moveTo>
                  <a:lnTo>
                    <a:pt x="0" y="50"/>
                  </a:lnTo>
                  <a:lnTo>
                    <a:pt x="103"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161" name="Rectangle 25"/>
            <p:cNvSpPr>
              <a:spLocks noChangeArrowheads="1"/>
            </p:cNvSpPr>
            <p:nvPr/>
          </p:nvSpPr>
          <p:spPr bwMode="auto">
            <a:xfrm>
              <a:off x="3577" y="2304"/>
              <a:ext cx="10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ld</a:t>
              </a:r>
              <a:endParaRPr lang="en-US" altLang="en-US" sz="3200"/>
            </a:p>
          </p:txBody>
        </p:sp>
        <p:sp>
          <p:nvSpPr>
            <p:cNvPr id="475162" name="Rectangle 26"/>
            <p:cNvSpPr>
              <a:spLocks noChangeArrowheads="1"/>
            </p:cNvSpPr>
            <p:nvPr/>
          </p:nvSpPr>
          <p:spPr bwMode="auto">
            <a:xfrm>
              <a:off x="3577" y="2496"/>
              <a:ext cx="14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clr</a:t>
              </a:r>
              <a:endParaRPr lang="en-US" altLang="en-US" sz="3200"/>
            </a:p>
          </p:txBody>
        </p:sp>
        <p:sp>
          <p:nvSpPr>
            <p:cNvPr id="475163" name="Rectangle 27"/>
            <p:cNvSpPr>
              <a:spLocks noChangeArrowheads="1"/>
            </p:cNvSpPr>
            <p:nvPr/>
          </p:nvSpPr>
          <p:spPr bwMode="auto">
            <a:xfrm>
              <a:off x="3897" y="2394"/>
              <a:ext cx="15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a:t>
              </a:r>
              <a:endParaRPr lang="en-US" altLang="en-US" sz="3200"/>
            </a:p>
          </p:txBody>
        </p:sp>
        <p:sp>
          <p:nvSpPr>
            <p:cNvPr id="475165" name="Rectangle 29"/>
            <p:cNvSpPr>
              <a:spLocks noChangeArrowheads="1"/>
            </p:cNvSpPr>
            <p:nvPr/>
          </p:nvSpPr>
          <p:spPr bwMode="auto">
            <a:xfrm>
              <a:off x="3568" y="3298"/>
              <a:ext cx="26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8-bit</a:t>
              </a:r>
              <a:endParaRPr lang="en-US" altLang="en-US" sz="3200"/>
            </a:p>
          </p:txBody>
        </p:sp>
        <p:sp>
          <p:nvSpPr>
            <p:cNvPr id="475166" name="Rectangle 30"/>
            <p:cNvSpPr>
              <a:spLocks noChangeArrowheads="1"/>
            </p:cNvSpPr>
            <p:nvPr/>
          </p:nvSpPr>
          <p:spPr bwMode="auto">
            <a:xfrm>
              <a:off x="3650" y="3462"/>
              <a:ext cx="7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&lt;</a:t>
              </a:r>
              <a:endParaRPr lang="en-US" altLang="en-US" sz="3200"/>
            </a:p>
          </p:txBody>
        </p:sp>
        <p:sp>
          <p:nvSpPr>
            <p:cNvPr id="475167" name="Rectangle 31"/>
            <p:cNvSpPr>
              <a:spLocks noChangeArrowheads="1"/>
            </p:cNvSpPr>
            <p:nvPr/>
          </p:nvSpPr>
          <p:spPr bwMode="auto">
            <a:xfrm>
              <a:off x="4244" y="3249"/>
              <a:ext cx="26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8-bit</a:t>
              </a:r>
              <a:endParaRPr lang="en-US" altLang="en-US" sz="3200"/>
            </a:p>
          </p:txBody>
        </p:sp>
        <p:sp>
          <p:nvSpPr>
            <p:cNvPr id="475168" name="Rectangle 32"/>
            <p:cNvSpPr>
              <a:spLocks noChangeArrowheads="1"/>
            </p:cNvSpPr>
            <p:nvPr/>
          </p:nvSpPr>
          <p:spPr bwMode="auto">
            <a:xfrm>
              <a:off x="4214" y="3416"/>
              <a:ext cx="34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adder</a:t>
              </a:r>
              <a:endParaRPr lang="en-US" altLang="en-US" sz="3200"/>
            </a:p>
          </p:txBody>
        </p:sp>
        <p:sp>
          <p:nvSpPr>
            <p:cNvPr id="475169" name="Rectangle 33"/>
            <p:cNvSpPr>
              <a:spLocks noChangeArrowheads="1"/>
            </p:cNvSpPr>
            <p:nvPr/>
          </p:nvSpPr>
          <p:spPr bwMode="auto">
            <a:xfrm>
              <a:off x="4259" y="2859"/>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a:t>
              </a:r>
              <a:endParaRPr lang="en-US" altLang="en-US" sz="3200"/>
            </a:p>
          </p:txBody>
        </p:sp>
        <p:sp>
          <p:nvSpPr>
            <p:cNvPr id="475170" name="Rectangle 34"/>
            <p:cNvSpPr>
              <a:spLocks noChangeArrowheads="1"/>
            </p:cNvSpPr>
            <p:nvPr/>
          </p:nvSpPr>
          <p:spPr bwMode="auto">
            <a:xfrm>
              <a:off x="4224" y="3682"/>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a:t>
              </a:r>
              <a:endParaRPr lang="en-US" altLang="en-US" sz="3200"/>
            </a:p>
          </p:txBody>
        </p:sp>
        <p:sp>
          <p:nvSpPr>
            <p:cNvPr id="475171" name="Rectangle 35"/>
            <p:cNvSpPr>
              <a:spLocks noChangeArrowheads="1"/>
            </p:cNvSpPr>
            <p:nvPr/>
          </p:nvSpPr>
          <p:spPr bwMode="auto">
            <a:xfrm>
              <a:off x="4606" y="2859"/>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a:t>
              </a:r>
              <a:endParaRPr lang="en-US" altLang="en-US" sz="3200"/>
            </a:p>
          </p:txBody>
        </p:sp>
        <p:sp>
          <p:nvSpPr>
            <p:cNvPr id="475172" name="Rectangle 36"/>
            <p:cNvSpPr>
              <a:spLocks noChangeArrowheads="1"/>
            </p:cNvSpPr>
            <p:nvPr/>
          </p:nvSpPr>
          <p:spPr bwMode="auto">
            <a:xfrm>
              <a:off x="3275" y="2743"/>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a:t>
              </a:r>
              <a:endParaRPr lang="en-US" altLang="en-US" sz="3200"/>
            </a:p>
          </p:txBody>
        </p:sp>
        <p:sp>
          <p:nvSpPr>
            <p:cNvPr id="475173" name="Rectangle 37"/>
            <p:cNvSpPr>
              <a:spLocks noChangeArrowheads="1"/>
            </p:cNvSpPr>
            <p:nvPr/>
          </p:nvSpPr>
          <p:spPr bwMode="auto">
            <a:xfrm>
              <a:off x="3256" y="1717"/>
              <a:ext cx="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a:t>
              </a:r>
              <a:endParaRPr lang="en-US" altLang="en-US" sz="3200"/>
            </a:p>
          </p:txBody>
        </p:sp>
        <p:sp>
          <p:nvSpPr>
            <p:cNvPr id="475174" name="Rectangle 38"/>
            <p:cNvSpPr>
              <a:spLocks noChangeArrowheads="1"/>
            </p:cNvSpPr>
            <p:nvPr/>
          </p:nvSpPr>
          <p:spPr bwMode="auto">
            <a:xfrm>
              <a:off x="4590" y="1717"/>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a:t>
              </a:r>
              <a:endParaRPr lang="en-US" altLang="en-US" sz="3200"/>
            </a:p>
          </p:txBody>
        </p:sp>
        <p:sp>
          <p:nvSpPr>
            <p:cNvPr id="475175" name="Rectangle 39"/>
            <p:cNvSpPr>
              <a:spLocks noChangeArrowheads="1"/>
            </p:cNvSpPr>
            <p:nvPr/>
          </p:nvSpPr>
          <p:spPr bwMode="auto">
            <a:xfrm>
              <a:off x="3123" y="3744"/>
              <a:ext cx="55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Datapath</a:t>
              </a:r>
              <a:endParaRPr lang="en-US" altLang="en-US" sz="3200"/>
            </a:p>
          </p:txBody>
        </p:sp>
        <p:sp>
          <p:nvSpPr>
            <p:cNvPr id="475180" name="Line 44"/>
            <p:cNvSpPr>
              <a:spLocks noChangeShapeType="1"/>
            </p:cNvSpPr>
            <p:nvPr/>
          </p:nvSpPr>
          <p:spPr bwMode="auto">
            <a:xfrm>
              <a:off x="2872" y="2381"/>
              <a:ext cx="57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81" name="Line 45"/>
            <p:cNvSpPr>
              <a:spLocks noChangeShapeType="1"/>
            </p:cNvSpPr>
            <p:nvPr/>
          </p:nvSpPr>
          <p:spPr bwMode="auto">
            <a:xfrm>
              <a:off x="2872" y="2575"/>
              <a:ext cx="57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82" name="Rectangle 46"/>
            <p:cNvSpPr>
              <a:spLocks noChangeArrowheads="1"/>
            </p:cNvSpPr>
            <p:nvPr/>
          </p:nvSpPr>
          <p:spPr bwMode="auto">
            <a:xfrm>
              <a:off x="2518" y="2288"/>
              <a:ext cx="33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tot_ld</a:t>
              </a:r>
              <a:endParaRPr lang="en-US" altLang="en-US" sz="3200"/>
            </a:p>
          </p:txBody>
        </p:sp>
        <p:sp>
          <p:nvSpPr>
            <p:cNvPr id="475184" name="Rectangle 48"/>
            <p:cNvSpPr>
              <a:spLocks noChangeArrowheads="1"/>
            </p:cNvSpPr>
            <p:nvPr/>
          </p:nvSpPr>
          <p:spPr bwMode="auto">
            <a:xfrm>
              <a:off x="2491" y="2496"/>
              <a:ext cx="37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tot_clr</a:t>
              </a:r>
              <a:endParaRPr lang="en-US" altLang="en-US" sz="3200"/>
            </a:p>
          </p:txBody>
        </p:sp>
        <p:sp>
          <p:nvSpPr>
            <p:cNvPr id="475186" name="Rectangle 50"/>
            <p:cNvSpPr>
              <a:spLocks noChangeArrowheads="1"/>
            </p:cNvSpPr>
            <p:nvPr/>
          </p:nvSpPr>
          <p:spPr bwMode="auto">
            <a:xfrm>
              <a:off x="2407" y="3324"/>
              <a:ext cx="44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tot_lt_s</a:t>
              </a:r>
              <a:endParaRPr lang="en-US" altLang="en-US" sz="3200"/>
            </a:p>
          </p:txBody>
        </p:sp>
        <p:sp>
          <p:nvSpPr>
            <p:cNvPr id="475188" name="Rectangle 52"/>
            <p:cNvSpPr>
              <a:spLocks noChangeArrowheads="1"/>
            </p:cNvSpPr>
            <p:nvPr/>
          </p:nvSpPr>
          <p:spPr bwMode="auto">
            <a:xfrm>
              <a:off x="3554" y="2238"/>
              <a:ext cx="830" cy="47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189" name="Rectangle 53"/>
            <p:cNvSpPr>
              <a:spLocks noChangeArrowheads="1"/>
            </p:cNvSpPr>
            <p:nvPr/>
          </p:nvSpPr>
          <p:spPr bwMode="auto">
            <a:xfrm>
              <a:off x="3365" y="3194"/>
              <a:ext cx="612" cy="47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190" name="Rectangle 54"/>
            <p:cNvSpPr>
              <a:spLocks noChangeArrowheads="1"/>
            </p:cNvSpPr>
            <p:nvPr/>
          </p:nvSpPr>
          <p:spPr bwMode="auto">
            <a:xfrm>
              <a:off x="4060" y="3194"/>
              <a:ext cx="612" cy="47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75192" name="Group 56"/>
          <p:cNvGrpSpPr>
            <a:grpSpLocks/>
          </p:cNvGrpSpPr>
          <p:nvPr/>
        </p:nvGrpSpPr>
        <p:grpSpPr bwMode="auto">
          <a:xfrm>
            <a:off x="6607175" y="839788"/>
            <a:ext cx="2328863" cy="1908175"/>
            <a:chOff x="1960" y="1434"/>
            <a:chExt cx="1823" cy="1444"/>
          </a:xfrm>
        </p:grpSpPr>
        <p:sp>
          <p:nvSpPr>
            <p:cNvPr id="475193" name="Line 57"/>
            <p:cNvSpPr>
              <a:spLocks noChangeShapeType="1"/>
            </p:cNvSpPr>
            <p:nvPr/>
          </p:nvSpPr>
          <p:spPr bwMode="auto">
            <a:xfrm flipH="1">
              <a:off x="3158" y="2083"/>
              <a:ext cx="253"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5194" name="Freeform 58"/>
            <p:cNvSpPr>
              <a:spLocks/>
            </p:cNvSpPr>
            <p:nvPr/>
          </p:nvSpPr>
          <p:spPr bwMode="auto">
            <a:xfrm>
              <a:off x="3070" y="2058"/>
              <a:ext cx="100" cy="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95" name="Freeform 59"/>
            <p:cNvSpPr>
              <a:spLocks/>
            </p:cNvSpPr>
            <p:nvPr/>
          </p:nvSpPr>
          <p:spPr bwMode="auto">
            <a:xfrm>
              <a:off x="3001" y="2270"/>
              <a:ext cx="94" cy="79"/>
            </a:xfrm>
            <a:custGeom>
              <a:avLst/>
              <a:gdLst>
                <a:gd name="T0" fmla="*/ 0 w 94"/>
                <a:gd name="T1" fmla="*/ 0 h 79"/>
                <a:gd name="T2" fmla="*/ 66 w 94"/>
                <a:gd name="T3" fmla="*/ 79 h 79"/>
                <a:gd name="T4" fmla="*/ 94 w 94"/>
                <a:gd name="T5" fmla="*/ 38 h 79"/>
                <a:gd name="T6" fmla="*/ 0 w 94"/>
                <a:gd name="T7" fmla="*/ 0 h 79"/>
              </a:gdLst>
              <a:ahLst/>
              <a:cxnLst>
                <a:cxn ang="0">
                  <a:pos x="T0" y="T1"/>
                </a:cxn>
                <a:cxn ang="0">
                  <a:pos x="T2" y="T3"/>
                </a:cxn>
                <a:cxn ang="0">
                  <a:pos x="T4" y="T5"/>
                </a:cxn>
                <a:cxn ang="0">
                  <a:pos x="T6" y="T7"/>
                </a:cxn>
              </a:cxnLst>
              <a:rect l="0" t="0" r="r" b="b"/>
              <a:pathLst>
                <a:path w="94" h="79">
                  <a:moveTo>
                    <a:pt x="0" y="0"/>
                  </a:moveTo>
                  <a:lnTo>
                    <a:pt x="66" y="79"/>
                  </a:lnTo>
                  <a:lnTo>
                    <a:pt x="94" y="3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96" name="Freeform 60"/>
            <p:cNvSpPr>
              <a:spLocks/>
            </p:cNvSpPr>
            <p:nvPr/>
          </p:nvSpPr>
          <p:spPr bwMode="auto">
            <a:xfrm>
              <a:off x="2198" y="1930"/>
              <a:ext cx="100" cy="65"/>
            </a:xfrm>
            <a:custGeom>
              <a:avLst/>
              <a:gdLst>
                <a:gd name="T0" fmla="*/ 100 w 100"/>
                <a:gd name="T1" fmla="*/ 65 h 65"/>
                <a:gd name="T2" fmla="*/ 22 w 100"/>
                <a:gd name="T3" fmla="*/ 0 h 65"/>
                <a:gd name="T4" fmla="*/ 0 w 100"/>
                <a:gd name="T5" fmla="*/ 44 h 65"/>
                <a:gd name="T6" fmla="*/ 100 w 100"/>
                <a:gd name="T7" fmla="*/ 65 h 65"/>
              </a:gdLst>
              <a:ahLst/>
              <a:cxnLst>
                <a:cxn ang="0">
                  <a:pos x="T0" y="T1"/>
                </a:cxn>
                <a:cxn ang="0">
                  <a:pos x="T2" y="T3"/>
                </a:cxn>
                <a:cxn ang="0">
                  <a:pos x="T4" y="T5"/>
                </a:cxn>
                <a:cxn ang="0">
                  <a:pos x="T6" y="T7"/>
                </a:cxn>
              </a:cxnLst>
              <a:rect l="0" t="0" r="r" b="b"/>
              <a:pathLst>
                <a:path w="100" h="65">
                  <a:moveTo>
                    <a:pt x="100" y="65"/>
                  </a:moveTo>
                  <a:lnTo>
                    <a:pt x="22" y="0"/>
                  </a:lnTo>
                  <a:lnTo>
                    <a:pt x="0" y="44"/>
                  </a:lnTo>
                  <a:lnTo>
                    <a:pt x="10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97" name="Freeform 61"/>
            <p:cNvSpPr>
              <a:spLocks/>
            </p:cNvSpPr>
            <p:nvPr/>
          </p:nvSpPr>
          <p:spPr bwMode="auto">
            <a:xfrm>
              <a:off x="2657" y="1964"/>
              <a:ext cx="104" cy="60"/>
            </a:xfrm>
            <a:custGeom>
              <a:avLst/>
              <a:gdLst>
                <a:gd name="T0" fmla="*/ 104 w 104"/>
                <a:gd name="T1" fmla="*/ 60 h 60"/>
                <a:gd name="T2" fmla="*/ 19 w 104"/>
                <a:gd name="T3" fmla="*/ 0 h 60"/>
                <a:gd name="T4" fmla="*/ 0 w 104"/>
                <a:gd name="T5" fmla="*/ 47 h 60"/>
                <a:gd name="T6" fmla="*/ 104 w 104"/>
                <a:gd name="T7" fmla="*/ 60 h 60"/>
              </a:gdLst>
              <a:ahLst/>
              <a:cxnLst>
                <a:cxn ang="0">
                  <a:pos x="T0" y="T1"/>
                </a:cxn>
                <a:cxn ang="0">
                  <a:pos x="T2" y="T3"/>
                </a:cxn>
                <a:cxn ang="0">
                  <a:pos x="T4" y="T5"/>
                </a:cxn>
                <a:cxn ang="0">
                  <a:pos x="T6" y="T7"/>
                </a:cxn>
              </a:cxnLst>
              <a:rect l="0" t="0" r="r" b="b"/>
              <a:pathLst>
                <a:path w="104" h="60">
                  <a:moveTo>
                    <a:pt x="104" y="60"/>
                  </a:moveTo>
                  <a:lnTo>
                    <a:pt x="19" y="0"/>
                  </a:lnTo>
                  <a:lnTo>
                    <a:pt x="0" y="47"/>
                  </a:lnTo>
                  <a:lnTo>
                    <a:pt x="104"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198" name="Rectangle 62"/>
            <p:cNvSpPr>
              <a:spLocks noChangeArrowheads="1"/>
            </p:cNvSpPr>
            <p:nvPr/>
          </p:nvSpPr>
          <p:spPr bwMode="auto">
            <a:xfrm>
              <a:off x="1999" y="1434"/>
              <a:ext cx="29"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a:t>
              </a:r>
              <a:endParaRPr lang="en-US" altLang="en-US" sz="900"/>
            </a:p>
          </p:txBody>
        </p:sp>
        <p:sp>
          <p:nvSpPr>
            <p:cNvPr id="475199" name="Rectangle 63"/>
            <p:cNvSpPr>
              <a:spLocks noChangeArrowheads="1"/>
            </p:cNvSpPr>
            <p:nvPr/>
          </p:nvSpPr>
          <p:spPr bwMode="auto">
            <a:xfrm>
              <a:off x="2025" y="1434"/>
              <a:ext cx="193"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nputs</a:t>
              </a:r>
              <a:endParaRPr lang="en-US" altLang="en-US" sz="900"/>
            </a:p>
          </p:txBody>
        </p:sp>
        <p:sp>
          <p:nvSpPr>
            <p:cNvPr id="475200" name="Rectangle 64"/>
            <p:cNvSpPr>
              <a:spLocks noChangeArrowheads="1"/>
            </p:cNvSpPr>
            <p:nvPr/>
          </p:nvSpPr>
          <p:spPr bwMode="auto">
            <a:xfrm>
              <a:off x="2263" y="1434"/>
              <a:ext cx="2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t>
              </a:r>
              <a:endParaRPr lang="en-US" altLang="en-US" sz="900"/>
            </a:p>
          </p:txBody>
        </p:sp>
        <p:sp>
          <p:nvSpPr>
            <p:cNvPr id="475201" name="Rectangle 65"/>
            <p:cNvSpPr>
              <a:spLocks noChangeArrowheads="1"/>
            </p:cNvSpPr>
            <p:nvPr/>
          </p:nvSpPr>
          <p:spPr bwMode="auto">
            <a:xfrm>
              <a:off x="2305" y="1434"/>
              <a:ext cx="4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c</a:t>
              </a:r>
              <a:endParaRPr lang="en-US" altLang="en-US" sz="900"/>
            </a:p>
          </p:txBody>
        </p:sp>
        <p:sp>
          <p:nvSpPr>
            <p:cNvPr id="475202" name="Rectangle 66"/>
            <p:cNvSpPr>
              <a:spLocks noChangeArrowheads="1"/>
            </p:cNvSpPr>
            <p:nvPr/>
          </p:nvSpPr>
          <p:spPr bwMode="auto">
            <a:xfrm>
              <a:off x="2373" y="1434"/>
              <a:ext cx="17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(bit),</a:t>
              </a:r>
              <a:endParaRPr lang="en-US" altLang="en-US" sz="900"/>
            </a:p>
          </p:txBody>
        </p:sp>
        <p:sp>
          <p:nvSpPr>
            <p:cNvPr id="475203" name="Rectangle 67"/>
            <p:cNvSpPr>
              <a:spLocks noChangeArrowheads="1"/>
            </p:cNvSpPr>
            <p:nvPr/>
          </p:nvSpPr>
          <p:spPr bwMode="auto">
            <a:xfrm>
              <a:off x="2585" y="1434"/>
              <a:ext cx="29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a(8 bits)</a:t>
              </a:r>
              <a:endParaRPr lang="en-US" altLang="en-US" sz="900"/>
            </a:p>
          </p:txBody>
        </p:sp>
        <p:sp>
          <p:nvSpPr>
            <p:cNvPr id="475204" name="Rectangle 68"/>
            <p:cNvSpPr>
              <a:spLocks noChangeArrowheads="1"/>
            </p:cNvSpPr>
            <p:nvPr/>
          </p:nvSpPr>
          <p:spPr bwMode="auto">
            <a:xfrm>
              <a:off x="2916" y="1434"/>
              <a:ext cx="22"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t>
              </a:r>
              <a:endParaRPr lang="en-US" altLang="en-US" sz="900"/>
            </a:p>
          </p:txBody>
        </p:sp>
        <p:sp>
          <p:nvSpPr>
            <p:cNvPr id="475205" name="Rectangle 69"/>
            <p:cNvSpPr>
              <a:spLocks noChangeArrowheads="1"/>
            </p:cNvSpPr>
            <p:nvPr/>
          </p:nvSpPr>
          <p:spPr bwMode="auto">
            <a:xfrm>
              <a:off x="2957" y="1434"/>
              <a:ext cx="34"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a:t>
              </a:r>
              <a:endParaRPr lang="en-US" altLang="en-US" sz="900"/>
            </a:p>
          </p:txBody>
        </p:sp>
        <p:sp>
          <p:nvSpPr>
            <p:cNvPr id="475206" name="Rectangle 70"/>
            <p:cNvSpPr>
              <a:spLocks noChangeArrowheads="1"/>
            </p:cNvSpPr>
            <p:nvPr/>
          </p:nvSpPr>
          <p:spPr bwMode="auto">
            <a:xfrm>
              <a:off x="3018" y="1434"/>
              <a:ext cx="25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(8 bits)</a:t>
              </a:r>
              <a:endParaRPr lang="en-US" altLang="en-US" sz="900"/>
            </a:p>
          </p:txBody>
        </p:sp>
        <p:sp>
          <p:nvSpPr>
            <p:cNvPr id="475207" name="Rectangle 71"/>
            <p:cNvSpPr>
              <a:spLocks noChangeArrowheads="1"/>
            </p:cNvSpPr>
            <p:nvPr/>
          </p:nvSpPr>
          <p:spPr bwMode="auto">
            <a:xfrm>
              <a:off x="1999" y="1543"/>
              <a:ext cx="64"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a:t>
              </a:r>
              <a:endParaRPr lang="en-US" altLang="en-US" sz="900"/>
            </a:p>
          </p:txBody>
        </p:sp>
        <p:sp>
          <p:nvSpPr>
            <p:cNvPr id="475208" name="Rectangle 72"/>
            <p:cNvSpPr>
              <a:spLocks noChangeArrowheads="1"/>
            </p:cNvSpPr>
            <p:nvPr/>
          </p:nvSpPr>
          <p:spPr bwMode="auto">
            <a:xfrm>
              <a:off x="2071" y="1543"/>
              <a:ext cx="218"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utputs</a:t>
              </a:r>
              <a:endParaRPr lang="en-US" altLang="en-US" sz="900"/>
            </a:p>
          </p:txBody>
        </p:sp>
        <p:sp>
          <p:nvSpPr>
            <p:cNvPr id="475209" name="Rectangle 73"/>
            <p:cNvSpPr>
              <a:spLocks noChangeArrowheads="1"/>
            </p:cNvSpPr>
            <p:nvPr/>
          </p:nvSpPr>
          <p:spPr bwMode="auto">
            <a:xfrm>
              <a:off x="2340" y="1543"/>
              <a:ext cx="25"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t>
              </a:r>
              <a:endParaRPr lang="en-US" altLang="en-US" sz="900"/>
            </a:p>
          </p:txBody>
        </p:sp>
        <p:sp>
          <p:nvSpPr>
            <p:cNvPr id="475210" name="Rectangle 74"/>
            <p:cNvSpPr>
              <a:spLocks noChangeArrowheads="1"/>
            </p:cNvSpPr>
            <p:nvPr/>
          </p:nvSpPr>
          <p:spPr bwMode="auto">
            <a:xfrm>
              <a:off x="2383" y="1543"/>
              <a:ext cx="221"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d (bit)</a:t>
              </a:r>
              <a:endParaRPr lang="en-US" altLang="en-US" sz="900"/>
            </a:p>
          </p:txBody>
        </p:sp>
        <p:sp>
          <p:nvSpPr>
            <p:cNvPr id="475211" name="Rectangle 75"/>
            <p:cNvSpPr>
              <a:spLocks noChangeArrowheads="1"/>
            </p:cNvSpPr>
            <p:nvPr/>
          </p:nvSpPr>
          <p:spPr bwMode="auto">
            <a:xfrm>
              <a:off x="1999" y="1659"/>
              <a:ext cx="54"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L</a:t>
              </a:r>
              <a:endParaRPr lang="en-US" altLang="en-US" sz="900"/>
            </a:p>
          </p:txBody>
        </p:sp>
        <p:sp>
          <p:nvSpPr>
            <p:cNvPr id="475212" name="Rectangle 76"/>
            <p:cNvSpPr>
              <a:spLocks noChangeArrowheads="1"/>
            </p:cNvSpPr>
            <p:nvPr/>
          </p:nvSpPr>
          <p:spPr bwMode="auto">
            <a:xfrm>
              <a:off x="2045" y="1659"/>
              <a:ext cx="149"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ocal</a:t>
              </a:r>
              <a:endParaRPr lang="en-US" altLang="en-US" sz="900"/>
            </a:p>
          </p:txBody>
        </p:sp>
        <p:sp>
          <p:nvSpPr>
            <p:cNvPr id="475213" name="Rectangle 77"/>
            <p:cNvSpPr>
              <a:spLocks noChangeArrowheads="1"/>
            </p:cNvSpPr>
            <p:nvPr/>
          </p:nvSpPr>
          <p:spPr bwMode="auto">
            <a:xfrm>
              <a:off x="2240" y="1659"/>
              <a:ext cx="29"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r</a:t>
              </a:r>
              <a:endParaRPr lang="en-US" altLang="en-US" sz="900"/>
            </a:p>
          </p:txBody>
        </p:sp>
        <p:sp>
          <p:nvSpPr>
            <p:cNvPr id="475214" name="Rectangle 78"/>
            <p:cNvSpPr>
              <a:spLocks noChangeArrowheads="1"/>
            </p:cNvSpPr>
            <p:nvPr/>
          </p:nvSpPr>
          <p:spPr bwMode="auto">
            <a:xfrm>
              <a:off x="2268" y="1659"/>
              <a:ext cx="4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e</a:t>
              </a:r>
              <a:endParaRPr lang="en-US" altLang="en-US" sz="900"/>
            </a:p>
          </p:txBody>
        </p:sp>
        <p:sp>
          <p:nvSpPr>
            <p:cNvPr id="475215" name="Rectangle 79"/>
            <p:cNvSpPr>
              <a:spLocks noChangeArrowheads="1"/>
            </p:cNvSpPr>
            <p:nvPr/>
          </p:nvSpPr>
          <p:spPr bwMode="auto">
            <a:xfrm>
              <a:off x="2318" y="1659"/>
              <a:ext cx="4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a:t>
              </a:r>
              <a:endParaRPr lang="en-US" altLang="en-US" sz="900"/>
            </a:p>
          </p:txBody>
        </p:sp>
        <p:sp>
          <p:nvSpPr>
            <p:cNvPr id="475216" name="Rectangle 80"/>
            <p:cNvSpPr>
              <a:spLocks noChangeArrowheads="1"/>
            </p:cNvSpPr>
            <p:nvPr/>
          </p:nvSpPr>
          <p:spPr bwMode="auto">
            <a:xfrm>
              <a:off x="2378" y="1659"/>
              <a:ext cx="59"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is</a:t>
              </a:r>
              <a:endParaRPr lang="en-US" altLang="en-US" sz="900"/>
            </a:p>
          </p:txBody>
        </p:sp>
        <p:sp>
          <p:nvSpPr>
            <p:cNvPr id="475217" name="Rectangle 81"/>
            <p:cNvSpPr>
              <a:spLocks noChangeArrowheads="1"/>
            </p:cNvSpPr>
            <p:nvPr/>
          </p:nvSpPr>
          <p:spPr bwMode="auto">
            <a:xfrm>
              <a:off x="2437" y="1659"/>
              <a:ext cx="2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5218" name="Rectangle 82"/>
            <p:cNvSpPr>
              <a:spLocks noChangeArrowheads="1"/>
            </p:cNvSpPr>
            <p:nvPr/>
          </p:nvSpPr>
          <p:spPr bwMode="auto">
            <a:xfrm>
              <a:off x="2469" y="1659"/>
              <a:ext cx="10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ers</a:t>
              </a:r>
              <a:endParaRPr lang="en-US" altLang="en-US" sz="900"/>
            </a:p>
          </p:txBody>
        </p:sp>
        <p:sp>
          <p:nvSpPr>
            <p:cNvPr id="475219" name="Rectangle 83"/>
            <p:cNvSpPr>
              <a:spLocks noChangeArrowheads="1"/>
            </p:cNvSpPr>
            <p:nvPr/>
          </p:nvSpPr>
          <p:spPr bwMode="auto">
            <a:xfrm>
              <a:off x="2593" y="1659"/>
              <a:ext cx="24"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t>
              </a:r>
              <a:endParaRPr lang="en-US" altLang="en-US" sz="900"/>
            </a:p>
          </p:txBody>
        </p:sp>
        <p:sp>
          <p:nvSpPr>
            <p:cNvPr id="475220" name="Rectangle 84"/>
            <p:cNvSpPr>
              <a:spLocks noChangeArrowheads="1"/>
            </p:cNvSpPr>
            <p:nvPr/>
          </p:nvSpPr>
          <p:spPr bwMode="auto">
            <a:xfrm>
              <a:off x="2635" y="1659"/>
              <a:ext cx="2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5221" name="Rectangle 85"/>
            <p:cNvSpPr>
              <a:spLocks noChangeArrowheads="1"/>
            </p:cNvSpPr>
            <p:nvPr/>
          </p:nvSpPr>
          <p:spPr bwMode="auto">
            <a:xfrm>
              <a:off x="2670" y="1659"/>
              <a:ext cx="348"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 (8 bits)</a:t>
              </a:r>
              <a:endParaRPr lang="en-US" altLang="en-US" sz="900"/>
            </a:p>
          </p:txBody>
        </p:sp>
        <p:sp>
          <p:nvSpPr>
            <p:cNvPr id="475222" name="Freeform 86"/>
            <p:cNvSpPr>
              <a:spLocks/>
            </p:cNvSpPr>
            <p:nvPr/>
          </p:nvSpPr>
          <p:spPr bwMode="auto">
            <a:xfrm>
              <a:off x="2436" y="1917"/>
              <a:ext cx="300" cy="113"/>
            </a:xfrm>
            <a:custGeom>
              <a:avLst/>
              <a:gdLst>
                <a:gd name="T0" fmla="*/ 0 w 96"/>
                <a:gd name="T1" fmla="*/ 36 h 36"/>
                <a:gd name="T2" fmla="*/ 96 w 96"/>
                <a:gd name="T3" fmla="*/ 30 h 36"/>
              </a:gdLst>
              <a:ahLst/>
              <a:cxnLst>
                <a:cxn ang="0">
                  <a:pos x="T0" y="T1"/>
                </a:cxn>
                <a:cxn ang="0">
                  <a:pos x="T2" y="T3"/>
                </a:cxn>
              </a:cxnLst>
              <a:rect l="0" t="0" r="r" b="b"/>
              <a:pathLst>
                <a:path w="96" h="36">
                  <a:moveTo>
                    <a:pt x="0" y="36"/>
                  </a:moveTo>
                  <a:cubicBezTo>
                    <a:pt x="0" y="36"/>
                    <a:pt x="29" y="0"/>
                    <a:pt x="96" y="3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23" name="Freeform 87"/>
            <p:cNvSpPr>
              <a:spLocks/>
            </p:cNvSpPr>
            <p:nvPr/>
          </p:nvSpPr>
          <p:spPr bwMode="auto">
            <a:xfrm>
              <a:off x="3270" y="1964"/>
              <a:ext cx="103" cy="60"/>
            </a:xfrm>
            <a:custGeom>
              <a:avLst/>
              <a:gdLst>
                <a:gd name="T0" fmla="*/ 103 w 103"/>
                <a:gd name="T1" fmla="*/ 60 h 60"/>
                <a:gd name="T2" fmla="*/ 19 w 103"/>
                <a:gd name="T3" fmla="*/ 0 h 60"/>
                <a:gd name="T4" fmla="*/ 0 w 103"/>
                <a:gd name="T5" fmla="*/ 47 h 60"/>
                <a:gd name="T6" fmla="*/ 103 w 103"/>
                <a:gd name="T7" fmla="*/ 60 h 60"/>
              </a:gdLst>
              <a:ahLst/>
              <a:cxnLst>
                <a:cxn ang="0">
                  <a:pos x="T0" y="T1"/>
                </a:cxn>
                <a:cxn ang="0">
                  <a:pos x="T2" y="T3"/>
                </a:cxn>
                <a:cxn ang="0">
                  <a:pos x="T4" y="T5"/>
                </a:cxn>
                <a:cxn ang="0">
                  <a:pos x="T6" y="T7"/>
                </a:cxn>
              </a:cxnLst>
              <a:rect l="0" t="0" r="r" b="b"/>
              <a:pathLst>
                <a:path w="103" h="60">
                  <a:moveTo>
                    <a:pt x="103" y="60"/>
                  </a:moveTo>
                  <a:lnTo>
                    <a:pt x="19" y="0"/>
                  </a:lnTo>
                  <a:lnTo>
                    <a:pt x="0" y="47"/>
                  </a:lnTo>
                  <a:lnTo>
                    <a:pt x="103"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224" name="Freeform 88"/>
            <p:cNvSpPr>
              <a:spLocks/>
            </p:cNvSpPr>
            <p:nvPr/>
          </p:nvSpPr>
          <p:spPr bwMode="auto">
            <a:xfrm>
              <a:off x="3155" y="2545"/>
              <a:ext cx="103" cy="54"/>
            </a:xfrm>
            <a:custGeom>
              <a:avLst/>
              <a:gdLst>
                <a:gd name="T0" fmla="*/ 103 w 103"/>
                <a:gd name="T1" fmla="*/ 54 h 54"/>
                <a:gd name="T2" fmla="*/ 15 w 103"/>
                <a:gd name="T3" fmla="*/ 0 h 54"/>
                <a:gd name="T4" fmla="*/ 0 w 103"/>
                <a:gd name="T5" fmla="*/ 50 h 54"/>
                <a:gd name="T6" fmla="*/ 103 w 103"/>
                <a:gd name="T7" fmla="*/ 54 h 54"/>
              </a:gdLst>
              <a:ahLst/>
              <a:cxnLst>
                <a:cxn ang="0">
                  <a:pos x="T0" y="T1"/>
                </a:cxn>
                <a:cxn ang="0">
                  <a:pos x="T2" y="T3"/>
                </a:cxn>
                <a:cxn ang="0">
                  <a:pos x="T4" y="T5"/>
                </a:cxn>
                <a:cxn ang="0">
                  <a:pos x="T6" y="T7"/>
                </a:cxn>
              </a:cxnLst>
              <a:rect l="0" t="0" r="r" b="b"/>
              <a:pathLst>
                <a:path w="103" h="54">
                  <a:moveTo>
                    <a:pt x="103" y="54"/>
                  </a:moveTo>
                  <a:lnTo>
                    <a:pt x="15" y="0"/>
                  </a:lnTo>
                  <a:lnTo>
                    <a:pt x="0" y="50"/>
                  </a:lnTo>
                  <a:lnTo>
                    <a:pt x="103"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225" name="Freeform 89"/>
            <p:cNvSpPr>
              <a:spLocks/>
            </p:cNvSpPr>
            <p:nvPr/>
          </p:nvSpPr>
          <p:spPr bwMode="auto">
            <a:xfrm>
              <a:off x="2442" y="2270"/>
              <a:ext cx="78" cy="97"/>
            </a:xfrm>
            <a:custGeom>
              <a:avLst/>
              <a:gdLst>
                <a:gd name="T0" fmla="*/ 0 w 78"/>
                <a:gd name="T1" fmla="*/ 0 h 97"/>
                <a:gd name="T2" fmla="*/ 34 w 78"/>
                <a:gd name="T3" fmla="*/ 97 h 97"/>
                <a:gd name="T4" fmla="*/ 78 w 78"/>
                <a:gd name="T5" fmla="*/ 66 h 97"/>
                <a:gd name="T6" fmla="*/ 0 w 78"/>
                <a:gd name="T7" fmla="*/ 0 h 97"/>
              </a:gdLst>
              <a:ahLst/>
              <a:cxnLst>
                <a:cxn ang="0">
                  <a:pos x="T0" y="T1"/>
                </a:cxn>
                <a:cxn ang="0">
                  <a:pos x="T2" y="T3"/>
                </a:cxn>
                <a:cxn ang="0">
                  <a:pos x="T4" y="T5"/>
                </a:cxn>
                <a:cxn ang="0">
                  <a:pos x="T6" y="T7"/>
                </a:cxn>
              </a:cxnLst>
              <a:rect l="0" t="0" r="r" b="b"/>
              <a:pathLst>
                <a:path w="78" h="97">
                  <a:moveTo>
                    <a:pt x="0" y="0"/>
                  </a:moveTo>
                  <a:lnTo>
                    <a:pt x="34" y="97"/>
                  </a:lnTo>
                  <a:lnTo>
                    <a:pt x="78" y="6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5226" name="Freeform 90"/>
            <p:cNvSpPr>
              <a:spLocks/>
            </p:cNvSpPr>
            <p:nvPr/>
          </p:nvSpPr>
          <p:spPr bwMode="auto">
            <a:xfrm>
              <a:off x="3008" y="1917"/>
              <a:ext cx="340" cy="113"/>
            </a:xfrm>
            <a:custGeom>
              <a:avLst/>
              <a:gdLst>
                <a:gd name="T0" fmla="*/ 0 w 109"/>
                <a:gd name="T1" fmla="*/ 36 h 36"/>
                <a:gd name="T2" fmla="*/ 109 w 109"/>
                <a:gd name="T3" fmla="*/ 30 h 36"/>
              </a:gdLst>
              <a:ahLst/>
              <a:cxnLst>
                <a:cxn ang="0">
                  <a:pos x="T0" y="T1"/>
                </a:cxn>
                <a:cxn ang="0">
                  <a:pos x="T2" y="T3"/>
                </a:cxn>
              </a:cxnLst>
              <a:rect l="0" t="0" r="r" b="b"/>
              <a:pathLst>
                <a:path w="109" h="36">
                  <a:moveTo>
                    <a:pt x="0" y="36"/>
                  </a:moveTo>
                  <a:cubicBezTo>
                    <a:pt x="0" y="36"/>
                    <a:pt x="42" y="0"/>
                    <a:pt x="109" y="3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27" name="Freeform 91"/>
            <p:cNvSpPr>
              <a:spLocks/>
            </p:cNvSpPr>
            <p:nvPr/>
          </p:nvSpPr>
          <p:spPr bwMode="auto">
            <a:xfrm>
              <a:off x="1960" y="1877"/>
              <a:ext cx="300" cy="112"/>
            </a:xfrm>
            <a:custGeom>
              <a:avLst/>
              <a:gdLst>
                <a:gd name="T0" fmla="*/ 0 w 96"/>
                <a:gd name="T1" fmla="*/ 36 h 36"/>
                <a:gd name="T2" fmla="*/ 96 w 96"/>
                <a:gd name="T3" fmla="*/ 31 h 36"/>
              </a:gdLst>
              <a:ahLst/>
              <a:cxnLst>
                <a:cxn ang="0">
                  <a:pos x="T0" y="T1"/>
                </a:cxn>
                <a:cxn ang="0">
                  <a:pos x="T2" y="T3"/>
                </a:cxn>
              </a:cxnLst>
              <a:rect l="0" t="0" r="r" b="b"/>
              <a:pathLst>
                <a:path w="96" h="36">
                  <a:moveTo>
                    <a:pt x="0" y="36"/>
                  </a:moveTo>
                  <a:cubicBezTo>
                    <a:pt x="0" y="36"/>
                    <a:pt x="29" y="0"/>
                    <a:pt x="96" y="31"/>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28" name="Freeform 92"/>
            <p:cNvSpPr>
              <a:spLocks/>
            </p:cNvSpPr>
            <p:nvPr/>
          </p:nvSpPr>
          <p:spPr bwMode="auto">
            <a:xfrm>
              <a:off x="2801" y="2286"/>
              <a:ext cx="400" cy="297"/>
            </a:xfrm>
            <a:custGeom>
              <a:avLst/>
              <a:gdLst>
                <a:gd name="T0" fmla="*/ 0 w 128"/>
                <a:gd name="T1" fmla="*/ 0 h 95"/>
                <a:gd name="T2" fmla="*/ 128 w 128"/>
                <a:gd name="T3" fmla="*/ 95 h 95"/>
              </a:gdLst>
              <a:ahLst/>
              <a:cxnLst>
                <a:cxn ang="0">
                  <a:pos x="T0" y="T1"/>
                </a:cxn>
                <a:cxn ang="0">
                  <a:pos x="T2" y="T3"/>
                </a:cxn>
              </a:cxnLst>
              <a:rect l="0" t="0" r="r" b="b"/>
              <a:pathLst>
                <a:path w="128" h="95">
                  <a:moveTo>
                    <a:pt x="0" y="0"/>
                  </a:moveTo>
                  <a:cubicBezTo>
                    <a:pt x="0" y="0"/>
                    <a:pt x="13" y="59"/>
                    <a:pt x="128" y="95"/>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29" name="Freeform 93"/>
            <p:cNvSpPr>
              <a:spLocks/>
            </p:cNvSpPr>
            <p:nvPr/>
          </p:nvSpPr>
          <p:spPr bwMode="auto">
            <a:xfrm>
              <a:off x="2461" y="2299"/>
              <a:ext cx="840" cy="571"/>
            </a:xfrm>
            <a:custGeom>
              <a:avLst/>
              <a:gdLst>
                <a:gd name="T0" fmla="*/ 0 w 269"/>
                <a:gd name="T1" fmla="*/ 0 h 183"/>
                <a:gd name="T2" fmla="*/ 269 w 269"/>
                <a:gd name="T3" fmla="*/ 129 h 183"/>
              </a:gdLst>
              <a:ahLst/>
              <a:cxnLst>
                <a:cxn ang="0">
                  <a:pos x="T0" y="T1"/>
                </a:cxn>
                <a:cxn ang="0">
                  <a:pos x="T2" y="T3"/>
                </a:cxn>
              </a:cxnLst>
              <a:rect l="0" t="0" r="r" b="b"/>
              <a:pathLst>
                <a:path w="269" h="183">
                  <a:moveTo>
                    <a:pt x="0" y="0"/>
                  </a:moveTo>
                  <a:cubicBezTo>
                    <a:pt x="0" y="0"/>
                    <a:pt x="103" y="183"/>
                    <a:pt x="269" y="129"/>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30" name="Rectangle 94"/>
            <p:cNvSpPr>
              <a:spLocks noChangeArrowheads="1"/>
            </p:cNvSpPr>
            <p:nvPr/>
          </p:nvSpPr>
          <p:spPr bwMode="auto">
            <a:xfrm>
              <a:off x="2775" y="2088"/>
              <a:ext cx="8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W</a:t>
              </a:r>
              <a:endParaRPr lang="en-US" altLang="en-US" sz="900"/>
            </a:p>
          </p:txBody>
        </p:sp>
        <p:sp>
          <p:nvSpPr>
            <p:cNvPr id="475231" name="Rectangle 95"/>
            <p:cNvSpPr>
              <a:spLocks noChangeArrowheads="1"/>
            </p:cNvSpPr>
            <p:nvPr/>
          </p:nvSpPr>
          <p:spPr bwMode="auto">
            <a:xfrm>
              <a:off x="2858" y="2088"/>
              <a:ext cx="9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ait</a:t>
              </a:r>
              <a:endParaRPr lang="en-US" altLang="en-US" sz="900"/>
            </a:p>
          </p:txBody>
        </p:sp>
        <p:sp>
          <p:nvSpPr>
            <p:cNvPr id="475232" name="Rectangle 96"/>
            <p:cNvSpPr>
              <a:spLocks noChangeArrowheads="1"/>
            </p:cNvSpPr>
            <p:nvPr/>
          </p:nvSpPr>
          <p:spPr bwMode="auto">
            <a:xfrm>
              <a:off x="3481" y="1942"/>
              <a:ext cx="6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a:t>
              </a:r>
              <a:endParaRPr lang="en-US" altLang="en-US" sz="900"/>
            </a:p>
          </p:txBody>
        </p:sp>
        <p:sp>
          <p:nvSpPr>
            <p:cNvPr id="475233" name="Rectangle 97"/>
            <p:cNvSpPr>
              <a:spLocks noChangeArrowheads="1"/>
            </p:cNvSpPr>
            <p:nvPr/>
          </p:nvSpPr>
          <p:spPr bwMode="auto">
            <a:xfrm>
              <a:off x="3541" y="1942"/>
              <a:ext cx="89"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dd</a:t>
              </a:r>
              <a:endParaRPr lang="en-US" altLang="en-US" sz="900"/>
            </a:p>
          </p:txBody>
        </p:sp>
        <p:sp>
          <p:nvSpPr>
            <p:cNvPr id="475234" name="Rectangle 98"/>
            <p:cNvSpPr>
              <a:spLocks noChangeArrowheads="1"/>
            </p:cNvSpPr>
            <p:nvPr/>
          </p:nvSpPr>
          <p:spPr bwMode="auto">
            <a:xfrm>
              <a:off x="3383" y="2552"/>
              <a:ext cx="169"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Disp</a:t>
              </a:r>
              <a:endParaRPr lang="en-US" altLang="en-US" sz="900"/>
            </a:p>
          </p:txBody>
        </p:sp>
        <p:sp>
          <p:nvSpPr>
            <p:cNvPr id="475235" name="Rectangle 99"/>
            <p:cNvSpPr>
              <a:spLocks noChangeArrowheads="1"/>
            </p:cNvSpPr>
            <p:nvPr/>
          </p:nvSpPr>
          <p:spPr bwMode="auto">
            <a:xfrm>
              <a:off x="2253" y="2088"/>
              <a:ext cx="3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a:t>
              </a:r>
              <a:endParaRPr lang="en-US" altLang="en-US" sz="900"/>
            </a:p>
          </p:txBody>
        </p:sp>
        <p:sp>
          <p:nvSpPr>
            <p:cNvPr id="475236" name="Rectangle 100"/>
            <p:cNvSpPr>
              <a:spLocks noChangeArrowheads="1"/>
            </p:cNvSpPr>
            <p:nvPr/>
          </p:nvSpPr>
          <p:spPr bwMode="auto">
            <a:xfrm>
              <a:off x="2274" y="2088"/>
              <a:ext cx="9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nit</a:t>
              </a:r>
              <a:endParaRPr lang="en-US" altLang="en-US" sz="900"/>
            </a:p>
          </p:txBody>
        </p:sp>
        <p:sp>
          <p:nvSpPr>
            <p:cNvPr id="475237" name="Rectangle 101"/>
            <p:cNvSpPr>
              <a:spLocks noChangeArrowheads="1"/>
            </p:cNvSpPr>
            <p:nvPr/>
          </p:nvSpPr>
          <p:spPr bwMode="auto">
            <a:xfrm>
              <a:off x="2209" y="2316"/>
              <a:ext cx="14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d=0</a:t>
              </a:r>
              <a:endParaRPr lang="en-US" altLang="en-US" sz="900"/>
            </a:p>
          </p:txBody>
        </p:sp>
        <p:sp>
          <p:nvSpPr>
            <p:cNvPr id="475238" name="Rectangle 102"/>
            <p:cNvSpPr>
              <a:spLocks noChangeArrowheads="1"/>
            </p:cNvSpPr>
            <p:nvPr/>
          </p:nvSpPr>
          <p:spPr bwMode="auto">
            <a:xfrm>
              <a:off x="2209" y="2428"/>
              <a:ext cx="24"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5239" name="Rectangle 103"/>
            <p:cNvSpPr>
              <a:spLocks noChangeArrowheads="1"/>
            </p:cNvSpPr>
            <p:nvPr/>
          </p:nvSpPr>
          <p:spPr bwMode="auto">
            <a:xfrm>
              <a:off x="2243" y="2428"/>
              <a:ext cx="166"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ot=0</a:t>
              </a:r>
              <a:endParaRPr lang="en-US" altLang="en-US" sz="900"/>
            </a:p>
          </p:txBody>
        </p:sp>
        <p:sp>
          <p:nvSpPr>
            <p:cNvPr id="475240" name="Freeform 104"/>
            <p:cNvSpPr>
              <a:spLocks/>
            </p:cNvSpPr>
            <p:nvPr/>
          </p:nvSpPr>
          <p:spPr bwMode="auto">
            <a:xfrm>
              <a:off x="3036" y="2149"/>
              <a:ext cx="215" cy="234"/>
            </a:xfrm>
            <a:custGeom>
              <a:avLst/>
              <a:gdLst>
                <a:gd name="T0" fmla="*/ 16 w 69"/>
                <a:gd name="T1" fmla="*/ 0 h 75"/>
                <a:gd name="T2" fmla="*/ 50 w 69"/>
                <a:gd name="T3" fmla="*/ 45 h 75"/>
                <a:gd name="T4" fmla="*/ 0 w 69"/>
                <a:gd name="T5" fmla="*/ 48 h 75"/>
              </a:gdLst>
              <a:ahLst/>
              <a:cxnLst>
                <a:cxn ang="0">
                  <a:pos x="T0" y="T1"/>
                </a:cxn>
                <a:cxn ang="0">
                  <a:pos x="T2" y="T3"/>
                </a:cxn>
                <a:cxn ang="0">
                  <a:pos x="T4" y="T5"/>
                </a:cxn>
              </a:cxnLst>
              <a:rect l="0" t="0" r="r" b="b"/>
              <a:pathLst>
                <a:path w="69" h="75">
                  <a:moveTo>
                    <a:pt x="16" y="0"/>
                  </a:moveTo>
                  <a:cubicBezTo>
                    <a:pt x="16" y="0"/>
                    <a:pt x="69" y="9"/>
                    <a:pt x="50" y="45"/>
                  </a:cubicBezTo>
                  <a:cubicBezTo>
                    <a:pt x="50" y="45"/>
                    <a:pt x="33" y="75"/>
                    <a:pt x="0" y="48"/>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41" name="Rectangle 105"/>
            <p:cNvSpPr>
              <a:spLocks noChangeArrowheads="1"/>
            </p:cNvSpPr>
            <p:nvPr/>
          </p:nvSpPr>
          <p:spPr bwMode="auto">
            <a:xfrm>
              <a:off x="2688" y="2328"/>
              <a:ext cx="4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c</a:t>
              </a:r>
              <a:endParaRPr lang="en-US" altLang="en-US" sz="900"/>
            </a:p>
          </p:txBody>
        </p:sp>
        <p:sp>
          <p:nvSpPr>
            <p:cNvPr id="475242" name="Rectangle 106"/>
            <p:cNvSpPr>
              <a:spLocks noChangeArrowheads="1"/>
            </p:cNvSpPr>
            <p:nvPr/>
          </p:nvSpPr>
          <p:spPr bwMode="auto">
            <a:xfrm>
              <a:off x="2730" y="2343"/>
              <a:ext cx="19"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Tahoma" panose="020B0604030504040204" pitchFamily="34" charset="0"/>
                </a:rPr>
                <a:t>‘</a:t>
              </a:r>
            </a:p>
          </p:txBody>
        </p:sp>
        <p:sp>
          <p:nvSpPr>
            <p:cNvPr id="475243" name="Rectangle 107"/>
            <p:cNvSpPr>
              <a:spLocks noChangeArrowheads="1"/>
            </p:cNvSpPr>
            <p:nvPr/>
          </p:nvSpPr>
          <p:spPr bwMode="auto">
            <a:xfrm>
              <a:off x="2790" y="2388"/>
              <a:ext cx="3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t>
              </a:r>
              <a:endParaRPr lang="en-US" altLang="en-US" sz="900"/>
            </a:p>
          </p:txBody>
        </p:sp>
        <p:sp>
          <p:nvSpPr>
            <p:cNvPr id="475244" name="Rectangle 108"/>
            <p:cNvSpPr>
              <a:spLocks noChangeArrowheads="1"/>
            </p:cNvSpPr>
            <p:nvPr/>
          </p:nvSpPr>
          <p:spPr bwMode="auto">
            <a:xfrm>
              <a:off x="2812" y="2403"/>
              <a:ext cx="25"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5245" name="Rectangle 109"/>
            <p:cNvSpPr>
              <a:spLocks noChangeArrowheads="1"/>
            </p:cNvSpPr>
            <p:nvPr/>
          </p:nvSpPr>
          <p:spPr bwMode="auto">
            <a:xfrm>
              <a:off x="2840" y="2424"/>
              <a:ext cx="18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ot&lt;s)</a:t>
              </a:r>
              <a:endParaRPr lang="en-US" altLang="en-US" sz="900"/>
            </a:p>
          </p:txBody>
        </p:sp>
        <p:sp>
          <p:nvSpPr>
            <p:cNvPr id="475246" name="Rectangle 110"/>
            <p:cNvSpPr>
              <a:spLocks noChangeArrowheads="1"/>
            </p:cNvSpPr>
            <p:nvPr/>
          </p:nvSpPr>
          <p:spPr bwMode="auto">
            <a:xfrm>
              <a:off x="3015" y="2400"/>
              <a:ext cx="19"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Tahoma" panose="020B0604030504040204" pitchFamily="34" charset="0"/>
                </a:rPr>
                <a:t>‘</a:t>
              </a:r>
            </a:p>
          </p:txBody>
        </p:sp>
        <p:sp>
          <p:nvSpPr>
            <p:cNvPr id="475247" name="Rectangle 111"/>
            <p:cNvSpPr>
              <a:spLocks noChangeArrowheads="1"/>
            </p:cNvSpPr>
            <p:nvPr/>
          </p:nvSpPr>
          <p:spPr bwMode="auto">
            <a:xfrm>
              <a:off x="3173" y="2297"/>
              <a:ext cx="4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c</a:t>
              </a:r>
              <a:endParaRPr lang="en-US" altLang="en-US" sz="900"/>
            </a:p>
          </p:txBody>
        </p:sp>
        <p:sp>
          <p:nvSpPr>
            <p:cNvPr id="475248" name="Rectangle 112"/>
            <p:cNvSpPr>
              <a:spLocks noChangeArrowheads="1"/>
            </p:cNvSpPr>
            <p:nvPr/>
          </p:nvSpPr>
          <p:spPr bwMode="auto">
            <a:xfrm>
              <a:off x="3219" y="2288"/>
              <a:ext cx="18"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Tahoma" panose="020B0604030504040204" pitchFamily="34" charset="0"/>
                </a:rPr>
                <a:t>‘</a:t>
              </a:r>
            </a:p>
          </p:txBody>
        </p:sp>
        <p:sp>
          <p:nvSpPr>
            <p:cNvPr id="475249" name="Rectangle 113"/>
            <p:cNvSpPr>
              <a:spLocks noChangeArrowheads="1"/>
            </p:cNvSpPr>
            <p:nvPr/>
          </p:nvSpPr>
          <p:spPr bwMode="auto">
            <a:xfrm>
              <a:off x="3260" y="2276"/>
              <a:ext cx="4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Symbol" panose="05050102010706020507" pitchFamily="18" charset="2"/>
                </a:rPr>
                <a:t>*</a:t>
              </a:r>
              <a:endParaRPr lang="en-US" altLang="en-US" sz="900"/>
            </a:p>
          </p:txBody>
        </p:sp>
        <p:sp>
          <p:nvSpPr>
            <p:cNvPr id="475250" name="Rectangle 114"/>
            <p:cNvSpPr>
              <a:spLocks noChangeArrowheads="1"/>
            </p:cNvSpPr>
            <p:nvPr/>
          </p:nvSpPr>
          <p:spPr bwMode="auto">
            <a:xfrm>
              <a:off x="3293" y="2297"/>
              <a:ext cx="3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t>
              </a:r>
              <a:endParaRPr lang="en-US" altLang="en-US" sz="900"/>
            </a:p>
          </p:txBody>
        </p:sp>
        <p:sp>
          <p:nvSpPr>
            <p:cNvPr id="475251" name="Rectangle 115"/>
            <p:cNvSpPr>
              <a:spLocks noChangeArrowheads="1"/>
            </p:cNvSpPr>
            <p:nvPr/>
          </p:nvSpPr>
          <p:spPr bwMode="auto">
            <a:xfrm>
              <a:off x="3323" y="2297"/>
              <a:ext cx="2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5252" name="Rectangle 116"/>
            <p:cNvSpPr>
              <a:spLocks noChangeArrowheads="1"/>
            </p:cNvSpPr>
            <p:nvPr/>
          </p:nvSpPr>
          <p:spPr bwMode="auto">
            <a:xfrm>
              <a:off x="3354" y="2297"/>
              <a:ext cx="18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ot&lt;s)</a:t>
              </a:r>
              <a:endParaRPr lang="en-US" altLang="en-US" sz="900"/>
            </a:p>
          </p:txBody>
        </p:sp>
        <p:sp>
          <p:nvSpPr>
            <p:cNvPr id="475253" name="Rectangle 117"/>
            <p:cNvSpPr>
              <a:spLocks noChangeArrowheads="1"/>
            </p:cNvSpPr>
            <p:nvPr/>
          </p:nvSpPr>
          <p:spPr bwMode="auto">
            <a:xfrm>
              <a:off x="3385" y="2775"/>
              <a:ext cx="141"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d=1</a:t>
              </a:r>
              <a:endParaRPr lang="en-US" altLang="en-US" sz="900"/>
            </a:p>
          </p:txBody>
        </p:sp>
        <p:sp>
          <p:nvSpPr>
            <p:cNvPr id="475254" name="Rectangle 118"/>
            <p:cNvSpPr>
              <a:spLocks noChangeArrowheads="1"/>
            </p:cNvSpPr>
            <p:nvPr/>
          </p:nvSpPr>
          <p:spPr bwMode="auto">
            <a:xfrm>
              <a:off x="3169" y="1841"/>
              <a:ext cx="40" cy="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c</a:t>
              </a:r>
              <a:endParaRPr lang="en-US" altLang="en-US" sz="900"/>
            </a:p>
          </p:txBody>
        </p:sp>
        <p:sp>
          <p:nvSpPr>
            <p:cNvPr id="475255" name="Oval 119"/>
            <p:cNvSpPr>
              <a:spLocks noChangeArrowheads="1"/>
            </p:cNvSpPr>
            <p:nvPr/>
          </p:nvSpPr>
          <p:spPr bwMode="auto">
            <a:xfrm>
              <a:off x="2104" y="2002"/>
              <a:ext cx="413" cy="293"/>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56" name="Oval 120"/>
            <p:cNvSpPr>
              <a:spLocks noChangeArrowheads="1"/>
            </p:cNvSpPr>
            <p:nvPr/>
          </p:nvSpPr>
          <p:spPr bwMode="auto">
            <a:xfrm>
              <a:off x="2673" y="2002"/>
              <a:ext cx="413" cy="293"/>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57" name="Oval 121"/>
            <p:cNvSpPr>
              <a:spLocks noChangeArrowheads="1"/>
            </p:cNvSpPr>
            <p:nvPr/>
          </p:nvSpPr>
          <p:spPr bwMode="auto">
            <a:xfrm>
              <a:off x="3370" y="1849"/>
              <a:ext cx="413" cy="293"/>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58" name="Oval 122"/>
            <p:cNvSpPr>
              <a:spLocks noChangeArrowheads="1"/>
            </p:cNvSpPr>
            <p:nvPr/>
          </p:nvSpPr>
          <p:spPr bwMode="auto">
            <a:xfrm>
              <a:off x="3261" y="2464"/>
              <a:ext cx="412"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5259" name="Rectangle 123"/>
            <p:cNvSpPr>
              <a:spLocks noChangeArrowheads="1"/>
            </p:cNvSpPr>
            <p:nvPr/>
          </p:nvSpPr>
          <p:spPr bwMode="auto">
            <a:xfrm>
              <a:off x="3394" y="2142"/>
              <a:ext cx="2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5260" name="Rectangle 124"/>
            <p:cNvSpPr>
              <a:spLocks noChangeArrowheads="1"/>
            </p:cNvSpPr>
            <p:nvPr/>
          </p:nvSpPr>
          <p:spPr bwMode="auto">
            <a:xfrm>
              <a:off x="3425" y="2142"/>
              <a:ext cx="121"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a:t>
              </a:r>
              <a:endParaRPr lang="en-US" altLang="en-US" sz="900"/>
            </a:p>
          </p:txBody>
        </p:sp>
        <p:sp>
          <p:nvSpPr>
            <p:cNvPr id="475261" name="Rectangle 125"/>
            <p:cNvSpPr>
              <a:spLocks noChangeArrowheads="1"/>
            </p:cNvSpPr>
            <p:nvPr/>
          </p:nvSpPr>
          <p:spPr bwMode="auto">
            <a:xfrm>
              <a:off x="3573" y="2142"/>
              <a:ext cx="25"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5262" name="Rectangle 126"/>
            <p:cNvSpPr>
              <a:spLocks noChangeArrowheads="1"/>
            </p:cNvSpPr>
            <p:nvPr/>
          </p:nvSpPr>
          <p:spPr bwMode="auto">
            <a:xfrm>
              <a:off x="3607" y="2142"/>
              <a:ext cx="160" cy="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ot+a</a:t>
              </a:r>
              <a:endParaRPr lang="en-US" altLang="en-US" sz="90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lide Number Placeholder 3"/>
          <p:cNvSpPr>
            <a:spLocks noGrp="1"/>
          </p:cNvSpPr>
          <p:nvPr>
            <p:ph type="sldNum" sz="quarter" idx="10"/>
          </p:nvPr>
        </p:nvSpPr>
        <p:spPr/>
        <p:txBody>
          <a:bodyPr/>
          <a:lstStyle/>
          <a:p>
            <a:fld id="{1DBCE769-3F1E-4AF8-99E3-25587A74B886}" type="slidenum">
              <a:rPr lang="en-US" altLang="en-US"/>
              <a:pPr/>
              <a:t>8</a:t>
            </a:fld>
            <a:endParaRPr lang="en-US" altLang="en-US"/>
          </a:p>
        </p:txBody>
      </p:sp>
      <p:sp>
        <p:nvSpPr>
          <p:cNvPr id="477186" name="Rectangle 2"/>
          <p:cNvSpPr>
            <a:spLocks noGrp="1" noChangeArrowheads="1"/>
          </p:cNvSpPr>
          <p:nvPr>
            <p:ph type="title"/>
          </p:nvPr>
        </p:nvSpPr>
        <p:spPr/>
        <p:txBody>
          <a:bodyPr/>
          <a:lstStyle/>
          <a:p>
            <a:r>
              <a:rPr lang="en-US" altLang="en-US"/>
              <a:t>Preview Example:  </a:t>
            </a:r>
            <a:r>
              <a:rPr lang="en-US" altLang="en-US" sz="3200"/>
              <a:t>Step 3 – </a:t>
            </a:r>
            <a:br>
              <a:rPr lang="en-US" altLang="en-US" sz="3200"/>
            </a:br>
            <a:r>
              <a:rPr lang="en-US" altLang="en-US" sz="3200"/>
              <a:t>Connect Datapath to a Controller</a:t>
            </a:r>
          </a:p>
        </p:txBody>
      </p:sp>
      <p:sp>
        <p:nvSpPr>
          <p:cNvPr id="477187" name="Rectangle 3"/>
          <p:cNvSpPr>
            <a:spLocks noGrp="1" noChangeArrowheads="1"/>
          </p:cNvSpPr>
          <p:nvPr>
            <p:ph type="body" idx="1"/>
          </p:nvPr>
        </p:nvSpPr>
        <p:spPr>
          <a:xfrm>
            <a:off x="228600" y="1219200"/>
            <a:ext cx="3286125" cy="4876800"/>
          </a:xfrm>
        </p:spPr>
        <p:txBody>
          <a:bodyPr/>
          <a:lstStyle/>
          <a:p>
            <a:r>
              <a:rPr lang="en-US" altLang="en-US"/>
              <a:t>Controller’s inputs</a:t>
            </a:r>
          </a:p>
          <a:p>
            <a:pPr lvl="1"/>
            <a:r>
              <a:rPr lang="en-US" altLang="en-US"/>
              <a:t>External input </a:t>
            </a:r>
            <a:r>
              <a:rPr lang="en-US" altLang="en-US" i="1"/>
              <a:t>c</a:t>
            </a:r>
            <a:r>
              <a:rPr lang="en-US" altLang="en-US"/>
              <a:t> (coin detected)</a:t>
            </a:r>
          </a:p>
          <a:p>
            <a:pPr lvl="1"/>
            <a:r>
              <a:rPr lang="en-US" altLang="en-US"/>
              <a:t>Input from datapath comparator’s output, which we named </a:t>
            </a:r>
            <a:r>
              <a:rPr lang="en-US" altLang="en-US" i="1"/>
              <a:t>tot_lt_s</a:t>
            </a:r>
          </a:p>
          <a:p>
            <a:r>
              <a:rPr lang="en-US" altLang="en-US"/>
              <a:t>Controller’s outputs</a:t>
            </a:r>
          </a:p>
          <a:p>
            <a:pPr lvl="1"/>
            <a:r>
              <a:rPr lang="en-US" altLang="en-US"/>
              <a:t>External output </a:t>
            </a:r>
            <a:r>
              <a:rPr lang="en-US" altLang="en-US" i="1"/>
              <a:t>d</a:t>
            </a:r>
            <a:r>
              <a:rPr lang="en-US" altLang="en-US"/>
              <a:t> (dispense soda)</a:t>
            </a:r>
          </a:p>
          <a:p>
            <a:pPr lvl="1"/>
            <a:r>
              <a:rPr lang="en-US" altLang="en-US"/>
              <a:t>Outputs to datapath to load and clear the </a:t>
            </a:r>
            <a:r>
              <a:rPr lang="en-US" altLang="en-US" i="1"/>
              <a:t>tot</a:t>
            </a:r>
            <a:r>
              <a:rPr lang="en-US" altLang="en-US"/>
              <a:t> register</a:t>
            </a:r>
          </a:p>
        </p:txBody>
      </p:sp>
      <p:sp>
        <p:nvSpPr>
          <p:cNvPr id="477188" name="Line 4"/>
          <p:cNvSpPr>
            <a:spLocks noChangeShapeType="1"/>
          </p:cNvSpPr>
          <p:nvPr/>
        </p:nvSpPr>
        <p:spPr bwMode="auto">
          <a:xfrm flipH="1">
            <a:off x="5602288" y="5897563"/>
            <a:ext cx="685800" cy="31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189" name="Freeform 5"/>
          <p:cNvSpPr>
            <a:spLocks/>
          </p:cNvSpPr>
          <p:nvPr/>
        </p:nvSpPr>
        <p:spPr bwMode="auto">
          <a:xfrm>
            <a:off x="5422900" y="5835650"/>
            <a:ext cx="204788" cy="123825"/>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190" name="Line 6"/>
          <p:cNvSpPr>
            <a:spLocks noChangeShapeType="1"/>
          </p:cNvSpPr>
          <p:nvPr/>
        </p:nvSpPr>
        <p:spPr bwMode="auto">
          <a:xfrm>
            <a:off x="6572250" y="3167063"/>
            <a:ext cx="1588" cy="38576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191" name="Freeform 7"/>
          <p:cNvSpPr>
            <a:spLocks/>
          </p:cNvSpPr>
          <p:nvPr/>
        </p:nvSpPr>
        <p:spPr bwMode="auto">
          <a:xfrm>
            <a:off x="6519863" y="3521075"/>
            <a:ext cx="103187" cy="2476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192" name="Line 8"/>
          <p:cNvSpPr>
            <a:spLocks noChangeShapeType="1"/>
          </p:cNvSpPr>
          <p:nvPr/>
        </p:nvSpPr>
        <p:spPr bwMode="auto">
          <a:xfrm flipH="1">
            <a:off x="4076700" y="4937125"/>
            <a:ext cx="228600"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193" name="Freeform 9"/>
          <p:cNvSpPr>
            <a:spLocks/>
          </p:cNvSpPr>
          <p:nvPr/>
        </p:nvSpPr>
        <p:spPr bwMode="auto">
          <a:xfrm>
            <a:off x="3895725" y="4875213"/>
            <a:ext cx="204788" cy="123825"/>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194" name="Line 10"/>
          <p:cNvSpPr>
            <a:spLocks noChangeShapeType="1"/>
          </p:cNvSpPr>
          <p:nvPr/>
        </p:nvSpPr>
        <p:spPr bwMode="auto">
          <a:xfrm>
            <a:off x="3910013" y="4318000"/>
            <a:ext cx="230187"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195" name="Freeform 11"/>
          <p:cNvSpPr>
            <a:spLocks/>
          </p:cNvSpPr>
          <p:nvPr/>
        </p:nvSpPr>
        <p:spPr bwMode="auto">
          <a:xfrm>
            <a:off x="4100513" y="4256088"/>
            <a:ext cx="204787" cy="12382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196" name="Line 12"/>
          <p:cNvSpPr>
            <a:spLocks noChangeShapeType="1"/>
          </p:cNvSpPr>
          <p:nvPr/>
        </p:nvSpPr>
        <p:spPr bwMode="auto">
          <a:xfrm>
            <a:off x="5416550" y="5278438"/>
            <a:ext cx="700088" cy="31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197" name="Freeform 13"/>
          <p:cNvSpPr>
            <a:spLocks/>
          </p:cNvSpPr>
          <p:nvPr/>
        </p:nvSpPr>
        <p:spPr bwMode="auto">
          <a:xfrm>
            <a:off x="6076950" y="5216525"/>
            <a:ext cx="204788" cy="12382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198" name="Line 14"/>
          <p:cNvSpPr>
            <a:spLocks noChangeShapeType="1"/>
          </p:cNvSpPr>
          <p:nvPr/>
        </p:nvSpPr>
        <p:spPr bwMode="auto">
          <a:xfrm>
            <a:off x="5416550" y="4783138"/>
            <a:ext cx="700088" cy="31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199" name="Freeform 15"/>
          <p:cNvSpPr>
            <a:spLocks/>
          </p:cNvSpPr>
          <p:nvPr/>
        </p:nvSpPr>
        <p:spPr bwMode="auto">
          <a:xfrm>
            <a:off x="6076950" y="4721225"/>
            <a:ext cx="204788" cy="12382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00" name="Rectangle 16"/>
          <p:cNvSpPr>
            <a:spLocks noChangeArrowheads="1"/>
          </p:cNvSpPr>
          <p:nvPr/>
        </p:nvSpPr>
        <p:spPr bwMode="auto">
          <a:xfrm>
            <a:off x="5521325" y="5949950"/>
            <a:ext cx="6985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tot_lt_s</a:t>
            </a:r>
            <a:endParaRPr lang="en-US" altLang="en-US" sz="3200"/>
          </a:p>
        </p:txBody>
      </p:sp>
      <p:sp>
        <p:nvSpPr>
          <p:cNvPr id="477202" name="Rectangle 18"/>
          <p:cNvSpPr>
            <a:spLocks noChangeArrowheads="1"/>
          </p:cNvSpPr>
          <p:nvPr/>
        </p:nvSpPr>
        <p:spPr bwMode="auto">
          <a:xfrm>
            <a:off x="5567363" y="5326063"/>
            <a:ext cx="58896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tot_clr</a:t>
            </a:r>
            <a:endParaRPr lang="en-US" altLang="en-US" sz="3200"/>
          </a:p>
        </p:txBody>
      </p:sp>
      <p:sp>
        <p:nvSpPr>
          <p:cNvPr id="477204" name="Rectangle 20"/>
          <p:cNvSpPr>
            <a:spLocks noChangeArrowheads="1"/>
          </p:cNvSpPr>
          <p:nvPr/>
        </p:nvSpPr>
        <p:spPr bwMode="auto">
          <a:xfrm>
            <a:off x="5597525" y="4837113"/>
            <a:ext cx="5302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tot_ld</a:t>
            </a:r>
            <a:endParaRPr lang="en-US" altLang="en-US" sz="3200"/>
          </a:p>
        </p:txBody>
      </p:sp>
      <p:sp>
        <p:nvSpPr>
          <p:cNvPr id="477206" name="Rectangle 22"/>
          <p:cNvSpPr>
            <a:spLocks noChangeArrowheads="1"/>
          </p:cNvSpPr>
          <p:nvPr/>
        </p:nvSpPr>
        <p:spPr bwMode="auto">
          <a:xfrm>
            <a:off x="4430713" y="5803900"/>
            <a:ext cx="9366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Controller</a:t>
            </a:r>
            <a:endParaRPr lang="en-US" altLang="en-US" sz="3200"/>
          </a:p>
        </p:txBody>
      </p:sp>
      <p:sp>
        <p:nvSpPr>
          <p:cNvPr id="477212" name="Rectangle 28"/>
          <p:cNvSpPr>
            <a:spLocks noChangeArrowheads="1"/>
          </p:cNvSpPr>
          <p:nvPr/>
        </p:nvSpPr>
        <p:spPr bwMode="auto">
          <a:xfrm>
            <a:off x="6429375" y="5803900"/>
            <a:ext cx="8794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Datapath</a:t>
            </a:r>
            <a:endParaRPr lang="en-US" altLang="en-US" sz="3200"/>
          </a:p>
        </p:txBody>
      </p:sp>
      <p:sp>
        <p:nvSpPr>
          <p:cNvPr id="477217" name="Line 33"/>
          <p:cNvSpPr>
            <a:spLocks noChangeShapeType="1"/>
          </p:cNvSpPr>
          <p:nvPr/>
        </p:nvSpPr>
        <p:spPr bwMode="auto">
          <a:xfrm flipH="1">
            <a:off x="6499225" y="3251200"/>
            <a:ext cx="147638" cy="1778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18" name="Line 34"/>
          <p:cNvSpPr>
            <a:spLocks noChangeShapeType="1"/>
          </p:cNvSpPr>
          <p:nvPr/>
        </p:nvSpPr>
        <p:spPr bwMode="auto">
          <a:xfrm>
            <a:off x="7091363" y="3167063"/>
            <a:ext cx="1587" cy="38576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19" name="Freeform 35"/>
          <p:cNvSpPr>
            <a:spLocks/>
          </p:cNvSpPr>
          <p:nvPr/>
        </p:nvSpPr>
        <p:spPr bwMode="auto">
          <a:xfrm>
            <a:off x="7038975" y="3521075"/>
            <a:ext cx="103188" cy="2476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20" name="Line 36"/>
          <p:cNvSpPr>
            <a:spLocks noChangeShapeType="1"/>
          </p:cNvSpPr>
          <p:nvPr/>
        </p:nvSpPr>
        <p:spPr bwMode="auto">
          <a:xfrm flipH="1">
            <a:off x="7021513" y="3251200"/>
            <a:ext cx="147637" cy="1778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21" name="Rectangle 37"/>
          <p:cNvSpPr>
            <a:spLocks noChangeArrowheads="1"/>
          </p:cNvSpPr>
          <p:nvPr/>
        </p:nvSpPr>
        <p:spPr bwMode="auto">
          <a:xfrm>
            <a:off x="6532563" y="2894013"/>
            <a:ext cx="1079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a:t>
            </a:r>
            <a:endParaRPr lang="en-US" altLang="en-US" sz="3200"/>
          </a:p>
        </p:txBody>
      </p:sp>
      <p:sp>
        <p:nvSpPr>
          <p:cNvPr id="477222" name="Rectangle 38"/>
          <p:cNvSpPr>
            <a:spLocks noChangeArrowheads="1"/>
          </p:cNvSpPr>
          <p:nvPr/>
        </p:nvSpPr>
        <p:spPr bwMode="auto">
          <a:xfrm>
            <a:off x="3783013" y="4146550"/>
            <a:ext cx="1079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a:t>
            </a:r>
            <a:endParaRPr lang="en-US" altLang="en-US" sz="3200"/>
          </a:p>
        </p:txBody>
      </p:sp>
      <p:sp>
        <p:nvSpPr>
          <p:cNvPr id="477223" name="Rectangle 39"/>
          <p:cNvSpPr>
            <a:spLocks noChangeArrowheads="1"/>
          </p:cNvSpPr>
          <p:nvPr/>
        </p:nvSpPr>
        <p:spPr bwMode="auto">
          <a:xfrm>
            <a:off x="3770313" y="4770438"/>
            <a:ext cx="1206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a:t>
            </a:r>
            <a:endParaRPr lang="en-US" altLang="en-US" sz="3200"/>
          </a:p>
        </p:txBody>
      </p:sp>
      <p:sp>
        <p:nvSpPr>
          <p:cNvPr id="477224" name="Rectangle 40"/>
          <p:cNvSpPr>
            <a:spLocks noChangeArrowheads="1"/>
          </p:cNvSpPr>
          <p:nvPr/>
        </p:nvSpPr>
        <p:spPr bwMode="auto">
          <a:xfrm>
            <a:off x="7037388" y="2894013"/>
            <a:ext cx="1206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a:t>
            </a:r>
            <a:endParaRPr lang="en-US" altLang="en-US" sz="3200"/>
          </a:p>
        </p:txBody>
      </p:sp>
      <p:sp>
        <p:nvSpPr>
          <p:cNvPr id="477225" name="Rectangle 41"/>
          <p:cNvSpPr>
            <a:spLocks noChangeArrowheads="1"/>
          </p:cNvSpPr>
          <p:nvPr/>
        </p:nvSpPr>
        <p:spPr bwMode="auto">
          <a:xfrm>
            <a:off x="6657975" y="3217863"/>
            <a:ext cx="1206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a:t>
            </a:r>
            <a:endParaRPr lang="en-US" altLang="en-US" sz="3200"/>
          </a:p>
        </p:txBody>
      </p:sp>
      <p:sp>
        <p:nvSpPr>
          <p:cNvPr id="477226" name="Rectangle 42"/>
          <p:cNvSpPr>
            <a:spLocks noChangeArrowheads="1"/>
          </p:cNvSpPr>
          <p:nvPr/>
        </p:nvSpPr>
        <p:spPr bwMode="auto">
          <a:xfrm>
            <a:off x="7183438" y="3217863"/>
            <a:ext cx="1206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a:t>
            </a:r>
            <a:endParaRPr lang="en-US" altLang="en-US" sz="3200"/>
          </a:p>
        </p:txBody>
      </p:sp>
      <p:sp>
        <p:nvSpPr>
          <p:cNvPr id="477227" name="Rectangle 43"/>
          <p:cNvSpPr>
            <a:spLocks noChangeArrowheads="1"/>
          </p:cNvSpPr>
          <p:nvPr/>
        </p:nvSpPr>
        <p:spPr bwMode="auto">
          <a:xfrm>
            <a:off x="4319588" y="3786188"/>
            <a:ext cx="1090612" cy="2351087"/>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7228" name="Rectangle 44"/>
          <p:cNvSpPr>
            <a:spLocks noChangeArrowheads="1"/>
          </p:cNvSpPr>
          <p:nvPr/>
        </p:nvSpPr>
        <p:spPr bwMode="auto">
          <a:xfrm>
            <a:off x="6288088" y="3786188"/>
            <a:ext cx="1092200" cy="2351087"/>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77230" name="Group 46"/>
          <p:cNvGrpSpPr>
            <a:grpSpLocks/>
          </p:cNvGrpSpPr>
          <p:nvPr/>
        </p:nvGrpSpPr>
        <p:grpSpPr bwMode="auto">
          <a:xfrm>
            <a:off x="6802438" y="1017588"/>
            <a:ext cx="1984375" cy="1928812"/>
            <a:chOff x="3423" y="923"/>
            <a:chExt cx="2007" cy="1512"/>
          </a:xfrm>
        </p:grpSpPr>
        <p:sp>
          <p:nvSpPr>
            <p:cNvPr id="477231" name="Rectangle 47"/>
            <p:cNvSpPr>
              <a:spLocks noChangeArrowheads="1"/>
            </p:cNvSpPr>
            <p:nvPr/>
          </p:nvSpPr>
          <p:spPr bwMode="auto">
            <a:xfrm>
              <a:off x="3914" y="1044"/>
              <a:ext cx="1516" cy="139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7232" name="Freeform 48"/>
            <p:cNvSpPr>
              <a:spLocks/>
            </p:cNvSpPr>
            <p:nvPr/>
          </p:nvSpPr>
          <p:spPr bwMode="auto">
            <a:xfrm>
              <a:off x="4239" y="1347"/>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33" name="Freeform 49"/>
            <p:cNvSpPr>
              <a:spLocks/>
            </p:cNvSpPr>
            <p:nvPr/>
          </p:nvSpPr>
          <p:spPr bwMode="auto">
            <a:xfrm>
              <a:off x="4239" y="147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34" name="Line 50"/>
            <p:cNvSpPr>
              <a:spLocks noChangeShapeType="1"/>
            </p:cNvSpPr>
            <p:nvPr/>
          </p:nvSpPr>
          <p:spPr bwMode="auto">
            <a:xfrm flipH="1">
              <a:off x="3836" y="2085"/>
              <a:ext cx="35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35" name="Freeform 51"/>
            <p:cNvSpPr>
              <a:spLocks/>
            </p:cNvSpPr>
            <p:nvPr/>
          </p:nvSpPr>
          <p:spPr bwMode="auto">
            <a:xfrm>
              <a:off x="3755" y="2060"/>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36" name="Freeform 52"/>
            <p:cNvSpPr>
              <a:spLocks/>
            </p:cNvSpPr>
            <p:nvPr/>
          </p:nvSpPr>
          <p:spPr bwMode="auto">
            <a:xfrm>
              <a:off x="4298" y="1663"/>
              <a:ext cx="585" cy="172"/>
            </a:xfrm>
            <a:custGeom>
              <a:avLst/>
              <a:gdLst>
                <a:gd name="T0" fmla="*/ 0 w 585"/>
                <a:gd name="T1" fmla="*/ 172 h 172"/>
                <a:gd name="T2" fmla="*/ 4 w 585"/>
                <a:gd name="T3" fmla="*/ 0 h 172"/>
                <a:gd name="T4" fmla="*/ 585 w 585"/>
                <a:gd name="T5" fmla="*/ 0 h 172"/>
              </a:gdLst>
              <a:ahLst/>
              <a:cxnLst>
                <a:cxn ang="0">
                  <a:pos x="T0" y="T1"/>
                </a:cxn>
                <a:cxn ang="0">
                  <a:pos x="T2" y="T3"/>
                </a:cxn>
                <a:cxn ang="0">
                  <a:pos x="T4" y="T5"/>
                </a:cxn>
              </a:cxnLst>
              <a:rect l="0" t="0" r="r" b="b"/>
              <a:pathLst>
                <a:path w="585" h="172">
                  <a:moveTo>
                    <a:pt x="0" y="172"/>
                  </a:moveTo>
                  <a:lnTo>
                    <a:pt x="4" y="0"/>
                  </a:lnTo>
                  <a:lnTo>
                    <a:pt x="585" y="0"/>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7237" name="Freeform 53"/>
            <p:cNvSpPr>
              <a:spLocks/>
            </p:cNvSpPr>
            <p:nvPr/>
          </p:nvSpPr>
          <p:spPr bwMode="auto">
            <a:xfrm>
              <a:off x="4273" y="181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38" name="Freeform 54"/>
            <p:cNvSpPr>
              <a:spLocks/>
            </p:cNvSpPr>
            <p:nvPr/>
          </p:nvSpPr>
          <p:spPr bwMode="auto">
            <a:xfrm>
              <a:off x="4070" y="950"/>
              <a:ext cx="519" cy="885"/>
            </a:xfrm>
            <a:custGeom>
              <a:avLst/>
              <a:gdLst>
                <a:gd name="T0" fmla="*/ 516 w 519"/>
                <a:gd name="T1" fmla="*/ 885 h 885"/>
                <a:gd name="T2" fmla="*/ 519 w 519"/>
                <a:gd name="T3" fmla="*/ 800 h 885"/>
                <a:gd name="T4" fmla="*/ 0 w 519"/>
                <a:gd name="T5" fmla="*/ 800 h 885"/>
                <a:gd name="T6" fmla="*/ 0 w 519"/>
                <a:gd name="T7" fmla="*/ 0 h 885"/>
              </a:gdLst>
              <a:ahLst/>
              <a:cxnLst>
                <a:cxn ang="0">
                  <a:pos x="T0" y="T1"/>
                </a:cxn>
                <a:cxn ang="0">
                  <a:pos x="T2" y="T3"/>
                </a:cxn>
                <a:cxn ang="0">
                  <a:pos x="T4" y="T5"/>
                </a:cxn>
                <a:cxn ang="0">
                  <a:pos x="T6" y="T7"/>
                </a:cxn>
              </a:cxnLst>
              <a:rect l="0" t="0" r="r" b="b"/>
              <a:pathLst>
                <a:path w="519" h="885">
                  <a:moveTo>
                    <a:pt x="516" y="885"/>
                  </a:moveTo>
                  <a:lnTo>
                    <a:pt x="519" y="800"/>
                  </a:lnTo>
                  <a:lnTo>
                    <a:pt x="0" y="800"/>
                  </a:lnTo>
                  <a:lnTo>
                    <a:pt x="0" y="0"/>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7239" name="Freeform 55"/>
            <p:cNvSpPr>
              <a:spLocks/>
            </p:cNvSpPr>
            <p:nvPr/>
          </p:nvSpPr>
          <p:spPr bwMode="auto">
            <a:xfrm>
              <a:off x="4561" y="181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40" name="Line 56"/>
            <p:cNvSpPr>
              <a:spLocks noChangeShapeType="1"/>
            </p:cNvSpPr>
            <p:nvPr/>
          </p:nvSpPr>
          <p:spPr bwMode="auto">
            <a:xfrm flipH="1">
              <a:off x="4880" y="1597"/>
              <a:ext cx="3" cy="23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41" name="Freeform 57"/>
            <p:cNvSpPr>
              <a:spLocks/>
            </p:cNvSpPr>
            <p:nvPr/>
          </p:nvSpPr>
          <p:spPr bwMode="auto">
            <a:xfrm>
              <a:off x="4855" y="181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42" name="Freeform 58"/>
            <p:cNvSpPr>
              <a:spLocks/>
            </p:cNvSpPr>
            <p:nvPr/>
          </p:nvSpPr>
          <p:spPr bwMode="auto">
            <a:xfrm>
              <a:off x="4692" y="1135"/>
              <a:ext cx="672" cy="1231"/>
            </a:xfrm>
            <a:custGeom>
              <a:avLst/>
              <a:gdLst>
                <a:gd name="T0" fmla="*/ 0 w 672"/>
                <a:gd name="T1" fmla="*/ 56 h 1231"/>
                <a:gd name="T2" fmla="*/ 0 w 672"/>
                <a:gd name="T3" fmla="*/ 0 h 1231"/>
                <a:gd name="T4" fmla="*/ 672 w 672"/>
                <a:gd name="T5" fmla="*/ 0 h 1231"/>
                <a:gd name="T6" fmla="*/ 672 w 672"/>
                <a:gd name="T7" fmla="*/ 1231 h 1231"/>
                <a:gd name="T8" fmla="*/ 332 w 672"/>
                <a:gd name="T9" fmla="*/ 1231 h 1231"/>
                <a:gd name="T10" fmla="*/ 332 w 672"/>
                <a:gd name="T11" fmla="*/ 1109 h 1231"/>
              </a:gdLst>
              <a:ahLst/>
              <a:cxnLst>
                <a:cxn ang="0">
                  <a:pos x="T0" y="T1"/>
                </a:cxn>
                <a:cxn ang="0">
                  <a:pos x="T2" y="T3"/>
                </a:cxn>
                <a:cxn ang="0">
                  <a:pos x="T4" y="T5"/>
                </a:cxn>
                <a:cxn ang="0">
                  <a:pos x="T6" y="T7"/>
                </a:cxn>
                <a:cxn ang="0">
                  <a:pos x="T8" y="T9"/>
                </a:cxn>
                <a:cxn ang="0">
                  <a:pos x="T10" y="T11"/>
                </a:cxn>
              </a:cxnLst>
              <a:rect l="0" t="0" r="r" b="b"/>
              <a:pathLst>
                <a:path w="672" h="1231">
                  <a:moveTo>
                    <a:pt x="0" y="56"/>
                  </a:moveTo>
                  <a:lnTo>
                    <a:pt x="0" y="0"/>
                  </a:lnTo>
                  <a:lnTo>
                    <a:pt x="672" y="0"/>
                  </a:lnTo>
                  <a:lnTo>
                    <a:pt x="672" y="1231"/>
                  </a:lnTo>
                  <a:lnTo>
                    <a:pt x="332" y="1231"/>
                  </a:lnTo>
                  <a:lnTo>
                    <a:pt x="332" y="1109"/>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7243" name="Freeform 59"/>
            <p:cNvSpPr>
              <a:spLocks/>
            </p:cNvSpPr>
            <p:nvPr/>
          </p:nvSpPr>
          <p:spPr bwMode="auto">
            <a:xfrm>
              <a:off x="4664" y="117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44" name="Line 60"/>
            <p:cNvSpPr>
              <a:spLocks noChangeShapeType="1"/>
            </p:cNvSpPr>
            <p:nvPr/>
          </p:nvSpPr>
          <p:spPr bwMode="auto">
            <a:xfrm flipV="1">
              <a:off x="5170" y="950"/>
              <a:ext cx="1" cy="885"/>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45" name="Freeform 61"/>
            <p:cNvSpPr>
              <a:spLocks/>
            </p:cNvSpPr>
            <p:nvPr/>
          </p:nvSpPr>
          <p:spPr bwMode="auto">
            <a:xfrm>
              <a:off x="5142" y="181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7246" name="Line 62"/>
            <p:cNvSpPr>
              <a:spLocks noChangeShapeType="1"/>
            </p:cNvSpPr>
            <p:nvPr/>
          </p:nvSpPr>
          <p:spPr bwMode="auto">
            <a:xfrm flipH="1">
              <a:off x="4030" y="1625"/>
              <a:ext cx="81" cy="8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47" name="Line 63"/>
            <p:cNvSpPr>
              <a:spLocks noChangeShapeType="1"/>
            </p:cNvSpPr>
            <p:nvPr/>
          </p:nvSpPr>
          <p:spPr bwMode="auto">
            <a:xfrm flipH="1">
              <a:off x="4839" y="1707"/>
              <a:ext cx="81" cy="8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48" name="Line 64"/>
            <p:cNvSpPr>
              <a:spLocks noChangeShapeType="1"/>
            </p:cNvSpPr>
            <p:nvPr/>
          </p:nvSpPr>
          <p:spPr bwMode="auto">
            <a:xfrm flipH="1">
              <a:off x="4983" y="2266"/>
              <a:ext cx="81" cy="8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49" name="Line 65"/>
            <p:cNvSpPr>
              <a:spLocks noChangeShapeType="1"/>
            </p:cNvSpPr>
            <p:nvPr/>
          </p:nvSpPr>
          <p:spPr bwMode="auto">
            <a:xfrm flipH="1">
              <a:off x="5127" y="1707"/>
              <a:ext cx="81" cy="8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50" name="Oval 66"/>
            <p:cNvSpPr>
              <a:spLocks noChangeArrowheads="1"/>
            </p:cNvSpPr>
            <p:nvPr/>
          </p:nvSpPr>
          <p:spPr bwMode="auto">
            <a:xfrm>
              <a:off x="4861" y="1638"/>
              <a:ext cx="47" cy="50"/>
            </a:xfrm>
            <a:prstGeom prst="ellipse">
              <a:avLst/>
            </a:prstGeom>
            <a:solidFill>
              <a:srgbClr val="000000"/>
            </a:solidFill>
            <a:ln w="11113">
              <a:solidFill>
                <a:srgbClr val="000000"/>
              </a:solidFill>
              <a:miter lim="800000"/>
              <a:headEnd/>
              <a:tailEnd/>
            </a:ln>
          </p:spPr>
          <p:txBody>
            <a:bodyPr/>
            <a:lstStyle/>
            <a:p>
              <a:endParaRPr lang="en-US"/>
            </a:p>
          </p:txBody>
        </p:sp>
        <p:sp>
          <p:nvSpPr>
            <p:cNvPr id="477251" name="Freeform 67"/>
            <p:cNvSpPr>
              <a:spLocks/>
            </p:cNvSpPr>
            <p:nvPr/>
          </p:nvSpPr>
          <p:spPr bwMode="auto">
            <a:xfrm>
              <a:off x="4933" y="1475"/>
              <a:ext cx="103" cy="103"/>
            </a:xfrm>
            <a:custGeom>
              <a:avLst/>
              <a:gdLst>
                <a:gd name="T0" fmla="*/ 103 w 103"/>
                <a:gd name="T1" fmla="*/ 103 h 103"/>
                <a:gd name="T2" fmla="*/ 0 w 103"/>
                <a:gd name="T3" fmla="*/ 50 h 103"/>
                <a:gd name="T4" fmla="*/ 103 w 103"/>
                <a:gd name="T5" fmla="*/ 0 h 103"/>
              </a:gdLst>
              <a:ahLst/>
              <a:cxnLst>
                <a:cxn ang="0">
                  <a:pos x="T0" y="T1"/>
                </a:cxn>
                <a:cxn ang="0">
                  <a:pos x="T2" y="T3"/>
                </a:cxn>
                <a:cxn ang="0">
                  <a:pos x="T4" y="T5"/>
                </a:cxn>
              </a:cxnLst>
              <a:rect l="0" t="0" r="r" b="b"/>
              <a:pathLst>
                <a:path w="103" h="103">
                  <a:moveTo>
                    <a:pt x="103" y="103"/>
                  </a:moveTo>
                  <a:lnTo>
                    <a:pt x="0" y="50"/>
                  </a:lnTo>
                  <a:lnTo>
                    <a:pt x="103"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7252" name="Rectangle 68"/>
            <p:cNvSpPr>
              <a:spLocks noChangeArrowheads="1"/>
            </p:cNvSpPr>
            <p:nvPr/>
          </p:nvSpPr>
          <p:spPr bwMode="auto">
            <a:xfrm>
              <a:off x="4367" y="1321"/>
              <a:ext cx="9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ld</a:t>
              </a:r>
              <a:endParaRPr lang="en-US" altLang="en-US" sz="900"/>
            </a:p>
          </p:txBody>
        </p:sp>
        <p:sp>
          <p:nvSpPr>
            <p:cNvPr id="477253" name="Rectangle 69"/>
            <p:cNvSpPr>
              <a:spLocks noChangeArrowheads="1"/>
            </p:cNvSpPr>
            <p:nvPr/>
          </p:nvSpPr>
          <p:spPr bwMode="auto">
            <a:xfrm>
              <a:off x="4367" y="1449"/>
              <a:ext cx="12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clr</a:t>
              </a:r>
              <a:endParaRPr lang="en-US" altLang="en-US" sz="900"/>
            </a:p>
          </p:txBody>
        </p:sp>
        <p:sp>
          <p:nvSpPr>
            <p:cNvPr id="477254" name="Rectangle 70"/>
            <p:cNvSpPr>
              <a:spLocks noChangeArrowheads="1"/>
            </p:cNvSpPr>
            <p:nvPr/>
          </p:nvSpPr>
          <p:spPr bwMode="auto">
            <a:xfrm>
              <a:off x="4632" y="1381"/>
              <a:ext cx="3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7255" name="Rectangle 71"/>
            <p:cNvSpPr>
              <a:spLocks noChangeArrowheads="1"/>
            </p:cNvSpPr>
            <p:nvPr/>
          </p:nvSpPr>
          <p:spPr bwMode="auto">
            <a:xfrm>
              <a:off x="4666" y="1381"/>
              <a:ext cx="9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a:t>
              </a:r>
              <a:endParaRPr lang="en-US" altLang="en-US" sz="900"/>
            </a:p>
          </p:txBody>
        </p:sp>
        <p:sp>
          <p:nvSpPr>
            <p:cNvPr id="477256" name="Rectangle 72"/>
            <p:cNvSpPr>
              <a:spLocks noChangeArrowheads="1"/>
            </p:cNvSpPr>
            <p:nvPr/>
          </p:nvSpPr>
          <p:spPr bwMode="auto">
            <a:xfrm>
              <a:off x="4361" y="1992"/>
              <a:ext cx="21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8-bit</a:t>
              </a:r>
              <a:endParaRPr lang="en-US" altLang="en-US" sz="900"/>
            </a:p>
          </p:txBody>
        </p:sp>
        <p:sp>
          <p:nvSpPr>
            <p:cNvPr id="477257" name="Rectangle 73"/>
            <p:cNvSpPr>
              <a:spLocks noChangeArrowheads="1"/>
            </p:cNvSpPr>
            <p:nvPr/>
          </p:nvSpPr>
          <p:spPr bwMode="auto">
            <a:xfrm>
              <a:off x="4428" y="2101"/>
              <a:ext cx="66"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&lt;</a:t>
              </a:r>
              <a:endParaRPr lang="en-US" altLang="en-US" sz="900"/>
            </a:p>
          </p:txBody>
        </p:sp>
        <p:sp>
          <p:nvSpPr>
            <p:cNvPr id="477258" name="Rectangle 74"/>
            <p:cNvSpPr>
              <a:spLocks noChangeArrowheads="1"/>
            </p:cNvSpPr>
            <p:nvPr/>
          </p:nvSpPr>
          <p:spPr bwMode="auto">
            <a:xfrm>
              <a:off x="4921" y="1960"/>
              <a:ext cx="21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8-bit</a:t>
              </a:r>
              <a:endParaRPr lang="en-US" altLang="en-US" sz="900"/>
            </a:p>
          </p:txBody>
        </p:sp>
        <p:sp>
          <p:nvSpPr>
            <p:cNvPr id="477259" name="Rectangle 75"/>
            <p:cNvSpPr>
              <a:spLocks noChangeArrowheads="1"/>
            </p:cNvSpPr>
            <p:nvPr/>
          </p:nvSpPr>
          <p:spPr bwMode="auto">
            <a:xfrm>
              <a:off x="4897" y="2072"/>
              <a:ext cx="25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adder</a:t>
              </a:r>
              <a:endParaRPr lang="en-US" altLang="en-US" sz="900"/>
            </a:p>
          </p:txBody>
        </p:sp>
        <p:sp>
          <p:nvSpPr>
            <p:cNvPr id="477260" name="Rectangle 76"/>
            <p:cNvSpPr>
              <a:spLocks noChangeArrowheads="1"/>
            </p:cNvSpPr>
            <p:nvPr/>
          </p:nvSpPr>
          <p:spPr bwMode="auto">
            <a:xfrm>
              <a:off x="4932" y="1696"/>
              <a:ext cx="5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8</a:t>
              </a:r>
              <a:endParaRPr lang="en-US" altLang="en-US" sz="900"/>
            </a:p>
          </p:txBody>
        </p:sp>
        <p:sp>
          <p:nvSpPr>
            <p:cNvPr id="477261" name="Rectangle 77"/>
            <p:cNvSpPr>
              <a:spLocks noChangeArrowheads="1"/>
            </p:cNvSpPr>
            <p:nvPr/>
          </p:nvSpPr>
          <p:spPr bwMode="auto">
            <a:xfrm>
              <a:off x="4905" y="2252"/>
              <a:ext cx="5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8</a:t>
              </a:r>
              <a:endParaRPr lang="en-US" altLang="en-US" sz="900"/>
            </a:p>
          </p:txBody>
        </p:sp>
        <p:sp>
          <p:nvSpPr>
            <p:cNvPr id="477262" name="Rectangle 78"/>
            <p:cNvSpPr>
              <a:spLocks noChangeArrowheads="1"/>
            </p:cNvSpPr>
            <p:nvPr/>
          </p:nvSpPr>
          <p:spPr bwMode="auto">
            <a:xfrm>
              <a:off x="5221" y="1696"/>
              <a:ext cx="5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8</a:t>
              </a:r>
              <a:endParaRPr lang="en-US" altLang="en-US" sz="900"/>
            </a:p>
          </p:txBody>
        </p:sp>
        <p:sp>
          <p:nvSpPr>
            <p:cNvPr id="477263" name="Rectangle 79"/>
            <p:cNvSpPr>
              <a:spLocks noChangeArrowheads="1"/>
            </p:cNvSpPr>
            <p:nvPr/>
          </p:nvSpPr>
          <p:spPr bwMode="auto">
            <a:xfrm>
              <a:off x="4118" y="1617"/>
              <a:ext cx="58"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8</a:t>
              </a:r>
              <a:endParaRPr lang="en-US" altLang="en-US" sz="900"/>
            </a:p>
          </p:txBody>
        </p:sp>
        <p:sp>
          <p:nvSpPr>
            <p:cNvPr id="477264" name="Rectangle 80"/>
            <p:cNvSpPr>
              <a:spLocks noChangeArrowheads="1"/>
            </p:cNvSpPr>
            <p:nvPr/>
          </p:nvSpPr>
          <p:spPr bwMode="auto">
            <a:xfrm>
              <a:off x="4101" y="923"/>
              <a:ext cx="4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a:t>
              </a:r>
              <a:endParaRPr lang="en-US" altLang="en-US" sz="900"/>
            </a:p>
          </p:txBody>
        </p:sp>
        <p:sp>
          <p:nvSpPr>
            <p:cNvPr id="477265" name="Rectangle 81"/>
            <p:cNvSpPr>
              <a:spLocks noChangeArrowheads="1"/>
            </p:cNvSpPr>
            <p:nvPr/>
          </p:nvSpPr>
          <p:spPr bwMode="auto">
            <a:xfrm>
              <a:off x="5205" y="923"/>
              <a:ext cx="5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a:t>
              </a:r>
              <a:endParaRPr lang="en-US" altLang="en-US" sz="900"/>
            </a:p>
          </p:txBody>
        </p:sp>
        <p:sp>
          <p:nvSpPr>
            <p:cNvPr id="477266" name="Rectangle 82"/>
            <p:cNvSpPr>
              <a:spLocks noChangeArrowheads="1"/>
            </p:cNvSpPr>
            <p:nvPr/>
          </p:nvSpPr>
          <p:spPr bwMode="auto">
            <a:xfrm>
              <a:off x="3991" y="2294"/>
              <a:ext cx="8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D</a:t>
              </a:r>
              <a:endParaRPr lang="en-US" altLang="en-US" sz="900"/>
            </a:p>
          </p:txBody>
        </p:sp>
        <p:sp>
          <p:nvSpPr>
            <p:cNvPr id="477267" name="Rectangle 83"/>
            <p:cNvSpPr>
              <a:spLocks noChangeArrowheads="1"/>
            </p:cNvSpPr>
            <p:nvPr/>
          </p:nvSpPr>
          <p:spPr bwMode="auto">
            <a:xfrm>
              <a:off x="4057" y="2294"/>
              <a:ext cx="5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a:t>
              </a:r>
              <a:endParaRPr lang="en-US" altLang="en-US" sz="900"/>
            </a:p>
          </p:txBody>
        </p:sp>
        <p:sp>
          <p:nvSpPr>
            <p:cNvPr id="477268" name="Rectangle 84"/>
            <p:cNvSpPr>
              <a:spLocks noChangeArrowheads="1"/>
            </p:cNvSpPr>
            <p:nvPr/>
          </p:nvSpPr>
          <p:spPr bwMode="auto">
            <a:xfrm>
              <a:off x="4107" y="2294"/>
              <a:ext cx="14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tap</a:t>
              </a:r>
              <a:endParaRPr lang="en-US" altLang="en-US" sz="900"/>
            </a:p>
          </p:txBody>
        </p:sp>
        <p:sp>
          <p:nvSpPr>
            <p:cNvPr id="477269" name="Rectangle 85"/>
            <p:cNvSpPr>
              <a:spLocks noChangeArrowheads="1"/>
            </p:cNvSpPr>
            <p:nvPr/>
          </p:nvSpPr>
          <p:spPr bwMode="auto">
            <a:xfrm>
              <a:off x="4245" y="2294"/>
              <a:ext cx="5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a:t>
              </a:r>
              <a:endParaRPr lang="en-US" altLang="en-US" sz="900"/>
            </a:p>
          </p:txBody>
        </p:sp>
        <p:sp>
          <p:nvSpPr>
            <p:cNvPr id="477270" name="Rectangle 86"/>
            <p:cNvSpPr>
              <a:spLocks noChangeArrowheads="1"/>
            </p:cNvSpPr>
            <p:nvPr/>
          </p:nvSpPr>
          <p:spPr bwMode="auto">
            <a:xfrm>
              <a:off x="4293" y="2294"/>
              <a:ext cx="90"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th</a:t>
              </a:r>
              <a:endParaRPr lang="en-US" altLang="en-US" sz="900"/>
            </a:p>
          </p:txBody>
        </p:sp>
        <p:sp>
          <p:nvSpPr>
            <p:cNvPr id="477271" name="Line 87"/>
            <p:cNvSpPr>
              <a:spLocks noChangeShapeType="1"/>
            </p:cNvSpPr>
            <p:nvPr/>
          </p:nvSpPr>
          <p:spPr bwMode="auto">
            <a:xfrm>
              <a:off x="3783" y="1372"/>
              <a:ext cx="475"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72" name="Line 88"/>
            <p:cNvSpPr>
              <a:spLocks noChangeShapeType="1"/>
            </p:cNvSpPr>
            <p:nvPr/>
          </p:nvSpPr>
          <p:spPr bwMode="auto">
            <a:xfrm>
              <a:off x="3783" y="1503"/>
              <a:ext cx="475"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7273" name="Rectangle 89"/>
            <p:cNvSpPr>
              <a:spLocks noChangeArrowheads="1"/>
            </p:cNvSpPr>
            <p:nvPr/>
          </p:nvSpPr>
          <p:spPr bwMode="auto">
            <a:xfrm>
              <a:off x="3490" y="1309"/>
              <a:ext cx="33"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7274" name="Rectangle 90"/>
            <p:cNvSpPr>
              <a:spLocks noChangeArrowheads="1"/>
            </p:cNvSpPr>
            <p:nvPr/>
          </p:nvSpPr>
          <p:spPr bwMode="auto">
            <a:xfrm>
              <a:off x="3523" y="1309"/>
              <a:ext cx="237"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ot_ld</a:t>
              </a:r>
              <a:endParaRPr lang="en-US" altLang="en-US" sz="900"/>
            </a:p>
          </p:txBody>
        </p:sp>
        <p:sp>
          <p:nvSpPr>
            <p:cNvPr id="477275" name="Rectangle 91"/>
            <p:cNvSpPr>
              <a:spLocks noChangeArrowheads="1"/>
            </p:cNvSpPr>
            <p:nvPr/>
          </p:nvSpPr>
          <p:spPr bwMode="auto">
            <a:xfrm>
              <a:off x="3466" y="1449"/>
              <a:ext cx="3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7276" name="Rectangle 92"/>
            <p:cNvSpPr>
              <a:spLocks noChangeArrowheads="1"/>
            </p:cNvSpPr>
            <p:nvPr/>
          </p:nvSpPr>
          <p:spPr bwMode="auto">
            <a:xfrm>
              <a:off x="3502" y="1449"/>
              <a:ext cx="269"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ot_clr</a:t>
              </a:r>
              <a:endParaRPr lang="en-US" altLang="en-US" sz="900"/>
            </a:p>
          </p:txBody>
        </p:sp>
        <p:sp>
          <p:nvSpPr>
            <p:cNvPr id="477277" name="Rectangle 93"/>
            <p:cNvSpPr>
              <a:spLocks noChangeArrowheads="1"/>
            </p:cNvSpPr>
            <p:nvPr/>
          </p:nvSpPr>
          <p:spPr bwMode="auto">
            <a:xfrm>
              <a:off x="3423" y="2009"/>
              <a:ext cx="3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t</a:t>
              </a:r>
              <a:endParaRPr lang="en-US" altLang="en-US" sz="900"/>
            </a:p>
          </p:txBody>
        </p:sp>
        <p:sp>
          <p:nvSpPr>
            <p:cNvPr id="477278" name="Rectangle 94"/>
            <p:cNvSpPr>
              <a:spLocks noChangeArrowheads="1"/>
            </p:cNvSpPr>
            <p:nvPr/>
          </p:nvSpPr>
          <p:spPr bwMode="auto">
            <a:xfrm>
              <a:off x="3455" y="2009"/>
              <a:ext cx="315"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ot_lt_s</a:t>
              </a:r>
              <a:endParaRPr lang="en-US" altLang="en-US" sz="900"/>
            </a:p>
          </p:txBody>
        </p:sp>
        <p:sp>
          <p:nvSpPr>
            <p:cNvPr id="477279" name="Rectangle 95"/>
            <p:cNvSpPr>
              <a:spLocks noChangeArrowheads="1"/>
            </p:cNvSpPr>
            <p:nvPr/>
          </p:nvSpPr>
          <p:spPr bwMode="auto">
            <a:xfrm>
              <a:off x="4348" y="1275"/>
              <a:ext cx="688" cy="32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7280" name="Rectangle 96"/>
            <p:cNvSpPr>
              <a:spLocks noChangeArrowheads="1"/>
            </p:cNvSpPr>
            <p:nvPr/>
          </p:nvSpPr>
          <p:spPr bwMode="auto">
            <a:xfrm>
              <a:off x="4192" y="1922"/>
              <a:ext cx="507" cy="32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7281" name="Rectangle 97"/>
            <p:cNvSpPr>
              <a:spLocks noChangeArrowheads="1"/>
            </p:cNvSpPr>
            <p:nvPr/>
          </p:nvSpPr>
          <p:spPr bwMode="auto">
            <a:xfrm>
              <a:off x="4767" y="1922"/>
              <a:ext cx="507" cy="32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77282" name="Line 98"/>
          <p:cNvSpPr>
            <a:spLocks noChangeShapeType="1"/>
          </p:cNvSpPr>
          <p:nvPr/>
        </p:nvSpPr>
        <p:spPr bwMode="auto">
          <a:xfrm flipH="1">
            <a:off x="6900863" y="2949575"/>
            <a:ext cx="1173162" cy="1501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lide Number Placeholder 3"/>
          <p:cNvSpPr>
            <a:spLocks noGrp="1"/>
          </p:cNvSpPr>
          <p:nvPr>
            <p:ph type="sldNum" sz="quarter" idx="10"/>
          </p:nvPr>
        </p:nvSpPr>
        <p:spPr/>
        <p:txBody>
          <a:bodyPr/>
          <a:lstStyle/>
          <a:p>
            <a:fld id="{0D84FF52-67BE-49D2-A8EA-AD7888502B76}" type="slidenum">
              <a:rPr lang="en-US" altLang="en-US"/>
              <a:pPr/>
              <a:t>9</a:t>
            </a:fld>
            <a:endParaRPr lang="en-US" altLang="en-US"/>
          </a:p>
        </p:txBody>
      </p:sp>
      <p:sp>
        <p:nvSpPr>
          <p:cNvPr id="478210" name="Rectangle 2"/>
          <p:cNvSpPr>
            <a:spLocks noGrp="1" noChangeArrowheads="1"/>
          </p:cNvSpPr>
          <p:nvPr>
            <p:ph type="title"/>
          </p:nvPr>
        </p:nvSpPr>
        <p:spPr/>
        <p:txBody>
          <a:bodyPr/>
          <a:lstStyle/>
          <a:p>
            <a:r>
              <a:rPr lang="en-US" altLang="en-US"/>
              <a:t>Preview Example: </a:t>
            </a:r>
            <a:r>
              <a:rPr lang="en-US" altLang="en-US" sz="3200"/>
              <a:t>Step 4 – Derive the Controller’s FSM</a:t>
            </a:r>
          </a:p>
        </p:txBody>
      </p:sp>
      <p:sp>
        <p:nvSpPr>
          <p:cNvPr id="478211" name="Rectangle 3"/>
          <p:cNvSpPr>
            <a:spLocks noGrp="1" noChangeArrowheads="1"/>
          </p:cNvSpPr>
          <p:nvPr>
            <p:ph type="body" idx="1"/>
          </p:nvPr>
        </p:nvSpPr>
        <p:spPr>
          <a:xfrm>
            <a:off x="228600" y="1219200"/>
            <a:ext cx="2451100" cy="4876800"/>
          </a:xfrm>
        </p:spPr>
        <p:txBody>
          <a:bodyPr/>
          <a:lstStyle/>
          <a:p>
            <a:r>
              <a:rPr lang="en-US" altLang="en-US"/>
              <a:t>Same states and arcs as high-level state machine</a:t>
            </a:r>
          </a:p>
          <a:p>
            <a:r>
              <a:rPr lang="en-US" altLang="en-US"/>
              <a:t>But set/read datapath control signals for all datapath operations and conditions</a:t>
            </a:r>
          </a:p>
        </p:txBody>
      </p:sp>
      <p:sp>
        <p:nvSpPr>
          <p:cNvPr id="478213" name="Line 5"/>
          <p:cNvSpPr>
            <a:spLocks noChangeShapeType="1"/>
          </p:cNvSpPr>
          <p:nvPr/>
        </p:nvSpPr>
        <p:spPr bwMode="auto">
          <a:xfrm flipH="1">
            <a:off x="5626100" y="3113088"/>
            <a:ext cx="376238"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14" name="Freeform 6"/>
          <p:cNvSpPr>
            <a:spLocks/>
          </p:cNvSpPr>
          <p:nvPr/>
        </p:nvSpPr>
        <p:spPr bwMode="auto">
          <a:xfrm>
            <a:off x="5526088" y="3071813"/>
            <a:ext cx="112712" cy="825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15" name="Line 7"/>
          <p:cNvSpPr>
            <a:spLocks noChangeShapeType="1"/>
          </p:cNvSpPr>
          <p:nvPr/>
        </p:nvSpPr>
        <p:spPr bwMode="auto">
          <a:xfrm>
            <a:off x="6159500" y="1277938"/>
            <a:ext cx="0" cy="260350"/>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16" name="Freeform 8"/>
          <p:cNvSpPr>
            <a:spLocks/>
          </p:cNvSpPr>
          <p:nvPr/>
        </p:nvSpPr>
        <p:spPr bwMode="auto">
          <a:xfrm>
            <a:off x="6130925" y="1516063"/>
            <a:ext cx="55563" cy="166687"/>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17" name="Line 9"/>
          <p:cNvSpPr>
            <a:spLocks noChangeShapeType="1"/>
          </p:cNvSpPr>
          <p:nvPr/>
        </p:nvSpPr>
        <p:spPr bwMode="auto">
          <a:xfrm flipH="1">
            <a:off x="4784725" y="2466975"/>
            <a:ext cx="127000"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18" name="Freeform 10"/>
          <p:cNvSpPr>
            <a:spLocks/>
          </p:cNvSpPr>
          <p:nvPr/>
        </p:nvSpPr>
        <p:spPr bwMode="auto">
          <a:xfrm>
            <a:off x="4684713" y="2425700"/>
            <a:ext cx="114300" cy="825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19" name="Line 11"/>
          <p:cNvSpPr>
            <a:spLocks noChangeShapeType="1"/>
          </p:cNvSpPr>
          <p:nvPr/>
        </p:nvSpPr>
        <p:spPr bwMode="auto">
          <a:xfrm>
            <a:off x="4692650" y="2051050"/>
            <a:ext cx="127000"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20" name="Freeform 12"/>
          <p:cNvSpPr>
            <a:spLocks/>
          </p:cNvSpPr>
          <p:nvPr/>
        </p:nvSpPr>
        <p:spPr bwMode="auto">
          <a:xfrm>
            <a:off x="4799013" y="2009775"/>
            <a:ext cx="112712" cy="8413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21" name="Line 13"/>
          <p:cNvSpPr>
            <a:spLocks noChangeShapeType="1"/>
          </p:cNvSpPr>
          <p:nvPr/>
        </p:nvSpPr>
        <p:spPr bwMode="auto">
          <a:xfrm>
            <a:off x="5522913" y="2697163"/>
            <a:ext cx="385762"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22" name="Freeform 14"/>
          <p:cNvSpPr>
            <a:spLocks/>
          </p:cNvSpPr>
          <p:nvPr/>
        </p:nvSpPr>
        <p:spPr bwMode="auto">
          <a:xfrm>
            <a:off x="5886450" y="2655888"/>
            <a:ext cx="112713" cy="825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23" name="Line 15"/>
          <p:cNvSpPr>
            <a:spLocks noChangeShapeType="1"/>
          </p:cNvSpPr>
          <p:nvPr/>
        </p:nvSpPr>
        <p:spPr bwMode="auto">
          <a:xfrm>
            <a:off x="5522913" y="2363788"/>
            <a:ext cx="385762"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24" name="Freeform 16"/>
          <p:cNvSpPr>
            <a:spLocks/>
          </p:cNvSpPr>
          <p:nvPr/>
        </p:nvSpPr>
        <p:spPr bwMode="auto">
          <a:xfrm>
            <a:off x="5886450" y="2322513"/>
            <a:ext cx="112713" cy="825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25" name="Rectangle 17"/>
          <p:cNvSpPr>
            <a:spLocks noChangeArrowheads="1"/>
          </p:cNvSpPr>
          <p:nvPr/>
        </p:nvSpPr>
        <p:spPr bwMode="auto">
          <a:xfrm>
            <a:off x="5526088" y="3194050"/>
            <a:ext cx="4905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tot_lt_s</a:t>
            </a:r>
            <a:endParaRPr lang="en-US" altLang="en-US" sz="1200"/>
          </a:p>
        </p:txBody>
      </p:sp>
      <p:sp>
        <p:nvSpPr>
          <p:cNvPr id="478227" name="Rectangle 19"/>
          <p:cNvSpPr>
            <a:spLocks noChangeArrowheads="1"/>
          </p:cNvSpPr>
          <p:nvPr/>
        </p:nvSpPr>
        <p:spPr bwMode="auto">
          <a:xfrm>
            <a:off x="5549900" y="2728913"/>
            <a:ext cx="4143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tot_clr</a:t>
            </a:r>
            <a:endParaRPr lang="en-US" altLang="en-US" sz="1200"/>
          </a:p>
        </p:txBody>
      </p:sp>
      <p:sp>
        <p:nvSpPr>
          <p:cNvPr id="478229" name="Rectangle 21"/>
          <p:cNvSpPr>
            <a:spLocks noChangeArrowheads="1"/>
          </p:cNvSpPr>
          <p:nvPr/>
        </p:nvSpPr>
        <p:spPr bwMode="auto">
          <a:xfrm>
            <a:off x="5573713" y="2401888"/>
            <a:ext cx="3714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tot_ld</a:t>
            </a:r>
            <a:endParaRPr lang="en-US" altLang="en-US" sz="1200"/>
          </a:p>
        </p:txBody>
      </p:sp>
      <p:sp>
        <p:nvSpPr>
          <p:cNvPr id="478231" name="Rectangle 23"/>
          <p:cNvSpPr>
            <a:spLocks noChangeArrowheads="1"/>
          </p:cNvSpPr>
          <p:nvPr/>
        </p:nvSpPr>
        <p:spPr bwMode="auto">
          <a:xfrm rot="16200000">
            <a:off x="4979194" y="2759869"/>
            <a:ext cx="6572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Controller</a:t>
            </a:r>
            <a:endParaRPr lang="en-US" altLang="en-US" sz="1200"/>
          </a:p>
        </p:txBody>
      </p:sp>
      <p:sp>
        <p:nvSpPr>
          <p:cNvPr id="478237" name="Rectangle 29"/>
          <p:cNvSpPr>
            <a:spLocks noChangeArrowheads="1"/>
          </p:cNvSpPr>
          <p:nvPr/>
        </p:nvSpPr>
        <p:spPr bwMode="auto">
          <a:xfrm rot="-5400000">
            <a:off x="6123782" y="2745581"/>
            <a:ext cx="6159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Datapath</a:t>
            </a:r>
            <a:endParaRPr lang="en-US" altLang="en-US" sz="1200"/>
          </a:p>
        </p:txBody>
      </p:sp>
      <p:sp>
        <p:nvSpPr>
          <p:cNvPr id="478242" name="Line 34"/>
          <p:cNvSpPr>
            <a:spLocks noChangeShapeType="1"/>
          </p:cNvSpPr>
          <p:nvPr/>
        </p:nvSpPr>
        <p:spPr bwMode="auto">
          <a:xfrm flipH="1">
            <a:off x="6119813" y="1335088"/>
            <a:ext cx="80962" cy="1190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43" name="Line 35"/>
          <p:cNvSpPr>
            <a:spLocks noChangeShapeType="1"/>
          </p:cNvSpPr>
          <p:nvPr/>
        </p:nvSpPr>
        <p:spPr bwMode="auto">
          <a:xfrm>
            <a:off x="6445250" y="1277938"/>
            <a:ext cx="0" cy="260350"/>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44" name="Freeform 36"/>
          <p:cNvSpPr>
            <a:spLocks/>
          </p:cNvSpPr>
          <p:nvPr/>
        </p:nvSpPr>
        <p:spPr bwMode="auto">
          <a:xfrm>
            <a:off x="6416675" y="1516063"/>
            <a:ext cx="55563" cy="166687"/>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45" name="Line 37"/>
          <p:cNvSpPr>
            <a:spLocks noChangeShapeType="1"/>
          </p:cNvSpPr>
          <p:nvPr/>
        </p:nvSpPr>
        <p:spPr bwMode="auto">
          <a:xfrm flipH="1">
            <a:off x="6405563" y="1335088"/>
            <a:ext cx="82550" cy="1190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46" name="Rectangle 38"/>
          <p:cNvSpPr>
            <a:spLocks noChangeArrowheads="1"/>
          </p:cNvSpPr>
          <p:nvPr/>
        </p:nvSpPr>
        <p:spPr bwMode="auto">
          <a:xfrm>
            <a:off x="6137275" y="109537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s</a:t>
            </a:r>
            <a:endParaRPr lang="en-US" altLang="en-US" sz="1200"/>
          </a:p>
        </p:txBody>
      </p:sp>
      <p:sp>
        <p:nvSpPr>
          <p:cNvPr id="478247" name="Rectangle 39"/>
          <p:cNvSpPr>
            <a:spLocks noChangeArrowheads="1"/>
          </p:cNvSpPr>
          <p:nvPr/>
        </p:nvSpPr>
        <p:spPr bwMode="auto">
          <a:xfrm>
            <a:off x="4622800" y="1936750"/>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1200"/>
          </a:p>
        </p:txBody>
      </p:sp>
      <p:sp>
        <p:nvSpPr>
          <p:cNvPr id="478248" name="Rectangle 40"/>
          <p:cNvSpPr>
            <a:spLocks noChangeArrowheads="1"/>
          </p:cNvSpPr>
          <p:nvPr/>
        </p:nvSpPr>
        <p:spPr bwMode="auto">
          <a:xfrm>
            <a:off x="4616450" y="235585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sz="1200"/>
          </a:p>
        </p:txBody>
      </p:sp>
      <p:sp>
        <p:nvSpPr>
          <p:cNvPr id="478249" name="Rectangle 41"/>
          <p:cNvSpPr>
            <a:spLocks noChangeArrowheads="1"/>
          </p:cNvSpPr>
          <p:nvPr/>
        </p:nvSpPr>
        <p:spPr bwMode="auto">
          <a:xfrm>
            <a:off x="6415088" y="109537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a:t>
            </a:r>
            <a:endParaRPr lang="en-US" altLang="en-US" sz="1200"/>
          </a:p>
        </p:txBody>
      </p:sp>
      <p:sp>
        <p:nvSpPr>
          <p:cNvPr id="478250" name="Rectangle 42"/>
          <p:cNvSpPr>
            <a:spLocks noChangeArrowheads="1"/>
          </p:cNvSpPr>
          <p:nvPr/>
        </p:nvSpPr>
        <p:spPr bwMode="auto">
          <a:xfrm>
            <a:off x="6205538" y="13128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a:t>
            </a:r>
            <a:endParaRPr lang="en-US" altLang="en-US" sz="1200"/>
          </a:p>
        </p:txBody>
      </p:sp>
      <p:sp>
        <p:nvSpPr>
          <p:cNvPr id="478251" name="Rectangle 43"/>
          <p:cNvSpPr>
            <a:spLocks noChangeArrowheads="1"/>
          </p:cNvSpPr>
          <p:nvPr/>
        </p:nvSpPr>
        <p:spPr bwMode="auto">
          <a:xfrm>
            <a:off x="6496050" y="1312863"/>
            <a:ext cx="841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a:t>
            </a:r>
            <a:endParaRPr lang="en-US" altLang="en-US" sz="1200"/>
          </a:p>
        </p:txBody>
      </p:sp>
      <p:sp>
        <p:nvSpPr>
          <p:cNvPr id="478252" name="Rectangle 44"/>
          <p:cNvSpPr>
            <a:spLocks noChangeArrowheads="1"/>
          </p:cNvSpPr>
          <p:nvPr/>
        </p:nvSpPr>
        <p:spPr bwMode="auto">
          <a:xfrm>
            <a:off x="4919663" y="1693863"/>
            <a:ext cx="600075" cy="157956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53" name="Rectangle 45"/>
          <p:cNvSpPr>
            <a:spLocks noChangeArrowheads="1"/>
          </p:cNvSpPr>
          <p:nvPr/>
        </p:nvSpPr>
        <p:spPr bwMode="auto">
          <a:xfrm>
            <a:off x="6002338" y="1693863"/>
            <a:ext cx="601662" cy="157956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55" name="Line 47"/>
          <p:cNvSpPr>
            <a:spLocks noChangeShapeType="1"/>
          </p:cNvSpPr>
          <p:nvPr/>
        </p:nvSpPr>
        <p:spPr bwMode="auto">
          <a:xfrm flipH="1">
            <a:off x="4381500" y="3054350"/>
            <a:ext cx="604838" cy="568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78430" name="Group 222"/>
          <p:cNvGrpSpPr>
            <a:grpSpLocks/>
          </p:cNvGrpSpPr>
          <p:nvPr/>
        </p:nvGrpSpPr>
        <p:grpSpPr bwMode="auto">
          <a:xfrm>
            <a:off x="6673850" y="3395663"/>
            <a:ext cx="2146300" cy="2205037"/>
            <a:chOff x="4204" y="2139"/>
            <a:chExt cx="1352" cy="1389"/>
          </a:xfrm>
        </p:grpSpPr>
        <p:sp>
          <p:nvSpPr>
            <p:cNvPr id="478257" name="Rectangle 49"/>
            <p:cNvSpPr>
              <a:spLocks noChangeArrowheads="1"/>
            </p:cNvSpPr>
            <p:nvPr/>
          </p:nvSpPr>
          <p:spPr bwMode="auto">
            <a:xfrm>
              <a:off x="4570" y="2250"/>
              <a:ext cx="986" cy="1278"/>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58" name="Freeform 50"/>
            <p:cNvSpPr>
              <a:spLocks/>
            </p:cNvSpPr>
            <p:nvPr/>
          </p:nvSpPr>
          <p:spPr bwMode="auto">
            <a:xfrm>
              <a:off x="4782" y="2529"/>
              <a:ext cx="65" cy="4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59" name="Freeform 51"/>
            <p:cNvSpPr>
              <a:spLocks/>
            </p:cNvSpPr>
            <p:nvPr/>
          </p:nvSpPr>
          <p:spPr bwMode="auto">
            <a:xfrm>
              <a:off x="4782" y="2649"/>
              <a:ext cx="65"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60" name="Line 52"/>
            <p:cNvSpPr>
              <a:spLocks noChangeShapeType="1"/>
            </p:cNvSpPr>
            <p:nvPr/>
          </p:nvSpPr>
          <p:spPr bwMode="auto">
            <a:xfrm flipH="1">
              <a:off x="4520" y="3206"/>
              <a:ext cx="22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61" name="Freeform 53"/>
            <p:cNvSpPr>
              <a:spLocks/>
            </p:cNvSpPr>
            <p:nvPr/>
          </p:nvSpPr>
          <p:spPr bwMode="auto">
            <a:xfrm>
              <a:off x="4467" y="3184"/>
              <a:ext cx="65" cy="45"/>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62" name="Freeform 54"/>
            <p:cNvSpPr>
              <a:spLocks/>
            </p:cNvSpPr>
            <p:nvPr/>
          </p:nvSpPr>
          <p:spPr bwMode="auto">
            <a:xfrm>
              <a:off x="4820" y="2819"/>
              <a:ext cx="380" cy="158"/>
            </a:xfrm>
            <a:custGeom>
              <a:avLst/>
              <a:gdLst>
                <a:gd name="T0" fmla="*/ 0 w 585"/>
                <a:gd name="T1" fmla="*/ 172 h 172"/>
                <a:gd name="T2" fmla="*/ 4 w 585"/>
                <a:gd name="T3" fmla="*/ 0 h 172"/>
                <a:gd name="T4" fmla="*/ 585 w 585"/>
                <a:gd name="T5" fmla="*/ 0 h 172"/>
              </a:gdLst>
              <a:ahLst/>
              <a:cxnLst>
                <a:cxn ang="0">
                  <a:pos x="T0" y="T1"/>
                </a:cxn>
                <a:cxn ang="0">
                  <a:pos x="T2" y="T3"/>
                </a:cxn>
                <a:cxn ang="0">
                  <a:pos x="T4" y="T5"/>
                </a:cxn>
              </a:cxnLst>
              <a:rect l="0" t="0" r="r" b="b"/>
              <a:pathLst>
                <a:path w="585" h="172">
                  <a:moveTo>
                    <a:pt x="0" y="172"/>
                  </a:moveTo>
                  <a:lnTo>
                    <a:pt x="4" y="0"/>
                  </a:lnTo>
                  <a:lnTo>
                    <a:pt x="585" y="0"/>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63" name="Freeform 55"/>
            <p:cNvSpPr>
              <a:spLocks/>
            </p:cNvSpPr>
            <p:nvPr/>
          </p:nvSpPr>
          <p:spPr bwMode="auto">
            <a:xfrm>
              <a:off x="4804" y="2962"/>
              <a:ext cx="32" cy="9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64" name="Freeform 56"/>
            <p:cNvSpPr>
              <a:spLocks/>
            </p:cNvSpPr>
            <p:nvPr/>
          </p:nvSpPr>
          <p:spPr bwMode="auto">
            <a:xfrm>
              <a:off x="4672" y="2164"/>
              <a:ext cx="337" cy="813"/>
            </a:xfrm>
            <a:custGeom>
              <a:avLst/>
              <a:gdLst>
                <a:gd name="T0" fmla="*/ 516 w 519"/>
                <a:gd name="T1" fmla="*/ 885 h 885"/>
                <a:gd name="T2" fmla="*/ 519 w 519"/>
                <a:gd name="T3" fmla="*/ 800 h 885"/>
                <a:gd name="T4" fmla="*/ 0 w 519"/>
                <a:gd name="T5" fmla="*/ 800 h 885"/>
                <a:gd name="T6" fmla="*/ 0 w 519"/>
                <a:gd name="T7" fmla="*/ 0 h 885"/>
              </a:gdLst>
              <a:ahLst/>
              <a:cxnLst>
                <a:cxn ang="0">
                  <a:pos x="T0" y="T1"/>
                </a:cxn>
                <a:cxn ang="0">
                  <a:pos x="T2" y="T3"/>
                </a:cxn>
                <a:cxn ang="0">
                  <a:pos x="T4" y="T5"/>
                </a:cxn>
                <a:cxn ang="0">
                  <a:pos x="T6" y="T7"/>
                </a:cxn>
              </a:cxnLst>
              <a:rect l="0" t="0" r="r" b="b"/>
              <a:pathLst>
                <a:path w="519" h="885">
                  <a:moveTo>
                    <a:pt x="516" y="885"/>
                  </a:moveTo>
                  <a:lnTo>
                    <a:pt x="519" y="800"/>
                  </a:lnTo>
                  <a:lnTo>
                    <a:pt x="0" y="800"/>
                  </a:lnTo>
                  <a:lnTo>
                    <a:pt x="0" y="0"/>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65" name="Freeform 57"/>
            <p:cNvSpPr>
              <a:spLocks/>
            </p:cNvSpPr>
            <p:nvPr/>
          </p:nvSpPr>
          <p:spPr bwMode="auto">
            <a:xfrm>
              <a:off x="4991" y="2962"/>
              <a:ext cx="32" cy="9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66" name="Line 58"/>
            <p:cNvSpPr>
              <a:spLocks noChangeShapeType="1"/>
            </p:cNvSpPr>
            <p:nvPr/>
          </p:nvSpPr>
          <p:spPr bwMode="auto">
            <a:xfrm flipH="1">
              <a:off x="5198" y="2758"/>
              <a:ext cx="2" cy="219"/>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67" name="Freeform 59"/>
            <p:cNvSpPr>
              <a:spLocks/>
            </p:cNvSpPr>
            <p:nvPr/>
          </p:nvSpPr>
          <p:spPr bwMode="auto">
            <a:xfrm>
              <a:off x="5182" y="2962"/>
              <a:ext cx="33" cy="9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68" name="Freeform 60"/>
            <p:cNvSpPr>
              <a:spLocks/>
            </p:cNvSpPr>
            <p:nvPr/>
          </p:nvSpPr>
          <p:spPr bwMode="auto">
            <a:xfrm>
              <a:off x="5076" y="2334"/>
              <a:ext cx="437" cy="1131"/>
            </a:xfrm>
            <a:custGeom>
              <a:avLst/>
              <a:gdLst>
                <a:gd name="T0" fmla="*/ 0 w 672"/>
                <a:gd name="T1" fmla="*/ 56 h 1231"/>
                <a:gd name="T2" fmla="*/ 0 w 672"/>
                <a:gd name="T3" fmla="*/ 0 h 1231"/>
                <a:gd name="T4" fmla="*/ 672 w 672"/>
                <a:gd name="T5" fmla="*/ 0 h 1231"/>
                <a:gd name="T6" fmla="*/ 672 w 672"/>
                <a:gd name="T7" fmla="*/ 1231 h 1231"/>
                <a:gd name="T8" fmla="*/ 332 w 672"/>
                <a:gd name="T9" fmla="*/ 1231 h 1231"/>
                <a:gd name="T10" fmla="*/ 332 w 672"/>
                <a:gd name="T11" fmla="*/ 1109 h 1231"/>
              </a:gdLst>
              <a:ahLst/>
              <a:cxnLst>
                <a:cxn ang="0">
                  <a:pos x="T0" y="T1"/>
                </a:cxn>
                <a:cxn ang="0">
                  <a:pos x="T2" y="T3"/>
                </a:cxn>
                <a:cxn ang="0">
                  <a:pos x="T4" y="T5"/>
                </a:cxn>
                <a:cxn ang="0">
                  <a:pos x="T6" y="T7"/>
                </a:cxn>
                <a:cxn ang="0">
                  <a:pos x="T8" y="T9"/>
                </a:cxn>
                <a:cxn ang="0">
                  <a:pos x="T10" y="T11"/>
                </a:cxn>
              </a:cxnLst>
              <a:rect l="0" t="0" r="r" b="b"/>
              <a:pathLst>
                <a:path w="672" h="1231">
                  <a:moveTo>
                    <a:pt x="0" y="56"/>
                  </a:moveTo>
                  <a:lnTo>
                    <a:pt x="0" y="0"/>
                  </a:lnTo>
                  <a:lnTo>
                    <a:pt x="672" y="0"/>
                  </a:lnTo>
                  <a:lnTo>
                    <a:pt x="672" y="1231"/>
                  </a:lnTo>
                  <a:lnTo>
                    <a:pt x="332" y="1231"/>
                  </a:lnTo>
                  <a:lnTo>
                    <a:pt x="332" y="1109"/>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69" name="Freeform 61"/>
            <p:cNvSpPr>
              <a:spLocks/>
            </p:cNvSpPr>
            <p:nvPr/>
          </p:nvSpPr>
          <p:spPr bwMode="auto">
            <a:xfrm>
              <a:off x="5058" y="2368"/>
              <a:ext cx="32" cy="9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70" name="Line 62"/>
            <p:cNvSpPr>
              <a:spLocks noChangeShapeType="1"/>
            </p:cNvSpPr>
            <p:nvPr/>
          </p:nvSpPr>
          <p:spPr bwMode="auto">
            <a:xfrm flipV="1">
              <a:off x="5387" y="2164"/>
              <a:ext cx="1" cy="813"/>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71" name="Freeform 63"/>
            <p:cNvSpPr>
              <a:spLocks/>
            </p:cNvSpPr>
            <p:nvPr/>
          </p:nvSpPr>
          <p:spPr bwMode="auto">
            <a:xfrm>
              <a:off x="5369" y="2962"/>
              <a:ext cx="32" cy="9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272" name="Line 64"/>
            <p:cNvSpPr>
              <a:spLocks noChangeShapeType="1"/>
            </p:cNvSpPr>
            <p:nvPr/>
          </p:nvSpPr>
          <p:spPr bwMode="auto">
            <a:xfrm flipH="1">
              <a:off x="4646" y="2784"/>
              <a:ext cx="52" cy="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73" name="Line 65"/>
            <p:cNvSpPr>
              <a:spLocks noChangeShapeType="1"/>
            </p:cNvSpPr>
            <p:nvPr/>
          </p:nvSpPr>
          <p:spPr bwMode="auto">
            <a:xfrm flipH="1">
              <a:off x="5172" y="2859"/>
              <a:ext cx="52" cy="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74" name="Line 66"/>
            <p:cNvSpPr>
              <a:spLocks noChangeShapeType="1"/>
            </p:cNvSpPr>
            <p:nvPr/>
          </p:nvSpPr>
          <p:spPr bwMode="auto">
            <a:xfrm flipH="1">
              <a:off x="5265" y="3373"/>
              <a:ext cx="53" cy="7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75" name="Line 67"/>
            <p:cNvSpPr>
              <a:spLocks noChangeShapeType="1"/>
            </p:cNvSpPr>
            <p:nvPr/>
          </p:nvSpPr>
          <p:spPr bwMode="auto">
            <a:xfrm flipH="1">
              <a:off x="5359" y="2859"/>
              <a:ext cx="53" cy="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76" name="Oval 68"/>
            <p:cNvSpPr>
              <a:spLocks noChangeArrowheads="1"/>
            </p:cNvSpPr>
            <p:nvPr/>
          </p:nvSpPr>
          <p:spPr bwMode="auto">
            <a:xfrm>
              <a:off x="5186" y="2796"/>
              <a:ext cx="31" cy="46"/>
            </a:xfrm>
            <a:prstGeom prst="ellipse">
              <a:avLst/>
            </a:prstGeom>
            <a:solidFill>
              <a:srgbClr val="000000"/>
            </a:solidFill>
            <a:ln w="11113">
              <a:solidFill>
                <a:srgbClr val="000000"/>
              </a:solidFill>
              <a:miter lim="800000"/>
              <a:headEnd/>
              <a:tailEnd/>
            </a:ln>
          </p:spPr>
          <p:txBody>
            <a:bodyPr/>
            <a:lstStyle/>
            <a:p>
              <a:endParaRPr lang="en-US"/>
            </a:p>
          </p:txBody>
        </p:sp>
        <p:sp>
          <p:nvSpPr>
            <p:cNvPr id="478277" name="Freeform 69"/>
            <p:cNvSpPr>
              <a:spLocks/>
            </p:cNvSpPr>
            <p:nvPr/>
          </p:nvSpPr>
          <p:spPr bwMode="auto">
            <a:xfrm>
              <a:off x="5233" y="2646"/>
              <a:ext cx="67" cy="95"/>
            </a:xfrm>
            <a:custGeom>
              <a:avLst/>
              <a:gdLst>
                <a:gd name="T0" fmla="*/ 103 w 103"/>
                <a:gd name="T1" fmla="*/ 103 h 103"/>
                <a:gd name="T2" fmla="*/ 0 w 103"/>
                <a:gd name="T3" fmla="*/ 50 h 103"/>
                <a:gd name="T4" fmla="*/ 103 w 103"/>
                <a:gd name="T5" fmla="*/ 0 h 103"/>
              </a:gdLst>
              <a:ahLst/>
              <a:cxnLst>
                <a:cxn ang="0">
                  <a:pos x="T0" y="T1"/>
                </a:cxn>
                <a:cxn ang="0">
                  <a:pos x="T2" y="T3"/>
                </a:cxn>
                <a:cxn ang="0">
                  <a:pos x="T4" y="T5"/>
                </a:cxn>
              </a:cxnLst>
              <a:rect l="0" t="0" r="r" b="b"/>
              <a:pathLst>
                <a:path w="103" h="103">
                  <a:moveTo>
                    <a:pt x="103" y="103"/>
                  </a:moveTo>
                  <a:lnTo>
                    <a:pt x="0" y="50"/>
                  </a:lnTo>
                  <a:lnTo>
                    <a:pt x="103"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278" name="Rectangle 70"/>
            <p:cNvSpPr>
              <a:spLocks noChangeArrowheads="1"/>
            </p:cNvSpPr>
            <p:nvPr/>
          </p:nvSpPr>
          <p:spPr bwMode="auto">
            <a:xfrm>
              <a:off x="4865" y="2505"/>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ld</a:t>
              </a:r>
              <a:endParaRPr lang="en-US" altLang="en-US" sz="1200"/>
            </a:p>
          </p:txBody>
        </p:sp>
        <p:sp>
          <p:nvSpPr>
            <p:cNvPr id="478279" name="Rectangle 71"/>
            <p:cNvSpPr>
              <a:spLocks noChangeArrowheads="1"/>
            </p:cNvSpPr>
            <p:nvPr/>
          </p:nvSpPr>
          <p:spPr bwMode="auto">
            <a:xfrm>
              <a:off x="4865" y="2622"/>
              <a:ext cx="10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clr</a:t>
              </a:r>
              <a:endParaRPr lang="en-US" altLang="en-US" sz="1200"/>
            </a:p>
          </p:txBody>
        </p:sp>
        <p:sp>
          <p:nvSpPr>
            <p:cNvPr id="478280" name="Rectangle 72"/>
            <p:cNvSpPr>
              <a:spLocks noChangeArrowheads="1"/>
            </p:cNvSpPr>
            <p:nvPr/>
          </p:nvSpPr>
          <p:spPr bwMode="auto">
            <a:xfrm>
              <a:off x="5037" y="2560"/>
              <a:ext cx="10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tpt</a:t>
              </a:r>
              <a:endParaRPr lang="en-US" altLang="en-US" sz="1200"/>
            </a:p>
          </p:txBody>
        </p:sp>
        <p:sp>
          <p:nvSpPr>
            <p:cNvPr id="478282" name="Rectangle 74"/>
            <p:cNvSpPr>
              <a:spLocks noChangeArrowheads="1"/>
            </p:cNvSpPr>
            <p:nvPr/>
          </p:nvSpPr>
          <p:spPr bwMode="auto">
            <a:xfrm>
              <a:off x="4861" y="3121"/>
              <a:ext cx="18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8-bit</a:t>
              </a:r>
              <a:endParaRPr lang="en-US" altLang="en-US" sz="1200"/>
            </a:p>
          </p:txBody>
        </p:sp>
        <p:sp>
          <p:nvSpPr>
            <p:cNvPr id="478283" name="Rectangle 75"/>
            <p:cNvSpPr>
              <a:spLocks noChangeArrowheads="1"/>
            </p:cNvSpPr>
            <p:nvPr/>
          </p:nvSpPr>
          <p:spPr bwMode="auto">
            <a:xfrm>
              <a:off x="4904" y="3221"/>
              <a:ext cx="5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&lt;</a:t>
              </a:r>
              <a:endParaRPr lang="en-US" altLang="en-US" sz="1200"/>
            </a:p>
          </p:txBody>
        </p:sp>
        <p:sp>
          <p:nvSpPr>
            <p:cNvPr id="478284" name="Rectangle 76"/>
            <p:cNvSpPr>
              <a:spLocks noChangeArrowheads="1"/>
            </p:cNvSpPr>
            <p:nvPr/>
          </p:nvSpPr>
          <p:spPr bwMode="auto">
            <a:xfrm>
              <a:off x="5225" y="3092"/>
              <a:ext cx="18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8-bit</a:t>
              </a:r>
              <a:endParaRPr lang="en-US" altLang="en-US" sz="1200"/>
            </a:p>
          </p:txBody>
        </p:sp>
        <p:sp>
          <p:nvSpPr>
            <p:cNvPr id="478285" name="Rectangle 77"/>
            <p:cNvSpPr>
              <a:spLocks noChangeArrowheads="1"/>
            </p:cNvSpPr>
            <p:nvPr/>
          </p:nvSpPr>
          <p:spPr bwMode="auto">
            <a:xfrm>
              <a:off x="5209" y="3195"/>
              <a:ext cx="24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adder</a:t>
              </a:r>
              <a:endParaRPr lang="en-US" altLang="en-US" sz="1200"/>
            </a:p>
          </p:txBody>
        </p:sp>
        <p:sp>
          <p:nvSpPr>
            <p:cNvPr id="478286" name="Rectangle 78"/>
            <p:cNvSpPr>
              <a:spLocks noChangeArrowheads="1"/>
            </p:cNvSpPr>
            <p:nvPr/>
          </p:nvSpPr>
          <p:spPr bwMode="auto">
            <a:xfrm>
              <a:off x="5232" y="2849"/>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a:t>
              </a:r>
              <a:endParaRPr lang="en-US" altLang="en-US" sz="1200"/>
            </a:p>
          </p:txBody>
        </p:sp>
        <p:sp>
          <p:nvSpPr>
            <p:cNvPr id="478287" name="Rectangle 79"/>
            <p:cNvSpPr>
              <a:spLocks noChangeArrowheads="1"/>
            </p:cNvSpPr>
            <p:nvPr/>
          </p:nvSpPr>
          <p:spPr bwMode="auto">
            <a:xfrm>
              <a:off x="5215" y="3360"/>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a:t>
              </a:r>
              <a:endParaRPr lang="en-US" altLang="en-US" sz="1200"/>
            </a:p>
          </p:txBody>
        </p:sp>
        <p:sp>
          <p:nvSpPr>
            <p:cNvPr id="478288" name="Rectangle 80"/>
            <p:cNvSpPr>
              <a:spLocks noChangeArrowheads="1"/>
            </p:cNvSpPr>
            <p:nvPr/>
          </p:nvSpPr>
          <p:spPr bwMode="auto">
            <a:xfrm>
              <a:off x="5420" y="2849"/>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a:t>
              </a:r>
              <a:endParaRPr lang="en-US" altLang="en-US" sz="1200"/>
            </a:p>
          </p:txBody>
        </p:sp>
        <p:sp>
          <p:nvSpPr>
            <p:cNvPr id="478289" name="Rectangle 81"/>
            <p:cNvSpPr>
              <a:spLocks noChangeArrowheads="1"/>
            </p:cNvSpPr>
            <p:nvPr/>
          </p:nvSpPr>
          <p:spPr bwMode="auto">
            <a:xfrm>
              <a:off x="4703" y="2777"/>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a:t>
              </a:r>
              <a:endParaRPr lang="en-US" altLang="en-US" sz="1200"/>
            </a:p>
          </p:txBody>
        </p:sp>
        <p:sp>
          <p:nvSpPr>
            <p:cNvPr id="478290" name="Rectangle 82"/>
            <p:cNvSpPr>
              <a:spLocks noChangeArrowheads="1"/>
            </p:cNvSpPr>
            <p:nvPr/>
          </p:nvSpPr>
          <p:spPr bwMode="auto">
            <a:xfrm>
              <a:off x="4692" y="2139"/>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s</a:t>
              </a:r>
              <a:endParaRPr lang="en-US" altLang="en-US" sz="1200"/>
            </a:p>
          </p:txBody>
        </p:sp>
        <p:sp>
          <p:nvSpPr>
            <p:cNvPr id="478291" name="Rectangle 83"/>
            <p:cNvSpPr>
              <a:spLocks noChangeArrowheads="1"/>
            </p:cNvSpPr>
            <p:nvPr/>
          </p:nvSpPr>
          <p:spPr bwMode="auto">
            <a:xfrm>
              <a:off x="5410" y="2139"/>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a:t>
              </a:r>
              <a:endParaRPr lang="en-US" altLang="en-US" sz="1200"/>
            </a:p>
          </p:txBody>
        </p:sp>
        <p:sp>
          <p:nvSpPr>
            <p:cNvPr id="478292" name="Rectangle 84"/>
            <p:cNvSpPr>
              <a:spLocks noChangeArrowheads="1"/>
            </p:cNvSpPr>
            <p:nvPr/>
          </p:nvSpPr>
          <p:spPr bwMode="auto">
            <a:xfrm>
              <a:off x="4620" y="3398"/>
              <a:ext cx="38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Datapath</a:t>
              </a:r>
              <a:endParaRPr lang="en-US" altLang="en-US" sz="1200"/>
            </a:p>
          </p:txBody>
        </p:sp>
        <p:sp>
          <p:nvSpPr>
            <p:cNvPr id="478297" name="Line 89"/>
            <p:cNvSpPr>
              <a:spLocks noChangeShapeType="1"/>
            </p:cNvSpPr>
            <p:nvPr/>
          </p:nvSpPr>
          <p:spPr bwMode="auto">
            <a:xfrm>
              <a:off x="4485" y="2551"/>
              <a:ext cx="30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298" name="Line 90"/>
            <p:cNvSpPr>
              <a:spLocks noChangeShapeType="1"/>
            </p:cNvSpPr>
            <p:nvPr/>
          </p:nvSpPr>
          <p:spPr bwMode="auto">
            <a:xfrm>
              <a:off x="4485" y="2672"/>
              <a:ext cx="30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300" name="Rectangle 92"/>
            <p:cNvSpPr>
              <a:spLocks noChangeArrowheads="1"/>
            </p:cNvSpPr>
            <p:nvPr/>
          </p:nvSpPr>
          <p:spPr bwMode="auto">
            <a:xfrm>
              <a:off x="4232" y="2482"/>
              <a:ext cx="23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tot_ld</a:t>
              </a:r>
              <a:endParaRPr lang="en-US" altLang="en-US" sz="1200"/>
            </a:p>
          </p:txBody>
        </p:sp>
        <p:sp>
          <p:nvSpPr>
            <p:cNvPr id="478301" name="Rectangle 93"/>
            <p:cNvSpPr>
              <a:spLocks noChangeArrowheads="1"/>
            </p:cNvSpPr>
            <p:nvPr/>
          </p:nvSpPr>
          <p:spPr bwMode="auto">
            <a:xfrm>
              <a:off x="4207" y="2610"/>
              <a:ext cx="26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tot_clr</a:t>
              </a:r>
              <a:endParaRPr lang="en-US" altLang="en-US" sz="1200"/>
            </a:p>
          </p:txBody>
        </p:sp>
        <p:sp>
          <p:nvSpPr>
            <p:cNvPr id="478304" name="Rectangle 96"/>
            <p:cNvSpPr>
              <a:spLocks noChangeArrowheads="1"/>
            </p:cNvSpPr>
            <p:nvPr/>
          </p:nvSpPr>
          <p:spPr bwMode="auto">
            <a:xfrm>
              <a:off x="4204" y="3082"/>
              <a:ext cx="30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tot_lt_s</a:t>
              </a:r>
              <a:endParaRPr lang="en-US" altLang="en-US" sz="1200"/>
            </a:p>
          </p:txBody>
        </p:sp>
        <p:sp>
          <p:nvSpPr>
            <p:cNvPr id="478305" name="Rectangle 97"/>
            <p:cNvSpPr>
              <a:spLocks noChangeArrowheads="1"/>
            </p:cNvSpPr>
            <p:nvPr/>
          </p:nvSpPr>
          <p:spPr bwMode="auto">
            <a:xfrm>
              <a:off x="4852" y="2462"/>
              <a:ext cx="448" cy="29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06" name="Rectangle 98"/>
            <p:cNvSpPr>
              <a:spLocks noChangeArrowheads="1"/>
            </p:cNvSpPr>
            <p:nvPr/>
          </p:nvSpPr>
          <p:spPr bwMode="auto">
            <a:xfrm>
              <a:off x="4751" y="3057"/>
              <a:ext cx="330" cy="29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07" name="Rectangle 99"/>
            <p:cNvSpPr>
              <a:spLocks noChangeArrowheads="1"/>
            </p:cNvSpPr>
            <p:nvPr/>
          </p:nvSpPr>
          <p:spPr bwMode="auto">
            <a:xfrm>
              <a:off x="5125" y="3057"/>
              <a:ext cx="330" cy="29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78308" name="Line 100"/>
          <p:cNvSpPr>
            <a:spLocks noChangeShapeType="1"/>
          </p:cNvSpPr>
          <p:nvPr/>
        </p:nvSpPr>
        <p:spPr bwMode="auto">
          <a:xfrm>
            <a:off x="6607175" y="2881313"/>
            <a:ext cx="655638" cy="6905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78377" name="Group 169"/>
          <p:cNvGrpSpPr>
            <a:grpSpLocks/>
          </p:cNvGrpSpPr>
          <p:nvPr/>
        </p:nvGrpSpPr>
        <p:grpSpPr bwMode="auto">
          <a:xfrm>
            <a:off x="2481263" y="3578225"/>
            <a:ext cx="3975100" cy="2701925"/>
            <a:chOff x="1802" y="2591"/>
            <a:chExt cx="2068" cy="1180"/>
          </a:xfrm>
        </p:grpSpPr>
        <p:sp>
          <p:nvSpPr>
            <p:cNvPr id="478309" name="Freeform 101"/>
            <p:cNvSpPr>
              <a:spLocks/>
            </p:cNvSpPr>
            <p:nvPr/>
          </p:nvSpPr>
          <p:spPr bwMode="auto">
            <a:xfrm>
              <a:off x="2914" y="3251"/>
              <a:ext cx="71" cy="59"/>
            </a:xfrm>
            <a:custGeom>
              <a:avLst/>
              <a:gdLst>
                <a:gd name="T0" fmla="*/ 0 w 71"/>
                <a:gd name="T1" fmla="*/ 0 h 59"/>
                <a:gd name="T2" fmla="*/ 49 w 71"/>
                <a:gd name="T3" fmla="*/ 59 h 59"/>
                <a:gd name="T4" fmla="*/ 71 w 71"/>
                <a:gd name="T5" fmla="*/ 28 h 59"/>
                <a:gd name="T6" fmla="*/ 0 w 71"/>
                <a:gd name="T7" fmla="*/ 0 h 59"/>
              </a:gdLst>
              <a:ahLst/>
              <a:cxnLst>
                <a:cxn ang="0">
                  <a:pos x="T0" y="T1"/>
                </a:cxn>
                <a:cxn ang="0">
                  <a:pos x="T2" y="T3"/>
                </a:cxn>
                <a:cxn ang="0">
                  <a:pos x="T4" y="T5"/>
                </a:cxn>
                <a:cxn ang="0">
                  <a:pos x="T6" y="T7"/>
                </a:cxn>
              </a:cxnLst>
              <a:rect l="0" t="0" r="r" b="b"/>
              <a:pathLst>
                <a:path w="71" h="59">
                  <a:moveTo>
                    <a:pt x="0" y="0"/>
                  </a:moveTo>
                  <a:lnTo>
                    <a:pt x="49" y="59"/>
                  </a:lnTo>
                  <a:lnTo>
                    <a:pt x="71" y="2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10" name="Freeform 102"/>
            <p:cNvSpPr>
              <a:spLocks/>
            </p:cNvSpPr>
            <p:nvPr/>
          </p:nvSpPr>
          <p:spPr bwMode="auto">
            <a:xfrm>
              <a:off x="2307" y="2993"/>
              <a:ext cx="75" cy="50"/>
            </a:xfrm>
            <a:custGeom>
              <a:avLst/>
              <a:gdLst>
                <a:gd name="T0" fmla="*/ 75 w 75"/>
                <a:gd name="T1" fmla="*/ 50 h 50"/>
                <a:gd name="T2" fmla="*/ 16 w 75"/>
                <a:gd name="T3" fmla="*/ 0 h 50"/>
                <a:gd name="T4" fmla="*/ 0 w 75"/>
                <a:gd name="T5" fmla="*/ 33 h 50"/>
                <a:gd name="T6" fmla="*/ 75 w 75"/>
                <a:gd name="T7" fmla="*/ 50 h 50"/>
              </a:gdLst>
              <a:ahLst/>
              <a:cxnLst>
                <a:cxn ang="0">
                  <a:pos x="T0" y="T1"/>
                </a:cxn>
                <a:cxn ang="0">
                  <a:pos x="T2" y="T3"/>
                </a:cxn>
                <a:cxn ang="0">
                  <a:pos x="T4" y="T5"/>
                </a:cxn>
                <a:cxn ang="0">
                  <a:pos x="T6" y="T7"/>
                </a:cxn>
              </a:cxnLst>
              <a:rect l="0" t="0" r="r" b="b"/>
              <a:pathLst>
                <a:path w="75" h="50">
                  <a:moveTo>
                    <a:pt x="75" y="50"/>
                  </a:moveTo>
                  <a:lnTo>
                    <a:pt x="16" y="0"/>
                  </a:lnTo>
                  <a:lnTo>
                    <a:pt x="0" y="33"/>
                  </a:lnTo>
                  <a:lnTo>
                    <a:pt x="75"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11" name="Freeform 103"/>
            <p:cNvSpPr>
              <a:spLocks/>
            </p:cNvSpPr>
            <p:nvPr/>
          </p:nvSpPr>
          <p:spPr bwMode="auto">
            <a:xfrm>
              <a:off x="2654" y="3019"/>
              <a:ext cx="78" cy="45"/>
            </a:xfrm>
            <a:custGeom>
              <a:avLst/>
              <a:gdLst>
                <a:gd name="T0" fmla="*/ 78 w 78"/>
                <a:gd name="T1" fmla="*/ 45 h 45"/>
                <a:gd name="T2" fmla="*/ 14 w 78"/>
                <a:gd name="T3" fmla="*/ 0 h 45"/>
                <a:gd name="T4" fmla="*/ 0 w 78"/>
                <a:gd name="T5" fmla="*/ 36 h 45"/>
                <a:gd name="T6" fmla="*/ 78 w 78"/>
                <a:gd name="T7" fmla="*/ 45 h 45"/>
              </a:gdLst>
              <a:ahLst/>
              <a:cxnLst>
                <a:cxn ang="0">
                  <a:pos x="T0" y="T1"/>
                </a:cxn>
                <a:cxn ang="0">
                  <a:pos x="T2" y="T3"/>
                </a:cxn>
                <a:cxn ang="0">
                  <a:pos x="T4" y="T5"/>
                </a:cxn>
                <a:cxn ang="0">
                  <a:pos x="T6" y="T7"/>
                </a:cxn>
              </a:cxnLst>
              <a:rect l="0" t="0" r="r" b="b"/>
              <a:pathLst>
                <a:path w="78" h="45">
                  <a:moveTo>
                    <a:pt x="78" y="45"/>
                  </a:moveTo>
                  <a:lnTo>
                    <a:pt x="14" y="0"/>
                  </a:lnTo>
                  <a:lnTo>
                    <a:pt x="0" y="36"/>
                  </a:lnTo>
                  <a:lnTo>
                    <a:pt x="78"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12" name="Rectangle 104"/>
            <p:cNvSpPr>
              <a:spLocks noChangeArrowheads="1"/>
            </p:cNvSpPr>
            <p:nvPr/>
          </p:nvSpPr>
          <p:spPr bwMode="auto">
            <a:xfrm>
              <a:off x="2123" y="2656"/>
              <a:ext cx="221"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Inputs:</a:t>
              </a:r>
              <a:endParaRPr lang="en-US" altLang="en-US" sz="2400">
                <a:latin typeface="Arial" panose="020B0604020202020204" pitchFamily="34" charset="0"/>
              </a:endParaRPr>
            </a:p>
          </p:txBody>
        </p:sp>
        <p:sp>
          <p:nvSpPr>
            <p:cNvPr id="478313" name="Rectangle 105"/>
            <p:cNvSpPr>
              <a:spLocks noChangeArrowheads="1"/>
            </p:cNvSpPr>
            <p:nvPr/>
          </p:nvSpPr>
          <p:spPr bwMode="auto">
            <a:xfrm>
              <a:off x="2325" y="2656"/>
              <a:ext cx="22"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78314" name="Rectangle 106"/>
            <p:cNvSpPr>
              <a:spLocks noChangeArrowheads="1"/>
            </p:cNvSpPr>
            <p:nvPr/>
          </p:nvSpPr>
          <p:spPr bwMode="auto">
            <a:xfrm>
              <a:off x="2355" y="2656"/>
              <a:ext cx="36"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2400">
                <a:latin typeface="Arial" panose="020B0604020202020204" pitchFamily="34" charset="0"/>
              </a:endParaRPr>
            </a:p>
          </p:txBody>
        </p:sp>
        <p:sp>
          <p:nvSpPr>
            <p:cNvPr id="478315" name="Rectangle 107"/>
            <p:cNvSpPr>
              <a:spLocks noChangeArrowheads="1"/>
            </p:cNvSpPr>
            <p:nvPr/>
          </p:nvSpPr>
          <p:spPr bwMode="auto">
            <a:xfrm>
              <a:off x="2388" y="2656"/>
              <a:ext cx="2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78316" name="Rectangle 108"/>
            <p:cNvSpPr>
              <a:spLocks noChangeArrowheads="1"/>
            </p:cNvSpPr>
            <p:nvPr/>
          </p:nvSpPr>
          <p:spPr bwMode="auto">
            <a:xfrm>
              <a:off x="2420" y="2656"/>
              <a:ext cx="238"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tot_lt_s</a:t>
              </a:r>
              <a:endParaRPr lang="en-US" altLang="en-US" sz="2400">
                <a:latin typeface="Arial" panose="020B0604020202020204" pitchFamily="34" charset="0"/>
              </a:endParaRPr>
            </a:p>
          </p:txBody>
        </p:sp>
        <p:sp>
          <p:nvSpPr>
            <p:cNvPr id="478317" name="Rectangle 109"/>
            <p:cNvSpPr>
              <a:spLocks noChangeArrowheads="1"/>
            </p:cNvSpPr>
            <p:nvPr/>
          </p:nvSpPr>
          <p:spPr bwMode="auto">
            <a:xfrm>
              <a:off x="2659" y="2656"/>
              <a:ext cx="157"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 (bit)</a:t>
              </a:r>
              <a:endParaRPr lang="en-US" altLang="en-US" sz="2400">
                <a:latin typeface="Arial" panose="020B0604020202020204" pitchFamily="34" charset="0"/>
              </a:endParaRPr>
            </a:p>
          </p:txBody>
        </p:sp>
        <p:sp>
          <p:nvSpPr>
            <p:cNvPr id="478318" name="Rectangle 110"/>
            <p:cNvSpPr>
              <a:spLocks noChangeArrowheads="1"/>
            </p:cNvSpPr>
            <p:nvPr/>
          </p:nvSpPr>
          <p:spPr bwMode="auto">
            <a:xfrm>
              <a:off x="2123" y="2741"/>
              <a:ext cx="274"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Outputs:</a:t>
              </a:r>
              <a:endParaRPr lang="en-US" altLang="en-US" sz="2400">
                <a:latin typeface="Arial" panose="020B0604020202020204" pitchFamily="34" charset="0"/>
              </a:endParaRPr>
            </a:p>
          </p:txBody>
        </p:sp>
        <p:sp>
          <p:nvSpPr>
            <p:cNvPr id="478319" name="Rectangle 111"/>
            <p:cNvSpPr>
              <a:spLocks noChangeArrowheads="1"/>
            </p:cNvSpPr>
            <p:nvPr/>
          </p:nvSpPr>
          <p:spPr bwMode="auto">
            <a:xfrm>
              <a:off x="2413" y="2741"/>
              <a:ext cx="4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sz="2400">
                <a:latin typeface="Arial" panose="020B0604020202020204" pitchFamily="34" charset="0"/>
              </a:endParaRPr>
            </a:p>
          </p:txBody>
        </p:sp>
        <p:sp>
          <p:nvSpPr>
            <p:cNvPr id="478320" name="Rectangle 112"/>
            <p:cNvSpPr>
              <a:spLocks noChangeArrowheads="1"/>
            </p:cNvSpPr>
            <p:nvPr/>
          </p:nvSpPr>
          <p:spPr bwMode="auto">
            <a:xfrm>
              <a:off x="2455" y="2741"/>
              <a:ext cx="2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78321" name="Rectangle 113"/>
            <p:cNvSpPr>
              <a:spLocks noChangeArrowheads="1"/>
            </p:cNvSpPr>
            <p:nvPr/>
          </p:nvSpPr>
          <p:spPr bwMode="auto">
            <a:xfrm>
              <a:off x="2487" y="2741"/>
              <a:ext cx="185"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tot_ld</a:t>
              </a:r>
              <a:endParaRPr lang="en-US" altLang="en-US" sz="2400">
                <a:latin typeface="Arial" panose="020B0604020202020204" pitchFamily="34" charset="0"/>
              </a:endParaRPr>
            </a:p>
          </p:txBody>
        </p:sp>
        <p:sp>
          <p:nvSpPr>
            <p:cNvPr id="478322" name="Rectangle 114"/>
            <p:cNvSpPr>
              <a:spLocks noChangeArrowheads="1"/>
            </p:cNvSpPr>
            <p:nvPr/>
          </p:nvSpPr>
          <p:spPr bwMode="auto">
            <a:xfrm>
              <a:off x="2676" y="2741"/>
              <a:ext cx="20"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78323" name="Rectangle 115"/>
            <p:cNvSpPr>
              <a:spLocks noChangeArrowheads="1"/>
            </p:cNvSpPr>
            <p:nvPr/>
          </p:nvSpPr>
          <p:spPr bwMode="auto">
            <a:xfrm>
              <a:off x="2708" y="2741"/>
              <a:ext cx="208"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tot_clr</a:t>
              </a:r>
              <a:endParaRPr lang="en-US" altLang="en-US" sz="2400">
                <a:latin typeface="Arial" panose="020B0604020202020204" pitchFamily="34" charset="0"/>
              </a:endParaRPr>
            </a:p>
          </p:txBody>
        </p:sp>
        <p:sp>
          <p:nvSpPr>
            <p:cNvPr id="478324" name="Rectangle 116"/>
            <p:cNvSpPr>
              <a:spLocks noChangeArrowheads="1"/>
            </p:cNvSpPr>
            <p:nvPr/>
          </p:nvSpPr>
          <p:spPr bwMode="auto">
            <a:xfrm>
              <a:off x="2913" y="2741"/>
              <a:ext cx="157"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 (bit)</a:t>
              </a:r>
              <a:endParaRPr lang="en-US" altLang="en-US" sz="2400">
                <a:latin typeface="Arial" panose="020B0604020202020204" pitchFamily="34" charset="0"/>
              </a:endParaRPr>
            </a:p>
          </p:txBody>
        </p:sp>
        <p:sp>
          <p:nvSpPr>
            <p:cNvPr id="478325" name="Freeform 117"/>
            <p:cNvSpPr>
              <a:spLocks/>
            </p:cNvSpPr>
            <p:nvPr/>
          </p:nvSpPr>
          <p:spPr bwMode="auto">
            <a:xfrm>
              <a:off x="2486" y="2984"/>
              <a:ext cx="227" cy="85"/>
            </a:xfrm>
            <a:custGeom>
              <a:avLst/>
              <a:gdLst>
                <a:gd name="T0" fmla="*/ 0 w 96"/>
                <a:gd name="T1" fmla="*/ 36 h 36"/>
                <a:gd name="T2" fmla="*/ 96 w 96"/>
                <a:gd name="T3" fmla="*/ 30 h 36"/>
              </a:gdLst>
              <a:ahLst/>
              <a:cxnLst>
                <a:cxn ang="0">
                  <a:pos x="T0" y="T1"/>
                </a:cxn>
                <a:cxn ang="0">
                  <a:pos x="T2" y="T3"/>
                </a:cxn>
              </a:cxnLst>
              <a:rect l="0" t="0" r="r" b="b"/>
              <a:pathLst>
                <a:path w="96" h="36">
                  <a:moveTo>
                    <a:pt x="0" y="36"/>
                  </a:moveTo>
                  <a:cubicBezTo>
                    <a:pt x="0" y="36"/>
                    <a:pt x="29" y="0"/>
                    <a:pt x="96" y="30"/>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26" name="Freeform 118"/>
            <p:cNvSpPr>
              <a:spLocks/>
            </p:cNvSpPr>
            <p:nvPr/>
          </p:nvSpPr>
          <p:spPr bwMode="auto">
            <a:xfrm>
              <a:off x="3117" y="3019"/>
              <a:ext cx="78" cy="45"/>
            </a:xfrm>
            <a:custGeom>
              <a:avLst/>
              <a:gdLst>
                <a:gd name="T0" fmla="*/ 78 w 78"/>
                <a:gd name="T1" fmla="*/ 45 h 45"/>
                <a:gd name="T2" fmla="*/ 14 w 78"/>
                <a:gd name="T3" fmla="*/ 0 h 45"/>
                <a:gd name="T4" fmla="*/ 0 w 78"/>
                <a:gd name="T5" fmla="*/ 36 h 45"/>
                <a:gd name="T6" fmla="*/ 78 w 78"/>
                <a:gd name="T7" fmla="*/ 45 h 45"/>
              </a:gdLst>
              <a:ahLst/>
              <a:cxnLst>
                <a:cxn ang="0">
                  <a:pos x="T0" y="T1"/>
                </a:cxn>
                <a:cxn ang="0">
                  <a:pos x="T2" y="T3"/>
                </a:cxn>
                <a:cxn ang="0">
                  <a:pos x="T4" y="T5"/>
                </a:cxn>
                <a:cxn ang="0">
                  <a:pos x="T6" y="T7"/>
                </a:cxn>
              </a:cxnLst>
              <a:rect l="0" t="0" r="r" b="b"/>
              <a:pathLst>
                <a:path w="78" h="45">
                  <a:moveTo>
                    <a:pt x="78" y="45"/>
                  </a:moveTo>
                  <a:lnTo>
                    <a:pt x="14" y="0"/>
                  </a:lnTo>
                  <a:lnTo>
                    <a:pt x="0" y="36"/>
                  </a:lnTo>
                  <a:lnTo>
                    <a:pt x="78"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27" name="Freeform 119"/>
            <p:cNvSpPr>
              <a:spLocks/>
            </p:cNvSpPr>
            <p:nvPr/>
          </p:nvSpPr>
          <p:spPr bwMode="auto">
            <a:xfrm>
              <a:off x="3029" y="3459"/>
              <a:ext cx="78" cy="40"/>
            </a:xfrm>
            <a:custGeom>
              <a:avLst/>
              <a:gdLst>
                <a:gd name="T0" fmla="*/ 78 w 78"/>
                <a:gd name="T1" fmla="*/ 40 h 40"/>
                <a:gd name="T2" fmla="*/ 12 w 78"/>
                <a:gd name="T3" fmla="*/ 0 h 40"/>
                <a:gd name="T4" fmla="*/ 0 w 78"/>
                <a:gd name="T5" fmla="*/ 37 h 40"/>
                <a:gd name="T6" fmla="*/ 78 w 78"/>
                <a:gd name="T7" fmla="*/ 40 h 40"/>
              </a:gdLst>
              <a:ahLst/>
              <a:cxnLst>
                <a:cxn ang="0">
                  <a:pos x="T0" y="T1"/>
                </a:cxn>
                <a:cxn ang="0">
                  <a:pos x="T2" y="T3"/>
                </a:cxn>
                <a:cxn ang="0">
                  <a:pos x="T4" y="T5"/>
                </a:cxn>
                <a:cxn ang="0">
                  <a:pos x="T6" y="T7"/>
                </a:cxn>
              </a:cxnLst>
              <a:rect l="0" t="0" r="r" b="b"/>
              <a:pathLst>
                <a:path w="78" h="40">
                  <a:moveTo>
                    <a:pt x="78" y="40"/>
                  </a:moveTo>
                  <a:lnTo>
                    <a:pt x="12" y="0"/>
                  </a:lnTo>
                  <a:lnTo>
                    <a:pt x="0" y="37"/>
                  </a:lnTo>
                  <a:lnTo>
                    <a:pt x="78"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28" name="Freeform 120"/>
            <p:cNvSpPr>
              <a:spLocks/>
            </p:cNvSpPr>
            <p:nvPr/>
          </p:nvSpPr>
          <p:spPr bwMode="auto">
            <a:xfrm>
              <a:off x="2491" y="3251"/>
              <a:ext cx="59" cy="73"/>
            </a:xfrm>
            <a:custGeom>
              <a:avLst/>
              <a:gdLst>
                <a:gd name="T0" fmla="*/ 0 w 59"/>
                <a:gd name="T1" fmla="*/ 0 h 73"/>
                <a:gd name="T2" fmla="*/ 26 w 59"/>
                <a:gd name="T3" fmla="*/ 73 h 73"/>
                <a:gd name="T4" fmla="*/ 59 w 59"/>
                <a:gd name="T5" fmla="*/ 49 h 73"/>
                <a:gd name="T6" fmla="*/ 0 w 59"/>
                <a:gd name="T7" fmla="*/ 0 h 73"/>
              </a:gdLst>
              <a:ahLst/>
              <a:cxnLst>
                <a:cxn ang="0">
                  <a:pos x="T0" y="T1"/>
                </a:cxn>
                <a:cxn ang="0">
                  <a:pos x="T2" y="T3"/>
                </a:cxn>
                <a:cxn ang="0">
                  <a:pos x="T4" y="T5"/>
                </a:cxn>
                <a:cxn ang="0">
                  <a:pos x="T6" y="T7"/>
                </a:cxn>
              </a:cxnLst>
              <a:rect l="0" t="0" r="r" b="b"/>
              <a:pathLst>
                <a:path w="59" h="73">
                  <a:moveTo>
                    <a:pt x="0" y="0"/>
                  </a:moveTo>
                  <a:lnTo>
                    <a:pt x="26" y="73"/>
                  </a:lnTo>
                  <a:lnTo>
                    <a:pt x="59" y="4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29" name="Freeform 121"/>
            <p:cNvSpPr>
              <a:spLocks/>
            </p:cNvSpPr>
            <p:nvPr/>
          </p:nvSpPr>
          <p:spPr bwMode="auto">
            <a:xfrm>
              <a:off x="2918" y="2984"/>
              <a:ext cx="258" cy="85"/>
            </a:xfrm>
            <a:custGeom>
              <a:avLst/>
              <a:gdLst>
                <a:gd name="T0" fmla="*/ 0 w 109"/>
                <a:gd name="T1" fmla="*/ 36 h 36"/>
                <a:gd name="T2" fmla="*/ 109 w 109"/>
                <a:gd name="T3" fmla="*/ 30 h 36"/>
              </a:gdLst>
              <a:ahLst/>
              <a:cxnLst>
                <a:cxn ang="0">
                  <a:pos x="T0" y="T1"/>
                </a:cxn>
                <a:cxn ang="0">
                  <a:pos x="T2" y="T3"/>
                </a:cxn>
              </a:cxnLst>
              <a:rect l="0" t="0" r="r" b="b"/>
              <a:pathLst>
                <a:path w="109" h="36">
                  <a:moveTo>
                    <a:pt x="0" y="36"/>
                  </a:moveTo>
                  <a:cubicBezTo>
                    <a:pt x="0" y="36"/>
                    <a:pt x="42" y="0"/>
                    <a:pt x="109" y="30"/>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30" name="Freeform 122"/>
            <p:cNvSpPr>
              <a:spLocks/>
            </p:cNvSpPr>
            <p:nvPr/>
          </p:nvSpPr>
          <p:spPr bwMode="auto">
            <a:xfrm>
              <a:off x="2127" y="2953"/>
              <a:ext cx="227" cy="85"/>
            </a:xfrm>
            <a:custGeom>
              <a:avLst/>
              <a:gdLst>
                <a:gd name="T0" fmla="*/ 0 w 96"/>
                <a:gd name="T1" fmla="*/ 36 h 36"/>
                <a:gd name="T2" fmla="*/ 96 w 96"/>
                <a:gd name="T3" fmla="*/ 31 h 36"/>
              </a:gdLst>
              <a:ahLst/>
              <a:cxnLst>
                <a:cxn ang="0">
                  <a:pos x="T0" y="T1"/>
                </a:cxn>
                <a:cxn ang="0">
                  <a:pos x="T2" y="T3"/>
                </a:cxn>
              </a:cxnLst>
              <a:rect l="0" t="0" r="r" b="b"/>
              <a:pathLst>
                <a:path w="96" h="36">
                  <a:moveTo>
                    <a:pt x="0" y="36"/>
                  </a:moveTo>
                  <a:cubicBezTo>
                    <a:pt x="0" y="36"/>
                    <a:pt x="29" y="0"/>
                    <a:pt x="96" y="31"/>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31" name="Freeform 123"/>
            <p:cNvSpPr>
              <a:spLocks/>
            </p:cNvSpPr>
            <p:nvPr/>
          </p:nvSpPr>
          <p:spPr bwMode="auto">
            <a:xfrm>
              <a:off x="2763" y="3263"/>
              <a:ext cx="302" cy="224"/>
            </a:xfrm>
            <a:custGeom>
              <a:avLst/>
              <a:gdLst>
                <a:gd name="T0" fmla="*/ 0 w 128"/>
                <a:gd name="T1" fmla="*/ 0 h 95"/>
                <a:gd name="T2" fmla="*/ 128 w 128"/>
                <a:gd name="T3" fmla="*/ 95 h 95"/>
              </a:gdLst>
              <a:ahLst/>
              <a:cxnLst>
                <a:cxn ang="0">
                  <a:pos x="T0" y="T1"/>
                </a:cxn>
                <a:cxn ang="0">
                  <a:pos x="T2" y="T3"/>
                </a:cxn>
              </a:cxnLst>
              <a:rect l="0" t="0" r="r" b="b"/>
              <a:pathLst>
                <a:path w="128" h="95">
                  <a:moveTo>
                    <a:pt x="0" y="0"/>
                  </a:moveTo>
                  <a:cubicBezTo>
                    <a:pt x="0" y="0"/>
                    <a:pt x="13" y="59"/>
                    <a:pt x="128" y="95"/>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32" name="Freeform 124"/>
            <p:cNvSpPr>
              <a:spLocks/>
            </p:cNvSpPr>
            <p:nvPr/>
          </p:nvSpPr>
          <p:spPr bwMode="auto">
            <a:xfrm>
              <a:off x="2505" y="3272"/>
              <a:ext cx="636" cy="432"/>
            </a:xfrm>
            <a:custGeom>
              <a:avLst/>
              <a:gdLst>
                <a:gd name="T0" fmla="*/ 0 w 269"/>
                <a:gd name="T1" fmla="*/ 0 h 183"/>
                <a:gd name="T2" fmla="*/ 269 w 269"/>
                <a:gd name="T3" fmla="*/ 129 h 183"/>
              </a:gdLst>
              <a:ahLst/>
              <a:cxnLst>
                <a:cxn ang="0">
                  <a:pos x="T0" y="T1"/>
                </a:cxn>
                <a:cxn ang="0">
                  <a:pos x="T2" y="T3"/>
                </a:cxn>
              </a:cxnLst>
              <a:rect l="0" t="0" r="r" b="b"/>
              <a:pathLst>
                <a:path w="269" h="183">
                  <a:moveTo>
                    <a:pt x="0" y="0"/>
                  </a:moveTo>
                  <a:cubicBezTo>
                    <a:pt x="0" y="0"/>
                    <a:pt x="103" y="183"/>
                    <a:pt x="269" y="129"/>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33" name="Rectangle 125"/>
            <p:cNvSpPr>
              <a:spLocks noChangeArrowheads="1"/>
            </p:cNvSpPr>
            <p:nvPr/>
          </p:nvSpPr>
          <p:spPr bwMode="auto">
            <a:xfrm>
              <a:off x="2744" y="3113"/>
              <a:ext cx="75"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W</a:t>
              </a:r>
              <a:endParaRPr lang="en-US" altLang="en-US" sz="2400">
                <a:latin typeface="Arial" panose="020B0604020202020204" pitchFamily="34" charset="0"/>
              </a:endParaRPr>
            </a:p>
          </p:txBody>
        </p:sp>
        <p:sp>
          <p:nvSpPr>
            <p:cNvPr id="478334" name="Rectangle 126"/>
            <p:cNvSpPr>
              <a:spLocks noChangeArrowheads="1"/>
            </p:cNvSpPr>
            <p:nvPr/>
          </p:nvSpPr>
          <p:spPr bwMode="auto">
            <a:xfrm>
              <a:off x="2805" y="3113"/>
              <a:ext cx="8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ait</a:t>
              </a:r>
              <a:endParaRPr lang="en-US" altLang="en-US" sz="2400">
                <a:latin typeface="Arial" panose="020B0604020202020204" pitchFamily="34" charset="0"/>
              </a:endParaRPr>
            </a:p>
          </p:txBody>
        </p:sp>
        <p:sp>
          <p:nvSpPr>
            <p:cNvPr id="478335" name="Rectangle 127"/>
            <p:cNvSpPr>
              <a:spLocks noChangeArrowheads="1"/>
            </p:cNvSpPr>
            <p:nvPr/>
          </p:nvSpPr>
          <p:spPr bwMode="auto">
            <a:xfrm>
              <a:off x="3202" y="3466"/>
              <a:ext cx="149"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Disp</a:t>
              </a:r>
              <a:endParaRPr lang="en-US" altLang="en-US" sz="2400">
                <a:latin typeface="Arial" panose="020B0604020202020204" pitchFamily="34" charset="0"/>
              </a:endParaRPr>
            </a:p>
          </p:txBody>
        </p:sp>
        <p:sp>
          <p:nvSpPr>
            <p:cNvPr id="478336" name="Rectangle 128"/>
            <p:cNvSpPr>
              <a:spLocks noChangeArrowheads="1"/>
            </p:cNvSpPr>
            <p:nvPr/>
          </p:nvSpPr>
          <p:spPr bwMode="auto">
            <a:xfrm>
              <a:off x="2347" y="3113"/>
              <a:ext cx="27"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I</a:t>
              </a:r>
              <a:endParaRPr lang="en-US" altLang="en-US" sz="2400">
                <a:latin typeface="Arial" panose="020B0604020202020204" pitchFamily="34" charset="0"/>
              </a:endParaRPr>
            </a:p>
          </p:txBody>
        </p:sp>
        <p:sp>
          <p:nvSpPr>
            <p:cNvPr id="478337" name="Rectangle 129"/>
            <p:cNvSpPr>
              <a:spLocks noChangeArrowheads="1"/>
            </p:cNvSpPr>
            <p:nvPr/>
          </p:nvSpPr>
          <p:spPr bwMode="auto">
            <a:xfrm>
              <a:off x="2366" y="3113"/>
              <a:ext cx="84"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nit</a:t>
              </a:r>
              <a:endParaRPr lang="en-US" altLang="en-US" sz="2400">
                <a:latin typeface="Arial" panose="020B0604020202020204" pitchFamily="34" charset="0"/>
              </a:endParaRPr>
            </a:p>
          </p:txBody>
        </p:sp>
        <p:sp>
          <p:nvSpPr>
            <p:cNvPr id="478338" name="Rectangle 130"/>
            <p:cNvSpPr>
              <a:spLocks noChangeArrowheads="1"/>
            </p:cNvSpPr>
            <p:nvPr/>
          </p:nvSpPr>
          <p:spPr bwMode="auto">
            <a:xfrm>
              <a:off x="2328" y="3286"/>
              <a:ext cx="145"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d=0</a:t>
              </a:r>
              <a:endParaRPr lang="en-US" altLang="en-US" sz="2400">
                <a:latin typeface="Arial" panose="020B0604020202020204" pitchFamily="34" charset="0"/>
              </a:endParaRPr>
            </a:p>
          </p:txBody>
        </p:sp>
        <p:sp>
          <p:nvSpPr>
            <p:cNvPr id="478339" name="Rectangle 131"/>
            <p:cNvSpPr>
              <a:spLocks noChangeArrowheads="1"/>
            </p:cNvSpPr>
            <p:nvPr/>
          </p:nvSpPr>
          <p:spPr bwMode="auto">
            <a:xfrm>
              <a:off x="2246" y="3370"/>
              <a:ext cx="340"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78C1"/>
                  </a:solidFill>
                  <a:latin typeface="Myriad Roman" charset="0"/>
                </a:rPr>
                <a:t>tot_clr=1</a:t>
              </a:r>
              <a:endParaRPr lang="en-US" altLang="en-US" sz="2400">
                <a:latin typeface="Arial" panose="020B0604020202020204" pitchFamily="34" charset="0"/>
              </a:endParaRPr>
            </a:p>
          </p:txBody>
        </p:sp>
        <p:sp>
          <p:nvSpPr>
            <p:cNvPr id="478340" name="Freeform 132"/>
            <p:cNvSpPr>
              <a:spLocks/>
            </p:cNvSpPr>
            <p:nvPr/>
          </p:nvSpPr>
          <p:spPr bwMode="auto">
            <a:xfrm>
              <a:off x="2940" y="3159"/>
              <a:ext cx="163" cy="177"/>
            </a:xfrm>
            <a:custGeom>
              <a:avLst/>
              <a:gdLst>
                <a:gd name="T0" fmla="*/ 16 w 69"/>
                <a:gd name="T1" fmla="*/ 0 h 75"/>
                <a:gd name="T2" fmla="*/ 50 w 69"/>
                <a:gd name="T3" fmla="*/ 45 h 75"/>
                <a:gd name="T4" fmla="*/ 0 w 69"/>
                <a:gd name="T5" fmla="*/ 48 h 75"/>
              </a:gdLst>
              <a:ahLst/>
              <a:cxnLst>
                <a:cxn ang="0">
                  <a:pos x="T0" y="T1"/>
                </a:cxn>
                <a:cxn ang="0">
                  <a:pos x="T2" y="T3"/>
                </a:cxn>
                <a:cxn ang="0">
                  <a:pos x="T4" y="T5"/>
                </a:cxn>
              </a:cxnLst>
              <a:rect l="0" t="0" r="r" b="b"/>
              <a:pathLst>
                <a:path w="69" h="75">
                  <a:moveTo>
                    <a:pt x="16" y="0"/>
                  </a:moveTo>
                  <a:cubicBezTo>
                    <a:pt x="16" y="0"/>
                    <a:pt x="69" y="9"/>
                    <a:pt x="50" y="45"/>
                  </a:cubicBezTo>
                  <a:cubicBezTo>
                    <a:pt x="50" y="45"/>
                    <a:pt x="33" y="75"/>
                    <a:pt x="0" y="48"/>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78341" name="Group 133"/>
            <p:cNvGrpSpPr>
              <a:grpSpLocks/>
            </p:cNvGrpSpPr>
            <p:nvPr/>
          </p:nvGrpSpPr>
          <p:grpSpPr bwMode="auto">
            <a:xfrm rot="2194382">
              <a:off x="2668" y="3380"/>
              <a:ext cx="321" cy="95"/>
              <a:chOff x="2733" y="2388"/>
              <a:chExt cx="321" cy="95"/>
            </a:xfrm>
          </p:grpSpPr>
          <p:sp>
            <p:nvSpPr>
              <p:cNvPr id="478342" name="Rectangle 134"/>
              <p:cNvSpPr>
                <a:spLocks noChangeArrowheads="1"/>
              </p:cNvSpPr>
              <p:nvPr/>
            </p:nvSpPr>
            <p:spPr bwMode="auto">
              <a:xfrm>
                <a:off x="2733" y="2417"/>
                <a:ext cx="85" cy="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a:t>
                </a:r>
                <a:endParaRPr lang="en-US" altLang="en-US" sz="2400">
                  <a:latin typeface="Arial" panose="020B0604020202020204" pitchFamily="34" charset="0"/>
                </a:endParaRPr>
              </a:p>
            </p:txBody>
          </p:sp>
          <p:sp>
            <p:nvSpPr>
              <p:cNvPr id="478343" name="Rectangle 135"/>
              <p:cNvSpPr>
                <a:spLocks noChangeArrowheads="1"/>
              </p:cNvSpPr>
              <p:nvPr/>
            </p:nvSpPr>
            <p:spPr bwMode="auto">
              <a:xfrm>
                <a:off x="2834" y="2388"/>
                <a:ext cx="220" cy="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78C1"/>
                    </a:solidFill>
                    <a:latin typeface="Myriad Roman" charset="0"/>
                  </a:rPr>
                  <a:t>tot_lt_s’</a:t>
                </a:r>
                <a:endParaRPr lang="en-US" altLang="en-US" sz="2400">
                  <a:latin typeface="Arial" panose="020B0604020202020204" pitchFamily="34" charset="0"/>
                </a:endParaRPr>
              </a:p>
            </p:txBody>
          </p:sp>
        </p:grpSp>
        <p:sp>
          <p:nvSpPr>
            <p:cNvPr id="478344" name="Rectangle 136"/>
            <p:cNvSpPr>
              <a:spLocks noChangeArrowheads="1"/>
            </p:cNvSpPr>
            <p:nvPr/>
          </p:nvSpPr>
          <p:spPr bwMode="auto">
            <a:xfrm>
              <a:off x="3062" y="3280"/>
              <a:ext cx="36"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2400">
                <a:latin typeface="Arial" panose="020B0604020202020204" pitchFamily="34" charset="0"/>
              </a:endParaRPr>
            </a:p>
          </p:txBody>
        </p:sp>
        <p:sp>
          <p:nvSpPr>
            <p:cNvPr id="478345" name="Rectangle 137"/>
            <p:cNvSpPr>
              <a:spLocks noChangeArrowheads="1"/>
            </p:cNvSpPr>
            <p:nvPr/>
          </p:nvSpPr>
          <p:spPr bwMode="auto">
            <a:xfrm>
              <a:off x="3098" y="3280"/>
              <a:ext cx="26"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78346" name="Rectangle 138"/>
            <p:cNvSpPr>
              <a:spLocks noChangeArrowheads="1"/>
            </p:cNvSpPr>
            <p:nvPr/>
          </p:nvSpPr>
          <p:spPr bwMode="auto">
            <a:xfrm>
              <a:off x="3112" y="3261"/>
              <a:ext cx="39"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78347" name="Rectangle 139"/>
            <p:cNvSpPr>
              <a:spLocks noChangeArrowheads="1"/>
            </p:cNvSpPr>
            <p:nvPr/>
          </p:nvSpPr>
          <p:spPr bwMode="auto">
            <a:xfrm>
              <a:off x="3144" y="3280"/>
              <a:ext cx="239"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tot_lt_s</a:t>
              </a:r>
              <a:endParaRPr lang="en-US" altLang="en-US" sz="2400">
                <a:latin typeface="Arial" panose="020B0604020202020204" pitchFamily="34" charset="0"/>
              </a:endParaRPr>
            </a:p>
          </p:txBody>
        </p:sp>
        <p:sp>
          <p:nvSpPr>
            <p:cNvPr id="478348" name="Rectangle 140"/>
            <p:cNvSpPr>
              <a:spLocks noChangeArrowheads="1"/>
            </p:cNvSpPr>
            <p:nvPr/>
          </p:nvSpPr>
          <p:spPr bwMode="auto">
            <a:xfrm>
              <a:off x="3203" y="3633"/>
              <a:ext cx="124"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d=1</a:t>
              </a:r>
              <a:endParaRPr lang="en-US" altLang="en-US" sz="2400">
                <a:latin typeface="Arial" panose="020B0604020202020204" pitchFamily="34" charset="0"/>
              </a:endParaRPr>
            </a:p>
          </p:txBody>
        </p:sp>
        <p:sp>
          <p:nvSpPr>
            <p:cNvPr id="478349" name="Rectangle 141"/>
            <p:cNvSpPr>
              <a:spLocks noChangeArrowheads="1"/>
            </p:cNvSpPr>
            <p:nvPr/>
          </p:nvSpPr>
          <p:spPr bwMode="auto">
            <a:xfrm>
              <a:off x="3039" y="2927"/>
              <a:ext cx="36"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2400">
                <a:latin typeface="Arial" panose="020B0604020202020204" pitchFamily="34" charset="0"/>
              </a:endParaRPr>
            </a:p>
          </p:txBody>
        </p:sp>
        <p:sp>
          <p:nvSpPr>
            <p:cNvPr id="478350" name="Oval 142"/>
            <p:cNvSpPr>
              <a:spLocks noChangeArrowheads="1"/>
            </p:cNvSpPr>
            <p:nvPr/>
          </p:nvSpPr>
          <p:spPr bwMode="auto">
            <a:xfrm>
              <a:off x="2236" y="3047"/>
              <a:ext cx="312" cy="223"/>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51" name="Oval 143"/>
            <p:cNvSpPr>
              <a:spLocks noChangeArrowheads="1"/>
            </p:cNvSpPr>
            <p:nvPr/>
          </p:nvSpPr>
          <p:spPr bwMode="auto">
            <a:xfrm>
              <a:off x="2666" y="3047"/>
              <a:ext cx="312" cy="223"/>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52" name="Oval 144"/>
            <p:cNvSpPr>
              <a:spLocks noChangeArrowheads="1"/>
            </p:cNvSpPr>
            <p:nvPr/>
          </p:nvSpPr>
          <p:spPr bwMode="auto">
            <a:xfrm>
              <a:off x="3110" y="3397"/>
              <a:ext cx="312" cy="222"/>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53" name="Rectangle 145"/>
            <p:cNvSpPr>
              <a:spLocks noChangeArrowheads="1"/>
            </p:cNvSpPr>
            <p:nvPr/>
          </p:nvSpPr>
          <p:spPr bwMode="auto">
            <a:xfrm>
              <a:off x="3212" y="3160"/>
              <a:ext cx="27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tot_ld=1</a:t>
              </a:r>
              <a:endParaRPr lang="en-US" altLang="en-US" sz="2400">
                <a:latin typeface="Arial" panose="020B0604020202020204" pitchFamily="34" charset="0"/>
              </a:endParaRPr>
            </a:p>
          </p:txBody>
        </p:sp>
        <p:sp>
          <p:nvSpPr>
            <p:cNvPr id="478354" name="Rectangle 146"/>
            <p:cNvSpPr>
              <a:spLocks noChangeArrowheads="1"/>
            </p:cNvSpPr>
            <p:nvPr/>
          </p:nvSpPr>
          <p:spPr bwMode="auto">
            <a:xfrm>
              <a:off x="2063" y="2591"/>
              <a:ext cx="1500" cy="1180"/>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55" name="Line 147"/>
            <p:cNvSpPr>
              <a:spLocks noChangeShapeType="1"/>
            </p:cNvSpPr>
            <p:nvPr/>
          </p:nvSpPr>
          <p:spPr bwMode="auto">
            <a:xfrm flipH="1">
              <a:off x="1926" y="3133"/>
              <a:ext cx="135"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356" name="Freeform 148"/>
            <p:cNvSpPr>
              <a:spLocks/>
            </p:cNvSpPr>
            <p:nvPr/>
          </p:nvSpPr>
          <p:spPr bwMode="auto">
            <a:xfrm>
              <a:off x="1858" y="3114"/>
              <a:ext cx="75" cy="37"/>
            </a:xfrm>
            <a:custGeom>
              <a:avLst/>
              <a:gdLst>
                <a:gd name="T0" fmla="*/ 0 w 75"/>
                <a:gd name="T1" fmla="*/ 19 h 37"/>
                <a:gd name="T2" fmla="*/ 75 w 75"/>
                <a:gd name="T3" fmla="*/ 37 h 37"/>
                <a:gd name="T4" fmla="*/ 75 w 75"/>
                <a:gd name="T5" fmla="*/ 0 h 37"/>
                <a:gd name="T6" fmla="*/ 0 w 75"/>
                <a:gd name="T7" fmla="*/ 19 h 37"/>
              </a:gdLst>
              <a:ahLst/>
              <a:cxnLst>
                <a:cxn ang="0">
                  <a:pos x="T0" y="T1"/>
                </a:cxn>
                <a:cxn ang="0">
                  <a:pos x="T2" y="T3"/>
                </a:cxn>
                <a:cxn ang="0">
                  <a:pos x="T4" y="T5"/>
                </a:cxn>
                <a:cxn ang="0">
                  <a:pos x="T6" y="T7"/>
                </a:cxn>
              </a:cxnLst>
              <a:rect l="0" t="0" r="r" b="b"/>
              <a:pathLst>
                <a:path w="75" h="37">
                  <a:moveTo>
                    <a:pt x="0" y="19"/>
                  </a:moveTo>
                  <a:lnTo>
                    <a:pt x="75" y="37"/>
                  </a:lnTo>
                  <a:lnTo>
                    <a:pt x="75"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57" name="Line 149"/>
            <p:cNvSpPr>
              <a:spLocks noChangeShapeType="1"/>
            </p:cNvSpPr>
            <p:nvPr/>
          </p:nvSpPr>
          <p:spPr bwMode="auto">
            <a:xfrm flipH="1">
              <a:off x="3027" y="3109"/>
              <a:ext cx="196"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358" name="Freeform 150"/>
            <p:cNvSpPr>
              <a:spLocks/>
            </p:cNvSpPr>
            <p:nvPr/>
          </p:nvSpPr>
          <p:spPr bwMode="auto">
            <a:xfrm>
              <a:off x="2961" y="3090"/>
              <a:ext cx="76" cy="38"/>
            </a:xfrm>
            <a:custGeom>
              <a:avLst/>
              <a:gdLst>
                <a:gd name="T0" fmla="*/ 0 w 76"/>
                <a:gd name="T1" fmla="*/ 19 h 38"/>
                <a:gd name="T2" fmla="*/ 76 w 76"/>
                <a:gd name="T3" fmla="*/ 38 h 38"/>
                <a:gd name="T4" fmla="*/ 76 w 76"/>
                <a:gd name="T5" fmla="*/ 0 h 38"/>
                <a:gd name="T6" fmla="*/ 0 w 76"/>
                <a:gd name="T7" fmla="*/ 19 h 38"/>
              </a:gdLst>
              <a:ahLst/>
              <a:cxnLst>
                <a:cxn ang="0">
                  <a:pos x="T0" y="T1"/>
                </a:cxn>
                <a:cxn ang="0">
                  <a:pos x="T2" y="T3"/>
                </a:cxn>
                <a:cxn ang="0">
                  <a:pos x="T4" y="T5"/>
                </a:cxn>
                <a:cxn ang="0">
                  <a:pos x="T6" y="T7"/>
                </a:cxn>
              </a:cxnLst>
              <a:rect l="0" t="0" r="r" b="b"/>
              <a:pathLst>
                <a:path w="76" h="38">
                  <a:moveTo>
                    <a:pt x="0" y="19"/>
                  </a:moveTo>
                  <a:lnTo>
                    <a:pt x="76" y="38"/>
                  </a:lnTo>
                  <a:lnTo>
                    <a:pt x="76"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59" name="Line 151"/>
            <p:cNvSpPr>
              <a:spLocks noChangeShapeType="1"/>
            </p:cNvSpPr>
            <p:nvPr/>
          </p:nvSpPr>
          <p:spPr bwMode="auto">
            <a:xfrm>
              <a:off x="1862" y="2967"/>
              <a:ext cx="135"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360" name="Freeform 152"/>
            <p:cNvSpPr>
              <a:spLocks/>
            </p:cNvSpPr>
            <p:nvPr/>
          </p:nvSpPr>
          <p:spPr bwMode="auto">
            <a:xfrm>
              <a:off x="1983" y="2948"/>
              <a:ext cx="75" cy="38"/>
            </a:xfrm>
            <a:custGeom>
              <a:avLst/>
              <a:gdLst>
                <a:gd name="T0" fmla="*/ 75 w 75"/>
                <a:gd name="T1" fmla="*/ 19 h 38"/>
                <a:gd name="T2" fmla="*/ 0 w 75"/>
                <a:gd name="T3" fmla="*/ 0 h 38"/>
                <a:gd name="T4" fmla="*/ 0 w 75"/>
                <a:gd name="T5" fmla="*/ 38 h 38"/>
                <a:gd name="T6" fmla="*/ 75 w 75"/>
                <a:gd name="T7" fmla="*/ 19 h 38"/>
              </a:gdLst>
              <a:ahLst/>
              <a:cxnLst>
                <a:cxn ang="0">
                  <a:pos x="T0" y="T1"/>
                </a:cxn>
                <a:cxn ang="0">
                  <a:pos x="T2" y="T3"/>
                </a:cxn>
                <a:cxn ang="0">
                  <a:pos x="T4" y="T5"/>
                </a:cxn>
                <a:cxn ang="0">
                  <a:pos x="T6" y="T7"/>
                </a:cxn>
              </a:cxnLst>
              <a:rect l="0" t="0" r="r" b="b"/>
              <a:pathLst>
                <a:path w="75" h="38">
                  <a:moveTo>
                    <a:pt x="75" y="19"/>
                  </a:moveTo>
                  <a:lnTo>
                    <a:pt x="0" y="0"/>
                  </a:lnTo>
                  <a:lnTo>
                    <a:pt x="0" y="38"/>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61" name="Line 153"/>
            <p:cNvSpPr>
              <a:spLocks noChangeShapeType="1"/>
            </p:cNvSpPr>
            <p:nvPr/>
          </p:nvSpPr>
          <p:spPr bwMode="auto">
            <a:xfrm>
              <a:off x="3561" y="2967"/>
              <a:ext cx="135"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362" name="Freeform 154"/>
            <p:cNvSpPr>
              <a:spLocks/>
            </p:cNvSpPr>
            <p:nvPr/>
          </p:nvSpPr>
          <p:spPr bwMode="auto">
            <a:xfrm>
              <a:off x="3682" y="2948"/>
              <a:ext cx="75" cy="38"/>
            </a:xfrm>
            <a:custGeom>
              <a:avLst/>
              <a:gdLst>
                <a:gd name="T0" fmla="*/ 75 w 75"/>
                <a:gd name="T1" fmla="*/ 19 h 38"/>
                <a:gd name="T2" fmla="*/ 0 w 75"/>
                <a:gd name="T3" fmla="*/ 0 h 38"/>
                <a:gd name="T4" fmla="*/ 0 w 75"/>
                <a:gd name="T5" fmla="*/ 38 h 38"/>
                <a:gd name="T6" fmla="*/ 75 w 75"/>
                <a:gd name="T7" fmla="*/ 19 h 38"/>
              </a:gdLst>
              <a:ahLst/>
              <a:cxnLst>
                <a:cxn ang="0">
                  <a:pos x="T0" y="T1"/>
                </a:cxn>
                <a:cxn ang="0">
                  <a:pos x="T2" y="T3"/>
                </a:cxn>
                <a:cxn ang="0">
                  <a:pos x="T4" y="T5"/>
                </a:cxn>
                <a:cxn ang="0">
                  <a:pos x="T6" y="T7"/>
                </a:cxn>
              </a:cxnLst>
              <a:rect l="0" t="0" r="r" b="b"/>
              <a:pathLst>
                <a:path w="75" h="38">
                  <a:moveTo>
                    <a:pt x="75" y="19"/>
                  </a:moveTo>
                  <a:lnTo>
                    <a:pt x="0" y="0"/>
                  </a:lnTo>
                  <a:lnTo>
                    <a:pt x="0" y="38"/>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63" name="Line 155"/>
            <p:cNvSpPr>
              <a:spLocks noChangeShapeType="1"/>
            </p:cNvSpPr>
            <p:nvPr/>
          </p:nvSpPr>
          <p:spPr bwMode="auto">
            <a:xfrm>
              <a:off x="3559" y="3133"/>
              <a:ext cx="134"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364" name="Freeform 156"/>
            <p:cNvSpPr>
              <a:spLocks/>
            </p:cNvSpPr>
            <p:nvPr/>
          </p:nvSpPr>
          <p:spPr bwMode="auto">
            <a:xfrm>
              <a:off x="3686" y="3114"/>
              <a:ext cx="76" cy="37"/>
            </a:xfrm>
            <a:custGeom>
              <a:avLst/>
              <a:gdLst>
                <a:gd name="T0" fmla="*/ 76 w 76"/>
                <a:gd name="T1" fmla="*/ 19 h 37"/>
                <a:gd name="T2" fmla="*/ 0 w 76"/>
                <a:gd name="T3" fmla="*/ 37 h 37"/>
                <a:gd name="T4" fmla="*/ 0 w 76"/>
                <a:gd name="T5" fmla="*/ 0 h 37"/>
                <a:gd name="T6" fmla="*/ 76 w 76"/>
                <a:gd name="T7" fmla="*/ 19 h 37"/>
              </a:gdLst>
              <a:ahLst/>
              <a:cxnLst>
                <a:cxn ang="0">
                  <a:pos x="T0" y="T1"/>
                </a:cxn>
                <a:cxn ang="0">
                  <a:pos x="T2" y="T3"/>
                </a:cxn>
                <a:cxn ang="0">
                  <a:pos x="T4" y="T5"/>
                </a:cxn>
                <a:cxn ang="0">
                  <a:pos x="T6" y="T7"/>
                </a:cxn>
              </a:cxnLst>
              <a:rect l="0" t="0" r="r" b="b"/>
              <a:pathLst>
                <a:path w="76" h="37">
                  <a:moveTo>
                    <a:pt x="76" y="19"/>
                  </a:moveTo>
                  <a:lnTo>
                    <a:pt x="0" y="37"/>
                  </a:lnTo>
                  <a:lnTo>
                    <a:pt x="0" y="0"/>
                  </a:lnTo>
                  <a:lnTo>
                    <a:pt x="76"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65" name="Line 157"/>
            <p:cNvSpPr>
              <a:spLocks noChangeShapeType="1"/>
            </p:cNvSpPr>
            <p:nvPr/>
          </p:nvSpPr>
          <p:spPr bwMode="auto">
            <a:xfrm flipH="1">
              <a:off x="3630" y="3303"/>
              <a:ext cx="134"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78366" name="Freeform 158"/>
            <p:cNvSpPr>
              <a:spLocks/>
            </p:cNvSpPr>
            <p:nvPr/>
          </p:nvSpPr>
          <p:spPr bwMode="auto">
            <a:xfrm>
              <a:off x="3563" y="3284"/>
              <a:ext cx="76" cy="38"/>
            </a:xfrm>
            <a:custGeom>
              <a:avLst/>
              <a:gdLst>
                <a:gd name="T0" fmla="*/ 0 w 76"/>
                <a:gd name="T1" fmla="*/ 19 h 38"/>
                <a:gd name="T2" fmla="*/ 76 w 76"/>
                <a:gd name="T3" fmla="*/ 38 h 38"/>
                <a:gd name="T4" fmla="*/ 76 w 76"/>
                <a:gd name="T5" fmla="*/ 0 h 38"/>
                <a:gd name="T6" fmla="*/ 0 w 76"/>
                <a:gd name="T7" fmla="*/ 19 h 38"/>
              </a:gdLst>
              <a:ahLst/>
              <a:cxnLst>
                <a:cxn ang="0">
                  <a:pos x="T0" y="T1"/>
                </a:cxn>
                <a:cxn ang="0">
                  <a:pos x="T2" y="T3"/>
                </a:cxn>
                <a:cxn ang="0">
                  <a:pos x="T4" y="T5"/>
                </a:cxn>
                <a:cxn ang="0">
                  <a:pos x="T6" y="T7"/>
                </a:cxn>
              </a:cxnLst>
              <a:rect l="0" t="0" r="r" b="b"/>
              <a:pathLst>
                <a:path w="76" h="38">
                  <a:moveTo>
                    <a:pt x="0" y="19"/>
                  </a:moveTo>
                  <a:lnTo>
                    <a:pt x="76" y="38"/>
                  </a:lnTo>
                  <a:lnTo>
                    <a:pt x="76"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67" name="Rectangle 159"/>
            <p:cNvSpPr>
              <a:spLocks noChangeArrowheads="1"/>
            </p:cNvSpPr>
            <p:nvPr/>
          </p:nvSpPr>
          <p:spPr bwMode="auto">
            <a:xfrm>
              <a:off x="1807" y="2913"/>
              <a:ext cx="41"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c</a:t>
              </a:r>
              <a:endParaRPr lang="en-US" altLang="en-US" sz="2400">
                <a:latin typeface="Arial" panose="020B0604020202020204" pitchFamily="34" charset="0"/>
              </a:endParaRPr>
            </a:p>
          </p:txBody>
        </p:sp>
        <p:sp>
          <p:nvSpPr>
            <p:cNvPr id="478368" name="Rectangle 160"/>
            <p:cNvSpPr>
              <a:spLocks noChangeArrowheads="1"/>
            </p:cNvSpPr>
            <p:nvPr/>
          </p:nvSpPr>
          <p:spPr bwMode="auto">
            <a:xfrm>
              <a:off x="1802" y="3086"/>
              <a:ext cx="46"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
              </a:r>
              <a:endParaRPr lang="en-US" altLang="en-US" sz="2400">
                <a:latin typeface="Arial" panose="020B0604020202020204" pitchFamily="34" charset="0"/>
              </a:endParaRPr>
            </a:p>
          </p:txBody>
        </p:sp>
        <p:sp>
          <p:nvSpPr>
            <p:cNvPr id="478369" name="Rectangle 161"/>
            <p:cNvSpPr>
              <a:spLocks noChangeArrowheads="1"/>
            </p:cNvSpPr>
            <p:nvPr/>
          </p:nvSpPr>
          <p:spPr bwMode="auto">
            <a:xfrm>
              <a:off x="3591" y="2845"/>
              <a:ext cx="186"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tot_ld</a:t>
              </a:r>
              <a:endParaRPr lang="en-US" altLang="en-US" sz="2400">
                <a:latin typeface="Arial" panose="020B0604020202020204" pitchFamily="34" charset="0"/>
              </a:endParaRPr>
            </a:p>
          </p:txBody>
        </p:sp>
        <p:sp>
          <p:nvSpPr>
            <p:cNvPr id="478370" name="Rectangle 162"/>
            <p:cNvSpPr>
              <a:spLocks noChangeArrowheads="1"/>
            </p:cNvSpPr>
            <p:nvPr/>
          </p:nvSpPr>
          <p:spPr bwMode="auto">
            <a:xfrm>
              <a:off x="3591" y="3015"/>
              <a:ext cx="241"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tot_clr</a:t>
              </a:r>
              <a:endParaRPr lang="en-US" altLang="en-US" sz="2400">
                <a:latin typeface="Arial" panose="020B0604020202020204" pitchFamily="34" charset="0"/>
              </a:endParaRPr>
            </a:p>
          </p:txBody>
        </p:sp>
        <p:sp>
          <p:nvSpPr>
            <p:cNvPr id="478371" name="Rectangle 163"/>
            <p:cNvSpPr>
              <a:spLocks noChangeArrowheads="1"/>
            </p:cNvSpPr>
            <p:nvPr/>
          </p:nvSpPr>
          <p:spPr bwMode="auto">
            <a:xfrm>
              <a:off x="3592" y="3190"/>
              <a:ext cx="278"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tot_lt_s</a:t>
              </a:r>
              <a:endParaRPr lang="en-US" altLang="en-US" sz="2400">
                <a:latin typeface="Arial" panose="020B0604020202020204" pitchFamily="34" charset="0"/>
              </a:endParaRPr>
            </a:p>
          </p:txBody>
        </p:sp>
        <p:sp>
          <p:nvSpPr>
            <p:cNvPr id="478372" name="Rectangle 164"/>
            <p:cNvSpPr>
              <a:spLocks noChangeArrowheads="1"/>
            </p:cNvSpPr>
            <p:nvPr/>
          </p:nvSpPr>
          <p:spPr bwMode="auto">
            <a:xfrm>
              <a:off x="2139" y="3666"/>
              <a:ext cx="380" cy="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Controller</a:t>
              </a:r>
              <a:endParaRPr lang="en-US" altLang="en-US" sz="2400">
                <a:latin typeface="Arial" panose="020B0604020202020204" pitchFamily="34" charset="0"/>
              </a:endParaRPr>
            </a:p>
          </p:txBody>
        </p:sp>
        <p:sp>
          <p:nvSpPr>
            <p:cNvPr id="478373" name="Freeform 165"/>
            <p:cNvSpPr>
              <a:spLocks/>
            </p:cNvSpPr>
            <p:nvPr/>
          </p:nvSpPr>
          <p:spPr bwMode="auto">
            <a:xfrm>
              <a:off x="3119" y="3017"/>
              <a:ext cx="76" cy="45"/>
            </a:xfrm>
            <a:custGeom>
              <a:avLst/>
              <a:gdLst>
                <a:gd name="T0" fmla="*/ 76 w 76"/>
                <a:gd name="T1" fmla="*/ 45 h 45"/>
                <a:gd name="T2" fmla="*/ 12 w 76"/>
                <a:gd name="T3" fmla="*/ 0 h 45"/>
                <a:gd name="T4" fmla="*/ 0 w 76"/>
                <a:gd name="T5" fmla="*/ 35 h 45"/>
                <a:gd name="T6" fmla="*/ 76 w 76"/>
                <a:gd name="T7" fmla="*/ 45 h 45"/>
              </a:gdLst>
              <a:ahLst/>
              <a:cxnLst>
                <a:cxn ang="0">
                  <a:pos x="T0" y="T1"/>
                </a:cxn>
                <a:cxn ang="0">
                  <a:pos x="T2" y="T3"/>
                </a:cxn>
                <a:cxn ang="0">
                  <a:pos x="T4" y="T5"/>
                </a:cxn>
                <a:cxn ang="0">
                  <a:pos x="T6" y="T7"/>
                </a:cxn>
              </a:cxnLst>
              <a:rect l="0" t="0" r="r" b="b"/>
              <a:pathLst>
                <a:path w="76" h="45">
                  <a:moveTo>
                    <a:pt x="76" y="45"/>
                  </a:moveTo>
                  <a:lnTo>
                    <a:pt x="12" y="0"/>
                  </a:lnTo>
                  <a:lnTo>
                    <a:pt x="0" y="35"/>
                  </a:lnTo>
                  <a:lnTo>
                    <a:pt x="76"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8374" name="Freeform 166"/>
            <p:cNvSpPr>
              <a:spLocks/>
            </p:cNvSpPr>
            <p:nvPr/>
          </p:nvSpPr>
          <p:spPr bwMode="auto">
            <a:xfrm>
              <a:off x="2921" y="2981"/>
              <a:ext cx="255" cy="85"/>
            </a:xfrm>
            <a:custGeom>
              <a:avLst/>
              <a:gdLst>
                <a:gd name="T0" fmla="*/ 0 w 108"/>
                <a:gd name="T1" fmla="*/ 36 h 36"/>
                <a:gd name="T2" fmla="*/ 108 w 108"/>
                <a:gd name="T3" fmla="*/ 31 h 36"/>
              </a:gdLst>
              <a:ahLst/>
              <a:cxnLst>
                <a:cxn ang="0">
                  <a:pos x="T0" y="T1"/>
                </a:cxn>
                <a:cxn ang="0">
                  <a:pos x="T2" y="T3"/>
                </a:cxn>
              </a:cxnLst>
              <a:rect l="0" t="0" r="r" b="b"/>
              <a:pathLst>
                <a:path w="108" h="36">
                  <a:moveTo>
                    <a:pt x="0" y="36"/>
                  </a:moveTo>
                  <a:cubicBezTo>
                    <a:pt x="0" y="36"/>
                    <a:pt x="42" y="0"/>
                    <a:pt x="108" y="31"/>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8375" name="Rectangle 167"/>
            <p:cNvSpPr>
              <a:spLocks noChangeArrowheads="1"/>
            </p:cNvSpPr>
            <p:nvPr/>
          </p:nvSpPr>
          <p:spPr bwMode="auto">
            <a:xfrm>
              <a:off x="3278" y="3001"/>
              <a:ext cx="136" cy="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Add</a:t>
              </a:r>
              <a:endParaRPr lang="en-US" altLang="en-US" sz="2400">
                <a:latin typeface="Arial" panose="020B0604020202020204" pitchFamily="34" charset="0"/>
              </a:endParaRPr>
            </a:p>
          </p:txBody>
        </p:sp>
        <p:sp>
          <p:nvSpPr>
            <p:cNvPr id="478376" name="Oval 168"/>
            <p:cNvSpPr>
              <a:spLocks noChangeArrowheads="1"/>
            </p:cNvSpPr>
            <p:nvPr/>
          </p:nvSpPr>
          <p:spPr bwMode="auto">
            <a:xfrm>
              <a:off x="3195" y="2929"/>
              <a:ext cx="312" cy="222"/>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lide Number Placeholder 3"/>
          <p:cNvSpPr>
            <a:spLocks noGrp="1"/>
          </p:cNvSpPr>
          <p:nvPr>
            <p:ph type="sldNum" sz="quarter" idx="10"/>
          </p:nvPr>
        </p:nvSpPr>
        <p:spPr/>
        <p:txBody>
          <a:bodyPr/>
          <a:lstStyle/>
          <a:p>
            <a:fld id="{DCF4CBE3-53D4-4ACC-86BD-D2987B8D0E7C}" type="slidenum">
              <a:rPr lang="en-US" altLang="en-US"/>
              <a:pPr/>
              <a:t>10</a:t>
            </a:fld>
            <a:endParaRPr lang="en-US" altLang="en-US"/>
          </a:p>
        </p:txBody>
      </p:sp>
      <p:sp>
        <p:nvSpPr>
          <p:cNvPr id="480258" name="Rectangle 2"/>
          <p:cNvSpPr>
            <a:spLocks noGrp="1" noChangeArrowheads="1"/>
          </p:cNvSpPr>
          <p:nvPr>
            <p:ph type="title"/>
          </p:nvPr>
        </p:nvSpPr>
        <p:spPr/>
        <p:txBody>
          <a:bodyPr/>
          <a:lstStyle/>
          <a:p>
            <a:r>
              <a:rPr lang="en-US" altLang="en-US"/>
              <a:t>Preview Example: </a:t>
            </a:r>
            <a:r>
              <a:rPr lang="en-US" altLang="en-US" sz="3200"/>
              <a:t>Completing the Design</a:t>
            </a:r>
          </a:p>
        </p:txBody>
      </p:sp>
      <p:sp>
        <p:nvSpPr>
          <p:cNvPr id="480259" name="Rectangle 3"/>
          <p:cNvSpPr>
            <a:spLocks noGrp="1" noChangeArrowheads="1"/>
          </p:cNvSpPr>
          <p:nvPr>
            <p:ph type="body" idx="1"/>
          </p:nvPr>
        </p:nvSpPr>
        <p:spPr>
          <a:xfrm>
            <a:off x="228600" y="1219200"/>
            <a:ext cx="3676650" cy="4876800"/>
          </a:xfrm>
        </p:spPr>
        <p:txBody>
          <a:bodyPr/>
          <a:lstStyle/>
          <a:p>
            <a:r>
              <a:rPr lang="en-US" altLang="en-US"/>
              <a:t>Implement the FSM as a state register and logic</a:t>
            </a:r>
          </a:p>
          <a:p>
            <a:pPr lvl="1"/>
            <a:r>
              <a:rPr lang="en-US" altLang="en-US"/>
              <a:t>As in Ch3</a:t>
            </a:r>
          </a:p>
          <a:p>
            <a:pPr lvl="1"/>
            <a:r>
              <a:rPr lang="en-US" altLang="en-US"/>
              <a:t>Table shown on right</a:t>
            </a:r>
          </a:p>
        </p:txBody>
      </p:sp>
      <p:pic>
        <p:nvPicPr>
          <p:cNvPr id="480357" name="Picture 1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9163" y="1852613"/>
            <a:ext cx="4033837"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80426" name="Group 170"/>
          <p:cNvGrpSpPr>
            <a:grpSpLocks/>
          </p:cNvGrpSpPr>
          <p:nvPr/>
        </p:nvGrpSpPr>
        <p:grpSpPr bwMode="auto">
          <a:xfrm>
            <a:off x="185738" y="3321050"/>
            <a:ext cx="4008437" cy="2614613"/>
            <a:chOff x="280" y="2233"/>
            <a:chExt cx="2062" cy="1180"/>
          </a:xfrm>
        </p:grpSpPr>
        <p:sp>
          <p:nvSpPr>
            <p:cNvPr id="480358" name="Freeform 102"/>
            <p:cNvSpPr>
              <a:spLocks/>
            </p:cNvSpPr>
            <p:nvPr/>
          </p:nvSpPr>
          <p:spPr bwMode="auto">
            <a:xfrm>
              <a:off x="1392" y="2893"/>
              <a:ext cx="71" cy="59"/>
            </a:xfrm>
            <a:custGeom>
              <a:avLst/>
              <a:gdLst>
                <a:gd name="T0" fmla="*/ 0 w 71"/>
                <a:gd name="T1" fmla="*/ 0 h 59"/>
                <a:gd name="T2" fmla="*/ 49 w 71"/>
                <a:gd name="T3" fmla="*/ 59 h 59"/>
                <a:gd name="T4" fmla="*/ 71 w 71"/>
                <a:gd name="T5" fmla="*/ 28 h 59"/>
                <a:gd name="T6" fmla="*/ 0 w 71"/>
                <a:gd name="T7" fmla="*/ 0 h 59"/>
              </a:gdLst>
              <a:ahLst/>
              <a:cxnLst>
                <a:cxn ang="0">
                  <a:pos x="T0" y="T1"/>
                </a:cxn>
                <a:cxn ang="0">
                  <a:pos x="T2" y="T3"/>
                </a:cxn>
                <a:cxn ang="0">
                  <a:pos x="T4" y="T5"/>
                </a:cxn>
                <a:cxn ang="0">
                  <a:pos x="T6" y="T7"/>
                </a:cxn>
              </a:cxnLst>
              <a:rect l="0" t="0" r="r" b="b"/>
              <a:pathLst>
                <a:path w="71" h="59">
                  <a:moveTo>
                    <a:pt x="0" y="0"/>
                  </a:moveTo>
                  <a:lnTo>
                    <a:pt x="49" y="59"/>
                  </a:lnTo>
                  <a:lnTo>
                    <a:pt x="71" y="2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359" name="Freeform 103"/>
            <p:cNvSpPr>
              <a:spLocks/>
            </p:cNvSpPr>
            <p:nvPr/>
          </p:nvSpPr>
          <p:spPr bwMode="auto">
            <a:xfrm>
              <a:off x="785" y="2635"/>
              <a:ext cx="75" cy="50"/>
            </a:xfrm>
            <a:custGeom>
              <a:avLst/>
              <a:gdLst>
                <a:gd name="T0" fmla="*/ 75 w 75"/>
                <a:gd name="T1" fmla="*/ 50 h 50"/>
                <a:gd name="T2" fmla="*/ 16 w 75"/>
                <a:gd name="T3" fmla="*/ 0 h 50"/>
                <a:gd name="T4" fmla="*/ 0 w 75"/>
                <a:gd name="T5" fmla="*/ 33 h 50"/>
                <a:gd name="T6" fmla="*/ 75 w 75"/>
                <a:gd name="T7" fmla="*/ 50 h 50"/>
              </a:gdLst>
              <a:ahLst/>
              <a:cxnLst>
                <a:cxn ang="0">
                  <a:pos x="T0" y="T1"/>
                </a:cxn>
                <a:cxn ang="0">
                  <a:pos x="T2" y="T3"/>
                </a:cxn>
                <a:cxn ang="0">
                  <a:pos x="T4" y="T5"/>
                </a:cxn>
                <a:cxn ang="0">
                  <a:pos x="T6" y="T7"/>
                </a:cxn>
              </a:cxnLst>
              <a:rect l="0" t="0" r="r" b="b"/>
              <a:pathLst>
                <a:path w="75" h="50">
                  <a:moveTo>
                    <a:pt x="75" y="50"/>
                  </a:moveTo>
                  <a:lnTo>
                    <a:pt x="16" y="0"/>
                  </a:lnTo>
                  <a:lnTo>
                    <a:pt x="0" y="33"/>
                  </a:lnTo>
                  <a:lnTo>
                    <a:pt x="75" y="5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360" name="Freeform 104"/>
            <p:cNvSpPr>
              <a:spLocks/>
            </p:cNvSpPr>
            <p:nvPr/>
          </p:nvSpPr>
          <p:spPr bwMode="auto">
            <a:xfrm>
              <a:off x="1132" y="2661"/>
              <a:ext cx="78" cy="45"/>
            </a:xfrm>
            <a:custGeom>
              <a:avLst/>
              <a:gdLst>
                <a:gd name="T0" fmla="*/ 78 w 78"/>
                <a:gd name="T1" fmla="*/ 45 h 45"/>
                <a:gd name="T2" fmla="*/ 14 w 78"/>
                <a:gd name="T3" fmla="*/ 0 h 45"/>
                <a:gd name="T4" fmla="*/ 0 w 78"/>
                <a:gd name="T5" fmla="*/ 36 h 45"/>
                <a:gd name="T6" fmla="*/ 78 w 78"/>
                <a:gd name="T7" fmla="*/ 45 h 45"/>
              </a:gdLst>
              <a:ahLst/>
              <a:cxnLst>
                <a:cxn ang="0">
                  <a:pos x="T0" y="T1"/>
                </a:cxn>
                <a:cxn ang="0">
                  <a:pos x="T2" y="T3"/>
                </a:cxn>
                <a:cxn ang="0">
                  <a:pos x="T4" y="T5"/>
                </a:cxn>
                <a:cxn ang="0">
                  <a:pos x="T6" y="T7"/>
                </a:cxn>
              </a:cxnLst>
              <a:rect l="0" t="0" r="r" b="b"/>
              <a:pathLst>
                <a:path w="78" h="45">
                  <a:moveTo>
                    <a:pt x="78" y="45"/>
                  </a:moveTo>
                  <a:lnTo>
                    <a:pt x="14" y="0"/>
                  </a:lnTo>
                  <a:lnTo>
                    <a:pt x="0" y="36"/>
                  </a:lnTo>
                  <a:lnTo>
                    <a:pt x="78"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361" name="Rectangle 105"/>
            <p:cNvSpPr>
              <a:spLocks noChangeArrowheads="1"/>
            </p:cNvSpPr>
            <p:nvPr/>
          </p:nvSpPr>
          <p:spPr bwMode="auto">
            <a:xfrm>
              <a:off x="601" y="2298"/>
              <a:ext cx="218"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Inputs:</a:t>
              </a:r>
              <a:endParaRPr lang="en-US" altLang="en-US" sz="2400">
                <a:latin typeface="Arial" panose="020B0604020202020204" pitchFamily="34" charset="0"/>
              </a:endParaRPr>
            </a:p>
          </p:txBody>
        </p:sp>
        <p:sp>
          <p:nvSpPr>
            <p:cNvPr id="480362" name="Rectangle 106"/>
            <p:cNvSpPr>
              <a:spLocks noChangeArrowheads="1"/>
            </p:cNvSpPr>
            <p:nvPr/>
          </p:nvSpPr>
          <p:spPr bwMode="auto">
            <a:xfrm>
              <a:off x="802" y="2298"/>
              <a:ext cx="22"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80363" name="Rectangle 107"/>
            <p:cNvSpPr>
              <a:spLocks noChangeArrowheads="1"/>
            </p:cNvSpPr>
            <p:nvPr/>
          </p:nvSpPr>
          <p:spPr bwMode="auto">
            <a:xfrm>
              <a:off x="833" y="2298"/>
              <a:ext cx="35"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2400">
                <a:latin typeface="Arial" panose="020B0604020202020204" pitchFamily="34" charset="0"/>
              </a:endParaRPr>
            </a:p>
          </p:txBody>
        </p:sp>
        <p:sp>
          <p:nvSpPr>
            <p:cNvPr id="480364" name="Rectangle 108"/>
            <p:cNvSpPr>
              <a:spLocks noChangeArrowheads="1"/>
            </p:cNvSpPr>
            <p:nvPr/>
          </p:nvSpPr>
          <p:spPr bwMode="auto">
            <a:xfrm>
              <a:off x="866" y="2298"/>
              <a:ext cx="19"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80365" name="Rectangle 109"/>
            <p:cNvSpPr>
              <a:spLocks noChangeArrowheads="1"/>
            </p:cNvSpPr>
            <p:nvPr/>
          </p:nvSpPr>
          <p:spPr bwMode="auto">
            <a:xfrm>
              <a:off x="898" y="2298"/>
              <a:ext cx="236"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tot_lt_s</a:t>
              </a:r>
              <a:endParaRPr lang="en-US" altLang="en-US" sz="2400">
                <a:latin typeface="Arial" panose="020B0604020202020204" pitchFamily="34" charset="0"/>
              </a:endParaRPr>
            </a:p>
          </p:txBody>
        </p:sp>
        <p:sp>
          <p:nvSpPr>
            <p:cNvPr id="480366" name="Rectangle 110"/>
            <p:cNvSpPr>
              <a:spLocks noChangeArrowheads="1"/>
            </p:cNvSpPr>
            <p:nvPr/>
          </p:nvSpPr>
          <p:spPr bwMode="auto">
            <a:xfrm>
              <a:off x="1137" y="2298"/>
              <a:ext cx="155"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 (bit)</a:t>
              </a:r>
              <a:endParaRPr lang="en-US" altLang="en-US" sz="2400">
                <a:latin typeface="Arial" panose="020B0604020202020204" pitchFamily="34" charset="0"/>
              </a:endParaRPr>
            </a:p>
          </p:txBody>
        </p:sp>
        <p:sp>
          <p:nvSpPr>
            <p:cNvPr id="480367" name="Rectangle 111"/>
            <p:cNvSpPr>
              <a:spLocks noChangeArrowheads="1"/>
            </p:cNvSpPr>
            <p:nvPr/>
          </p:nvSpPr>
          <p:spPr bwMode="auto">
            <a:xfrm>
              <a:off x="601" y="2383"/>
              <a:ext cx="270"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Outputs:</a:t>
              </a:r>
              <a:endParaRPr lang="en-US" altLang="en-US" sz="2400">
                <a:latin typeface="Arial" panose="020B0604020202020204" pitchFamily="34" charset="0"/>
              </a:endParaRPr>
            </a:p>
          </p:txBody>
        </p:sp>
        <p:sp>
          <p:nvSpPr>
            <p:cNvPr id="480368" name="Rectangle 112"/>
            <p:cNvSpPr>
              <a:spLocks noChangeArrowheads="1"/>
            </p:cNvSpPr>
            <p:nvPr/>
          </p:nvSpPr>
          <p:spPr bwMode="auto">
            <a:xfrm>
              <a:off x="891" y="2383"/>
              <a:ext cx="3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sz="2400">
                <a:latin typeface="Arial" panose="020B0604020202020204" pitchFamily="34" charset="0"/>
              </a:endParaRPr>
            </a:p>
          </p:txBody>
        </p:sp>
        <p:sp>
          <p:nvSpPr>
            <p:cNvPr id="480369" name="Rectangle 113"/>
            <p:cNvSpPr>
              <a:spLocks noChangeArrowheads="1"/>
            </p:cNvSpPr>
            <p:nvPr/>
          </p:nvSpPr>
          <p:spPr bwMode="auto">
            <a:xfrm>
              <a:off x="933" y="2383"/>
              <a:ext cx="1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80370" name="Rectangle 114"/>
            <p:cNvSpPr>
              <a:spLocks noChangeArrowheads="1"/>
            </p:cNvSpPr>
            <p:nvPr/>
          </p:nvSpPr>
          <p:spPr bwMode="auto">
            <a:xfrm>
              <a:off x="965" y="2383"/>
              <a:ext cx="184"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tot_ld</a:t>
              </a:r>
              <a:endParaRPr lang="en-US" altLang="en-US" sz="2400">
                <a:latin typeface="Arial" panose="020B0604020202020204" pitchFamily="34" charset="0"/>
              </a:endParaRPr>
            </a:p>
          </p:txBody>
        </p:sp>
        <p:sp>
          <p:nvSpPr>
            <p:cNvPr id="480371" name="Rectangle 115"/>
            <p:cNvSpPr>
              <a:spLocks noChangeArrowheads="1"/>
            </p:cNvSpPr>
            <p:nvPr/>
          </p:nvSpPr>
          <p:spPr bwMode="auto">
            <a:xfrm>
              <a:off x="1154" y="2383"/>
              <a:ext cx="20"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80372" name="Rectangle 116"/>
            <p:cNvSpPr>
              <a:spLocks noChangeArrowheads="1"/>
            </p:cNvSpPr>
            <p:nvPr/>
          </p:nvSpPr>
          <p:spPr bwMode="auto">
            <a:xfrm>
              <a:off x="1186" y="2383"/>
              <a:ext cx="206"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tot_clr</a:t>
              </a:r>
              <a:endParaRPr lang="en-US" altLang="en-US" sz="2400">
                <a:latin typeface="Arial" panose="020B0604020202020204" pitchFamily="34" charset="0"/>
              </a:endParaRPr>
            </a:p>
          </p:txBody>
        </p:sp>
        <p:sp>
          <p:nvSpPr>
            <p:cNvPr id="480373" name="Rectangle 117"/>
            <p:cNvSpPr>
              <a:spLocks noChangeArrowheads="1"/>
            </p:cNvSpPr>
            <p:nvPr/>
          </p:nvSpPr>
          <p:spPr bwMode="auto">
            <a:xfrm>
              <a:off x="1391" y="2383"/>
              <a:ext cx="155"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 (bit)</a:t>
              </a:r>
              <a:endParaRPr lang="en-US" altLang="en-US" sz="2400">
                <a:latin typeface="Arial" panose="020B0604020202020204" pitchFamily="34" charset="0"/>
              </a:endParaRPr>
            </a:p>
          </p:txBody>
        </p:sp>
        <p:sp>
          <p:nvSpPr>
            <p:cNvPr id="480374" name="Freeform 118"/>
            <p:cNvSpPr>
              <a:spLocks/>
            </p:cNvSpPr>
            <p:nvPr/>
          </p:nvSpPr>
          <p:spPr bwMode="auto">
            <a:xfrm>
              <a:off x="964" y="2626"/>
              <a:ext cx="227" cy="85"/>
            </a:xfrm>
            <a:custGeom>
              <a:avLst/>
              <a:gdLst>
                <a:gd name="T0" fmla="*/ 0 w 96"/>
                <a:gd name="T1" fmla="*/ 36 h 36"/>
                <a:gd name="T2" fmla="*/ 96 w 96"/>
                <a:gd name="T3" fmla="*/ 30 h 36"/>
              </a:gdLst>
              <a:ahLst/>
              <a:cxnLst>
                <a:cxn ang="0">
                  <a:pos x="T0" y="T1"/>
                </a:cxn>
                <a:cxn ang="0">
                  <a:pos x="T2" y="T3"/>
                </a:cxn>
              </a:cxnLst>
              <a:rect l="0" t="0" r="r" b="b"/>
              <a:pathLst>
                <a:path w="96" h="36">
                  <a:moveTo>
                    <a:pt x="0" y="36"/>
                  </a:moveTo>
                  <a:cubicBezTo>
                    <a:pt x="0" y="36"/>
                    <a:pt x="29" y="0"/>
                    <a:pt x="96" y="30"/>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375" name="Freeform 119"/>
            <p:cNvSpPr>
              <a:spLocks/>
            </p:cNvSpPr>
            <p:nvPr/>
          </p:nvSpPr>
          <p:spPr bwMode="auto">
            <a:xfrm>
              <a:off x="1595" y="2661"/>
              <a:ext cx="78" cy="45"/>
            </a:xfrm>
            <a:custGeom>
              <a:avLst/>
              <a:gdLst>
                <a:gd name="T0" fmla="*/ 78 w 78"/>
                <a:gd name="T1" fmla="*/ 45 h 45"/>
                <a:gd name="T2" fmla="*/ 14 w 78"/>
                <a:gd name="T3" fmla="*/ 0 h 45"/>
                <a:gd name="T4" fmla="*/ 0 w 78"/>
                <a:gd name="T5" fmla="*/ 36 h 45"/>
                <a:gd name="T6" fmla="*/ 78 w 78"/>
                <a:gd name="T7" fmla="*/ 45 h 45"/>
              </a:gdLst>
              <a:ahLst/>
              <a:cxnLst>
                <a:cxn ang="0">
                  <a:pos x="T0" y="T1"/>
                </a:cxn>
                <a:cxn ang="0">
                  <a:pos x="T2" y="T3"/>
                </a:cxn>
                <a:cxn ang="0">
                  <a:pos x="T4" y="T5"/>
                </a:cxn>
                <a:cxn ang="0">
                  <a:pos x="T6" y="T7"/>
                </a:cxn>
              </a:cxnLst>
              <a:rect l="0" t="0" r="r" b="b"/>
              <a:pathLst>
                <a:path w="78" h="45">
                  <a:moveTo>
                    <a:pt x="78" y="45"/>
                  </a:moveTo>
                  <a:lnTo>
                    <a:pt x="14" y="0"/>
                  </a:lnTo>
                  <a:lnTo>
                    <a:pt x="0" y="36"/>
                  </a:lnTo>
                  <a:lnTo>
                    <a:pt x="78"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376" name="Freeform 120"/>
            <p:cNvSpPr>
              <a:spLocks/>
            </p:cNvSpPr>
            <p:nvPr/>
          </p:nvSpPr>
          <p:spPr bwMode="auto">
            <a:xfrm>
              <a:off x="1507" y="3101"/>
              <a:ext cx="78" cy="40"/>
            </a:xfrm>
            <a:custGeom>
              <a:avLst/>
              <a:gdLst>
                <a:gd name="T0" fmla="*/ 78 w 78"/>
                <a:gd name="T1" fmla="*/ 40 h 40"/>
                <a:gd name="T2" fmla="*/ 12 w 78"/>
                <a:gd name="T3" fmla="*/ 0 h 40"/>
                <a:gd name="T4" fmla="*/ 0 w 78"/>
                <a:gd name="T5" fmla="*/ 37 h 40"/>
                <a:gd name="T6" fmla="*/ 78 w 78"/>
                <a:gd name="T7" fmla="*/ 40 h 40"/>
              </a:gdLst>
              <a:ahLst/>
              <a:cxnLst>
                <a:cxn ang="0">
                  <a:pos x="T0" y="T1"/>
                </a:cxn>
                <a:cxn ang="0">
                  <a:pos x="T2" y="T3"/>
                </a:cxn>
                <a:cxn ang="0">
                  <a:pos x="T4" y="T5"/>
                </a:cxn>
                <a:cxn ang="0">
                  <a:pos x="T6" y="T7"/>
                </a:cxn>
              </a:cxnLst>
              <a:rect l="0" t="0" r="r" b="b"/>
              <a:pathLst>
                <a:path w="78" h="40">
                  <a:moveTo>
                    <a:pt x="78" y="40"/>
                  </a:moveTo>
                  <a:lnTo>
                    <a:pt x="12" y="0"/>
                  </a:lnTo>
                  <a:lnTo>
                    <a:pt x="0" y="37"/>
                  </a:lnTo>
                  <a:lnTo>
                    <a:pt x="78"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377" name="Freeform 121"/>
            <p:cNvSpPr>
              <a:spLocks/>
            </p:cNvSpPr>
            <p:nvPr/>
          </p:nvSpPr>
          <p:spPr bwMode="auto">
            <a:xfrm>
              <a:off x="969" y="2893"/>
              <a:ext cx="59" cy="73"/>
            </a:xfrm>
            <a:custGeom>
              <a:avLst/>
              <a:gdLst>
                <a:gd name="T0" fmla="*/ 0 w 59"/>
                <a:gd name="T1" fmla="*/ 0 h 73"/>
                <a:gd name="T2" fmla="*/ 26 w 59"/>
                <a:gd name="T3" fmla="*/ 73 h 73"/>
                <a:gd name="T4" fmla="*/ 59 w 59"/>
                <a:gd name="T5" fmla="*/ 49 h 73"/>
                <a:gd name="T6" fmla="*/ 0 w 59"/>
                <a:gd name="T7" fmla="*/ 0 h 73"/>
              </a:gdLst>
              <a:ahLst/>
              <a:cxnLst>
                <a:cxn ang="0">
                  <a:pos x="T0" y="T1"/>
                </a:cxn>
                <a:cxn ang="0">
                  <a:pos x="T2" y="T3"/>
                </a:cxn>
                <a:cxn ang="0">
                  <a:pos x="T4" y="T5"/>
                </a:cxn>
                <a:cxn ang="0">
                  <a:pos x="T6" y="T7"/>
                </a:cxn>
              </a:cxnLst>
              <a:rect l="0" t="0" r="r" b="b"/>
              <a:pathLst>
                <a:path w="59" h="73">
                  <a:moveTo>
                    <a:pt x="0" y="0"/>
                  </a:moveTo>
                  <a:lnTo>
                    <a:pt x="26" y="73"/>
                  </a:lnTo>
                  <a:lnTo>
                    <a:pt x="59" y="4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378" name="Freeform 122"/>
            <p:cNvSpPr>
              <a:spLocks/>
            </p:cNvSpPr>
            <p:nvPr/>
          </p:nvSpPr>
          <p:spPr bwMode="auto">
            <a:xfrm>
              <a:off x="1396" y="2626"/>
              <a:ext cx="258" cy="85"/>
            </a:xfrm>
            <a:custGeom>
              <a:avLst/>
              <a:gdLst>
                <a:gd name="T0" fmla="*/ 0 w 109"/>
                <a:gd name="T1" fmla="*/ 36 h 36"/>
                <a:gd name="T2" fmla="*/ 109 w 109"/>
                <a:gd name="T3" fmla="*/ 30 h 36"/>
              </a:gdLst>
              <a:ahLst/>
              <a:cxnLst>
                <a:cxn ang="0">
                  <a:pos x="T0" y="T1"/>
                </a:cxn>
                <a:cxn ang="0">
                  <a:pos x="T2" y="T3"/>
                </a:cxn>
              </a:cxnLst>
              <a:rect l="0" t="0" r="r" b="b"/>
              <a:pathLst>
                <a:path w="109" h="36">
                  <a:moveTo>
                    <a:pt x="0" y="36"/>
                  </a:moveTo>
                  <a:cubicBezTo>
                    <a:pt x="0" y="36"/>
                    <a:pt x="42" y="0"/>
                    <a:pt x="109" y="30"/>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379" name="Freeform 123"/>
            <p:cNvSpPr>
              <a:spLocks/>
            </p:cNvSpPr>
            <p:nvPr/>
          </p:nvSpPr>
          <p:spPr bwMode="auto">
            <a:xfrm>
              <a:off x="605" y="2595"/>
              <a:ext cx="227" cy="85"/>
            </a:xfrm>
            <a:custGeom>
              <a:avLst/>
              <a:gdLst>
                <a:gd name="T0" fmla="*/ 0 w 96"/>
                <a:gd name="T1" fmla="*/ 36 h 36"/>
                <a:gd name="T2" fmla="*/ 96 w 96"/>
                <a:gd name="T3" fmla="*/ 31 h 36"/>
              </a:gdLst>
              <a:ahLst/>
              <a:cxnLst>
                <a:cxn ang="0">
                  <a:pos x="T0" y="T1"/>
                </a:cxn>
                <a:cxn ang="0">
                  <a:pos x="T2" y="T3"/>
                </a:cxn>
              </a:cxnLst>
              <a:rect l="0" t="0" r="r" b="b"/>
              <a:pathLst>
                <a:path w="96" h="36">
                  <a:moveTo>
                    <a:pt x="0" y="36"/>
                  </a:moveTo>
                  <a:cubicBezTo>
                    <a:pt x="0" y="36"/>
                    <a:pt x="29" y="0"/>
                    <a:pt x="96" y="31"/>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380" name="Freeform 124"/>
            <p:cNvSpPr>
              <a:spLocks/>
            </p:cNvSpPr>
            <p:nvPr/>
          </p:nvSpPr>
          <p:spPr bwMode="auto">
            <a:xfrm>
              <a:off x="1241" y="2905"/>
              <a:ext cx="302" cy="224"/>
            </a:xfrm>
            <a:custGeom>
              <a:avLst/>
              <a:gdLst>
                <a:gd name="T0" fmla="*/ 0 w 128"/>
                <a:gd name="T1" fmla="*/ 0 h 95"/>
                <a:gd name="T2" fmla="*/ 128 w 128"/>
                <a:gd name="T3" fmla="*/ 95 h 95"/>
              </a:gdLst>
              <a:ahLst/>
              <a:cxnLst>
                <a:cxn ang="0">
                  <a:pos x="T0" y="T1"/>
                </a:cxn>
                <a:cxn ang="0">
                  <a:pos x="T2" y="T3"/>
                </a:cxn>
              </a:cxnLst>
              <a:rect l="0" t="0" r="r" b="b"/>
              <a:pathLst>
                <a:path w="128" h="95">
                  <a:moveTo>
                    <a:pt x="0" y="0"/>
                  </a:moveTo>
                  <a:cubicBezTo>
                    <a:pt x="0" y="0"/>
                    <a:pt x="13" y="59"/>
                    <a:pt x="128" y="95"/>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381" name="Freeform 125"/>
            <p:cNvSpPr>
              <a:spLocks/>
            </p:cNvSpPr>
            <p:nvPr/>
          </p:nvSpPr>
          <p:spPr bwMode="auto">
            <a:xfrm>
              <a:off x="983" y="2914"/>
              <a:ext cx="636" cy="432"/>
            </a:xfrm>
            <a:custGeom>
              <a:avLst/>
              <a:gdLst>
                <a:gd name="T0" fmla="*/ 0 w 269"/>
                <a:gd name="T1" fmla="*/ 0 h 183"/>
                <a:gd name="T2" fmla="*/ 269 w 269"/>
                <a:gd name="T3" fmla="*/ 129 h 183"/>
              </a:gdLst>
              <a:ahLst/>
              <a:cxnLst>
                <a:cxn ang="0">
                  <a:pos x="T0" y="T1"/>
                </a:cxn>
                <a:cxn ang="0">
                  <a:pos x="T2" y="T3"/>
                </a:cxn>
              </a:cxnLst>
              <a:rect l="0" t="0" r="r" b="b"/>
              <a:pathLst>
                <a:path w="269" h="183">
                  <a:moveTo>
                    <a:pt x="0" y="0"/>
                  </a:moveTo>
                  <a:cubicBezTo>
                    <a:pt x="0" y="0"/>
                    <a:pt x="103" y="183"/>
                    <a:pt x="269" y="129"/>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382" name="Rectangle 126"/>
            <p:cNvSpPr>
              <a:spLocks noChangeArrowheads="1"/>
            </p:cNvSpPr>
            <p:nvPr/>
          </p:nvSpPr>
          <p:spPr bwMode="auto">
            <a:xfrm>
              <a:off x="1222" y="2755"/>
              <a:ext cx="74"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W</a:t>
              </a:r>
              <a:endParaRPr lang="en-US" altLang="en-US" sz="2400">
                <a:latin typeface="Arial" panose="020B0604020202020204" pitchFamily="34" charset="0"/>
              </a:endParaRPr>
            </a:p>
          </p:txBody>
        </p:sp>
        <p:sp>
          <p:nvSpPr>
            <p:cNvPr id="480383" name="Rectangle 127"/>
            <p:cNvSpPr>
              <a:spLocks noChangeArrowheads="1"/>
            </p:cNvSpPr>
            <p:nvPr/>
          </p:nvSpPr>
          <p:spPr bwMode="auto">
            <a:xfrm>
              <a:off x="1283" y="2755"/>
              <a:ext cx="79"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ait</a:t>
              </a:r>
              <a:endParaRPr lang="en-US" altLang="en-US" sz="2400">
                <a:latin typeface="Arial" panose="020B0604020202020204" pitchFamily="34" charset="0"/>
              </a:endParaRPr>
            </a:p>
          </p:txBody>
        </p:sp>
        <p:sp>
          <p:nvSpPr>
            <p:cNvPr id="480384" name="Rectangle 128"/>
            <p:cNvSpPr>
              <a:spLocks noChangeArrowheads="1"/>
            </p:cNvSpPr>
            <p:nvPr/>
          </p:nvSpPr>
          <p:spPr bwMode="auto">
            <a:xfrm>
              <a:off x="1680" y="3108"/>
              <a:ext cx="148"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Disp</a:t>
              </a:r>
              <a:endParaRPr lang="en-US" altLang="en-US" sz="2400">
                <a:latin typeface="Arial" panose="020B0604020202020204" pitchFamily="34" charset="0"/>
              </a:endParaRPr>
            </a:p>
          </p:txBody>
        </p:sp>
        <p:sp>
          <p:nvSpPr>
            <p:cNvPr id="480385" name="Rectangle 129"/>
            <p:cNvSpPr>
              <a:spLocks noChangeArrowheads="1"/>
            </p:cNvSpPr>
            <p:nvPr/>
          </p:nvSpPr>
          <p:spPr bwMode="auto">
            <a:xfrm>
              <a:off x="825" y="2755"/>
              <a:ext cx="26"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I</a:t>
              </a:r>
              <a:endParaRPr lang="en-US" altLang="en-US" sz="2400">
                <a:latin typeface="Arial" panose="020B0604020202020204" pitchFamily="34" charset="0"/>
              </a:endParaRPr>
            </a:p>
          </p:txBody>
        </p:sp>
        <p:sp>
          <p:nvSpPr>
            <p:cNvPr id="480386" name="Rectangle 130"/>
            <p:cNvSpPr>
              <a:spLocks noChangeArrowheads="1"/>
            </p:cNvSpPr>
            <p:nvPr/>
          </p:nvSpPr>
          <p:spPr bwMode="auto">
            <a:xfrm>
              <a:off x="844" y="2755"/>
              <a:ext cx="84"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nit</a:t>
              </a:r>
              <a:endParaRPr lang="en-US" altLang="en-US" sz="2400">
                <a:latin typeface="Arial" panose="020B0604020202020204" pitchFamily="34" charset="0"/>
              </a:endParaRPr>
            </a:p>
          </p:txBody>
        </p:sp>
        <p:sp>
          <p:nvSpPr>
            <p:cNvPr id="480387" name="Rectangle 131"/>
            <p:cNvSpPr>
              <a:spLocks noChangeArrowheads="1"/>
            </p:cNvSpPr>
            <p:nvPr/>
          </p:nvSpPr>
          <p:spPr bwMode="auto">
            <a:xfrm>
              <a:off x="806" y="2928"/>
              <a:ext cx="14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d=0</a:t>
              </a:r>
              <a:endParaRPr lang="en-US" altLang="en-US" sz="2400">
                <a:latin typeface="Arial" panose="020B0604020202020204" pitchFamily="34" charset="0"/>
              </a:endParaRPr>
            </a:p>
          </p:txBody>
        </p:sp>
        <p:sp>
          <p:nvSpPr>
            <p:cNvPr id="480388" name="Rectangle 132"/>
            <p:cNvSpPr>
              <a:spLocks noChangeArrowheads="1"/>
            </p:cNvSpPr>
            <p:nvPr/>
          </p:nvSpPr>
          <p:spPr bwMode="auto">
            <a:xfrm>
              <a:off x="724" y="3012"/>
              <a:ext cx="33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78C1"/>
                  </a:solidFill>
                  <a:latin typeface="Myriad Roman" charset="0"/>
                </a:rPr>
                <a:t>tot_clr=1</a:t>
              </a:r>
              <a:endParaRPr lang="en-US" altLang="en-US" sz="2400">
                <a:latin typeface="Arial" panose="020B0604020202020204" pitchFamily="34" charset="0"/>
              </a:endParaRPr>
            </a:p>
          </p:txBody>
        </p:sp>
        <p:sp>
          <p:nvSpPr>
            <p:cNvPr id="480389" name="Freeform 133"/>
            <p:cNvSpPr>
              <a:spLocks/>
            </p:cNvSpPr>
            <p:nvPr/>
          </p:nvSpPr>
          <p:spPr bwMode="auto">
            <a:xfrm>
              <a:off x="1418" y="2801"/>
              <a:ext cx="163" cy="177"/>
            </a:xfrm>
            <a:custGeom>
              <a:avLst/>
              <a:gdLst>
                <a:gd name="T0" fmla="*/ 16 w 69"/>
                <a:gd name="T1" fmla="*/ 0 h 75"/>
                <a:gd name="T2" fmla="*/ 50 w 69"/>
                <a:gd name="T3" fmla="*/ 45 h 75"/>
                <a:gd name="T4" fmla="*/ 0 w 69"/>
                <a:gd name="T5" fmla="*/ 48 h 75"/>
              </a:gdLst>
              <a:ahLst/>
              <a:cxnLst>
                <a:cxn ang="0">
                  <a:pos x="T0" y="T1"/>
                </a:cxn>
                <a:cxn ang="0">
                  <a:pos x="T2" y="T3"/>
                </a:cxn>
                <a:cxn ang="0">
                  <a:pos x="T4" y="T5"/>
                </a:cxn>
              </a:cxnLst>
              <a:rect l="0" t="0" r="r" b="b"/>
              <a:pathLst>
                <a:path w="69" h="75">
                  <a:moveTo>
                    <a:pt x="16" y="0"/>
                  </a:moveTo>
                  <a:cubicBezTo>
                    <a:pt x="16" y="0"/>
                    <a:pt x="69" y="9"/>
                    <a:pt x="50" y="45"/>
                  </a:cubicBezTo>
                  <a:cubicBezTo>
                    <a:pt x="50" y="45"/>
                    <a:pt x="33" y="75"/>
                    <a:pt x="0" y="48"/>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80390" name="Group 134"/>
            <p:cNvGrpSpPr>
              <a:grpSpLocks/>
            </p:cNvGrpSpPr>
            <p:nvPr/>
          </p:nvGrpSpPr>
          <p:grpSpPr bwMode="auto">
            <a:xfrm rot="2194382">
              <a:off x="1148" y="3023"/>
              <a:ext cx="316" cy="93"/>
              <a:chOff x="2735" y="2389"/>
              <a:chExt cx="316" cy="93"/>
            </a:xfrm>
          </p:grpSpPr>
          <p:sp>
            <p:nvSpPr>
              <p:cNvPr id="480391" name="Rectangle 135"/>
              <p:cNvSpPr>
                <a:spLocks noChangeArrowheads="1"/>
              </p:cNvSpPr>
              <p:nvPr/>
            </p:nvSpPr>
            <p:spPr bwMode="auto">
              <a:xfrm>
                <a:off x="2735" y="2413"/>
                <a:ext cx="84"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a:t>
                </a:r>
                <a:endParaRPr lang="en-US" altLang="en-US" sz="2400">
                  <a:latin typeface="Arial" panose="020B0604020202020204" pitchFamily="34" charset="0"/>
                </a:endParaRPr>
              </a:p>
            </p:txBody>
          </p:sp>
          <p:sp>
            <p:nvSpPr>
              <p:cNvPr id="480392" name="Rectangle 136"/>
              <p:cNvSpPr>
                <a:spLocks noChangeArrowheads="1"/>
              </p:cNvSpPr>
              <p:nvPr/>
            </p:nvSpPr>
            <p:spPr bwMode="auto">
              <a:xfrm>
                <a:off x="2834" y="2389"/>
                <a:ext cx="217" cy="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78C1"/>
                    </a:solidFill>
                    <a:latin typeface="Myriad Roman" charset="0"/>
                  </a:rPr>
                  <a:t>tot_lt_s’</a:t>
                </a:r>
                <a:endParaRPr lang="en-US" altLang="en-US" sz="2400">
                  <a:latin typeface="Arial" panose="020B0604020202020204" pitchFamily="34" charset="0"/>
                </a:endParaRPr>
              </a:p>
            </p:txBody>
          </p:sp>
        </p:grpSp>
        <p:sp>
          <p:nvSpPr>
            <p:cNvPr id="480393" name="Rectangle 137"/>
            <p:cNvSpPr>
              <a:spLocks noChangeArrowheads="1"/>
            </p:cNvSpPr>
            <p:nvPr/>
          </p:nvSpPr>
          <p:spPr bwMode="auto">
            <a:xfrm>
              <a:off x="1540" y="2922"/>
              <a:ext cx="35"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2400">
                <a:latin typeface="Arial" panose="020B0604020202020204" pitchFamily="34" charset="0"/>
              </a:endParaRPr>
            </a:p>
          </p:txBody>
        </p:sp>
        <p:sp>
          <p:nvSpPr>
            <p:cNvPr id="480394" name="Rectangle 138"/>
            <p:cNvSpPr>
              <a:spLocks noChangeArrowheads="1"/>
            </p:cNvSpPr>
            <p:nvPr/>
          </p:nvSpPr>
          <p:spPr bwMode="auto">
            <a:xfrm>
              <a:off x="1575" y="2922"/>
              <a:ext cx="26"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80395" name="Rectangle 139"/>
            <p:cNvSpPr>
              <a:spLocks noChangeArrowheads="1"/>
            </p:cNvSpPr>
            <p:nvPr/>
          </p:nvSpPr>
          <p:spPr bwMode="auto">
            <a:xfrm>
              <a:off x="1590" y="2903"/>
              <a:ext cx="39"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480396" name="Rectangle 140"/>
            <p:cNvSpPr>
              <a:spLocks noChangeArrowheads="1"/>
            </p:cNvSpPr>
            <p:nvPr/>
          </p:nvSpPr>
          <p:spPr bwMode="auto">
            <a:xfrm>
              <a:off x="1622" y="2922"/>
              <a:ext cx="236"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tot_lt_s</a:t>
              </a:r>
              <a:endParaRPr lang="en-US" altLang="en-US" sz="2400">
                <a:latin typeface="Arial" panose="020B0604020202020204" pitchFamily="34" charset="0"/>
              </a:endParaRPr>
            </a:p>
          </p:txBody>
        </p:sp>
        <p:sp>
          <p:nvSpPr>
            <p:cNvPr id="480397" name="Rectangle 141"/>
            <p:cNvSpPr>
              <a:spLocks noChangeArrowheads="1"/>
            </p:cNvSpPr>
            <p:nvPr/>
          </p:nvSpPr>
          <p:spPr bwMode="auto">
            <a:xfrm>
              <a:off x="1681" y="3275"/>
              <a:ext cx="122"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d=1</a:t>
              </a:r>
              <a:endParaRPr lang="en-US" altLang="en-US" sz="2400">
                <a:latin typeface="Arial" panose="020B0604020202020204" pitchFamily="34" charset="0"/>
              </a:endParaRPr>
            </a:p>
          </p:txBody>
        </p:sp>
        <p:sp>
          <p:nvSpPr>
            <p:cNvPr id="480398" name="Rectangle 142"/>
            <p:cNvSpPr>
              <a:spLocks noChangeArrowheads="1"/>
            </p:cNvSpPr>
            <p:nvPr/>
          </p:nvSpPr>
          <p:spPr bwMode="auto">
            <a:xfrm>
              <a:off x="1517" y="2569"/>
              <a:ext cx="35"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2400">
                <a:latin typeface="Arial" panose="020B0604020202020204" pitchFamily="34" charset="0"/>
              </a:endParaRPr>
            </a:p>
          </p:txBody>
        </p:sp>
        <p:sp>
          <p:nvSpPr>
            <p:cNvPr id="480399" name="Oval 143"/>
            <p:cNvSpPr>
              <a:spLocks noChangeArrowheads="1"/>
            </p:cNvSpPr>
            <p:nvPr/>
          </p:nvSpPr>
          <p:spPr bwMode="auto">
            <a:xfrm>
              <a:off x="714" y="2689"/>
              <a:ext cx="312" cy="223"/>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400" name="Oval 144"/>
            <p:cNvSpPr>
              <a:spLocks noChangeArrowheads="1"/>
            </p:cNvSpPr>
            <p:nvPr/>
          </p:nvSpPr>
          <p:spPr bwMode="auto">
            <a:xfrm>
              <a:off x="1144" y="2689"/>
              <a:ext cx="312" cy="223"/>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401" name="Oval 145"/>
            <p:cNvSpPr>
              <a:spLocks noChangeArrowheads="1"/>
            </p:cNvSpPr>
            <p:nvPr/>
          </p:nvSpPr>
          <p:spPr bwMode="auto">
            <a:xfrm>
              <a:off x="1588" y="3039"/>
              <a:ext cx="312" cy="222"/>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402" name="Rectangle 146"/>
            <p:cNvSpPr>
              <a:spLocks noChangeArrowheads="1"/>
            </p:cNvSpPr>
            <p:nvPr/>
          </p:nvSpPr>
          <p:spPr bwMode="auto">
            <a:xfrm>
              <a:off x="1690" y="2802"/>
              <a:ext cx="267"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78C1"/>
                  </a:solidFill>
                  <a:latin typeface="Myriad Roman" charset="0"/>
                </a:rPr>
                <a:t>tot_ld=1</a:t>
              </a:r>
              <a:endParaRPr lang="en-US" altLang="en-US" sz="2400">
                <a:latin typeface="Arial" panose="020B0604020202020204" pitchFamily="34" charset="0"/>
              </a:endParaRPr>
            </a:p>
          </p:txBody>
        </p:sp>
        <p:sp>
          <p:nvSpPr>
            <p:cNvPr id="480403" name="Rectangle 147"/>
            <p:cNvSpPr>
              <a:spLocks noChangeArrowheads="1"/>
            </p:cNvSpPr>
            <p:nvPr/>
          </p:nvSpPr>
          <p:spPr bwMode="auto">
            <a:xfrm>
              <a:off x="541" y="2233"/>
              <a:ext cx="1500" cy="1180"/>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404" name="Line 148"/>
            <p:cNvSpPr>
              <a:spLocks noChangeShapeType="1"/>
            </p:cNvSpPr>
            <p:nvPr/>
          </p:nvSpPr>
          <p:spPr bwMode="auto">
            <a:xfrm flipH="1">
              <a:off x="404" y="2775"/>
              <a:ext cx="135"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0405" name="Freeform 149"/>
            <p:cNvSpPr>
              <a:spLocks/>
            </p:cNvSpPr>
            <p:nvPr/>
          </p:nvSpPr>
          <p:spPr bwMode="auto">
            <a:xfrm>
              <a:off x="336" y="2756"/>
              <a:ext cx="75" cy="37"/>
            </a:xfrm>
            <a:custGeom>
              <a:avLst/>
              <a:gdLst>
                <a:gd name="T0" fmla="*/ 0 w 75"/>
                <a:gd name="T1" fmla="*/ 19 h 37"/>
                <a:gd name="T2" fmla="*/ 75 w 75"/>
                <a:gd name="T3" fmla="*/ 37 h 37"/>
                <a:gd name="T4" fmla="*/ 75 w 75"/>
                <a:gd name="T5" fmla="*/ 0 h 37"/>
                <a:gd name="T6" fmla="*/ 0 w 75"/>
                <a:gd name="T7" fmla="*/ 19 h 37"/>
              </a:gdLst>
              <a:ahLst/>
              <a:cxnLst>
                <a:cxn ang="0">
                  <a:pos x="T0" y="T1"/>
                </a:cxn>
                <a:cxn ang="0">
                  <a:pos x="T2" y="T3"/>
                </a:cxn>
                <a:cxn ang="0">
                  <a:pos x="T4" y="T5"/>
                </a:cxn>
                <a:cxn ang="0">
                  <a:pos x="T6" y="T7"/>
                </a:cxn>
              </a:cxnLst>
              <a:rect l="0" t="0" r="r" b="b"/>
              <a:pathLst>
                <a:path w="75" h="37">
                  <a:moveTo>
                    <a:pt x="0" y="19"/>
                  </a:moveTo>
                  <a:lnTo>
                    <a:pt x="75" y="37"/>
                  </a:lnTo>
                  <a:lnTo>
                    <a:pt x="75"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406" name="Line 150"/>
            <p:cNvSpPr>
              <a:spLocks noChangeShapeType="1"/>
            </p:cNvSpPr>
            <p:nvPr/>
          </p:nvSpPr>
          <p:spPr bwMode="auto">
            <a:xfrm flipH="1">
              <a:off x="1505" y="2751"/>
              <a:ext cx="196"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0407" name="Freeform 151"/>
            <p:cNvSpPr>
              <a:spLocks/>
            </p:cNvSpPr>
            <p:nvPr/>
          </p:nvSpPr>
          <p:spPr bwMode="auto">
            <a:xfrm>
              <a:off x="1439" y="2732"/>
              <a:ext cx="76" cy="38"/>
            </a:xfrm>
            <a:custGeom>
              <a:avLst/>
              <a:gdLst>
                <a:gd name="T0" fmla="*/ 0 w 76"/>
                <a:gd name="T1" fmla="*/ 19 h 38"/>
                <a:gd name="T2" fmla="*/ 76 w 76"/>
                <a:gd name="T3" fmla="*/ 38 h 38"/>
                <a:gd name="T4" fmla="*/ 76 w 76"/>
                <a:gd name="T5" fmla="*/ 0 h 38"/>
                <a:gd name="T6" fmla="*/ 0 w 76"/>
                <a:gd name="T7" fmla="*/ 19 h 38"/>
              </a:gdLst>
              <a:ahLst/>
              <a:cxnLst>
                <a:cxn ang="0">
                  <a:pos x="T0" y="T1"/>
                </a:cxn>
                <a:cxn ang="0">
                  <a:pos x="T2" y="T3"/>
                </a:cxn>
                <a:cxn ang="0">
                  <a:pos x="T4" y="T5"/>
                </a:cxn>
                <a:cxn ang="0">
                  <a:pos x="T6" y="T7"/>
                </a:cxn>
              </a:cxnLst>
              <a:rect l="0" t="0" r="r" b="b"/>
              <a:pathLst>
                <a:path w="76" h="38">
                  <a:moveTo>
                    <a:pt x="0" y="19"/>
                  </a:moveTo>
                  <a:lnTo>
                    <a:pt x="76" y="38"/>
                  </a:lnTo>
                  <a:lnTo>
                    <a:pt x="76"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408" name="Line 152"/>
            <p:cNvSpPr>
              <a:spLocks noChangeShapeType="1"/>
            </p:cNvSpPr>
            <p:nvPr/>
          </p:nvSpPr>
          <p:spPr bwMode="auto">
            <a:xfrm>
              <a:off x="340" y="2609"/>
              <a:ext cx="135"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0409" name="Freeform 153"/>
            <p:cNvSpPr>
              <a:spLocks/>
            </p:cNvSpPr>
            <p:nvPr/>
          </p:nvSpPr>
          <p:spPr bwMode="auto">
            <a:xfrm>
              <a:off x="461" y="2590"/>
              <a:ext cx="75" cy="38"/>
            </a:xfrm>
            <a:custGeom>
              <a:avLst/>
              <a:gdLst>
                <a:gd name="T0" fmla="*/ 75 w 75"/>
                <a:gd name="T1" fmla="*/ 19 h 38"/>
                <a:gd name="T2" fmla="*/ 0 w 75"/>
                <a:gd name="T3" fmla="*/ 0 h 38"/>
                <a:gd name="T4" fmla="*/ 0 w 75"/>
                <a:gd name="T5" fmla="*/ 38 h 38"/>
                <a:gd name="T6" fmla="*/ 75 w 75"/>
                <a:gd name="T7" fmla="*/ 19 h 38"/>
              </a:gdLst>
              <a:ahLst/>
              <a:cxnLst>
                <a:cxn ang="0">
                  <a:pos x="T0" y="T1"/>
                </a:cxn>
                <a:cxn ang="0">
                  <a:pos x="T2" y="T3"/>
                </a:cxn>
                <a:cxn ang="0">
                  <a:pos x="T4" y="T5"/>
                </a:cxn>
                <a:cxn ang="0">
                  <a:pos x="T6" y="T7"/>
                </a:cxn>
              </a:cxnLst>
              <a:rect l="0" t="0" r="r" b="b"/>
              <a:pathLst>
                <a:path w="75" h="38">
                  <a:moveTo>
                    <a:pt x="75" y="19"/>
                  </a:moveTo>
                  <a:lnTo>
                    <a:pt x="0" y="0"/>
                  </a:lnTo>
                  <a:lnTo>
                    <a:pt x="0" y="38"/>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410" name="Line 154"/>
            <p:cNvSpPr>
              <a:spLocks noChangeShapeType="1"/>
            </p:cNvSpPr>
            <p:nvPr/>
          </p:nvSpPr>
          <p:spPr bwMode="auto">
            <a:xfrm>
              <a:off x="2039" y="2609"/>
              <a:ext cx="135"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0411" name="Freeform 155"/>
            <p:cNvSpPr>
              <a:spLocks/>
            </p:cNvSpPr>
            <p:nvPr/>
          </p:nvSpPr>
          <p:spPr bwMode="auto">
            <a:xfrm>
              <a:off x="2160" y="2590"/>
              <a:ext cx="75" cy="38"/>
            </a:xfrm>
            <a:custGeom>
              <a:avLst/>
              <a:gdLst>
                <a:gd name="T0" fmla="*/ 75 w 75"/>
                <a:gd name="T1" fmla="*/ 19 h 38"/>
                <a:gd name="T2" fmla="*/ 0 w 75"/>
                <a:gd name="T3" fmla="*/ 0 h 38"/>
                <a:gd name="T4" fmla="*/ 0 w 75"/>
                <a:gd name="T5" fmla="*/ 38 h 38"/>
                <a:gd name="T6" fmla="*/ 75 w 75"/>
                <a:gd name="T7" fmla="*/ 19 h 38"/>
              </a:gdLst>
              <a:ahLst/>
              <a:cxnLst>
                <a:cxn ang="0">
                  <a:pos x="T0" y="T1"/>
                </a:cxn>
                <a:cxn ang="0">
                  <a:pos x="T2" y="T3"/>
                </a:cxn>
                <a:cxn ang="0">
                  <a:pos x="T4" y="T5"/>
                </a:cxn>
                <a:cxn ang="0">
                  <a:pos x="T6" y="T7"/>
                </a:cxn>
              </a:cxnLst>
              <a:rect l="0" t="0" r="r" b="b"/>
              <a:pathLst>
                <a:path w="75" h="38">
                  <a:moveTo>
                    <a:pt x="75" y="19"/>
                  </a:moveTo>
                  <a:lnTo>
                    <a:pt x="0" y="0"/>
                  </a:lnTo>
                  <a:lnTo>
                    <a:pt x="0" y="38"/>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412" name="Line 156"/>
            <p:cNvSpPr>
              <a:spLocks noChangeShapeType="1"/>
            </p:cNvSpPr>
            <p:nvPr/>
          </p:nvSpPr>
          <p:spPr bwMode="auto">
            <a:xfrm>
              <a:off x="2037" y="2775"/>
              <a:ext cx="134"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0413" name="Freeform 157"/>
            <p:cNvSpPr>
              <a:spLocks/>
            </p:cNvSpPr>
            <p:nvPr/>
          </p:nvSpPr>
          <p:spPr bwMode="auto">
            <a:xfrm>
              <a:off x="2164" y="2756"/>
              <a:ext cx="76" cy="37"/>
            </a:xfrm>
            <a:custGeom>
              <a:avLst/>
              <a:gdLst>
                <a:gd name="T0" fmla="*/ 76 w 76"/>
                <a:gd name="T1" fmla="*/ 19 h 37"/>
                <a:gd name="T2" fmla="*/ 0 w 76"/>
                <a:gd name="T3" fmla="*/ 37 h 37"/>
                <a:gd name="T4" fmla="*/ 0 w 76"/>
                <a:gd name="T5" fmla="*/ 0 h 37"/>
                <a:gd name="T6" fmla="*/ 76 w 76"/>
                <a:gd name="T7" fmla="*/ 19 h 37"/>
              </a:gdLst>
              <a:ahLst/>
              <a:cxnLst>
                <a:cxn ang="0">
                  <a:pos x="T0" y="T1"/>
                </a:cxn>
                <a:cxn ang="0">
                  <a:pos x="T2" y="T3"/>
                </a:cxn>
                <a:cxn ang="0">
                  <a:pos x="T4" y="T5"/>
                </a:cxn>
                <a:cxn ang="0">
                  <a:pos x="T6" y="T7"/>
                </a:cxn>
              </a:cxnLst>
              <a:rect l="0" t="0" r="r" b="b"/>
              <a:pathLst>
                <a:path w="76" h="37">
                  <a:moveTo>
                    <a:pt x="76" y="19"/>
                  </a:moveTo>
                  <a:lnTo>
                    <a:pt x="0" y="37"/>
                  </a:lnTo>
                  <a:lnTo>
                    <a:pt x="0" y="0"/>
                  </a:lnTo>
                  <a:lnTo>
                    <a:pt x="76"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414" name="Line 158"/>
            <p:cNvSpPr>
              <a:spLocks noChangeShapeType="1"/>
            </p:cNvSpPr>
            <p:nvPr/>
          </p:nvSpPr>
          <p:spPr bwMode="auto">
            <a:xfrm flipH="1">
              <a:off x="2108" y="2945"/>
              <a:ext cx="134" cy="1"/>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0415" name="Freeform 159"/>
            <p:cNvSpPr>
              <a:spLocks/>
            </p:cNvSpPr>
            <p:nvPr/>
          </p:nvSpPr>
          <p:spPr bwMode="auto">
            <a:xfrm>
              <a:off x="2041" y="2926"/>
              <a:ext cx="76" cy="38"/>
            </a:xfrm>
            <a:custGeom>
              <a:avLst/>
              <a:gdLst>
                <a:gd name="T0" fmla="*/ 0 w 76"/>
                <a:gd name="T1" fmla="*/ 19 h 38"/>
                <a:gd name="T2" fmla="*/ 76 w 76"/>
                <a:gd name="T3" fmla="*/ 38 h 38"/>
                <a:gd name="T4" fmla="*/ 76 w 76"/>
                <a:gd name="T5" fmla="*/ 0 h 38"/>
                <a:gd name="T6" fmla="*/ 0 w 76"/>
                <a:gd name="T7" fmla="*/ 19 h 38"/>
              </a:gdLst>
              <a:ahLst/>
              <a:cxnLst>
                <a:cxn ang="0">
                  <a:pos x="T0" y="T1"/>
                </a:cxn>
                <a:cxn ang="0">
                  <a:pos x="T2" y="T3"/>
                </a:cxn>
                <a:cxn ang="0">
                  <a:pos x="T4" y="T5"/>
                </a:cxn>
                <a:cxn ang="0">
                  <a:pos x="T6" y="T7"/>
                </a:cxn>
              </a:cxnLst>
              <a:rect l="0" t="0" r="r" b="b"/>
              <a:pathLst>
                <a:path w="76" h="38">
                  <a:moveTo>
                    <a:pt x="0" y="19"/>
                  </a:moveTo>
                  <a:lnTo>
                    <a:pt x="76" y="38"/>
                  </a:lnTo>
                  <a:lnTo>
                    <a:pt x="76"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416" name="Rectangle 160"/>
            <p:cNvSpPr>
              <a:spLocks noChangeArrowheads="1"/>
            </p:cNvSpPr>
            <p:nvPr/>
          </p:nvSpPr>
          <p:spPr bwMode="auto">
            <a:xfrm>
              <a:off x="285" y="2555"/>
              <a:ext cx="4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c</a:t>
              </a:r>
              <a:endParaRPr lang="en-US" altLang="en-US" sz="2400">
                <a:latin typeface="Arial" panose="020B0604020202020204" pitchFamily="34" charset="0"/>
              </a:endParaRPr>
            </a:p>
          </p:txBody>
        </p:sp>
        <p:sp>
          <p:nvSpPr>
            <p:cNvPr id="480417" name="Rectangle 161"/>
            <p:cNvSpPr>
              <a:spLocks noChangeArrowheads="1"/>
            </p:cNvSpPr>
            <p:nvPr/>
          </p:nvSpPr>
          <p:spPr bwMode="auto">
            <a:xfrm>
              <a:off x="280" y="2728"/>
              <a:ext cx="4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
              </a:r>
              <a:endParaRPr lang="en-US" altLang="en-US" sz="2400">
                <a:latin typeface="Arial" panose="020B0604020202020204" pitchFamily="34" charset="0"/>
              </a:endParaRPr>
            </a:p>
          </p:txBody>
        </p:sp>
        <p:sp>
          <p:nvSpPr>
            <p:cNvPr id="480418" name="Rectangle 162"/>
            <p:cNvSpPr>
              <a:spLocks noChangeArrowheads="1"/>
            </p:cNvSpPr>
            <p:nvPr/>
          </p:nvSpPr>
          <p:spPr bwMode="auto">
            <a:xfrm>
              <a:off x="2069" y="2487"/>
              <a:ext cx="184" cy="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tot_ld</a:t>
              </a:r>
              <a:endParaRPr lang="en-US" altLang="en-US" sz="2400">
                <a:latin typeface="Arial" panose="020B0604020202020204" pitchFamily="34" charset="0"/>
              </a:endParaRPr>
            </a:p>
          </p:txBody>
        </p:sp>
        <p:sp>
          <p:nvSpPr>
            <p:cNvPr id="480419" name="Rectangle 163"/>
            <p:cNvSpPr>
              <a:spLocks noChangeArrowheads="1"/>
            </p:cNvSpPr>
            <p:nvPr/>
          </p:nvSpPr>
          <p:spPr bwMode="auto">
            <a:xfrm>
              <a:off x="2069" y="2657"/>
              <a:ext cx="23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tot_clr</a:t>
              </a:r>
              <a:endParaRPr lang="en-US" altLang="en-US" sz="2400">
                <a:latin typeface="Arial" panose="020B0604020202020204" pitchFamily="34" charset="0"/>
              </a:endParaRPr>
            </a:p>
          </p:txBody>
        </p:sp>
        <p:sp>
          <p:nvSpPr>
            <p:cNvPr id="480420" name="Rectangle 164"/>
            <p:cNvSpPr>
              <a:spLocks noChangeArrowheads="1"/>
            </p:cNvSpPr>
            <p:nvPr/>
          </p:nvSpPr>
          <p:spPr bwMode="auto">
            <a:xfrm>
              <a:off x="2068" y="2832"/>
              <a:ext cx="27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tot_lt_s</a:t>
              </a:r>
              <a:endParaRPr lang="en-US" altLang="en-US" sz="2400">
                <a:latin typeface="Arial" panose="020B0604020202020204" pitchFamily="34" charset="0"/>
              </a:endParaRPr>
            </a:p>
          </p:txBody>
        </p:sp>
        <p:sp>
          <p:nvSpPr>
            <p:cNvPr id="480421" name="Rectangle 165"/>
            <p:cNvSpPr>
              <a:spLocks noChangeArrowheads="1"/>
            </p:cNvSpPr>
            <p:nvPr/>
          </p:nvSpPr>
          <p:spPr bwMode="auto">
            <a:xfrm>
              <a:off x="617" y="3308"/>
              <a:ext cx="37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Controller</a:t>
              </a:r>
              <a:endParaRPr lang="en-US" altLang="en-US" sz="2400">
                <a:latin typeface="Arial" panose="020B0604020202020204" pitchFamily="34" charset="0"/>
              </a:endParaRPr>
            </a:p>
          </p:txBody>
        </p:sp>
        <p:sp>
          <p:nvSpPr>
            <p:cNvPr id="480422" name="Freeform 166"/>
            <p:cNvSpPr>
              <a:spLocks/>
            </p:cNvSpPr>
            <p:nvPr/>
          </p:nvSpPr>
          <p:spPr bwMode="auto">
            <a:xfrm>
              <a:off x="1597" y="2659"/>
              <a:ext cx="76" cy="45"/>
            </a:xfrm>
            <a:custGeom>
              <a:avLst/>
              <a:gdLst>
                <a:gd name="T0" fmla="*/ 76 w 76"/>
                <a:gd name="T1" fmla="*/ 45 h 45"/>
                <a:gd name="T2" fmla="*/ 12 w 76"/>
                <a:gd name="T3" fmla="*/ 0 h 45"/>
                <a:gd name="T4" fmla="*/ 0 w 76"/>
                <a:gd name="T5" fmla="*/ 35 h 45"/>
                <a:gd name="T6" fmla="*/ 76 w 76"/>
                <a:gd name="T7" fmla="*/ 45 h 45"/>
              </a:gdLst>
              <a:ahLst/>
              <a:cxnLst>
                <a:cxn ang="0">
                  <a:pos x="T0" y="T1"/>
                </a:cxn>
                <a:cxn ang="0">
                  <a:pos x="T2" y="T3"/>
                </a:cxn>
                <a:cxn ang="0">
                  <a:pos x="T4" y="T5"/>
                </a:cxn>
                <a:cxn ang="0">
                  <a:pos x="T6" y="T7"/>
                </a:cxn>
              </a:cxnLst>
              <a:rect l="0" t="0" r="r" b="b"/>
              <a:pathLst>
                <a:path w="76" h="45">
                  <a:moveTo>
                    <a:pt x="76" y="45"/>
                  </a:moveTo>
                  <a:lnTo>
                    <a:pt x="12" y="0"/>
                  </a:lnTo>
                  <a:lnTo>
                    <a:pt x="0" y="35"/>
                  </a:lnTo>
                  <a:lnTo>
                    <a:pt x="76"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0423" name="Freeform 167"/>
            <p:cNvSpPr>
              <a:spLocks/>
            </p:cNvSpPr>
            <p:nvPr/>
          </p:nvSpPr>
          <p:spPr bwMode="auto">
            <a:xfrm>
              <a:off x="1399" y="2623"/>
              <a:ext cx="255" cy="85"/>
            </a:xfrm>
            <a:custGeom>
              <a:avLst/>
              <a:gdLst>
                <a:gd name="T0" fmla="*/ 0 w 108"/>
                <a:gd name="T1" fmla="*/ 36 h 36"/>
                <a:gd name="T2" fmla="*/ 108 w 108"/>
                <a:gd name="T3" fmla="*/ 31 h 36"/>
              </a:gdLst>
              <a:ahLst/>
              <a:cxnLst>
                <a:cxn ang="0">
                  <a:pos x="T0" y="T1"/>
                </a:cxn>
                <a:cxn ang="0">
                  <a:pos x="T2" y="T3"/>
                </a:cxn>
              </a:cxnLst>
              <a:rect l="0" t="0" r="r" b="b"/>
              <a:pathLst>
                <a:path w="108" h="36">
                  <a:moveTo>
                    <a:pt x="0" y="36"/>
                  </a:moveTo>
                  <a:cubicBezTo>
                    <a:pt x="0" y="36"/>
                    <a:pt x="42" y="0"/>
                    <a:pt x="108" y="31"/>
                  </a:cubicBez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0424" name="Rectangle 168"/>
            <p:cNvSpPr>
              <a:spLocks noChangeArrowheads="1"/>
            </p:cNvSpPr>
            <p:nvPr/>
          </p:nvSpPr>
          <p:spPr bwMode="auto">
            <a:xfrm>
              <a:off x="1756" y="2643"/>
              <a:ext cx="134" cy="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Add</a:t>
              </a:r>
              <a:endParaRPr lang="en-US" altLang="en-US" sz="2400">
                <a:latin typeface="Arial" panose="020B0604020202020204" pitchFamily="34" charset="0"/>
              </a:endParaRPr>
            </a:p>
          </p:txBody>
        </p:sp>
        <p:sp>
          <p:nvSpPr>
            <p:cNvPr id="480425" name="Oval 169"/>
            <p:cNvSpPr>
              <a:spLocks noChangeArrowheads="1"/>
            </p:cNvSpPr>
            <p:nvPr/>
          </p:nvSpPr>
          <p:spPr bwMode="auto">
            <a:xfrm>
              <a:off x="1673" y="2571"/>
              <a:ext cx="312" cy="222"/>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lide Number Placeholder 3"/>
          <p:cNvSpPr>
            <a:spLocks noGrp="1"/>
          </p:cNvSpPr>
          <p:nvPr>
            <p:ph type="sldNum" sz="quarter" idx="10"/>
          </p:nvPr>
        </p:nvSpPr>
        <p:spPr/>
        <p:txBody>
          <a:bodyPr/>
          <a:lstStyle/>
          <a:p>
            <a:fld id="{7D48458C-5825-40A8-9BFB-618802F18D7B}" type="slidenum">
              <a:rPr lang="en-US" altLang="en-US"/>
              <a:pPr/>
              <a:t>11</a:t>
            </a:fld>
            <a:endParaRPr lang="en-US" altLang="en-US"/>
          </a:p>
        </p:txBody>
      </p:sp>
      <p:sp>
        <p:nvSpPr>
          <p:cNvPr id="479234" name="Rectangle 2"/>
          <p:cNvSpPr>
            <a:spLocks noGrp="1" noChangeArrowheads="1"/>
          </p:cNvSpPr>
          <p:nvPr>
            <p:ph type="title"/>
          </p:nvPr>
        </p:nvSpPr>
        <p:spPr/>
        <p:txBody>
          <a:bodyPr/>
          <a:lstStyle/>
          <a:p>
            <a:r>
              <a:rPr lang="en-US" altLang="en-US"/>
              <a:t>Step 1: Create a High-Level State Machine</a:t>
            </a:r>
          </a:p>
        </p:txBody>
      </p:sp>
      <p:sp>
        <p:nvSpPr>
          <p:cNvPr id="479235" name="Rectangle 3"/>
          <p:cNvSpPr>
            <a:spLocks noGrp="1" noChangeArrowheads="1"/>
          </p:cNvSpPr>
          <p:nvPr>
            <p:ph type="body" idx="1"/>
          </p:nvPr>
        </p:nvSpPr>
        <p:spPr>
          <a:xfrm>
            <a:off x="228600" y="1219200"/>
            <a:ext cx="4711700" cy="4876800"/>
          </a:xfrm>
        </p:spPr>
        <p:txBody>
          <a:bodyPr/>
          <a:lstStyle/>
          <a:p>
            <a:pPr>
              <a:lnSpc>
                <a:spcPct val="90000"/>
              </a:lnSpc>
            </a:pPr>
            <a:r>
              <a:rPr lang="en-US" altLang="en-US"/>
              <a:t>Let’s consider each step of the RTL design process in more detail</a:t>
            </a:r>
          </a:p>
          <a:p>
            <a:pPr>
              <a:lnSpc>
                <a:spcPct val="90000"/>
              </a:lnSpc>
            </a:pPr>
            <a:r>
              <a:rPr lang="en-US" altLang="en-US"/>
              <a:t>Step 1</a:t>
            </a:r>
          </a:p>
          <a:p>
            <a:pPr lvl="1">
              <a:lnSpc>
                <a:spcPct val="90000"/>
              </a:lnSpc>
            </a:pPr>
            <a:r>
              <a:rPr lang="en-US" altLang="en-US"/>
              <a:t>Soda dispenser example</a:t>
            </a:r>
          </a:p>
          <a:p>
            <a:pPr lvl="1">
              <a:lnSpc>
                <a:spcPct val="90000"/>
              </a:lnSpc>
            </a:pPr>
            <a:r>
              <a:rPr lang="en-US" altLang="en-US"/>
              <a:t>Not an FSM because:</a:t>
            </a:r>
          </a:p>
          <a:p>
            <a:pPr lvl="2">
              <a:lnSpc>
                <a:spcPct val="90000"/>
              </a:lnSpc>
            </a:pPr>
            <a:r>
              <a:rPr lang="en-US" altLang="en-US">
                <a:solidFill>
                  <a:srgbClr val="0066FF"/>
                </a:solidFill>
              </a:rPr>
              <a:t>Multi-bit (data) inputs </a:t>
            </a:r>
            <a:r>
              <a:rPr lang="en-US" altLang="en-US" i="1">
                <a:solidFill>
                  <a:srgbClr val="0066FF"/>
                </a:solidFill>
              </a:rPr>
              <a:t>a</a:t>
            </a:r>
            <a:r>
              <a:rPr lang="en-US" altLang="en-US">
                <a:solidFill>
                  <a:srgbClr val="0066FF"/>
                </a:solidFill>
              </a:rPr>
              <a:t> and </a:t>
            </a:r>
            <a:r>
              <a:rPr lang="en-US" altLang="en-US" i="1">
                <a:solidFill>
                  <a:srgbClr val="0066FF"/>
                </a:solidFill>
              </a:rPr>
              <a:t>s</a:t>
            </a:r>
          </a:p>
          <a:p>
            <a:pPr lvl="2">
              <a:lnSpc>
                <a:spcPct val="90000"/>
              </a:lnSpc>
            </a:pPr>
            <a:r>
              <a:rPr lang="en-US" altLang="en-US">
                <a:solidFill>
                  <a:srgbClr val="0066FF"/>
                </a:solidFill>
              </a:rPr>
              <a:t>Local register </a:t>
            </a:r>
            <a:r>
              <a:rPr lang="en-US" altLang="en-US" i="1">
                <a:solidFill>
                  <a:srgbClr val="0066FF"/>
                </a:solidFill>
              </a:rPr>
              <a:t>tot</a:t>
            </a:r>
          </a:p>
          <a:p>
            <a:pPr lvl="2">
              <a:lnSpc>
                <a:spcPct val="90000"/>
              </a:lnSpc>
            </a:pPr>
            <a:r>
              <a:rPr lang="en-US" altLang="en-US">
                <a:solidFill>
                  <a:srgbClr val="0066FF"/>
                </a:solidFill>
              </a:rPr>
              <a:t>Data operations </a:t>
            </a:r>
            <a:r>
              <a:rPr lang="en-US" altLang="en-US" i="1">
                <a:solidFill>
                  <a:srgbClr val="0066FF"/>
                </a:solidFill>
              </a:rPr>
              <a:t>tot=0, tot&lt;s, tot=tot+a</a:t>
            </a:r>
            <a:r>
              <a:rPr lang="en-US" altLang="en-US">
                <a:solidFill>
                  <a:srgbClr val="0066FF"/>
                </a:solidFill>
              </a:rPr>
              <a:t>.</a:t>
            </a:r>
          </a:p>
          <a:p>
            <a:pPr lvl="1">
              <a:lnSpc>
                <a:spcPct val="90000"/>
              </a:lnSpc>
            </a:pPr>
            <a:r>
              <a:rPr lang="en-US" altLang="en-US"/>
              <a:t>Useful high-level state machine:</a:t>
            </a:r>
          </a:p>
          <a:p>
            <a:pPr lvl="2">
              <a:lnSpc>
                <a:spcPct val="90000"/>
              </a:lnSpc>
            </a:pPr>
            <a:r>
              <a:rPr lang="en-US" altLang="en-US"/>
              <a:t>Data types beyond just bits</a:t>
            </a:r>
          </a:p>
          <a:p>
            <a:pPr lvl="2">
              <a:lnSpc>
                <a:spcPct val="90000"/>
              </a:lnSpc>
            </a:pPr>
            <a:r>
              <a:rPr lang="en-US" altLang="en-US"/>
              <a:t>Local registers</a:t>
            </a:r>
          </a:p>
          <a:p>
            <a:pPr lvl="2">
              <a:lnSpc>
                <a:spcPct val="90000"/>
              </a:lnSpc>
            </a:pPr>
            <a:r>
              <a:rPr lang="en-US" altLang="en-US"/>
              <a:t>Arithmetic equations/expressions</a:t>
            </a:r>
          </a:p>
          <a:p>
            <a:pPr lvl="1">
              <a:lnSpc>
                <a:spcPct val="90000"/>
              </a:lnSpc>
            </a:pPr>
            <a:endParaRPr lang="en-US" altLang="en-US">
              <a:solidFill>
                <a:srgbClr val="0066FF"/>
              </a:solidFill>
            </a:endParaRPr>
          </a:p>
        </p:txBody>
      </p:sp>
      <p:grpSp>
        <p:nvGrpSpPr>
          <p:cNvPr id="479309" name="Group 77"/>
          <p:cNvGrpSpPr>
            <a:grpSpLocks/>
          </p:cNvGrpSpPr>
          <p:nvPr/>
        </p:nvGrpSpPr>
        <p:grpSpPr bwMode="auto">
          <a:xfrm>
            <a:off x="4781550" y="2065338"/>
            <a:ext cx="3763963" cy="3149600"/>
            <a:chOff x="3164" y="1192"/>
            <a:chExt cx="2111" cy="1767"/>
          </a:xfrm>
        </p:grpSpPr>
        <p:sp>
          <p:nvSpPr>
            <p:cNvPr id="479236" name="Freeform 4"/>
            <p:cNvSpPr>
              <a:spLocks/>
            </p:cNvSpPr>
            <p:nvPr/>
          </p:nvSpPr>
          <p:spPr bwMode="auto">
            <a:xfrm>
              <a:off x="4386" y="2210"/>
              <a:ext cx="110" cy="96"/>
            </a:xfrm>
            <a:custGeom>
              <a:avLst/>
              <a:gdLst>
                <a:gd name="T0" fmla="*/ 0 w 94"/>
                <a:gd name="T1" fmla="*/ 0 h 79"/>
                <a:gd name="T2" fmla="*/ 66 w 94"/>
                <a:gd name="T3" fmla="*/ 79 h 79"/>
                <a:gd name="T4" fmla="*/ 94 w 94"/>
                <a:gd name="T5" fmla="*/ 38 h 79"/>
                <a:gd name="T6" fmla="*/ 0 w 94"/>
                <a:gd name="T7" fmla="*/ 0 h 79"/>
              </a:gdLst>
              <a:ahLst/>
              <a:cxnLst>
                <a:cxn ang="0">
                  <a:pos x="T0" y="T1"/>
                </a:cxn>
                <a:cxn ang="0">
                  <a:pos x="T2" y="T3"/>
                </a:cxn>
                <a:cxn ang="0">
                  <a:pos x="T4" y="T5"/>
                </a:cxn>
                <a:cxn ang="0">
                  <a:pos x="T6" y="T7"/>
                </a:cxn>
              </a:cxnLst>
              <a:rect l="0" t="0" r="r" b="b"/>
              <a:pathLst>
                <a:path w="94" h="79">
                  <a:moveTo>
                    <a:pt x="0" y="0"/>
                  </a:moveTo>
                  <a:lnTo>
                    <a:pt x="66" y="79"/>
                  </a:lnTo>
                  <a:lnTo>
                    <a:pt x="94" y="3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9237" name="Freeform 5"/>
            <p:cNvSpPr>
              <a:spLocks/>
            </p:cNvSpPr>
            <p:nvPr/>
          </p:nvSpPr>
          <p:spPr bwMode="auto">
            <a:xfrm>
              <a:off x="3443" y="1798"/>
              <a:ext cx="118" cy="79"/>
            </a:xfrm>
            <a:custGeom>
              <a:avLst/>
              <a:gdLst>
                <a:gd name="T0" fmla="*/ 100 w 100"/>
                <a:gd name="T1" fmla="*/ 65 h 65"/>
                <a:gd name="T2" fmla="*/ 22 w 100"/>
                <a:gd name="T3" fmla="*/ 0 h 65"/>
                <a:gd name="T4" fmla="*/ 0 w 100"/>
                <a:gd name="T5" fmla="*/ 44 h 65"/>
                <a:gd name="T6" fmla="*/ 100 w 100"/>
                <a:gd name="T7" fmla="*/ 65 h 65"/>
              </a:gdLst>
              <a:ahLst/>
              <a:cxnLst>
                <a:cxn ang="0">
                  <a:pos x="T0" y="T1"/>
                </a:cxn>
                <a:cxn ang="0">
                  <a:pos x="T2" y="T3"/>
                </a:cxn>
                <a:cxn ang="0">
                  <a:pos x="T4" y="T5"/>
                </a:cxn>
                <a:cxn ang="0">
                  <a:pos x="T6" y="T7"/>
                </a:cxn>
              </a:cxnLst>
              <a:rect l="0" t="0" r="r" b="b"/>
              <a:pathLst>
                <a:path w="100" h="65">
                  <a:moveTo>
                    <a:pt x="100" y="65"/>
                  </a:moveTo>
                  <a:lnTo>
                    <a:pt x="22" y="0"/>
                  </a:lnTo>
                  <a:lnTo>
                    <a:pt x="0" y="44"/>
                  </a:lnTo>
                  <a:lnTo>
                    <a:pt x="100" y="6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9238" name="Freeform 6"/>
            <p:cNvSpPr>
              <a:spLocks/>
            </p:cNvSpPr>
            <p:nvPr/>
          </p:nvSpPr>
          <p:spPr bwMode="auto">
            <a:xfrm>
              <a:off x="3982" y="1839"/>
              <a:ext cx="121" cy="73"/>
            </a:xfrm>
            <a:custGeom>
              <a:avLst/>
              <a:gdLst>
                <a:gd name="T0" fmla="*/ 103 w 103"/>
                <a:gd name="T1" fmla="*/ 60 h 60"/>
                <a:gd name="T2" fmla="*/ 19 w 103"/>
                <a:gd name="T3" fmla="*/ 0 h 60"/>
                <a:gd name="T4" fmla="*/ 0 w 103"/>
                <a:gd name="T5" fmla="*/ 47 h 60"/>
                <a:gd name="T6" fmla="*/ 103 w 103"/>
                <a:gd name="T7" fmla="*/ 60 h 60"/>
              </a:gdLst>
              <a:ahLst/>
              <a:cxnLst>
                <a:cxn ang="0">
                  <a:pos x="T0" y="T1"/>
                </a:cxn>
                <a:cxn ang="0">
                  <a:pos x="T2" y="T3"/>
                </a:cxn>
                <a:cxn ang="0">
                  <a:pos x="T4" y="T5"/>
                </a:cxn>
                <a:cxn ang="0">
                  <a:pos x="T6" y="T7"/>
                </a:cxn>
              </a:cxnLst>
              <a:rect l="0" t="0" r="r" b="b"/>
              <a:pathLst>
                <a:path w="103" h="60">
                  <a:moveTo>
                    <a:pt x="103" y="60"/>
                  </a:moveTo>
                  <a:lnTo>
                    <a:pt x="19" y="0"/>
                  </a:lnTo>
                  <a:lnTo>
                    <a:pt x="0" y="47"/>
                  </a:lnTo>
                  <a:lnTo>
                    <a:pt x="103"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9239" name="Rectangle 7"/>
            <p:cNvSpPr>
              <a:spLocks noChangeArrowheads="1"/>
            </p:cNvSpPr>
            <p:nvPr/>
          </p:nvSpPr>
          <p:spPr bwMode="auto">
            <a:xfrm>
              <a:off x="3210" y="1196"/>
              <a:ext cx="3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I</a:t>
              </a:r>
              <a:endParaRPr lang="en-US" altLang="en-US" sz="1600"/>
            </a:p>
          </p:txBody>
        </p:sp>
        <p:sp>
          <p:nvSpPr>
            <p:cNvPr id="479240" name="Rectangle 8"/>
            <p:cNvSpPr>
              <a:spLocks noChangeArrowheads="1"/>
            </p:cNvSpPr>
            <p:nvPr/>
          </p:nvSpPr>
          <p:spPr bwMode="auto">
            <a:xfrm>
              <a:off x="3239" y="1196"/>
              <a:ext cx="247"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nputs</a:t>
              </a:r>
              <a:endParaRPr lang="en-US" altLang="en-US" sz="1600"/>
            </a:p>
          </p:txBody>
        </p:sp>
        <p:sp>
          <p:nvSpPr>
            <p:cNvPr id="479241" name="Rectangle 9"/>
            <p:cNvSpPr>
              <a:spLocks noChangeArrowheads="1"/>
            </p:cNvSpPr>
            <p:nvPr/>
          </p:nvSpPr>
          <p:spPr bwMode="auto">
            <a:xfrm>
              <a:off x="3521" y="1196"/>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1600"/>
            </a:p>
          </p:txBody>
        </p:sp>
        <p:sp>
          <p:nvSpPr>
            <p:cNvPr id="479242" name="Rectangle 10"/>
            <p:cNvSpPr>
              <a:spLocks noChangeArrowheads="1"/>
            </p:cNvSpPr>
            <p:nvPr/>
          </p:nvSpPr>
          <p:spPr bwMode="auto">
            <a:xfrm>
              <a:off x="3570" y="1196"/>
              <a:ext cx="51"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c</a:t>
              </a:r>
              <a:endParaRPr lang="en-US" altLang="en-US" sz="1600"/>
            </a:p>
          </p:txBody>
        </p:sp>
        <p:sp>
          <p:nvSpPr>
            <p:cNvPr id="479243" name="Rectangle 11"/>
            <p:cNvSpPr>
              <a:spLocks noChangeArrowheads="1"/>
            </p:cNvSpPr>
            <p:nvPr/>
          </p:nvSpPr>
          <p:spPr bwMode="auto">
            <a:xfrm>
              <a:off x="3648" y="1196"/>
              <a:ext cx="226"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(bit),</a:t>
              </a:r>
              <a:endParaRPr lang="en-US" altLang="en-US" sz="1600"/>
            </a:p>
          </p:txBody>
        </p:sp>
        <p:sp>
          <p:nvSpPr>
            <p:cNvPr id="479244" name="Rectangle 12"/>
            <p:cNvSpPr>
              <a:spLocks noChangeArrowheads="1"/>
            </p:cNvSpPr>
            <p:nvPr/>
          </p:nvSpPr>
          <p:spPr bwMode="auto">
            <a:xfrm>
              <a:off x="3896" y="1192"/>
              <a:ext cx="42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0078C1"/>
                  </a:solidFill>
                  <a:latin typeface="Myriad Roman" charset="0"/>
                </a:rPr>
                <a:t>a (8 bits)</a:t>
              </a:r>
              <a:endParaRPr lang="en-US" altLang="en-US" sz="1600"/>
            </a:p>
          </p:txBody>
        </p:sp>
        <p:sp>
          <p:nvSpPr>
            <p:cNvPr id="479245" name="Rectangle 13"/>
            <p:cNvSpPr>
              <a:spLocks noChangeArrowheads="1"/>
            </p:cNvSpPr>
            <p:nvPr/>
          </p:nvSpPr>
          <p:spPr bwMode="auto">
            <a:xfrm>
              <a:off x="4341" y="1192"/>
              <a:ext cx="2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0078C1"/>
                  </a:solidFill>
                  <a:latin typeface="Myriad Roman" charset="0"/>
                </a:rPr>
                <a:t>,</a:t>
              </a:r>
              <a:endParaRPr lang="en-US" altLang="en-US" sz="1600"/>
            </a:p>
          </p:txBody>
        </p:sp>
        <p:sp>
          <p:nvSpPr>
            <p:cNvPr id="479246" name="Rectangle 14"/>
            <p:cNvSpPr>
              <a:spLocks noChangeArrowheads="1"/>
            </p:cNvSpPr>
            <p:nvPr/>
          </p:nvSpPr>
          <p:spPr bwMode="auto">
            <a:xfrm>
              <a:off x="4365" y="1192"/>
              <a:ext cx="44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0078C1"/>
                  </a:solidFill>
                  <a:latin typeface="Myriad Roman" charset="0"/>
                </a:rPr>
                <a:t> s (8 bits)</a:t>
              </a:r>
              <a:endParaRPr lang="en-US" altLang="en-US" sz="1600"/>
            </a:p>
          </p:txBody>
        </p:sp>
        <p:sp>
          <p:nvSpPr>
            <p:cNvPr id="479247" name="Rectangle 15"/>
            <p:cNvSpPr>
              <a:spLocks noChangeArrowheads="1"/>
            </p:cNvSpPr>
            <p:nvPr/>
          </p:nvSpPr>
          <p:spPr bwMode="auto">
            <a:xfrm>
              <a:off x="3210" y="1330"/>
              <a:ext cx="8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O</a:t>
              </a:r>
              <a:endParaRPr lang="en-US" altLang="en-US" sz="1600"/>
            </a:p>
          </p:txBody>
        </p:sp>
        <p:sp>
          <p:nvSpPr>
            <p:cNvPr id="479248" name="Rectangle 16"/>
            <p:cNvSpPr>
              <a:spLocks noChangeArrowheads="1"/>
            </p:cNvSpPr>
            <p:nvPr/>
          </p:nvSpPr>
          <p:spPr bwMode="auto">
            <a:xfrm>
              <a:off x="3291" y="1330"/>
              <a:ext cx="280"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utputs</a:t>
              </a:r>
              <a:endParaRPr lang="en-US" altLang="en-US" sz="1600"/>
            </a:p>
          </p:txBody>
        </p:sp>
        <p:sp>
          <p:nvSpPr>
            <p:cNvPr id="479249" name="Rectangle 17"/>
            <p:cNvSpPr>
              <a:spLocks noChangeArrowheads="1"/>
            </p:cNvSpPr>
            <p:nvPr/>
          </p:nvSpPr>
          <p:spPr bwMode="auto">
            <a:xfrm>
              <a:off x="3611" y="1330"/>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1600"/>
            </a:p>
          </p:txBody>
        </p:sp>
        <p:sp>
          <p:nvSpPr>
            <p:cNvPr id="479250" name="Rectangle 18"/>
            <p:cNvSpPr>
              <a:spLocks noChangeArrowheads="1"/>
            </p:cNvSpPr>
            <p:nvPr/>
          </p:nvSpPr>
          <p:spPr bwMode="auto">
            <a:xfrm>
              <a:off x="3660" y="1330"/>
              <a:ext cx="283"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d (bit)</a:t>
              </a:r>
              <a:endParaRPr lang="en-US" altLang="en-US" sz="1600"/>
            </a:p>
          </p:txBody>
        </p:sp>
        <p:sp>
          <p:nvSpPr>
            <p:cNvPr id="479251" name="Rectangle 19"/>
            <p:cNvSpPr>
              <a:spLocks noChangeArrowheads="1"/>
            </p:cNvSpPr>
            <p:nvPr/>
          </p:nvSpPr>
          <p:spPr bwMode="auto">
            <a:xfrm>
              <a:off x="3210" y="1469"/>
              <a:ext cx="70"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L</a:t>
              </a:r>
              <a:endParaRPr lang="en-US" altLang="en-US" sz="1600"/>
            </a:p>
          </p:txBody>
        </p:sp>
        <p:sp>
          <p:nvSpPr>
            <p:cNvPr id="479252" name="Rectangle 20"/>
            <p:cNvSpPr>
              <a:spLocks noChangeArrowheads="1"/>
            </p:cNvSpPr>
            <p:nvPr/>
          </p:nvSpPr>
          <p:spPr bwMode="auto">
            <a:xfrm>
              <a:off x="3264" y="1469"/>
              <a:ext cx="190"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ocal</a:t>
              </a:r>
              <a:endParaRPr lang="en-US" altLang="en-US" sz="1600"/>
            </a:p>
          </p:txBody>
        </p:sp>
        <p:sp>
          <p:nvSpPr>
            <p:cNvPr id="479253" name="Rectangle 21"/>
            <p:cNvSpPr>
              <a:spLocks noChangeArrowheads="1"/>
            </p:cNvSpPr>
            <p:nvPr/>
          </p:nvSpPr>
          <p:spPr bwMode="auto">
            <a:xfrm>
              <a:off x="3489" y="1469"/>
              <a:ext cx="3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r</a:t>
              </a:r>
              <a:endParaRPr lang="en-US" altLang="en-US" sz="1600"/>
            </a:p>
          </p:txBody>
        </p:sp>
        <p:sp>
          <p:nvSpPr>
            <p:cNvPr id="479254" name="Rectangle 22"/>
            <p:cNvSpPr>
              <a:spLocks noChangeArrowheads="1"/>
            </p:cNvSpPr>
            <p:nvPr/>
          </p:nvSpPr>
          <p:spPr bwMode="auto">
            <a:xfrm>
              <a:off x="3527" y="1469"/>
              <a:ext cx="51"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e</a:t>
              </a:r>
              <a:endParaRPr lang="en-US" altLang="en-US" sz="1600"/>
            </a:p>
          </p:txBody>
        </p:sp>
        <p:sp>
          <p:nvSpPr>
            <p:cNvPr id="479255" name="Rectangle 23"/>
            <p:cNvSpPr>
              <a:spLocks noChangeArrowheads="1"/>
            </p:cNvSpPr>
            <p:nvPr/>
          </p:nvSpPr>
          <p:spPr bwMode="auto">
            <a:xfrm>
              <a:off x="3585" y="1469"/>
              <a:ext cx="57"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g</a:t>
              </a:r>
              <a:endParaRPr lang="en-US" altLang="en-US" sz="1600"/>
            </a:p>
          </p:txBody>
        </p:sp>
        <p:sp>
          <p:nvSpPr>
            <p:cNvPr id="479256" name="Rectangle 24"/>
            <p:cNvSpPr>
              <a:spLocks noChangeArrowheads="1"/>
            </p:cNvSpPr>
            <p:nvPr/>
          </p:nvSpPr>
          <p:spPr bwMode="auto">
            <a:xfrm>
              <a:off x="3651" y="1469"/>
              <a:ext cx="77"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is</a:t>
              </a:r>
              <a:endParaRPr lang="en-US" altLang="en-US" sz="1600"/>
            </a:p>
          </p:txBody>
        </p:sp>
        <p:sp>
          <p:nvSpPr>
            <p:cNvPr id="479257" name="Rectangle 25"/>
            <p:cNvSpPr>
              <a:spLocks noChangeArrowheads="1"/>
            </p:cNvSpPr>
            <p:nvPr/>
          </p:nvSpPr>
          <p:spPr bwMode="auto">
            <a:xfrm>
              <a:off x="3725" y="1469"/>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t</a:t>
              </a:r>
              <a:endParaRPr lang="en-US" altLang="en-US" sz="1600"/>
            </a:p>
          </p:txBody>
        </p:sp>
        <p:sp>
          <p:nvSpPr>
            <p:cNvPr id="479258" name="Rectangle 26"/>
            <p:cNvSpPr>
              <a:spLocks noChangeArrowheads="1"/>
            </p:cNvSpPr>
            <p:nvPr/>
          </p:nvSpPr>
          <p:spPr bwMode="auto">
            <a:xfrm>
              <a:off x="3763" y="1469"/>
              <a:ext cx="134"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ers</a:t>
              </a:r>
              <a:endParaRPr lang="en-US" altLang="en-US" sz="1600"/>
            </a:p>
          </p:txBody>
        </p:sp>
        <p:sp>
          <p:nvSpPr>
            <p:cNvPr id="479259" name="Rectangle 27"/>
            <p:cNvSpPr>
              <a:spLocks noChangeArrowheads="1"/>
            </p:cNvSpPr>
            <p:nvPr/>
          </p:nvSpPr>
          <p:spPr bwMode="auto">
            <a:xfrm>
              <a:off x="3906" y="1469"/>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a:t>
              </a:r>
              <a:endParaRPr lang="en-US" altLang="en-US" sz="1600"/>
            </a:p>
          </p:txBody>
        </p:sp>
        <p:sp>
          <p:nvSpPr>
            <p:cNvPr id="479260" name="Rectangle 28"/>
            <p:cNvSpPr>
              <a:spLocks noChangeArrowheads="1"/>
            </p:cNvSpPr>
            <p:nvPr/>
          </p:nvSpPr>
          <p:spPr bwMode="auto">
            <a:xfrm>
              <a:off x="3955" y="1469"/>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t</a:t>
              </a:r>
              <a:endParaRPr lang="en-US" altLang="en-US" sz="1600"/>
            </a:p>
          </p:txBody>
        </p:sp>
        <p:sp>
          <p:nvSpPr>
            <p:cNvPr id="479261" name="Rectangle 29"/>
            <p:cNvSpPr>
              <a:spLocks noChangeArrowheads="1"/>
            </p:cNvSpPr>
            <p:nvPr/>
          </p:nvSpPr>
          <p:spPr bwMode="auto">
            <a:xfrm>
              <a:off x="3994" y="1469"/>
              <a:ext cx="44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ot (8 bits)</a:t>
              </a:r>
              <a:endParaRPr lang="en-US" altLang="en-US" sz="1600"/>
            </a:p>
          </p:txBody>
        </p:sp>
        <p:sp>
          <p:nvSpPr>
            <p:cNvPr id="479262" name="Freeform 30"/>
            <p:cNvSpPr>
              <a:spLocks/>
            </p:cNvSpPr>
            <p:nvPr/>
          </p:nvSpPr>
          <p:spPr bwMode="auto">
            <a:xfrm>
              <a:off x="3722" y="1782"/>
              <a:ext cx="352" cy="137"/>
            </a:xfrm>
            <a:custGeom>
              <a:avLst/>
              <a:gdLst>
                <a:gd name="T0" fmla="*/ 0 w 96"/>
                <a:gd name="T1" fmla="*/ 36 h 36"/>
                <a:gd name="T2" fmla="*/ 96 w 96"/>
                <a:gd name="T3" fmla="*/ 30 h 36"/>
              </a:gdLst>
              <a:ahLst/>
              <a:cxnLst>
                <a:cxn ang="0">
                  <a:pos x="T0" y="T1"/>
                </a:cxn>
                <a:cxn ang="0">
                  <a:pos x="T2" y="T3"/>
                </a:cxn>
              </a:cxnLst>
              <a:rect l="0" t="0" r="r" b="b"/>
              <a:pathLst>
                <a:path w="96" h="36">
                  <a:moveTo>
                    <a:pt x="0" y="36"/>
                  </a:moveTo>
                  <a:cubicBezTo>
                    <a:pt x="0" y="36"/>
                    <a:pt x="29" y="0"/>
                    <a:pt x="96" y="30"/>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63" name="Freeform 31"/>
            <p:cNvSpPr>
              <a:spLocks/>
            </p:cNvSpPr>
            <p:nvPr/>
          </p:nvSpPr>
          <p:spPr bwMode="auto">
            <a:xfrm>
              <a:off x="4702" y="1839"/>
              <a:ext cx="120" cy="73"/>
            </a:xfrm>
            <a:custGeom>
              <a:avLst/>
              <a:gdLst>
                <a:gd name="T0" fmla="*/ 103 w 103"/>
                <a:gd name="T1" fmla="*/ 60 h 60"/>
                <a:gd name="T2" fmla="*/ 19 w 103"/>
                <a:gd name="T3" fmla="*/ 0 h 60"/>
                <a:gd name="T4" fmla="*/ 0 w 103"/>
                <a:gd name="T5" fmla="*/ 47 h 60"/>
                <a:gd name="T6" fmla="*/ 103 w 103"/>
                <a:gd name="T7" fmla="*/ 60 h 60"/>
              </a:gdLst>
              <a:ahLst/>
              <a:cxnLst>
                <a:cxn ang="0">
                  <a:pos x="T0" y="T1"/>
                </a:cxn>
                <a:cxn ang="0">
                  <a:pos x="T2" y="T3"/>
                </a:cxn>
                <a:cxn ang="0">
                  <a:pos x="T4" y="T5"/>
                </a:cxn>
                <a:cxn ang="0">
                  <a:pos x="T6" y="T7"/>
                </a:cxn>
              </a:cxnLst>
              <a:rect l="0" t="0" r="r" b="b"/>
              <a:pathLst>
                <a:path w="103" h="60">
                  <a:moveTo>
                    <a:pt x="103" y="60"/>
                  </a:moveTo>
                  <a:lnTo>
                    <a:pt x="19" y="0"/>
                  </a:lnTo>
                  <a:lnTo>
                    <a:pt x="0" y="47"/>
                  </a:lnTo>
                  <a:lnTo>
                    <a:pt x="103"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9264" name="Freeform 32"/>
            <p:cNvSpPr>
              <a:spLocks/>
            </p:cNvSpPr>
            <p:nvPr/>
          </p:nvSpPr>
          <p:spPr bwMode="auto">
            <a:xfrm>
              <a:off x="4565" y="2544"/>
              <a:ext cx="121" cy="66"/>
            </a:xfrm>
            <a:custGeom>
              <a:avLst/>
              <a:gdLst>
                <a:gd name="T0" fmla="*/ 103 w 103"/>
                <a:gd name="T1" fmla="*/ 54 h 54"/>
                <a:gd name="T2" fmla="*/ 16 w 103"/>
                <a:gd name="T3" fmla="*/ 0 h 54"/>
                <a:gd name="T4" fmla="*/ 0 w 103"/>
                <a:gd name="T5" fmla="*/ 50 h 54"/>
                <a:gd name="T6" fmla="*/ 103 w 103"/>
                <a:gd name="T7" fmla="*/ 54 h 54"/>
              </a:gdLst>
              <a:ahLst/>
              <a:cxnLst>
                <a:cxn ang="0">
                  <a:pos x="T0" y="T1"/>
                </a:cxn>
                <a:cxn ang="0">
                  <a:pos x="T2" y="T3"/>
                </a:cxn>
                <a:cxn ang="0">
                  <a:pos x="T4" y="T5"/>
                </a:cxn>
                <a:cxn ang="0">
                  <a:pos x="T6" y="T7"/>
                </a:cxn>
              </a:cxnLst>
              <a:rect l="0" t="0" r="r" b="b"/>
              <a:pathLst>
                <a:path w="103" h="54">
                  <a:moveTo>
                    <a:pt x="103" y="54"/>
                  </a:moveTo>
                  <a:lnTo>
                    <a:pt x="16" y="0"/>
                  </a:lnTo>
                  <a:lnTo>
                    <a:pt x="0" y="50"/>
                  </a:lnTo>
                  <a:lnTo>
                    <a:pt x="103"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9265" name="Freeform 33"/>
            <p:cNvSpPr>
              <a:spLocks/>
            </p:cNvSpPr>
            <p:nvPr/>
          </p:nvSpPr>
          <p:spPr bwMode="auto">
            <a:xfrm>
              <a:off x="3730" y="2210"/>
              <a:ext cx="91" cy="118"/>
            </a:xfrm>
            <a:custGeom>
              <a:avLst/>
              <a:gdLst>
                <a:gd name="T0" fmla="*/ 0 w 78"/>
                <a:gd name="T1" fmla="*/ 0 h 97"/>
                <a:gd name="T2" fmla="*/ 34 w 78"/>
                <a:gd name="T3" fmla="*/ 97 h 97"/>
                <a:gd name="T4" fmla="*/ 78 w 78"/>
                <a:gd name="T5" fmla="*/ 66 h 97"/>
                <a:gd name="T6" fmla="*/ 0 w 78"/>
                <a:gd name="T7" fmla="*/ 0 h 97"/>
              </a:gdLst>
              <a:ahLst/>
              <a:cxnLst>
                <a:cxn ang="0">
                  <a:pos x="T0" y="T1"/>
                </a:cxn>
                <a:cxn ang="0">
                  <a:pos x="T2" y="T3"/>
                </a:cxn>
                <a:cxn ang="0">
                  <a:pos x="T4" y="T5"/>
                </a:cxn>
                <a:cxn ang="0">
                  <a:pos x="T6" y="T7"/>
                </a:cxn>
              </a:cxnLst>
              <a:rect l="0" t="0" r="r" b="b"/>
              <a:pathLst>
                <a:path w="78" h="97">
                  <a:moveTo>
                    <a:pt x="0" y="0"/>
                  </a:moveTo>
                  <a:lnTo>
                    <a:pt x="34" y="97"/>
                  </a:lnTo>
                  <a:lnTo>
                    <a:pt x="78" y="66"/>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79266" name="Freeform 34"/>
            <p:cNvSpPr>
              <a:spLocks/>
            </p:cNvSpPr>
            <p:nvPr/>
          </p:nvSpPr>
          <p:spPr bwMode="auto">
            <a:xfrm>
              <a:off x="4393" y="1782"/>
              <a:ext cx="400" cy="137"/>
            </a:xfrm>
            <a:custGeom>
              <a:avLst/>
              <a:gdLst>
                <a:gd name="T0" fmla="*/ 0 w 109"/>
                <a:gd name="T1" fmla="*/ 36 h 36"/>
                <a:gd name="T2" fmla="*/ 109 w 109"/>
                <a:gd name="T3" fmla="*/ 30 h 36"/>
              </a:gdLst>
              <a:ahLst/>
              <a:cxnLst>
                <a:cxn ang="0">
                  <a:pos x="T0" y="T1"/>
                </a:cxn>
                <a:cxn ang="0">
                  <a:pos x="T2" y="T3"/>
                </a:cxn>
              </a:cxnLst>
              <a:rect l="0" t="0" r="r" b="b"/>
              <a:pathLst>
                <a:path w="109" h="36">
                  <a:moveTo>
                    <a:pt x="0" y="36"/>
                  </a:moveTo>
                  <a:cubicBezTo>
                    <a:pt x="0" y="36"/>
                    <a:pt x="42" y="0"/>
                    <a:pt x="109" y="30"/>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67" name="Freeform 35"/>
            <p:cNvSpPr>
              <a:spLocks/>
            </p:cNvSpPr>
            <p:nvPr/>
          </p:nvSpPr>
          <p:spPr bwMode="auto">
            <a:xfrm>
              <a:off x="3164" y="1733"/>
              <a:ext cx="352" cy="136"/>
            </a:xfrm>
            <a:custGeom>
              <a:avLst/>
              <a:gdLst>
                <a:gd name="T0" fmla="*/ 0 w 96"/>
                <a:gd name="T1" fmla="*/ 36 h 36"/>
                <a:gd name="T2" fmla="*/ 96 w 96"/>
                <a:gd name="T3" fmla="*/ 31 h 36"/>
              </a:gdLst>
              <a:ahLst/>
              <a:cxnLst>
                <a:cxn ang="0">
                  <a:pos x="T0" y="T1"/>
                </a:cxn>
                <a:cxn ang="0">
                  <a:pos x="T2" y="T3"/>
                </a:cxn>
              </a:cxnLst>
              <a:rect l="0" t="0" r="r" b="b"/>
              <a:pathLst>
                <a:path w="96" h="36">
                  <a:moveTo>
                    <a:pt x="0" y="36"/>
                  </a:moveTo>
                  <a:cubicBezTo>
                    <a:pt x="0" y="36"/>
                    <a:pt x="29" y="0"/>
                    <a:pt x="96" y="31"/>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68" name="Freeform 36"/>
            <p:cNvSpPr>
              <a:spLocks/>
            </p:cNvSpPr>
            <p:nvPr/>
          </p:nvSpPr>
          <p:spPr bwMode="auto">
            <a:xfrm>
              <a:off x="4151" y="2230"/>
              <a:ext cx="470" cy="360"/>
            </a:xfrm>
            <a:custGeom>
              <a:avLst/>
              <a:gdLst>
                <a:gd name="T0" fmla="*/ 0 w 128"/>
                <a:gd name="T1" fmla="*/ 0 h 95"/>
                <a:gd name="T2" fmla="*/ 128 w 128"/>
                <a:gd name="T3" fmla="*/ 95 h 95"/>
              </a:gdLst>
              <a:ahLst/>
              <a:cxnLst>
                <a:cxn ang="0">
                  <a:pos x="T0" y="T1"/>
                </a:cxn>
                <a:cxn ang="0">
                  <a:pos x="T2" y="T3"/>
                </a:cxn>
              </a:cxnLst>
              <a:rect l="0" t="0" r="r" b="b"/>
              <a:pathLst>
                <a:path w="128" h="95">
                  <a:moveTo>
                    <a:pt x="0" y="0"/>
                  </a:moveTo>
                  <a:cubicBezTo>
                    <a:pt x="0" y="0"/>
                    <a:pt x="13" y="59"/>
                    <a:pt x="128" y="95"/>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69" name="Freeform 37"/>
            <p:cNvSpPr>
              <a:spLocks/>
            </p:cNvSpPr>
            <p:nvPr/>
          </p:nvSpPr>
          <p:spPr bwMode="auto">
            <a:xfrm>
              <a:off x="3751" y="2246"/>
              <a:ext cx="987" cy="693"/>
            </a:xfrm>
            <a:custGeom>
              <a:avLst/>
              <a:gdLst>
                <a:gd name="T0" fmla="*/ 0 w 269"/>
                <a:gd name="T1" fmla="*/ 0 h 183"/>
                <a:gd name="T2" fmla="*/ 269 w 269"/>
                <a:gd name="T3" fmla="*/ 129 h 183"/>
              </a:gdLst>
              <a:ahLst/>
              <a:cxnLst>
                <a:cxn ang="0">
                  <a:pos x="T0" y="T1"/>
                </a:cxn>
                <a:cxn ang="0">
                  <a:pos x="T2" y="T3"/>
                </a:cxn>
              </a:cxnLst>
              <a:rect l="0" t="0" r="r" b="b"/>
              <a:pathLst>
                <a:path w="269" h="183">
                  <a:moveTo>
                    <a:pt x="0" y="0"/>
                  </a:moveTo>
                  <a:cubicBezTo>
                    <a:pt x="0" y="0"/>
                    <a:pt x="103" y="183"/>
                    <a:pt x="269" y="129"/>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70" name="Rectangle 38"/>
            <p:cNvSpPr>
              <a:spLocks noChangeArrowheads="1"/>
            </p:cNvSpPr>
            <p:nvPr/>
          </p:nvSpPr>
          <p:spPr bwMode="auto">
            <a:xfrm>
              <a:off x="4122" y="1990"/>
              <a:ext cx="10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W</a:t>
              </a:r>
              <a:endParaRPr lang="en-US" altLang="en-US" sz="1600"/>
            </a:p>
          </p:txBody>
        </p:sp>
        <p:sp>
          <p:nvSpPr>
            <p:cNvPr id="479271" name="Rectangle 39"/>
            <p:cNvSpPr>
              <a:spLocks noChangeArrowheads="1"/>
            </p:cNvSpPr>
            <p:nvPr/>
          </p:nvSpPr>
          <p:spPr bwMode="auto">
            <a:xfrm>
              <a:off x="4217" y="1990"/>
              <a:ext cx="115"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ait</a:t>
              </a:r>
              <a:endParaRPr lang="en-US" altLang="en-US" sz="1600"/>
            </a:p>
          </p:txBody>
        </p:sp>
        <p:sp>
          <p:nvSpPr>
            <p:cNvPr id="479272" name="Rectangle 40"/>
            <p:cNvSpPr>
              <a:spLocks noChangeArrowheads="1"/>
            </p:cNvSpPr>
            <p:nvPr/>
          </p:nvSpPr>
          <p:spPr bwMode="auto">
            <a:xfrm>
              <a:off x="4834" y="2555"/>
              <a:ext cx="216"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Disp</a:t>
              </a:r>
              <a:endParaRPr lang="en-US" altLang="en-US" sz="1600"/>
            </a:p>
          </p:txBody>
        </p:sp>
        <p:sp>
          <p:nvSpPr>
            <p:cNvPr id="479273" name="Rectangle 41"/>
            <p:cNvSpPr>
              <a:spLocks noChangeArrowheads="1"/>
            </p:cNvSpPr>
            <p:nvPr/>
          </p:nvSpPr>
          <p:spPr bwMode="auto">
            <a:xfrm>
              <a:off x="3506" y="1990"/>
              <a:ext cx="3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I</a:t>
              </a:r>
              <a:endParaRPr lang="en-US" altLang="en-US" sz="1600"/>
            </a:p>
          </p:txBody>
        </p:sp>
        <p:sp>
          <p:nvSpPr>
            <p:cNvPr id="479274" name="Rectangle 42"/>
            <p:cNvSpPr>
              <a:spLocks noChangeArrowheads="1"/>
            </p:cNvSpPr>
            <p:nvPr/>
          </p:nvSpPr>
          <p:spPr bwMode="auto">
            <a:xfrm>
              <a:off x="3535" y="1990"/>
              <a:ext cx="121"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nit</a:t>
              </a:r>
              <a:endParaRPr lang="en-US" altLang="en-US" sz="1600"/>
            </a:p>
          </p:txBody>
        </p:sp>
        <p:sp>
          <p:nvSpPr>
            <p:cNvPr id="479275" name="Rectangle 43"/>
            <p:cNvSpPr>
              <a:spLocks noChangeArrowheads="1"/>
            </p:cNvSpPr>
            <p:nvPr/>
          </p:nvSpPr>
          <p:spPr bwMode="auto">
            <a:xfrm>
              <a:off x="3472" y="2268"/>
              <a:ext cx="17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d=0</a:t>
              </a:r>
              <a:endParaRPr lang="en-US" altLang="en-US" sz="1600"/>
            </a:p>
          </p:txBody>
        </p:sp>
        <p:sp>
          <p:nvSpPr>
            <p:cNvPr id="479276" name="Rectangle 44"/>
            <p:cNvSpPr>
              <a:spLocks noChangeArrowheads="1"/>
            </p:cNvSpPr>
            <p:nvPr/>
          </p:nvSpPr>
          <p:spPr bwMode="auto">
            <a:xfrm>
              <a:off x="3434" y="2402"/>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t</a:t>
              </a:r>
              <a:endParaRPr lang="en-US" altLang="en-US" sz="1600"/>
            </a:p>
          </p:txBody>
        </p:sp>
        <p:sp>
          <p:nvSpPr>
            <p:cNvPr id="479277" name="Rectangle 45"/>
            <p:cNvSpPr>
              <a:spLocks noChangeArrowheads="1"/>
            </p:cNvSpPr>
            <p:nvPr/>
          </p:nvSpPr>
          <p:spPr bwMode="auto">
            <a:xfrm>
              <a:off x="3472" y="2402"/>
              <a:ext cx="210"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ot=0</a:t>
              </a:r>
              <a:endParaRPr lang="en-US" altLang="en-US" sz="1600"/>
            </a:p>
          </p:txBody>
        </p:sp>
        <p:sp>
          <p:nvSpPr>
            <p:cNvPr id="479278" name="Freeform 46"/>
            <p:cNvSpPr>
              <a:spLocks/>
            </p:cNvSpPr>
            <p:nvPr/>
          </p:nvSpPr>
          <p:spPr bwMode="auto">
            <a:xfrm>
              <a:off x="4426" y="2064"/>
              <a:ext cx="253" cy="284"/>
            </a:xfrm>
            <a:custGeom>
              <a:avLst/>
              <a:gdLst>
                <a:gd name="T0" fmla="*/ 16 w 69"/>
                <a:gd name="T1" fmla="*/ 0 h 75"/>
                <a:gd name="T2" fmla="*/ 50 w 69"/>
                <a:gd name="T3" fmla="*/ 45 h 75"/>
                <a:gd name="T4" fmla="*/ 0 w 69"/>
                <a:gd name="T5" fmla="*/ 48 h 75"/>
              </a:gdLst>
              <a:ahLst/>
              <a:cxnLst>
                <a:cxn ang="0">
                  <a:pos x="T0" y="T1"/>
                </a:cxn>
                <a:cxn ang="0">
                  <a:pos x="T2" y="T3"/>
                </a:cxn>
                <a:cxn ang="0">
                  <a:pos x="T4" y="T5"/>
                </a:cxn>
              </a:cxnLst>
              <a:rect l="0" t="0" r="r" b="b"/>
              <a:pathLst>
                <a:path w="69" h="75">
                  <a:moveTo>
                    <a:pt x="16" y="0"/>
                  </a:moveTo>
                  <a:cubicBezTo>
                    <a:pt x="16" y="0"/>
                    <a:pt x="69" y="9"/>
                    <a:pt x="50" y="45"/>
                  </a:cubicBezTo>
                  <a:cubicBezTo>
                    <a:pt x="50" y="45"/>
                    <a:pt x="33" y="75"/>
                    <a:pt x="0" y="48"/>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86" name="Rectangle 54"/>
            <p:cNvSpPr>
              <a:spLocks noChangeArrowheads="1"/>
            </p:cNvSpPr>
            <p:nvPr/>
          </p:nvSpPr>
          <p:spPr bwMode="auto">
            <a:xfrm>
              <a:off x="4550" y="2266"/>
              <a:ext cx="89"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c’</a:t>
              </a:r>
              <a:endParaRPr lang="en-US" altLang="en-US" sz="1600"/>
            </a:p>
          </p:txBody>
        </p:sp>
        <p:sp>
          <p:nvSpPr>
            <p:cNvPr id="479289" name="Rectangle 57"/>
            <p:cNvSpPr>
              <a:spLocks noChangeArrowheads="1"/>
            </p:cNvSpPr>
            <p:nvPr/>
          </p:nvSpPr>
          <p:spPr bwMode="auto">
            <a:xfrm>
              <a:off x="4649" y="2272"/>
              <a:ext cx="3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1600"/>
            </a:p>
          </p:txBody>
        </p:sp>
        <p:sp>
          <p:nvSpPr>
            <p:cNvPr id="479290" name="Rectangle 58"/>
            <p:cNvSpPr>
              <a:spLocks noChangeArrowheads="1"/>
            </p:cNvSpPr>
            <p:nvPr/>
          </p:nvSpPr>
          <p:spPr bwMode="auto">
            <a:xfrm>
              <a:off x="4682" y="2272"/>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t</a:t>
              </a:r>
              <a:endParaRPr lang="en-US" altLang="en-US" sz="1600"/>
            </a:p>
          </p:txBody>
        </p:sp>
        <p:sp>
          <p:nvSpPr>
            <p:cNvPr id="479291" name="Rectangle 59"/>
            <p:cNvSpPr>
              <a:spLocks noChangeArrowheads="1"/>
            </p:cNvSpPr>
            <p:nvPr/>
          </p:nvSpPr>
          <p:spPr bwMode="auto">
            <a:xfrm>
              <a:off x="4721" y="2272"/>
              <a:ext cx="19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ot&lt;s</a:t>
              </a:r>
              <a:endParaRPr lang="en-US" altLang="en-US" sz="1600"/>
            </a:p>
          </p:txBody>
        </p:sp>
        <p:sp>
          <p:nvSpPr>
            <p:cNvPr id="479292" name="Rectangle 60"/>
            <p:cNvSpPr>
              <a:spLocks noChangeArrowheads="1"/>
            </p:cNvSpPr>
            <p:nvPr/>
          </p:nvSpPr>
          <p:spPr bwMode="auto">
            <a:xfrm>
              <a:off x="4940" y="2272"/>
              <a:ext cx="3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1600"/>
            </a:p>
          </p:txBody>
        </p:sp>
        <p:sp>
          <p:nvSpPr>
            <p:cNvPr id="479293" name="Rectangle 61"/>
            <p:cNvSpPr>
              <a:spLocks noChangeArrowheads="1"/>
            </p:cNvSpPr>
            <p:nvPr/>
          </p:nvSpPr>
          <p:spPr bwMode="auto">
            <a:xfrm>
              <a:off x="4835" y="2822"/>
              <a:ext cx="178"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d=1</a:t>
              </a:r>
              <a:endParaRPr lang="en-US" altLang="en-US" sz="1600"/>
            </a:p>
          </p:txBody>
        </p:sp>
        <p:sp>
          <p:nvSpPr>
            <p:cNvPr id="479294" name="Rectangle 62"/>
            <p:cNvSpPr>
              <a:spLocks noChangeArrowheads="1"/>
            </p:cNvSpPr>
            <p:nvPr/>
          </p:nvSpPr>
          <p:spPr bwMode="auto">
            <a:xfrm>
              <a:off x="4580" y="1690"/>
              <a:ext cx="51"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c</a:t>
              </a:r>
              <a:endParaRPr lang="en-US" altLang="en-US" sz="1600"/>
            </a:p>
          </p:txBody>
        </p:sp>
        <p:sp>
          <p:nvSpPr>
            <p:cNvPr id="479295" name="Oval 63"/>
            <p:cNvSpPr>
              <a:spLocks noChangeArrowheads="1"/>
            </p:cNvSpPr>
            <p:nvPr/>
          </p:nvSpPr>
          <p:spPr bwMode="auto">
            <a:xfrm>
              <a:off x="3333" y="1885"/>
              <a:ext cx="485" cy="356"/>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96" name="Oval 64"/>
            <p:cNvSpPr>
              <a:spLocks noChangeArrowheads="1"/>
            </p:cNvSpPr>
            <p:nvPr/>
          </p:nvSpPr>
          <p:spPr bwMode="auto">
            <a:xfrm>
              <a:off x="4001" y="1885"/>
              <a:ext cx="483" cy="356"/>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97" name="Oval 65"/>
            <p:cNvSpPr>
              <a:spLocks noChangeArrowheads="1"/>
            </p:cNvSpPr>
            <p:nvPr/>
          </p:nvSpPr>
          <p:spPr bwMode="auto">
            <a:xfrm>
              <a:off x="4690" y="2446"/>
              <a:ext cx="485" cy="357"/>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79298" name="Rectangle 66"/>
            <p:cNvSpPr>
              <a:spLocks noChangeArrowheads="1"/>
            </p:cNvSpPr>
            <p:nvPr/>
          </p:nvSpPr>
          <p:spPr bwMode="auto">
            <a:xfrm>
              <a:off x="4821" y="2056"/>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t</a:t>
              </a:r>
              <a:endParaRPr lang="en-US" altLang="en-US" sz="1600"/>
            </a:p>
          </p:txBody>
        </p:sp>
        <p:sp>
          <p:nvSpPr>
            <p:cNvPr id="479299" name="Rectangle 67"/>
            <p:cNvSpPr>
              <a:spLocks noChangeArrowheads="1"/>
            </p:cNvSpPr>
            <p:nvPr/>
          </p:nvSpPr>
          <p:spPr bwMode="auto">
            <a:xfrm>
              <a:off x="4859" y="2056"/>
              <a:ext cx="153"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ot=</a:t>
              </a:r>
              <a:endParaRPr lang="en-US" altLang="en-US" sz="1600"/>
            </a:p>
          </p:txBody>
        </p:sp>
        <p:sp>
          <p:nvSpPr>
            <p:cNvPr id="479300" name="Rectangle 68"/>
            <p:cNvSpPr>
              <a:spLocks noChangeArrowheads="1"/>
            </p:cNvSpPr>
            <p:nvPr/>
          </p:nvSpPr>
          <p:spPr bwMode="auto">
            <a:xfrm>
              <a:off x="5033" y="2056"/>
              <a:ext cx="32"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t</a:t>
              </a:r>
              <a:endParaRPr lang="en-US" altLang="en-US" sz="1600"/>
            </a:p>
          </p:txBody>
        </p:sp>
        <p:sp>
          <p:nvSpPr>
            <p:cNvPr id="479301" name="Rectangle 69"/>
            <p:cNvSpPr>
              <a:spLocks noChangeArrowheads="1"/>
            </p:cNvSpPr>
            <p:nvPr/>
          </p:nvSpPr>
          <p:spPr bwMode="auto">
            <a:xfrm>
              <a:off x="5071" y="2056"/>
              <a:ext cx="204" cy="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ot+a</a:t>
              </a:r>
              <a:endParaRPr lang="en-US" altLang="en-US" sz="1600"/>
            </a:p>
          </p:txBody>
        </p:sp>
        <p:sp>
          <p:nvSpPr>
            <p:cNvPr id="479303" name="Rectangle 71"/>
            <p:cNvSpPr>
              <a:spLocks noChangeArrowheads="1"/>
            </p:cNvSpPr>
            <p:nvPr/>
          </p:nvSpPr>
          <p:spPr bwMode="auto">
            <a:xfrm>
              <a:off x="4076" y="2344"/>
              <a:ext cx="89"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c’</a:t>
              </a:r>
              <a:endParaRPr lang="en-US" altLang="en-US" sz="1600"/>
            </a:p>
          </p:txBody>
        </p:sp>
        <p:sp>
          <p:nvSpPr>
            <p:cNvPr id="479305" name="Rectangle 73"/>
            <p:cNvSpPr>
              <a:spLocks noChangeArrowheads="1"/>
            </p:cNvSpPr>
            <p:nvPr/>
          </p:nvSpPr>
          <p:spPr bwMode="auto">
            <a:xfrm>
              <a:off x="4163" y="2344"/>
              <a:ext cx="38"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1600"/>
            </a:p>
          </p:txBody>
        </p:sp>
        <p:sp>
          <p:nvSpPr>
            <p:cNvPr id="479306" name="Rectangle 74"/>
            <p:cNvSpPr>
              <a:spLocks noChangeArrowheads="1"/>
            </p:cNvSpPr>
            <p:nvPr/>
          </p:nvSpPr>
          <p:spPr bwMode="auto">
            <a:xfrm>
              <a:off x="4196" y="2344"/>
              <a:ext cx="32"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t</a:t>
              </a:r>
              <a:endParaRPr lang="en-US" altLang="en-US" sz="1600"/>
            </a:p>
          </p:txBody>
        </p:sp>
        <p:sp>
          <p:nvSpPr>
            <p:cNvPr id="479307" name="Rectangle 75"/>
            <p:cNvSpPr>
              <a:spLocks noChangeArrowheads="1"/>
            </p:cNvSpPr>
            <p:nvPr/>
          </p:nvSpPr>
          <p:spPr bwMode="auto">
            <a:xfrm>
              <a:off x="4235" y="2344"/>
              <a:ext cx="198"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78C1"/>
                  </a:solidFill>
                  <a:latin typeface="Myriad Roman" charset="0"/>
                </a:rPr>
                <a:t>ot&lt;s</a:t>
              </a:r>
              <a:endParaRPr lang="en-US" altLang="en-US" sz="1600"/>
            </a:p>
          </p:txBody>
        </p:sp>
        <p:sp>
          <p:nvSpPr>
            <p:cNvPr id="479308" name="Rectangle 76"/>
            <p:cNvSpPr>
              <a:spLocks noChangeArrowheads="1"/>
            </p:cNvSpPr>
            <p:nvPr/>
          </p:nvSpPr>
          <p:spPr bwMode="auto">
            <a:xfrm>
              <a:off x="4454" y="2344"/>
              <a:ext cx="77"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1600"/>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3"/>
          <p:cNvSpPr>
            <a:spLocks noGrp="1"/>
          </p:cNvSpPr>
          <p:nvPr>
            <p:ph type="sldNum" sz="quarter" idx="10"/>
          </p:nvPr>
        </p:nvSpPr>
        <p:spPr/>
        <p:txBody>
          <a:bodyPr/>
          <a:lstStyle/>
          <a:p>
            <a:fld id="{DC4B0BB5-3E06-4438-91CA-BC3211BBEB0B}" type="slidenum">
              <a:rPr lang="en-US" altLang="en-US"/>
              <a:pPr/>
              <a:t>12</a:t>
            </a:fld>
            <a:endParaRPr lang="en-US" altLang="en-US"/>
          </a:p>
        </p:txBody>
      </p:sp>
      <p:sp>
        <p:nvSpPr>
          <p:cNvPr id="481282" name="Rectangle 2"/>
          <p:cNvSpPr>
            <a:spLocks noGrp="1" noChangeArrowheads="1"/>
          </p:cNvSpPr>
          <p:nvPr>
            <p:ph type="title"/>
          </p:nvPr>
        </p:nvSpPr>
        <p:spPr/>
        <p:txBody>
          <a:bodyPr/>
          <a:lstStyle/>
          <a:p>
            <a:r>
              <a:rPr lang="en-US" altLang="en-US"/>
              <a:t>Step 1 Example: </a:t>
            </a:r>
            <a:r>
              <a:rPr lang="en-US" altLang="en-US" sz="3200"/>
              <a:t>Laser-Based Distance Measurer</a:t>
            </a:r>
          </a:p>
        </p:txBody>
      </p:sp>
      <p:sp>
        <p:nvSpPr>
          <p:cNvPr id="481283" name="Rectangle 3"/>
          <p:cNvSpPr>
            <a:spLocks noGrp="1" noChangeArrowheads="1"/>
          </p:cNvSpPr>
          <p:nvPr>
            <p:ph type="body" idx="1"/>
          </p:nvPr>
        </p:nvSpPr>
        <p:spPr>
          <a:xfrm>
            <a:off x="228600" y="3789363"/>
            <a:ext cx="8351838" cy="2306637"/>
          </a:xfrm>
        </p:spPr>
        <p:txBody>
          <a:bodyPr/>
          <a:lstStyle/>
          <a:p>
            <a:pPr>
              <a:lnSpc>
                <a:spcPct val="90000"/>
              </a:lnSpc>
            </a:pPr>
            <a:r>
              <a:rPr lang="en-US" altLang="en-US"/>
              <a:t>Example of how to create a high-level state machine to describe desired processor behavior</a:t>
            </a:r>
          </a:p>
          <a:p>
            <a:pPr>
              <a:lnSpc>
                <a:spcPct val="90000"/>
              </a:lnSpc>
            </a:pPr>
            <a:r>
              <a:rPr lang="en-US" altLang="en-US"/>
              <a:t>Laser-based distance measurement – pulse laser, measure time T to sense reflection</a:t>
            </a:r>
          </a:p>
          <a:p>
            <a:pPr lvl="1">
              <a:lnSpc>
                <a:spcPct val="90000"/>
              </a:lnSpc>
            </a:pPr>
            <a:r>
              <a:rPr lang="en-US" altLang="en-US"/>
              <a:t>Laser light travels at speed of light, 3*10</a:t>
            </a:r>
            <a:r>
              <a:rPr lang="en-US" altLang="en-US" baseline="50000"/>
              <a:t>8</a:t>
            </a:r>
            <a:r>
              <a:rPr lang="en-US" altLang="en-US"/>
              <a:t> m/sec </a:t>
            </a:r>
          </a:p>
          <a:p>
            <a:pPr lvl="1">
              <a:lnSpc>
                <a:spcPct val="90000"/>
              </a:lnSpc>
            </a:pPr>
            <a:r>
              <a:rPr lang="en-US" altLang="en-US"/>
              <a:t>Distance is thus D = T sec * 3*10</a:t>
            </a:r>
            <a:r>
              <a:rPr lang="en-US" altLang="en-US" baseline="50000"/>
              <a:t>8</a:t>
            </a:r>
            <a:r>
              <a:rPr lang="en-US" altLang="en-US"/>
              <a:t> m/sec  / 2</a:t>
            </a:r>
          </a:p>
        </p:txBody>
      </p:sp>
      <p:grpSp>
        <p:nvGrpSpPr>
          <p:cNvPr id="481348" name="Group 68"/>
          <p:cNvGrpSpPr>
            <a:grpSpLocks/>
          </p:cNvGrpSpPr>
          <p:nvPr/>
        </p:nvGrpSpPr>
        <p:grpSpPr bwMode="auto">
          <a:xfrm>
            <a:off x="935038" y="1387475"/>
            <a:ext cx="7307262" cy="2235200"/>
            <a:chOff x="589" y="874"/>
            <a:chExt cx="4603" cy="1408"/>
          </a:xfrm>
        </p:grpSpPr>
        <p:sp>
          <p:nvSpPr>
            <p:cNvPr id="481284" name="Freeform 4"/>
            <p:cNvSpPr>
              <a:spLocks/>
            </p:cNvSpPr>
            <p:nvPr/>
          </p:nvSpPr>
          <p:spPr bwMode="auto">
            <a:xfrm>
              <a:off x="3702" y="885"/>
              <a:ext cx="1490" cy="1314"/>
            </a:xfrm>
            <a:custGeom>
              <a:avLst/>
              <a:gdLst>
                <a:gd name="T0" fmla="*/ 0 w 416"/>
                <a:gd name="T1" fmla="*/ 313 h 320"/>
                <a:gd name="T2" fmla="*/ 139 w 416"/>
                <a:gd name="T3" fmla="*/ 192 h 320"/>
                <a:gd name="T4" fmla="*/ 132 w 416"/>
                <a:gd name="T5" fmla="*/ 124 h 320"/>
                <a:gd name="T6" fmla="*/ 172 w 416"/>
                <a:gd name="T7" fmla="*/ 23 h 320"/>
                <a:gd name="T8" fmla="*/ 248 w 416"/>
                <a:gd name="T9" fmla="*/ 9 h 320"/>
                <a:gd name="T10" fmla="*/ 328 w 416"/>
                <a:gd name="T11" fmla="*/ 33 h 320"/>
                <a:gd name="T12" fmla="*/ 372 w 416"/>
                <a:gd name="T13" fmla="*/ 180 h 320"/>
                <a:gd name="T14" fmla="*/ 416 w 416"/>
                <a:gd name="T15" fmla="*/ 315 h 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6" h="320">
                  <a:moveTo>
                    <a:pt x="0" y="313"/>
                  </a:moveTo>
                  <a:cubicBezTo>
                    <a:pt x="0" y="313"/>
                    <a:pt x="130" y="320"/>
                    <a:pt x="139" y="192"/>
                  </a:cubicBezTo>
                  <a:cubicBezTo>
                    <a:pt x="139" y="192"/>
                    <a:pt x="139" y="161"/>
                    <a:pt x="132" y="124"/>
                  </a:cubicBezTo>
                  <a:cubicBezTo>
                    <a:pt x="132" y="124"/>
                    <a:pt x="112" y="36"/>
                    <a:pt x="172" y="23"/>
                  </a:cubicBezTo>
                  <a:cubicBezTo>
                    <a:pt x="248" y="9"/>
                    <a:pt x="248" y="9"/>
                    <a:pt x="248" y="9"/>
                  </a:cubicBezTo>
                  <a:cubicBezTo>
                    <a:pt x="248" y="9"/>
                    <a:pt x="306" y="0"/>
                    <a:pt x="328" y="33"/>
                  </a:cubicBezTo>
                  <a:cubicBezTo>
                    <a:pt x="328" y="33"/>
                    <a:pt x="363" y="79"/>
                    <a:pt x="372" y="180"/>
                  </a:cubicBezTo>
                  <a:cubicBezTo>
                    <a:pt x="372" y="180"/>
                    <a:pt x="379" y="268"/>
                    <a:pt x="416" y="315"/>
                  </a:cubicBezTo>
                </a:path>
              </a:pathLst>
            </a:custGeom>
            <a:solidFill>
              <a:srgbClr val="C7D8F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285" name="Line 5"/>
            <p:cNvSpPr>
              <a:spLocks noChangeShapeType="1"/>
            </p:cNvSpPr>
            <p:nvPr/>
          </p:nvSpPr>
          <p:spPr bwMode="auto">
            <a:xfrm>
              <a:off x="1406" y="1337"/>
              <a:ext cx="2665"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1286" name="Freeform 6"/>
            <p:cNvSpPr>
              <a:spLocks/>
            </p:cNvSpPr>
            <p:nvPr/>
          </p:nvSpPr>
          <p:spPr bwMode="auto">
            <a:xfrm>
              <a:off x="4053" y="1308"/>
              <a:ext cx="114" cy="6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287" name="Line 7"/>
            <p:cNvSpPr>
              <a:spLocks noChangeShapeType="1"/>
            </p:cNvSpPr>
            <p:nvPr/>
          </p:nvSpPr>
          <p:spPr bwMode="auto">
            <a:xfrm flipH="1">
              <a:off x="1442" y="1349"/>
              <a:ext cx="2611" cy="19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1288" name="Freeform 8"/>
            <p:cNvSpPr>
              <a:spLocks/>
            </p:cNvSpPr>
            <p:nvPr/>
          </p:nvSpPr>
          <p:spPr bwMode="auto">
            <a:xfrm>
              <a:off x="1349" y="1509"/>
              <a:ext cx="115" cy="66"/>
            </a:xfrm>
            <a:custGeom>
              <a:avLst/>
              <a:gdLst>
                <a:gd name="T0" fmla="*/ 0 w 100"/>
                <a:gd name="T1" fmla="*/ 31 h 50"/>
                <a:gd name="T2" fmla="*/ 97 w 100"/>
                <a:gd name="T3" fmla="*/ 0 h 50"/>
                <a:gd name="T4" fmla="*/ 100 w 100"/>
                <a:gd name="T5" fmla="*/ 50 h 50"/>
                <a:gd name="T6" fmla="*/ 0 w 100"/>
                <a:gd name="T7" fmla="*/ 31 h 50"/>
              </a:gdLst>
              <a:ahLst/>
              <a:cxnLst>
                <a:cxn ang="0">
                  <a:pos x="T0" y="T1"/>
                </a:cxn>
                <a:cxn ang="0">
                  <a:pos x="T2" y="T3"/>
                </a:cxn>
                <a:cxn ang="0">
                  <a:pos x="T4" y="T5"/>
                </a:cxn>
                <a:cxn ang="0">
                  <a:pos x="T6" y="T7"/>
                </a:cxn>
              </a:cxnLst>
              <a:rect l="0" t="0" r="r" b="b"/>
              <a:pathLst>
                <a:path w="100" h="50">
                  <a:moveTo>
                    <a:pt x="0" y="31"/>
                  </a:moveTo>
                  <a:lnTo>
                    <a:pt x="97" y="0"/>
                  </a:lnTo>
                  <a:lnTo>
                    <a:pt x="100" y="50"/>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289" name="Freeform 9"/>
            <p:cNvSpPr>
              <a:spLocks/>
            </p:cNvSpPr>
            <p:nvPr/>
          </p:nvSpPr>
          <p:spPr bwMode="auto">
            <a:xfrm>
              <a:off x="1255" y="1101"/>
              <a:ext cx="72" cy="43"/>
            </a:xfrm>
            <a:custGeom>
              <a:avLst/>
              <a:gdLst>
                <a:gd name="T0" fmla="*/ 63 w 63"/>
                <a:gd name="T1" fmla="*/ 16 h 32"/>
                <a:gd name="T2" fmla="*/ 0 w 63"/>
                <a:gd name="T3" fmla="*/ 0 h 32"/>
                <a:gd name="T4" fmla="*/ 0 w 63"/>
                <a:gd name="T5" fmla="*/ 32 h 32"/>
                <a:gd name="T6" fmla="*/ 63 w 63"/>
                <a:gd name="T7" fmla="*/ 16 h 32"/>
              </a:gdLst>
              <a:ahLst/>
              <a:cxnLst>
                <a:cxn ang="0">
                  <a:pos x="T0" y="T1"/>
                </a:cxn>
                <a:cxn ang="0">
                  <a:pos x="T2" y="T3"/>
                </a:cxn>
                <a:cxn ang="0">
                  <a:pos x="T4" y="T5"/>
                </a:cxn>
                <a:cxn ang="0">
                  <a:pos x="T6" y="T7"/>
                </a:cxn>
              </a:cxnLst>
              <a:rect l="0" t="0" r="r" b="b"/>
              <a:pathLst>
                <a:path w="63" h="32">
                  <a:moveTo>
                    <a:pt x="63" y="16"/>
                  </a:moveTo>
                  <a:lnTo>
                    <a:pt x="0" y="0"/>
                  </a:lnTo>
                  <a:lnTo>
                    <a:pt x="0" y="32"/>
                  </a:lnTo>
                  <a:lnTo>
                    <a:pt x="63"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290" name="Freeform 10"/>
            <p:cNvSpPr>
              <a:spLocks/>
            </p:cNvSpPr>
            <p:nvPr/>
          </p:nvSpPr>
          <p:spPr bwMode="auto">
            <a:xfrm>
              <a:off x="1198" y="1036"/>
              <a:ext cx="75" cy="86"/>
            </a:xfrm>
            <a:custGeom>
              <a:avLst/>
              <a:gdLst>
                <a:gd name="T0" fmla="*/ 0 w 66"/>
                <a:gd name="T1" fmla="*/ 0 h 66"/>
                <a:gd name="T2" fmla="*/ 0 w 66"/>
                <a:gd name="T3" fmla="*/ 66 h 66"/>
                <a:gd name="T4" fmla="*/ 66 w 66"/>
                <a:gd name="T5" fmla="*/ 66 h 66"/>
              </a:gdLst>
              <a:ahLst/>
              <a:cxnLst>
                <a:cxn ang="0">
                  <a:pos x="T0" y="T1"/>
                </a:cxn>
                <a:cxn ang="0">
                  <a:pos x="T2" y="T3"/>
                </a:cxn>
                <a:cxn ang="0">
                  <a:pos x="T4" y="T5"/>
                </a:cxn>
              </a:cxnLst>
              <a:rect l="0" t="0" r="r" b="b"/>
              <a:pathLst>
                <a:path w="66" h="66">
                  <a:moveTo>
                    <a:pt x="0" y="0"/>
                  </a:moveTo>
                  <a:lnTo>
                    <a:pt x="0" y="66"/>
                  </a:lnTo>
                  <a:lnTo>
                    <a:pt x="66" y="66"/>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291" name="Freeform 11"/>
            <p:cNvSpPr>
              <a:spLocks/>
            </p:cNvSpPr>
            <p:nvPr/>
          </p:nvSpPr>
          <p:spPr bwMode="auto">
            <a:xfrm>
              <a:off x="1180" y="974"/>
              <a:ext cx="36" cy="83"/>
            </a:xfrm>
            <a:custGeom>
              <a:avLst/>
              <a:gdLst>
                <a:gd name="T0" fmla="*/ 15 w 31"/>
                <a:gd name="T1" fmla="*/ 0 h 63"/>
                <a:gd name="T2" fmla="*/ 0 w 31"/>
                <a:gd name="T3" fmla="*/ 63 h 63"/>
                <a:gd name="T4" fmla="*/ 31 w 31"/>
                <a:gd name="T5" fmla="*/ 63 h 63"/>
                <a:gd name="T6" fmla="*/ 15 w 31"/>
                <a:gd name="T7" fmla="*/ 0 h 63"/>
              </a:gdLst>
              <a:ahLst/>
              <a:cxnLst>
                <a:cxn ang="0">
                  <a:pos x="T0" y="T1"/>
                </a:cxn>
                <a:cxn ang="0">
                  <a:pos x="T2" y="T3"/>
                </a:cxn>
                <a:cxn ang="0">
                  <a:pos x="T4" y="T5"/>
                </a:cxn>
                <a:cxn ang="0">
                  <a:pos x="T6" y="T7"/>
                </a:cxn>
              </a:cxnLst>
              <a:rect l="0" t="0" r="r" b="b"/>
              <a:pathLst>
                <a:path w="31" h="63">
                  <a:moveTo>
                    <a:pt x="15" y="0"/>
                  </a:moveTo>
                  <a:lnTo>
                    <a:pt x="0" y="63"/>
                  </a:lnTo>
                  <a:lnTo>
                    <a:pt x="31" y="63"/>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292" name="Oval 12"/>
            <p:cNvSpPr>
              <a:spLocks noChangeArrowheads="1"/>
            </p:cNvSpPr>
            <p:nvPr/>
          </p:nvSpPr>
          <p:spPr bwMode="auto">
            <a:xfrm>
              <a:off x="1062" y="966"/>
              <a:ext cx="272" cy="313"/>
            </a:xfrm>
            <a:prstGeom prst="ellipse">
              <a:avLst/>
            </a:prstGeom>
            <a:noFill/>
            <a:ln w="14288" cap="rnd">
              <a:solidFill>
                <a:srgbClr val="0078C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293" name="Line 13"/>
            <p:cNvSpPr>
              <a:spLocks noChangeShapeType="1"/>
            </p:cNvSpPr>
            <p:nvPr/>
          </p:nvSpPr>
          <p:spPr bwMode="auto">
            <a:xfrm>
              <a:off x="1194" y="1637"/>
              <a:ext cx="1" cy="489"/>
            </a:xfrm>
            <a:prstGeom prst="line">
              <a:avLst/>
            </a:prstGeom>
            <a:noFill/>
            <a:ln w="396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294" name="Line 14"/>
            <p:cNvSpPr>
              <a:spLocks noChangeShapeType="1"/>
            </p:cNvSpPr>
            <p:nvPr/>
          </p:nvSpPr>
          <p:spPr bwMode="auto">
            <a:xfrm>
              <a:off x="1198" y="1633"/>
              <a:ext cx="143" cy="558"/>
            </a:xfrm>
            <a:prstGeom prst="line">
              <a:avLst/>
            </a:prstGeom>
            <a:noFill/>
            <a:ln w="396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295" name="Line 15"/>
            <p:cNvSpPr>
              <a:spLocks noChangeShapeType="1"/>
            </p:cNvSpPr>
            <p:nvPr/>
          </p:nvSpPr>
          <p:spPr bwMode="auto">
            <a:xfrm flipH="1">
              <a:off x="1054" y="1633"/>
              <a:ext cx="144" cy="558"/>
            </a:xfrm>
            <a:prstGeom prst="line">
              <a:avLst/>
            </a:prstGeom>
            <a:noFill/>
            <a:ln w="396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296" name="Rectangle 16"/>
            <p:cNvSpPr>
              <a:spLocks noChangeArrowheads="1"/>
            </p:cNvSpPr>
            <p:nvPr/>
          </p:nvSpPr>
          <p:spPr bwMode="auto">
            <a:xfrm>
              <a:off x="1059" y="1229"/>
              <a:ext cx="282" cy="394"/>
            </a:xfrm>
            <a:prstGeom prst="rect">
              <a:avLst/>
            </a:prstGeom>
            <a:solidFill>
              <a:srgbClr val="FFFFFF"/>
            </a:solidFill>
            <a:ln w="14288" cap="rnd">
              <a:solidFill>
                <a:srgbClr val="0078C1"/>
              </a:solidFill>
              <a:round/>
              <a:headEnd/>
              <a:tailEnd/>
            </a:ln>
          </p:spPr>
          <p:txBody>
            <a:bodyPr/>
            <a:lstStyle/>
            <a:p>
              <a:endParaRPr lang="en-US"/>
            </a:p>
          </p:txBody>
        </p:sp>
        <p:sp>
          <p:nvSpPr>
            <p:cNvPr id="481297" name="Freeform 17"/>
            <p:cNvSpPr>
              <a:spLocks/>
            </p:cNvSpPr>
            <p:nvPr/>
          </p:nvSpPr>
          <p:spPr bwMode="auto">
            <a:xfrm>
              <a:off x="1341" y="1283"/>
              <a:ext cx="57" cy="116"/>
            </a:xfrm>
            <a:custGeom>
              <a:avLst/>
              <a:gdLst>
                <a:gd name="T0" fmla="*/ 0 w 50"/>
                <a:gd name="T1" fmla="*/ 66 h 88"/>
                <a:gd name="T2" fmla="*/ 50 w 50"/>
                <a:gd name="T3" fmla="*/ 88 h 88"/>
                <a:gd name="T4" fmla="*/ 50 w 50"/>
                <a:gd name="T5" fmla="*/ 0 h 88"/>
                <a:gd name="T6" fmla="*/ 0 w 50"/>
                <a:gd name="T7" fmla="*/ 19 h 88"/>
              </a:gdLst>
              <a:ahLst/>
              <a:cxnLst>
                <a:cxn ang="0">
                  <a:pos x="T0" y="T1"/>
                </a:cxn>
                <a:cxn ang="0">
                  <a:pos x="T2" y="T3"/>
                </a:cxn>
                <a:cxn ang="0">
                  <a:pos x="T4" y="T5"/>
                </a:cxn>
                <a:cxn ang="0">
                  <a:pos x="T6" y="T7"/>
                </a:cxn>
              </a:cxnLst>
              <a:rect l="0" t="0" r="r" b="b"/>
              <a:pathLst>
                <a:path w="50" h="88">
                  <a:moveTo>
                    <a:pt x="0" y="66"/>
                  </a:moveTo>
                  <a:lnTo>
                    <a:pt x="50" y="88"/>
                  </a:lnTo>
                  <a:lnTo>
                    <a:pt x="50" y="0"/>
                  </a:lnTo>
                  <a:lnTo>
                    <a:pt x="0" y="19"/>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298" name="Freeform 18"/>
            <p:cNvSpPr>
              <a:spLocks/>
            </p:cNvSpPr>
            <p:nvPr/>
          </p:nvSpPr>
          <p:spPr bwMode="auto">
            <a:xfrm>
              <a:off x="611" y="1422"/>
              <a:ext cx="61" cy="226"/>
            </a:xfrm>
            <a:custGeom>
              <a:avLst/>
              <a:gdLst>
                <a:gd name="T0" fmla="*/ 22 w 53"/>
                <a:gd name="T1" fmla="*/ 0 h 172"/>
                <a:gd name="T2" fmla="*/ 0 w 53"/>
                <a:gd name="T3" fmla="*/ 47 h 172"/>
                <a:gd name="T4" fmla="*/ 16 w 53"/>
                <a:gd name="T5" fmla="*/ 172 h 172"/>
                <a:gd name="T6" fmla="*/ 53 w 53"/>
                <a:gd name="T7" fmla="*/ 57 h 172"/>
                <a:gd name="T8" fmla="*/ 22 w 53"/>
                <a:gd name="T9" fmla="*/ 0 h 172"/>
              </a:gdLst>
              <a:ahLst/>
              <a:cxnLst>
                <a:cxn ang="0">
                  <a:pos x="T0" y="T1"/>
                </a:cxn>
                <a:cxn ang="0">
                  <a:pos x="T2" y="T3"/>
                </a:cxn>
                <a:cxn ang="0">
                  <a:pos x="T4" y="T5"/>
                </a:cxn>
                <a:cxn ang="0">
                  <a:pos x="T6" y="T7"/>
                </a:cxn>
                <a:cxn ang="0">
                  <a:pos x="T8" y="T9"/>
                </a:cxn>
              </a:cxnLst>
              <a:rect l="0" t="0" r="r" b="b"/>
              <a:pathLst>
                <a:path w="53" h="172">
                  <a:moveTo>
                    <a:pt x="22" y="0"/>
                  </a:moveTo>
                  <a:lnTo>
                    <a:pt x="0" y="47"/>
                  </a:lnTo>
                  <a:lnTo>
                    <a:pt x="16" y="172"/>
                  </a:lnTo>
                  <a:lnTo>
                    <a:pt x="53" y="57"/>
                  </a:lnTo>
                  <a:lnTo>
                    <a:pt x="22" y="0"/>
                  </a:lnTo>
                  <a:close/>
                </a:path>
              </a:pathLst>
            </a:custGeom>
            <a:solidFill>
              <a:srgbClr val="FFFFFF"/>
            </a:solidFill>
            <a:ln w="9525" cap="rnd">
              <a:solidFill>
                <a:srgbClr val="000000"/>
              </a:solidFill>
              <a:prstDash val="solid"/>
              <a:round/>
              <a:headEnd/>
              <a:tailEnd/>
            </a:ln>
          </p:spPr>
          <p:txBody>
            <a:bodyPr/>
            <a:lstStyle/>
            <a:p>
              <a:endParaRPr lang="en-US"/>
            </a:p>
          </p:txBody>
        </p:sp>
        <p:sp>
          <p:nvSpPr>
            <p:cNvPr id="481299" name="Freeform 19"/>
            <p:cNvSpPr>
              <a:spLocks/>
            </p:cNvSpPr>
            <p:nvPr/>
          </p:nvSpPr>
          <p:spPr bwMode="auto">
            <a:xfrm>
              <a:off x="611" y="1266"/>
              <a:ext cx="104" cy="214"/>
            </a:xfrm>
            <a:custGeom>
              <a:avLst/>
              <a:gdLst>
                <a:gd name="T0" fmla="*/ 29 w 29"/>
                <a:gd name="T1" fmla="*/ 0 h 52"/>
                <a:gd name="T2" fmla="*/ 12 w 29"/>
                <a:gd name="T3" fmla="*/ 22 h 52"/>
                <a:gd name="T4" fmla="*/ 7 w 29"/>
                <a:gd name="T5" fmla="*/ 30 h 52"/>
                <a:gd name="T6" fmla="*/ 2 w 29"/>
                <a:gd name="T7" fmla="*/ 41 h 52"/>
                <a:gd name="T8" fmla="*/ 0 w 29"/>
                <a:gd name="T9" fmla="*/ 43 h 52"/>
                <a:gd name="T10" fmla="*/ 21 w 29"/>
                <a:gd name="T11" fmla="*/ 52 h 52"/>
                <a:gd name="T12" fmla="*/ 29 w 2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29" h="52">
                  <a:moveTo>
                    <a:pt x="29" y="0"/>
                  </a:moveTo>
                  <a:cubicBezTo>
                    <a:pt x="29" y="0"/>
                    <a:pt x="15" y="18"/>
                    <a:pt x="12" y="22"/>
                  </a:cubicBezTo>
                  <a:cubicBezTo>
                    <a:pt x="10" y="25"/>
                    <a:pt x="8" y="28"/>
                    <a:pt x="7" y="30"/>
                  </a:cubicBezTo>
                  <a:cubicBezTo>
                    <a:pt x="6" y="32"/>
                    <a:pt x="2" y="41"/>
                    <a:pt x="2" y="41"/>
                  </a:cubicBezTo>
                  <a:cubicBezTo>
                    <a:pt x="0" y="43"/>
                    <a:pt x="0" y="43"/>
                    <a:pt x="0" y="43"/>
                  </a:cubicBezTo>
                  <a:cubicBezTo>
                    <a:pt x="21" y="52"/>
                    <a:pt x="21" y="52"/>
                    <a:pt x="21" y="52"/>
                  </a:cubicBezTo>
                  <a:lnTo>
                    <a:pt x="29" y="0"/>
                  </a:lnTo>
                  <a:close/>
                </a:path>
              </a:pathLst>
            </a:custGeom>
            <a:solidFill>
              <a:srgbClr val="FFFFFF"/>
            </a:solidFill>
            <a:ln w="9525" cap="rnd">
              <a:solidFill>
                <a:srgbClr val="000000"/>
              </a:solidFill>
              <a:prstDash val="solid"/>
              <a:round/>
              <a:headEnd/>
              <a:tailEnd/>
            </a:ln>
          </p:spPr>
          <p:txBody>
            <a:bodyPr/>
            <a:lstStyle/>
            <a:p>
              <a:endParaRPr lang="en-US"/>
            </a:p>
          </p:txBody>
        </p:sp>
        <p:sp>
          <p:nvSpPr>
            <p:cNvPr id="481300" name="Freeform 20"/>
            <p:cNvSpPr>
              <a:spLocks/>
            </p:cNvSpPr>
            <p:nvPr/>
          </p:nvSpPr>
          <p:spPr bwMode="auto">
            <a:xfrm>
              <a:off x="672" y="1003"/>
              <a:ext cx="190" cy="305"/>
            </a:xfrm>
            <a:custGeom>
              <a:avLst/>
              <a:gdLst>
                <a:gd name="T0" fmla="*/ 41 w 53"/>
                <a:gd name="T1" fmla="*/ 14 h 74"/>
                <a:gd name="T2" fmla="*/ 46 w 53"/>
                <a:gd name="T3" fmla="*/ 22 h 74"/>
                <a:gd name="T4" fmla="*/ 48 w 53"/>
                <a:gd name="T5" fmla="*/ 30 h 74"/>
                <a:gd name="T6" fmla="*/ 47 w 53"/>
                <a:gd name="T7" fmla="*/ 34 h 74"/>
                <a:gd name="T8" fmla="*/ 51 w 53"/>
                <a:gd name="T9" fmla="*/ 38 h 74"/>
                <a:gd name="T10" fmla="*/ 52 w 53"/>
                <a:gd name="T11" fmla="*/ 40 h 74"/>
                <a:gd name="T12" fmla="*/ 52 w 53"/>
                <a:gd name="T13" fmla="*/ 42 h 74"/>
                <a:gd name="T14" fmla="*/ 49 w 53"/>
                <a:gd name="T15" fmla="*/ 44 h 74"/>
                <a:gd name="T16" fmla="*/ 50 w 53"/>
                <a:gd name="T17" fmla="*/ 47 h 74"/>
                <a:gd name="T18" fmla="*/ 48 w 53"/>
                <a:gd name="T19" fmla="*/ 49 h 74"/>
                <a:gd name="T20" fmla="*/ 49 w 53"/>
                <a:gd name="T21" fmla="*/ 50 h 74"/>
                <a:gd name="T22" fmla="*/ 49 w 53"/>
                <a:gd name="T23" fmla="*/ 52 h 74"/>
                <a:gd name="T24" fmla="*/ 47 w 53"/>
                <a:gd name="T25" fmla="*/ 52 h 74"/>
                <a:gd name="T26" fmla="*/ 45 w 53"/>
                <a:gd name="T27" fmla="*/ 54 h 74"/>
                <a:gd name="T28" fmla="*/ 46 w 53"/>
                <a:gd name="T29" fmla="*/ 57 h 74"/>
                <a:gd name="T30" fmla="*/ 45 w 53"/>
                <a:gd name="T31" fmla="*/ 58 h 74"/>
                <a:gd name="T32" fmla="*/ 42 w 53"/>
                <a:gd name="T33" fmla="*/ 60 h 74"/>
                <a:gd name="T34" fmla="*/ 37 w 53"/>
                <a:gd name="T35" fmla="*/ 60 h 74"/>
                <a:gd name="T36" fmla="*/ 34 w 53"/>
                <a:gd name="T37" fmla="*/ 67 h 74"/>
                <a:gd name="T38" fmla="*/ 33 w 53"/>
                <a:gd name="T39" fmla="*/ 74 h 74"/>
                <a:gd name="T40" fmla="*/ 20 w 53"/>
                <a:gd name="T41" fmla="*/ 67 h 74"/>
                <a:gd name="T42" fmla="*/ 17 w 53"/>
                <a:gd name="T43" fmla="*/ 63 h 74"/>
                <a:gd name="T44" fmla="*/ 18 w 53"/>
                <a:gd name="T45" fmla="*/ 55 h 74"/>
                <a:gd name="T46" fmla="*/ 11 w 53"/>
                <a:gd name="T47" fmla="*/ 42 h 74"/>
                <a:gd name="T48" fmla="*/ 41 w 53"/>
                <a:gd name="T49"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3" h="74">
                  <a:moveTo>
                    <a:pt x="41" y="14"/>
                  </a:moveTo>
                  <a:cubicBezTo>
                    <a:pt x="41" y="14"/>
                    <a:pt x="44" y="16"/>
                    <a:pt x="46" y="22"/>
                  </a:cubicBezTo>
                  <a:cubicBezTo>
                    <a:pt x="47" y="25"/>
                    <a:pt x="48" y="26"/>
                    <a:pt x="48" y="30"/>
                  </a:cubicBezTo>
                  <a:cubicBezTo>
                    <a:pt x="48" y="32"/>
                    <a:pt x="47" y="33"/>
                    <a:pt x="47" y="34"/>
                  </a:cubicBezTo>
                  <a:cubicBezTo>
                    <a:pt x="47" y="35"/>
                    <a:pt x="51" y="38"/>
                    <a:pt x="51" y="38"/>
                  </a:cubicBezTo>
                  <a:cubicBezTo>
                    <a:pt x="52" y="40"/>
                    <a:pt x="52" y="40"/>
                    <a:pt x="52" y="40"/>
                  </a:cubicBezTo>
                  <a:cubicBezTo>
                    <a:pt x="52" y="40"/>
                    <a:pt x="53" y="41"/>
                    <a:pt x="52" y="42"/>
                  </a:cubicBezTo>
                  <a:cubicBezTo>
                    <a:pt x="51" y="44"/>
                    <a:pt x="49" y="44"/>
                    <a:pt x="49" y="44"/>
                  </a:cubicBezTo>
                  <a:cubicBezTo>
                    <a:pt x="50" y="47"/>
                    <a:pt x="50" y="47"/>
                    <a:pt x="50" y="47"/>
                  </a:cubicBezTo>
                  <a:cubicBezTo>
                    <a:pt x="48" y="49"/>
                    <a:pt x="48" y="49"/>
                    <a:pt x="48" y="49"/>
                  </a:cubicBezTo>
                  <a:cubicBezTo>
                    <a:pt x="49" y="50"/>
                    <a:pt x="49" y="50"/>
                    <a:pt x="49" y="50"/>
                  </a:cubicBezTo>
                  <a:cubicBezTo>
                    <a:pt x="49" y="52"/>
                    <a:pt x="49" y="52"/>
                    <a:pt x="49" y="52"/>
                  </a:cubicBezTo>
                  <a:cubicBezTo>
                    <a:pt x="49" y="52"/>
                    <a:pt x="48" y="52"/>
                    <a:pt x="47" y="52"/>
                  </a:cubicBezTo>
                  <a:cubicBezTo>
                    <a:pt x="46" y="53"/>
                    <a:pt x="45" y="54"/>
                    <a:pt x="45" y="54"/>
                  </a:cubicBezTo>
                  <a:cubicBezTo>
                    <a:pt x="46" y="57"/>
                    <a:pt x="46" y="57"/>
                    <a:pt x="46" y="57"/>
                  </a:cubicBezTo>
                  <a:cubicBezTo>
                    <a:pt x="46" y="57"/>
                    <a:pt x="46" y="58"/>
                    <a:pt x="45" y="58"/>
                  </a:cubicBezTo>
                  <a:cubicBezTo>
                    <a:pt x="45" y="59"/>
                    <a:pt x="43" y="60"/>
                    <a:pt x="42" y="60"/>
                  </a:cubicBezTo>
                  <a:cubicBezTo>
                    <a:pt x="42" y="60"/>
                    <a:pt x="37" y="59"/>
                    <a:pt x="37" y="60"/>
                  </a:cubicBezTo>
                  <a:cubicBezTo>
                    <a:pt x="36" y="61"/>
                    <a:pt x="35" y="65"/>
                    <a:pt x="34" y="67"/>
                  </a:cubicBezTo>
                  <a:cubicBezTo>
                    <a:pt x="33" y="70"/>
                    <a:pt x="34" y="73"/>
                    <a:pt x="33" y="74"/>
                  </a:cubicBezTo>
                  <a:cubicBezTo>
                    <a:pt x="32" y="74"/>
                    <a:pt x="22" y="69"/>
                    <a:pt x="20" y="67"/>
                  </a:cubicBezTo>
                  <a:cubicBezTo>
                    <a:pt x="18" y="66"/>
                    <a:pt x="17" y="63"/>
                    <a:pt x="17" y="63"/>
                  </a:cubicBezTo>
                  <a:cubicBezTo>
                    <a:pt x="18" y="55"/>
                    <a:pt x="18" y="55"/>
                    <a:pt x="18" y="55"/>
                  </a:cubicBezTo>
                  <a:cubicBezTo>
                    <a:pt x="18" y="55"/>
                    <a:pt x="13" y="46"/>
                    <a:pt x="11" y="42"/>
                  </a:cubicBezTo>
                  <a:cubicBezTo>
                    <a:pt x="11" y="42"/>
                    <a:pt x="0" y="0"/>
                    <a:pt x="41" y="14"/>
                  </a:cubicBezTo>
                  <a:close/>
                </a:path>
              </a:pathLst>
            </a:custGeom>
            <a:solidFill>
              <a:srgbClr val="FFFFFF"/>
            </a:solidFill>
            <a:ln w="9525" cap="rnd">
              <a:solidFill>
                <a:srgbClr val="000000"/>
              </a:solidFill>
              <a:prstDash val="solid"/>
              <a:round/>
              <a:headEnd/>
              <a:tailEnd/>
            </a:ln>
          </p:spPr>
          <p:txBody>
            <a:bodyPr/>
            <a:lstStyle/>
            <a:p>
              <a:endParaRPr lang="en-US"/>
            </a:p>
          </p:txBody>
        </p:sp>
        <p:sp>
          <p:nvSpPr>
            <p:cNvPr id="481301" name="Freeform 21"/>
            <p:cNvSpPr>
              <a:spLocks/>
            </p:cNvSpPr>
            <p:nvPr/>
          </p:nvSpPr>
          <p:spPr bwMode="auto">
            <a:xfrm>
              <a:off x="757" y="1188"/>
              <a:ext cx="11" cy="8"/>
            </a:xfrm>
            <a:custGeom>
              <a:avLst/>
              <a:gdLst>
                <a:gd name="T0" fmla="*/ 0 w 3"/>
                <a:gd name="T1" fmla="*/ 0 h 2"/>
                <a:gd name="T2" fmla="*/ 2 w 3"/>
                <a:gd name="T3" fmla="*/ 1 h 2"/>
                <a:gd name="T4" fmla="*/ 3 w 3"/>
                <a:gd name="T5" fmla="*/ 0 h 2"/>
                <a:gd name="T6" fmla="*/ 2 w 3"/>
                <a:gd name="T7" fmla="*/ 2 h 2"/>
                <a:gd name="T8" fmla="*/ 2 w 3"/>
                <a:gd name="T9" fmla="*/ 2 h 2"/>
                <a:gd name="T10" fmla="*/ 1 w 3"/>
                <a:gd name="T11" fmla="*/ 2 h 2"/>
                <a:gd name="T12" fmla="*/ 0 w 3"/>
                <a:gd name="T13" fmla="*/ 1 h 2"/>
                <a:gd name="T14" fmla="*/ 0 w 3"/>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2">
                  <a:moveTo>
                    <a:pt x="0" y="0"/>
                  </a:moveTo>
                  <a:cubicBezTo>
                    <a:pt x="0" y="0"/>
                    <a:pt x="1" y="1"/>
                    <a:pt x="2" y="1"/>
                  </a:cubicBezTo>
                  <a:cubicBezTo>
                    <a:pt x="2" y="1"/>
                    <a:pt x="3" y="0"/>
                    <a:pt x="3" y="0"/>
                  </a:cubicBezTo>
                  <a:cubicBezTo>
                    <a:pt x="3" y="0"/>
                    <a:pt x="2" y="2"/>
                    <a:pt x="2" y="2"/>
                  </a:cubicBezTo>
                  <a:cubicBezTo>
                    <a:pt x="2" y="2"/>
                    <a:pt x="2" y="2"/>
                    <a:pt x="2" y="2"/>
                  </a:cubicBezTo>
                  <a:cubicBezTo>
                    <a:pt x="2" y="2"/>
                    <a:pt x="2" y="2"/>
                    <a:pt x="1" y="2"/>
                  </a:cubicBezTo>
                  <a:cubicBezTo>
                    <a:pt x="1" y="2"/>
                    <a:pt x="0" y="1"/>
                    <a:pt x="0" y="1"/>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02" name="Freeform 22"/>
            <p:cNvSpPr>
              <a:spLocks/>
            </p:cNvSpPr>
            <p:nvPr/>
          </p:nvSpPr>
          <p:spPr bwMode="auto">
            <a:xfrm>
              <a:off x="811" y="1130"/>
              <a:ext cx="32" cy="14"/>
            </a:xfrm>
            <a:custGeom>
              <a:avLst/>
              <a:gdLst>
                <a:gd name="T0" fmla="*/ 9 w 9"/>
                <a:gd name="T1" fmla="*/ 1 h 3"/>
                <a:gd name="T2" fmla="*/ 6 w 9"/>
                <a:gd name="T3" fmla="*/ 0 h 3"/>
                <a:gd name="T4" fmla="*/ 4 w 9"/>
                <a:gd name="T5" fmla="*/ 0 h 3"/>
                <a:gd name="T6" fmla="*/ 2 w 9"/>
                <a:gd name="T7" fmla="*/ 2 h 3"/>
                <a:gd name="T8" fmla="*/ 0 w 9"/>
                <a:gd name="T9" fmla="*/ 2 h 3"/>
                <a:gd name="T10" fmla="*/ 4 w 9"/>
                <a:gd name="T11" fmla="*/ 2 h 3"/>
                <a:gd name="T12" fmla="*/ 6 w 9"/>
                <a:gd name="T13" fmla="*/ 2 h 3"/>
                <a:gd name="T14" fmla="*/ 7 w 9"/>
                <a:gd name="T15" fmla="*/ 2 h 3"/>
                <a:gd name="T16" fmla="*/ 9 w 9"/>
                <a:gd name="T1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3">
                  <a:moveTo>
                    <a:pt x="9" y="1"/>
                  </a:moveTo>
                  <a:cubicBezTo>
                    <a:pt x="9" y="1"/>
                    <a:pt x="7" y="0"/>
                    <a:pt x="6" y="0"/>
                  </a:cubicBezTo>
                  <a:cubicBezTo>
                    <a:pt x="5" y="0"/>
                    <a:pt x="4" y="0"/>
                    <a:pt x="4" y="0"/>
                  </a:cubicBezTo>
                  <a:cubicBezTo>
                    <a:pt x="2" y="2"/>
                    <a:pt x="2" y="2"/>
                    <a:pt x="2" y="2"/>
                  </a:cubicBezTo>
                  <a:cubicBezTo>
                    <a:pt x="0" y="2"/>
                    <a:pt x="0" y="2"/>
                    <a:pt x="0" y="2"/>
                  </a:cubicBezTo>
                  <a:cubicBezTo>
                    <a:pt x="4" y="2"/>
                    <a:pt x="4" y="2"/>
                    <a:pt x="4" y="2"/>
                  </a:cubicBezTo>
                  <a:cubicBezTo>
                    <a:pt x="6" y="2"/>
                    <a:pt x="6" y="2"/>
                    <a:pt x="6" y="2"/>
                  </a:cubicBezTo>
                  <a:cubicBezTo>
                    <a:pt x="6" y="2"/>
                    <a:pt x="6" y="1"/>
                    <a:pt x="7" y="2"/>
                  </a:cubicBezTo>
                  <a:cubicBezTo>
                    <a:pt x="7" y="3"/>
                    <a:pt x="9" y="1"/>
                    <a:pt x="9"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03" name="Freeform 23"/>
            <p:cNvSpPr>
              <a:spLocks/>
            </p:cNvSpPr>
            <p:nvPr/>
          </p:nvSpPr>
          <p:spPr bwMode="auto">
            <a:xfrm>
              <a:off x="825" y="1196"/>
              <a:ext cx="25" cy="9"/>
            </a:xfrm>
            <a:custGeom>
              <a:avLst/>
              <a:gdLst>
                <a:gd name="T0" fmla="*/ 7 w 7"/>
                <a:gd name="T1" fmla="*/ 0 h 2"/>
                <a:gd name="T2" fmla="*/ 6 w 7"/>
                <a:gd name="T3" fmla="*/ 0 h 2"/>
                <a:gd name="T4" fmla="*/ 3 w 7"/>
                <a:gd name="T5" fmla="*/ 1 h 2"/>
                <a:gd name="T6" fmla="*/ 0 w 7"/>
                <a:gd name="T7" fmla="*/ 2 h 2"/>
                <a:gd name="T8" fmla="*/ 3 w 7"/>
                <a:gd name="T9" fmla="*/ 2 h 2"/>
                <a:gd name="T10" fmla="*/ 5 w 7"/>
                <a:gd name="T11" fmla="*/ 2 h 2"/>
                <a:gd name="T12" fmla="*/ 7 w 7"/>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7" h="2">
                  <a:moveTo>
                    <a:pt x="7" y="0"/>
                  </a:moveTo>
                  <a:cubicBezTo>
                    <a:pt x="7" y="0"/>
                    <a:pt x="6" y="0"/>
                    <a:pt x="6" y="0"/>
                  </a:cubicBezTo>
                  <a:cubicBezTo>
                    <a:pt x="5" y="0"/>
                    <a:pt x="3" y="1"/>
                    <a:pt x="3" y="1"/>
                  </a:cubicBezTo>
                  <a:cubicBezTo>
                    <a:pt x="0" y="2"/>
                    <a:pt x="0" y="2"/>
                    <a:pt x="0" y="2"/>
                  </a:cubicBezTo>
                  <a:cubicBezTo>
                    <a:pt x="3" y="2"/>
                    <a:pt x="3" y="2"/>
                    <a:pt x="3" y="2"/>
                  </a:cubicBezTo>
                  <a:cubicBezTo>
                    <a:pt x="5" y="2"/>
                    <a:pt x="5" y="2"/>
                    <a:pt x="5" y="2"/>
                  </a:cubicBez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04" name="Freeform 24"/>
            <p:cNvSpPr>
              <a:spLocks/>
            </p:cNvSpPr>
            <p:nvPr/>
          </p:nvSpPr>
          <p:spPr bwMode="auto">
            <a:xfrm>
              <a:off x="815" y="1140"/>
              <a:ext cx="22" cy="11"/>
            </a:xfrm>
            <a:custGeom>
              <a:avLst/>
              <a:gdLst>
                <a:gd name="T0" fmla="*/ 16 w 19"/>
                <a:gd name="T1" fmla="*/ 3 h 9"/>
                <a:gd name="T2" fmla="*/ 19 w 19"/>
                <a:gd name="T3" fmla="*/ 6 h 9"/>
                <a:gd name="T4" fmla="*/ 16 w 19"/>
                <a:gd name="T5" fmla="*/ 6 h 9"/>
                <a:gd name="T6" fmla="*/ 0 w 19"/>
                <a:gd name="T7" fmla="*/ 9 h 9"/>
                <a:gd name="T8" fmla="*/ 13 w 19"/>
                <a:gd name="T9" fmla="*/ 3 h 9"/>
                <a:gd name="T10" fmla="*/ 16 w 19"/>
                <a:gd name="T11" fmla="*/ 0 h 9"/>
                <a:gd name="T12" fmla="*/ 16 w 19"/>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19" h="9">
                  <a:moveTo>
                    <a:pt x="16" y="3"/>
                  </a:moveTo>
                  <a:lnTo>
                    <a:pt x="19" y="6"/>
                  </a:lnTo>
                  <a:lnTo>
                    <a:pt x="16" y="6"/>
                  </a:lnTo>
                  <a:lnTo>
                    <a:pt x="0" y="9"/>
                  </a:lnTo>
                  <a:lnTo>
                    <a:pt x="13" y="3"/>
                  </a:lnTo>
                  <a:lnTo>
                    <a:pt x="16" y="0"/>
                  </a:lnTo>
                  <a:lnTo>
                    <a:pt x="1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05" name="Freeform 25"/>
            <p:cNvSpPr>
              <a:spLocks/>
            </p:cNvSpPr>
            <p:nvPr/>
          </p:nvSpPr>
          <p:spPr bwMode="auto">
            <a:xfrm>
              <a:off x="825" y="1147"/>
              <a:ext cx="8" cy="8"/>
            </a:xfrm>
            <a:custGeom>
              <a:avLst/>
              <a:gdLst>
                <a:gd name="T0" fmla="*/ 1 w 2"/>
                <a:gd name="T1" fmla="*/ 2 h 2"/>
                <a:gd name="T2" fmla="*/ 2 w 2"/>
                <a:gd name="T3" fmla="*/ 0 h 2"/>
                <a:gd name="T4" fmla="*/ 0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0"/>
                  </a:cubicBezTo>
                  <a:cubicBezTo>
                    <a:pt x="0" y="1"/>
                    <a:pt x="0" y="1"/>
                    <a:pt x="0" y="1"/>
                  </a:cubicBez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06" name="Freeform 26"/>
            <p:cNvSpPr>
              <a:spLocks/>
            </p:cNvSpPr>
            <p:nvPr/>
          </p:nvSpPr>
          <p:spPr bwMode="auto">
            <a:xfrm>
              <a:off x="837" y="1172"/>
              <a:ext cx="6" cy="16"/>
            </a:xfrm>
            <a:custGeom>
              <a:avLst/>
              <a:gdLst>
                <a:gd name="T0" fmla="*/ 0 w 6"/>
                <a:gd name="T1" fmla="*/ 9 h 12"/>
                <a:gd name="T2" fmla="*/ 3 w 6"/>
                <a:gd name="T3" fmla="*/ 9 h 12"/>
                <a:gd name="T4" fmla="*/ 6 w 6"/>
                <a:gd name="T5" fmla="*/ 12 h 12"/>
                <a:gd name="T6" fmla="*/ 3 w 6"/>
                <a:gd name="T7" fmla="*/ 6 h 12"/>
                <a:gd name="T8" fmla="*/ 3 w 6"/>
                <a:gd name="T9" fmla="*/ 3 h 12"/>
                <a:gd name="T10" fmla="*/ 3 w 6"/>
                <a:gd name="T11" fmla="*/ 0 h 12"/>
                <a:gd name="T12" fmla="*/ 3 w 6"/>
                <a:gd name="T13" fmla="*/ 3 h 12"/>
                <a:gd name="T14" fmla="*/ 0 w 6"/>
                <a:gd name="T15" fmla="*/ 6 h 12"/>
                <a:gd name="T16" fmla="*/ 0 w 6"/>
                <a:gd name="T17" fmla="*/ 9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2">
                  <a:moveTo>
                    <a:pt x="0" y="9"/>
                  </a:moveTo>
                  <a:lnTo>
                    <a:pt x="3" y="9"/>
                  </a:lnTo>
                  <a:lnTo>
                    <a:pt x="6" y="12"/>
                  </a:lnTo>
                  <a:lnTo>
                    <a:pt x="3" y="6"/>
                  </a:lnTo>
                  <a:lnTo>
                    <a:pt x="3" y="3"/>
                  </a:lnTo>
                  <a:lnTo>
                    <a:pt x="3" y="0"/>
                  </a:lnTo>
                  <a:lnTo>
                    <a:pt x="3" y="3"/>
                  </a:lnTo>
                  <a:lnTo>
                    <a:pt x="0" y="6"/>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07" name="Freeform 27"/>
            <p:cNvSpPr>
              <a:spLocks/>
            </p:cNvSpPr>
            <p:nvPr/>
          </p:nvSpPr>
          <p:spPr bwMode="auto">
            <a:xfrm>
              <a:off x="772" y="1200"/>
              <a:ext cx="21" cy="38"/>
            </a:xfrm>
            <a:custGeom>
              <a:avLst/>
              <a:gdLst>
                <a:gd name="T0" fmla="*/ 0 w 6"/>
                <a:gd name="T1" fmla="*/ 0 h 9"/>
                <a:gd name="T2" fmla="*/ 6 w 6"/>
                <a:gd name="T3" fmla="*/ 9 h 9"/>
                <a:gd name="T4" fmla="*/ 0 w 6"/>
                <a:gd name="T5" fmla="*/ 4 h 9"/>
                <a:gd name="T6" fmla="*/ 0 w 6"/>
                <a:gd name="T7" fmla="*/ 0 h 9"/>
              </a:gdLst>
              <a:ahLst/>
              <a:cxnLst>
                <a:cxn ang="0">
                  <a:pos x="T0" y="T1"/>
                </a:cxn>
                <a:cxn ang="0">
                  <a:pos x="T2" y="T3"/>
                </a:cxn>
                <a:cxn ang="0">
                  <a:pos x="T4" y="T5"/>
                </a:cxn>
                <a:cxn ang="0">
                  <a:pos x="T6" y="T7"/>
                </a:cxn>
              </a:cxnLst>
              <a:rect l="0" t="0" r="r" b="b"/>
              <a:pathLst>
                <a:path w="6" h="9">
                  <a:moveTo>
                    <a:pt x="0" y="0"/>
                  </a:moveTo>
                  <a:cubicBezTo>
                    <a:pt x="0" y="0"/>
                    <a:pt x="0" y="4"/>
                    <a:pt x="6" y="9"/>
                  </a:cubicBezTo>
                  <a:cubicBezTo>
                    <a:pt x="6" y="9"/>
                    <a:pt x="1" y="5"/>
                    <a:pt x="0" y="4"/>
                  </a:cubicBezTo>
                  <a:cubicBezTo>
                    <a:pt x="0" y="2"/>
                    <a:pt x="0" y="0"/>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08" name="Freeform 28"/>
            <p:cNvSpPr>
              <a:spLocks/>
            </p:cNvSpPr>
            <p:nvPr/>
          </p:nvSpPr>
          <p:spPr bwMode="auto">
            <a:xfrm>
              <a:off x="678" y="1032"/>
              <a:ext cx="159" cy="197"/>
            </a:xfrm>
            <a:custGeom>
              <a:avLst/>
              <a:gdLst>
                <a:gd name="T0" fmla="*/ 41 w 44"/>
                <a:gd name="T1" fmla="*/ 8 h 48"/>
                <a:gd name="T2" fmla="*/ 21 w 44"/>
                <a:gd name="T3" fmla="*/ 2 h 48"/>
                <a:gd name="T4" fmla="*/ 1 w 44"/>
                <a:gd name="T5" fmla="*/ 18 h 48"/>
                <a:gd name="T6" fmla="*/ 10 w 44"/>
                <a:gd name="T7" fmla="*/ 41 h 48"/>
                <a:gd name="T8" fmla="*/ 15 w 44"/>
                <a:gd name="T9" fmla="*/ 48 h 48"/>
                <a:gd name="T10" fmla="*/ 17 w 44"/>
                <a:gd name="T11" fmla="*/ 43 h 48"/>
                <a:gd name="T12" fmla="*/ 22 w 44"/>
                <a:gd name="T13" fmla="*/ 38 h 48"/>
                <a:gd name="T14" fmla="*/ 20 w 44"/>
                <a:gd name="T15" fmla="*/ 26 h 48"/>
                <a:gd name="T16" fmla="*/ 26 w 44"/>
                <a:gd name="T17" fmla="*/ 30 h 48"/>
                <a:gd name="T18" fmla="*/ 34 w 44"/>
                <a:gd name="T19" fmla="*/ 25 h 48"/>
                <a:gd name="T20" fmla="*/ 44 w 44"/>
                <a:gd name="T21" fmla="*/ 12 h 48"/>
                <a:gd name="T22" fmla="*/ 41 w 44"/>
                <a:gd name="T23"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48">
                  <a:moveTo>
                    <a:pt x="41" y="8"/>
                  </a:moveTo>
                  <a:cubicBezTo>
                    <a:pt x="41" y="8"/>
                    <a:pt x="28" y="0"/>
                    <a:pt x="21" y="2"/>
                  </a:cubicBezTo>
                  <a:cubicBezTo>
                    <a:pt x="14" y="3"/>
                    <a:pt x="1" y="5"/>
                    <a:pt x="1" y="18"/>
                  </a:cubicBezTo>
                  <a:cubicBezTo>
                    <a:pt x="0" y="31"/>
                    <a:pt x="7" y="39"/>
                    <a:pt x="10" y="41"/>
                  </a:cubicBezTo>
                  <a:cubicBezTo>
                    <a:pt x="12" y="43"/>
                    <a:pt x="15" y="48"/>
                    <a:pt x="15" y="48"/>
                  </a:cubicBezTo>
                  <a:cubicBezTo>
                    <a:pt x="15" y="48"/>
                    <a:pt x="16" y="45"/>
                    <a:pt x="17" y="43"/>
                  </a:cubicBezTo>
                  <a:cubicBezTo>
                    <a:pt x="17" y="42"/>
                    <a:pt x="22" y="39"/>
                    <a:pt x="22" y="38"/>
                  </a:cubicBezTo>
                  <a:cubicBezTo>
                    <a:pt x="21" y="38"/>
                    <a:pt x="11" y="30"/>
                    <a:pt x="20" y="26"/>
                  </a:cubicBezTo>
                  <a:cubicBezTo>
                    <a:pt x="26" y="23"/>
                    <a:pt x="26" y="30"/>
                    <a:pt x="26" y="30"/>
                  </a:cubicBezTo>
                  <a:cubicBezTo>
                    <a:pt x="26" y="30"/>
                    <a:pt x="33" y="25"/>
                    <a:pt x="34" y="25"/>
                  </a:cubicBezTo>
                  <a:cubicBezTo>
                    <a:pt x="35" y="24"/>
                    <a:pt x="44" y="12"/>
                    <a:pt x="44" y="12"/>
                  </a:cubicBezTo>
                  <a:lnTo>
                    <a:pt x="41" y="8"/>
                  </a:lnTo>
                  <a:close/>
                </a:path>
              </a:pathLst>
            </a:custGeom>
            <a:solidFill>
              <a:srgbClr val="939598"/>
            </a:solidFill>
            <a:ln w="9525" cap="rnd">
              <a:solidFill>
                <a:srgbClr val="000000"/>
              </a:solidFill>
              <a:prstDash val="solid"/>
              <a:round/>
              <a:headEnd/>
              <a:tailEnd/>
            </a:ln>
          </p:spPr>
          <p:txBody>
            <a:bodyPr/>
            <a:lstStyle/>
            <a:p>
              <a:endParaRPr lang="en-US"/>
            </a:p>
          </p:txBody>
        </p:sp>
        <p:sp>
          <p:nvSpPr>
            <p:cNvPr id="481309" name="Freeform 29"/>
            <p:cNvSpPr>
              <a:spLocks/>
            </p:cNvSpPr>
            <p:nvPr/>
          </p:nvSpPr>
          <p:spPr bwMode="auto">
            <a:xfrm>
              <a:off x="744" y="1144"/>
              <a:ext cx="24" cy="36"/>
            </a:xfrm>
            <a:custGeom>
              <a:avLst/>
              <a:gdLst>
                <a:gd name="T0" fmla="*/ 7 w 7"/>
                <a:gd name="T1" fmla="*/ 5 h 9"/>
                <a:gd name="T2" fmla="*/ 6 w 7"/>
                <a:gd name="T3" fmla="*/ 3 h 9"/>
                <a:gd name="T4" fmla="*/ 5 w 7"/>
                <a:gd name="T5" fmla="*/ 0 h 9"/>
                <a:gd name="T6" fmla="*/ 1 w 7"/>
                <a:gd name="T7" fmla="*/ 1 h 9"/>
                <a:gd name="T8" fmla="*/ 0 w 7"/>
                <a:gd name="T9" fmla="*/ 3 h 9"/>
                <a:gd name="T10" fmla="*/ 0 w 7"/>
                <a:gd name="T11" fmla="*/ 5 h 9"/>
                <a:gd name="T12" fmla="*/ 1 w 7"/>
                <a:gd name="T13" fmla="*/ 7 h 9"/>
                <a:gd name="T14" fmla="*/ 0 w 7"/>
                <a:gd name="T15" fmla="*/ 3 h 9"/>
                <a:gd name="T16" fmla="*/ 2 w 7"/>
                <a:gd name="T17" fmla="*/ 1 h 9"/>
                <a:gd name="T18" fmla="*/ 4 w 7"/>
                <a:gd name="T19" fmla="*/ 0 h 9"/>
                <a:gd name="T20" fmla="*/ 5 w 7"/>
                <a:gd name="T21" fmla="*/ 1 h 9"/>
                <a:gd name="T22" fmla="*/ 5 w 7"/>
                <a:gd name="T23" fmla="*/ 2 h 9"/>
                <a:gd name="T24" fmla="*/ 4 w 7"/>
                <a:gd name="T25" fmla="*/ 3 h 9"/>
                <a:gd name="T26" fmla="*/ 3 w 7"/>
                <a:gd name="T27" fmla="*/ 5 h 9"/>
                <a:gd name="T28" fmla="*/ 3 w 7"/>
                <a:gd name="T29" fmla="*/ 6 h 9"/>
                <a:gd name="T30" fmla="*/ 4 w 7"/>
                <a:gd name="T31" fmla="*/ 7 h 9"/>
                <a:gd name="T32" fmla="*/ 4 w 7"/>
                <a:gd name="T33" fmla="*/ 5 h 9"/>
                <a:gd name="T34" fmla="*/ 4 w 7"/>
                <a:gd name="T35" fmla="*/ 4 h 9"/>
                <a:gd name="T36" fmla="*/ 5 w 7"/>
                <a:gd name="T37" fmla="*/ 4 h 9"/>
                <a:gd name="T38" fmla="*/ 5 w 7"/>
                <a:gd name="T39" fmla="*/ 4 h 9"/>
                <a:gd name="T40" fmla="*/ 6 w 7"/>
                <a:gd name="T41" fmla="*/ 5 h 9"/>
                <a:gd name="T42" fmla="*/ 7 w 7"/>
                <a:gd name="T43" fmla="*/ 6 h 9"/>
                <a:gd name="T44" fmla="*/ 6 w 7"/>
                <a:gd name="T45" fmla="*/ 7 h 9"/>
                <a:gd name="T46" fmla="*/ 5 w 7"/>
                <a:gd name="T47" fmla="*/ 7 h 9"/>
                <a:gd name="T48" fmla="*/ 6 w 7"/>
                <a:gd name="T49" fmla="*/ 9 h 9"/>
                <a:gd name="T50" fmla="*/ 6 w 7"/>
                <a:gd name="T51" fmla="*/ 9 h 9"/>
                <a:gd name="T52" fmla="*/ 6 w 7"/>
                <a:gd name="T53" fmla="*/ 7 h 9"/>
                <a:gd name="T54" fmla="*/ 7 w 7"/>
                <a:gd name="T55" fmla="*/ 6 h 9"/>
                <a:gd name="T56" fmla="*/ 7 w 7"/>
                <a:gd name="T57"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 h="9">
                  <a:moveTo>
                    <a:pt x="7" y="5"/>
                  </a:moveTo>
                  <a:cubicBezTo>
                    <a:pt x="7" y="5"/>
                    <a:pt x="6" y="5"/>
                    <a:pt x="6" y="3"/>
                  </a:cubicBezTo>
                  <a:cubicBezTo>
                    <a:pt x="6" y="1"/>
                    <a:pt x="6" y="1"/>
                    <a:pt x="5" y="0"/>
                  </a:cubicBezTo>
                  <a:cubicBezTo>
                    <a:pt x="5" y="0"/>
                    <a:pt x="3" y="0"/>
                    <a:pt x="1" y="1"/>
                  </a:cubicBezTo>
                  <a:cubicBezTo>
                    <a:pt x="0" y="2"/>
                    <a:pt x="0" y="3"/>
                    <a:pt x="0" y="3"/>
                  </a:cubicBezTo>
                  <a:cubicBezTo>
                    <a:pt x="0" y="3"/>
                    <a:pt x="0" y="4"/>
                    <a:pt x="0" y="5"/>
                  </a:cubicBezTo>
                  <a:cubicBezTo>
                    <a:pt x="1" y="5"/>
                    <a:pt x="1" y="7"/>
                    <a:pt x="1" y="7"/>
                  </a:cubicBezTo>
                  <a:cubicBezTo>
                    <a:pt x="1" y="7"/>
                    <a:pt x="0" y="4"/>
                    <a:pt x="0" y="3"/>
                  </a:cubicBezTo>
                  <a:cubicBezTo>
                    <a:pt x="0" y="3"/>
                    <a:pt x="1" y="1"/>
                    <a:pt x="2" y="1"/>
                  </a:cubicBezTo>
                  <a:cubicBezTo>
                    <a:pt x="3" y="1"/>
                    <a:pt x="4" y="0"/>
                    <a:pt x="4" y="0"/>
                  </a:cubicBezTo>
                  <a:cubicBezTo>
                    <a:pt x="5" y="1"/>
                    <a:pt x="5" y="1"/>
                    <a:pt x="5" y="1"/>
                  </a:cubicBezTo>
                  <a:cubicBezTo>
                    <a:pt x="5" y="1"/>
                    <a:pt x="5" y="2"/>
                    <a:pt x="5" y="2"/>
                  </a:cubicBezTo>
                  <a:cubicBezTo>
                    <a:pt x="5" y="3"/>
                    <a:pt x="5" y="3"/>
                    <a:pt x="4" y="3"/>
                  </a:cubicBezTo>
                  <a:cubicBezTo>
                    <a:pt x="4" y="4"/>
                    <a:pt x="4" y="4"/>
                    <a:pt x="3" y="5"/>
                  </a:cubicBezTo>
                  <a:cubicBezTo>
                    <a:pt x="3" y="5"/>
                    <a:pt x="3" y="5"/>
                    <a:pt x="3" y="6"/>
                  </a:cubicBezTo>
                  <a:cubicBezTo>
                    <a:pt x="4" y="6"/>
                    <a:pt x="4" y="7"/>
                    <a:pt x="4" y="7"/>
                  </a:cubicBezTo>
                  <a:cubicBezTo>
                    <a:pt x="4" y="7"/>
                    <a:pt x="4" y="6"/>
                    <a:pt x="4" y="5"/>
                  </a:cubicBezTo>
                  <a:cubicBezTo>
                    <a:pt x="4" y="5"/>
                    <a:pt x="4" y="4"/>
                    <a:pt x="4" y="4"/>
                  </a:cubicBezTo>
                  <a:cubicBezTo>
                    <a:pt x="4" y="4"/>
                    <a:pt x="5" y="4"/>
                    <a:pt x="5" y="4"/>
                  </a:cubicBezTo>
                  <a:cubicBezTo>
                    <a:pt x="5" y="4"/>
                    <a:pt x="5" y="4"/>
                    <a:pt x="5" y="4"/>
                  </a:cubicBezTo>
                  <a:cubicBezTo>
                    <a:pt x="5" y="4"/>
                    <a:pt x="5" y="5"/>
                    <a:pt x="6" y="5"/>
                  </a:cubicBezTo>
                  <a:cubicBezTo>
                    <a:pt x="6" y="5"/>
                    <a:pt x="7" y="6"/>
                    <a:pt x="7" y="6"/>
                  </a:cubicBezTo>
                  <a:cubicBezTo>
                    <a:pt x="6" y="7"/>
                    <a:pt x="6" y="7"/>
                    <a:pt x="6" y="7"/>
                  </a:cubicBezTo>
                  <a:cubicBezTo>
                    <a:pt x="6" y="7"/>
                    <a:pt x="5" y="7"/>
                    <a:pt x="5" y="7"/>
                  </a:cubicBezTo>
                  <a:cubicBezTo>
                    <a:pt x="5" y="8"/>
                    <a:pt x="6" y="8"/>
                    <a:pt x="6" y="9"/>
                  </a:cubicBezTo>
                  <a:cubicBezTo>
                    <a:pt x="6" y="9"/>
                    <a:pt x="6" y="9"/>
                    <a:pt x="6" y="9"/>
                  </a:cubicBezTo>
                  <a:cubicBezTo>
                    <a:pt x="6" y="9"/>
                    <a:pt x="6" y="8"/>
                    <a:pt x="6" y="7"/>
                  </a:cubicBezTo>
                  <a:cubicBezTo>
                    <a:pt x="6" y="7"/>
                    <a:pt x="6" y="7"/>
                    <a:pt x="7" y="6"/>
                  </a:cubicBezTo>
                  <a:cubicBezTo>
                    <a:pt x="7" y="6"/>
                    <a:pt x="7" y="5"/>
                    <a:pt x="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10" name="Freeform 30"/>
            <p:cNvSpPr>
              <a:spLocks/>
            </p:cNvSpPr>
            <p:nvPr/>
          </p:nvSpPr>
          <p:spPr bwMode="auto">
            <a:xfrm>
              <a:off x="751" y="1172"/>
              <a:ext cx="10" cy="4"/>
            </a:xfrm>
            <a:custGeom>
              <a:avLst/>
              <a:gdLst>
                <a:gd name="T0" fmla="*/ 0 w 3"/>
                <a:gd name="T1" fmla="*/ 1 h 1"/>
                <a:gd name="T2" fmla="*/ 1 w 3"/>
                <a:gd name="T3" fmla="*/ 0 h 1"/>
                <a:gd name="T4" fmla="*/ 2 w 3"/>
                <a:gd name="T5" fmla="*/ 0 h 1"/>
                <a:gd name="T6" fmla="*/ 3 w 3"/>
                <a:gd name="T7" fmla="*/ 1 h 1"/>
                <a:gd name="T8" fmla="*/ 3 w 3"/>
                <a:gd name="T9" fmla="*/ 0 h 1"/>
                <a:gd name="T10" fmla="*/ 2 w 3"/>
                <a:gd name="T11" fmla="*/ 0 h 1"/>
                <a:gd name="T12" fmla="*/ 1 w 3"/>
                <a:gd name="T13" fmla="*/ 0 h 1"/>
                <a:gd name="T14" fmla="*/ 0 w 3"/>
                <a:gd name="T15" fmla="*/ 0 h 1"/>
                <a:gd name="T16" fmla="*/ 0 w 3"/>
                <a:gd name="T17"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
                  <a:moveTo>
                    <a:pt x="0" y="1"/>
                  </a:moveTo>
                  <a:cubicBezTo>
                    <a:pt x="0" y="1"/>
                    <a:pt x="1" y="1"/>
                    <a:pt x="1" y="0"/>
                  </a:cubicBezTo>
                  <a:cubicBezTo>
                    <a:pt x="1" y="0"/>
                    <a:pt x="2" y="0"/>
                    <a:pt x="2" y="0"/>
                  </a:cubicBezTo>
                  <a:cubicBezTo>
                    <a:pt x="2" y="0"/>
                    <a:pt x="3" y="1"/>
                    <a:pt x="3" y="1"/>
                  </a:cubicBezTo>
                  <a:cubicBezTo>
                    <a:pt x="3" y="1"/>
                    <a:pt x="3" y="0"/>
                    <a:pt x="3" y="0"/>
                  </a:cubicBezTo>
                  <a:cubicBezTo>
                    <a:pt x="3" y="0"/>
                    <a:pt x="2" y="0"/>
                    <a:pt x="2" y="0"/>
                  </a:cubicBezTo>
                  <a:cubicBezTo>
                    <a:pt x="2" y="0"/>
                    <a:pt x="1" y="0"/>
                    <a:pt x="1" y="0"/>
                  </a:cubicBezTo>
                  <a:cubicBezTo>
                    <a:pt x="1" y="0"/>
                    <a:pt x="0" y="0"/>
                    <a:pt x="0" y="0"/>
                  </a:cubicBez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1311" name="Freeform 31"/>
            <p:cNvSpPr>
              <a:spLocks/>
            </p:cNvSpPr>
            <p:nvPr/>
          </p:nvSpPr>
          <p:spPr bwMode="auto">
            <a:xfrm>
              <a:off x="862" y="1213"/>
              <a:ext cx="268" cy="205"/>
            </a:xfrm>
            <a:custGeom>
              <a:avLst/>
              <a:gdLst>
                <a:gd name="T0" fmla="*/ 3 w 75"/>
                <a:gd name="T1" fmla="*/ 32 h 50"/>
                <a:gd name="T2" fmla="*/ 16 w 75"/>
                <a:gd name="T3" fmla="*/ 34 h 50"/>
                <a:gd name="T4" fmla="*/ 30 w 75"/>
                <a:gd name="T5" fmla="*/ 25 h 50"/>
                <a:gd name="T6" fmla="*/ 42 w 75"/>
                <a:gd name="T7" fmla="*/ 17 h 50"/>
                <a:gd name="T8" fmla="*/ 45 w 75"/>
                <a:gd name="T9" fmla="*/ 13 h 50"/>
                <a:gd name="T10" fmla="*/ 55 w 75"/>
                <a:gd name="T11" fmla="*/ 4 h 50"/>
                <a:gd name="T12" fmla="*/ 58 w 75"/>
                <a:gd name="T13" fmla="*/ 0 h 50"/>
                <a:gd name="T14" fmla="*/ 59 w 75"/>
                <a:gd name="T15" fmla="*/ 2 h 50"/>
                <a:gd name="T16" fmla="*/ 56 w 75"/>
                <a:gd name="T17" fmla="*/ 7 h 50"/>
                <a:gd name="T18" fmla="*/ 55 w 75"/>
                <a:gd name="T19" fmla="*/ 10 h 50"/>
                <a:gd name="T20" fmla="*/ 59 w 75"/>
                <a:gd name="T21" fmla="*/ 9 h 50"/>
                <a:gd name="T22" fmla="*/ 63 w 75"/>
                <a:gd name="T23" fmla="*/ 8 h 50"/>
                <a:gd name="T24" fmla="*/ 69 w 75"/>
                <a:gd name="T25" fmla="*/ 7 h 50"/>
                <a:gd name="T26" fmla="*/ 74 w 75"/>
                <a:gd name="T27" fmla="*/ 6 h 50"/>
                <a:gd name="T28" fmla="*/ 75 w 75"/>
                <a:gd name="T29" fmla="*/ 9 h 50"/>
                <a:gd name="T30" fmla="*/ 69 w 75"/>
                <a:gd name="T31" fmla="*/ 11 h 50"/>
                <a:gd name="T32" fmla="*/ 66 w 75"/>
                <a:gd name="T33" fmla="*/ 12 h 50"/>
                <a:gd name="T34" fmla="*/ 68 w 75"/>
                <a:gd name="T35" fmla="*/ 15 h 50"/>
                <a:gd name="T36" fmla="*/ 66 w 75"/>
                <a:gd name="T37" fmla="*/ 18 h 50"/>
                <a:gd name="T38" fmla="*/ 68 w 75"/>
                <a:gd name="T39" fmla="*/ 22 h 50"/>
                <a:gd name="T40" fmla="*/ 64 w 75"/>
                <a:gd name="T41" fmla="*/ 26 h 50"/>
                <a:gd name="T42" fmla="*/ 56 w 75"/>
                <a:gd name="T43" fmla="*/ 25 h 50"/>
                <a:gd name="T44" fmla="*/ 51 w 75"/>
                <a:gd name="T45" fmla="*/ 25 h 50"/>
                <a:gd name="T46" fmla="*/ 48 w 75"/>
                <a:gd name="T47" fmla="*/ 25 h 50"/>
                <a:gd name="T48" fmla="*/ 31 w 75"/>
                <a:gd name="T49" fmla="*/ 42 h 50"/>
                <a:gd name="T50" fmla="*/ 28 w 75"/>
                <a:gd name="T51" fmla="*/ 46 h 50"/>
                <a:gd name="T52" fmla="*/ 26 w 75"/>
                <a:gd name="T53" fmla="*/ 49 h 50"/>
                <a:gd name="T54" fmla="*/ 15 w 75"/>
                <a:gd name="T55" fmla="*/ 50 h 50"/>
                <a:gd name="T56" fmla="*/ 0 w 75"/>
                <a:gd name="T57" fmla="*/ 49 h 50"/>
                <a:gd name="T58" fmla="*/ 3 w 75"/>
                <a:gd name="T59"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5" h="50">
                  <a:moveTo>
                    <a:pt x="3" y="32"/>
                  </a:moveTo>
                  <a:cubicBezTo>
                    <a:pt x="3" y="32"/>
                    <a:pt x="15" y="34"/>
                    <a:pt x="16" y="34"/>
                  </a:cubicBezTo>
                  <a:cubicBezTo>
                    <a:pt x="17" y="34"/>
                    <a:pt x="27" y="28"/>
                    <a:pt x="30" y="25"/>
                  </a:cubicBezTo>
                  <a:cubicBezTo>
                    <a:pt x="34" y="22"/>
                    <a:pt x="42" y="17"/>
                    <a:pt x="42" y="17"/>
                  </a:cubicBezTo>
                  <a:cubicBezTo>
                    <a:pt x="45" y="13"/>
                    <a:pt x="45" y="13"/>
                    <a:pt x="45" y="13"/>
                  </a:cubicBezTo>
                  <a:cubicBezTo>
                    <a:pt x="45" y="13"/>
                    <a:pt x="54" y="5"/>
                    <a:pt x="55" y="4"/>
                  </a:cubicBezTo>
                  <a:cubicBezTo>
                    <a:pt x="56" y="3"/>
                    <a:pt x="58" y="0"/>
                    <a:pt x="58" y="0"/>
                  </a:cubicBezTo>
                  <a:cubicBezTo>
                    <a:pt x="59" y="2"/>
                    <a:pt x="59" y="2"/>
                    <a:pt x="59" y="2"/>
                  </a:cubicBezTo>
                  <a:cubicBezTo>
                    <a:pt x="59" y="2"/>
                    <a:pt x="57" y="6"/>
                    <a:pt x="56" y="7"/>
                  </a:cubicBezTo>
                  <a:cubicBezTo>
                    <a:pt x="55" y="9"/>
                    <a:pt x="55" y="10"/>
                    <a:pt x="55" y="10"/>
                  </a:cubicBezTo>
                  <a:cubicBezTo>
                    <a:pt x="59" y="9"/>
                    <a:pt x="59" y="9"/>
                    <a:pt x="59" y="9"/>
                  </a:cubicBezTo>
                  <a:cubicBezTo>
                    <a:pt x="59" y="9"/>
                    <a:pt x="62" y="8"/>
                    <a:pt x="63" y="8"/>
                  </a:cubicBezTo>
                  <a:cubicBezTo>
                    <a:pt x="64" y="8"/>
                    <a:pt x="69" y="7"/>
                    <a:pt x="69" y="7"/>
                  </a:cubicBezTo>
                  <a:cubicBezTo>
                    <a:pt x="74" y="6"/>
                    <a:pt x="74" y="6"/>
                    <a:pt x="74" y="6"/>
                  </a:cubicBezTo>
                  <a:cubicBezTo>
                    <a:pt x="75" y="9"/>
                    <a:pt x="75" y="9"/>
                    <a:pt x="75" y="9"/>
                  </a:cubicBezTo>
                  <a:cubicBezTo>
                    <a:pt x="75" y="9"/>
                    <a:pt x="71" y="10"/>
                    <a:pt x="69" y="11"/>
                  </a:cubicBezTo>
                  <a:cubicBezTo>
                    <a:pt x="68" y="11"/>
                    <a:pt x="66" y="12"/>
                    <a:pt x="66" y="12"/>
                  </a:cubicBezTo>
                  <a:cubicBezTo>
                    <a:pt x="68" y="15"/>
                    <a:pt x="68" y="15"/>
                    <a:pt x="68" y="15"/>
                  </a:cubicBezTo>
                  <a:cubicBezTo>
                    <a:pt x="66" y="18"/>
                    <a:pt x="66" y="18"/>
                    <a:pt x="66" y="18"/>
                  </a:cubicBezTo>
                  <a:cubicBezTo>
                    <a:pt x="68" y="22"/>
                    <a:pt x="68" y="22"/>
                    <a:pt x="68" y="22"/>
                  </a:cubicBezTo>
                  <a:cubicBezTo>
                    <a:pt x="64" y="26"/>
                    <a:pt x="64" y="26"/>
                    <a:pt x="64" y="26"/>
                  </a:cubicBezTo>
                  <a:cubicBezTo>
                    <a:pt x="64" y="26"/>
                    <a:pt x="58" y="25"/>
                    <a:pt x="56" y="25"/>
                  </a:cubicBezTo>
                  <a:cubicBezTo>
                    <a:pt x="56" y="25"/>
                    <a:pt x="51" y="25"/>
                    <a:pt x="51" y="25"/>
                  </a:cubicBezTo>
                  <a:cubicBezTo>
                    <a:pt x="48" y="25"/>
                    <a:pt x="48" y="25"/>
                    <a:pt x="48" y="25"/>
                  </a:cubicBezTo>
                  <a:cubicBezTo>
                    <a:pt x="48" y="25"/>
                    <a:pt x="32" y="40"/>
                    <a:pt x="31" y="42"/>
                  </a:cubicBezTo>
                  <a:cubicBezTo>
                    <a:pt x="30" y="43"/>
                    <a:pt x="28" y="46"/>
                    <a:pt x="28" y="46"/>
                  </a:cubicBezTo>
                  <a:cubicBezTo>
                    <a:pt x="28" y="46"/>
                    <a:pt x="27" y="48"/>
                    <a:pt x="26" y="49"/>
                  </a:cubicBezTo>
                  <a:cubicBezTo>
                    <a:pt x="25" y="49"/>
                    <a:pt x="15" y="50"/>
                    <a:pt x="15" y="50"/>
                  </a:cubicBezTo>
                  <a:cubicBezTo>
                    <a:pt x="14" y="50"/>
                    <a:pt x="0" y="49"/>
                    <a:pt x="0" y="49"/>
                  </a:cubicBezTo>
                  <a:lnTo>
                    <a:pt x="3" y="32"/>
                  </a:lnTo>
                  <a:close/>
                </a:path>
              </a:pathLst>
            </a:custGeom>
            <a:solidFill>
              <a:srgbClr val="FFFFFF"/>
            </a:solidFill>
            <a:ln w="9525" cap="rnd">
              <a:solidFill>
                <a:srgbClr val="000000"/>
              </a:solidFill>
              <a:prstDash val="solid"/>
              <a:round/>
              <a:headEnd/>
              <a:tailEnd/>
            </a:ln>
          </p:spPr>
          <p:txBody>
            <a:bodyPr/>
            <a:lstStyle/>
            <a:p>
              <a:endParaRPr lang="en-US"/>
            </a:p>
          </p:txBody>
        </p:sp>
        <p:sp>
          <p:nvSpPr>
            <p:cNvPr id="481312" name="Freeform 32"/>
            <p:cNvSpPr>
              <a:spLocks/>
            </p:cNvSpPr>
            <p:nvPr/>
          </p:nvSpPr>
          <p:spPr bwMode="auto">
            <a:xfrm>
              <a:off x="646" y="2137"/>
              <a:ext cx="73" cy="99"/>
            </a:xfrm>
            <a:custGeom>
              <a:avLst/>
              <a:gdLst>
                <a:gd name="T0" fmla="*/ 5 w 20"/>
                <a:gd name="T1" fmla="*/ 2 h 24"/>
                <a:gd name="T2" fmla="*/ 2 w 20"/>
                <a:gd name="T3" fmla="*/ 16 h 24"/>
                <a:gd name="T4" fmla="*/ 2 w 20"/>
                <a:gd name="T5" fmla="*/ 24 h 24"/>
                <a:gd name="T6" fmla="*/ 19 w 20"/>
                <a:gd name="T7" fmla="*/ 21 h 24"/>
                <a:gd name="T8" fmla="*/ 19 w 20"/>
                <a:gd name="T9" fmla="*/ 15 h 24"/>
                <a:gd name="T10" fmla="*/ 20 w 20"/>
                <a:gd name="T11" fmla="*/ 0 h 24"/>
                <a:gd name="T12" fmla="*/ 5 w 20"/>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0" h="24">
                  <a:moveTo>
                    <a:pt x="5" y="2"/>
                  </a:moveTo>
                  <a:cubicBezTo>
                    <a:pt x="5" y="2"/>
                    <a:pt x="4" y="11"/>
                    <a:pt x="2" y="16"/>
                  </a:cubicBezTo>
                  <a:cubicBezTo>
                    <a:pt x="0" y="21"/>
                    <a:pt x="2" y="24"/>
                    <a:pt x="2" y="24"/>
                  </a:cubicBezTo>
                  <a:cubicBezTo>
                    <a:pt x="19" y="21"/>
                    <a:pt x="19" y="21"/>
                    <a:pt x="19" y="21"/>
                  </a:cubicBezTo>
                  <a:cubicBezTo>
                    <a:pt x="19" y="15"/>
                    <a:pt x="19" y="15"/>
                    <a:pt x="19" y="15"/>
                  </a:cubicBezTo>
                  <a:cubicBezTo>
                    <a:pt x="20" y="0"/>
                    <a:pt x="20" y="0"/>
                    <a:pt x="20" y="0"/>
                  </a:cubicBezTo>
                  <a:lnTo>
                    <a:pt x="5" y="2"/>
                  </a:lnTo>
                  <a:close/>
                </a:path>
              </a:pathLst>
            </a:custGeom>
            <a:solidFill>
              <a:srgbClr val="FFFFFF"/>
            </a:solidFill>
            <a:ln w="14288" cap="rnd">
              <a:solidFill>
                <a:srgbClr val="76787B"/>
              </a:solidFill>
              <a:prstDash val="solid"/>
              <a:round/>
              <a:headEnd/>
              <a:tailEnd/>
            </a:ln>
          </p:spPr>
          <p:txBody>
            <a:bodyPr/>
            <a:lstStyle/>
            <a:p>
              <a:endParaRPr lang="en-US"/>
            </a:p>
          </p:txBody>
        </p:sp>
        <p:sp>
          <p:nvSpPr>
            <p:cNvPr id="481313" name="Freeform 33"/>
            <p:cNvSpPr>
              <a:spLocks/>
            </p:cNvSpPr>
            <p:nvPr/>
          </p:nvSpPr>
          <p:spPr bwMode="auto">
            <a:xfrm>
              <a:off x="600" y="2216"/>
              <a:ext cx="179" cy="66"/>
            </a:xfrm>
            <a:custGeom>
              <a:avLst/>
              <a:gdLst>
                <a:gd name="T0" fmla="*/ 68 w 156"/>
                <a:gd name="T1" fmla="*/ 3 h 50"/>
                <a:gd name="T2" fmla="*/ 87 w 156"/>
                <a:gd name="T3" fmla="*/ 9 h 50"/>
                <a:gd name="T4" fmla="*/ 115 w 156"/>
                <a:gd name="T5" fmla="*/ 22 h 50"/>
                <a:gd name="T6" fmla="*/ 156 w 156"/>
                <a:gd name="T7" fmla="*/ 34 h 50"/>
                <a:gd name="T8" fmla="*/ 156 w 156"/>
                <a:gd name="T9" fmla="*/ 50 h 50"/>
                <a:gd name="T10" fmla="*/ 21 w 156"/>
                <a:gd name="T11" fmla="*/ 50 h 50"/>
                <a:gd name="T12" fmla="*/ 9 w 156"/>
                <a:gd name="T13" fmla="*/ 50 h 50"/>
                <a:gd name="T14" fmla="*/ 0 w 156"/>
                <a:gd name="T15" fmla="*/ 25 h 50"/>
                <a:gd name="T16" fmla="*/ 3 w 156"/>
                <a:gd name="T17" fmla="*/ 0 h 50"/>
                <a:gd name="T18" fmla="*/ 25 w 156"/>
                <a:gd name="T19" fmla="*/ 3 h 50"/>
                <a:gd name="T20" fmla="*/ 50 w 156"/>
                <a:gd name="T21" fmla="*/ 12 h 50"/>
                <a:gd name="T22" fmla="*/ 68 w 156"/>
                <a:gd name="T23" fmla="*/ 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6" h="50">
                  <a:moveTo>
                    <a:pt x="68" y="3"/>
                  </a:moveTo>
                  <a:lnTo>
                    <a:pt x="87" y="9"/>
                  </a:lnTo>
                  <a:lnTo>
                    <a:pt x="115" y="22"/>
                  </a:lnTo>
                  <a:lnTo>
                    <a:pt x="156" y="34"/>
                  </a:lnTo>
                  <a:lnTo>
                    <a:pt x="156" y="50"/>
                  </a:lnTo>
                  <a:lnTo>
                    <a:pt x="21" y="50"/>
                  </a:lnTo>
                  <a:lnTo>
                    <a:pt x="9" y="50"/>
                  </a:lnTo>
                  <a:lnTo>
                    <a:pt x="0" y="25"/>
                  </a:lnTo>
                  <a:lnTo>
                    <a:pt x="3" y="0"/>
                  </a:lnTo>
                  <a:lnTo>
                    <a:pt x="25" y="3"/>
                  </a:lnTo>
                  <a:lnTo>
                    <a:pt x="50" y="12"/>
                  </a:lnTo>
                  <a:lnTo>
                    <a:pt x="68" y="3"/>
                  </a:lnTo>
                  <a:close/>
                </a:path>
              </a:pathLst>
            </a:custGeom>
            <a:solidFill>
              <a:srgbClr val="94B9E2"/>
            </a:solidFill>
            <a:ln w="14288" cap="rnd">
              <a:solidFill>
                <a:srgbClr val="000000"/>
              </a:solidFill>
              <a:prstDash val="solid"/>
              <a:round/>
              <a:headEnd/>
              <a:tailEnd/>
            </a:ln>
          </p:spPr>
          <p:txBody>
            <a:bodyPr/>
            <a:lstStyle/>
            <a:p>
              <a:endParaRPr lang="en-US"/>
            </a:p>
          </p:txBody>
        </p:sp>
        <p:sp>
          <p:nvSpPr>
            <p:cNvPr id="481314" name="Freeform 34"/>
            <p:cNvSpPr>
              <a:spLocks/>
            </p:cNvSpPr>
            <p:nvPr/>
          </p:nvSpPr>
          <p:spPr bwMode="auto">
            <a:xfrm>
              <a:off x="643" y="2216"/>
              <a:ext cx="179" cy="66"/>
            </a:xfrm>
            <a:custGeom>
              <a:avLst/>
              <a:gdLst>
                <a:gd name="T0" fmla="*/ 72 w 156"/>
                <a:gd name="T1" fmla="*/ 3 h 50"/>
                <a:gd name="T2" fmla="*/ 88 w 156"/>
                <a:gd name="T3" fmla="*/ 9 h 50"/>
                <a:gd name="T4" fmla="*/ 116 w 156"/>
                <a:gd name="T5" fmla="*/ 22 h 50"/>
                <a:gd name="T6" fmla="*/ 156 w 156"/>
                <a:gd name="T7" fmla="*/ 34 h 50"/>
                <a:gd name="T8" fmla="*/ 156 w 156"/>
                <a:gd name="T9" fmla="*/ 50 h 50"/>
                <a:gd name="T10" fmla="*/ 25 w 156"/>
                <a:gd name="T11" fmla="*/ 50 h 50"/>
                <a:gd name="T12" fmla="*/ 9 w 156"/>
                <a:gd name="T13" fmla="*/ 50 h 50"/>
                <a:gd name="T14" fmla="*/ 0 w 156"/>
                <a:gd name="T15" fmla="*/ 25 h 50"/>
                <a:gd name="T16" fmla="*/ 3 w 156"/>
                <a:gd name="T17" fmla="*/ 0 h 50"/>
                <a:gd name="T18" fmla="*/ 25 w 156"/>
                <a:gd name="T19" fmla="*/ 3 h 50"/>
                <a:gd name="T20" fmla="*/ 50 w 156"/>
                <a:gd name="T21" fmla="*/ 12 h 50"/>
                <a:gd name="T22" fmla="*/ 72 w 156"/>
                <a:gd name="T23" fmla="*/ 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6" h="50">
                  <a:moveTo>
                    <a:pt x="72" y="3"/>
                  </a:moveTo>
                  <a:lnTo>
                    <a:pt x="88" y="9"/>
                  </a:lnTo>
                  <a:lnTo>
                    <a:pt x="116" y="22"/>
                  </a:lnTo>
                  <a:lnTo>
                    <a:pt x="156" y="34"/>
                  </a:lnTo>
                  <a:lnTo>
                    <a:pt x="156" y="50"/>
                  </a:lnTo>
                  <a:lnTo>
                    <a:pt x="25" y="50"/>
                  </a:lnTo>
                  <a:lnTo>
                    <a:pt x="9" y="50"/>
                  </a:lnTo>
                  <a:lnTo>
                    <a:pt x="0" y="25"/>
                  </a:lnTo>
                  <a:lnTo>
                    <a:pt x="3" y="0"/>
                  </a:lnTo>
                  <a:lnTo>
                    <a:pt x="25" y="3"/>
                  </a:lnTo>
                  <a:lnTo>
                    <a:pt x="50" y="12"/>
                  </a:lnTo>
                  <a:lnTo>
                    <a:pt x="72" y="3"/>
                  </a:lnTo>
                  <a:close/>
                </a:path>
              </a:pathLst>
            </a:custGeom>
            <a:solidFill>
              <a:srgbClr val="94B9E2"/>
            </a:solidFill>
            <a:ln w="14288" cap="rnd">
              <a:solidFill>
                <a:srgbClr val="000000"/>
              </a:solidFill>
              <a:prstDash val="solid"/>
              <a:round/>
              <a:headEnd/>
              <a:tailEnd/>
            </a:ln>
          </p:spPr>
          <p:txBody>
            <a:bodyPr/>
            <a:lstStyle/>
            <a:p>
              <a:endParaRPr lang="en-US"/>
            </a:p>
          </p:txBody>
        </p:sp>
        <p:sp>
          <p:nvSpPr>
            <p:cNvPr id="481315" name="Freeform 35"/>
            <p:cNvSpPr>
              <a:spLocks/>
            </p:cNvSpPr>
            <p:nvPr/>
          </p:nvSpPr>
          <p:spPr bwMode="auto">
            <a:xfrm>
              <a:off x="589" y="1575"/>
              <a:ext cx="197" cy="665"/>
            </a:xfrm>
            <a:custGeom>
              <a:avLst/>
              <a:gdLst>
                <a:gd name="T0" fmla="*/ 55 w 55"/>
                <a:gd name="T1" fmla="*/ 14 h 162"/>
                <a:gd name="T2" fmla="*/ 49 w 55"/>
                <a:gd name="T3" fmla="*/ 61 h 162"/>
                <a:gd name="T4" fmla="*/ 46 w 55"/>
                <a:gd name="T5" fmla="*/ 81 h 162"/>
                <a:gd name="T6" fmla="*/ 42 w 55"/>
                <a:gd name="T7" fmla="*/ 104 h 162"/>
                <a:gd name="T8" fmla="*/ 37 w 55"/>
                <a:gd name="T9" fmla="*/ 125 h 162"/>
                <a:gd name="T10" fmla="*/ 34 w 55"/>
                <a:gd name="T11" fmla="*/ 147 h 162"/>
                <a:gd name="T12" fmla="*/ 33 w 55"/>
                <a:gd name="T13" fmla="*/ 155 h 162"/>
                <a:gd name="T14" fmla="*/ 34 w 55"/>
                <a:gd name="T15" fmla="*/ 160 h 162"/>
                <a:gd name="T16" fmla="*/ 14 w 55"/>
                <a:gd name="T17" fmla="*/ 160 h 162"/>
                <a:gd name="T18" fmla="*/ 0 w 55"/>
                <a:gd name="T19" fmla="*/ 153 h 162"/>
                <a:gd name="T20" fmla="*/ 4 w 55"/>
                <a:gd name="T21" fmla="*/ 140 h 162"/>
                <a:gd name="T22" fmla="*/ 8 w 55"/>
                <a:gd name="T23" fmla="*/ 127 h 162"/>
                <a:gd name="T24" fmla="*/ 12 w 55"/>
                <a:gd name="T25" fmla="*/ 90 h 162"/>
                <a:gd name="T26" fmla="*/ 18 w 55"/>
                <a:gd name="T27" fmla="*/ 89 h 162"/>
                <a:gd name="T28" fmla="*/ 12 w 55"/>
                <a:gd name="T29" fmla="*/ 87 h 162"/>
                <a:gd name="T30" fmla="*/ 14 w 55"/>
                <a:gd name="T31" fmla="*/ 62 h 162"/>
                <a:gd name="T32" fmla="*/ 15 w 55"/>
                <a:gd name="T33" fmla="*/ 41 h 162"/>
                <a:gd name="T34" fmla="*/ 11 w 55"/>
                <a:gd name="T35" fmla="*/ 31 h 162"/>
                <a:gd name="T36" fmla="*/ 11 w 55"/>
                <a:gd name="T37" fmla="*/ 13 h 162"/>
                <a:gd name="T38" fmla="*/ 26 w 55"/>
                <a:gd name="T39" fmla="*/ 6 h 162"/>
                <a:gd name="T40" fmla="*/ 55 w 55"/>
                <a:gd name="T41" fmla="*/ 14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 h="162">
                  <a:moveTo>
                    <a:pt x="55" y="14"/>
                  </a:moveTo>
                  <a:cubicBezTo>
                    <a:pt x="54" y="33"/>
                    <a:pt x="52" y="43"/>
                    <a:pt x="49" y="61"/>
                  </a:cubicBezTo>
                  <a:cubicBezTo>
                    <a:pt x="48" y="66"/>
                    <a:pt x="46" y="73"/>
                    <a:pt x="46" y="81"/>
                  </a:cubicBezTo>
                  <a:cubicBezTo>
                    <a:pt x="46" y="86"/>
                    <a:pt x="44" y="97"/>
                    <a:pt x="42" y="104"/>
                  </a:cubicBezTo>
                  <a:cubicBezTo>
                    <a:pt x="40" y="112"/>
                    <a:pt x="38" y="120"/>
                    <a:pt x="37" y="125"/>
                  </a:cubicBezTo>
                  <a:cubicBezTo>
                    <a:pt x="36" y="132"/>
                    <a:pt x="35" y="140"/>
                    <a:pt x="34" y="147"/>
                  </a:cubicBezTo>
                  <a:cubicBezTo>
                    <a:pt x="33" y="150"/>
                    <a:pt x="33" y="152"/>
                    <a:pt x="33" y="155"/>
                  </a:cubicBezTo>
                  <a:cubicBezTo>
                    <a:pt x="33" y="156"/>
                    <a:pt x="34" y="159"/>
                    <a:pt x="34" y="160"/>
                  </a:cubicBezTo>
                  <a:cubicBezTo>
                    <a:pt x="34" y="162"/>
                    <a:pt x="21" y="162"/>
                    <a:pt x="14" y="160"/>
                  </a:cubicBezTo>
                  <a:cubicBezTo>
                    <a:pt x="7" y="157"/>
                    <a:pt x="5" y="157"/>
                    <a:pt x="0" y="153"/>
                  </a:cubicBezTo>
                  <a:cubicBezTo>
                    <a:pt x="2" y="149"/>
                    <a:pt x="4" y="144"/>
                    <a:pt x="4" y="140"/>
                  </a:cubicBezTo>
                  <a:cubicBezTo>
                    <a:pt x="5" y="135"/>
                    <a:pt x="6" y="132"/>
                    <a:pt x="8" y="127"/>
                  </a:cubicBezTo>
                  <a:cubicBezTo>
                    <a:pt x="11" y="116"/>
                    <a:pt x="15" y="101"/>
                    <a:pt x="12" y="90"/>
                  </a:cubicBezTo>
                  <a:cubicBezTo>
                    <a:pt x="14" y="89"/>
                    <a:pt x="16" y="89"/>
                    <a:pt x="18" y="89"/>
                  </a:cubicBezTo>
                  <a:cubicBezTo>
                    <a:pt x="18" y="89"/>
                    <a:pt x="11" y="87"/>
                    <a:pt x="12" y="87"/>
                  </a:cubicBezTo>
                  <a:cubicBezTo>
                    <a:pt x="12" y="80"/>
                    <a:pt x="13" y="69"/>
                    <a:pt x="14" y="62"/>
                  </a:cubicBezTo>
                  <a:cubicBezTo>
                    <a:pt x="15" y="54"/>
                    <a:pt x="14" y="50"/>
                    <a:pt x="15" y="41"/>
                  </a:cubicBezTo>
                  <a:cubicBezTo>
                    <a:pt x="15" y="39"/>
                    <a:pt x="12" y="32"/>
                    <a:pt x="11" y="31"/>
                  </a:cubicBezTo>
                  <a:cubicBezTo>
                    <a:pt x="10" y="23"/>
                    <a:pt x="11" y="21"/>
                    <a:pt x="11" y="13"/>
                  </a:cubicBezTo>
                  <a:cubicBezTo>
                    <a:pt x="12" y="0"/>
                    <a:pt x="14" y="5"/>
                    <a:pt x="26" y="6"/>
                  </a:cubicBezTo>
                  <a:lnTo>
                    <a:pt x="55" y="14"/>
                  </a:lnTo>
                  <a:close/>
                </a:path>
              </a:pathLst>
            </a:custGeom>
            <a:solidFill>
              <a:srgbClr val="C7D8F0"/>
            </a:solidFill>
            <a:ln w="14288" cap="rnd">
              <a:solidFill>
                <a:srgbClr val="000000"/>
              </a:solidFill>
              <a:prstDash val="solid"/>
              <a:round/>
              <a:headEnd/>
              <a:tailEnd/>
            </a:ln>
          </p:spPr>
          <p:txBody>
            <a:bodyPr/>
            <a:lstStyle/>
            <a:p>
              <a:endParaRPr lang="en-US"/>
            </a:p>
          </p:txBody>
        </p:sp>
        <p:sp>
          <p:nvSpPr>
            <p:cNvPr id="481316" name="Freeform 36"/>
            <p:cNvSpPr>
              <a:spLocks/>
            </p:cNvSpPr>
            <p:nvPr/>
          </p:nvSpPr>
          <p:spPr bwMode="auto">
            <a:xfrm>
              <a:off x="625" y="1587"/>
              <a:ext cx="161" cy="658"/>
            </a:xfrm>
            <a:custGeom>
              <a:avLst/>
              <a:gdLst>
                <a:gd name="T0" fmla="*/ 44 w 45"/>
                <a:gd name="T1" fmla="*/ 9 h 160"/>
                <a:gd name="T2" fmla="*/ 43 w 45"/>
                <a:gd name="T3" fmla="*/ 56 h 160"/>
                <a:gd name="T4" fmla="*/ 43 w 45"/>
                <a:gd name="T5" fmla="*/ 76 h 160"/>
                <a:gd name="T6" fmla="*/ 42 w 45"/>
                <a:gd name="T7" fmla="*/ 100 h 160"/>
                <a:gd name="T8" fmla="*/ 38 w 45"/>
                <a:gd name="T9" fmla="*/ 121 h 160"/>
                <a:gd name="T10" fmla="*/ 38 w 45"/>
                <a:gd name="T11" fmla="*/ 144 h 160"/>
                <a:gd name="T12" fmla="*/ 38 w 45"/>
                <a:gd name="T13" fmla="*/ 151 h 160"/>
                <a:gd name="T14" fmla="*/ 40 w 45"/>
                <a:gd name="T15" fmla="*/ 157 h 160"/>
                <a:gd name="T16" fmla="*/ 20 w 45"/>
                <a:gd name="T17" fmla="*/ 158 h 160"/>
                <a:gd name="T18" fmla="*/ 5 w 45"/>
                <a:gd name="T19" fmla="*/ 154 h 160"/>
                <a:gd name="T20" fmla="*/ 8 w 45"/>
                <a:gd name="T21" fmla="*/ 140 h 160"/>
                <a:gd name="T22" fmla="*/ 10 w 45"/>
                <a:gd name="T23" fmla="*/ 127 h 160"/>
                <a:gd name="T24" fmla="*/ 10 w 45"/>
                <a:gd name="T25" fmla="*/ 89 h 160"/>
                <a:gd name="T26" fmla="*/ 16 w 45"/>
                <a:gd name="T27" fmla="*/ 88 h 160"/>
                <a:gd name="T28" fmla="*/ 10 w 45"/>
                <a:gd name="T29" fmla="*/ 86 h 160"/>
                <a:gd name="T30" fmla="*/ 9 w 45"/>
                <a:gd name="T31" fmla="*/ 62 h 160"/>
                <a:gd name="T32" fmla="*/ 7 w 45"/>
                <a:gd name="T33" fmla="*/ 41 h 160"/>
                <a:gd name="T34" fmla="*/ 2 w 45"/>
                <a:gd name="T35" fmla="*/ 31 h 160"/>
                <a:gd name="T36" fmla="*/ 1 w 45"/>
                <a:gd name="T37" fmla="*/ 13 h 160"/>
                <a:gd name="T38" fmla="*/ 14 w 45"/>
                <a:gd name="T39" fmla="*/ 4 h 160"/>
                <a:gd name="T40" fmla="*/ 44 w 45"/>
                <a:gd name="T41" fmla="*/ 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 h="160">
                  <a:moveTo>
                    <a:pt x="44" y="9"/>
                  </a:moveTo>
                  <a:cubicBezTo>
                    <a:pt x="45" y="28"/>
                    <a:pt x="45" y="38"/>
                    <a:pt x="43" y="56"/>
                  </a:cubicBezTo>
                  <a:cubicBezTo>
                    <a:pt x="43" y="62"/>
                    <a:pt x="42" y="69"/>
                    <a:pt x="43" y="76"/>
                  </a:cubicBezTo>
                  <a:cubicBezTo>
                    <a:pt x="43" y="81"/>
                    <a:pt x="43" y="93"/>
                    <a:pt x="42" y="100"/>
                  </a:cubicBezTo>
                  <a:cubicBezTo>
                    <a:pt x="40" y="108"/>
                    <a:pt x="39" y="116"/>
                    <a:pt x="38" y="121"/>
                  </a:cubicBezTo>
                  <a:cubicBezTo>
                    <a:pt x="38" y="129"/>
                    <a:pt x="39" y="136"/>
                    <a:pt x="38" y="144"/>
                  </a:cubicBezTo>
                  <a:cubicBezTo>
                    <a:pt x="38" y="146"/>
                    <a:pt x="38" y="149"/>
                    <a:pt x="38" y="151"/>
                  </a:cubicBezTo>
                  <a:cubicBezTo>
                    <a:pt x="38" y="153"/>
                    <a:pt x="40" y="156"/>
                    <a:pt x="40" y="157"/>
                  </a:cubicBezTo>
                  <a:cubicBezTo>
                    <a:pt x="39" y="158"/>
                    <a:pt x="27" y="160"/>
                    <a:pt x="20" y="158"/>
                  </a:cubicBezTo>
                  <a:cubicBezTo>
                    <a:pt x="12" y="157"/>
                    <a:pt x="11" y="157"/>
                    <a:pt x="5" y="154"/>
                  </a:cubicBezTo>
                  <a:cubicBezTo>
                    <a:pt x="6" y="149"/>
                    <a:pt x="8" y="144"/>
                    <a:pt x="8" y="140"/>
                  </a:cubicBezTo>
                  <a:cubicBezTo>
                    <a:pt x="8" y="135"/>
                    <a:pt x="9" y="132"/>
                    <a:pt x="10" y="127"/>
                  </a:cubicBezTo>
                  <a:cubicBezTo>
                    <a:pt x="12" y="116"/>
                    <a:pt x="14" y="100"/>
                    <a:pt x="10" y="89"/>
                  </a:cubicBezTo>
                  <a:cubicBezTo>
                    <a:pt x="12" y="89"/>
                    <a:pt x="13" y="89"/>
                    <a:pt x="16" y="88"/>
                  </a:cubicBezTo>
                  <a:cubicBezTo>
                    <a:pt x="16" y="88"/>
                    <a:pt x="9" y="87"/>
                    <a:pt x="10" y="86"/>
                  </a:cubicBezTo>
                  <a:cubicBezTo>
                    <a:pt x="9" y="80"/>
                    <a:pt x="9" y="69"/>
                    <a:pt x="9" y="62"/>
                  </a:cubicBezTo>
                  <a:cubicBezTo>
                    <a:pt x="9" y="54"/>
                    <a:pt x="8" y="50"/>
                    <a:pt x="7" y="41"/>
                  </a:cubicBezTo>
                  <a:cubicBezTo>
                    <a:pt x="7" y="39"/>
                    <a:pt x="3" y="32"/>
                    <a:pt x="2" y="31"/>
                  </a:cubicBezTo>
                  <a:cubicBezTo>
                    <a:pt x="0" y="23"/>
                    <a:pt x="1" y="21"/>
                    <a:pt x="1" y="13"/>
                  </a:cubicBezTo>
                  <a:cubicBezTo>
                    <a:pt x="0" y="0"/>
                    <a:pt x="2" y="5"/>
                    <a:pt x="14" y="4"/>
                  </a:cubicBezTo>
                  <a:lnTo>
                    <a:pt x="44" y="9"/>
                  </a:lnTo>
                  <a:close/>
                </a:path>
              </a:pathLst>
            </a:custGeom>
            <a:solidFill>
              <a:srgbClr val="C7D8F0"/>
            </a:solidFill>
            <a:ln w="14288" cap="rnd">
              <a:solidFill>
                <a:srgbClr val="000000"/>
              </a:solidFill>
              <a:prstDash val="solid"/>
              <a:round/>
              <a:headEnd/>
              <a:tailEnd/>
            </a:ln>
          </p:spPr>
          <p:txBody>
            <a:bodyPr/>
            <a:lstStyle/>
            <a:p>
              <a:endParaRPr lang="en-US"/>
            </a:p>
          </p:txBody>
        </p:sp>
        <p:sp>
          <p:nvSpPr>
            <p:cNvPr id="481317" name="Freeform 37"/>
            <p:cNvSpPr>
              <a:spLocks/>
            </p:cNvSpPr>
            <p:nvPr/>
          </p:nvSpPr>
          <p:spPr bwMode="auto">
            <a:xfrm>
              <a:off x="607" y="1258"/>
              <a:ext cx="304" cy="440"/>
            </a:xfrm>
            <a:custGeom>
              <a:avLst/>
              <a:gdLst>
                <a:gd name="T0" fmla="*/ 29 w 85"/>
                <a:gd name="T1" fmla="*/ 4 h 107"/>
                <a:gd name="T2" fmla="*/ 33 w 85"/>
                <a:gd name="T3" fmla="*/ 0 h 107"/>
                <a:gd name="T4" fmla="*/ 41 w 85"/>
                <a:gd name="T5" fmla="*/ 3 h 107"/>
                <a:gd name="T6" fmla="*/ 56 w 85"/>
                <a:gd name="T7" fmla="*/ 11 h 107"/>
                <a:gd name="T8" fmla="*/ 83 w 85"/>
                <a:gd name="T9" fmla="*/ 23 h 107"/>
                <a:gd name="T10" fmla="*/ 84 w 85"/>
                <a:gd name="T11" fmla="*/ 47 h 107"/>
                <a:gd name="T12" fmla="*/ 54 w 85"/>
                <a:gd name="T13" fmla="*/ 44 h 107"/>
                <a:gd name="T14" fmla="*/ 51 w 85"/>
                <a:gd name="T15" fmla="*/ 67 h 107"/>
                <a:gd name="T16" fmla="*/ 51 w 85"/>
                <a:gd name="T17" fmla="*/ 80 h 107"/>
                <a:gd name="T18" fmla="*/ 55 w 85"/>
                <a:gd name="T19" fmla="*/ 107 h 107"/>
                <a:gd name="T20" fmla="*/ 41 w 85"/>
                <a:gd name="T21" fmla="*/ 107 h 107"/>
                <a:gd name="T22" fmla="*/ 31 w 85"/>
                <a:gd name="T23" fmla="*/ 106 h 107"/>
                <a:gd name="T24" fmla="*/ 17 w 85"/>
                <a:gd name="T25" fmla="*/ 105 h 107"/>
                <a:gd name="T26" fmla="*/ 2 w 85"/>
                <a:gd name="T27" fmla="*/ 103 h 107"/>
                <a:gd name="T28" fmla="*/ 3 w 85"/>
                <a:gd name="T29" fmla="*/ 89 h 107"/>
                <a:gd name="T30" fmla="*/ 4 w 85"/>
                <a:gd name="T31" fmla="*/ 67 h 107"/>
                <a:gd name="T32" fmla="*/ 13 w 85"/>
                <a:gd name="T33" fmla="*/ 31 h 107"/>
                <a:gd name="T34" fmla="*/ 29 w 85"/>
                <a:gd name="T35" fmla="*/ 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5" h="107">
                  <a:moveTo>
                    <a:pt x="29" y="4"/>
                  </a:moveTo>
                  <a:cubicBezTo>
                    <a:pt x="33" y="0"/>
                    <a:pt x="33" y="0"/>
                    <a:pt x="33" y="0"/>
                  </a:cubicBezTo>
                  <a:cubicBezTo>
                    <a:pt x="33" y="0"/>
                    <a:pt x="36" y="2"/>
                    <a:pt x="41" y="3"/>
                  </a:cubicBezTo>
                  <a:cubicBezTo>
                    <a:pt x="45" y="3"/>
                    <a:pt x="54" y="8"/>
                    <a:pt x="56" y="11"/>
                  </a:cubicBezTo>
                  <a:cubicBezTo>
                    <a:pt x="59" y="14"/>
                    <a:pt x="83" y="23"/>
                    <a:pt x="83" y="23"/>
                  </a:cubicBezTo>
                  <a:cubicBezTo>
                    <a:pt x="83" y="23"/>
                    <a:pt x="85" y="45"/>
                    <a:pt x="84" y="47"/>
                  </a:cubicBezTo>
                  <a:cubicBezTo>
                    <a:pt x="83" y="50"/>
                    <a:pt x="54" y="43"/>
                    <a:pt x="54" y="44"/>
                  </a:cubicBezTo>
                  <a:cubicBezTo>
                    <a:pt x="54" y="46"/>
                    <a:pt x="51" y="63"/>
                    <a:pt x="51" y="67"/>
                  </a:cubicBezTo>
                  <a:cubicBezTo>
                    <a:pt x="52" y="72"/>
                    <a:pt x="51" y="76"/>
                    <a:pt x="51" y="80"/>
                  </a:cubicBezTo>
                  <a:cubicBezTo>
                    <a:pt x="52" y="84"/>
                    <a:pt x="55" y="107"/>
                    <a:pt x="55" y="107"/>
                  </a:cubicBezTo>
                  <a:cubicBezTo>
                    <a:pt x="41" y="107"/>
                    <a:pt x="41" y="107"/>
                    <a:pt x="41" y="107"/>
                  </a:cubicBezTo>
                  <a:cubicBezTo>
                    <a:pt x="41" y="107"/>
                    <a:pt x="34" y="107"/>
                    <a:pt x="31" y="106"/>
                  </a:cubicBezTo>
                  <a:cubicBezTo>
                    <a:pt x="27" y="106"/>
                    <a:pt x="17" y="105"/>
                    <a:pt x="17" y="105"/>
                  </a:cubicBezTo>
                  <a:cubicBezTo>
                    <a:pt x="17" y="105"/>
                    <a:pt x="4" y="103"/>
                    <a:pt x="2" y="103"/>
                  </a:cubicBezTo>
                  <a:cubicBezTo>
                    <a:pt x="0" y="103"/>
                    <a:pt x="3" y="89"/>
                    <a:pt x="3" y="89"/>
                  </a:cubicBezTo>
                  <a:cubicBezTo>
                    <a:pt x="3" y="89"/>
                    <a:pt x="2" y="73"/>
                    <a:pt x="4" y="67"/>
                  </a:cubicBezTo>
                  <a:cubicBezTo>
                    <a:pt x="6" y="62"/>
                    <a:pt x="13" y="31"/>
                    <a:pt x="13" y="31"/>
                  </a:cubicBezTo>
                  <a:lnTo>
                    <a:pt x="29" y="4"/>
                  </a:lnTo>
                  <a:close/>
                </a:path>
              </a:pathLst>
            </a:custGeom>
            <a:solidFill>
              <a:srgbClr val="FFFFFF"/>
            </a:solidFill>
            <a:ln w="14288" cap="rnd">
              <a:solidFill>
                <a:srgbClr val="000000"/>
              </a:solidFill>
              <a:prstDash val="solid"/>
              <a:round/>
              <a:headEnd/>
              <a:tailEnd/>
            </a:ln>
          </p:spPr>
          <p:txBody>
            <a:bodyPr/>
            <a:lstStyle/>
            <a:p>
              <a:endParaRPr lang="en-US"/>
            </a:p>
          </p:txBody>
        </p:sp>
        <p:sp>
          <p:nvSpPr>
            <p:cNvPr id="481318" name="Freeform 38"/>
            <p:cNvSpPr>
              <a:spLocks/>
            </p:cNvSpPr>
            <p:nvPr/>
          </p:nvSpPr>
          <p:spPr bwMode="auto">
            <a:xfrm>
              <a:off x="754" y="1439"/>
              <a:ext cx="42" cy="4"/>
            </a:xfrm>
            <a:custGeom>
              <a:avLst/>
              <a:gdLst>
                <a:gd name="T0" fmla="*/ 12 w 12"/>
                <a:gd name="T1" fmla="*/ 1 h 1"/>
                <a:gd name="T2" fmla="*/ 0 w 12"/>
                <a:gd name="T3" fmla="*/ 1 h 1"/>
              </a:gdLst>
              <a:ahLst/>
              <a:cxnLst>
                <a:cxn ang="0">
                  <a:pos x="T0" y="T1"/>
                </a:cxn>
                <a:cxn ang="0">
                  <a:pos x="T2" y="T3"/>
                </a:cxn>
              </a:cxnLst>
              <a:rect l="0" t="0" r="r" b="b"/>
              <a:pathLst>
                <a:path w="12" h="1">
                  <a:moveTo>
                    <a:pt x="12" y="1"/>
                  </a:moveTo>
                  <a:cubicBezTo>
                    <a:pt x="5" y="0"/>
                    <a:pt x="8" y="1"/>
                    <a:pt x="0" y="1"/>
                  </a:cubicBez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319" name="Freeform 39"/>
            <p:cNvSpPr>
              <a:spLocks/>
            </p:cNvSpPr>
            <p:nvPr/>
          </p:nvSpPr>
          <p:spPr bwMode="auto">
            <a:xfrm>
              <a:off x="732" y="1443"/>
              <a:ext cx="69" cy="161"/>
            </a:xfrm>
            <a:custGeom>
              <a:avLst/>
              <a:gdLst>
                <a:gd name="T0" fmla="*/ 18 w 19"/>
                <a:gd name="T1" fmla="*/ 0 h 39"/>
                <a:gd name="T2" fmla="*/ 13 w 19"/>
                <a:gd name="T3" fmla="*/ 11 h 39"/>
                <a:gd name="T4" fmla="*/ 0 w 19"/>
                <a:gd name="T5" fmla="*/ 39 h 39"/>
              </a:gdLst>
              <a:ahLst/>
              <a:cxnLst>
                <a:cxn ang="0">
                  <a:pos x="T0" y="T1"/>
                </a:cxn>
                <a:cxn ang="0">
                  <a:pos x="T2" y="T3"/>
                </a:cxn>
                <a:cxn ang="0">
                  <a:pos x="T4" y="T5"/>
                </a:cxn>
              </a:cxnLst>
              <a:rect l="0" t="0" r="r" b="b"/>
              <a:pathLst>
                <a:path w="19" h="39">
                  <a:moveTo>
                    <a:pt x="18" y="0"/>
                  </a:moveTo>
                  <a:cubicBezTo>
                    <a:pt x="19" y="4"/>
                    <a:pt x="15" y="8"/>
                    <a:pt x="13" y="11"/>
                  </a:cubicBezTo>
                  <a:cubicBezTo>
                    <a:pt x="5" y="21"/>
                    <a:pt x="11" y="34"/>
                    <a:pt x="0" y="39"/>
                  </a:cubicBez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320" name="Freeform 40"/>
            <p:cNvSpPr>
              <a:spLocks/>
            </p:cNvSpPr>
            <p:nvPr/>
          </p:nvSpPr>
          <p:spPr bwMode="auto">
            <a:xfrm>
              <a:off x="704" y="1279"/>
              <a:ext cx="40" cy="66"/>
            </a:xfrm>
            <a:custGeom>
              <a:avLst/>
              <a:gdLst>
                <a:gd name="T0" fmla="*/ 11 w 11"/>
                <a:gd name="T1" fmla="*/ 0 h 16"/>
                <a:gd name="T2" fmla="*/ 1 w 11"/>
                <a:gd name="T3" fmla="*/ 16 h 16"/>
              </a:gdLst>
              <a:ahLst/>
              <a:cxnLst>
                <a:cxn ang="0">
                  <a:pos x="T0" y="T1"/>
                </a:cxn>
                <a:cxn ang="0">
                  <a:pos x="T2" y="T3"/>
                </a:cxn>
              </a:cxnLst>
              <a:rect l="0" t="0" r="r" b="b"/>
              <a:pathLst>
                <a:path w="11" h="16">
                  <a:moveTo>
                    <a:pt x="11" y="0"/>
                  </a:moveTo>
                  <a:cubicBezTo>
                    <a:pt x="4" y="0"/>
                    <a:pt x="0" y="8"/>
                    <a:pt x="1" y="16"/>
                  </a:cubicBez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321" name="Freeform 41"/>
            <p:cNvSpPr>
              <a:spLocks/>
            </p:cNvSpPr>
            <p:nvPr/>
          </p:nvSpPr>
          <p:spPr bwMode="auto">
            <a:xfrm>
              <a:off x="3699" y="885"/>
              <a:ext cx="1490" cy="1314"/>
            </a:xfrm>
            <a:custGeom>
              <a:avLst/>
              <a:gdLst>
                <a:gd name="T0" fmla="*/ 0 w 416"/>
                <a:gd name="T1" fmla="*/ 313 h 320"/>
                <a:gd name="T2" fmla="*/ 139 w 416"/>
                <a:gd name="T3" fmla="*/ 192 h 320"/>
                <a:gd name="T4" fmla="*/ 132 w 416"/>
                <a:gd name="T5" fmla="*/ 124 h 320"/>
                <a:gd name="T6" fmla="*/ 172 w 416"/>
                <a:gd name="T7" fmla="*/ 23 h 320"/>
                <a:gd name="T8" fmla="*/ 248 w 416"/>
                <a:gd name="T9" fmla="*/ 9 h 320"/>
                <a:gd name="T10" fmla="*/ 328 w 416"/>
                <a:gd name="T11" fmla="*/ 33 h 320"/>
                <a:gd name="T12" fmla="*/ 372 w 416"/>
                <a:gd name="T13" fmla="*/ 180 h 320"/>
                <a:gd name="T14" fmla="*/ 416 w 416"/>
                <a:gd name="T15" fmla="*/ 315 h 3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6" h="320">
                  <a:moveTo>
                    <a:pt x="0" y="313"/>
                  </a:moveTo>
                  <a:cubicBezTo>
                    <a:pt x="0" y="313"/>
                    <a:pt x="130" y="320"/>
                    <a:pt x="139" y="192"/>
                  </a:cubicBezTo>
                  <a:cubicBezTo>
                    <a:pt x="139" y="192"/>
                    <a:pt x="139" y="161"/>
                    <a:pt x="132" y="124"/>
                  </a:cubicBezTo>
                  <a:cubicBezTo>
                    <a:pt x="132" y="124"/>
                    <a:pt x="112" y="36"/>
                    <a:pt x="172" y="23"/>
                  </a:cubicBezTo>
                  <a:cubicBezTo>
                    <a:pt x="248" y="9"/>
                    <a:pt x="248" y="9"/>
                    <a:pt x="248" y="9"/>
                  </a:cubicBezTo>
                  <a:cubicBezTo>
                    <a:pt x="248" y="9"/>
                    <a:pt x="306" y="0"/>
                    <a:pt x="328" y="33"/>
                  </a:cubicBezTo>
                  <a:cubicBezTo>
                    <a:pt x="328" y="33"/>
                    <a:pt x="363" y="79"/>
                    <a:pt x="372" y="180"/>
                  </a:cubicBezTo>
                  <a:cubicBezTo>
                    <a:pt x="372" y="180"/>
                    <a:pt x="379" y="268"/>
                    <a:pt x="416" y="315"/>
                  </a:cubicBezTo>
                </a:path>
              </a:pathLst>
            </a:custGeom>
            <a:noFill/>
            <a:ln w="14288" cap="rnd">
              <a:solidFill>
                <a:srgbClr val="0078C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1322" name="Line 42"/>
            <p:cNvSpPr>
              <a:spLocks noChangeShapeType="1"/>
            </p:cNvSpPr>
            <p:nvPr/>
          </p:nvSpPr>
          <p:spPr bwMode="auto">
            <a:xfrm>
              <a:off x="5185" y="2179"/>
              <a:ext cx="1" cy="2"/>
            </a:xfrm>
            <a:prstGeom prst="line">
              <a:avLst/>
            </a:prstGeom>
            <a:noFill/>
            <a:ln w="14288" cap="rnd">
              <a:solidFill>
                <a:srgbClr val="0078C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1323" name="Rectangle 43"/>
            <p:cNvSpPr>
              <a:spLocks noChangeArrowheads="1"/>
            </p:cNvSpPr>
            <p:nvPr/>
          </p:nvSpPr>
          <p:spPr bwMode="auto">
            <a:xfrm>
              <a:off x="4372" y="1356"/>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Object of</a:t>
              </a:r>
            </a:p>
            <a:p>
              <a:r>
                <a:rPr lang="en-US" altLang="en-US" sz="1500">
                  <a:solidFill>
                    <a:srgbClr val="000000"/>
                  </a:solidFill>
                  <a:latin typeface="Myriad Roman" charset="0"/>
                </a:rPr>
                <a:t>interest</a:t>
              </a:r>
              <a:endParaRPr lang="en-US" altLang="en-US" sz="2800"/>
            </a:p>
          </p:txBody>
        </p:sp>
        <p:sp>
          <p:nvSpPr>
            <p:cNvPr id="481332" name="Rectangle 52"/>
            <p:cNvSpPr>
              <a:spLocks noChangeArrowheads="1"/>
            </p:cNvSpPr>
            <p:nvPr/>
          </p:nvSpPr>
          <p:spPr bwMode="auto">
            <a:xfrm>
              <a:off x="2692" y="1170"/>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
              </a:r>
              <a:endParaRPr lang="en-US" altLang="en-US" sz="2800"/>
            </a:p>
          </p:txBody>
        </p:sp>
        <p:sp>
          <p:nvSpPr>
            <p:cNvPr id="481334" name="Rectangle 54"/>
            <p:cNvSpPr>
              <a:spLocks noChangeArrowheads="1"/>
            </p:cNvSpPr>
            <p:nvPr/>
          </p:nvSpPr>
          <p:spPr bwMode="auto">
            <a:xfrm>
              <a:off x="2210" y="1782"/>
              <a:ext cx="134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2D = T sec * 3*10</a:t>
              </a:r>
              <a:r>
                <a:rPr lang="en-US" altLang="en-US" sz="1500" baseline="30000">
                  <a:solidFill>
                    <a:srgbClr val="000000"/>
                  </a:solidFill>
                  <a:latin typeface="Myriad Roman" charset="0"/>
                </a:rPr>
                <a:t>8</a:t>
              </a:r>
              <a:r>
                <a:rPr lang="en-US" altLang="en-US" sz="1500">
                  <a:solidFill>
                    <a:srgbClr val="000000"/>
                  </a:solidFill>
                  <a:latin typeface="Myriad Roman" charset="0"/>
                </a:rPr>
                <a:t> m/sec</a:t>
              </a:r>
              <a:endParaRPr lang="en-US" altLang="en-US" sz="2800"/>
            </a:p>
          </p:txBody>
        </p:sp>
        <p:sp>
          <p:nvSpPr>
            <p:cNvPr id="481341" name="Rectangle 61"/>
            <p:cNvSpPr>
              <a:spLocks noChangeArrowheads="1"/>
            </p:cNvSpPr>
            <p:nvPr/>
          </p:nvSpPr>
          <p:spPr bwMode="auto">
            <a:xfrm>
              <a:off x="1388" y="1583"/>
              <a:ext cx="36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sensor</a:t>
              </a:r>
              <a:endParaRPr lang="en-US" altLang="en-US" sz="2800"/>
            </a:p>
          </p:txBody>
        </p:sp>
        <p:sp>
          <p:nvSpPr>
            <p:cNvPr id="481342" name="Rectangle 62"/>
            <p:cNvSpPr>
              <a:spLocks noChangeArrowheads="1"/>
            </p:cNvSpPr>
            <p:nvPr/>
          </p:nvSpPr>
          <p:spPr bwMode="auto">
            <a:xfrm>
              <a:off x="1388" y="1109"/>
              <a:ext cx="26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laser</a:t>
              </a:r>
              <a:endParaRPr lang="en-US" altLang="en-US" sz="2800"/>
            </a:p>
          </p:txBody>
        </p:sp>
        <p:sp>
          <p:nvSpPr>
            <p:cNvPr id="481343" name="Rectangle 63"/>
            <p:cNvSpPr>
              <a:spLocks noChangeArrowheads="1"/>
            </p:cNvSpPr>
            <p:nvPr/>
          </p:nvSpPr>
          <p:spPr bwMode="auto">
            <a:xfrm>
              <a:off x="1388" y="874"/>
              <a:ext cx="76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 (in seconds)</a:t>
              </a:r>
              <a:endParaRPr lang="en-US" altLang="en-US" sz="2800"/>
            </a:p>
          </p:txBody>
        </p:sp>
        <p:sp>
          <p:nvSpPr>
            <p:cNvPr id="481346" name="Rectangle 66"/>
            <p:cNvSpPr>
              <a:spLocks noChangeArrowheads="1"/>
            </p:cNvSpPr>
            <p:nvPr/>
          </p:nvSpPr>
          <p:spPr bwMode="auto">
            <a:xfrm>
              <a:off x="1248" y="1497"/>
              <a:ext cx="89" cy="90"/>
            </a:xfrm>
            <a:prstGeom prst="rect">
              <a:avLst/>
            </a:prstGeom>
            <a:solidFill>
              <a:srgbClr val="0078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3"/>
          <p:cNvSpPr>
            <a:spLocks noGrp="1"/>
          </p:cNvSpPr>
          <p:nvPr>
            <p:ph type="sldNum" sz="quarter" idx="10"/>
          </p:nvPr>
        </p:nvSpPr>
        <p:spPr/>
        <p:txBody>
          <a:bodyPr/>
          <a:lstStyle/>
          <a:p>
            <a:fld id="{9E1BE8EB-9C0E-42E6-B96F-6DF050A02D0B}" type="slidenum">
              <a:rPr lang="en-US" altLang="en-US"/>
              <a:pPr/>
              <a:t>13</a:t>
            </a:fld>
            <a:endParaRPr lang="en-US" altLang="en-US"/>
          </a:p>
        </p:txBody>
      </p:sp>
      <p:sp>
        <p:nvSpPr>
          <p:cNvPr id="482306" name="Rectangle 2"/>
          <p:cNvSpPr>
            <a:spLocks noGrp="1" noChangeArrowheads="1"/>
          </p:cNvSpPr>
          <p:nvPr>
            <p:ph type="title"/>
          </p:nvPr>
        </p:nvSpPr>
        <p:spPr/>
        <p:txBody>
          <a:bodyPr/>
          <a:lstStyle/>
          <a:p>
            <a:r>
              <a:rPr lang="en-US" altLang="en-US"/>
              <a:t>Step 1 Example: </a:t>
            </a:r>
            <a:r>
              <a:rPr lang="en-US" altLang="en-US" sz="3200"/>
              <a:t>Laser-Based Distance Measurer</a:t>
            </a:r>
          </a:p>
        </p:txBody>
      </p:sp>
      <p:sp>
        <p:nvSpPr>
          <p:cNvPr id="482307" name="Rectangle 3"/>
          <p:cNvSpPr>
            <a:spLocks noGrp="1" noChangeArrowheads="1"/>
          </p:cNvSpPr>
          <p:nvPr>
            <p:ph type="body" idx="1"/>
          </p:nvPr>
        </p:nvSpPr>
        <p:spPr>
          <a:xfrm>
            <a:off x="228600" y="3789363"/>
            <a:ext cx="8351838" cy="2306637"/>
          </a:xfrm>
        </p:spPr>
        <p:txBody>
          <a:bodyPr/>
          <a:lstStyle/>
          <a:p>
            <a:r>
              <a:rPr lang="en-US" altLang="en-US"/>
              <a:t>Inputs/outputs</a:t>
            </a:r>
          </a:p>
          <a:p>
            <a:pPr lvl="1"/>
            <a:r>
              <a:rPr lang="en-US" altLang="en-US" i="1"/>
              <a:t>B</a:t>
            </a:r>
            <a:r>
              <a:rPr lang="en-US" altLang="en-US"/>
              <a:t>: bit input, from button to begin measurement</a:t>
            </a:r>
          </a:p>
          <a:p>
            <a:pPr lvl="1"/>
            <a:r>
              <a:rPr lang="en-US" altLang="en-US" i="1"/>
              <a:t>L</a:t>
            </a:r>
            <a:r>
              <a:rPr lang="en-US" altLang="en-US"/>
              <a:t>: bit output, activates laser</a:t>
            </a:r>
          </a:p>
          <a:p>
            <a:pPr lvl="1"/>
            <a:r>
              <a:rPr lang="en-US" altLang="en-US" i="1"/>
              <a:t>S</a:t>
            </a:r>
            <a:r>
              <a:rPr lang="en-US" altLang="en-US"/>
              <a:t>: bit input, senses laser reflection</a:t>
            </a:r>
          </a:p>
          <a:p>
            <a:pPr lvl="1"/>
            <a:r>
              <a:rPr lang="en-US" altLang="en-US" i="1"/>
              <a:t>D</a:t>
            </a:r>
            <a:r>
              <a:rPr lang="en-US" altLang="en-US"/>
              <a:t>: 16-bit output, displays computed distance </a:t>
            </a:r>
          </a:p>
        </p:txBody>
      </p:sp>
      <p:sp>
        <p:nvSpPr>
          <p:cNvPr id="482314" name="Freeform 10"/>
          <p:cNvSpPr>
            <a:spLocks/>
          </p:cNvSpPr>
          <p:nvPr/>
        </p:nvSpPr>
        <p:spPr bwMode="auto">
          <a:xfrm>
            <a:off x="1992313" y="1747838"/>
            <a:ext cx="114300" cy="68262"/>
          </a:xfrm>
          <a:custGeom>
            <a:avLst/>
            <a:gdLst>
              <a:gd name="T0" fmla="*/ 63 w 63"/>
              <a:gd name="T1" fmla="*/ 16 h 32"/>
              <a:gd name="T2" fmla="*/ 0 w 63"/>
              <a:gd name="T3" fmla="*/ 0 h 32"/>
              <a:gd name="T4" fmla="*/ 0 w 63"/>
              <a:gd name="T5" fmla="*/ 32 h 32"/>
              <a:gd name="T6" fmla="*/ 63 w 63"/>
              <a:gd name="T7" fmla="*/ 16 h 32"/>
            </a:gdLst>
            <a:ahLst/>
            <a:cxnLst>
              <a:cxn ang="0">
                <a:pos x="T0" y="T1"/>
              </a:cxn>
              <a:cxn ang="0">
                <a:pos x="T2" y="T3"/>
              </a:cxn>
              <a:cxn ang="0">
                <a:pos x="T4" y="T5"/>
              </a:cxn>
              <a:cxn ang="0">
                <a:pos x="T6" y="T7"/>
              </a:cxn>
            </a:cxnLst>
            <a:rect l="0" t="0" r="r" b="b"/>
            <a:pathLst>
              <a:path w="63" h="32">
                <a:moveTo>
                  <a:pt x="63" y="16"/>
                </a:moveTo>
                <a:lnTo>
                  <a:pt x="0" y="0"/>
                </a:lnTo>
                <a:lnTo>
                  <a:pt x="0" y="32"/>
                </a:lnTo>
                <a:lnTo>
                  <a:pt x="63"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15" name="Freeform 11"/>
          <p:cNvSpPr>
            <a:spLocks/>
          </p:cNvSpPr>
          <p:nvPr/>
        </p:nvSpPr>
        <p:spPr bwMode="auto">
          <a:xfrm>
            <a:off x="1901825" y="1644650"/>
            <a:ext cx="119063" cy="136525"/>
          </a:xfrm>
          <a:custGeom>
            <a:avLst/>
            <a:gdLst>
              <a:gd name="T0" fmla="*/ 0 w 66"/>
              <a:gd name="T1" fmla="*/ 0 h 66"/>
              <a:gd name="T2" fmla="*/ 0 w 66"/>
              <a:gd name="T3" fmla="*/ 66 h 66"/>
              <a:gd name="T4" fmla="*/ 66 w 66"/>
              <a:gd name="T5" fmla="*/ 66 h 66"/>
            </a:gdLst>
            <a:ahLst/>
            <a:cxnLst>
              <a:cxn ang="0">
                <a:pos x="T0" y="T1"/>
              </a:cxn>
              <a:cxn ang="0">
                <a:pos x="T2" y="T3"/>
              </a:cxn>
              <a:cxn ang="0">
                <a:pos x="T4" y="T5"/>
              </a:cxn>
            </a:cxnLst>
            <a:rect l="0" t="0" r="r" b="b"/>
            <a:pathLst>
              <a:path w="66" h="66">
                <a:moveTo>
                  <a:pt x="0" y="0"/>
                </a:moveTo>
                <a:lnTo>
                  <a:pt x="0" y="66"/>
                </a:lnTo>
                <a:lnTo>
                  <a:pt x="66" y="66"/>
                </a:lnTo>
              </a:path>
            </a:pathLst>
          </a:custGeom>
          <a:noFill/>
          <a:ln w="95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16" name="Freeform 12"/>
          <p:cNvSpPr>
            <a:spLocks/>
          </p:cNvSpPr>
          <p:nvPr/>
        </p:nvSpPr>
        <p:spPr bwMode="auto">
          <a:xfrm>
            <a:off x="1873250" y="1546225"/>
            <a:ext cx="57150" cy="131763"/>
          </a:xfrm>
          <a:custGeom>
            <a:avLst/>
            <a:gdLst>
              <a:gd name="T0" fmla="*/ 15 w 31"/>
              <a:gd name="T1" fmla="*/ 0 h 63"/>
              <a:gd name="T2" fmla="*/ 0 w 31"/>
              <a:gd name="T3" fmla="*/ 63 h 63"/>
              <a:gd name="T4" fmla="*/ 31 w 31"/>
              <a:gd name="T5" fmla="*/ 63 h 63"/>
              <a:gd name="T6" fmla="*/ 15 w 31"/>
              <a:gd name="T7" fmla="*/ 0 h 63"/>
            </a:gdLst>
            <a:ahLst/>
            <a:cxnLst>
              <a:cxn ang="0">
                <a:pos x="T0" y="T1"/>
              </a:cxn>
              <a:cxn ang="0">
                <a:pos x="T2" y="T3"/>
              </a:cxn>
              <a:cxn ang="0">
                <a:pos x="T4" y="T5"/>
              </a:cxn>
              <a:cxn ang="0">
                <a:pos x="T6" y="T7"/>
              </a:cxn>
            </a:cxnLst>
            <a:rect l="0" t="0" r="r" b="b"/>
            <a:pathLst>
              <a:path w="31" h="63">
                <a:moveTo>
                  <a:pt x="15" y="0"/>
                </a:moveTo>
                <a:lnTo>
                  <a:pt x="0" y="63"/>
                </a:lnTo>
                <a:lnTo>
                  <a:pt x="31" y="63"/>
                </a:lnTo>
                <a:lnTo>
                  <a:pt x="1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17" name="Oval 13"/>
          <p:cNvSpPr>
            <a:spLocks noChangeArrowheads="1"/>
          </p:cNvSpPr>
          <p:nvPr/>
        </p:nvSpPr>
        <p:spPr bwMode="auto">
          <a:xfrm>
            <a:off x="1685925" y="1533525"/>
            <a:ext cx="431800" cy="496888"/>
          </a:xfrm>
          <a:prstGeom prst="ellipse">
            <a:avLst/>
          </a:prstGeom>
          <a:noFill/>
          <a:ln w="14288" cap="rnd">
            <a:solidFill>
              <a:srgbClr val="0078C1"/>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18" name="Line 14"/>
          <p:cNvSpPr>
            <a:spLocks noChangeShapeType="1"/>
          </p:cNvSpPr>
          <p:nvPr/>
        </p:nvSpPr>
        <p:spPr bwMode="auto">
          <a:xfrm>
            <a:off x="1895475" y="2598738"/>
            <a:ext cx="1588" cy="776287"/>
          </a:xfrm>
          <a:prstGeom prst="line">
            <a:avLst/>
          </a:prstGeom>
          <a:noFill/>
          <a:ln w="396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2319" name="Line 15"/>
          <p:cNvSpPr>
            <a:spLocks noChangeShapeType="1"/>
          </p:cNvSpPr>
          <p:nvPr/>
        </p:nvSpPr>
        <p:spPr bwMode="auto">
          <a:xfrm>
            <a:off x="1901825" y="2592388"/>
            <a:ext cx="227013" cy="885825"/>
          </a:xfrm>
          <a:prstGeom prst="line">
            <a:avLst/>
          </a:prstGeom>
          <a:noFill/>
          <a:ln w="396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2320" name="Line 16"/>
          <p:cNvSpPr>
            <a:spLocks noChangeShapeType="1"/>
          </p:cNvSpPr>
          <p:nvPr/>
        </p:nvSpPr>
        <p:spPr bwMode="auto">
          <a:xfrm flipH="1">
            <a:off x="1673225" y="2592388"/>
            <a:ext cx="228600" cy="885825"/>
          </a:xfrm>
          <a:prstGeom prst="line">
            <a:avLst/>
          </a:prstGeom>
          <a:noFill/>
          <a:ln w="39688"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82321" name="Rectangle 17"/>
          <p:cNvSpPr>
            <a:spLocks noChangeArrowheads="1"/>
          </p:cNvSpPr>
          <p:nvPr/>
        </p:nvSpPr>
        <p:spPr bwMode="auto">
          <a:xfrm>
            <a:off x="1681163" y="1951038"/>
            <a:ext cx="447675" cy="625475"/>
          </a:xfrm>
          <a:prstGeom prst="rect">
            <a:avLst/>
          </a:prstGeom>
          <a:solidFill>
            <a:srgbClr val="FFFFFF"/>
          </a:solidFill>
          <a:ln w="14288" cap="rnd">
            <a:solidFill>
              <a:srgbClr val="0078C1"/>
            </a:solidFill>
            <a:round/>
            <a:headEnd/>
            <a:tailEnd/>
          </a:ln>
        </p:spPr>
        <p:txBody>
          <a:bodyPr/>
          <a:lstStyle/>
          <a:p>
            <a:endParaRPr lang="en-US"/>
          </a:p>
        </p:txBody>
      </p:sp>
      <p:sp>
        <p:nvSpPr>
          <p:cNvPr id="482322" name="Freeform 18"/>
          <p:cNvSpPr>
            <a:spLocks/>
          </p:cNvSpPr>
          <p:nvPr/>
        </p:nvSpPr>
        <p:spPr bwMode="auto">
          <a:xfrm>
            <a:off x="2128838" y="2036763"/>
            <a:ext cx="90487" cy="184150"/>
          </a:xfrm>
          <a:custGeom>
            <a:avLst/>
            <a:gdLst>
              <a:gd name="T0" fmla="*/ 0 w 50"/>
              <a:gd name="T1" fmla="*/ 66 h 88"/>
              <a:gd name="T2" fmla="*/ 50 w 50"/>
              <a:gd name="T3" fmla="*/ 88 h 88"/>
              <a:gd name="T4" fmla="*/ 50 w 50"/>
              <a:gd name="T5" fmla="*/ 0 h 88"/>
              <a:gd name="T6" fmla="*/ 0 w 50"/>
              <a:gd name="T7" fmla="*/ 19 h 88"/>
            </a:gdLst>
            <a:ahLst/>
            <a:cxnLst>
              <a:cxn ang="0">
                <a:pos x="T0" y="T1"/>
              </a:cxn>
              <a:cxn ang="0">
                <a:pos x="T2" y="T3"/>
              </a:cxn>
              <a:cxn ang="0">
                <a:pos x="T4" y="T5"/>
              </a:cxn>
              <a:cxn ang="0">
                <a:pos x="T6" y="T7"/>
              </a:cxn>
            </a:cxnLst>
            <a:rect l="0" t="0" r="r" b="b"/>
            <a:pathLst>
              <a:path w="50" h="88">
                <a:moveTo>
                  <a:pt x="0" y="66"/>
                </a:moveTo>
                <a:lnTo>
                  <a:pt x="50" y="88"/>
                </a:lnTo>
                <a:lnTo>
                  <a:pt x="50" y="0"/>
                </a:lnTo>
                <a:lnTo>
                  <a:pt x="0" y="19"/>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23" name="Freeform 19"/>
          <p:cNvSpPr>
            <a:spLocks/>
          </p:cNvSpPr>
          <p:nvPr/>
        </p:nvSpPr>
        <p:spPr bwMode="auto">
          <a:xfrm>
            <a:off x="969963" y="2257425"/>
            <a:ext cx="96837" cy="358775"/>
          </a:xfrm>
          <a:custGeom>
            <a:avLst/>
            <a:gdLst>
              <a:gd name="T0" fmla="*/ 22 w 53"/>
              <a:gd name="T1" fmla="*/ 0 h 172"/>
              <a:gd name="T2" fmla="*/ 0 w 53"/>
              <a:gd name="T3" fmla="*/ 47 h 172"/>
              <a:gd name="T4" fmla="*/ 16 w 53"/>
              <a:gd name="T5" fmla="*/ 172 h 172"/>
              <a:gd name="T6" fmla="*/ 53 w 53"/>
              <a:gd name="T7" fmla="*/ 57 h 172"/>
              <a:gd name="T8" fmla="*/ 22 w 53"/>
              <a:gd name="T9" fmla="*/ 0 h 172"/>
            </a:gdLst>
            <a:ahLst/>
            <a:cxnLst>
              <a:cxn ang="0">
                <a:pos x="T0" y="T1"/>
              </a:cxn>
              <a:cxn ang="0">
                <a:pos x="T2" y="T3"/>
              </a:cxn>
              <a:cxn ang="0">
                <a:pos x="T4" y="T5"/>
              </a:cxn>
              <a:cxn ang="0">
                <a:pos x="T6" y="T7"/>
              </a:cxn>
              <a:cxn ang="0">
                <a:pos x="T8" y="T9"/>
              </a:cxn>
            </a:cxnLst>
            <a:rect l="0" t="0" r="r" b="b"/>
            <a:pathLst>
              <a:path w="53" h="172">
                <a:moveTo>
                  <a:pt x="22" y="0"/>
                </a:moveTo>
                <a:lnTo>
                  <a:pt x="0" y="47"/>
                </a:lnTo>
                <a:lnTo>
                  <a:pt x="16" y="172"/>
                </a:lnTo>
                <a:lnTo>
                  <a:pt x="53" y="57"/>
                </a:lnTo>
                <a:lnTo>
                  <a:pt x="22" y="0"/>
                </a:lnTo>
                <a:close/>
              </a:path>
            </a:pathLst>
          </a:custGeom>
          <a:solidFill>
            <a:srgbClr val="FFFFFF"/>
          </a:solidFill>
          <a:ln w="9525" cap="rnd">
            <a:solidFill>
              <a:srgbClr val="000000"/>
            </a:solidFill>
            <a:prstDash val="solid"/>
            <a:round/>
            <a:headEnd/>
            <a:tailEnd/>
          </a:ln>
        </p:spPr>
        <p:txBody>
          <a:bodyPr/>
          <a:lstStyle/>
          <a:p>
            <a:endParaRPr lang="en-US"/>
          </a:p>
        </p:txBody>
      </p:sp>
      <p:sp>
        <p:nvSpPr>
          <p:cNvPr id="482324" name="Freeform 20"/>
          <p:cNvSpPr>
            <a:spLocks/>
          </p:cNvSpPr>
          <p:nvPr/>
        </p:nvSpPr>
        <p:spPr bwMode="auto">
          <a:xfrm>
            <a:off x="969963" y="2009775"/>
            <a:ext cx="165100" cy="339725"/>
          </a:xfrm>
          <a:custGeom>
            <a:avLst/>
            <a:gdLst>
              <a:gd name="T0" fmla="*/ 29 w 29"/>
              <a:gd name="T1" fmla="*/ 0 h 52"/>
              <a:gd name="T2" fmla="*/ 12 w 29"/>
              <a:gd name="T3" fmla="*/ 22 h 52"/>
              <a:gd name="T4" fmla="*/ 7 w 29"/>
              <a:gd name="T5" fmla="*/ 30 h 52"/>
              <a:gd name="T6" fmla="*/ 2 w 29"/>
              <a:gd name="T7" fmla="*/ 41 h 52"/>
              <a:gd name="T8" fmla="*/ 0 w 29"/>
              <a:gd name="T9" fmla="*/ 43 h 52"/>
              <a:gd name="T10" fmla="*/ 21 w 29"/>
              <a:gd name="T11" fmla="*/ 52 h 52"/>
              <a:gd name="T12" fmla="*/ 29 w 29"/>
              <a:gd name="T13" fmla="*/ 0 h 52"/>
            </a:gdLst>
            <a:ahLst/>
            <a:cxnLst>
              <a:cxn ang="0">
                <a:pos x="T0" y="T1"/>
              </a:cxn>
              <a:cxn ang="0">
                <a:pos x="T2" y="T3"/>
              </a:cxn>
              <a:cxn ang="0">
                <a:pos x="T4" y="T5"/>
              </a:cxn>
              <a:cxn ang="0">
                <a:pos x="T6" y="T7"/>
              </a:cxn>
              <a:cxn ang="0">
                <a:pos x="T8" y="T9"/>
              </a:cxn>
              <a:cxn ang="0">
                <a:pos x="T10" y="T11"/>
              </a:cxn>
              <a:cxn ang="0">
                <a:pos x="T12" y="T13"/>
              </a:cxn>
            </a:cxnLst>
            <a:rect l="0" t="0" r="r" b="b"/>
            <a:pathLst>
              <a:path w="29" h="52">
                <a:moveTo>
                  <a:pt x="29" y="0"/>
                </a:moveTo>
                <a:cubicBezTo>
                  <a:pt x="29" y="0"/>
                  <a:pt x="15" y="18"/>
                  <a:pt x="12" y="22"/>
                </a:cubicBezTo>
                <a:cubicBezTo>
                  <a:pt x="10" y="25"/>
                  <a:pt x="8" y="28"/>
                  <a:pt x="7" y="30"/>
                </a:cubicBezTo>
                <a:cubicBezTo>
                  <a:pt x="6" y="32"/>
                  <a:pt x="2" y="41"/>
                  <a:pt x="2" y="41"/>
                </a:cubicBezTo>
                <a:cubicBezTo>
                  <a:pt x="0" y="43"/>
                  <a:pt x="0" y="43"/>
                  <a:pt x="0" y="43"/>
                </a:cubicBezTo>
                <a:cubicBezTo>
                  <a:pt x="21" y="52"/>
                  <a:pt x="21" y="52"/>
                  <a:pt x="21" y="52"/>
                </a:cubicBezTo>
                <a:lnTo>
                  <a:pt x="29" y="0"/>
                </a:lnTo>
                <a:close/>
              </a:path>
            </a:pathLst>
          </a:custGeom>
          <a:solidFill>
            <a:srgbClr val="FFFFFF"/>
          </a:solidFill>
          <a:ln w="9525" cap="rnd">
            <a:solidFill>
              <a:srgbClr val="000000"/>
            </a:solidFill>
            <a:prstDash val="solid"/>
            <a:round/>
            <a:headEnd/>
            <a:tailEnd/>
          </a:ln>
        </p:spPr>
        <p:txBody>
          <a:bodyPr/>
          <a:lstStyle/>
          <a:p>
            <a:endParaRPr lang="en-US"/>
          </a:p>
        </p:txBody>
      </p:sp>
      <p:sp>
        <p:nvSpPr>
          <p:cNvPr id="482325" name="Freeform 21"/>
          <p:cNvSpPr>
            <a:spLocks/>
          </p:cNvSpPr>
          <p:nvPr/>
        </p:nvSpPr>
        <p:spPr bwMode="auto">
          <a:xfrm>
            <a:off x="1066800" y="1592263"/>
            <a:ext cx="301625" cy="484187"/>
          </a:xfrm>
          <a:custGeom>
            <a:avLst/>
            <a:gdLst>
              <a:gd name="T0" fmla="*/ 41 w 53"/>
              <a:gd name="T1" fmla="*/ 14 h 74"/>
              <a:gd name="T2" fmla="*/ 46 w 53"/>
              <a:gd name="T3" fmla="*/ 22 h 74"/>
              <a:gd name="T4" fmla="*/ 48 w 53"/>
              <a:gd name="T5" fmla="*/ 30 h 74"/>
              <a:gd name="T6" fmla="*/ 47 w 53"/>
              <a:gd name="T7" fmla="*/ 34 h 74"/>
              <a:gd name="T8" fmla="*/ 51 w 53"/>
              <a:gd name="T9" fmla="*/ 38 h 74"/>
              <a:gd name="T10" fmla="*/ 52 w 53"/>
              <a:gd name="T11" fmla="*/ 40 h 74"/>
              <a:gd name="T12" fmla="*/ 52 w 53"/>
              <a:gd name="T13" fmla="*/ 42 h 74"/>
              <a:gd name="T14" fmla="*/ 49 w 53"/>
              <a:gd name="T15" fmla="*/ 44 h 74"/>
              <a:gd name="T16" fmla="*/ 50 w 53"/>
              <a:gd name="T17" fmla="*/ 47 h 74"/>
              <a:gd name="T18" fmla="*/ 48 w 53"/>
              <a:gd name="T19" fmla="*/ 49 h 74"/>
              <a:gd name="T20" fmla="*/ 49 w 53"/>
              <a:gd name="T21" fmla="*/ 50 h 74"/>
              <a:gd name="T22" fmla="*/ 49 w 53"/>
              <a:gd name="T23" fmla="*/ 52 h 74"/>
              <a:gd name="T24" fmla="*/ 47 w 53"/>
              <a:gd name="T25" fmla="*/ 52 h 74"/>
              <a:gd name="T26" fmla="*/ 45 w 53"/>
              <a:gd name="T27" fmla="*/ 54 h 74"/>
              <a:gd name="T28" fmla="*/ 46 w 53"/>
              <a:gd name="T29" fmla="*/ 57 h 74"/>
              <a:gd name="T30" fmla="*/ 45 w 53"/>
              <a:gd name="T31" fmla="*/ 58 h 74"/>
              <a:gd name="T32" fmla="*/ 42 w 53"/>
              <a:gd name="T33" fmla="*/ 60 h 74"/>
              <a:gd name="T34" fmla="*/ 37 w 53"/>
              <a:gd name="T35" fmla="*/ 60 h 74"/>
              <a:gd name="T36" fmla="*/ 34 w 53"/>
              <a:gd name="T37" fmla="*/ 67 h 74"/>
              <a:gd name="T38" fmla="*/ 33 w 53"/>
              <a:gd name="T39" fmla="*/ 74 h 74"/>
              <a:gd name="T40" fmla="*/ 20 w 53"/>
              <a:gd name="T41" fmla="*/ 67 h 74"/>
              <a:gd name="T42" fmla="*/ 17 w 53"/>
              <a:gd name="T43" fmla="*/ 63 h 74"/>
              <a:gd name="T44" fmla="*/ 18 w 53"/>
              <a:gd name="T45" fmla="*/ 55 h 74"/>
              <a:gd name="T46" fmla="*/ 11 w 53"/>
              <a:gd name="T47" fmla="*/ 42 h 74"/>
              <a:gd name="T48" fmla="*/ 41 w 53"/>
              <a:gd name="T49" fmla="*/ 14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3" h="74">
                <a:moveTo>
                  <a:pt x="41" y="14"/>
                </a:moveTo>
                <a:cubicBezTo>
                  <a:pt x="41" y="14"/>
                  <a:pt x="44" y="16"/>
                  <a:pt x="46" y="22"/>
                </a:cubicBezTo>
                <a:cubicBezTo>
                  <a:pt x="47" y="25"/>
                  <a:pt x="48" y="26"/>
                  <a:pt x="48" y="30"/>
                </a:cubicBezTo>
                <a:cubicBezTo>
                  <a:pt x="48" y="32"/>
                  <a:pt x="47" y="33"/>
                  <a:pt x="47" y="34"/>
                </a:cubicBezTo>
                <a:cubicBezTo>
                  <a:pt x="47" y="35"/>
                  <a:pt x="51" y="38"/>
                  <a:pt x="51" y="38"/>
                </a:cubicBezTo>
                <a:cubicBezTo>
                  <a:pt x="52" y="40"/>
                  <a:pt x="52" y="40"/>
                  <a:pt x="52" y="40"/>
                </a:cubicBezTo>
                <a:cubicBezTo>
                  <a:pt x="52" y="40"/>
                  <a:pt x="53" y="41"/>
                  <a:pt x="52" y="42"/>
                </a:cubicBezTo>
                <a:cubicBezTo>
                  <a:pt x="51" y="44"/>
                  <a:pt x="49" y="44"/>
                  <a:pt x="49" y="44"/>
                </a:cubicBezTo>
                <a:cubicBezTo>
                  <a:pt x="50" y="47"/>
                  <a:pt x="50" y="47"/>
                  <a:pt x="50" y="47"/>
                </a:cubicBezTo>
                <a:cubicBezTo>
                  <a:pt x="48" y="49"/>
                  <a:pt x="48" y="49"/>
                  <a:pt x="48" y="49"/>
                </a:cubicBezTo>
                <a:cubicBezTo>
                  <a:pt x="49" y="50"/>
                  <a:pt x="49" y="50"/>
                  <a:pt x="49" y="50"/>
                </a:cubicBezTo>
                <a:cubicBezTo>
                  <a:pt x="49" y="52"/>
                  <a:pt x="49" y="52"/>
                  <a:pt x="49" y="52"/>
                </a:cubicBezTo>
                <a:cubicBezTo>
                  <a:pt x="49" y="52"/>
                  <a:pt x="48" y="52"/>
                  <a:pt x="47" y="52"/>
                </a:cubicBezTo>
                <a:cubicBezTo>
                  <a:pt x="46" y="53"/>
                  <a:pt x="45" y="54"/>
                  <a:pt x="45" y="54"/>
                </a:cubicBezTo>
                <a:cubicBezTo>
                  <a:pt x="46" y="57"/>
                  <a:pt x="46" y="57"/>
                  <a:pt x="46" y="57"/>
                </a:cubicBezTo>
                <a:cubicBezTo>
                  <a:pt x="46" y="57"/>
                  <a:pt x="46" y="58"/>
                  <a:pt x="45" y="58"/>
                </a:cubicBezTo>
                <a:cubicBezTo>
                  <a:pt x="45" y="59"/>
                  <a:pt x="43" y="60"/>
                  <a:pt x="42" y="60"/>
                </a:cubicBezTo>
                <a:cubicBezTo>
                  <a:pt x="42" y="60"/>
                  <a:pt x="37" y="59"/>
                  <a:pt x="37" y="60"/>
                </a:cubicBezTo>
                <a:cubicBezTo>
                  <a:pt x="36" y="61"/>
                  <a:pt x="35" y="65"/>
                  <a:pt x="34" y="67"/>
                </a:cubicBezTo>
                <a:cubicBezTo>
                  <a:pt x="33" y="70"/>
                  <a:pt x="34" y="73"/>
                  <a:pt x="33" y="74"/>
                </a:cubicBezTo>
                <a:cubicBezTo>
                  <a:pt x="32" y="74"/>
                  <a:pt x="22" y="69"/>
                  <a:pt x="20" y="67"/>
                </a:cubicBezTo>
                <a:cubicBezTo>
                  <a:pt x="18" y="66"/>
                  <a:pt x="17" y="63"/>
                  <a:pt x="17" y="63"/>
                </a:cubicBezTo>
                <a:cubicBezTo>
                  <a:pt x="18" y="55"/>
                  <a:pt x="18" y="55"/>
                  <a:pt x="18" y="55"/>
                </a:cubicBezTo>
                <a:cubicBezTo>
                  <a:pt x="18" y="55"/>
                  <a:pt x="13" y="46"/>
                  <a:pt x="11" y="42"/>
                </a:cubicBezTo>
                <a:cubicBezTo>
                  <a:pt x="11" y="42"/>
                  <a:pt x="0" y="0"/>
                  <a:pt x="41" y="14"/>
                </a:cubicBezTo>
                <a:close/>
              </a:path>
            </a:pathLst>
          </a:custGeom>
          <a:solidFill>
            <a:srgbClr val="FFFFFF"/>
          </a:solidFill>
          <a:ln w="9525" cap="rnd">
            <a:solidFill>
              <a:srgbClr val="000000"/>
            </a:solidFill>
            <a:prstDash val="solid"/>
            <a:round/>
            <a:headEnd/>
            <a:tailEnd/>
          </a:ln>
        </p:spPr>
        <p:txBody>
          <a:bodyPr/>
          <a:lstStyle/>
          <a:p>
            <a:endParaRPr lang="en-US"/>
          </a:p>
        </p:txBody>
      </p:sp>
      <p:sp>
        <p:nvSpPr>
          <p:cNvPr id="482326" name="Freeform 22"/>
          <p:cNvSpPr>
            <a:spLocks/>
          </p:cNvSpPr>
          <p:nvPr/>
        </p:nvSpPr>
        <p:spPr bwMode="auto">
          <a:xfrm>
            <a:off x="1201738" y="1885950"/>
            <a:ext cx="17462" cy="12700"/>
          </a:xfrm>
          <a:custGeom>
            <a:avLst/>
            <a:gdLst>
              <a:gd name="T0" fmla="*/ 0 w 3"/>
              <a:gd name="T1" fmla="*/ 0 h 2"/>
              <a:gd name="T2" fmla="*/ 2 w 3"/>
              <a:gd name="T3" fmla="*/ 1 h 2"/>
              <a:gd name="T4" fmla="*/ 3 w 3"/>
              <a:gd name="T5" fmla="*/ 0 h 2"/>
              <a:gd name="T6" fmla="*/ 2 w 3"/>
              <a:gd name="T7" fmla="*/ 2 h 2"/>
              <a:gd name="T8" fmla="*/ 2 w 3"/>
              <a:gd name="T9" fmla="*/ 2 h 2"/>
              <a:gd name="T10" fmla="*/ 1 w 3"/>
              <a:gd name="T11" fmla="*/ 2 h 2"/>
              <a:gd name="T12" fmla="*/ 0 w 3"/>
              <a:gd name="T13" fmla="*/ 1 h 2"/>
              <a:gd name="T14" fmla="*/ 0 w 3"/>
              <a:gd name="T15" fmla="*/ 0 h 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2">
                <a:moveTo>
                  <a:pt x="0" y="0"/>
                </a:moveTo>
                <a:cubicBezTo>
                  <a:pt x="0" y="0"/>
                  <a:pt x="1" y="1"/>
                  <a:pt x="2" y="1"/>
                </a:cubicBezTo>
                <a:cubicBezTo>
                  <a:pt x="2" y="1"/>
                  <a:pt x="3" y="0"/>
                  <a:pt x="3" y="0"/>
                </a:cubicBezTo>
                <a:cubicBezTo>
                  <a:pt x="3" y="0"/>
                  <a:pt x="2" y="2"/>
                  <a:pt x="2" y="2"/>
                </a:cubicBezTo>
                <a:cubicBezTo>
                  <a:pt x="2" y="2"/>
                  <a:pt x="2" y="2"/>
                  <a:pt x="2" y="2"/>
                </a:cubicBezTo>
                <a:cubicBezTo>
                  <a:pt x="2" y="2"/>
                  <a:pt x="2" y="2"/>
                  <a:pt x="1" y="2"/>
                </a:cubicBezTo>
                <a:cubicBezTo>
                  <a:pt x="1" y="2"/>
                  <a:pt x="0" y="1"/>
                  <a:pt x="0" y="1"/>
                </a:cubicBez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27" name="Freeform 23"/>
          <p:cNvSpPr>
            <a:spLocks/>
          </p:cNvSpPr>
          <p:nvPr/>
        </p:nvSpPr>
        <p:spPr bwMode="auto">
          <a:xfrm>
            <a:off x="1287463" y="1793875"/>
            <a:ext cx="50800" cy="22225"/>
          </a:xfrm>
          <a:custGeom>
            <a:avLst/>
            <a:gdLst>
              <a:gd name="T0" fmla="*/ 9 w 9"/>
              <a:gd name="T1" fmla="*/ 1 h 3"/>
              <a:gd name="T2" fmla="*/ 6 w 9"/>
              <a:gd name="T3" fmla="*/ 0 h 3"/>
              <a:gd name="T4" fmla="*/ 4 w 9"/>
              <a:gd name="T5" fmla="*/ 0 h 3"/>
              <a:gd name="T6" fmla="*/ 2 w 9"/>
              <a:gd name="T7" fmla="*/ 2 h 3"/>
              <a:gd name="T8" fmla="*/ 0 w 9"/>
              <a:gd name="T9" fmla="*/ 2 h 3"/>
              <a:gd name="T10" fmla="*/ 4 w 9"/>
              <a:gd name="T11" fmla="*/ 2 h 3"/>
              <a:gd name="T12" fmla="*/ 6 w 9"/>
              <a:gd name="T13" fmla="*/ 2 h 3"/>
              <a:gd name="T14" fmla="*/ 7 w 9"/>
              <a:gd name="T15" fmla="*/ 2 h 3"/>
              <a:gd name="T16" fmla="*/ 9 w 9"/>
              <a:gd name="T17" fmla="*/ 1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3">
                <a:moveTo>
                  <a:pt x="9" y="1"/>
                </a:moveTo>
                <a:cubicBezTo>
                  <a:pt x="9" y="1"/>
                  <a:pt x="7" y="0"/>
                  <a:pt x="6" y="0"/>
                </a:cubicBezTo>
                <a:cubicBezTo>
                  <a:pt x="5" y="0"/>
                  <a:pt x="4" y="0"/>
                  <a:pt x="4" y="0"/>
                </a:cubicBezTo>
                <a:cubicBezTo>
                  <a:pt x="2" y="2"/>
                  <a:pt x="2" y="2"/>
                  <a:pt x="2" y="2"/>
                </a:cubicBezTo>
                <a:cubicBezTo>
                  <a:pt x="0" y="2"/>
                  <a:pt x="0" y="2"/>
                  <a:pt x="0" y="2"/>
                </a:cubicBezTo>
                <a:cubicBezTo>
                  <a:pt x="4" y="2"/>
                  <a:pt x="4" y="2"/>
                  <a:pt x="4" y="2"/>
                </a:cubicBezTo>
                <a:cubicBezTo>
                  <a:pt x="6" y="2"/>
                  <a:pt x="6" y="2"/>
                  <a:pt x="6" y="2"/>
                </a:cubicBezTo>
                <a:cubicBezTo>
                  <a:pt x="6" y="2"/>
                  <a:pt x="6" y="1"/>
                  <a:pt x="7" y="2"/>
                </a:cubicBezTo>
                <a:cubicBezTo>
                  <a:pt x="7" y="3"/>
                  <a:pt x="9" y="1"/>
                  <a:pt x="9"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28" name="Freeform 24"/>
          <p:cNvSpPr>
            <a:spLocks/>
          </p:cNvSpPr>
          <p:nvPr/>
        </p:nvSpPr>
        <p:spPr bwMode="auto">
          <a:xfrm>
            <a:off x="1309688" y="1898650"/>
            <a:ext cx="39687" cy="14288"/>
          </a:xfrm>
          <a:custGeom>
            <a:avLst/>
            <a:gdLst>
              <a:gd name="T0" fmla="*/ 7 w 7"/>
              <a:gd name="T1" fmla="*/ 0 h 2"/>
              <a:gd name="T2" fmla="*/ 6 w 7"/>
              <a:gd name="T3" fmla="*/ 0 h 2"/>
              <a:gd name="T4" fmla="*/ 3 w 7"/>
              <a:gd name="T5" fmla="*/ 1 h 2"/>
              <a:gd name="T6" fmla="*/ 0 w 7"/>
              <a:gd name="T7" fmla="*/ 2 h 2"/>
              <a:gd name="T8" fmla="*/ 3 w 7"/>
              <a:gd name="T9" fmla="*/ 2 h 2"/>
              <a:gd name="T10" fmla="*/ 5 w 7"/>
              <a:gd name="T11" fmla="*/ 2 h 2"/>
              <a:gd name="T12" fmla="*/ 7 w 7"/>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7" h="2">
                <a:moveTo>
                  <a:pt x="7" y="0"/>
                </a:moveTo>
                <a:cubicBezTo>
                  <a:pt x="7" y="0"/>
                  <a:pt x="6" y="0"/>
                  <a:pt x="6" y="0"/>
                </a:cubicBezTo>
                <a:cubicBezTo>
                  <a:pt x="5" y="0"/>
                  <a:pt x="3" y="1"/>
                  <a:pt x="3" y="1"/>
                </a:cubicBezTo>
                <a:cubicBezTo>
                  <a:pt x="0" y="2"/>
                  <a:pt x="0" y="2"/>
                  <a:pt x="0" y="2"/>
                </a:cubicBezTo>
                <a:cubicBezTo>
                  <a:pt x="3" y="2"/>
                  <a:pt x="3" y="2"/>
                  <a:pt x="3" y="2"/>
                </a:cubicBezTo>
                <a:cubicBezTo>
                  <a:pt x="5" y="2"/>
                  <a:pt x="5" y="2"/>
                  <a:pt x="5" y="2"/>
                </a:cubicBez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29" name="Freeform 25"/>
          <p:cNvSpPr>
            <a:spLocks/>
          </p:cNvSpPr>
          <p:nvPr/>
        </p:nvSpPr>
        <p:spPr bwMode="auto">
          <a:xfrm>
            <a:off x="1293813" y="1809750"/>
            <a:ext cx="34925" cy="17463"/>
          </a:xfrm>
          <a:custGeom>
            <a:avLst/>
            <a:gdLst>
              <a:gd name="T0" fmla="*/ 16 w 19"/>
              <a:gd name="T1" fmla="*/ 3 h 9"/>
              <a:gd name="T2" fmla="*/ 19 w 19"/>
              <a:gd name="T3" fmla="*/ 6 h 9"/>
              <a:gd name="T4" fmla="*/ 16 w 19"/>
              <a:gd name="T5" fmla="*/ 6 h 9"/>
              <a:gd name="T6" fmla="*/ 0 w 19"/>
              <a:gd name="T7" fmla="*/ 9 h 9"/>
              <a:gd name="T8" fmla="*/ 13 w 19"/>
              <a:gd name="T9" fmla="*/ 3 h 9"/>
              <a:gd name="T10" fmla="*/ 16 w 19"/>
              <a:gd name="T11" fmla="*/ 0 h 9"/>
              <a:gd name="T12" fmla="*/ 16 w 19"/>
              <a:gd name="T13" fmla="*/ 3 h 9"/>
            </a:gdLst>
            <a:ahLst/>
            <a:cxnLst>
              <a:cxn ang="0">
                <a:pos x="T0" y="T1"/>
              </a:cxn>
              <a:cxn ang="0">
                <a:pos x="T2" y="T3"/>
              </a:cxn>
              <a:cxn ang="0">
                <a:pos x="T4" y="T5"/>
              </a:cxn>
              <a:cxn ang="0">
                <a:pos x="T6" y="T7"/>
              </a:cxn>
              <a:cxn ang="0">
                <a:pos x="T8" y="T9"/>
              </a:cxn>
              <a:cxn ang="0">
                <a:pos x="T10" y="T11"/>
              </a:cxn>
              <a:cxn ang="0">
                <a:pos x="T12" y="T13"/>
              </a:cxn>
            </a:cxnLst>
            <a:rect l="0" t="0" r="r" b="b"/>
            <a:pathLst>
              <a:path w="19" h="9">
                <a:moveTo>
                  <a:pt x="16" y="3"/>
                </a:moveTo>
                <a:lnTo>
                  <a:pt x="19" y="6"/>
                </a:lnTo>
                <a:lnTo>
                  <a:pt x="16" y="6"/>
                </a:lnTo>
                <a:lnTo>
                  <a:pt x="0" y="9"/>
                </a:lnTo>
                <a:lnTo>
                  <a:pt x="13" y="3"/>
                </a:lnTo>
                <a:lnTo>
                  <a:pt x="16" y="0"/>
                </a:lnTo>
                <a:lnTo>
                  <a:pt x="16" y="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30" name="Freeform 26"/>
          <p:cNvSpPr>
            <a:spLocks/>
          </p:cNvSpPr>
          <p:nvPr/>
        </p:nvSpPr>
        <p:spPr bwMode="auto">
          <a:xfrm>
            <a:off x="1309688" y="1820863"/>
            <a:ext cx="12700" cy="12700"/>
          </a:xfrm>
          <a:custGeom>
            <a:avLst/>
            <a:gdLst>
              <a:gd name="T0" fmla="*/ 1 w 2"/>
              <a:gd name="T1" fmla="*/ 2 h 2"/>
              <a:gd name="T2" fmla="*/ 2 w 2"/>
              <a:gd name="T3" fmla="*/ 0 h 2"/>
              <a:gd name="T4" fmla="*/ 0 w 2"/>
              <a:gd name="T5" fmla="*/ 1 h 2"/>
              <a:gd name="T6" fmla="*/ 1 w 2"/>
              <a:gd name="T7" fmla="*/ 2 h 2"/>
            </a:gdLst>
            <a:ahLst/>
            <a:cxnLst>
              <a:cxn ang="0">
                <a:pos x="T0" y="T1"/>
              </a:cxn>
              <a:cxn ang="0">
                <a:pos x="T2" y="T3"/>
              </a:cxn>
              <a:cxn ang="0">
                <a:pos x="T4" y="T5"/>
              </a:cxn>
              <a:cxn ang="0">
                <a:pos x="T6" y="T7"/>
              </a:cxn>
            </a:cxnLst>
            <a:rect l="0" t="0" r="r" b="b"/>
            <a:pathLst>
              <a:path w="2" h="2">
                <a:moveTo>
                  <a:pt x="1" y="2"/>
                </a:moveTo>
                <a:cubicBezTo>
                  <a:pt x="1" y="2"/>
                  <a:pt x="1" y="2"/>
                  <a:pt x="2" y="0"/>
                </a:cubicBezTo>
                <a:cubicBezTo>
                  <a:pt x="0" y="1"/>
                  <a:pt x="0" y="1"/>
                  <a:pt x="0" y="1"/>
                </a:cubicBezTo>
                <a:lnTo>
                  <a:pt x="1"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31" name="Freeform 27"/>
          <p:cNvSpPr>
            <a:spLocks/>
          </p:cNvSpPr>
          <p:nvPr/>
        </p:nvSpPr>
        <p:spPr bwMode="auto">
          <a:xfrm>
            <a:off x="1328738" y="1860550"/>
            <a:ext cx="9525" cy="25400"/>
          </a:xfrm>
          <a:custGeom>
            <a:avLst/>
            <a:gdLst>
              <a:gd name="T0" fmla="*/ 0 w 6"/>
              <a:gd name="T1" fmla="*/ 9 h 12"/>
              <a:gd name="T2" fmla="*/ 3 w 6"/>
              <a:gd name="T3" fmla="*/ 9 h 12"/>
              <a:gd name="T4" fmla="*/ 6 w 6"/>
              <a:gd name="T5" fmla="*/ 12 h 12"/>
              <a:gd name="T6" fmla="*/ 3 w 6"/>
              <a:gd name="T7" fmla="*/ 6 h 12"/>
              <a:gd name="T8" fmla="*/ 3 w 6"/>
              <a:gd name="T9" fmla="*/ 3 h 12"/>
              <a:gd name="T10" fmla="*/ 3 w 6"/>
              <a:gd name="T11" fmla="*/ 0 h 12"/>
              <a:gd name="T12" fmla="*/ 3 w 6"/>
              <a:gd name="T13" fmla="*/ 3 h 12"/>
              <a:gd name="T14" fmla="*/ 0 w 6"/>
              <a:gd name="T15" fmla="*/ 6 h 12"/>
              <a:gd name="T16" fmla="*/ 0 w 6"/>
              <a:gd name="T17" fmla="*/ 9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12">
                <a:moveTo>
                  <a:pt x="0" y="9"/>
                </a:moveTo>
                <a:lnTo>
                  <a:pt x="3" y="9"/>
                </a:lnTo>
                <a:lnTo>
                  <a:pt x="6" y="12"/>
                </a:lnTo>
                <a:lnTo>
                  <a:pt x="3" y="6"/>
                </a:lnTo>
                <a:lnTo>
                  <a:pt x="3" y="3"/>
                </a:lnTo>
                <a:lnTo>
                  <a:pt x="3" y="0"/>
                </a:lnTo>
                <a:lnTo>
                  <a:pt x="3" y="3"/>
                </a:lnTo>
                <a:lnTo>
                  <a:pt x="0" y="6"/>
                </a:lnTo>
                <a:lnTo>
                  <a:pt x="0"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32" name="Freeform 28"/>
          <p:cNvSpPr>
            <a:spLocks/>
          </p:cNvSpPr>
          <p:nvPr/>
        </p:nvSpPr>
        <p:spPr bwMode="auto">
          <a:xfrm>
            <a:off x="1225550" y="1905000"/>
            <a:ext cx="33338" cy="60325"/>
          </a:xfrm>
          <a:custGeom>
            <a:avLst/>
            <a:gdLst>
              <a:gd name="T0" fmla="*/ 0 w 6"/>
              <a:gd name="T1" fmla="*/ 0 h 9"/>
              <a:gd name="T2" fmla="*/ 6 w 6"/>
              <a:gd name="T3" fmla="*/ 9 h 9"/>
              <a:gd name="T4" fmla="*/ 0 w 6"/>
              <a:gd name="T5" fmla="*/ 4 h 9"/>
              <a:gd name="T6" fmla="*/ 0 w 6"/>
              <a:gd name="T7" fmla="*/ 0 h 9"/>
            </a:gdLst>
            <a:ahLst/>
            <a:cxnLst>
              <a:cxn ang="0">
                <a:pos x="T0" y="T1"/>
              </a:cxn>
              <a:cxn ang="0">
                <a:pos x="T2" y="T3"/>
              </a:cxn>
              <a:cxn ang="0">
                <a:pos x="T4" y="T5"/>
              </a:cxn>
              <a:cxn ang="0">
                <a:pos x="T6" y="T7"/>
              </a:cxn>
            </a:cxnLst>
            <a:rect l="0" t="0" r="r" b="b"/>
            <a:pathLst>
              <a:path w="6" h="9">
                <a:moveTo>
                  <a:pt x="0" y="0"/>
                </a:moveTo>
                <a:cubicBezTo>
                  <a:pt x="0" y="0"/>
                  <a:pt x="0" y="4"/>
                  <a:pt x="6" y="9"/>
                </a:cubicBezTo>
                <a:cubicBezTo>
                  <a:pt x="6" y="9"/>
                  <a:pt x="1" y="5"/>
                  <a:pt x="0" y="4"/>
                </a:cubicBezTo>
                <a:cubicBezTo>
                  <a:pt x="0" y="2"/>
                  <a:pt x="0" y="0"/>
                  <a:pt x="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33" name="Freeform 29"/>
          <p:cNvSpPr>
            <a:spLocks/>
          </p:cNvSpPr>
          <p:nvPr/>
        </p:nvSpPr>
        <p:spPr bwMode="auto">
          <a:xfrm>
            <a:off x="1076325" y="1638300"/>
            <a:ext cx="252413" cy="312738"/>
          </a:xfrm>
          <a:custGeom>
            <a:avLst/>
            <a:gdLst>
              <a:gd name="T0" fmla="*/ 41 w 44"/>
              <a:gd name="T1" fmla="*/ 8 h 48"/>
              <a:gd name="T2" fmla="*/ 21 w 44"/>
              <a:gd name="T3" fmla="*/ 2 h 48"/>
              <a:gd name="T4" fmla="*/ 1 w 44"/>
              <a:gd name="T5" fmla="*/ 18 h 48"/>
              <a:gd name="T6" fmla="*/ 10 w 44"/>
              <a:gd name="T7" fmla="*/ 41 h 48"/>
              <a:gd name="T8" fmla="*/ 15 w 44"/>
              <a:gd name="T9" fmla="*/ 48 h 48"/>
              <a:gd name="T10" fmla="*/ 17 w 44"/>
              <a:gd name="T11" fmla="*/ 43 h 48"/>
              <a:gd name="T12" fmla="*/ 22 w 44"/>
              <a:gd name="T13" fmla="*/ 38 h 48"/>
              <a:gd name="T14" fmla="*/ 20 w 44"/>
              <a:gd name="T15" fmla="*/ 26 h 48"/>
              <a:gd name="T16" fmla="*/ 26 w 44"/>
              <a:gd name="T17" fmla="*/ 30 h 48"/>
              <a:gd name="T18" fmla="*/ 34 w 44"/>
              <a:gd name="T19" fmla="*/ 25 h 48"/>
              <a:gd name="T20" fmla="*/ 44 w 44"/>
              <a:gd name="T21" fmla="*/ 12 h 48"/>
              <a:gd name="T22" fmla="*/ 41 w 44"/>
              <a:gd name="T23" fmla="*/ 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48">
                <a:moveTo>
                  <a:pt x="41" y="8"/>
                </a:moveTo>
                <a:cubicBezTo>
                  <a:pt x="41" y="8"/>
                  <a:pt x="28" y="0"/>
                  <a:pt x="21" y="2"/>
                </a:cubicBezTo>
                <a:cubicBezTo>
                  <a:pt x="14" y="3"/>
                  <a:pt x="1" y="5"/>
                  <a:pt x="1" y="18"/>
                </a:cubicBezTo>
                <a:cubicBezTo>
                  <a:pt x="0" y="31"/>
                  <a:pt x="7" y="39"/>
                  <a:pt x="10" y="41"/>
                </a:cubicBezTo>
                <a:cubicBezTo>
                  <a:pt x="12" y="43"/>
                  <a:pt x="15" y="48"/>
                  <a:pt x="15" y="48"/>
                </a:cubicBezTo>
                <a:cubicBezTo>
                  <a:pt x="15" y="48"/>
                  <a:pt x="16" y="45"/>
                  <a:pt x="17" y="43"/>
                </a:cubicBezTo>
                <a:cubicBezTo>
                  <a:pt x="17" y="42"/>
                  <a:pt x="22" y="39"/>
                  <a:pt x="22" y="38"/>
                </a:cubicBezTo>
                <a:cubicBezTo>
                  <a:pt x="21" y="38"/>
                  <a:pt x="11" y="30"/>
                  <a:pt x="20" y="26"/>
                </a:cubicBezTo>
                <a:cubicBezTo>
                  <a:pt x="26" y="23"/>
                  <a:pt x="26" y="30"/>
                  <a:pt x="26" y="30"/>
                </a:cubicBezTo>
                <a:cubicBezTo>
                  <a:pt x="26" y="30"/>
                  <a:pt x="33" y="25"/>
                  <a:pt x="34" y="25"/>
                </a:cubicBezTo>
                <a:cubicBezTo>
                  <a:pt x="35" y="24"/>
                  <a:pt x="44" y="12"/>
                  <a:pt x="44" y="12"/>
                </a:cubicBezTo>
                <a:lnTo>
                  <a:pt x="41" y="8"/>
                </a:lnTo>
                <a:close/>
              </a:path>
            </a:pathLst>
          </a:custGeom>
          <a:solidFill>
            <a:srgbClr val="939598"/>
          </a:solidFill>
          <a:ln w="9525" cap="rnd">
            <a:solidFill>
              <a:srgbClr val="000000"/>
            </a:solidFill>
            <a:prstDash val="solid"/>
            <a:round/>
            <a:headEnd/>
            <a:tailEnd/>
          </a:ln>
        </p:spPr>
        <p:txBody>
          <a:bodyPr/>
          <a:lstStyle/>
          <a:p>
            <a:endParaRPr lang="en-US"/>
          </a:p>
        </p:txBody>
      </p:sp>
      <p:sp>
        <p:nvSpPr>
          <p:cNvPr id="482334" name="Freeform 30"/>
          <p:cNvSpPr>
            <a:spLocks/>
          </p:cNvSpPr>
          <p:nvPr/>
        </p:nvSpPr>
        <p:spPr bwMode="auto">
          <a:xfrm>
            <a:off x="1181100" y="1816100"/>
            <a:ext cx="38100" cy="57150"/>
          </a:xfrm>
          <a:custGeom>
            <a:avLst/>
            <a:gdLst>
              <a:gd name="T0" fmla="*/ 7 w 7"/>
              <a:gd name="T1" fmla="*/ 5 h 9"/>
              <a:gd name="T2" fmla="*/ 6 w 7"/>
              <a:gd name="T3" fmla="*/ 3 h 9"/>
              <a:gd name="T4" fmla="*/ 5 w 7"/>
              <a:gd name="T5" fmla="*/ 0 h 9"/>
              <a:gd name="T6" fmla="*/ 1 w 7"/>
              <a:gd name="T7" fmla="*/ 1 h 9"/>
              <a:gd name="T8" fmla="*/ 0 w 7"/>
              <a:gd name="T9" fmla="*/ 3 h 9"/>
              <a:gd name="T10" fmla="*/ 0 w 7"/>
              <a:gd name="T11" fmla="*/ 5 h 9"/>
              <a:gd name="T12" fmla="*/ 1 w 7"/>
              <a:gd name="T13" fmla="*/ 7 h 9"/>
              <a:gd name="T14" fmla="*/ 0 w 7"/>
              <a:gd name="T15" fmla="*/ 3 h 9"/>
              <a:gd name="T16" fmla="*/ 2 w 7"/>
              <a:gd name="T17" fmla="*/ 1 h 9"/>
              <a:gd name="T18" fmla="*/ 4 w 7"/>
              <a:gd name="T19" fmla="*/ 0 h 9"/>
              <a:gd name="T20" fmla="*/ 5 w 7"/>
              <a:gd name="T21" fmla="*/ 1 h 9"/>
              <a:gd name="T22" fmla="*/ 5 w 7"/>
              <a:gd name="T23" fmla="*/ 2 h 9"/>
              <a:gd name="T24" fmla="*/ 4 w 7"/>
              <a:gd name="T25" fmla="*/ 3 h 9"/>
              <a:gd name="T26" fmla="*/ 3 w 7"/>
              <a:gd name="T27" fmla="*/ 5 h 9"/>
              <a:gd name="T28" fmla="*/ 3 w 7"/>
              <a:gd name="T29" fmla="*/ 6 h 9"/>
              <a:gd name="T30" fmla="*/ 4 w 7"/>
              <a:gd name="T31" fmla="*/ 7 h 9"/>
              <a:gd name="T32" fmla="*/ 4 w 7"/>
              <a:gd name="T33" fmla="*/ 5 h 9"/>
              <a:gd name="T34" fmla="*/ 4 w 7"/>
              <a:gd name="T35" fmla="*/ 4 h 9"/>
              <a:gd name="T36" fmla="*/ 5 w 7"/>
              <a:gd name="T37" fmla="*/ 4 h 9"/>
              <a:gd name="T38" fmla="*/ 5 w 7"/>
              <a:gd name="T39" fmla="*/ 4 h 9"/>
              <a:gd name="T40" fmla="*/ 6 w 7"/>
              <a:gd name="T41" fmla="*/ 5 h 9"/>
              <a:gd name="T42" fmla="*/ 7 w 7"/>
              <a:gd name="T43" fmla="*/ 6 h 9"/>
              <a:gd name="T44" fmla="*/ 6 w 7"/>
              <a:gd name="T45" fmla="*/ 7 h 9"/>
              <a:gd name="T46" fmla="*/ 5 w 7"/>
              <a:gd name="T47" fmla="*/ 7 h 9"/>
              <a:gd name="T48" fmla="*/ 6 w 7"/>
              <a:gd name="T49" fmla="*/ 9 h 9"/>
              <a:gd name="T50" fmla="*/ 6 w 7"/>
              <a:gd name="T51" fmla="*/ 9 h 9"/>
              <a:gd name="T52" fmla="*/ 6 w 7"/>
              <a:gd name="T53" fmla="*/ 7 h 9"/>
              <a:gd name="T54" fmla="*/ 7 w 7"/>
              <a:gd name="T55" fmla="*/ 6 h 9"/>
              <a:gd name="T56" fmla="*/ 7 w 7"/>
              <a:gd name="T57" fmla="*/ 5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 h="9">
                <a:moveTo>
                  <a:pt x="7" y="5"/>
                </a:moveTo>
                <a:cubicBezTo>
                  <a:pt x="7" y="5"/>
                  <a:pt x="6" y="5"/>
                  <a:pt x="6" y="3"/>
                </a:cubicBezTo>
                <a:cubicBezTo>
                  <a:pt x="6" y="1"/>
                  <a:pt x="6" y="1"/>
                  <a:pt x="5" y="0"/>
                </a:cubicBezTo>
                <a:cubicBezTo>
                  <a:pt x="5" y="0"/>
                  <a:pt x="3" y="0"/>
                  <a:pt x="1" y="1"/>
                </a:cubicBezTo>
                <a:cubicBezTo>
                  <a:pt x="0" y="2"/>
                  <a:pt x="0" y="3"/>
                  <a:pt x="0" y="3"/>
                </a:cubicBezTo>
                <a:cubicBezTo>
                  <a:pt x="0" y="3"/>
                  <a:pt x="0" y="4"/>
                  <a:pt x="0" y="5"/>
                </a:cubicBezTo>
                <a:cubicBezTo>
                  <a:pt x="1" y="5"/>
                  <a:pt x="1" y="7"/>
                  <a:pt x="1" y="7"/>
                </a:cubicBezTo>
                <a:cubicBezTo>
                  <a:pt x="1" y="7"/>
                  <a:pt x="0" y="4"/>
                  <a:pt x="0" y="3"/>
                </a:cubicBezTo>
                <a:cubicBezTo>
                  <a:pt x="0" y="3"/>
                  <a:pt x="1" y="1"/>
                  <a:pt x="2" y="1"/>
                </a:cubicBezTo>
                <a:cubicBezTo>
                  <a:pt x="3" y="1"/>
                  <a:pt x="4" y="0"/>
                  <a:pt x="4" y="0"/>
                </a:cubicBezTo>
                <a:cubicBezTo>
                  <a:pt x="5" y="1"/>
                  <a:pt x="5" y="1"/>
                  <a:pt x="5" y="1"/>
                </a:cubicBezTo>
                <a:cubicBezTo>
                  <a:pt x="5" y="1"/>
                  <a:pt x="5" y="2"/>
                  <a:pt x="5" y="2"/>
                </a:cubicBezTo>
                <a:cubicBezTo>
                  <a:pt x="5" y="3"/>
                  <a:pt x="5" y="3"/>
                  <a:pt x="4" y="3"/>
                </a:cubicBezTo>
                <a:cubicBezTo>
                  <a:pt x="4" y="4"/>
                  <a:pt x="4" y="4"/>
                  <a:pt x="3" y="5"/>
                </a:cubicBezTo>
                <a:cubicBezTo>
                  <a:pt x="3" y="5"/>
                  <a:pt x="3" y="5"/>
                  <a:pt x="3" y="6"/>
                </a:cubicBezTo>
                <a:cubicBezTo>
                  <a:pt x="4" y="6"/>
                  <a:pt x="4" y="7"/>
                  <a:pt x="4" y="7"/>
                </a:cubicBezTo>
                <a:cubicBezTo>
                  <a:pt x="4" y="7"/>
                  <a:pt x="4" y="6"/>
                  <a:pt x="4" y="5"/>
                </a:cubicBezTo>
                <a:cubicBezTo>
                  <a:pt x="4" y="5"/>
                  <a:pt x="4" y="4"/>
                  <a:pt x="4" y="4"/>
                </a:cubicBezTo>
                <a:cubicBezTo>
                  <a:pt x="4" y="4"/>
                  <a:pt x="5" y="4"/>
                  <a:pt x="5" y="4"/>
                </a:cubicBezTo>
                <a:cubicBezTo>
                  <a:pt x="5" y="4"/>
                  <a:pt x="5" y="4"/>
                  <a:pt x="5" y="4"/>
                </a:cubicBezTo>
                <a:cubicBezTo>
                  <a:pt x="5" y="4"/>
                  <a:pt x="5" y="5"/>
                  <a:pt x="6" y="5"/>
                </a:cubicBezTo>
                <a:cubicBezTo>
                  <a:pt x="6" y="5"/>
                  <a:pt x="7" y="6"/>
                  <a:pt x="7" y="6"/>
                </a:cubicBezTo>
                <a:cubicBezTo>
                  <a:pt x="6" y="7"/>
                  <a:pt x="6" y="7"/>
                  <a:pt x="6" y="7"/>
                </a:cubicBezTo>
                <a:cubicBezTo>
                  <a:pt x="6" y="7"/>
                  <a:pt x="5" y="7"/>
                  <a:pt x="5" y="7"/>
                </a:cubicBezTo>
                <a:cubicBezTo>
                  <a:pt x="5" y="8"/>
                  <a:pt x="6" y="8"/>
                  <a:pt x="6" y="9"/>
                </a:cubicBezTo>
                <a:cubicBezTo>
                  <a:pt x="6" y="9"/>
                  <a:pt x="6" y="9"/>
                  <a:pt x="6" y="9"/>
                </a:cubicBezTo>
                <a:cubicBezTo>
                  <a:pt x="6" y="9"/>
                  <a:pt x="6" y="8"/>
                  <a:pt x="6" y="7"/>
                </a:cubicBezTo>
                <a:cubicBezTo>
                  <a:pt x="6" y="7"/>
                  <a:pt x="6" y="7"/>
                  <a:pt x="7" y="6"/>
                </a:cubicBezTo>
                <a:cubicBezTo>
                  <a:pt x="7" y="6"/>
                  <a:pt x="7" y="5"/>
                  <a:pt x="7" y="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35" name="Freeform 31"/>
          <p:cNvSpPr>
            <a:spLocks/>
          </p:cNvSpPr>
          <p:nvPr/>
        </p:nvSpPr>
        <p:spPr bwMode="auto">
          <a:xfrm>
            <a:off x="1192213" y="1860550"/>
            <a:ext cx="15875" cy="6350"/>
          </a:xfrm>
          <a:custGeom>
            <a:avLst/>
            <a:gdLst>
              <a:gd name="T0" fmla="*/ 0 w 3"/>
              <a:gd name="T1" fmla="*/ 1 h 1"/>
              <a:gd name="T2" fmla="*/ 1 w 3"/>
              <a:gd name="T3" fmla="*/ 0 h 1"/>
              <a:gd name="T4" fmla="*/ 2 w 3"/>
              <a:gd name="T5" fmla="*/ 0 h 1"/>
              <a:gd name="T6" fmla="*/ 3 w 3"/>
              <a:gd name="T7" fmla="*/ 1 h 1"/>
              <a:gd name="T8" fmla="*/ 3 w 3"/>
              <a:gd name="T9" fmla="*/ 0 h 1"/>
              <a:gd name="T10" fmla="*/ 2 w 3"/>
              <a:gd name="T11" fmla="*/ 0 h 1"/>
              <a:gd name="T12" fmla="*/ 1 w 3"/>
              <a:gd name="T13" fmla="*/ 0 h 1"/>
              <a:gd name="T14" fmla="*/ 0 w 3"/>
              <a:gd name="T15" fmla="*/ 0 h 1"/>
              <a:gd name="T16" fmla="*/ 0 w 3"/>
              <a:gd name="T17" fmla="*/ 1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1">
                <a:moveTo>
                  <a:pt x="0" y="1"/>
                </a:moveTo>
                <a:cubicBezTo>
                  <a:pt x="0" y="1"/>
                  <a:pt x="1" y="1"/>
                  <a:pt x="1" y="0"/>
                </a:cubicBezTo>
                <a:cubicBezTo>
                  <a:pt x="1" y="0"/>
                  <a:pt x="2" y="0"/>
                  <a:pt x="2" y="0"/>
                </a:cubicBezTo>
                <a:cubicBezTo>
                  <a:pt x="2" y="0"/>
                  <a:pt x="3" y="1"/>
                  <a:pt x="3" y="1"/>
                </a:cubicBezTo>
                <a:cubicBezTo>
                  <a:pt x="3" y="1"/>
                  <a:pt x="3" y="0"/>
                  <a:pt x="3" y="0"/>
                </a:cubicBezTo>
                <a:cubicBezTo>
                  <a:pt x="3" y="0"/>
                  <a:pt x="2" y="0"/>
                  <a:pt x="2" y="0"/>
                </a:cubicBezTo>
                <a:cubicBezTo>
                  <a:pt x="2" y="0"/>
                  <a:pt x="1" y="0"/>
                  <a:pt x="1" y="0"/>
                </a:cubicBezTo>
                <a:cubicBezTo>
                  <a:pt x="1" y="0"/>
                  <a:pt x="0" y="0"/>
                  <a:pt x="0" y="0"/>
                </a:cubicBezTo>
                <a:lnTo>
                  <a:pt x="0"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36" name="Freeform 32"/>
          <p:cNvSpPr>
            <a:spLocks/>
          </p:cNvSpPr>
          <p:nvPr/>
        </p:nvSpPr>
        <p:spPr bwMode="auto">
          <a:xfrm>
            <a:off x="1368425" y="1925638"/>
            <a:ext cx="425450" cy="325437"/>
          </a:xfrm>
          <a:custGeom>
            <a:avLst/>
            <a:gdLst>
              <a:gd name="T0" fmla="*/ 3 w 75"/>
              <a:gd name="T1" fmla="*/ 32 h 50"/>
              <a:gd name="T2" fmla="*/ 16 w 75"/>
              <a:gd name="T3" fmla="*/ 34 h 50"/>
              <a:gd name="T4" fmla="*/ 30 w 75"/>
              <a:gd name="T5" fmla="*/ 25 h 50"/>
              <a:gd name="T6" fmla="*/ 42 w 75"/>
              <a:gd name="T7" fmla="*/ 17 h 50"/>
              <a:gd name="T8" fmla="*/ 45 w 75"/>
              <a:gd name="T9" fmla="*/ 13 h 50"/>
              <a:gd name="T10" fmla="*/ 55 w 75"/>
              <a:gd name="T11" fmla="*/ 4 h 50"/>
              <a:gd name="T12" fmla="*/ 58 w 75"/>
              <a:gd name="T13" fmla="*/ 0 h 50"/>
              <a:gd name="T14" fmla="*/ 59 w 75"/>
              <a:gd name="T15" fmla="*/ 2 h 50"/>
              <a:gd name="T16" fmla="*/ 56 w 75"/>
              <a:gd name="T17" fmla="*/ 7 h 50"/>
              <a:gd name="T18" fmla="*/ 55 w 75"/>
              <a:gd name="T19" fmla="*/ 10 h 50"/>
              <a:gd name="T20" fmla="*/ 59 w 75"/>
              <a:gd name="T21" fmla="*/ 9 h 50"/>
              <a:gd name="T22" fmla="*/ 63 w 75"/>
              <a:gd name="T23" fmla="*/ 8 h 50"/>
              <a:gd name="T24" fmla="*/ 69 w 75"/>
              <a:gd name="T25" fmla="*/ 7 h 50"/>
              <a:gd name="T26" fmla="*/ 74 w 75"/>
              <a:gd name="T27" fmla="*/ 6 h 50"/>
              <a:gd name="T28" fmla="*/ 75 w 75"/>
              <a:gd name="T29" fmla="*/ 9 h 50"/>
              <a:gd name="T30" fmla="*/ 69 w 75"/>
              <a:gd name="T31" fmla="*/ 11 h 50"/>
              <a:gd name="T32" fmla="*/ 66 w 75"/>
              <a:gd name="T33" fmla="*/ 12 h 50"/>
              <a:gd name="T34" fmla="*/ 68 w 75"/>
              <a:gd name="T35" fmla="*/ 15 h 50"/>
              <a:gd name="T36" fmla="*/ 66 w 75"/>
              <a:gd name="T37" fmla="*/ 18 h 50"/>
              <a:gd name="T38" fmla="*/ 68 w 75"/>
              <a:gd name="T39" fmla="*/ 22 h 50"/>
              <a:gd name="T40" fmla="*/ 64 w 75"/>
              <a:gd name="T41" fmla="*/ 26 h 50"/>
              <a:gd name="T42" fmla="*/ 56 w 75"/>
              <a:gd name="T43" fmla="*/ 25 h 50"/>
              <a:gd name="T44" fmla="*/ 51 w 75"/>
              <a:gd name="T45" fmla="*/ 25 h 50"/>
              <a:gd name="T46" fmla="*/ 48 w 75"/>
              <a:gd name="T47" fmla="*/ 25 h 50"/>
              <a:gd name="T48" fmla="*/ 31 w 75"/>
              <a:gd name="T49" fmla="*/ 42 h 50"/>
              <a:gd name="T50" fmla="*/ 28 w 75"/>
              <a:gd name="T51" fmla="*/ 46 h 50"/>
              <a:gd name="T52" fmla="*/ 26 w 75"/>
              <a:gd name="T53" fmla="*/ 49 h 50"/>
              <a:gd name="T54" fmla="*/ 15 w 75"/>
              <a:gd name="T55" fmla="*/ 50 h 50"/>
              <a:gd name="T56" fmla="*/ 0 w 75"/>
              <a:gd name="T57" fmla="*/ 49 h 50"/>
              <a:gd name="T58" fmla="*/ 3 w 75"/>
              <a:gd name="T59" fmla="*/ 32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5" h="50">
                <a:moveTo>
                  <a:pt x="3" y="32"/>
                </a:moveTo>
                <a:cubicBezTo>
                  <a:pt x="3" y="32"/>
                  <a:pt x="15" y="34"/>
                  <a:pt x="16" y="34"/>
                </a:cubicBezTo>
                <a:cubicBezTo>
                  <a:pt x="17" y="34"/>
                  <a:pt x="27" y="28"/>
                  <a:pt x="30" y="25"/>
                </a:cubicBezTo>
                <a:cubicBezTo>
                  <a:pt x="34" y="22"/>
                  <a:pt x="42" y="17"/>
                  <a:pt x="42" y="17"/>
                </a:cubicBezTo>
                <a:cubicBezTo>
                  <a:pt x="45" y="13"/>
                  <a:pt x="45" y="13"/>
                  <a:pt x="45" y="13"/>
                </a:cubicBezTo>
                <a:cubicBezTo>
                  <a:pt x="45" y="13"/>
                  <a:pt x="54" y="5"/>
                  <a:pt x="55" y="4"/>
                </a:cubicBezTo>
                <a:cubicBezTo>
                  <a:pt x="56" y="3"/>
                  <a:pt x="58" y="0"/>
                  <a:pt x="58" y="0"/>
                </a:cubicBezTo>
                <a:cubicBezTo>
                  <a:pt x="59" y="2"/>
                  <a:pt x="59" y="2"/>
                  <a:pt x="59" y="2"/>
                </a:cubicBezTo>
                <a:cubicBezTo>
                  <a:pt x="59" y="2"/>
                  <a:pt x="57" y="6"/>
                  <a:pt x="56" y="7"/>
                </a:cubicBezTo>
                <a:cubicBezTo>
                  <a:pt x="55" y="9"/>
                  <a:pt x="55" y="10"/>
                  <a:pt x="55" y="10"/>
                </a:cubicBezTo>
                <a:cubicBezTo>
                  <a:pt x="59" y="9"/>
                  <a:pt x="59" y="9"/>
                  <a:pt x="59" y="9"/>
                </a:cubicBezTo>
                <a:cubicBezTo>
                  <a:pt x="59" y="9"/>
                  <a:pt x="62" y="8"/>
                  <a:pt x="63" y="8"/>
                </a:cubicBezTo>
                <a:cubicBezTo>
                  <a:pt x="64" y="8"/>
                  <a:pt x="69" y="7"/>
                  <a:pt x="69" y="7"/>
                </a:cubicBezTo>
                <a:cubicBezTo>
                  <a:pt x="74" y="6"/>
                  <a:pt x="74" y="6"/>
                  <a:pt x="74" y="6"/>
                </a:cubicBezTo>
                <a:cubicBezTo>
                  <a:pt x="75" y="9"/>
                  <a:pt x="75" y="9"/>
                  <a:pt x="75" y="9"/>
                </a:cubicBezTo>
                <a:cubicBezTo>
                  <a:pt x="75" y="9"/>
                  <a:pt x="71" y="10"/>
                  <a:pt x="69" y="11"/>
                </a:cubicBezTo>
                <a:cubicBezTo>
                  <a:pt x="68" y="11"/>
                  <a:pt x="66" y="12"/>
                  <a:pt x="66" y="12"/>
                </a:cubicBezTo>
                <a:cubicBezTo>
                  <a:pt x="68" y="15"/>
                  <a:pt x="68" y="15"/>
                  <a:pt x="68" y="15"/>
                </a:cubicBezTo>
                <a:cubicBezTo>
                  <a:pt x="66" y="18"/>
                  <a:pt x="66" y="18"/>
                  <a:pt x="66" y="18"/>
                </a:cubicBezTo>
                <a:cubicBezTo>
                  <a:pt x="68" y="22"/>
                  <a:pt x="68" y="22"/>
                  <a:pt x="68" y="22"/>
                </a:cubicBezTo>
                <a:cubicBezTo>
                  <a:pt x="64" y="26"/>
                  <a:pt x="64" y="26"/>
                  <a:pt x="64" y="26"/>
                </a:cubicBezTo>
                <a:cubicBezTo>
                  <a:pt x="64" y="26"/>
                  <a:pt x="58" y="25"/>
                  <a:pt x="56" y="25"/>
                </a:cubicBezTo>
                <a:cubicBezTo>
                  <a:pt x="56" y="25"/>
                  <a:pt x="51" y="25"/>
                  <a:pt x="51" y="25"/>
                </a:cubicBezTo>
                <a:cubicBezTo>
                  <a:pt x="48" y="25"/>
                  <a:pt x="48" y="25"/>
                  <a:pt x="48" y="25"/>
                </a:cubicBezTo>
                <a:cubicBezTo>
                  <a:pt x="48" y="25"/>
                  <a:pt x="32" y="40"/>
                  <a:pt x="31" y="42"/>
                </a:cubicBezTo>
                <a:cubicBezTo>
                  <a:pt x="30" y="43"/>
                  <a:pt x="28" y="46"/>
                  <a:pt x="28" y="46"/>
                </a:cubicBezTo>
                <a:cubicBezTo>
                  <a:pt x="28" y="46"/>
                  <a:pt x="27" y="48"/>
                  <a:pt x="26" y="49"/>
                </a:cubicBezTo>
                <a:cubicBezTo>
                  <a:pt x="25" y="49"/>
                  <a:pt x="15" y="50"/>
                  <a:pt x="15" y="50"/>
                </a:cubicBezTo>
                <a:cubicBezTo>
                  <a:pt x="14" y="50"/>
                  <a:pt x="0" y="49"/>
                  <a:pt x="0" y="49"/>
                </a:cubicBezTo>
                <a:lnTo>
                  <a:pt x="3" y="32"/>
                </a:lnTo>
                <a:close/>
              </a:path>
            </a:pathLst>
          </a:custGeom>
          <a:solidFill>
            <a:srgbClr val="FFFFFF"/>
          </a:solidFill>
          <a:ln w="9525" cap="rnd">
            <a:solidFill>
              <a:srgbClr val="000000"/>
            </a:solidFill>
            <a:prstDash val="solid"/>
            <a:round/>
            <a:headEnd/>
            <a:tailEnd/>
          </a:ln>
        </p:spPr>
        <p:txBody>
          <a:bodyPr/>
          <a:lstStyle/>
          <a:p>
            <a:endParaRPr lang="en-US"/>
          </a:p>
        </p:txBody>
      </p:sp>
      <p:sp>
        <p:nvSpPr>
          <p:cNvPr id="482337" name="Freeform 33"/>
          <p:cNvSpPr>
            <a:spLocks/>
          </p:cNvSpPr>
          <p:nvPr/>
        </p:nvSpPr>
        <p:spPr bwMode="auto">
          <a:xfrm>
            <a:off x="1025525" y="3392488"/>
            <a:ext cx="115888" cy="157162"/>
          </a:xfrm>
          <a:custGeom>
            <a:avLst/>
            <a:gdLst>
              <a:gd name="T0" fmla="*/ 5 w 20"/>
              <a:gd name="T1" fmla="*/ 2 h 24"/>
              <a:gd name="T2" fmla="*/ 2 w 20"/>
              <a:gd name="T3" fmla="*/ 16 h 24"/>
              <a:gd name="T4" fmla="*/ 2 w 20"/>
              <a:gd name="T5" fmla="*/ 24 h 24"/>
              <a:gd name="T6" fmla="*/ 19 w 20"/>
              <a:gd name="T7" fmla="*/ 21 h 24"/>
              <a:gd name="T8" fmla="*/ 19 w 20"/>
              <a:gd name="T9" fmla="*/ 15 h 24"/>
              <a:gd name="T10" fmla="*/ 20 w 20"/>
              <a:gd name="T11" fmla="*/ 0 h 24"/>
              <a:gd name="T12" fmla="*/ 5 w 20"/>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0" h="24">
                <a:moveTo>
                  <a:pt x="5" y="2"/>
                </a:moveTo>
                <a:cubicBezTo>
                  <a:pt x="5" y="2"/>
                  <a:pt x="4" y="11"/>
                  <a:pt x="2" y="16"/>
                </a:cubicBezTo>
                <a:cubicBezTo>
                  <a:pt x="0" y="21"/>
                  <a:pt x="2" y="24"/>
                  <a:pt x="2" y="24"/>
                </a:cubicBezTo>
                <a:cubicBezTo>
                  <a:pt x="19" y="21"/>
                  <a:pt x="19" y="21"/>
                  <a:pt x="19" y="21"/>
                </a:cubicBezTo>
                <a:cubicBezTo>
                  <a:pt x="19" y="15"/>
                  <a:pt x="19" y="15"/>
                  <a:pt x="19" y="15"/>
                </a:cubicBezTo>
                <a:cubicBezTo>
                  <a:pt x="20" y="0"/>
                  <a:pt x="20" y="0"/>
                  <a:pt x="20" y="0"/>
                </a:cubicBezTo>
                <a:lnTo>
                  <a:pt x="5" y="2"/>
                </a:lnTo>
                <a:close/>
              </a:path>
            </a:pathLst>
          </a:custGeom>
          <a:solidFill>
            <a:srgbClr val="FFFFFF"/>
          </a:solidFill>
          <a:ln w="14288" cap="rnd">
            <a:solidFill>
              <a:srgbClr val="76787B"/>
            </a:solidFill>
            <a:prstDash val="solid"/>
            <a:round/>
            <a:headEnd/>
            <a:tailEnd/>
          </a:ln>
        </p:spPr>
        <p:txBody>
          <a:bodyPr/>
          <a:lstStyle/>
          <a:p>
            <a:endParaRPr lang="en-US"/>
          </a:p>
        </p:txBody>
      </p:sp>
      <p:sp>
        <p:nvSpPr>
          <p:cNvPr id="482338" name="Freeform 34"/>
          <p:cNvSpPr>
            <a:spLocks/>
          </p:cNvSpPr>
          <p:nvPr/>
        </p:nvSpPr>
        <p:spPr bwMode="auto">
          <a:xfrm>
            <a:off x="952500" y="3517900"/>
            <a:ext cx="284163" cy="104775"/>
          </a:xfrm>
          <a:custGeom>
            <a:avLst/>
            <a:gdLst>
              <a:gd name="T0" fmla="*/ 68 w 156"/>
              <a:gd name="T1" fmla="*/ 3 h 50"/>
              <a:gd name="T2" fmla="*/ 87 w 156"/>
              <a:gd name="T3" fmla="*/ 9 h 50"/>
              <a:gd name="T4" fmla="*/ 115 w 156"/>
              <a:gd name="T5" fmla="*/ 22 h 50"/>
              <a:gd name="T6" fmla="*/ 156 w 156"/>
              <a:gd name="T7" fmla="*/ 34 h 50"/>
              <a:gd name="T8" fmla="*/ 156 w 156"/>
              <a:gd name="T9" fmla="*/ 50 h 50"/>
              <a:gd name="T10" fmla="*/ 21 w 156"/>
              <a:gd name="T11" fmla="*/ 50 h 50"/>
              <a:gd name="T12" fmla="*/ 9 w 156"/>
              <a:gd name="T13" fmla="*/ 50 h 50"/>
              <a:gd name="T14" fmla="*/ 0 w 156"/>
              <a:gd name="T15" fmla="*/ 25 h 50"/>
              <a:gd name="T16" fmla="*/ 3 w 156"/>
              <a:gd name="T17" fmla="*/ 0 h 50"/>
              <a:gd name="T18" fmla="*/ 25 w 156"/>
              <a:gd name="T19" fmla="*/ 3 h 50"/>
              <a:gd name="T20" fmla="*/ 50 w 156"/>
              <a:gd name="T21" fmla="*/ 12 h 50"/>
              <a:gd name="T22" fmla="*/ 68 w 156"/>
              <a:gd name="T23" fmla="*/ 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6" h="50">
                <a:moveTo>
                  <a:pt x="68" y="3"/>
                </a:moveTo>
                <a:lnTo>
                  <a:pt x="87" y="9"/>
                </a:lnTo>
                <a:lnTo>
                  <a:pt x="115" y="22"/>
                </a:lnTo>
                <a:lnTo>
                  <a:pt x="156" y="34"/>
                </a:lnTo>
                <a:lnTo>
                  <a:pt x="156" y="50"/>
                </a:lnTo>
                <a:lnTo>
                  <a:pt x="21" y="50"/>
                </a:lnTo>
                <a:lnTo>
                  <a:pt x="9" y="50"/>
                </a:lnTo>
                <a:lnTo>
                  <a:pt x="0" y="25"/>
                </a:lnTo>
                <a:lnTo>
                  <a:pt x="3" y="0"/>
                </a:lnTo>
                <a:lnTo>
                  <a:pt x="25" y="3"/>
                </a:lnTo>
                <a:lnTo>
                  <a:pt x="50" y="12"/>
                </a:lnTo>
                <a:lnTo>
                  <a:pt x="68" y="3"/>
                </a:lnTo>
                <a:close/>
              </a:path>
            </a:pathLst>
          </a:custGeom>
          <a:solidFill>
            <a:srgbClr val="94B9E2"/>
          </a:solidFill>
          <a:ln w="14288" cap="rnd">
            <a:solidFill>
              <a:srgbClr val="000000"/>
            </a:solidFill>
            <a:prstDash val="solid"/>
            <a:round/>
            <a:headEnd/>
            <a:tailEnd/>
          </a:ln>
        </p:spPr>
        <p:txBody>
          <a:bodyPr/>
          <a:lstStyle/>
          <a:p>
            <a:endParaRPr lang="en-US"/>
          </a:p>
        </p:txBody>
      </p:sp>
      <p:sp>
        <p:nvSpPr>
          <p:cNvPr id="482339" name="Freeform 35"/>
          <p:cNvSpPr>
            <a:spLocks/>
          </p:cNvSpPr>
          <p:nvPr/>
        </p:nvSpPr>
        <p:spPr bwMode="auto">
          <a:xfrm>
            <a:off x="1020763" y="3517900"/>
            <a:ext cx="284162" cy="104775"/>
          </a:xfrm>
          <a:custGeom>
            <a:avLst/>
            <a:gdLst>
              <a:gd name="T0" fmla="*/ 72 w 156"/>
              <a:gd name="T1" fmla="*/ 3 h 50"/>
              <a:gd name="T2" fmla="*/ 88 w 156"/>
              <a:gd name="T3" fmla="*/ 9 h 50"/>
              <a:gd name="T4" fmla="*/ 116 w 156"/>
              <a:gd name="T5" fmla="*/ 22 h 50"/>
              <a:gd name="T6" fmla="*/ 156 w 156"/>
              <a:gd name="T7" fmla="*/ 34 h 50"/>
              <a:gd name="T8" fmla="*/ 156 w 156"/>
              <a:gd name="T9" fmla="*/ 50 h 50"/>
              <a:gd name="T10" fmla="*/ 25 w 156"/>
              <a:gd name="T11" fmla="*/ 50 h 50"/>
              <a:gd name="T12" fmla="*/ 9 w 156"/>
              <a:gd name="T13" fmla="*/ 50 h 50"/>
              <a:gd name="T14" fmla="*/ 0 w 156"/>
              <a:gd name="T15" fmla="*/ 25 h 50"/>
              <a:gd name="T16" fmla="*/ 3 w 156"/>
              <a:gd name="T17" fmla="*/ 0 h 50"/>
              <a:gd name="T18" fmla="*/ 25 w 156"/>
              <a:gd name="T19" fmla="*/ 3 h 50"/>
              <a:gd name="T20" fmla="*/ 50 w 156"/>
              <a:gd name="T21" fmla="*/ 12 h 50"/>
              <a:gd name="T22" fmla="*/ 72 w 156"/>
              <a:gd name="T23" fmla="*/ 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6" h="50">
                <a:moveTo>
                  <a:pt x="72" y="3"/>
                </a:moveTo>
                <a:lnTo>
                  <a:pt x="88" y="9"/>
                </a:lnTo>
                <a:lnTo>
                  <a:pt x="116" y="22"/>
                </a:lnTo>
                <a:lnTo>
                  <a:pt x="156" y="34"/>
                </a:lnTo>
                <a:lnTo>
                  <a:pt x="156" y="50"/>
                </a:lnTo>
                <a:lnTo>
                  <a:pt x="25" y="50"/>
                </a:lnTo>
                <a:lnTo>
                  <a:pt x="9" y="50"/>
                </a:lnTo>
                <a:lnTo>
                  <a:pt x="0" y="25"/>
                </a:lnTo>
                <a:lnTo>
                  <a:pt x="3" y="0"/>
                </a:lnTo>
                <a:lnTo>
                  <a:pt x="25" y="3"/>
                </a:lnTo>
                <a:lnTo>
                  <a:pt x="50" y="12"/>
                </a:lnTo>
                <a:lnTo>
                  <a:pt x="72" y="3"/>
                </a:lnTo>
                <a:close/>
              </a:path>
            </a:pathLst>
          </a:custGeom>
          <a:solidFill>
            <a:srgbClr val="94B9E2"/>
          </a:solidFill>
          <a:ln w="14288" cap="rnd">
            <a:solidFill>
              <a:srgbClr val="000000"/>
            </a:solidFill>
            <a:prstDash val="solid"/>
            <a:round/>
            <a:headEnd/>
            <a:tailEnd/>
          </a:ln>
        </p:spPr>
        <p:txBody>
          <a:bodyPr/>
          <a:lstStyle/>
          <a:p>
            <a:endParaRPr lang="en-US"/>
          </a:p>
        </p:txBody>
      </p:sp>
      <p:sp>
        <p:nvSpPr>
          <p:cNvPr id="482340" name="Freeform 36"/>
          <p:cNvSpPr>
            <a:spLocks/>
          </p:cNvSpPr>
          <p:nvPr/>
        </p:nvSpPr>
        <p:spPr bwMode="auto">
          <a:xfrm>
            <a:off x="935038" y="2500313"/>
            <a:ext cx="312737" cy="1055687"/>
          </a:xfrm>
          <a:custGeom>
            <a:avLst/>
            <a:gdLst>
              <a:gd name="T0" fmla="*/ 55 w 55"/>
              <a:gd name="T1" fmla="*/ 14 h 162"/>
              <a:gd name="T2" fmla="*/ 49 w 55"/>
              <a:gd name="T3" fmla="*/ 61 h 162"/>
              <a:gd name="T4" fmla="*/ 46 w 55"/>
              <a:gd name="T5" fmla="*/ 81 h 162"/>
              <a:gd name="T6" fmla="*/ 42 w 55"/>
              <a:gd name="T7" fmla="*/ 104 h 162"/>
              <a:gd name="T8" fmla="*/ 37 w 55"/>
              <a:gd name="T9" fmla="*/ 125 h 162"/>
              <a:gd name="T10" fmla="*/ 34 w 55"/>
              <a:gd name="T11" fmla="*/ 147 h 162"/>
              <a:gd name="T12" fmla="*/ 33 w 55"/>
              <a:gd name="T13" fmla="*/ 155 h 162"/>
              <a:gd name="T14" fmla="*/ 34 w 55"/>
              <a:gd name="T15" fmla="*/ 160 h 162"/>
              <a:gd name="T16" fmla="*/ 14 w 55"/>
              <a:gd name="T17" fmla="*/ 160 h 162"/>
              <a:gd name="T18" fmla="*/ 0 w 55"/>
              <a:gd name="T19" fmla="*/ 153 h 162"/>
              <a:gd name="T20" fmla="*/ 4 w 55"/>
              <a:gd name="T21" fmla="*/ 140 h 162"/>
              <a:gd name="T22" fmla="*/ 8 w 55"/>
              <a:gd name="T23" fmla="*/ 127 h 162"/>
              <a:gd name="T24" fmla="*/ 12 w 55"/>
              <a:gd name="T25" fmla="*/ 90 h 162"/>
              <a:gd name="T26" fmla="*/ 18 w 55"/>
              <a:gd name="T27" fmla="*/ 89 h 162"/>
              <a:gd name="T28" fmla="*/ 12 w 55"/>
              <a:gd name="T29" fmla="*/ 87 h 162"/>
              <a:gd name="T30" fmla="*/ 14 w 55"/>
              <a:gd name="T31" fmla="*/ 62 h 162"/>
              <a:gd name="T32" fmla="*/ 15 w 55"/>
              <a:gd name="T33" fmla="*/ 41 h 162"/>
              <a:gd name="T34" fmla="*/ 11 w 55"/>
              <a:gd name="T35" fmla="*/ 31 h 162"/>
              <a:gd name="T36" fmla="*/ 11 w 55"/>
              <a:gd name="T37" fmla="*/ 13 h 162"/>
              <a:gd name="T38" fmla="*/ 26 w 55"/>
              <a:gd name="T39" fmla="*/ 6 h 162"/>
              <a:gd name="T40" fmla="*/ 55 w 55"/>
              <a:gd name="T41" fmla="*/ 14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5" h="162">
                <a:moveTo>
                  <a:pt x="55" y="14"/>
                </a:moveTo>
                <a:cubicBezTo>
                  <a:pt x="54" y="33"/>
                  <a:pt x="52" y="43"/>
                  <a:pt x="49" y="61"/>
                </a:cubicBezTo>
                <a:cubicBezTo>
                  <a:pt x="48" y="66"/>
                  <a:pt x="46" y="73"/>
                  <a:pt x="46" y="81"/>
                </a:cubicBezTo>
                <a:cubicBezTo>
                  <a:pt x="46" y="86"/>
                  <a:pt x="44" y="97"/>
                  <a:pt x="42" y="104"/>
                </a:cubicBezTo>
                <a:cubicBezTo>
                  <a:pt x="40" y="112"/>
                  <a:pt x="38" y="120"/>
                  <a:pt x="37" y="125"/>
                </a:cubicBezTo>
                <a:cubicBezTo>
                  <a:pt x="36" y="132"/>
                  <a:pt x="35" y="140"/>
                  <a:pt x="34" y="147"/>
                </a:cubicBezTo>
                <a:cubicBezTo>
                  <a:pt x="33" y="150"/>
                  <a:pt x="33" y="152"/>
                  <a:pt x="33" y="155"/>
                </a:cubicBezTo>
                <a:cubicBezTo>
                  <a:pt x="33" y="156"/>
                  <a:pt x="34" y="159"/>
                  <a:pt x="34" y="160"/>
                </a:cubicBezTo>
                <a:cubicBezTo>
                  <a:pt x="34" y="162"/>
                  <a:pt x="21" y="162"/>
                  <a:pt x="14" y="160"/>
                </a:cubicBezTo>
                <a:cubicBezTo>
                  <a:pt x="7" y="157"/>
                  <a:pt x="5" y="157"/>
                  <a:pt x="0" y="153"/>
                </a:cubicBezTo>
                <a:cubicBezTo>
                  <a:pt x="2" y="149"/>
                  <a:pt x="4" y="144"/>
                  <a:pt x="4" y="140"/>
                </a:cubicBezTo>
                <a:cubicBezTo>
                  <a:pt x="5" y="135"/>
                  <a:pt x="6" y="132"/>
                  <a:pt x="8" y="127"/>
                </a:cubicBezTo>
                <a:cubicBezTo>
                  <a:pt x="11" y="116"/>
                  <a:pt x="15" y="101"/>
                  <a:pt x="12" y="90"/>
                </a:cubicBezTo>
                <a:cubicBezTo>
                  <a:pt x="14" y="89"/>
                  <a:pt x="16" y="89"/>
                  <a:pt x="18" y="89"/>
                </a:cubicBezTo>
                <a:cubicBezTo>
                  <a:pt x="18" y="89"/>
                  <a:pt x="11" y="87"/>
                  <a:pt x="12" y="87"/>
                </a:cubicBezTo>
                <a:cubicBezTo>
                  <a:pt x="12" y="80"/>
                  <a:pt x="13" y="69"/>
                  <a:pt x="14" y="62"/>
                </a:cubicBezTo>
                <a:cubicBezTo>
                  <a:pt x="15" y="54"/>
                  <a:pt x="14" y="50"/>
                  <a:pt x="15" y="41"/>
                </a:cubicBezTo>
                <a:cubicBezTo>
                  <a:pt x="15" y="39"/>
                  <a:pt x="12" y="32"/>
                  <a:pt x="11" y="31"/>
                </a:cubicBezTo>
                <a:cubicBezTo>
                  <a:pt x="10" y="23"/>
                  <a:pt x="11" y="21"/>
                  <a:pt x="11" y="13"/>
                </a:cubicBezTo>
                <a:cubicBezTo>
                  <a:pt x="12" y="0"/>
                  <a:pt x="14" y="5"/>
                  <a:pt x="26" y="6"/>
                </a:cubicBezTo>
                <a:lnTo>
                  <a:pt x="55" y="14"/>
                </a:lnTo>
                <a:close/>
              </a:path>
            </a:pathLst>
          </a:custGeom>
          <a:solidFill>
            <a:srgbClr val="C7D8F0"/>
          </a:solidFill>
          <a:ln w="14288" cap="rnd">
            <a:solidFill>
              <a:srgbClr val="000000"/>
            </a:solidFill>
            <a:prstDash val="solid"/>
            <a:round/>
            <a:headEnd/>
            <a:tailEnd/>
          </a:ln>
        </p:spPr>
        <p:txBody>
          <a:bodyPr/>
          <a:lstStyle/>
          <a:p>
            <a:endParaRPr lang="en-US"/>
          </a:p>
        </p:txBody>
      </p:sp>
      <p:sp>
        <p:nvSpPr>
          <p:cNvPr id="482341" name="Freeform 37"/>
          <p:cNvSpPr>
            <a:spLocks/>
          </p:cNvSpPr>
          <p:nvPr/>
        </p:nvSpPr>
        <p:spPr bwMode="auto">
          <a:xfrm>
            <a:off x="992188" y="2519363"/>
            <a:ext cx="255587" cy="1044575"/>
          </a:xfrm>
          <a:custGeom>
            <a:avLst/>
            <a:gdLst>
              <a:gd name="T0" fmla="*/ 44 w 45"/>
              <a:gd name="T1" fmla="*/ 9 h 160"/>
              <a:gd name="T2" fmla="*/ 43 w 45"/>
              <a:gd name="T3" fmla="*/ 56 h 160"/>
              <a:gd name="T4" fmla="*/ 43 w 45"/>
              <a:gd name="T5" fmla="*/ 76 h 160"/>
              <a:gd name="T6" fmla="*/ 42 w 45"/>
              <a:gd name="T7" fmla="*/ 100 h 160"/>
              <a:gd name="T8" fmla="*/ 38 w 45"/>
              <a:gd name="T9" fmla="*/ 121 h 160"/>
              <a:gd name="T10" fmla="*/ 38 w 45"/>
              <a:gd name="T11" fmla="*/ 144 h 160"/>
              <a:gd name="T12" fmla="*/ 38 w 45"/>
              <a:gd name="T13" fmla="*/ 151 h 160"/>
              <a:gd name="T14" fmla="*/ 40 w 45"/>
              <a:gd name="T15" fmla="*/ 157 h 160"/>
              <a:gd name="T16" fmla="*/ 20 w 45"/>
              <a:gd name="T17" fmla="*/ 158 h 160"/>
              <a:gd name="T18" fmla="*/ 5 w 45"/>
              <a:gd name="T19" fmla="*/ 154 h 160"/>
              <a:gd name="T20" fmla="*/ 8 w 45"/>
              <a:gd name="T21" fmla="*/ 140 h 160"/>
              <a:gd name="T22" fmla="*/ 10 w 45"/>
              <a:gd name="T23" fmla="*/ 127 h 160"/>
              <a:gd name="T24" fmla="*/ 10 w 45"/>
              <a:gd name="T25" fmla="*/ 89 h 160"/>
              <a:gd name="T26" fmla="*/ 16 w 45"/>
              <a:gd name="T27" fmla="*/ 88 h 160"/>
              <a:gd name="T28" fmla="*/ 10 w 45"/>
              <a:gd name="T29" fmla="*/ 86 h 160"/>
              <a:gd name="T30" fmla="*/ 9 w 45"/>
              <a:gd name="T31" fmla="*/ 62 h 160"/>
              <a:gd name="T32" fmla="*/ 7 w 45"/>
              <a:gd name="T33" fmla="*/ 41 h 160"/>
              <a:gd name="T34" fmla="*/ 2 w 45"/>
              <a:gd name="T35" fmla="*/ 31 h 160"/>
              <a:gd name="T36" fmla="*/ 1 w 45"/>
              <a:gd name="T37" fmla="*/ 13 h 160"/>
              <a:gd name="T38" fmla="*/ 14 w 45"/>
              <a:gd name="T39" fmla="*/ 4 h 160"/>
              <a:gd name="T40" fmla="*/ 44 w 45"/>
              <a:gd name="T41" fmla="*/ 9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5" h="160">
                <a:moveTo>
                  <a:pt x="44" y="9"/>
                </a:moveTo>
                <a:cubicBezTo>
                  <a:pt x="45" y="28"/>
                  <a:pt x="45" y="38"/>
                  <a:pt x="43" y="56"/>
                </a:cubicBezTo>
                <a:cubicBezTo>
                  <a:pt x="43" y="62"/>
                  <a:pt x="42" y="69"/>
                  <a:pt x="43" y="76"/>
                </a:cubicBezTo>
                <a:cubicBezTo>
                  <a:pt x="43" y="81"/>
                  <a:pt x="43" y="93"/>
                  <a:pt x="42" y="100"/>
                </a:cubicBezTo>
                <a:cubicBezTo>
                  <a:pt x="40" y="108"/>
                  <a:pt x="39" y="116"/>
                  <a:pt x="38" y="121"/>
                </a:cubicBezTo>
                <a:cubicBezTo>
                  <a:pt x="38" y="129"/>
                  <a:pt x="39" y="136"/>
                  <a:pt x="38" y="144"/>
                </a:cubicBezTo>
                <a:cubicBezTo>
                  <a:pt x="38" y="146"/>
                  <a:pt x="38" y="149"/>
                  <a:pt x="38" y="151"/>
                </a:cubicBezTo>
                <a:cubicBezTo>
                  <a:pt x="38" y="153"/>
                  <a:pt x="40" y="156"/>
                  <a:pt x="40" y="157"/>
                </a:cubicBezTo>
                <a:cubicBezTo>
                  <a:pt x="39" y="158"/>
                  <a:pt x="27" y="160"/>
                  <a:pt x="20" y="158"/>
                </a:cubicBezTo>
                <a:cubicBezTo>
                  <a:pt x="12" y="157"/>
                  <a:pt x="11" y="157"/>
                  <a:pt x="5" y="154"/>
                </a:cubicBezTo>
                <a:cubicBezTo>
                  <a:pt x="6" y="149"/>
                  <a:pt x="8" y="144"/>
                  <a:pt x="8" y="140"/>
                </a:cubicBezTo>
                <a:cubicBezTo>
                  <a:pt x="8" y="135"/>
                  <a:pt x="9" y="132"/>
                  <a:pt x="10" y="127"/>
                </a:cubicBezTo>
                <a:cubicBezTo>
                  <a:pt x="12" y="116"/>
                  <a:pt x="14" y="100"/>
                  <a:pt x="10" y="89"/>
                </a:cubicBezTo>
                <a:cubicBezTo>
                  <a:pt x="12" y="89"/>
                  <a:pt x="13" y="89"/>
                  <a:pt x="16" y="88"/>
                </a:cubicBezTo>
                <a:cubicBezTo>
                  <a:pt x="16" y="88"/>
                  <a:pt x="9" y="87"/>
                  <a:pt x="10" y="86"/>
                </a:cubicBezTo>
                <a:cubicBezTo>
                  <a:pt x="9" y="80"/>
                  <a:pt x="9" y="69"/>
                  <a:pt x="9" y="62"/>
                </a:cubicBezTo>
                <a:cubicBezTo>
                  <a:pt x="9" y="54"/>
                  <a:pt x="8" y="50"/>
                  <a:pt x="7" y="41"/>
                </a:cubicBezTo>
                <a:cubicBezTo>
                  <a:pt x="7" y="39"/>
                  <a:pt x="3" y="32"/>
                  <a:pt x="2" y="31"/>
                </a:cubicBezTo>
                <a:cubicBezTo>
                  <a:pt x="0" y="23"/>
                  <a:pt x="1" y="21"/>
                  <a:pt x="1" y="13"/>
                </a:cubicBezTo>
                <a:cubicBezTo>
                  <a:pt x="0" y="0"/>
                  <a:pt x="2" y="5"/>
                  <a:pt x="14" y="4"/>
                </a:cubicBezTo>
                <a:lnTo>
                  <a:pt x="44" y="9"/>
                </a:lnTo>
                <a:close/>
              </a:path>
            </a:pathLst>
          </a:custGeom>
          <a:solidFill>
            <a:srgbClr val="C7D8F0"/>
          </a:solidFill>
          <a:ln w="14288" cap="rnd">
            <a:solidFill>
              <a:srgbClr val="000000"/>
            </a:solidFill>
            <a:prstDash val="solid"/>
            <a:round/>
            <a:headEnd/>
            <a:tailEnd/>
          </a:ln>
        </p:spPr>
        <p:txBody>
          <a:bodyPr/>
          <a:lstStyle/>
          <a:p>
            <a:endParaRPr lang="en-US"/>
          </a:p>
        </p:txBody>
      </p:sp>
      <p:sp>
        <p:nvSpPr>
          <p:cNvPr id="482342" name="Freeform 38"/>
          <p:cNvSpPr>
            <a:spLocks/>
          </p:cNvSpPr>
          <p:nvPr/>
        </p:nvSpPr>
        <p:spPr bwMode="auto">
          <a:xfrm>
            <a:off x="963613" y="1997075"/>
            <a:ext cx="482600" cy="698500"/>
          </a:xfrm>
          <a:custGeom>
            <a:avLst/>
            <a:gdLst>
              <a:gd name="T0" fmla="*/ 29 w 85"/>
              <a:gd name="T1" fmla="*/ 4 h 107"/>
              <a:gd name="T2" fmla="*/ 33 w 85"/>
              <a:gd name="T3" fmla="*/ 0 h 107"/>
              <a:gd name="T4" fmla="*/ 41 w 85"/>
              <a:gd name="T5" fmla="*/ 3 h 107"/>
              <a:gd name="T6" fmla="*/ 56 w 85"/>
              <a:gd name="T7" fmla="*/ 11 h 107"/>
              <a:gd name="T8" fmla="*/ 83 w 85"/>
              <a:gd name="T9" fmla="*/ 23 h 107"/>
              <a:gd name="T10" fmla="*/ 84 w 85"/>
              <a:gd name="T11" fmla="*/ 47 h 107"/>
              <a:gd name="T12" fmla="*/ 54 w 85"/>
              <a:gd name="T13" fmla="*/ 44 h 107"/>
              <a:gd name="T14" fmla="*/ 51 w 85"/>
              <a:gd name="T15" fmla="*/ 67 h 107"/>
              <a:gd name="T16" fmla="*/ 51 w 85"/>
              <a:gd name="T17" fmla="*/ 80 h 107"/>
              <a:gd name="T18" fmla="*/ 55 w 85"/>
              <a:gd name="T19" fmla="*/ 107 h 107"/>
              <a:gd name="T20" fmla="*/ 41 w 85"/>
              <a:gd name="T21" fmla="*/ 107 h 107"/>
              <a:gd name="T22" fmla="*/ 31 w 85"/>
              <a:gd name="T23" fmla="*/ 106 h 107"/>
              <a:gd name="T24" fmla="*/ 17 w 85"/>
              <a:gd name="T25" fmla="*/ 105 h 107"/>
              <a:gd name="T26" fmla="*/ 2 w 85"/>
              <a:gd name="T27" fmla="*/ 103 h 107"/>
              <a:gd name="T28" fmla="*/ 3 w 85"/>
              <a:gd name="T29" fmla="*/ 89 h 107"/>
              <a:gd name="T30" fmla="*/ 4 w 85"/>
              <a:gd name="T31" fmla="*/ 67 h 107"/>
              <a:gd name="T32" fmla="*/ 13 w 85"/>
              <a:gd name="T33" fmla="*/ 31 h 107"/>
              <a:gd name="T34" fmla="*/ 29 w 85"/>
              <a:gd name="T35" fmla="*/ 4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5" h="107">
                <a:moveTo>
                  <a:pt x="29" y="4"/>
                </a:moveTo>
                <a:cubicBezTo>
                  <a:pt x="33" y="0"/>
                  <a:pt x="33" y="0"/>
                  <a:pt x="33" y="0"/>
                </a:cubicBezTo>
                <a:cubicBezTo>
                  <a:pt x="33" y="0"/>
                  <a:pt x="36" y="2"/>
                  <a:pt x="41" y="3"/>
                </a:cubicBezTo>
                <a:cubicBezTo>
                  <a:pt x="45" y="3"/>
                  <a:pt x="54" y="8"/>
                  <a:pt x="56" y="11"/>
                </a:cubicBezTo>
                <a:cubicBezTo>
                  <a:pt x="59" y="14"/>
                  <a:pt x="83" y="23"/>
                  <a:pt x="83" y="23"/>
                </a:cubicBezTo>
                <a:cubicBezTo>
                  <a:pt x="83" y="23"/>
                  <a:pt x="85" y="45"/>
                  <a:pt x="84" y="47"/>
                </a:cubicBezTo>
                <a:cubicBezTo>
                  <a:pt x="83" y="50"/>
                  <a:pt x="54" y="43"/>
                  <a:pt x="54" y="44"/>
                </a:cubicBezTo>
                <a:cubicBezTo>
                  <a:pt x="54" y="46"/>
                  <a:pt x="51" y="63"/>
                  <a:pt x="51" y="67"/>
                </a:cubicBezTo>
                <a:cubicBezTo>
                  <a:pt x="52" y="72"/>
                  <a:pt x="51" y="76"/>
                  <a:pt x="51" y="80"/>
                </a:cubicBezTo>
                <a:cubicBezTo>
                  <a:pt x="52" y="84"/>
                  <a:pt x="55" y="107"/>
                  <a:pt x="55" y="107"/>
                </a:cubicBezTo>
                <a:cubicBezTo>
                  <a:pt x="41" y="107"/>
                  <a:pt x="41" y="107"/>
                  <a:pt x="41" y="107"/>
                </a:cubicBezTo>
                <a:cubicBezTo>
                  <a:pt x="41" y="107"/>
                  <a:pt x="34" y="107"/>
                  <a:pt x="31" y="106"/>
                </a:cubicBezTo>
                <a:cubicBezTo>
                  <a:pt x="27" y="106"/>
                  <a:pt x="17" y="105"/>
                  <a:pt x="17" y="105"/>
                </a:cubicBezTo>
                <a:cubicBezTo>
                  <a:pt x="17" y="105"/>
                  <a:pt x="4" y="103"/>
                  <a:pt x="2" y="103"/>
                </a:cubicBezTo>
                <a:cubicBezTo>
                  <a:pt x="0" y="103"/>
                  <a:pt x="3" y="89"/>
                  <a:pt x="3" y="89"/>
                </a:cubicBezTo>
                <a:cubicBezTo>
                  <a:pt x="3" y="89"/>
                  <a:pt x="2" y="73"/>
                  <a:pt x="4" y="67"/>
                </a:cubicBezTo>
                <a:cubicBezTo>
                  <a:pt x="6" y="62"/>
                  <a:pt x="13" y="31"/>
                  <a:pt x="13" y="31"/>
                </a:cubicBezTo>
                <a:lnTo>
                  <a:pt x="29" y="4"/>
                </a:lnTo>
                <a:close/>
              </a:path>
            </a:pathLst>
          </a:custGeom>
          <a:solidFill>
            <a:srgbClr val="FFFFFF"/>
          </a:solidFill>
          <a:ln w="14288" cap="rnd">
            <a:solidFill>
              <a:srgbClr val="000000"/>
            </a:solidFill>
            <a:prstDash val="solid"/>
            <a:round/>
            <a:headEnd/>
            <a:tailEnd/>
          </a:ln>
        </p:spPr>
        <p:txBody>
          <a:bodyPr/>
          <a:lstStyle/>
          <a:p>
            <a:endParaRPr lang="en-US"/>
          </a:p>
        </p:txBody>
      </p:sp>
      <p:sp>
        <p:nvSpPr>
          <p:cNvPr id="482343" name="Freeform 39"/>
          <p:cNvSpPr>
            <a:spLocks/>
          </p:cNvSpPr>
          <p:nvPr/>
        </p:nvSpPr>
        <p:spPr bwMode="auto">
          <a:xfrm>
            <a:off x="1196975" y="2284413"/>
            <a:ext cx="66675" cy="6350"/>
          </a:xfrm>
          <a:custGeom>
            <a:avLst/>
            <a:gdLst>
              <a:gd name="T0" fmla="*/ 12 w 12"/>
              <a:gd name="T1" fmla="*/ 1 h 1"/>
              <a:gd name="T2" fmla="*/ 0 w 12"/>
              <a:gd name="T3" fmla="*/ 1 h 1"/>
            </a:gdLst>
            <a:ahLst/>
            <a:cxnLst>
              <a:cxn ang="0">
                <a:pos x="T0" y="T1"/>
              </a:cxn>
              <a:cxn ang="0">
                <a:pos x="T2" y="T3"/>
              </a:cxn>
            </a:cxnLst>
            <a:rect l="0" t="0" r="r" b="b"/>
            <a:pathLst>
              <a:path w="12" h="1">
                <a:moveTo>
                  <a:pt x="12" y="1"/>
                </a:moveTo>
                <a:cubicBezTo>
                  <a:pt x="5" y="0"/>
                  <a:pt x="8" y="1"/>
                  <a:pt x="0" y="1"/>
                </a:cubicBez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44" name="Freeform 40"/>
          <p:cNvSpPr>
            <a:spLocks/>
          </p:cNvSpPr>
          <p:nvPr/>
        </p:nvSpPr>
        <p:spPr bwMode="auto">
          <a:xfrm>
            <a:off x="1162050" y="2290763"/>
            <a:ext cx="109538" cy="255587"/>
          </a:xfrm>
          <a:custGeom>
            <a:avLst/>
            <a:gdLst>
              <a:gd name="T0" fmla="*/ 18 w 19"/>
              <a:gd name="T1" fmla="*/ 0 h 39"/>
              <a:gd name="T2" fmla="*/ 13 w 19"/>
              <a:gd name="T3" fmla="*/ 11 h 39"/>
              <a:gd name="T4" fmla="*/ 0 w 19"/>
              <a:gd name="T5" fmla="*/ 39 h 39"/>
            </a:gdLst>
            <a:ahLst/>
            <a:cxnLst>
              <a:cxn ang="0">
                <a:pos x="T0" y="T1"/>
              </a:cxn>
              <a:cxn ang="0">
                <a:pos x="T2" y="T3"/>
              </a:cxn>
              <a:cxn ang="0">
                <a:pos x="T4" y="T5"/>
              </a:cxn>
            </a:cxnLst>
            <a:rect l="0" t="0" r="r" b="b"/>
            <a:pathLst>
              <a:path w="19" h="39">
                <a:moveTo>
                  <a:pt x="18" y="0"/>
                </a:moveTo>
                <a:cubicBezTo>
                  <a:pt x="19" y="4"/>
                  <a:pt x="15" y="8"/>
                  <a:pt x="13" y="11"/>
                </a:cubicBezTo>
                <a:cubicBezTo>
                  <a:pt x="5" y="21"/>
                  <a:pt x="11" y="34"/>
                  <a:pt x="0" y="39"/>
                </a:cubicBez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45" name="Freeform 41"/>
          <p:cNvSpPr>
            <a:spLocks/>
          </p:cNvSpPr>
          <p:nvPr/>
        </p:nvSpPr>
        <p:spPr bwMode="auto">
          <a:xfrm>
            <a:off x="1117600" y="2030413"/>
            <a:ext cx="63500" cy="104775"/>
          </a:xfrm>
          <a:custGeom>
            <a:avLst/>
            <a:gdLst>
              <a:gd name="T0" fmla="*/ 11 w 11"/>
              <a:gd name="T1" fmla="*/ 0 h 16"/>
              <a:gd name="T2" fmla="*/ 1 w 11"/>
              <a:gd name="T3" fmla="*/ 16 h 16"/>
            </a:gdLst>
            <a:ahLst/>
            <a:cxnLst>
              <a:cxn ang="0">
                <a:pos x="T0" y="T1"/>
              </a:cxn>
              <a:cxn ang="0">
                <a:pos x="T2" y="T3"/>
              </a:cxn>
            </a:cxnLst>
            <a:rect l="0" t="0" r="r" b="b"/>
            <a:pathLst>
              <a:path w="11" h="16">
                <a:moveTo>
                  <a:pt x="11" y="0"/>
                </a:moveTo>
                <a:cubicBezTo>
                  <a:pt x="4" y="0"/>
                  <a:pt x="0" y="8"/>
                  <a:pt x="1" y="16"/>
                </a:cubicBezTo>
              </a:path>
            </a:pathLst>
          </a:custGeom>
          <a:noFill/>
          <a:ln w="9525" cap="rnd">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66" name="Rectangle 62"/>
          <p:cNvSpPr>
            <a:spLocks noChangeArrowheads="1"/>
          </p:cNvSpPr>
          <p:nvPr/>
        </p:nvSpPr>
        <p:spPr bwMode="auto">
          <a:xfrm>
            <a:off x="2203450" y="2513013"/>
            <a:ext cx="487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sensor</a:t>
            </a:r>
            <a:endParaRPr lang="en-US" altLang="en-US" sz="2800"/>
          </a:p>
        </p:txBody>
      </p:sp>
      <p:sp>
        <p:nvSpPr>
          <p:cNvPr id="482367" name="Rectangle 63"/>
          <p:cNvSpPr>
            <a:spLocks noChangeArrowheads="1"/>
          </p:cNvSpPr>
          <p:nvPr/>
        </p:nvSpPr>
        <p:spPr bwMode="auto">
          <a:xfrm>
            <a:off x="2203450" y="1760538"/>
            <a:ext cx="3587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laser</a:t>
            </a:r>
            <a:endParaRPr lang="en-US" altLang="en-US" sz="2800"/>
          </a:p>
        </p:txBody>
      </p:sp>
      <p:sp>
        <p:nvSpPr>
          <p:cNvPr id="482368" name="Rectangle 64"/>
          <p:cNvSpPr>
            <a:spLocks noChangeArrowheads="1"/>
          </p:cNvSpPr>
          <p:nvPr/>
        </p:nvSpPr>
        <p:spPr bwMode="auto">
          <a:xfrm>
            <a:off x="2203450" y="1387475"/>
            <a:ext cx="12080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 (in seconds)</a:t>
            </a:r>
            <a:endParaRPr lang="en-US" altLang="en-US" sz="2800"/>
          </a:p>
        </p:txBody>
      </p:sp>
      <p:sp>
        <p:nvSpPr>
          <p:cNvPr id="482371" name="Rectangle 67"/>
          <p:cNvSpPr>
            <a:spLocks noChangeArrowheads="1"/>
          </p:cNvSpPr>
          <p:nvPr/>
        </p:nvSpPr>
        <p:spPr bwMode="auto">
          <a:xfrm>
            <a:off x="1981200" y="2376488"/>
            <a:ext cx="141288" cy="142875"/>
          </a:xfrm>
          <a:prstGeom prst="rect">
            <a:avLst/>
          </a:prstGeom>
          <a:solidFill>
            <a:srgbClr val="0078C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nvGrpSpPr>
          <p:cNvPr id="482412" name="Group 108"/>
          <p:cNvGrpSpPr>
            <a:grpSpLocks/>
          </p:cNvGrpSpPr>
          <p:nvPr/>
        </p:nvGrpSpPr>
        <p:grpSpPr bwMode="auto">
          <a:xfrm>
            <a:off x="3708400" y="1422400"/>
            <a:ext cx="4645025" cy="1925638"/>
            <a:chOff x="2336" y="896"/>
            <a:chExt cx="2926" cy="1213"/>
          </a:xfrm>
        </p:grpSpPr>
        <p:sp>
          <p:nvSpPr>
            <p:cNvPr id="482372" name="Line 68"/>
            <p:cNvSpPr>
              <a:spLocks noChangeShapeType="1"/>
            </p:cNvSpPr>
            <p:nvPr/>
          </p:nvSpPr>
          <p:spPr bwMode="auto">
            <a:xfrm>
              <a:off x="4127" y="1165"/>
              <a:ext cx="37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2373" name="Freeform 69"/>
            <p:cNvSpPr>
              <a:spLocks/>
            </p:cNvSpPr>
            <p:nvPr/>
          </p:nvSpPr>
          <p:spPr bwMode="auto">
            <a:xfrm>
              <a:off x="4481" y="1130"/>
              <a:ext cx="114" cy="6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74" name="Line 70"/>
            <p:cNvSpPr>
              <a:spLocks noChangeShapeType="1"/>
            </p:cNvSpPr>
            <p:nvPr/>
          </p:nvSpPr>
          <p:spPr bwMode="auto">
            <a:xfrm flipH="1">
              <a:off x="4224" y="1745"/>
              <a:ext cx="375"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2375" name="Freeform 71"/>
            <p:cNvSpPr>
              <a:spLocks/>
            </p:cNvSpPr>
            <p:nvPr/>
          </p:nvSpPr>
          <p:spPr bwMode="auto">
            <a:xfrm>
              <a:off x="4127" y="1714"/>
              <a:ext cx="115" cy="7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76" name="Freeform 72"/>
            <p:cNvSpPr>
              <a:spLocks/>
            </p:cNvSpPr>
            <p:nvPr/>
          </p:nvSpPr>
          <p:spPr bwMode="auto">
            <a:xfrm>
              <a:off x="2940" y="1714"/>
              <a:ext cx="114" cy="7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77" name="Line 73"/>
            <p:cNvSpPr>
              <a:spLocks noChangeShapeType="1"/>
            </p:cNvSpPr>
            <p:nvPr/>
          </p:nvSpPr>
          <p:spPr bwMode="auto">
            <a:xfrm flipH="1">
              <a:off x="3026" y="1749"/>
              <a:ext cx="404"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2378" name="Line 74"/>
            <p:cNvSpPr>
              <a:spLocks noChangeShapeType="1"/>
            </p:cNvSpPr>
            <p:nvPr/>
          </p:nvSpPr>
          <p:spPr bwMode="auto">
            <a:xfrm>
              <a:off x="2955" y="1165"/>
              <a:ext cx="375"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2379" name="Freeform 75"/>
            <p:cNvSpPr>
              <a:spLocks/>
            </p:cNvSpPr>
            <p:nvPr/>
          </p:nvSpPr>
          <p:spPr bwMode="auto">
            <a:xfrm>
              <a:off x="3308" y="1130"/>
              <a:ext cx="115" cy="6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2380" name="Rectangle 76"/>
            <p:cNvSpPr>
              <a:spLocks noChangeArrowheads="1"/>
            </p:cNvSpPr>
            <p:nvPr/>
          </p:nvSpPr>
          <p:spPr bwMode="auto">
            <a:xfrm>
              <a:off x="3440" y="1277"/>
              <a:ext cx="66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Laser-based</a:t>
              </a:r>
              <a:endParaRPr lang="en-US" altLang="en-US" sz="2800"/>
            </a:p>
          </p:txBody>
        </p:sp>
        <p:sp>
          <p:nvSpPr>
            <p:cNvPr id="482383" name="Rectangle 79"/>
            <p:cNvSpPr>
              <a:spLocks noChangeArrowheads="1"/>
            </p:cNvSpPr>
            <p:nvPr/>
          </p:nvSpPr>
          <p:spPr bwMode="auto">
            <a:xfrm>
              <a:off x="3536" y="1435"/>
              <a:ext cx="44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distance</a:t>
              </a:r>
              <a:endParaRPr lang="en-US" altLang="en-US" sz="2800"/>
            </a:p>
          </p:txBody>
        </p:sp>
        <p:sp>
          <p:nvSpPr>
            <p:cNvPr id="482386" name="Rectangle 82"/>
            <p:cNvSpPr>
              <a:spLocks noChangeArrowheads="1"/>
            </p:cNvSpPr>
            <p:nvPr/>
          </p:nvSpPr>
          <p:spPr bwMode="auto">
            <a:xfrm>
              <a:off x="3513" y="1588"/>
              <a:ext cx="5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measurer</a:t>
              </a:r>
              <a:endParaRPr lang="en-US" altLang="en-US" sz="2800"/>
            </a:p>
          </p:txBody>
        </p:sp>
        <p:sp>
          <p:nvSpPr>
            <p:cNvPr id="482389" name="Rectangle 85"/>
            <p:cNvSpPr>
              <a:spLocks noChangeArrowheads="1"/>
            </p:cNvSpPr>
            <p:nvPr/>
          </p:nvSpPr>
          <p:spPr bwMode="auto">
            <a:xfrm>
              <a:off x="3430" y="896"/>
              <a:ext cx="697" cy="1213"/>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2390" name="Line 86"/>
            <p:cNvSpPr>
              <a:spLocks noChangeShapeType="1"/>
            </p:cNvSpPr>
            <p:nvPr/>
          </p:nvSpPr>
          <p:spPr bwMode="auto">
            <a:xfrm flipH="1">
              <a:off x="3187" y="1694"/>
              <a:ext cx="100" cy="11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2391" name="Rectangle 87"/>
            <p:cNvSpPr>
              <a:spLocks noChangeArrowheads="1"/>
            </p:cNvSpPr>
            <p:nvPr/>
          </p:nvSpPr>
          <p:spPr bwMode="auto">
            <a:xfrm>
              <a:off x="3184" y="1539"/>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16</a:t>
              </a:r>
              <a:endParaRPr lang="en-US" altLang="en-US" sz="2800"/>
            </a:p>
          </p:txBody>
        </p:sp>
        <p:sp>
          <p:nvSpPr>
            <p:cNvPr id="482392" name="Rectangle 88"/>
            <p:cNvSpPr>
              <a:spLocks noChangeArrowheads="1"/>
            </p:cNvSpPr>
            <p:nvPr/>
          </p:nvSpPr>
          <p:spPr bwMode="auto">
            <a:xfrm>
              <a:off x="2336" y="1075"/>
              <a:ext cx="6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from button</a:t>
              </a:r>
              <a:endParaRPr lang="en-US" altLang="en-US" sz="2800"/>
            </a:p>
          </p:txBody>
        </p:sp>
        <p:sp>
          <p:nvSpPr>
            <p:cNvPr id="482397" name="Rectangle 93"/>
            <p:cNvSpPr>
              <a:spLocks noChangeArrowheads="1"/>
            </p:cNvSpPr>
            <p:nvPr/>
          </p:nvSpPr>
          <p:spPr bwMode="auto">
            <a:xfrm>
              <a:off x="2426" y="1658"/>
              <a:ext cx="5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to display</a:t>
              </a:r>
              <a:endParaRPr lang="en-US" altLang="en-US" sz="2800"/>
            </a:p>
          </p:txBody>
        </p:sp>
        <p:sp>
          <p:nvSpPr>
            <p:cNvPr id="482401" name="Rectangle 97"/>
            <p:cNvSpPr>
              <a:spLocks noChangeArrowheads="1"/>
            </p:cNvSpPr>
            <p:nvPr/>
          </p:nvSpPr>
          <p:spPr bwMode="auto">
            <a:xfrm>
              <a:off x="4530" y="154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t>
              </a:r>
              <a:endParaRPr lang="en-US" altLang="en-US" sz="2800"/>
            </a:p>
          </p:txBody>
        </p:sp>
        <p:sp>
          <p:nvSpPr>
            <p:cNvPr id="482402" name="Rectangle 98"/>
            <p:cNvSpPr>
              <a:spLocks noChangeArrowheads="1"/>
            </p:cNvSpPr>
            <p:nvPr/>
          </p:nvSpPr>
          <p:spPr bwMode="auto">
            <a:xfrm>
              <a:off x="4532" y="99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a:t>
              </a:r>
              <a:endParaRPr lang="en-US" altLang="en-US" sz="2800"/>
            </a:p>
          </p:txBody>
        </p:sp>
        <p:sp>
          <p:nvSpPr>
            <p:cNvPr id="482403" name="Rectangle 99"/>
            <p:cNvSpPr>
              <a:spLocks noChangeArrowheads="1"/>
            </p:cNvSpPr>
            <p:nvPr/>
          </p:nvSpPr>
          <p:spPr bwMode="auto">
            <a:xfrm>
              <a:off x="2951" y="1545"/>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
              </a:r>
              <a:endParaRPr lang="en-US" altLang="en-US" sz="2800"/>
            </a:p>
          </p:txBody>
        </p:sp>
        <p:sp>
          <p:nvSpPr>
            <p:cNvPr id="482404" name="Rectangle 100"/>
            <p:cNvSpPr>
              <a:spLocks noChangeArrowheads="1"/>
            </p:cNvSpPr>
            <p:nvPr/>
          </p:nvSpPr>
          <p:spPr bwMode="auto">
            <a:xfrm>
              <a:off x="2965" y="990"/>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82405" name="Rectangle 101"/>
            <p:cNvSpPr>
              <a:spLocks noChangeArrowheads="1"/>
            </p:cNvSpPr>
            <p:nvPr/>
          </p:nvSpPr>
          <p:spPr bwMode="auto">
            <a:xfrm>
              <a:off x="4628" y="1088"/>
              <a:ext cx="39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to laser</a:t>
              </a:r>
              <a:endParaRPr lang="en-US" altLang="en-US" sz="2800"/>
            </a:p>
          </p:txBody>
        </p:sp>
        <p:sp>
          <p:nvSpPr>
            <p:cNvPr id="482407" name="Rectangle 103"/>
            <p:cNvSpPr>
              <a:spLocks noChangeArrowheads="1"/>
            </p:cNvSpPr>
            <p:nvPr/>
          </p:nvSpPr>
          <p:spPr bwMode="auto">
            <a:xfrm>
              <a:off x="4628" y="1666"/>
              <a:ext cx="6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from sensor</a:t>
              </a:r>
              <a:endParaRPr lang="en-US" altLang="en-US" sz="2800"/>
            </a:p>
          </p:txBody>
        </p:sp>
      </p:grpSp>
      <p:sp>
        <p:nvSpPr>
          <p:cNvPr id="482411" name="Freeform 107"/>
          <p:cNvSpPr>
            <a:spLocks/>
          </p:cNvSpPr>
          <p:nvPr/>
        </p:nvSpPr>
        <p:spPr bwMode="auto">
          <a:xfrm>
            <a:off x="2019300" y="2278063"/>
            <a:ext cx="3932238" cy="1065212"/>
          </a:xfrm>
          <a:custGeom>
            <a:avLst/>
            <a:gdLst>
              <a:gd name="T0" fmla="*/ 0 w 2477"/>
              <a:gd name="T1" fmla="*/ 0 h 671"/>
              <a:gd name="T2" fmla="*/ 1380 w 2477"/>
              <a:gd name="T3" fmla="*/ 586 h 671"/>
              <a:gd name="T4" fmla="*/ 2477 w 2477"/>
              <a:gd name="T5" fmla="*/ 510 h 671"/>
            </a:gdLst>
            <a:ahLst/>
            <a:cxnLst>
              <a:cxn ang="0">
                <a:pos x="T0" y="T1"/>
              </a:cxn>
              <a:cxn ang="0">
                <a:pos x="T2" y="T3"/>
              </a:cxn>
              <a:cxn ang="0">
                <a:pos x="T4" y="T5"/>
              </a:cxn>
            </a:cxnLst>
            <a:rect l="0" t="0" r="r" b="b"/>
            <a:pathLst>
              <a:path w="2477" h="671">
                <a:moveTo>
                  <a:pt x="0" y="0"/>
                </a:moveTo>
                <a:cubicBezTo>
                  <a:pt x="483" y="250"/>
                  <a:pt x="967" y="501"/>
                  <a:pt x="1380" y="586"/>
                </a:cubicBezTo>
                <a:cubicBezTo>
                  <a:pt x="1793" y="671"/>
                  <a:pt x="2135" y="590"/>
                  <a:pt x="2477" y="51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lide Number Placeholder 3"/>
          <p:cNvSpPr>
            <a:spLocks noGrp="1"/>
          </p:cNvSpPr>
          <p:nvPr>
            <p:ph type="sldNum" sz="quarter" idx="10"/>
          </p:nvPr>
        </p:nvSpPr>
        <p:spPr/>
        <p:txBody>
          <a:bodyPr/>
          <a:lstStyle/>
          <a:p>
            <a:fld id="{1D2C65ED-B286-41DD-A785-AECDA1B6550F}" type="slidenum">
              <a:rPr lang="en-US" altLang="en-US"/>
              <a:pPr/>
              <a:t>14</a:t>
            </a:fld>
            <a:endParaRPr lang="en-US" altLang="en-US"/>
          </a:p>
        </p:txBody>
      </p:sp>
      <p:sp>
        <p:nvSpPr>
          <p:cNvPr id="483330" name="Rectangle 2"/>
          <p:cNvSpPr>
            <a:spLocks noGrp="1" noChangeArrowheads="1"/>
          </p:cNvSpPr>
          <p:nvPr>
            <p:ph type="title"/>
          </p:nvPr>
        </p:nvSpPr>
        <p:spPr/>
        <p:txBody>
          <a:bodyPr/>
          <a:lstStyle/>
          <a:p>
            <a:r>
              <a:rPr lang="en-US" altLang="en-US"/>
              <a:t>Step 1 Example: </a:t>
            </a:r>
            <a:r>
              <a:rPr lang="en-US" altLang="en-US" sz="3200"/>
              <a:t>Laser-Based Distance Measurer</a:t>
            </a:r>
          </a:p>
        </p:txBody>
      </p:sp>
      <p:sp>
        <p:nvSpPr>
          <p:cNvPr id="483331" name="Rectangle 3"/>
          <p:cNvSpPr>
            <a:spLocks noGrp="1" noChangeArrowheads="1"/>
          </p:cNvSpPr>
          <p:nvPr>
            <p:ph type="body" idx="1"/>
          </p:nvPr>
        </p:nvSpPr>
        <p:spPr>
          <a:xfrm>
            <a:off x="228600" y="3652838"/>
            <a:ext cx="8351838" cy="2443162"/>
          </a:xfrm>
        </p:spPr>
        <p:txBody>
          <a:bodyPr/>
          <a:lstStyle/>
          <a:p>
            <a:r>
              <a:rPr lang="en-US" altLang="en-US"/>
              <a:t>Step 1: Create high-level state machine</a:t>
            </a:r>
          </a:p>
          <a:p>
            <a:r>
              <a:rPr lang="en-US" altLang="en-US"/>
              <a:t>Begin by declaring inputs and outputs</a:t>
            </a:r>
          </a:p>
          <a:p>
            <a:r>
              <a:rPr lang="en-US" altLang="en-US"/>
              <a:t>Create initial state, name it </a:t>
            </a:r>
            <a:r>
              <a:rPr lang="en-US" altLang="en-US" b="1"/>
              <a:t>S0</a:t>
            </a:r>
          </a:p>
          <a:p>
            <a:pPr lvl="1"/>
            <a:r>
              <a:rPr lang="en-US" altLang="en-US"/>
              <a:t>Initialize laser to off (L=0)</a:t>
            </a:r>
          </a:p>
          <a:p>
            <a:pPr lvl="1"/>
            <a:r>
              <a:rPr lang="en-US" altLang="en-US"/>
              <a:t>Initialize displayed distance to 0 (D=0)</a:t>
            </a:r>
          </a:p>
        </p:txBody>
      </p:sp>
      <p:grpSp>
        <p:nvGrpSpPr>
          <p:cNvPr id="483441" name="Group 113"/>
          <p:cNvGrpSpPr>
            <a:grpSpLocks/>
          </p:cNvGrpSpPr>
          <p:nvPr/>
        </p:nvGrpSpPr>
        <p:grpSpPr bwMode="auto">
          <a:xfrm>
            <a:off x="5038725" y="1077913"/>
            <a:ext cx="3892550" cy="1443037"/>
            <a:chOff x="3174" y="679"/>
            <a:chExt cx="2452" cy="909"/>
          </a:xfrm>
        </p:grpSpPr>
        <p:sp>
          <p:nvSpPr>
            <p:cNvPr id="483371" name="Line 43"/>
            <p:cNvSpPr>
              <a:spLocks noChangeShapeType="1"/>
            </p:cNvSpPr>
            <p:nvPr/>
          </p:nvSpPr>
          <p:spPr bwMode="auto">
            <a:xfrm>
              <a:off x="4669" y="880"/>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3372" name="Freeform 44"/>
            <p:cNvSpPr>
              <a:spLocks/>
            </p:cNvSpPr>
            <p:nvPr/>
          </p:nvSpPr>
          <p:spPr bwMode="auto">
            <a:xfrm>
              <a:off x="4956" y="854"/>
              <a:ext cx="93" cy="5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3373" name="Line 45"/>
            <p:cNvSpPr>
              <a:spLocks noChangeShapeType="1"/>
            </p:cNvSpPr>
            <p:nvPr/>
          </p:nvSpPr>
          <p:spPr bwMode="auto">
            <a:xfrm flipH="1">
              <a:off x="4747" y="1315"/>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3374" name="Freeform 46"/>
            <p:cNvSpPr>
              <a:spLocks/>
            </p:cNvSpPr>
            <p:nvPr/>
          </p:nvSpPr>
          <p:spPr bwMode="auto">
            <a:xfrm>
              <a:off x="4669" y="1292"/>
              <a:ext cx="93" cy="52"/>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3375" name="Freeform 47"/>
            <p:cNvSpPr>
              <a:spLocks/>
            </p:cNvSpPr>
            <p:nvPr/>
          </p:nvSpPr>
          <p:spPr bwMode="auto">
            <a:xfrm>
              <a:off x="3706" y="1292"/>
              <a:ext cx="93" cy="52"/>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3376" name="Line 48"/>
            <p:cNvSpPr>
              <a:spLocks noChangeShapeType="1"/>
            </p:cNvSpPr>
            <p:nvPr/>
          </p:nvSpPr>
          <p:spPr bwMode="auto">
            <a:xfrm flipH="1">
              <a:off x="3776" y="1318"/>
              <a:ext cx="327"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3377" name="Line 49"/>
            <p:cNvSpPr>
              <a:spLocks noChangeShapeType="1"/>
            </p:cNvSpPr>
            <p:nvPr/>
          </p:nvSpPr>
          <p:spPr bwMode="auto">
            <a:xfrm>
              <a:off x="3718" y="880"/>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3378" name="Freeform 50"/>
            <p:cNvSpPr>
              <a:spLocks/>
            </p:cNvSpPr>
            <p:nvPr/>
          </p:nvSpPr>
          <p:spPr bwMode="auto">
            <a:xfrm>
              <a:off x="4005" y="854"/>
              <a:ext cx="92" cy="5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3379" name="Rectangle 51"/>
            <p:cNvSpPr>
              <a:spLocks noChangeArrowheads="1"/>
            </p:cNvSpPr>
            <p:nvPr/>
          </p:nvSpPr>
          <p:spPr bwMode="auto">
            <a:xfrm>
              <a:off x="4220" y="850"/>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Laser-</a:t>
              </a:r>
            </a:p>
            <a:p>
              <a:r>
                <a:rPr lang="en-US" altLang="en-US" sz="1300">
                  <a:solidFill>
                    <a:srgbClr val="000000"/>
                  </a:solidFill>
                  <a:latin typeface="Myriad Roman" charset="0"/>
                </a:rPr>
                <a:t>based</a:t>
              </a:r>
              <a:endParaRPr lang="en-US" altLang="en-US" sz="2400"/>
            </a:p>
          </p:txBody>
        </p:sp>
        <p:sp>
          <p:nvSpPr>
            <p:cNvPr id="483382" name="Rectangle 54"/>
            <p:cNvSpPr>
              <a:spLocks noChangeArrowheads="1"/>
            </p:cNvSpPr>
            <p:nvPr/>
          </p:nvSpPr>
          <p:spPr bwMode="auto">
            <a:xfrm>
              <a:off x="4182" y="1083"/>
              <a:ext cx="38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distance</a:t>
              </a:r>
              <a:endParaRPr lang="en-US" altLang="en-US" sz="2400"/>
            </a:p>
          </p:txBody>
        </p:sp>
        <p:sp>
          <p:nvSpPr>
            <p:cNvPr id="483385" name="Rectangle 57"/>
            <p:cNvSpPr>
              <a:spLocks noChangeArrowheads="1"/>
            </p:cNvSpPr>
            <p:nvPr/>
          </p:nvSpPr>
          <p:spPr bwMode="auto">
            <a:xfrm>
              <a:off x="4163" y="1198"/>
              <a:ext cx="4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measurer</a:t>
              </a:r>
              <a:endParaRPr lang="en-US" altLang="en-US" sz="2400"/>
            </a:p>
          </p:txBody>
        </p:sp>
        <p:sp>
          <p:nvSpPr>
            <p:cNvPr id="483388" name="Rectangle 60"/>
            <p:cNvSpPr>
              <a:spLocks noChangeArrowheads="1"/>
            </p:cNvSpPr>
            <p:nvPr/>
          </p:nvSpPr>
          <p:spPr bwMode="auto">
            <a:xfrm>
              <a:off x="4103" y="679"/>
              <a:ext cx="566" cy="90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3389" name="Line 61"/>
            <p:cNvSpPr>
              <a:spLocks noChangeShapeType="1"/>
            </p:cNvSpPr>
            <p:nvPr/>
          </p:nvSpPr>
          <p:spPr bwMode="auto">
            <a:xfrm flipH="1">
              <a:off x="3906" y="1277"/>
              <a:ext cx="81" cy="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3390" name="Rectangle 62"/>
            <p:cNvSpPr>
              <a:spLocks noChangeArrowheads="1"/>
            </p:cNvSpPr>
            <p:nvPr/>
          </p:nvSpPr>
          <p:spPr bwMode="auto">
            <a:xfrm>
              <a:off x="3904" y="1160"/>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483391" name="Rectangle 63"/>
            <p:cNvSpPr>
              <a:spLocks noChangeArrowheads="1"/>
            </p:cNvSpPr>
            <p:nvPr/>
          </p:nvSpPr>
          <p:spPr bwMode="auto">
            <a:xfrm>
              <a:off x="3174" y="801"/>
              <a:ext cx="5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from button</a:t>
              </a:r>
              <a:endParaRPr lang="en-US" altLang="en-US" sz="2400"/>
            </a:p>
          </p:txBody>
        </p:sp>
        <p:sp>
          <p:nvSpPr>
            <p:cNvPr id="483396" name="Rectangle 68"/>
            <p:cNvSpPr>
              <a:spLocks noChangeArrowheads="1"/>
            </p:cNvSpPr>
            <p:nvPr/>
          </p:nvSpPr>
          <p:spPr bwMode="auto">
            <a:xfrm>
              <a:off x="3253" y="1244"/>
              <a:ext cx="44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display</a:t>
              </a:r>
              <a:endParaRPr lang="en-US" altLang="en-US" sz="2400"/>
            </a:p>
          </p:txBody>
        </p:sp>
        <p:sp>
          <p:nvSpPr>
            <p:cNvPr id="483400" name="Rectangle 72"/>
            <p:cNvSpPr>
              <a:spLocks noChangeArrowheads="1"/>
            </p:cNvSpPr>
            <p:nvPr/>
          </p:nvSpPr>
          <p:spPr bwMode="auto">
            <a:xfrm>
              <a:off x="4996" y="1166"/>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83401" name="Rectangle 73"/>
            <p:cNvSpPr>
              <a:spLocks noChangeArrowheads="1"/>
            </p:cNvSpPr>
            <p:nvPr/>
          </p:nvSpPr>
          <p:spPr bwMode="auto">
            <a:xfrm>
              <a:off x="4998" y="750"/>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t>
              </a:r>
              <a:endParaRPr lang="en-US" altLang="en-US" sz="2400"/>
            </a:p>
          </p:txBody>
        </p:sp>
        <p:sp>
          <p:nvSpPr>
            <p:cNvPr id="483402" name="Rectangle 74"/>
            <p:cNvSpPr>
              <a:spLocks noChangeArrowheads="1"/>
            </p:cNvSpPr>
            <p:nvPr/>
          </p:nvSpPr>
          <p:spPr bwMode="auto">
            <a:xfrm>
              <a:off x="3715" y="1166"/>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3403" name="Rectangle 75"/>
            <p:cNvSpPr>
              <a:spLocks noChangeArrowheads="1"/>
            </p:cNvSpPr>
            <p:nvPr/>
          </p:nvSpPr>
          <p:spPr bwMode="auto">
            <a:xfrm>
              <a:off x="3726" y="750"/>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83404" name="Rectangle 76"/>
            <p:cNvSpPr>
              <a:spLocks noChangeArrowheads="1"/>
            </p:cNvSpPr>
            <p:nvPr/>
          </p:nvSpPr>
          <p:spPr bwMode="auto">
            <a:xfrm>
              <a:off x="5075" y="823"/>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laser</a:t>
              </a:r>
              <a:endParaRPr lang="en-US" altLang="en-US" sz="2400"/>
            </a:p>
          </p:txBody>
        </p:sp>
        <p:sp>
          <p:nvSpPr>
            <p:cNvPr id="483406" name="Rectangle 78"/>
            <p:cNvSpPr>
              <a:spLocks noChangeArrowheads="1"/>
            </p:cNvSpPr>
            <p:nvPr/>
          </p:nvSpPr>
          <p:spPr bwMode="auto">
            <a:xfrm>
              <a:off x="5075" y="1256"/>
              <a:ext cx="5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from sensor</a:t>
              </a:r>
              <a:endParaRPr lang="en-US" altLang="en-US" sz="2400"/>
            </a:p>
          </p:txBody>
        </p:sp>
      </p:grpSp>
      <p:sp>
        <p:nvSpPr>
          <p:cNvPr id="483410" name="Rectangle 82"/>
          <p:cNvSpPr>
            <a:spLocks noChangeArrowheads="1"/>
          </p:cNvSpPr>
          <p:nvPr/>
        </p:nvSpPr>
        <p:spPr bwMode="auto">
          <a:xfrm>
            <a:off x="714375" y="1446213"/>
            <a:ext cx="571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Inputs:</a:t>
            </a:r>
            <a:endParaRPr lang="en-US" altLang="en-US" sz="2800"/>
          </a:p>
        </p:txBody>
      </p:sp>
      <p:sp>
        <p:nvSpPr>
          <p:cNvPr id="483413" name="Rectangle 85"/>
          <p:cNvSpPr>
            <a:spLocks noChangeArrowheads="1"/>
          </p:cNvSpPr>
          <p:nvPr/>
        </p:nvSpPr>
        <p:spPr bwMode="auto">
          <a:xfrm>
            <a:off x="1368425" y="1446213"/>
            <a:ext cx="1254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83414" name="Rectangle 86"/>
          <p:cNvSpPr>
            <a:spLocks noChangeArrowheads="1"/>
          </p:cNvSpPr>
          <p:nvPr/>
        </p:nvSpPr>
        <p:spPr bwMode="auto">
          <a:xfrm>
            <a:off x="1481138" y="1446213"/>
            <a:ext cx="2016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 S</a:t>
            </a:r>
            <a:endParaRPr lang="en-US" altLang="en-US" sz="2800"/>
          </a:p>
        </p:txBody>
      </p:sp>
      <p:sp>
        <p:nvSpPr>
          <p:cNvPr id="483415" name="Rectangle 87"/>
          <p:cNvSpPr>
            <a:spLocks noChangeArrowheads="1"/>
          </p:cNvSpPr>
          <p:nvPr/>
        </p:nvSpPr>
        <p:spPr bwMode="auto">
          <a:xfrm>
            <a:off x="1720850" y="1446213"/>
            <a:ext cx="8651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(1 bit each)</a:t>
            </a:r>
            <a:endParaRPr lang="en-US" altLang="en-US" sz="2800"/>
          </a:p>
        </p:txBody>
      </p:sp>
      <p:sp>
        <p:nvSpPr>
          <p:cNvPr id="483416" name="Rectangle 88"/>
          <p:cNvSpPr>
            <a:spLocks noChangeArrowheads="1"/>
          </p:cNvSpPr>
          <p:nvPr/>
        </p:nvSpPr>
        <p:spPr bwMode="auto">
          <a:xfrm>
            <a:off x="714375" y="1646238"/>
            <a:ext cx="7191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Outputs:</a:t>
            </a:r>
            <a:endParaRPr lang="en-US" altLang="en-US" sz="2800"/>
          </a:p>
        </p:txBody>
      </p:sp>
      <p:sp>
        <p:nvSpPr>
          <p:cNvPr id="483419" name="Rectangle 91"/>
          <p:cNvSpPr>
            <a:spLocks noChangeArrowheads="1"/>
          </p:cNvSpPr>
          <p:nvPr/>
        </p:nvSpPr>
        <p:spPr bwMode="auto">
          <a:xfrm>
            <a:off x="1533525" y="1646238"/>
            <a:ext cx="14128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 (bit), D (16 bits)</a:t>
            </a:r>
            <a:endParaRPr lang="en-US" altLang="en-US" sz="2800"/>
          </a:p>
        </p:txBody>
      </p:sp>
      <p:grpSp>
        <p:nvGrpSpPr>
          <p:cNvPr id="483437" name="Group 109"/>
          <p:cNvGrpSpPr>
            <a:grpSpLocks/>
          </p:cNvGrpSpPr>
          <p:nvPr/>
        </p:nvGrpSpPr>
        <p:grpSpPr bwMode="auto">
          <a:xfrm>
            <a:off x="1844675" y="2114550"/>
            <a:ext cx="2105025" cy="792163"/>
            <a:chOff x="1162" y="1332"/>
            <a:chExt cx="1326" cy="499"/>
          </a:xfrm>
        </p:grpSpPr>
        <p:sp>
          <p:nvSpPr>
            <p:cNvPr id="483420" name="Rectangle 92"/>
            <p:cNvSpPr>
              <a:spLocks noChangeArrowheads="1"/>
            </p:cNvSpPr>
            <p:nvPr/>
          </p:nvSpPr>
          <p:spPr bwMode="auto">
            <a:xfrm>
              <a:off x="1571" y="1602"/>
              <a:ext cx="12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S0</a:t>
              </a:r>
              <a:endParaRPr lang="en-US" altLang="en-US" sz="2800"/>
            </a:p>
          </p:txBody>
        </p:sp>
        <p:sp>
          <p:nvSpPr>
            <p:cNvPr id="483421" name="Oval 93"/>
            <p:cNvSpPr>
              <a:spLocks noChangeArrowheads="1"/>
            </p:cNvSpPr>
            <p:nvPr/>
          </p:nvSpPr>
          <p:spPr bwMode="auto">
            <a:xfrm>
              <a:off x="1355" y="1496"/>
              <a:ext cx="554" cy="335"/>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3422" name="Line 94"/>
            <p:cNvSpPr>
              <a:spLocks noChangeShapeType="1"/>
            </p:cNvSpPr>
            <p:nvPr/>
          </p:nvSpPr>
          <p:spPr bwMode="auto">
            <a:xfrm>
              <a:off x="1913" y="1667"/>
              <a:ext cx="382"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3423" name="Freeform 95"/>
            <p:cNvSpPr>
              <a:spLocks/>
            </p:cNvSpPr>
            <p:nvPr/>
          </p:nvSpPr>
          <p:spPr bwMode="auto">
            <a:xfrm>
              <a:off x="2271" y="1639"/>
              <a:ext cx="134" cy="5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3424" name="Line 96"/>
            <p:cNvSpPr>
              <a:spLocks noChangeShapeType="1"/>
            </p:cNvSpPr>
            <p:nvPr/>
          </p:nvSpPr>
          <p:spPr bwMode="auto">
            <a:xfrm>
              <a:off x="1162" y="1332"/>
              <a:ext cx="193" cy="14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3425" name="Freeform 97"/>
            <p:cNvSpPr>
              <a:spLocks/>
            </p:cNvSpPr>
            <p:nvPr/>
          </p:nvSpPr>
          <p:spPr bwMode="auto">
            <a:xfrm>
              <a:off x="1313" y="1439"/>
              <a:ext cx="126" cy="100"/>
            </a:xfrm>
            <a:custGeom>
              <a:avLst/>
              <a:gdLst>
                <a:gd name="T0" fmla="*/ 94 w 94"/>
                <a:gd name="T1" fmla="*/ 87 h 87"/>
                <a:gd name="T2" fmla="*/ 34 w 94"/>
                <a:gd name="T3" fmla="*/ 0 h 87"/>
                <a:gd name="T4" fmla="*/ 0 w 94"/>
                <a:gd name="T5" fmla="*/ 37 h 87"/>
                <a:gd name="T6" fmla="*/ 94 w 94"/>
                <a:gd name="T7" fmla="*/ 87 h 87"/>
              </a:gdLst>
              <a:ahLst/>
              <a:cxnLst>
                <a:cxn ang="0">
                  <a:pos x="T0" y="T1"/>
                </a:cxn>
                <a:cxn ang="0">
                  <a:pos x="T2" y="T3"/>
                </a:cxn>
                <a:cxn ang="0">
                  <a:pos x="T4" y="T5"/>
                </a:cxn>
                <a:cxn ang="0">
                  <a:pos x="T6" y="T7"/>
                </a:cxn>
              </a:cxnLst>
              <a:rect l="0" t="0" r="r" b="b"/>
              <a:pathLst>
                <a:path w="94" h="87">
                  <a:moveTo>
                    <a:pt x="94" y="87"/>
                  </a:moveTo>
                  <a:lnTo>
                    <a:pt x="34" y="0"/>
                  </a:lnTo>
                  <a:lnTo>
                    <a:pt x="0" y="37"/>
                  </a:lnTo>
                  <a:lnTo>
                    <a:pt x="94"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3426" name="Rectangle 98"/>
            <p:cNvSpPr>
              <a:spLocks noChangeArrowheads="1"/>
            </p:cNvSpPr>
            <p:nvPr/>
          </p:nvSpPr>
          <p:spPr bwMode="auto">
            <a:xfrm>
              <a:off x="2434" y="1609"/>
              <a:ext cx="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grpSp>
      <p:grpSp>
        <p:nvGrpSpPr>
          <p:cNvPr id="483440" name="Group 112"/>
          <p:cNvGrpSpPr>
            <a:grpSpLocks/>
          </p:cNvGrpSpPr>
          <p:nvPr/>
        </p:nvGrpSpPr>
        <p:grpSpPr bwMode="auto">
          <a:xfrm>
            <a:off x="1858963" y="2989263"/>
            <a:ext cx="1673225" cy="433387"/>
            <a:chOff x="1171" y="1883"/>
            <a:chExt cx="1054" cy="273"/>
          </a:xfrm>
        </p:grpSpPr>
        <p:sp>
          <p:nvSpPr>
            <p:cNvPr id="483427" name="Rectangle 99"/>
            <p:cNvSpPr>
              <a:spLocks noChangeArrowheads="1"/>
            </p:cNvSpPr>
            <p:nvPr/>
          </p:nvSpPr>
          <p:spPr bwMode="auto">
            <a:xfrm>
              <a:off x="1171" y="1883"/>
              <a:ext cx="81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 = 0 (laser off)</a:t>
              </a:r>
              <a:endParaRPr lang="en-US" altLang="en-US" sz="2800"/>
            </a:p>
          </p:txBody>
        </p:sp>
        <p:sp>
          <p:nvSpPr>
            <p:cNvPr id="483431" name="Rectangle 103"/>
            <p:cNvSpPr>
              <a:spLocks noChangeArrowheads="1"/>
            </p:cNvSpPr>
            <p:nvPr/>
          </p:nvSpPr>
          <p:spPr bwMode="auto">
            <a:xfrm>
              <a:off x="1171" y="2012"/>
              <a:ext cx="10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0 (distance = 0)</a:t>
              </a:r>
              <a:endParaRPr lang="en-US" altLang="en-US" sz="2800"/>
            </a:p>
          </p:txBody>
        </p:sp>
      </p:grpSp>
      <p:sp>
        <p:nvSpPr>
          <p:cNvPr id="483439" name="Text Box 111"/>
          <p:cNvSpPr txBox="1">
            <a:spLocks noChangeArrowheads="1"/>
          </p:cNvSpPr>
          <p:nvPr/>
        </p:nvSpPr>
        <p:spPr bwMode="auto">
          <a:xfrm>
            <a:off x="1046163" y="2916238"/>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8343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834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Slide Number Placeholder 3"/>
          <p:cNvSpPr>
            <a:spLocks noGrp="1"/>
          </p:cNvSpPr>
          <p:nvPr>
            <p:ph type="sldNum" sz="quarter" idx="10"/>
          </p:nvPr>
        </p:nvSpPr>
        <p:spPr/>
        <p:txBody>
          <a:bodyPr/>
          <a:lstStyle/>
          <a:p>
            <a:fld id="{576E8681-BE6E-4CF1-8E78-E06389F07B33}" type="slidenum">
              <a:rPr lang="en-US" altLang="en-US"/>
              <a:pPr/>
              <a:t>15</a:t>
            </a:fld>
            <a:endParaRPr lang="en-US" altLang="en-US"/>
          </a:p>
        </p:txBody>
      </p:sp>
      <p:sp>
        <p:nvSpPr>
          <p:cNvPr id="484354" name="Rectangle 2"/>
          <p:cNvSpPr>
            <a:spLocks noGrp="1" noChangeArrowheads="1"/>
          </p:cNvSpPr>
          <p:nvPr>
            <p:ph type="title"/>
          </p:nvPr>
        </p:nvSpPr>
        <p:spPr/>
        <p:txBody>
          <a:bodyPr/>
          <a:lstStyle/>
          <a:p>
            <a:r>
              <a:rPr lang="en-US" altLang="en-US"/>
              <a:t>Step 1 Example: </a:t>
            </a:r>
            <a:r>
              <a:rPr lang="en-US" altLang="en-US" sz="3200"/>
              <a:t>Laser-Based Distance Measurer</a:t>
            </a:r>
          </a:p>
        </p:txBody>
      </p:sp>
      <p:sp>
        <p:nvSpPr>
          <p:cNvPr id="484355" name="Rectangle 3"/>
          <p:cNvSpPr>
            <a:spLocks noGrp="1" noChangeArrowheads="1"/>
          </p:cNvSpPr>
          <p:nvPr>
            <p:ph type="body" idx="1"/>
          </p:nvPr>
        </p:nvSpPr>
        <p:spPr>
          <a:xfrm>
            <a:off x="228600" y="3946525"/>
            <a:ext cx="8351838" cy="2443163"/>
          </a:xfrm>
        </p:spPr>
        <p:txBody>
          <a:bodyPr/>
          <a:lstStyle/>
          <a:p>
            <a:r>
              <a:rPr lang="en-US" altLang="en-US"/>
              <a:t>Add another state, call </a:t>
            </a:r>
            <a:r>
              <a:rPr lang="en-US" altLang="en-US" b="1"/>
              <a:t>S1</a:t>
            </a:r>
            <a:r>
              <a:rPr lang="en-US" altLang="en-US"/>
              <a:t>, that waits for a button press</a:t>
            </a:r>
          </a:p>
          <a:p>
            <a:pPr lvl="1"/>
            <a:r>
              <a:rPr lang="en-US" altLang="en-US"/>
              <a:t>B’ – stay in </a:t>
            </a:r>
            <a:r>
              <a:rPr lang="en-US" altLang="en-US" b="1"/>
              <a:t>S1</a:t>
            </a:r>
            <a:r>
              <a:rPr lang="en-US" altLang="en-US"/>
              <a:t>, keep waiting</a:t>
            </a:r>
          </a:p>
          <a:p>
            <a:pPr lvl="1"/>
            <a:r>
              <a:rPr lang="en-US" altLang="en-US"/>
              <a:t>B – go to a new state </a:t>
            </a:r>
            <a:r>
              <a:rPr lang="en-US" altLang="en-US" b="1"/>
              <a:t>S2</a:t>
            </a:r>
          </a:p>
        </p:txBody>
      </p:sp>
      <p:sp>
        <p:nvSpPr>
          <p:cNvPr id="484422" name="Rectangle 70"/>
          <p:cNvSpPr>
            <a:spLocks noChangeArrowheads="1"/>
          </p:cNvSpPr>
          <p:nvPr/>
        </p:nvSpPr>
        <p:spPr bwMode="auto">
          <a:xfrm>
            <a:off x="246063" y="1211263"/>
            <a:ext cx="22637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B, S (1 bit each)</a:t>
            </a:r>
            <a:endParaRPr lang="en-US" altLang="en-US" sz="3200"/>
          </a:p>
        </p:txBody>
      </p:sp>
      <p:sp>
        <p:nvSpPr>
          <p:cNvPr id="484428" name="Rectangle 76"/>
          <p:cNvSpPr>
            <a:spLocks noChangeArrowheads="1"/>
          </p:cNvSpPr>
          <p:nvPr/>
        </p:nvSpPr>
        <p:spPr bwMode="auto">
          <a:xfrm>
            <a:off x="246063" y="1435100"/>
            <a:ext cx="2549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L (bit), D (16 bits)</a:t>
            </a:r>
            <a:endParaRPr lang="en-US" altLang="en-US" sz="3200"/>
          </a:p>
        </p:txBody>
      </p:sp>
      <p:sp>
        <p:nvSpPr>
          <p:cNvPr id="484432" name="Rectangle 80"/>
          <p:cNvSpPr>
            <a:spLocks noChangeArrowheads="1"/>
          </p:cNvSpPr>
          <p:nvPr/>
        </p:nvSpPr>
        <p:spPr bwMode="auto">
          <a:xfrm>
            <a:off x="1341438" y="2755900"/>
            <a:ext cx="2286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S0</a:t>
            </a:r>
            <a:endParaRPr lang="en-US" altLang="en-US" sz="3200"/>
          </a:p>
        </p:txBody>
      </p:sp>
      <p:sp>
        <p:nvSpPr>
          <p:cNvPr id="484433" name="Oval 81"/>
          <p:cNvSpPr>
            <a:spLocks noChangeArrowheads="1"/>
          </p:cNvSpPr>
          <p:nvPr/>
        </p:nvSpPr>
        <p:spPr bwMode="auto">
          <a:xfrm>
            <a:off x="1003300" y="2568575"/>
            <a:ext cx="860425" cy="5905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434" name="Line 82"/>
          <p:cNvSpPr>
            <a:spLocks noChangeShapeType="1"/>
          </p:cNvSpPr>
          <p:nvPr/>
        </p:nvSpPr>
        <p:spPr bwMode="auto">
          <a:xfrm>
            <a:off x="1868488" y="2870200"/>
            <a:ext cx="592137" cy="31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4442" name="Freeform 90"/>
          <p:cNvSpPr>
            <a:spLocks/>
          </p:cNvSpPr>
          <p:nvPr/>
        </p:nvSpPr>
        <p:spPr bwMode="auto">
          <a:xfrm>
            <a:off x="938213" y="2466975"/>
            <a:ext cx="196850" cy="177800"/>
          </a:xfrm>
          <a:custGeom>
            <a:avLst/>
            <a:gdLst>
              <a:gd name="T0" fmla="*/ 94 w 94"/>
              <a:gd name="T1" fmla="*/ 88 h 88"/>
              <a:gd name="T2" fmla="*/ 34 w 94"/>
              <a:gd name="T3" fmla="*/ 0 h 88"/>
              <a:gd name="T4" fmla="*/ 0 w 94"/>
              <a:gd name="T5" fmla="*/ 38 h 88"/>
              <a:gd name="T6" fmla="*/ 94 w 94"/>
              <a:gd name="T7" fmla="*/ 88 h 88"/>
            </a:gdLst>
            <a:ahLst/>
            <a:cxnLst>
              <a:cxn ang="0">
                <a:pos x="T0" y="T1"/>
              </a:cxn>
              <a:cxn ang="0">
                <a:pos x="T2" y="T3"/>
              </a:cxn>
              <a:cxn ang="0">
                <a:pos x="T4" y="T5"/>
              </a:cxn>
              <a:cxn ang="0">
                <a:pos x="T6" y="T7"/>
              </a:cxn>
            </a:cxnLst>
            <a:rect l="0" t="0" r="r" b="b"/>
            <a:pathLst>
              <a:path w="94" h="88">
                <a:moveTo>
                  <a:pt x="94" y="88"/>
                </a:moveTo>
                <a:lnTo>
                  <a:pt x="34" y="0"/>
                </a:lnTo>
                <a:lnTo>
                  <a:pt x="0" y="38"/>
                </a:lnTo>
                <a:lnTo>
                  <a:pt x="94"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444" name="Rectangle 92"/>
          <p:cNvSpPr>
            <a:spLocks noChangeArrowheads="1"/>
          </p:cNvSpPr>
          <p:nvPr/>
        </p:nvSpPr>
        <p:spPr bwMode="auto">
          <a:xfrm>
            <a:off x="1254125" y="3251200"/>
            <a:ext cx="4699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0</a:t>
            </a:r>
            <a:endParaRPr lang="en-US" altLang="en-US" sz="3200"/>
          </a:p>
        </p:txBody>
      </p:sp>
      <p:sp>
        <p:nvSpPr>
          <p:cNvPr id="484445" name="Rectangle 93"/>
          <p:cNvSpPr>
            <a:spLocks noChangeArrowheads="1"/>
          </p:cNvSpPr>
          <p:nvPr/>
        </p:nvSpPr>
        <p:spPr bwMode="auto">
          <a:xfrm>
            <a:off x="1231900" y="3478213"/>
            <a:ext cx="4937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0</a:t>
            </a:r>
            <a:endParaRPr lang="en-US" altLang="en-US" sz="3200"/>
          </a:p>
        </p:txBody>
      </p:sp>
      <p:grpSp>
        <p:nvGrpSpPr>
          <p:cNvPr id="484515" name="Group 163"/>
          <p:cNvGrpSpPr>
            <a:grpSpLocks/>
          </p:cNvGrpSpPr>
          <p:nvPr/>
        </p:nvGrpSpPr>
        <p:grpSpPr bwMode="auto">
          <a:xfrm>
            <a:off x="2097088" y="1819275"/>
            <a:ext cx="2351087" cy="1854200"/>
            <a:chOff x="1321" y="1146"/>
            <a:chExt cx="1481" cy="1168"/>
          </a:xfrm>
        </p:grpSpPr>
        <p:sp>
          <p:nvSpPr>
            <p:cNvPr id="484435" name="Freeform 83"/>
            <p:cNvSpPr>
              <a:spLocks/>
            </p:cNvSpPr>
            <p:nvPr/>
          </p:nvSpPr>
          <p:spPr bwMode="auto">
            <a:xfrm>
              <a:off x="1526" y="1776"/>
              <a:ext cx="132"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436" name="Rectangle 84"/>
            <p:cNvSpPr>
              <a:spLocks noChangeArrowheads="1"/>
            </p:cNvSpPr>
            <p:nvPr/>
          </p:nvSpPr>
          <p:spPr bwMode="auto">
            <a:xfrm>
              <a:off x="1869" y="1736"/>
              <a:ext cx="1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S1</a:t>
              </a:r>
              <a:endParaRPr lang="en-US" altLang="en-US" sz="3200"/>
            </a:p>
          </p:txBody>
        </p:sp>
        <p:sp>
          <p:nvSpPr>
            <p:cNvPr id="484437" name="Oval 85"/>
            <p:cNvSpPr>
              <a:spLocks noChangeArrowheads="1"/>
            </p:cNvSpPr>
            <p:nvPr/>
          </p:nvSpPr>
          <p:spPr bwMode="auto">
            <a:xfrm>
              <a:off x="1658" y="1618"/>
              <a:ext cx="540" cy="3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438" name="Freeform 86"/>
            <p:cNvSpPr>
              <a:spLocks/>
            </p:cNvSpPr>
            <p:nvPr/>
          </p:nvSpPr>
          <p:spPr bwMode="auto">
            <a:xfrm>
              <a:off x="1658" y="1325"/>
              <a:ext cx="540" cy="332"/>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439" name="Line 87"/>
            <p:cNvSpPr>
              <a:spLocks noChangeShapeType="1"/>
            </p:cNvSpPr>
            <p:nvPr/>
          </p:nvSpPr>
          <p:spPr bwMode="auto">
            <a:xfrm>
              <a:off x="2202" y="1808"/>
              <a:ext cx="374" cy="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4440" name="Freeform 88"/>
            <p:cNvSpPr>
              <a:spLocks/>
            </p:cNvSpPr>
            <p:nvPr/>
          </p:nvSpPr>
          <p:spPr bwMode="auto">
            <a:xfrm>
              <a:off x="2551" y="1776"/>
              <a:ext cx="131"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441" name="Freeform 89"/>
            <p:cNvSpPr>
              <a:spLocks/>
            </p:cNvSpPr>
            <p:nvPr/>
          </p:nvSpPr>
          <p:spPr bwMode="auto">
            <a:xfrm>
              <a:off x="1636" y="1543"/>
              <a:ext cx="107" cy="118"/>
            </a:xfrm>
            <a:custGeom>
              <a:avLst/>
              <a:gdLst>
                <a:gd name="T0" fmla="*/ 81 w 81"/>
                <a:gd name="T1" fmla="*/ 93 h 93"/>
                <a:gd name="T2" fmla="*/ 38 w 81"/>
                <a:gd name="T3" fmla="*/ 0 h 93"/>
                <a:gd name="T4" fmla="*/ 0 w 81"/>
                <a:gd name="T5" fmla="*/ 31 h 93"/>
                <a:gd name="T6" fmla="*/ 81 w 81"/>
                <a:gd name="T7" fmla="*/ 93 h 93"/>
              </a:gdLst>
              <a:ahLst/>
              <a:cxnLst>
                <a:cxn ang="0">
                  <a:pos x="T0" y="T1"/>
                </a:cxn>
                <a:cxn ang="0">
                  <a:pos x="T2" y="T3"/>
                </a:cxn>
                <a:cxn ang="0">
                  <a:pos x="T4" y="T5"/>
                </a:cxn>
                <a:cxn ang="0">
                  <a:pos x="T6" y="T7"/>
                </a:cxn>
              </a:cxnLst>
              <a:rect l="0" t="0" r="r" b="b"/>
              <a:pathLst>
                <a:path w="81" h="93">
                  <a:moveTo>
                    <a:pt x="81" y="93"/>
                  </a:moveTo>
                  <a:lnTo>
                    <a:pt x="38" y="0"/>
                  </a:lnTo>
                  <a:lnTo>
                    <a:pt x="0" y="31"/>
                  </a:lnTo>
                  <a:lnTo>
                    <a:pt x="81" y="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443" name="Rectangle 91"/>
            <p:cNvSpPr>
              <a:spLocks noChangeArrowheads="1"/>
            </p:cNvSpPr>
            <p:nvPr/>
          </p:nvSpPr>
          <p:spPr bwMode="auto">
            <a:xfrm>
              <a:off x="2726" y="1734"/>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sp>
          <p:nvSpPr>
            <p:cNvPr id="484446" name="Rectangle 94"/>
            <p:cNvSpPr>
              <a:spLocks noChangeArrowheads="1"/>
            </p:cNvSpPr>
            <p:nvPr/>
          </p:nvSpPr>
          <p:spPr bwMode="auto">
            <a:xfrm>
              <a:off x="1321" y="1146"/>
              <a:ext cx="138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 (button not pressed)</a:t>
              </a:r>
              <a:endParaRPr lang="en-US" altLang="en-US" sz="3200"/>
            </a:p>
          </p:txBody>
        </p:sp>
        <p:sp>
          <p:nvSpPr>
            <p:cNvPr id="484453" name="Rectangle 101"/>
            <p:cNvSpPr>
              <a:spLocks noChangeArrowheads="1"/>
            </p:cNvSpPr>
            <p:nvPr/>
          </p:nvSpPr>
          <p:spPr bwMode="auto">
            <a:xfrm>
              <a:off x="2383" y="1866"/>
              <a:ext cx="9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484454" name="Rectangle 102"/>
            <p:cNvSpPr>
              <a:spLocks noChangeArrowheads="1"/>
            </p:cNvSpPr>
            <p:nvPr/>
          </p:nvSpPr>
          <p:spPr bwMode="auto">
            <a:xfrm>
              <a:off x="2197" y="2006"/>
              <a:ext cx="42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(button</a:t>
              </a:r>
              <a:endParaRPr lang="en-US" altLang="en-US" sz="3200"/>
            </a:p>
          </p:txBody>
        </p:sp>
        <p:sp>
          <p:nvSpPr>
            <p:cNvPr id="484457" name="Rectangle 105"/>
            <p:cNvSpPr>
              <a:spLocks noChangeArrowheads="1"/>
            </p:cNvSpPr>
            <p:nvPr/>
          </p:nvSpPr>
          <p:spPr bwMode="auto">
            <a:xfrm>
              <a:off x="2188" y="2151"/>
              <a:ext cx="53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pressed)</a:t>
              </a:r>
              <a:endParaRPr lang="en-US" altLang="en-US" sz="3200"/>
            </a:p>
          </p:txBody>
        </p:sp>
      </p:grpSp>
      <p:sp>
        <p:nvSpPr>
          <p:cNvPr id="484460" name="Rectangle 108"/>
          <p:cNvSpPr>
            <a:spLocks noChangeArrowheads="1"/>
          </p:cNvSpPr>
          <p:nvPr/>
        </p:nvSpPr>
        <p:spPr bwMode="auto">
          <a:xfrm>
            <a:off x="1341438" y="2755900"/>
            <a:ext cx="2286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S0</a:t>
            </a:r>
            <a:endParaRPr lang="en-US" altLang="en-US" sz="3200"/>
          </a:p>
        </p:txBody>
      </p:sp>
      <p:sp>
        <p:nvSpPr>
          <p:cNvPr id="484461" name="Line 109"/>
          <p:cNvSpPr>
            <a:spLocks noChangeShapeType="1"/>
          </p:cNvSpPr>
          <p:nvPr/>
        </p:nvSpPr>
        <p:spPr bwMode="auto">
          <a:xfrm>
            <a:off x="703263" y="2279650"/>
            <a:ext cx="300037" cy="2508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4464" name="Text Box 112"/>
          <p:cNvSpPr txBox="1">
            <a:spLocks noChangeArrowheads="1"/>
          </p:cNvSpPr>
          <p:nvPr/>
        </p:nvSpPr>
        <p:spPr bwMode="auto">
          <a:xfrm>
            <a:off x="234950" y="5457825"/>
            <a:ext cx="3027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accent2"/>
                </a:solidFill>
              </a:rPr>
              <a:t>Q: What should S2 do?</a:t>
            </a:r>
          </a:p>
        </p:txBody>
      </p:sp>
      <p:sp>
        <p:nvSpPr>
          <p:cNvPr id="484465" name="Text Box 113"/>
          <p:cNvSpPr txBox="1">
            <a:spLocks noChangeArrowheads="1"/>
          </p:cNvSpPr>
          <p:nvPr/>
        </p:nvSpPr>
        <p:spPr bwMode="auto">
          <a:xfrm>
            <a:off x="3425825" y="5457825"/>
            <a:ext cx="2636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A: Turn on the laser</a:t>
            </a:r>
          </a:p>
        </p:txBody>
      </p:sp>
      <p:sp>
        <p:nvSpPr>
          <p:cNvPr id="484466" name="Text Box 114"/>
          <p:cNvSpPr txBox="1">
            <a:spLocks noChangeArrowheads="1"/>
          </p:cNvSpPr>
          <p:nvPr/>
        </p:nvSpPr>
        <p:spPr bwMode="auto">
          <a:xfrm>
            <a:off x="4514850" y="6021388"/>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484467" name="Text Box 115"/>
          <p:cNvSpPr txBox="1">
            <a:spLocks noChangeArrowheads="1"/>
          </p:cNvSpPr>
          <p:nvPr/>
        </p:nvSpPr>
        <p:spPr bwMode="auto">
          <a:xfrm>
            <a:off x="3805238" y="2344738"/>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484492" name="Group 140"/>
          <p:cNvGrpSpPr>
            <a:grpSpLocks/>
          </p:cNvGrpSpPr>
          <p:nvPr/>
        </p:nvGrpSpPr>
        <p:grpSpPr bwMode="auto">
          <a:xfrm>
            <a:off x="5038725" y="1077913"/>
            <a:ext cx="3892550" cy="1443037"/>
            <a:chOff x="3174" y="679"/>
            <a:chExt cx="2452" cy="909"/>
          </a:xfrm>
        </p:grpSpPr>
        <p:sp>
          <p:nvSpPr>
            <p:cNvPr id="484493" name="Line 141"/>
            <p:cNvSpPr>
              <a:spLocks noChangeShapeType="1"/>
            </p:cNvSpPr>
            <p:nvPr/>
          </p:nvSpPr>
          <p:spPr bwMode="auto">
            <a:xfrm>
              <a:off x="4669" y="880"/>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4494" name="Freeform 142"/>
            <p:cNvSpPr>
              <a:spLocks/>
            </p:cNvSpPr>
            <p:nvPr/>
          </p:nvSpPr>
          <p:spPr bwMode="auto">
            <a:xfrm>
              <a:off x="4956" y="854"/>
              <a:ext cx="93" cy="5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495" name="Line 143"/>
            <p:cNvSpPr>
              <a:spLocks noChangeShapeType="1"/>
            </p:cNvSpPr>
            <p:nvPr/>
          </p:nvSpPr>
          <p:spPr bwMode="auto">
            <a:xfrm flipH="1">
              <a:off x="4747" y="1315"/>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4496" name="Freeform 144"/>
            <p:cNvSpPr>
              <a:spLocks/>
            </p:cNvSpPr>
            <p:nvPr/>
          </p:nvSpPr>
          <p:spPr bwMode="auto">
            <a:xfrm>
              <a:off x="4669" y="1292"/>
              <a:ext cx="93" cy="52"/>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497" name="Freeform 145"/>
            <p:cNvSpPr>
              <a:spLocks/>
            </p:cNvSpPr>
            <p:nvPr/>
          </p:nvSpPr>
          <p:spPr bwMode="auto">
            <a:xfrm>
              <a:off x="3706" y="1292"/>
              <a:ext cx="93" cy="52"/>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498" name="Line 146"/>
            <p:cNvSpPr>
              <a:spLocks noChangeShapeType="1"/>
            </p:cNvSpPr>
            <p:nvPr/>
          </p:nvSpPr>
          <p:spPr bwMode="auto">
            <a:xfrm flipH="1">
              <a:off x="3776" y="1318"/>
              <a:ext cx="327"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4499" name="Line 147"/>
            <p:cNvSpPr>
              <a:spLocks noChangeShapeType="1"/>
            </p:cNvSpPr>
            <p:nvPr/>
          </p:nvSpPr>
          <p:spPr bwMode="auto">
            <a:xfrm>
              <a:off x="3718" y="880"/>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4500" name="Freeform 148"/>
            <p:cNvSpPr>
              <a:spLocks/>
            </p:cNvSpPr>
            <p:nvPr/>
          </p:nvSpPr>
          <p:spPr bwMode="auto">
            <a:xfrm>
              <a:off x="4005" y="854"/>
              <a:ext cx="92" cy="5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4501" name="Rectangle 149"/>
            <p:cNvSpPr>
              <a:spLocks noChangeArrowheads="1"/>
            </p:cNvSpPr>
            <p:nvPr/>
          </p:nvSpPr>
          <p:spPr bwMode="auto">
            <a:xfrm>
              <a:off x="4220" y="850"/>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Laser-</a:t>
              </a:r>
            </a:p>
            <a:p>
              <a:r>
                <a:rPr lang="en-US" altLang="en-US" sz="1300">
                  <a:solidFill>
                    <a:srgbClr val="000000"/>
                  </a:solidFill>
                  <a:latin typeface="Myriad Roman" charset="0"/>
                </a:rPr>
                <a:t>based</a:t>
              </a:r>
              <a:endParaRPr lang="en-US" altLang="en-US" sz="2400"/>
            </a:p>
          </p:txBody>
        </p:sp>
        <p:sp>
          <p:nvSpPr>
            <p:cNvPr id="484502" name="Rectangle 150"/>
            <p:cNvSpPr>
              <a:spLocks noChangeArrowheads="1"/>
            </p:cNvSpPr>
            <p:nvPr/>
          </p:nvSpPr>
          <p:spPr bwMode="auto">
            <a:xfrm>
              <a:off x="4182" y="1083"/>
              <a:ext cx="38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distance</a:t>
              </a:r>
              <a:endParaRPr lang="en-US" altLang="en-US" sz="2400"/>
            </a:p>
          </p:txBody>
        </p:sp>
        <p:sp>
          <p:nvSpPr>
            <p:cNvPr id="484503" name="Rectangle 151"/>
            <p:cNvSpPr>
              <a:spLocks noChangeArrowheads="1"/>
            </p:cNvSpPr>
            <p:nvPr/>
          </p:nvSpPr>
          <p:spPr bwMode="auto">
            <a:xfrm>
              <a:off x="4163" y="1198"/>
              <a:ext cx="4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measurer</a:t>
              </a:r>
              <a:endParaRPr lang="en-US" altLang="en-US" sz="2400"/>
            </a:p>
          </p:txBody>
        </p:sp>
        <p:sp>
          <p:nvSpPr>
            <p:cNvPr id="484504" name="Rectangle 152"/>
            <p:cNvSpPr>
              <a:spLocks noChangeArrowheads="1"/>
            </p:cNvSpPr>
            <p:nvPr/>
          </p:nvSpPr>
          <p:spPr bwMode="auto">
            <a:xfrm>
              <a:off x="4103" y="679"/>
              <a:ext cx="566" cy="90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4505" name="Line 153"/>
            <p:cNvSpPr>
              <a:spLocks noChangeShapeType="1"/>
            </p:cNvSpPr>
            <p:nvPr/>
          </p:nvSpPr>
          <p:spPr bwMode="auto">
            <a:xfrm flipH="1">
              <a:off x="3906" y="1277"/>
              <a:ext cx="81" cy="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4506" name="Rectangle 154"/>
            <p:cNvSpPr>
              <a:spLocks noChangeArrowheads="1"/>
            </p:cNvSpPr>
            <p:nvPr/>
          </p:nvSpPr>
          <p:spPr bwMode="auto">
            <a:xfrm>
              <a:off x="3904" y="1160"/>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484507" name="Rectangle 155"/>
            <p:cNvSpPr>
              <a:spLocks noChangeArrowheads="1"/>
            </p:cNvSpPr>
            <p:nvPr/>
          </p:nvSpPr>
          <p:spPr bwMode="auto">
            <a:xfrm>
              <a:off x="3174" y="801"/>
              <a:ext cx="5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from button</a:t>
              </a:r>
              <a:endParaRPr lang="en-US" altLang="en-US" sz="2400"/>
            </a:p>
          </p:txBody>
        </p:sp>
        <p:sp>
          <p:nvSpPr>
            <p:cNvPr id="484508" name="Rectangle 156"/>
            <p:cNvSpPr>
              <a:spLocks noChangeArrowheads="1"/>
            </p:cNvSpPr>
            <p:nvPr/>
          </p:nvSpPr>
          <p:spPr bwMode="auto">
            <a:xfrm>
              <a:off x="3253" y="1244"/>
              <a:ext cx="44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display</a:t>
              </a:r>
              <a:endParaRPr lang="en-US" altLang="en-US" sz="2400"/>
            </a:p>
          </p:txBody>
        </p:sp>
        <p:sp>
          <p:nvSpPr>
            <p:cNvPr id="484509" name="Rectangle 157"/>
            <p:cNvSpPr>
              <a:spLocks noChangeArrowheads="1"/>
            </p:cNvSpPr>
            <p:nvPr/>
          </p:nvSpPr>
          <p:spPr bwMode="auto">
            <a:xfrm>
              <a:off x="4996" y="1166"/>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84510" name="Rectangle 158"/>
            <p:cNvSpPr>
              <a:spLocks noChangeArrowheads="1"/>
            </p:cNvSpPr>
            <p:nvPr/>
          </p:nvSpPr>
          <p:spPr bwMode="auto">
            <a:xfrm>
              <a:off x="4998" y="750"/>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t>
              </a:r>
              <a:endParaRPr lang="en-US" altLang="en-US" sz="2400"/>
            </a:p>
          </p:txBody>
        </p:sp>
        <p:sp>
          <p:nvSpPr>
            <p:cNvPr id="484511" name="Rectangle 159"/>
            <p:cNvSpPr>
              <a:spLocks noChangeArrowheads="1"/>
            </p:cNvSpPr>
            <p:nvPr/>
          </p:nvSpPr>
          <p:spPr bwMode="auto">
            <a:xfrm>
              <a:off x="3715" y="1166"/>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4512" name="Rectangle 160"/>
            <p:cNvSpPr>
              <a:spLocks noChangeArrowheads="1"/>
            </p:cNvSpPr>
            <p:nvPr/>
          </p:nvSpPr>
          <p:spPr bwMode="auto">
            <a:xfrm>
              <a:off x="3726" y="750"/>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84513" name="Rectangle 161"/>
            <p:cNvSpPr>
              <a:spLocks noChangeArrowheads="1"/>
            </p:cNvSpPr>
            <p:nvPr/>
          </p:nvSpPr>
          <p:spPr bwMode="auto">
            <a:xfrm>
              <a:off x="5075" y="823"/>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laser</a:t>
              </a:r>
              <a:endParaRPr lang="en-US" altLang="en-US" sz="2400"/>
            </a:p>
          </p:txBody>
        </p:sp>
        <p:sp>
          <p:nvSpPr>
            <p:cNvPr id="484514" name="Rectangle 162"/>
            <p:cNvSpPr>
              <a:spLocks noChangeArrowheads="1"/>
            </p:cNvSpPr>
            <p:nvPr/>
          </p:nvSpPr>
          <p:spPr bwMode="auto">
            <a:xfrm>
              <a:off x="5075" y="1256"/>
              <a:ext cx="5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from sensor</a:t>
              </a:r>
              <a:endParaRPr lang="en-US"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45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44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465"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3"/>
          <p:cNvSpPr>
            <a:spLocks noGrp="1"/>
          </p:cNvSpPr>
          <p:nvPr>
            <p:ph type="sldNum" sz="quarter" idx="10"/>
          </p:nvPr>
        </p:nvSpPr>
        <p:spPr/>
        <p:txBody>
          <a:bodyPr/>
          <a:lstStyle/>
          <a:p>
            <a:fld id="{FEFC73E2-6541-4C3F-8F01-568A9CBE7D63}" type="slidenum">
              <a:rPr lang="en-US" altLang="en-US"/>
              <a:pPr/>
              <a:t>16</a:t>
            </a:fld>
            <a:endParaRPr lang="en-US" altLang="en-US"/>
          </a:p>
        </p:txBody>
      </p:sp>
      <p:sp>
        <p:nvSpPr>
          <p:cNvPr id="485378" name="Rectangle 2"/>
          <p:cNvSpPr>
            <a:spLocks noGrp="1" noChangeArrowheads="1"/>
          </p:cNvSpPr>
          <p:nvPr>
            <p:ph type="title"/>
          </p:nvPr>
        </p:nvSpPr>
        <p:spPr/>
        <p:txBody>
          <a:bodyPr/>
          <a:lstStyle/>
          <a:p>
            <a:r>
              <a:rPr lang="en-US" altLang="en-US"/>
              <a:t>Step 1 Example: </a:t>
            </a:r>
            <a:r>
              <a:rPr lang="en-US" altLang="en-US" sz="3200"/>
              <a:t>Laser-Based Distance Measurer</a:t>
            </a:r>
          </a:p>
        </p:txBody>
      </p:sp>
      <p:sp>
        <p:nvSpPr>
          <p:cNvPr id="485379" name="Rectangle 3"/>
          <p:cNvSpPr>
            <a:spLocks noGrp="1" noChangeArrowheads="1"/>
          </p:cNvSpPr>
          <p:nvPr>
            <p:ph type="body" idx="1"/>
          </p:nvPr>
        </p:nvSpPr>
        <p:spPr>
          <a:xfrm>
            <a:off x="228600" y="3946525"/>
            <a:ext cx="8351838" cy="2443163"/>
          </a:xfrm>
        </p:spPr>
        <p:txBody>
          <a:bodyPr/>
          <a:lstStyle/>
          <a:p>
            <a:r>
              <a:rPr lang="en-US" altLang="en-US"/>
              <a:t>Add a state </a:t>
            </a:r>
            <a:r>
              <a:rPr lang="en-US" altLang="en-US" b="1"/>
              <a:t>S2</a:t>
            </a:r>
            <a:r>
              <a:rPr lang="en-US" altLang="en-US"/>
              <a:t> that turns on the laser (L=1)</a:t>
            </a:r>
          </a:p>
          <a:p>
            <a:r>
              <a:rPr lang="en-US" altLang="en-US"/>
              <a:t>Then turn off laser (L=0) in a state </a:t>
            </a:r>
            <a:r>
              <a:rPr lang="en-US" altLang="en-US" b="1"/>
              <a:t>S3</a:t>
            </a:r>
          </a:p>
        </p:txBody>
      </p:sp>
      <p:sp>
        <p:nvSpPr>
          <p:cNvPr id="485470" name="Rectangle 94"/>
          <p:cNvSpPr>
            <a:spLocks noChangeArrowheads="1"/>
          </p:cNvSpPr>
          <p:nvPr/>
        </p:nvSpPr>
        <p:spPr bwMode="auto">
          <a:xfrm>
            <a:off x="1204913" y="2979738"/>
            <a:ext cx="2286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S0</a:t>
            </a:r>
            <a:endParaRPr lang="en-US" altLang="en-US" sz="3200"/>
          </a:p>
        </p:txBody>
      </p:sp>
      <p:sp>
        <p:nvSpPr>
          <p:cNvPr id="485471" name="Oval 95"/>
          <p:cNvSpPr>
            <a:spLocks noChangeArrowheads="1"/>
          </p:cNvSpPr>
          <p:nvPr/>
        </p:nvSpPr>
        <p:spPr bwMode="auto">
          <a:xfrm>
            <a:off x="863600" y="2820988"/>
            <a:ext cx="874713" cy="493712"/>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5472" name="Line 96"/>
          <p:cNvSpPr>
            <a:spLocks noChangeShapeType="1"/>
          </p:cNvSpPr>
          <p:nvPr/>
        </p:nvSpPr>
        <p:spPr bwMode="auto">
          <a:xfrm>
            <a:off x="1744663" y="3073400"/>
            <a:ext cx="441325"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473" name="Freeform 97"/>
          <p:cNvSpPr>
            <a:spLocks/>
          </p:cNvSpPr>
          <p:nvPr/>
        </p:nvSpPr>
        <p:spPr bwMode="auto">
          <a:xfrm>
            <a:off x="2146300" y="3030538"/>
            <a:ext cx="211138" cy="8413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474" name="Line 98"/>
          <p:cNvSpPr>
            <a:spLocks noChangeShapeType="1"/>
          </p:cNvSpPr>
          <p:nvPr/>
        </p:nvSpPr>
        <p:spPr bwMode="auto">
          <a:xfrm>
            <a:off x="3249613" y="3073400"/>
            <a:ext cx="436562"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475" name="Freeform 99"/>
          <p:cNvSpPr>
            <a:spLocks/>
          </p:cNvSpPr>
          <p:nvPr/>
        </p:nvSpPr>
        <p:spPr bwMode="auto">
          <a:xfrm>
            <a:off x="3648075" y="3030538"/>
            <a:ext cx="211138" cy="8413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476" name="Rectangle 100"/>
          <p:cNvSpPr>
            <a:spLocks noChangeArrowheads="1"/>
          </p:cNvSpPr>
          <p:nvPr/>
        </p:nvSpPr>
        <p:spPr bwMode="auto">
          <a:xfrm>
            <a:off x="2700338" y="2979738"/>
            <a:ext cx="2286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S1</a:t>
            </a:r>
            <a:endParaRPr lang="en-US" altLang="en-US" sz="3200"/>
          </a:p>
        </p:txBody>
      </p:sp>
      <p:sp>
        <p:nvSpPr>
          <p:cNvPr id="485477" name="Oval 101"/>
          <p:cNvSpPr>
            <a:spLocks noChangeArrowheads="1"/>
          </p:cNvSpPr>
          <p:nvPr/>
        </p:nvSpPr>
        <p:spPr bwMode="auto">
          <a:xfrm>
            <a:off x="2357438" y="2820988"/>
            <a:ext cx="873125" cy="493712"/>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5478" name="Rectangle 102"/>
          <p:cNvSpPr>
            <a:spLocks noChangeArrowheads="1"/>
          </p:cNvSpPr>
          <p:nvPr/>
        </p:nvSpPr>
        <p:spPr bwMode="auto">
          <a:xfrm>
            <a:off x="4206875" y="2979738"/>
            <a:ext cx="2286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S2</a:t>
            </a:r>
            <a:endParaRPr lang="en-US" altLang="en-US" sz="3200"/>
          </a:p>
        </p:txBody>
      </p:sp>
      <p:sp>
        <p:nvSpPr>
          <p:cNvPr id="485479" name="Oval 103"/>
          <p:cNvSpPr>
            <a:spLocks noChangeArrowheads="1"/>
          </p:cNvSpPr>
          <p:nvPr/>
        </p:nvSpPr>
        <p:spPr bwMode="auto">
          <a:xfrm>
            <a:off x="3865563" y="2820988"/>
            <a:ext cx="871537" cy="493712"/>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5484" name="Freeform 108"/>
          <p:cNvSpPr>
            <a:spLocks/>
          </p:cNvSpPr>
          <p:nvPr/>
        </p:nvSpPr>
        <p:spPr bwMode="auto">
          <a:xfrm>
            <a:off x="2357438" y="2432050"/>
            <a:ext cx="873125" cy="439738"/>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5485" name="Freeform 109"/>
          <p:cNvSpPr>
            <a:spLocks/>
          </p:cNvSpPr>
          <p:nvPr/>
        </p:nvSpPr>
        <p:spPr bwMode="auto">
          <a:xfrm>
            <a:off x="2325688" y="2720975"/>
            <a:ext cx="171450" cy="158750"/>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486" name="Freeform 110"/>
          <p:cNvSpPr>
            <a:spLocks/>
          </p:cNvSpPr>
          <p:nvPr/>
        </p:nvSpPr>
        <p:spPr bwMode="auto">
          <a:xfrm>
            <a:off x="798513" y="2736850"/>
            <a:ext cx="198437" cy="147638"/>
          </a:xfrm>
          <a:custGeom>
            <a:avLst/>
            <a:gdLst>
              <a:gd name="T0" fmla="*/ 94 w 94"/>
              <a:gd name="T1" fmla="*/ 88 h 88"/>
              <a:gd name="T2" fmla="*/ 34 w 94"/>
              <a:gd name="T3" fmla="*/ 0 h 88"/>
              <a:gd name="T4" fmla="*/ 0 w 94"/>
              <a:gd name="T5" fmla="*/ 38 h 88"/>
              <a:gd name="T6" fmla="*/ 94 w 94"/>
              <a:gd name="T7" fmla="*/ 88 h 88"/>
            </a:gdLst>
            <a:ahLst/>
            <a:cxnLst>
              <a:cxn ang="0">
                <a:pos x="T0" y="T1"/>
              </a:cxn>
              <a:cxn ang="0">
                <a:pos x="T2" y="T3"/>
              </a:cxn>
              <a:cxn ang="0">
                <a:pos x="T4" y="T5"/>
              </a:cxn>
              <a:cxn ang="0">
                <a:pos x="T6" y="T7"/>
              </a:cxn>
            </a:cxnLst>
            <a:rect l="0" t="0" r="r" b="b"/>
            <a:pathLst>
              <a:path w="94" h="88">
                <a:moveTo>
                  <a:pt x="94" y="88"/>
                </a:moveTo>
                <a:lnTo>
                  <a:pt x="34" y="0"/>
                </a:lnTo>
                <a:lnTo>
                  <a:pt x="0" y="38"/>
                </a:lnTo>
                <a:lnTo>
                  <a:pt x="94"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487" name="Rectangle 111"/>
          <p:cNvSpPr>
            <a:spLocks noChangeArrowheads="1"/>
          </p:cNvSpPr>
          <p:nvPr/>
        </p:nvSpPr>
        <p:spPr bwMode="auto">
          <a:xfrm>
            <a:off x="1117600" y="3394075"/>
            <a:ext cx="4699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0</a:t>
            </a:r>
            <a:endParaRPr lang="en-US" altLang="en-US" sz="3200"/>
          </a:p>
        </p:txBody>
      </p:sp>
      <p:sp>
        <p:nvSpPr>
          <p:cNvPr id="485488" name="Rectangle 112"/>
          <p:cNvSpPr>
            <a:spLocks noChangeArrowheads="1"/>
          </p:cNvSpPr>
          <p:nvPr/>
        </p:nvSpPr>
        <p:spPr bwMode="auto">
          <a:xfrm>
            <a:off x="1096963" y="3581400"/>
            <a:ext cx="4953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0</a:t>
            </a:r>
            <a:endParaRPr lang="en-US" altLang="en-US" sz="3200"/>
          </a:p>
        </p:txBody>
      </p:sp>
      <p:sp>
        <p:nvSpPr>
          <p:cNvPr id="485489" name="Rectangle 113"/>
          <p:cNvSpPr>
            <a:spLocks noChangeArrowheads="1"/>
          </p:cNvSpPr>
          <p:nvPr/>
        </p:nvSpPr>
        <p:spPr bwMode="auto">
          <a:xfrm>
            <a:off x="4132263" y="3394075"/>
            <a:ext cx="4699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1</a:t>
            </a:r>
            <a:endParaRPr lang="en-US" altLang="en-US" sz="3200"/>
          </a:p>
        </p:txBody>
      </p:sp>
      <p:sp>
        <p:nvSpPr>
          <p:cNvPr id="485490" name="Rectangle 114"/>
          <p:cNvSpPr>
            <a:spLocks noChangeArrowheads="1"/>
          </p:cNvSpPr>
          <p:nvPr/>
        </p:nvSpPr>
        <p:spPr bwMode="auto">
          <a:xfrm>
            <a:off x="3940175" y="3581400"/>
            <a:ext cx="8191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(laser on)</a:t>
            </a:r>
            <a:endParaRPr lang="en-US" altLang="en-US" sz="3200"/>
          </a:p>
        </p:txBody>
      </p:sp>
      <p:grpSp>
        <p:nvGrpSpPr>
          <p:cNvPr id="485505" name="Group 129"/>
          <p:cNvGrpSpPr>
            <a:grpSpLocks/>
          </p:cNvGrpSpPr>
          <p:nvPr/>
        </p:nvGrpSpPr>
        <p:grpSpPr bwMode="auto">
          <a:xfrm>
            <a:off x="4746625" y="2820988"/>
            <a:ext cx="1612900" cy="1019175"/>
            <a:chOff x="2990" y="1777"/>
            <a:chExt cx="1016" cy="642"/>
          </a:xfrm>
        </p:grpSpPr>
        <p:sp>
          <p:nvSpPr>
            <p:cNvPr id="485480" name="Line 104"/>
            <p:cNvSpPr>
              <a:spLocks noChangeShapeType="1"/>
            </p:cNvSpPr>
            <p:nvPr/>
          </p:nvSpPr>
          <p:spPr bwMode="auto">
            <a:xfrm>
              <a:off x="2990" y="1936"/>
              <a:ext cx="27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481" name="Freeform 105"/>
            <p:cNvSpPr>
              <a:spLocks/>
            </p:cNvSpPr>
            <p:nvPr/>
          </p:nvSpPr>
          <p:spPr bwMode="auto">
            <a:xfrm>
              <a:off x="3243" y="1909"/>
              <a:ext cx="133" cy="5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482" name="Rectangle 106"/>
            <p:cNvSpPr>
              <a:spLocks noChangeArrowheads="1"/>
            </p:cNvSpPr>
            <p:nvPr/>
          </p:nvSpPr>
          <p:spPr bwMode="auto">
            <a:xfrm>
              <a:off x="3591" y="1877"/>
              <a:ext cx="1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S3</a:t>
              </a:r>
              <a:endParaRPr lang="en-US" altLang="en-US" sz="3200"/>
            </a:p>
          </p:txBody>
        </p:sp>
        <p:sp>
          <p:nvSpPr>
            <p:cNvPr id="485483" name="Oval 107"/>
            <p:cNvSpPr>
              <a:spLocks noChangeArrowheads="1"/>
            </p:cNvSpPr>
            <p:nvPr/>
          </p:nvSpPr>
          <p:spPr bwMode="auto">
            <a:xfrm>
              <a:off x="3376" y="1777"/>
              <a:ext cx="550" cy="311"/>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5491" name="Rectangle 115"/>
            <p:cNvSpPr>
              <a:spLocks noChangeArrowheads="1"/>
            </p:cNvSpPr>
            <p:nvPr/>
          </p:nvSpPr>
          <p:spPr bwMode="auto">
            <a:xfrm>
              <a:off x="3560" y="2138"/>
              <a:ext cx="3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0</a:t>
              </a:r>
              <a:endParaRPr lang="en-US" altLang="en-US" sz="3200"/>
            </a:p>
          </p:txBody>
        </p:sp>
        <p:sp>
          <p:nvSpPr>
            <p:cNvPr id="485492" name="Rectangle 116"/>
            <p:cNvSpPr>
              <a:spLocks noChangeArrowheads="1"/>
            </p:cNvSpPr>
            <p:nvPr/>
          </p:nvSpPr>
          <p:spPr bwMode="auto">
            <a:xfrm>
              <a:off x="3431" y="2256"/>
              <a:ext cx="57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(laser off)</a:t>
              </a:r>
              <a:endParaRPr lang="en-US" altLang="en-US" sz="3200"/>
            </a:p>
          </p:txBody>
        </p:sp>
      </p:grpSp>
      <p:sp>
        <p:nvSpPr>
          <p:cNvPr id="485495" name="Rectangle 119"/>
          <p:cNvSpPr>
            <a:spLocks noChangeArrowheads="1"/>
          </p:cNvSpPr>
          <p:nvPr/>
        </p:nvSpPr>
        <p:spPr bwMode="auto">
          <a:xfrm>
            <a:off x="2736850" y="2190750"/>
            <a:ext cx="19208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485497" name="Rectangle 121"/>
          <p:cNvSpPr>
            <a:spLocks noChangeArrowheads="1"/>
          </p:cNvSpPr>
          <p:nvPr/>
        </p:nvSpPr>
        <p:spPr bwMode="auto">
          <a:xfrm>
            <a:off x="3417888" y="3114675"/>
            <a:ext cx="1460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485498" name="Line 122"/>
          <p:cNvSpPr>
            <a:spLocks noChangeShapeType="1"/>
          </p:cNvSpPr>
          <p:nvPr/>
        </p:nvSpPr>
        <p:spPr bwMode="auto">
          <a:xfrm>
            <a:off x="558800" y="2578100"/>
            <a:ext cx="304800" cy="2095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501" name="Text Box 125"/>
          <p:cNvSpPr txBox="1">
            <a:spLocks noChangeArrowheads="1"/>
          </p:cNvSpPr>
          <p:nvPr/>
        </p:nvSpPr>
        <p:spPr bwMode="auto">
          <a:xfrm>
            <a:off x="6411913" y="338137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485502" name="Text Box 126"/>
          <p:cNvSpPr txBox="1">
            <a:spLocks noChangeArrowheads="1"/>
          </p:cNvSpPr>
          <p:nvPr/>
        </p:nvSpPr>
        <p:spPr bwMode="auto">
          <a:xfrm>
            <a:off x="234950" y="5372100"/>
            <a:ext cx="23399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accent2"/>
                </a:solidFill>
              </a:rPr>
              <a:t>Q: What do next?</a:t>
            </a:r>
          </a:p>
        </p:txBody>
      </p:sp>
      <p:sp>
        <p:nvSpPr>
          <p:cNvPr id="485503" name="Text Box 127"/>
          <p:cNvSpPr txBox="1">
            <a:spLocks noChangeArrowheads="1"/>
          </p:cNvSpPr>
          <p:nvPr/>
        </p:nvSpPr>
        <p:spPr bwMode="auto">
          <a:xfrm>
            <a:off x="2632075" y="5372100"/>
            <a:ext cx="4824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t>A: Start timer, wait to sense reflection</a:t>
            </a:r>
          </a:p>
        </p:txBody>
      </p:sp>
      <p:sp>
        <p:nvSpPr>
          <p:cNvPr id="485504" name="Text Box 128"/>
          <p:cNvSpPr txBox="1">
            <a:spLocks noChangeArrowheads="1"/>
          </p:cNvSpPr>
          <p:nvPr/>
        </p:nvSpPr>
        <p:spPr bwMode="auto">
          <a:xfrm>
            <a:off x="4445000" y="579755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485506" name="Group 130"/>
          <p:cNvGrpSpPr>
            <a:grpSpLocks/>
          </p:cNvGrpSpPr>
          <p:nvPr/>
        </p:nvGrpSpPr>
        <p:grpSpPr bwMode="auto">
          <a:xfrm>
            <a:off x="5038725" y="1077913"/>
            <a:ext cx="3892550" cy="1443037"/>
            <a:chOff x="3174" y="679"/>
            <a:chExt cx="2452" cy="909"/>
          </a:xfrm>
        </p:grpSpPr>
        <p:sp>
          <p:nvSpPr>
            <p:cNvPr id="485507" name="Line 131"/>
            <p:cNvSpPr>
              <a:spLocks noChangeShapeType="1"/>
            </p:cNvSpPr>
            <p:nvPr/>
          </p:nvSpPr>
          <p:spPr bwMode="auto">
            <a:xfrm>
              <a:off x="4669" y="880"/>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508" name="Freeform 132"/>
            <p:cNvSpPr>
              <a:spLocks/>
            </p:cNvSpPr>
            <p:nvPr/>
          </p:nvSpPr>
          <p:spPr bwMode="auto">
            <a:xfrm>
              <a:off x="4956" y="854"/>
              <a:ext cx="93" cy="5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509" name="Line 133"/>
            <p:cNvSpPr>
              <a:spLocks noChangeShapeType="1"/>
            </p:cNvSpPr>
            <p:nvPr/>
          </p:nvSpPr>
          <p:spPr bwMode="auto">
            <a:xfrm flipH="1">
              <a:off x="4747" y="1315"/>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510" name="Freeform 134"/>
            <p:cNvSpPr>
              <a:spLocks/>
            </p:cNvSpPr>
            <p:nvPr/>
          </p:nvSpPr>
          <p:spPr bwMode="auto">
            <a:xfrm>
              <a:off x="4669" y="1292"/>
              <a:ext cx="93" cy="52"/>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511" name="Freeform 135"/>
            <p:cNvSpPr>
              <a:spLocks/>
            </p:cNvSpPr>
            <p:nvPr/>
          </p:nvSpPr>
          <p:spPr bwMode="auto">
            <a:xfrm>
              <a:off x="3706" y="1292"/>
              <a:ext cx="93" cy="52"/>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512" name="Line 136"/>
            <p:cNvSpPr>
              <a:spLocks noChangeShapeType="1"/>
            </p:cNvSpPr>
            <p:nvPr/>
          </p:nvSpPr>
          <p:spPr bwMode="auto">
            <a:xfrm flipH="1">
              <a:off x="3776" y="1318"/>
              <a:ext cx="327"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513" name="Line 137"/>
            <p:cNvSpPr>
              <a:spLocks noChangeShapeType="1"/>
            </p:cNvSpPr>
            <p:nvPr/>
          </p:nvSpPr>
          <p:spPr bwMode="auto">
            <a:xfrm>
              <a:off x="3718" y="880"/>
              <a:ext cx="30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514" name="Freeform 138"/>
            <p:cNvSpPr>
              <a:spLocks/>
            </p:cNvSpPr>
            <p:nvPr/>
          </p:nvSpPr>
          <p:spPr bwMode="auto">
            <a:xfrm>
              <a:off x="4005" y="854"/>
              <a:ext cx="92" cy="5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5515" name="Rectangle 139"/>
            <p:cNvSpPr>
              <a:spLocks noChangeArrowheads="1"/>
            </p:cNvSpPr>
            <p:nvPr/>
          </p:nvSpPr>
          <p:spPr bwMode="auto">
            <a:xfrm>
              <a:off x="4220" y="850"/>
              <a:ext cx="296"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Laser-</a:t>
              </a:r>
            </a:p>
            <a:p>
              <a:r>
                <a:rPr lang="en-US" altLang="en-US" sz="1300">
                  <a:solidFill>
                    <a:srgbClr val="000000"/>
                  </a:solidFill>
                  <a:latin typeface="Myriad Roman" charset="0"/>
                </a:rPr>
                <a:t>based</a:t>
              </a:r>
              <a:endParaRPr lang="en-US" altLang="en-US" sz="2400"/>
            </a:p>
          </p:txBody>
        </p:sp>
        <p:sp>
          <p:nvSpPr>
            <p:cNvPr id="485516" name="Rectangle 140"/>
            <p:cNvSpPr>
              <a:spLocks noChangeArrowheads="1"/>
            </p:cNvSpPr>
            <p:nvPr/>
          </p:nvSpPr>
          <p:spPr bwMode="auto">
            <a:xfrm>
              <a:off x="4182" y="1083"/>
              <a:ext cx="38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distance</a:t>
              </a:r>
              <a:endParaRPr lang="en-US" altLang="en-US" sz="2400"/>
            </a:p>
          </p:txBody>
        </p:sp>
        <p:sp>
          <p:nvSpPr>
            <p:cNvPr id="485517" name="Rectangle 141"/>
            <p:cNvSpPr>
              <a:spLocks noChangeArrowheads="1"/>
            </p:cNvSpPr>
            <p:nvPr/>
          </p:nvSpPr>
          <p:spPr bwMode="auto">
            <a:xfrm>
              <a:off x="4163" y="1198"/>
              <a:ext cx="4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measurer</a:t>
              </a:r>
              <a:endParaRPr lang="en-US" altLang="en-US" sz="2400"/>
            </a:p>
          </p:txBody>
        </p:sp>
        <p:sp>
          <p:nvSpPr>
            <p:cNvPr id="485518" name="Rectangle 142"/>
            <p:cNvSpPr>
              <a:spLocks noChangeArrowheads="1"/>
            </p:cNvSpPr>
            <p:nvPr/>
          </p:nvSpPr>
          <p:spPr bwMode="auto">
            <a:xfrm>
              <a:off x="4103" y="679"/>
              <a:ext cx="566" cy="90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5519" name="Line 143"/>
            <p:cNvSpPr>
              <a:spLocks noChangeShapeType="1"/>
            </p:cNvSpPr>
            <p:nvPr/>
          </p:nvSpPr>
          <p:spPr bwMode="auto">
            <a:xfrm flipH="1">
              <a:off x="3906" y="1277"/>
              <a:ext cx="81" cy="8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5520" name="Rectangle 144"/>
            <p:cNvSpPr>
              <a:spLocks noChangeArrowheads="1"/>
            </p:cNvSpPr>
            <p:nvPr/>
          </p:nvSpPr>
          <p:spPr bwMode="auto">
            <a:xfrm>
              <a:off x="3904" y="1160"/>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485521" name="Rectangle 145"/>
            <p:cNvSpPr>
              <a:spLocks noChangeArrowheads="1"/>
            </p:cNvSpPr>
            <p:nvPr/>
          </p:nvSpPr>
          <p:spPr bwMode="auto">
            <a:xfrm>
              <a:off x="3174" y="801"/>
              <a:ext cx="5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from button</a:t>
              </a:r>
              <a:endParaRPr lang="en-US" altLang="en-US" sz="2400"/>
            </a:p>
          </p:txBody>
        </p:sp>
        <p:sp>
          <p:nvSpPr>
            <p:cNvPr id="485522" name="Rectangle 146"/>
            <p:cNvSpPr>
              <a:spLocks noChangeArrowheads="1"/>
            </p:cNvSpPr>
            <p:nvPr/>
          </p:nvSpPr>
          <p:spPr bwMode="auto">
            <a:xfrm>
              <a:off x="3253" y="1244"/>
              <a:ext cx="44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display</a:t>
              </a:r>
              <a:endParaRPr lang="en-US" altLang="en-US" sz="2400"/>
            </a:p>
          </p:txBody>
        </p:sp>
        <p:sp>
          <p:nvSpPr>
            <p:cNvPr id="485523" name="Rectangle 147"/>
            <p:cNvSpPr>
              <a:spLocks noChangeArrowheads="1"/>
            </p:cNvSpPr>
            <p:nvPr/>
          </p:nvSpPr>
          <p:spPr bwMode="auto">
            <a:xfrm>
              <a:off x="4996" y="1166"/>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85524" name="Rectangle 148"/>
            <p:cNvSpPr>
              <a:spLocks noChangeArrowheads="1"/>
            </p:cNvSpPr>
            <p:nvPr/>
          </p:nvSpPr>
          <p:spPr bwMode="auto">
            <a:xfrm>
              <a:off x="4998" y="750"/>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t>
              </a:r>
              <a:endParaRPr lang="en-US" altLang="en-US" sz="2400"/>
            </a:p>
          </p:txBody>
        </p:sp>
        <p:sp>
          <p:nvSpPr>
            <p:cNvPr id="485525" name="Rectangle 149"/>
            <p:cNvSpPr>
              <a:spLocks noChangeArrowheads="1"/>
            </p:cNvSpPr>
            <p:nvPr/>
          </p:nvSpPr>
          <p:spPr bwMode="auto">
            <a:xfrm>
              <a:off x="3715" y="1166"/>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5526" name="Rectangle 150"/>
            <p:cNvSpPr>
              <a:spLocks noChangeArrowheads="1"/>
            </p:cNvSpPr>
            <p:nvPr/>
          </p:nvSpPr>
          <p:spPr bwMode="auto">
            <a:xfrm>
              <a:off x="3726" y="750"/>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85527" name="Rectangle 151"/>
            <p:cNvSpPr>
              <a:spLocks noChangeArrowheads="1"/>
            </p:cNvSpPr>
            <p:nvPr/>
          </p:nvSpPr>
          <p:spPr bwMode="auto">
            <a:xfrm>
              <a:off x="5075" y="823"/>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laser</a:t>
              </a:r>
              <a:endParaRPr lang="en-US" altLang="en-US" sz="2400"/>
            </a:p>
          </p:txBody>
        </p:sp>
        <p:sp>
          <p:nvSpPr>
            <p:cNvPr id="485528" name="Rectangle 152"/>
            <p:cNvSpPr>
              <a:spLocks noChangeArrowheads="1"/>
            </p:cNvSpPr>
            <p:nvPr/>
          </p:nvSpPr>
          <p:spPr bwMode="auto">
            <a:xfrm>
              <a:off x="5075" y="1256"/>
              <a:ext cx="5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from sensor</a:t>
              </a:r>
              <a:endParaRPr lang="en-US" altLang="en-US" sz="2400"/>
            </a:p>
          </p:txBody>
        </p:sp>
      </p:grpSp>
      <p:sp>
        <p:nvSpPr>
          <p:cNvPr id="485529" name="Rectangle 153"/>
          <p:cNvSpPr>
            <a:spLocks noChangeArrowheads="1"/>
          </p:cNvSpPr>
          <p:nvPr/>
        </p:nvSpPr>
        <p:spPr bwMode="auto">
          <a:xfrm>
            <a:off x="246063" y="1211263"/>
            <a:ext cx="22637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B, S (1 bit each)</a:t>
            </a:r>
            <a:endParaRPr lang="en-US" altLang="en-US" sz="3200"/>
          </a:p>
        </p:txBody>
      </p:sp>
      <p:sp>
        <p:nvSpPr>
          <p:cNvPr id="485530" name="Rectangle 154"/>
          <p:cNvSpPr>
            <a:spLocks noChangeArrowheads="1"/>
          </p:cNvSpPr>
          <p:nvPr/>
        </p:nvSpPr>
        <p:spPr bwMode="auto">
          <a:xfrm>
            <a:off x="246063" y="1435100"/>
            <a:ext cx="2549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L (bit), D (16 bits)</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550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55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503"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lide Number Placeholder 3"/>
          <p:cNvSpPr>
            <a:spLocks noGrp="1"/>
          </p:cNvSpPr>
          <p:nvPr>
            <p:ph type="sldNum" sz="quarter" idx="10"/>
          </p:nvPr>
        </p:nvSpPr>
        <p:spPr/>
        <p:txBody>
          <a:bodyPr/>
          <a:lstStyle/>
          <a:p>
            <a:fld id="{D4C9E314-C31C-4DF5-9C1B-C3C9CDEC6BBC}" type="slidenum">
              <a:rPr lang="en-US" altLang="en-US"/>
              <a:pPr/>
              <a:t>17</a:t>
            </a:fld>
            <a:endParaRPr lang="en-US" altLang="en-US"/>
          </a:p>
        </p:txBody>
      </p:sp>
      <p:sp>
        <p:nvSpPr>
          <p:cNvPr id="486402" name="Rectangle 2"/>
          <p:cNvSpPr>
            <a:spLocks noGrp="1" noChangeArrowheads="1"/>
          </p:cNvSpPr>
          <p:nvPr>
            <p:ph type="title"/>
          </p:nvPr>
        </p:nvSpPr>
        <p:spPr/>
        <p:txBody>
          <a:bodyPr/>
          <a:lstStyle/>
          <a:p>
            <a:r>
              <a:rPr lang="en-US" altLang="en-US"/>
              <a:t>Step 1 Example: </a:t>
            </a:r>
            <a:r>
              <a:rPr lang="en-US" altLang="en-US" sz="3200"/>
              <a:t>Laser-Based Distance Measurer</a:t>
            </a:r>
          </a:p>
        </p:txBody>
      </p:sp>
      <p:sp>
        <p:nvSpPr>
          <p:cNvPr id="486403" name="Rectangle 3"/>
          <p:cNvSpPr>
            <a:spLocks noGrp="1" noChangeArrowheads="1"/>
          </p:cNvSpPr>
          <p:nvPr>
            <p:ph type="body" idx="1"/>
          </p:nvPr>
        </p:nvSpPr>
        <p:spPr>
          <a:xfrm>
            <a:off x="331788" y="3946525"/>
            <a:ext cx="8662987" cy="2443163"/>
          </a:xfrm>
        </p:spPr>
        <p:txBody>
          <a:bodyPr/>
          <a:lstStyle/>
          <a:p>
            <a:r>
              <a:rPr lang="en-US" altLang="en-US"/>
              <a:t>Stay in </a:t>
            </a:r>
            <a:r>
              <a:rPr lang="en-US" altLang="en-US" b="1"/>
              <a:t>S3</a:t>
            </a:r>
            <a:r>
              <a:rPr lang="en-US" altLang="en-US"/>
              <a:t> until sense reflection (S)</a:t>
            </a:r>
          </a:p>
          <a:p>
            <a:r>
              <a:rPr lang="en-US" altLang="en-US"/>
              <a:t>To measure time, count cycles for which we are in </a:t>
            </a:r>
            <a:r>
              <a:rPr lang="en-US" altLang="en-US" b="1"/>
              <a:t>S3</a:t>
            </a:r>
          </a:p>
          <a:p>
            <a:pPr lvl="1"/>
            <a:r>
              <a:rPr lang="en-US" altLang="en-US"/>
              <a:t>To count, declare local register </a:t>
            </a:r>
            <a:r>
              <a:rPr lang="en-US" altLang="en-US" i="1"/>
              <a:t>Dctr</a:t>
            </a:r>
          </a:p>
          <a:p>
            <a:pPr lvl="1"/>
            <a:r>
              <a:rPr lang="en-US" altLang="en-US"/>
              <a:t>Increment </a:t>
            </a:r>
            <a:r>
              <a:rPr lang="en-US" altLang="en-US" i="1"/>
              <a:t>Dctr</a:t>
            </a:r>
            <a:r>
              <a:rPr lang="en-US" altLang="en-US"/>
              <a:t> each cycle in </a:t>
            </a:r>
            <a:r>
              <a:rPr lang="en-US" altLang="en-US" b="1"/>
              <a:t>S3</a:t>
            </a:r>
          </a:p>
          <a:p>
            <a:pPr lvl="1"/>
            <a:r>
              <a:rPr lang="en-US" altLang="en-US"/>
              <a:t>Initialize </a:t>
            </a:r>
            <a:r>
              <a:rPr lang="en-US" altLang="en-US" i="1"/>
              <a:t>Dctr</a:t>
            </a:r>
            <a:r>
              <a:rPr lang="en-US" altLang="en-US"/>
              <a:t> to 0 in </a:t>
            </a:r>
            <a:r>
              <a:rPr lang="en-US" altLang="en-US" b="1"/>
              <a:t>S1</a:t>
            </a:r>
            <a:r>
              <a:rPr lang="en-US" altLang="en-US"/>
              <a:t>. </a:t>
            </a:r>
            <a:r>
              <a:rPr lang="en-US" altLang="en-US" b="1"/>
              <a:t>S2</a:t>
            </a:r>
            <a:r>
              <a:rPr lang="en-US" altLang="en-US"/>
              <a:t> would have been O.K. too</a:t>
            </a:r>
          </a:p>
        </p:txBody>
      </p:sp>
      <p:grpSp>
        <p:nvGrpSpPr>
          <p:cNvPr id="486404" name="Group 4"/>
          <p:cNvGrpSpPr>
            <a:grpSpLocks/>
          </p:cNvGrpSpPr>
          <p:nvPr/>
        </p:nvGrpSpPr>
        <p:grpSpPr bwMode="auto">
          <a:xfrm>
            <a:off x="6208713" y="1077913"/>
            <a:ext cx="2800350" cy="1114425"/>
            <a:chOff x="2500" y="1092"/>
            <a:chExt cx="2536" cy="876"/>
          </a:xfrm>
        </p:grpSpPr>
        <p:sp>
          <p:nvSpPr>
            <p:cNvPr id="486405" name="Line 5"/>
            <p:cNvSpPr>
              <a:spLocks noChangeShapeType="1"/>
            </p:cNvSpPr>
            <p:nvPr/>
          </p:nvSpPr>
          <p:spPr bwMode="auto">
            <a:xfrm>
              <a:off x="4066" y="1286"/>
              <a:ext cx="32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406" name="Freeform 6"/>
            <p:cNvSpPr>
              <a:spLocks/>
            </p:cNvSpPr>
            <p:nvPr/>
          </p:nvSpPr>
          <p:spPr bwMode="auto">
            <a:xfrm>
              <a:off x="4375" y="1261"/>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407" name="Line 7"/>
            <p:cNvSpPr>
              <a:spLocks noChangeShapeType="1"/>
            </p:cNvSpPr>
            <p:nvPr/>
          </p:nvSpPr>
          <p:spPr bwMode="auto">
            <a:xfrm flipH="1">
              <a:off x="4150" y="1705"/>
              <a:ext cx="32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408" name="Freeform 8"/>
            <p:cNvSpPr>
              <a:spLocks/>
            </p:cNvSpPr>
            <p:nvPr/>
          </p:nvSpPr>
          <p:spPr bwMode="auto">
            <a:xfrm>
              <a:off x="4066" y="1683"/>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409" name="Freeform 9"/>
            <p:cNvSpPr>
              <a:spLocks/>
            </p:cNvSpPr>
            <p:nvPr/>
          </p:nvSpPr>
          <p:spPr bwMode="auto">
            <a:xfrm>
              <a:off x="3028" y="1683"/>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410" name="Line 10"/>
            <p:cNvSpPr>
              <a:spLocks noChangeShapeType="1"/>
            </p:cNvSpPr>
            <p:nvPr/>
          </p:nvSpPr>
          <p:spPr bwMode="auto">
            <a:xfrm flipH="1">
              <a:off x="3103" y="1708"/>
              <a:ext cx="353"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411" name="Line 11"/>
            <p:cNvSpPr>
              <a:spLocks noChangeShapeType="1"/>
            </p:cNvSpPr>
            <p:nvPr/>
          </p:nvSpPr>
          <p:spPr bwMode="auto">
            <a:xfrm>
              <a:off x="3041" y="1286"/>
              <a:ext cx="32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412" name="Freeform 12"/>
            <p:cNvSpPr>
              <a:spLocks/>
            </p:cNvSpPr>
            <p:nvPr/>
          </p:nvSpPr>
          <p:spPr bwMode="auto">
            <a:xfrm>
              <a:off x="3350" y="1261"/>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413" name="Rectangle 13"/>
            <p:cNvSpPr>
              <a:spLocks noChangeArrowheads="1"/>
            </p:cNvSpPr>
            <p:nvPr/>
          </p:nvSpPr>
          <p:spPr bwMode="auto">
            <a:xfrm>
              <a:off x="3512" y="1367"/>
              <a:ext cx="21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Lase</a:t>
              </a:r>
              <a:endParaRPr lang="en-US" altLang="en-US" sz="1800"/>
            </a:p>
          </p:txBody>
        </p:sp>
        <p:sp>
          <p:nvSpPr>
            <p:cNvPr id="486414" name="Rectangle 14"/>
            <p:cNvSpPr>
              <a:spLocks noChangeArrowheads="1"/>
            </p:cNvSpPr>
            <p:nvPr/>
          </p:nvSpPr>
          <p:spPr bwMode="auto">
            <a:xfrm>
              <a:off x="3696" y="1367"/>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486415" name="Rectangle 15"/>
            <p:cNvSpPr>
              <a:spLocks noChangeArrowheads="1"/>
            </p:cNvSpPr>
            <p:nvPr/>
          </p:nvSpPr>
          <p:spPr bwMode="auto">
            <a:xfrm>
              <a:off x="3728" y="1367"/>
              <a:ext cx="30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-based</a:t>
              </a:r>
              <a:endParaRPr lang="en-US" altLang="en-US" sz="1800"/>
            </a:p>
          </p:txBody>
        </p:sp>
        <p:sp>
          <p:nvSpPr>
            <p:cNvPr id="486416" name="Rectangle 16"/>
            <p:cNvSpPr>
              <a:spLocks noChangeArrowheads="1"/>
            </p:cNvSpPr>
            <p:nvPr/>
          </p:nvSpPr>
          <p:spPr bwMode="auto">
            <a:xfrm>
              <a:off x="3586" y="1481"/>
              <a:ext cx="274"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distan</a:t>
              </a:r>
              <a:endParaRPr lang="en-US" altLang="en-US" sz="1800"/>
            </a:p>
          </p:txBody>
        </p:sp>
        <p:sp>
          <p:nvSpPr>
            <p:cNvPr id="486417" name="Rectangle 17"/>
            <p:cNvSpPr>
              <a:spLocks noChangeArrowheads="1"/>
            </p:cNvSpPr>
            <p:nvPr/>
          </p:nvSpPr>
          <p:spPr bwMode="auto">
            <a:xfrm>
              <a:off x="3842" y="1481"/>
              <a:ext cx="5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a:t>
              </a:r>
              <a:endParaRPr lang="en-US" altLang="en-US" sz="1800"/>
            </a:p>
          </p:txBody>
        </p:sp>
        <p:sp>
          <p:nvSpPr>
            <p:cNvPr id="486418" name="Rectangle 18"/>
            <p:cNvSpPr>
              <a:spLocks noChangeArrowheads="1"/>
            </p:cNvSpPr>
            <p:nvPr/>
          </p:nvSpPr>
          <p:spPr bwMode="auto">
            <a:xfrm>
              <a:off x="3888" y="1481"/>
              <a:ext cx="5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a:t>
              </a:r>
              <a:endParaRPr lang="en-US" altLang="en-US" sz="1800"/>
            </a:p>
          </p:txBody>
        </p:sp>
        <p:sp>
          <p:nvSpPr>
            <p:cNvPr id="486419" name="Rectangle 19"/>
            <p:cNvSpPr>
              <a:spLocks noChangeArrowheads="1"/>
            </p:cNvSpPr>
            <p:nvPr/>
          </p:nvSpPr>
          <p:spPr bwMode="auto">
            <a:xfrm>
              <a:off x="3565" y="1592"/>
              <a:ext cx="29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measu</a:t>
              </a:r>
              <a:endParaRPr lang="en-US" altLang="en-US" sz="1800"/>
            </a:p>
          </p:txBody>
        </p:sp>
        <p:sp>
          <p:nvSpPr>
            <p:cNvPr id="486420" name="Rectangle 20"/>
            <p:cNvSpPr>
              <a:spLocks noChangeArrowheads="1"/>
            </p:cNvSpPr>
            <p:nvPr/>
          </p:nvSpPr>
          <p:spPr bwMode="auto">
            <a:xfrm>
              <a:off x="3842" y="1592"/>
              <a:ext cx="38"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486421" name="Rectangle 21"/>
            <p:cNvSpPr>
              <a:spLocks noChangeArrowheads="1"/>
            </p:cNvSpPr>
            <p:nvPr/>
          </p:nvSpPr>
          <p:spPr bwMode="auto">
            <a:xfrm>
              <a:off x="3873" y="1592"/>
              <a:ext cx="9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er</a:t>
              </a:r>
              <a:endParaRPr lang="en-US" altLang="en-US" sz="1800"/>
            </a:p>
          </p:txBody>
        </p:sp>
        <p:sp>
          <p:nvSpPr>
            <p:cNvPr id="486422" name="Rectangle 22"/>
            <p:cNvSpPr>
              <a:spLocks noChangeArrowheads="1"/>
            </p:cNvSpPr>
            <p:nvPr/>
          </p:nvSpPr>
          <p:spPr bwMode="auto">
            <a:xfrm>
              <a:off x="3456" y="1092"/>
              <a:ext cx="610" cy="876"/>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6423" name="Line 23"/>
            <p:cNvSpPr>
              <a:spLocks noChangeShapeType="1"/>
            </p:cNvSpPr>
            <p:nvPr/>
          </p:nvSpPr>
          <p:spPr bwMode="auto">
            <a:xfrm flipH="1">
              <a:off x="3244" y="1668"/>
              <a:ext cx="87" cy="8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424" name="Rectangle 24"/>
            <p:cNvSpPr>
              <a:spLocks noChangeArrowheads="1"/>
            </p:cNvSpPr>
            <p:nvPr/>
          </p:nvSpPr>
          <p:spPr bwMode="auto">
            <a:xfrm>
              <a:off x="3241" y="1556"/>
              <a:ext cx="11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16</a:t>
              </a:r>
              <a:endParaRPr lang="en-US" altLang="en-US" sz="1800"/>
            </a:p>
          </p:txBody>
        </p:sp>
        <p:sp>
          <p:nvSpPr>
            <p:cNvPr id="486425" name="Rectangle 25"/>
            <p:cNvSpPr>
              <a:spLocks noChangeArrowheads="1"/>
            </p:cNvSpPr>
            <p:nvPr/>
          </p:nvSpPr>
          <p:spPr bwMode="auto">
            <a:xfrm>
              <a:off x="2500" y="1221"/>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f</a:t>
              </a:r>
              <a:endParaRPr lang="en-US" altLang="en-US" sz="1800"/>
            </a:p>
          </p:txBody>
        </p:sp>
        <p:sp>
          <p:nvSpPr>
            <p:cNvPr id="486426" name="Rectangle 26"/>
            <p:cNvSpPr>
              <a:spLocks noChangeArrowheads="1"/>
            </p:cNvSpPr>
            <p:nvPr/>
          </p:nvSpPr>
          <p:spPr bwMode="auto">
            <a:xfrm>
              <a:off x="2529" y="1221"/>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486427" name="Rectangle 27"/>
            <p:cNvSpPr>
              <a:spLocks noChangeArrowheads="1"/>
            </p:cNvSpPr>
            <p:nvPr/>
          </p:nvSpPr>
          <p:spPr bwMode="auto">
            <a:xfrm>
              <a:off x="2560" y="1221"/>
              <a:ext cx="32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om but</a:t>
              </a:r>
              <a:endParaRPr lang="en-US" altLang="en-US" sz="1800"/>
            </a:p>
          </p:txBody>
        </p:sp>
        <p:sp>
          <p:nvSpPr>
            <p:cNvPr id="486428" name="Rectangle 28"/>
            <p:cNvSpPr>
              <a:spLocks noChangeArrowheads="1"/>
            </p:cNvSpPr>
            <p:nvPr/>
          </p:nvSpPr>
          <p:spPr bwMode="auto">
            <a:xfrm>
              <a:off x="2865" y="1221"/>
              <a:ext cx="3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a:t>
              </a:r>
              <a:endParaRPr lang="en-US" altLang="en-US" sz="1800"/>
            </a:p>
          </p:txBody>
        </p:sp>
        <p:sp>
          <p:nvSpPr>
            <p:cNvPr id="486429" name="Rectangle 29"/>
            <p:cNvSpPr>
              <a:spLocks noChangeArrowheads="1"/>
            </p:cNvSpPr>
            <p:nvPr/>
          </p:nvSpPr>
          <p:spPr bwMode="auto">
            <a:xfrm>
              <a:off x="2898" y="1221"/>
              <a:ext cx="11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on</a:t>
              </a:r>
              <a:endParaRPr lang="en-US" altLang="en-US" sz="1800"/>
            </a:p>
          </p:txBody>
        </p:sp>
        <p:sp>
          <p:nvSpPr>
            <p:cNvPr id="486430" name="Rectangle 30"/>
            <p:cNvSpPr>
              <a:spLocks noChangeArrowheads="1"/>
            </p:cNvSpPr>
            <p:nvPr/>
          </p:nvSpPr>
          <p:spPr bwMode="auto">
            <a:xfrm>
              <a:off x="2605" y="1642"/>
              <a:ext cx="3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a:t>
              </a:r>
              <a:endParaRPr lang="en-US" altLang="en-US" sz="1800"/>
            </a:p>
          </p:txBody>
        </p:sp>
        <p:sp>
          <p:nvSpPr>
            <p:cNvPr id="486431" name="Rectangle 31"/>
            <p:cNvSpPr>
              <a:spLocks noChangeArrowheads="1"/>
            </p:cNvSpPr>
            <p:nvPr/>
          </p:nvSpPr>
          <p:spPr bwMode="auto">
            <a:xfrm>
              <a:off x="2638" y="1642"/>
              <a:ext cx="309"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 displ</a:t>
              </a:r>
              <a:endParaRPr lang="en-US" altLang="en-US" sz="1800"/>
            </a:p>
          </p:txBody>
        </p:sp>
        <p:sp>
          <p:nvSpPr>
            <p:cNvPr id="486432" name="Rectangle 32"/>
            <p:cNvSpPr>
              <a:spLocks noChangeArrowheads="1"/>
            </p:cNvSpPr>
            <p:nvPr/>
          </p:nvSpPr>
          <p:spPr bwMode="auto">
            <a:xfrm>
              <a:off x="2914" y="1642"/>
              <a:ext cx="5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a:t>
              </a:r>
              <a:endParaRPr lang="en-US" altLang="en-US" sz="1800"/>
            </a:p>
          </p:txBody>
        </p:sp>
        <p:sp>
          <p:nvSpPr>
            <p:cNvPr id="486433" name="Rectangle 33"/>
            <p:cNvSpPr>
              <a:spLocks noChangeArrowheads="1"/>
            </p:cNvSpPr>
            <p:nvPr/>
          </p:nvSpPr>
          <p:spPr bwMode="auto">
            <a:xfrm>
              <a:off x="2962" y="1642"/>
              <a:ext cx="57"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y</a:t>
              </a:r>
              <a:endParaRPr lang="en-US" altLang="en-US" sz="1800"/>
            </a:p>
          </p:txBody>
        </p:sp>
        <p:sp>
          <p:nvSpPr>
            <p:cNvPr id="486434" name="Rectangle 34"/>
            <p:cNvSpPr>
              <a:spLocks noChangeArrowheads="1"/>
            </p:cNvSpPr>
            <p:nvPr/>
          </p:nvSpPr>
          <p:spPr bwMode="auto">
            <a:xfrm>
              <a:off x="4418" y="1561"/>
              <a:ext cx="6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a:t>
              </a:r>
              <a:endParaRPr lang="en-US" altLang="en-US" sz="1800"/>
            </a:p>
          </p:txBody>
        </p:sp>
        <p:sp>
          <p:nvSpPr>
            <p:cNvPr id="486435" name="Rectangle 35"/>
            <p:cNvSpPr>
              <a:spLocks noChangeArrowheads="1"/>
            </p:cNvSpPr>
            <p:nvPr/>
          </p:nvSpPr>
          <p:spPr bwMode="auto">
            <a:xfrm>
              <a:off x="4420" y="1159"/>
              <a:ext cx="7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L</a:t>
              </a:r>
              <a:endParaRPr lang="en-US" altLang="en-US" sz="1800"/>
            </a:p>
          </p:txBody>
        </p:sp>
        <p:sp>
          <p:nvSpPr>
            <p:cNvPr id="486436" name="Rectangle 36"/>
            <p:cNvSpPr>
              <a:spLocks noChangeArrowheads="1"/>
            </p:cNvSpPr>
            <p:nvPr/>
          </p:nvSpPr>
          <p:spPr bwMode="auto">
            <a:xfrm>
              <a:off x="3038" y="1561"/>
              <a:ext cx="8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
              </a:r>
              <a:endParaRPr lang="en-US" altLang="en-US" sz="1800"/>
            </a:p>
          </p:txBody>
        </p:sp>
        <p:sp>
          <p:nvSpPr>
            <p:cNvPr id="486437" name="Rectangle 37"/>
            <p:cNvSpPr>
              <a:spLocks noChangeArrowheads="1"/>
            </p:cNvSpPr>
            <p:nvPr/>
          </p:nvSpPr>
          <p:spPr bwMode="auto">
            <a:xfrm>
              <a:off x="3049" y="1159"/>
              <a:ext cx="7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B</a:t>
              </a:r>
              <a:endParaRPr lang="en-US" altLang="en-US" sz="1800"/>
            </a:p>
          </p:txBody>
        </p:sp>
        <p:sp>
          <p:nvSpPr>
            <p:cNvPr id="486438" name="Rectangle 38"/>
            <p:cNvSpPr>
              <a:spLocks noChangeArrowheads="1"/>
            </p:cNvSpPr>
            <p:nvPr/>
          </p:nvSpPr>
          <p:spPr bwMode="auto">
            <a:xfrm>
              <a:off x="4503" y="1231"/>
              <a:ext cx="3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a:t>
              </a:r>
              <a:endParaRPr lang="en-US" altLang="en-US" sz="1800"/>
            </a:p>
          </p:txBody>
        </p:sp>
        <p:sp>
          <p:nvSpPr>
            <p:cNvPr id="486439" name="Rectangle 39"/>
            <p:cNvSpPr>
              <a:spLocks noChangeArrowheads="1"/>
            </p:cNvSpPr>
            <p:nvPr/>
          </p:nvSpPr>
          <p:spPr bwMode="auto">
            <a:xfrm>
              <a:off x="4537" y="1231"/>
              <a:ext cx="30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 laser</a:t>
              </a:r>
              <a:endParaRPr lang="en-US" altLang="en-US" sz="1800"/>
            </a:p>
          </p:txBody>
        </p:sp>
        <p:sp>
          <p:nvSpPr>
            <p:cNvPr id="486440" name="Rectangle 40"/>
            <p:cNvSpPr>
              <a:spLocks noChangeArrowheads="1"/>
            </p:cNvSpPr>
            <p:nvPr/>
          </p:nvSpPr>
          <p:spPr bwMode="auto">
            <a:xfrm>
              <a:off x="4503" y="1649"/>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f</a:t>
              </a:r>
              <a:endParaRPr lang="en-US" altLang="en-US" sz="1800"/>
            </a:p>
          </p:txBody>
        </p:sp>
        <p:sp>
          <p:nvSpPr>
            <p:cNvPr id="486441" name="Rectangle 41"/>
            <p:cNvSpPr>
              <a:spLocks noChangeArrowheads="1"/>
            </p:cNvSpPr>
            <p:nvPr/>
          </p:nvSpPr>
          <p:spPr bwMode="auto">
            <a:xfrm>
              <a:off x="4535" y="1649"/>
              <a:ext cx="38"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486442" name="Rectangle 42"/>
            <p:cNvSpPr>
              <a:spLocks noChangeArrowheads="1"/>
            </p:cNvSpPr>
            <p:nvPr/>
          </p:nvSpPr>
          <p:spPr bwMode="auto">
            <a:xfrm>
              <a:off x="4566" y="1649"/>
              <a:ext cx="47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om sensor</a:t>
              </a:r>
              <a:endParaRPr lang="en-US" altLang="en-US" sz="1800"/>
            </a:p>
          </p:txBody>
        </p:sp>
      </p:grpSp>
      <p:sp>
        <p:nvSpPr>
          <p:cNvPr id="486497" name="Rectangle 97"/>
          <p:cNvSpPr>
            <a:spLocks noChangeArrowheads="1"/>
          </p:cNvSpPr>
          <p:nvPr/>
        </p:nvSpPr>
        <p:spPr bwMode="auto">
          <a:xfrm>
            <a:off x="1887538" y="1530350"/>
            <a:ext cx="28479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Local Registers: Dctr (16 bits)</a:t>
            </a:r>
            <a:endParaRPr lang="en-US" altLang="en-US" sz="3200"/>
          </a:p>
        </p:txBody>
      </p:sp>
      <p:sp>
        <p:nvSpPr>
          <p:cNvPr id="486509" name="Rectangle 109"/>
          <p:cNvSpPr>
            <a:spLocks noChangeArrowheads="1"/>
          </p:cNvSpPr>
          <p:nvPr/>
        </p:nvSpPr>
        <p:spPr bwMode="auto">
          <a:xfrm>
            <a:off x="785813" y="2773363"/>
            <a:ext cx="2286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S0</a:t>
            </a:r>
            <a:endParaRPr lang="en-US" altLang="en-US" sz="3200"/>
          </a:p>
        </p:txBody>
      </p:sp>
      <p:sp>
        <p:nvSpPr>
          <p:cNvPr id="486510" name="Oval 110"/>
          <p:cNvSpPr>
            <a:spLocks noChangeArrowheads="1"/>
          </p:cNvSpPr>
          <p:nvPr/>
        </p:nvSpPr>
        <p:spPr bwMode="auto">
          <a:xfrm>
            <a:off x="455613" y="2609850"/>
            <a:ext cx="844550" cy="515938"/>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6511" name="Line 111"/>
          <p:cNvSpPr>
            <a:spLocks noChangeShapeType="1"/>
          </p:cNvSpPr>
          <p:nvPr/>
        </p:nvSpPr>
        <p:spPr bwMode="auto">
          <a:xfrm>
            <a:off x="1308100" y="2874963"/>
            <a:ext cx="427038"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512" name="Freeform 112"/>
          <p:cNvSpPr>
            <a:spLocks/>
          </p:cNvSpPr>
          <p:nvPr/>
        </p:nvSpPr>
        <p:spPr bwMode="auto">
          <a:xfrm>
            <a:off x="1697038" y="2830513"/>
            <a:ext cx="204787" cy="8731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513" name="Line 113"/>
          <p:cNvSpPr>
            <a:spLocks noChangeShapeType="1"/>
          </p:cNvSpPr>
          <p:nvPr/>
        </p:nvSpPr>
        <p:spPr bwMode="auto">
          <a:xfrm>
            <a:off x="2747963" y="2874963"/>
            <a:ext cx="441325"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514" name="Freeform 114"/>
          <p:cNvSpPr>
            <a:spLocks/>
          </p:cNvSpPr>
          <p:nvPr/>
        </p:nvSpPr>
        <p:spPr bwMode="auto">
          <a:xfrm>
            <a:off x="3151188" y="2830513"/>
            <a:ext cx="204787" cy="8731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515" name="Rectangle 115"/>
          <p:cNvSpPr>
            <a:spLocks noChangeArrowheads="1"/>
          </p:cNvSpPr>
          <p:nvPr/>
        </p:nvSpPr>
        <p:spPr bwMode="auto">
          <a:xfrm>
            <a:off x="2232025" y="2773363"/>
            <a:ext cx="2286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S1</a:t>
            </a:r>
            <a:endParaRPr lang="en-US" altLang="en-US" sz="3200"/>
          </a:p>
        </p:txBody>
      </p:sp>
      <p:sp>
        <p:nvSpPr>
          <p:cNvPr id="486516" name="Rectangle 116"/>
          <p:cNvSpPr>
            <a:spLocks noChangeArrowheads="1"/>
          </p:cNvSpPr>
          <p:nvPr/>
        </p:nvSpPr>
        <p:spPr bwMode="auto">
          <a:xfrm>
            <a:off x="3692525" y="2773363"/>
            <a:ext cx="2270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S2</a:t>
            </a:r>
            <a:endParaRPr lang="en-US" altLang="en-US" sz="3200"/>
          </a:p>
        </p:txBody>
      </p:sp>
      <p:sp>
        <p:nvSpPr>
          <p:cNvPr id="486517" name="Oval 117"/>
          <p:cNvSpPr>
            <a:spLocks noChangeArrowheads="1"/>
          </p:cNvSpPr>
          <p:nvPr/>
        </p:nvSpPr>
        <p:spPr bwMode="auto">
          <a:xfrm>
            <a:off x="3362325" y="2609850"/>
            <a:ext cx="844550" cy="515938"/>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6518" name="Line 118"/>
          <p:cNvSpPr>
            <a:spLocks noChangeShapeType="1"/>
          </p:cNvSpPr>
          <p:nvPr/>
        </p:nvSpPr>
        <p:spPr bwMode="auto">
          <a:xfrm>
            <a:off x="4213225" y="2874963"/>
            <a:ext cx="430213"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519" name="Freeform 119"/>
          <p:cNvSpPr>
            <a:spLocks/>
          </p:cNvSpPr>
          <p:nvPr/>
        </p:nvSpPr>
        <p:spPr bwMode="auto">
          <a:xfrm>
            <a:off x="4603750" y="2830513"/>
            <a:ext cx="204788" cy="8731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522" name="Rectangle 122"/>
          <p:cNvSpPr>
            <a:spLocks noChangeArrowheads="1"/>
          </p:cNvSpPr>
          <p:nvPr/>
        </p:nvSpPr>
        <p:spPr bwMode="auto">
          <a:xfrm>
            <a:off x="5138738" y="2773363"/>
            <a:ext cx="23018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S3</a:t>
            </a:r>
            <a:endParaRPr lang="en-US" altLang="en-US" sz="3200"/>
          </a:p>
        </p:txBody>
      </p:sp>
      <p:sp>
        <p:nvSpPr>
          <p:cNvPr id="486523" name="Freeform 123"/>
          <p:cNvSpPr>
            <a:spLocks/>
          </p:cNvSpPr>
          <p:nvPr/>
        </p:nvSpPr>
        <p:spPr bwMode="auto">
          <a:xfrm>
            <a:off x="1901825" y="2201863"/>
            <a:ext cx="846138" cy="463550"/>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6524" name="Freeform 124"/>
          <p:cNvSpPr>
            <a:spLocks/>
          </p:cNvSpPr>
          <p:nvPr/>
        </p:nvSpPr>
        <p:spPr bwMode="auto">
          <a:xfrm>
            <a:off x="1871663" y="2505075"/>
            <a:ext cx="165100" cy="165100"/>
          </a:xfrm>
          <a:custGeom>
            <a:avLst/>
            <a:gdLst>
              <a:gd name="T0" fmla="*/ 81 w 81"/>
              <a:gd name="T1" fmla="*/ 94 h 94"/>
              <a:gd name="T2" fmla="*/ 37 w 81"/>
              <a:gd name="T3" fmla="*/ 0 h 94"/>
              <a:gd name="T4" fmla="*/ 0 w 81"/>
              <a:gd name="T5" fmla="*/ 32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2"/>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525" name="Freeform 125"/>
          <p:cNvSpPr>
            <a:spLocks/>
          </p:cNvSpPr>
          <p:nvPr/>
        </p:nvSpPr>
        <p:spPr bwMode="auto">
          <a:xfrm>
            <a:off x="392113" y="2522538"/>
            <a:ext cx="190500" cy="152400"/>
          </a:xfrm>
          <a:custGeom>
            <a:avLst/>
            <a:gdLst>
              <a:gd name="T0" fmla="*/ 93 w 93"/>
              <a:gd name="T1" fmla="*/ 87 h 87"/>
              <a:gd name="T2" fmla="*/ 34 w 93"/>
              <a:gd name="T3" fmla="*/ 0 h 87"/>
              <a:gd name="T4" fmla="*/ 0 w 93"/>
              <a:gd name="T5" fmla="*/ 37 h 87"/>
              <a:gd name="T6" fmla="*/ 93 w 93"/>
              <a:gd name="T7" fmla="*/ 87 h 87"/>
            </a:gdLst>
            <a:ahLst/>
            <a:cxnLst>
              <a:cxn ang="0">
                <a:pos x="T0" y="T1"/>
              </a:cxn>
              <a:cxn ang="0">
                <a:pos x="T2" y="T3"/>
              </a:cxn>
              <a:cxn ang="0">
                <a:pos x="T4" y="T5"/>
              </a:cxn>
              <a:cxn ang="0">
                <a:pos x="T6" y="T7"/>
              </a:cxn>
            </a:cxnLst>
            <a:rect l="0" t="0" r="r" b="b"/>
            <a:pathLst>
              <a:path w="93" h="87">
                <a:moveTo>
                  <a:pt x="93" y="87"/>
                </a:moveTo>
                <a:lnTo>
                  <a:pt x="34" y="0"/>
                </a:lnTo>
                <a:lnTo>
                  <a:pt x="0" y="37"/>
                </a:lnTo>
                <a:lnTo>
                  <a:pt x="93"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526" name="Rectangle 126"/>
          <p:cNvSpPr>
            <a:spLocks noChangeArrowheads="1"/>
          </p:cNvSpPr>
          <p:nvPr/>
        </p:nvSpPr>
        <p:spPr bwMode="auto">
          <a:xfrm>
            <a:off x="698500" y="3206750"/>
            <a:ext cx="4699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0</a:t>
            </a:r>
            <a:endParaRPr lang="en-US" altLang="en-US" sz="3200"/>
          </a:p>
        </p:txBody>
      </p:sp>
      <p:sp>
        <p:nvSpPr>
          <p:cNvPr id="486527" name="Rectangle 127"/>
          <p:cNvSpPr>
            <a:spLocks noChangeArrowheads="1"/>
          </p:cNvSpPr>
          <p:nvPr/>
        </p:nvSpPr>
        <p:spPr bwMode="auto">
          <a:xfrm>
            <a:off x="681038" y="3406775"/>
            <a:ext cx="49371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0</a:t>
            </a:r>
            <a:endParaRPr lang="en-US" altLang="en-US" sz="3200"/>
          </a:p>
        </p:txBody>
      </p:sp>
      <p:sp>
        <p:nvSpPr>
          <p:cNvPr id="486528" name="Rectangle 128"/>
          <p:cNvSpPr>
            <a:spLocks noChangeArrowheads="1"/>
          </p:cNvSpPr>
          <p:nvPr/>
        </p:nvSpPr>
        <p:spPr bwMode="auto">
          <a:xfrm>
            <a:off x="3621088" y="3206750"/>
            <a:ext cx="468312"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1</a:t>
            </a:r>
            <a:endParaRPr lang="en-US" altLang="en-US" sz="3200"/>
          </a:p>
        </p:txBody>
      </p:sp>
      <p:sp>
        <p:nvSpPr>
          <p:cNvPr id="486529" name="Rectangle 129"/>
          <p:cNvSpPr>
            <a:spLocks noChangeArrowheads="1"/>
          </p:cNvSpPr>
          <p:nvPr/>
        </p:nvSpPr>
        <p:spPr bwMode="auto">
          <a:xfrm>
            <a:off x="5092700" y="3206750"/>
            <a:ext cx="4699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0</a:t>
            </a:r>
            <a:endParaRPr lang="en-US" altLang="en-US" sz="3200"/>
          </a:p>
        </p:txBody>
      </p:sp>
      <p:grpSp>
        <p:nvGrpSpPr>
          <p:cNvPr id="486589" name="Group 189"/>
          <p:cNvGrpSpPr>
            <a:grpSpLocks/>
          </p:cNvGrpSpPr>
          <p:nvPr/>
        </p:nvGrpSpPr>
        <p:grpSpPr bwMode="auto">
          <a:xfrm>
            <a:off x="4670425" y="3406775"/>
            <a:ext cx="1403350" cy="454025"/>
            <a:chOff x="2942" y="2146"/>
            <a:chExt cx="884" cy="286"/>
          </a:xfrm>
        </p:grpSpPr>
        <p:sp>
          <p:nvSpPr>
            <p:cNvPr id="486530" name="Rectangle 130"/>
            <p:cNvSpPr>
              <a:spLocks noChangeArrowheads="1"/>
            </p:cNvSpPr>
            <p:nvPr/>
          </p:nvSpPr>
          <p:spPr bwMode="auto">
            <a:xfrm>
              <a:off x="2942" y="2146"/>
              <a:ext cx="88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Dctr = Dctr + 1</a:t>
              </a:r>
              <a:endParaRPr lang="en-US" altLang="en-US" sz="3200"/>
            </a:p>
          </p:txBody>
        </p:sp>
        <p:sp>
          <p:nvSpPr>
            <p:cNvPr id="486536" name="Rectangle 136"/>
            <p:cNvSpPr>
              <a:spLocks noChangeArrowheads="1"/>
            </p:cNvSpPr>
            <p:nvPr/>
          </p:nvSpPr>
          <p:spPr bwMode="auto">
            <a:xfrm>
              <a:off x="2969" y="2269"/>
              <a:ext cx="84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(count cycles)</a:t>
              </a:r>
              <a:endParaRPr lang="en-US" altLang="en-US" sz="3200"/>
            </a:p>
          </p:txBody>
        </p:sp>
      </p:grpSp>
      <p:grpSp>
        <p:nvGrpSpPr>
          <p:cNvPr id="486590" name="Group 190"/>
          <p:cNvGrpSpPr>
            <a:grpSpLocks/>
          </p:cNvGrpSpPr>
          <p:nvPr/>
        </p:nvGrpSpPr>
        <p:grpSpPr bwMode="auto">
          <a:xfrm>
            <a:off x="1851025" y="3206750"/>
            <a:ext cx="1104900" cy="654050"/>
            <a:chOff x="1166" y="2020"/>
            <a:chExt cx="696" cy="412"/>
          </a:xfrm>
        </p:grpSpPr>
        <p:sp>
          <p:nvSpPr>
            <p:cNvPr id="486544" name="Rectangle 144"/>
            <p:cNvSpPr>
              <a:spLocks noChangeArrowheads="1"/>
            </p:cNvSpPr>
            <p:nvPr/>
          </p:nvSpPr>
          <p:spPr bwMode="auto">
            <a:xfrm>
              <a:off x="1251" y="2020"/>
              <a:ext cx="48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Dctr = 0</a:t>
              </a:r>
              <a:endParaRPr lang="en-US" altLang="en-US" sz="3200"/>
            </a:p>
          </p:txBody>
        </p:sp>
        <p:sp>
          <p:nvSpPr>
            <p:cNvPr id="486547" name="Rectangle 147"/>
            <p:cNvSpPr>
              <a:spLocks noChangeArrowheads="1"/>
            </p:cNvSpPr>
            <p:nvPr/>
          </p:nvSpPr>
          <p:spPr bwMode="auto">
            <a:xfrm>
              <a:off x="1166" y="2146"/>
              <a:ext cx="69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(reset cycle</a:t>
              </a:r>
              <a:endParaRPr lang="en-US" altLang="en-US" sz="3200"/>
            </a:p>
          </p:txBody>
        </p:sp>
        <p:sp>
          <p:nvSpPr>
            <p:cNvPr id="486553" name="Rectangle 153"/>
            <p:cNvSpPr>
              <a:spLocks noChangeArrowheads="1"/>
            </p:cNvSpPr>
            <p:nvPr/>
          </p:nvSpPr>
          <p:spPr bwMode="auto">
            <a:xfrm>
              <a:off x="1291" y="2269"/>
              <a:ext cx="37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count)</a:t>
              </a:r>
              <a:endParaRPr lang="en-US" altLang="en-US" sz="3200"/>
            </a:p>
          </p:txBody>
        </p:sp>
      </p:grpSp>
      <p:sp>
        <p:nvSpPr>
          <p:cNvPr id="486557" name="Rectangle 157"/>
          <p:cNvSpPr>
            <a:spLocks noChangeArrowheads="1"/>
          </p:cNvSpPr>
          <p:nvPr/>
        </p:nvSpPr>
        <p:spPr bwMode="auto">
          <a:xfrm>
            <a:off x="2268538" y="1949450"/>
            <a:ext cx="19208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486574" name="Rectangle 174"/>
          <p:cNvSpPr>
            <a:spLocks noChangeArrowheads="1"/>
          </p:cNvSpPr>
          <p:nvPr/>
        </p:nvSpPr>
        <p:spPr bwMode="auto">
          <a:xfrm>
            <a:off x="2928938" y="2916238"/>
            <a:ext cx="14446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486575" name="Oval 175"/>
          <p:cNvSpPr>
            <a:spLocks noChangeArrowheads="1"/>
          </p:cNvSpPr>
          <p:nvPr/>
        </p:nvSpPr>
        <p:spPr bwMode="auto">
          <a:xfrm>
            <a:off x="4808538" y="2609850"/>
            <a:ext cx="846137" cy="515938"/>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6576" name="Oval 176"/>
          <p:cNvSpPr>
            <a:spLocks noChangeArrowheads="1"/>
          </p:cNvSpPr>
          <p:nvPr/>
        </p:nvSpPr>
        <p:spPr bwMode="auto">
          <a:xfrm>
            <a:off x="1901825" y="2609850"/>
            <a:ext cx="846138" cy="515938"/>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86588" name="Group 188"/>
          <p:cNvGrpSpPr>
            <a:grpSpLocks/>
          </p:cNvGrpSpPr>
          <p:nvPr/>
        </p:nvGrpSpPr>
        <p:grpSpPr bwMode="auto">
          <a:xfrm>
            <a:off x="4529138" y="1949450"/>
            <a:ext cx="2435225" cy="1082675"/>
            <a:chOff x="2853" y="1228"/>
            <a:chExt cx="1534" cy="682"/>
          </a:xfrm>
        </p:grpSpPr>
        <p:sp>
          <p:nvSpPr>
            <p:cNvPr id="486520" name="Line 120"/>
            <p:cNvSpPr>
              <a:spLocks noChangeShapeType="1"/>
            </p:cNvSpPr>
            <p:nvPr/>
          </p:nvSpPr>
          <p:spPr bwMode="auto">
            <a:xfrm>
              <a:off x="3566" y="1811"/>
              <a:ext cx="26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521" name="Freeform 121"/>
            <p:cNvSpPr>
              <a:spLocks/>
            </p:cNvSpPr>
            <p:nvPr/>
          </p:nvSpPr>
          <p:spPr bwMode="auto">
            <a:xfrm>
              <a:off x="3808" y="1783"/>
              <a:ext cx="129" cy="5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559" name="Freeform 159"/>
            <p:cNvSpPr>
              <a:spLocks/>
            </p:cNvSpPr>
            <p:nvPr/>
          </p:nvSpPr>
          <p:spPr bwMode="auto">
            <a:xfrm>
              <a:off x="3026" y="1387"/>
              <a:ext cx="531" cy="292"/>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6560" name="Freeform 160"/>
            <p:cNvSpPr>
              <a:spLocks/>
            </p:cNvSpPr>
            <p:nvPr/>
          </p:nvSpPr>
          <p:spPr bwMode="auto">
            <a:xfrm>
              <a:off x="3005" y="1578"/>
              <a:ext cx="106" cy="104"/>
            </a:xfrm>
            <a:custGeom>
              <a:avLst/>
              <a:gdLst>
                <a:gd name="T0" fmla="*/ 82 w 82"/>
                <a:gd name="T1" fmla="*/ 94 h 94"/>
                <a:gd name="T2" fmla="*/ 38 w 82"/>
                <a:gd name="T3" fmla="*/ 0 h 94"/>
                <a:gd name="T4" fmla="*/ 0 w 82"/>
                <a:gd name="T5" fmla="*/ 32 h 94"/>
                <a:gd name="T6" fmla="*/ 82 w 82"/>
                <a:gd name="T7" fmla="*/ 94 h 94"/>
              </a:gdLst>
              <a:ahLst/>
              <a:cxnLst>
                <a:cxn ang="0">
                  <a:pos x="T0" y="T1"/>
                </a:cxn>
                <a:cxn ang="0">
                  <a:pos x="T2" y="T3"/>
                </a:cxn>
                <a:cxn ang="0">
                  <a:pos x="T4" y="T5"/>
                </a:cxn>
                <a:cxn ang="0">
                  <a:pos x="T6" y="T7"/>
                </a:cxn>
              </a:cxnLst>
              <a:rect l="0" t="0" r="r" b="b"/>
              <a:pathLst>
                <a:path w="82" h="94">
                  <a:moveTo>
                    <a:pt x="82" y="94"/>
                  </a:moveTo>
                  <a:lnTo>
                    <a:pt x="38" y="0"/>
                  </a:lnTo>
                  <a:lnTo>
                    <a:pt x="0" y="32"/>
                  </a:lnTo>
                  <a:lnTo>
                    <a:pt x="82"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6561" name="Rectangle 161"/>
            <p:cNvSpPr>
              <a:spLocks noChangeArrowheads="1"/>
            </p:cNvSpPr>
            <p:nvPr/>
          </p:nvSpPr>
          <p:spPr bwMode="auto">
            <a:xfrm>
              <a:off x="2853" y="1228"/>
              <a:ext cx="99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 (no reflection)</a:t>
              </a:r>
              <a:endParaRPr lang="en-US" altLang="en-US" sz="3200"/>
            </a:p>
          </p:txBody>
        </p:sp>
        <p:sp>
          <p:nvSpPr>
            <p:cNvPr id="486568" name="Rectangle 168"/>
            <p:cNvSpPr>
              <a:spLocks noChangeArrowheads="1"/>
            </p:cNvSpPr>
            <p:nvPr/>
          </p:nvSpPr>
          <p:spPr bwMode="auto">
            <a:xfrm>
              <a:off x="3615" y="1631"/>
              <a:ext cx="77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 (reflection)</a:t>
              </a:r>
              <a:endParaRPr lang="en-US" altLang="en-US" sz="3200"/>
            </a:p>
          </p:txBody>
        </p:sp>
        <p:sp>
          <p:nvSpPr>
            <p:cNvPr id="486577" name="Rectangle 177"/>
            <p:cNvSpPr>
              <a:spLocks noChangeArrowheads="1"/>
            </p:cNvSpPr>
            <p:nvPr/>
          </p:nvSpPr>
          <p:spPr bwMode="auto">
            <a:xfrm>
              <a:off x="3975" y="1747"/>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grpSp>
      <p:sp>
        <p:nvSpPr>
          <p:cNvPr id="486578" name="Line 178"/>
          <p:cNvSpPr>
            <a:spLocks noChangeShapeType="1"/>
          </p:cNvSpPr>
          <p:nvPr/>
        </p:nvSpPr>
        <p:spPr bwMode="auto">
          <a:xfrm>
            <a:off x="160338" y="2357438"/>
            <a:ext cx="295275" cy="2190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6585" name="Text Box 185"/>
          <p:cNvSpPr txBox="1">
            <a:spLocks noChangeArrowheads="1"/>
          </p:cNvSpPr>
          <p:nvPr/>
        </p:nvSpPr>
        <p:spPr bwMode="auto">
          <a:xfrm>
            <a:off x="6600825" y="324485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486586" name="Rectangle 186"/>
          <p:cNvSpPr>
            <a:spLocks noChangeArrowheads="1"/>
          </p:cNvSpPr>
          <p:nvPr/>
        </p:nvSpPr>
        <p:spPr bwMode="auto">
          <a:xfrm>
            <a:off x="674688" y="1192213"/>
            <a:ext cx="22637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B, S (1 bit each)</a:t>
            </a:r>
            <a:endParaRPr lang="en-US" altLang="en-US" sz="3200"/>
          </a:p>
        </p:txBody>
      </p:sp>
      <p:sp>
        <p:nvSpPr>
          <p:cNvPr id="486587" name="Rectangle 187"/>
          <p:cNvSpPr>
            <a:spLocks noChangeArrowheads="1"/>
          </p:cNvSpPr>
          <p:nvPr/>
        </p:nvSpPr>
        <p:spPr bwMode="auto">
          <a:xfrm>
            <a:off x="3113088" y="1200150"/>
            <a:ext cx="2549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L (bit), D (16 bits)</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65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649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8658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86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649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Slide Number Placeholder 3"/>
          <p:cNvSpPr>
            <a:spLocks noGrp="1"/>
          </p:cNvSpPr>
          <p:nvPr>
            <p:ph type="sldNum" sz="quarter" idx="10"/>
          </p:nvPr>
        </p:nvSpPr>
        <p:spPr/>
        <p:txBody>
          <a:bodyPr/>
          <a:lstStyle/>
          <a:p>
            <a:fld id="{1D88A281-7231-421E-8A94-3AEFA90B827A}" type="slidenum">
              <a:rPr lang="en-US" altLang="en-US"/>
              <a:pPr/>
              <a:t>18</a:t>
            </a:fld>
            <a:endParaRPr lang="en-US" altLang="en-US"/>
          </a:p>
        </p:txBody>
      </p:sp>
      <p:sp>
        <p:nvSpPr>
          <p:cNvPr id="487426" name="Rectangle 2"/>
          <p:cNvSpPr>
            <a:spLocks noGrp="1" noChangeArrowheads="1"/>
          </p:cNvSpPr>
          <p:nvPr>
            <p:ph type="title"/>
          </p:nvPr>
        </p:nvSpPr>
        <p:spPr/>
        <p:txBody>
          <a:bodyPr/>
          <a:lstStyle/>
          <a:p>
            <a:r>
              <a:rPr lang="en-US" altLang="en-US"/>
              <a:t>Step 1 Example: </a:t>
            </a:r>
            <a:r>
              <a:rPr lang="en-US" altLang="en-US" sz="3200"/>
              <a:t>Laser-Based Distance Measurer</a:t>
            </a:r>
          </a:p>
        </p:txBody>
      </p:sp>
      <p:sp>
        <p:nvSpPr>
          <p:cNvPr id="487427" name="Rectangle 3"/>
          <p:cNvSpPr>
            <a:spLocks noGrp="1" noChangeArrowheads="1"/>
          </p:cNvSpPr>
          <p:nvPr>
            <p:ph type="body" idx="1"/>
          </p:nvPr>
        </p:nvSpPr>
        <p:spPr>
          <a:xfrm>
            <a:off x="90488" y="3946525"/>
            <a:ext cx="8939212" cy="2443163"/>
          </a:xfrm>
        </p:spPr>
        <p:txBody>
          <a:bodyPr/>
          <a:lstStyle/>
          <a:p>
            <a:r>
              <a:rPr lang="en-US" altLang="en-US"/>
              <a:t>Once reflection detected (S), go to new state </a:t>
            </a:r>
            <a:r>
              <a:rPr lang="en-US" altLang="en-US" b="1"/>
              <a:t>S4</a:t>
            </a:r>
          </a:p>
          <a:p>
            <a:pPr lvl="1"/>
            <a:r>
              <a:rPr lang="en-US" altLang="en-US"/>
              <a:t>Calculate distance </a:t>
            </a:r>
          </a:p>
          <a:p>
            <a:pPr lvl="1"/>
            <a:r>
              <a:rPr lang="en-US" altLang="en-US"/>
              <a:t>Assuming clock frequency is 3x10</a:t>
            </a:r>
            <a:r>
              <a:rPr lang="en-US" altLang="en-US" baseline="50000"/>
              <a:t>8</a:t>
            </a:r>
            <a:r>
              <a:rPr lang="en-US" altLang="en-US"/>
              <a:t>, </a:t>
            </a:r>
            <a:r>
              <a:rPr lang="en-US" altLang="en-US" i="1"/>
              <a:t>Dctr</a:t>
            </a:r>
            <a:r>
              <a:rPr lang="en-US" altLang="en-US"/>
              <a:t> holds number of meters, so D=Dctr/2</a:t>
            </a:r>
          </a:p>
          <a:p>
            <a:r>
              <a:rPr lang="en-US" altLang="en-US"/>
              <a:t>After </a:t>
            </a:r>
            <a:r>
              <a:rPr lang="en-US" altLang="en-US" b="1"/>
              <a:t>S4</a:t>
            </a:r>
            <a:r>
              <a:rPr lang="en-US" altLang="en-US"/>
              <a:t>, go back to </a:t>
            </a:r>
            <a:r>
              <a:rPr lang="en-US" altLang="en-US" b="1"/>
              <a:t>S1</a:t>
            </a:r>
            <a:r>
              <a:rPr lang="en-US" altLang="en-US"/>
              <a:t> to wait for button again</a:t>
            </a:r>
          </a:p>
        </p:txBody>
      </p:sp>
      <p:grpSp>
        <p:nvGrpSpPr>
          <p:cNvPr id="487428" name="Group 4"/>
          <p:cNvGrpSpPr>
            <a:grpSpLocks/>
          </p:cNvGrpSpPr>
          <p:nvPr/>
        </p:nvGrpSpPr>
        <p:grpSpPr bwMode="auto">
          <a:xfrm>
            <a:off x="6208713" y="1077913"/>
            <a:ext cx="2800350" cy="1114425"/>
            <a:chOff x="2500" y="1092"/>
            <a:chExt cx="2536" cy="876"/>
          </a:xfrm>
        </p:grpSpPr>
        <p:sp>
          <p:nvSpPr>
            <p:cNvPr id="487429" name="Line 5"/>
            <p:cNvSpPr>
              <a:spLocks noChangeShapeType="1"/>
            </p:cNvSpPr>
            <p:nvPr/>
          </p:nvSpPr>
          <p:spPr bwMode="auto">
            <a:xfrm>
              <a:off x="4066" y="1286"/>
              <a:ext cx="32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430" name="Freeform 6"/>
            <p:cNvSpPr>
              <a:spLocks/>
            </p:cNvSpPr>
            <p:nvPr/>
          </p:nvSpPr>
          <p:spPr bwMode="auto">
            <a:xfrm>
              <a:off x="4375" y="1261"/>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431" name="Line 7"/>
            <p:cNvSpPr>
              <a:spLocks noChangeShapeType="1"/>
            </p:cNvSpPr>
            <p:nvPr/>
          </p:nvSpPr>
          <p:spPr bwMode="auto">
            <a:xfrm flipH="1">
              <a:off x="4150" y="1705"/>
              <a:ext cx="32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432" name="Freeform 8"/>
            <p:cNvSpPr>
              <a:spLocks/>
            </p:cNvSpPr>
            <p:nvPr/>
          </p:nvSpPr>
          <p:spPr bwMode="auto">
            <a:xfrm>
              <a:off x="4066" y="1683"/>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433" name="Freeform 9"/>
            <p:cNvSpPr>
              <a:spLocks/>
            </p:cNvSpPr>
            <p:nvPr/>
          </p:nvSpPr>
          <p:spPr bwMode="auto">
            <a:xfrm>
              <a:off x="3028" y="1683"/>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434" name="Line 10"/>
            <p:cNvSpPr>
              <a:spLocks noChangeShapeType="1"/>
            </p:cNvSpPr>
            <p:nvPr/>
          </p:nvSpPr>
          <p:spPr bwMode="auto">
            <a:xfrm flipH="1">
              <a:off x="3103" y="1708"/>
              <a:ext cx="353"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435" name="Line 11"/>
            <p:cNvSpPr>
              <a:spLocks noChangeShapeType="1"/>
            </p:cNvSpPr>
            <p:nvPr/>
          </p:nvSpPr>
          <p:spPr bwMode="auto">
            <a:xfrm>
              <a:off x="3041" y="1286"/>
              <a:ext cx="328"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436" name="Freeform 12"/>
            <p:cNvSpPr>
              <a:spLocks/>
            </p:cNvSpPr>
            <p:nvPr/>
          </p:nvSpPr>
          <p:spPr bwMode="auto">
            <a:xfrm>
              <a:off x="3350" y="1261"/>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437" name="Rectangle 13"/>
            <p:cNvSpPr>
              <a:spLocks noChangeArrowheads="1"/>
            </p:cNvSpPr>
            <p:nvPr/>
          </p:nvSpPr>
          <p:spPr bwMode="auto">
            <a:xfrm>
              <a:off x="3512" y="1367"/>
              <a:ext cx="21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Lase</a:t>
              </a:r>
              <a:endParaRPr lang="en-US" altLang="en-US" sz="1800"/>
            </a:p>
          </p:txBody>
        </p:sp>
        <p:sp>
          <p:nvSpPr>
            <p:cNvPr id="487438" name="Rectangle 14"/>
            <p:cNvSpPr>
              <a:spLocks noChangeArrowheads="1"/>
            </p:cNvSpPr>
            <p:nvPr/>
          </p:nvSpPr>
          <p:spPr bwMode="auto">
            <a:xfrm>
              <a:off x="3696" y="1367"/>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487439" name="Rectangle 15"/>
            <p:cNvSpPr>
              <a:spLocks noChangeArrowheads="1"/>
            </p:cNvSpPr>
            <p:nvPr/>
          </p:nvSpPr>
          <p:spPr bwMode="auto">
            <a:xfrm>
              <a:off x="3728" y="1367"/>
              <a:ext cx="30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-based</a:t>
              </a:r>
              <a:endParaRPr lang="en-US" altLang="en-US" sz="1800"/>
            </a:p>
          </p:txBody>
        </p:sp>
        <p:sp>
          <p:nvSpPr>
            <p:cNvPr id="487440" name="Rectangle 16"/>
            <p:cNvSpPr>
              <a:spLocks noChangeArrowheads="1"/>
            </p:cNvSpPr>
            <p:nvPr/>
          </p:nvSpPr>
          <p:spPr bwMode="auto">
            <a:xfrm>
              <a:off x="3586" y="1481"/>
              <a:ext cx="274"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distan</a:t>
              </a:r>
              <a:endParaRPr lang="en-US" altLang="en-US" sz="1800"/>
            </a:p>
          </p:txBody>
        </p:sp>
        <p:sp>
          <p:nvSpPr>
            <p:cNvPr id="487441" name="Rectangle 17"/>
            <p:cNvSpPr>
              <a:spLocks noChangeArrowheads="1"/>
            </p:cNvSpPr>
            <p:nvPr/>
          </p:nvSpPr>
          <p:spPr bwMode="auto">
            <a:xfrm>
              <a:off x="3842" y="1481"/>
              <a:ext cx="5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a:t>
              </a:r>
              <a:endParaRPr lang="en-US" altLang="en-US" sz="1800"/>
            </a:p>
          </p:txBody>
        </p:sp>
        <p:sp>
          <p:nvSpPr>
            <p:cNvPr id="487442" name="Rectangle 18"/>
            <p:cNvSpPr>
              <a:spLocks noChangeArrowheads="1"/>
            </p:cNvSpPr>
            <p:nvPr/>
          </p:nvSpPr>
          <p:spPr bwMode="auto">
            <a:xfrm>
              <a:off x="3888" y="1481"/>
              <a:ext cx="5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a:t>
              </a:r>
              <a:endParaRPr lang="en-US" altLang="en-US" sz="1800"/>
            </a:p>
          </p:txBody>
        </p:sp>
        <p:sp>
          <p:nvSpPr>
            <p:cNvPr id="487443" name="Rectangle 19"/>
            <p:cNvSpPr>
              <a:spLocks noChangeArrowheads="1"/>
            </p:cNvSpPr>
            <p:nvPr/>
          </p:nvSpPr>
          <p:spPr bwMode="auto">
            <a:xfrm>
              <a:off x="3565" y="1592"/>
              <a:ext cx="29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measu</a:t>
              </a:r>
              <a:endParaRPr lang="en-US" altLang="en-US" sz="1800"/>
            </a:p>
          </p:txBody>
        </p:sp>
        <p:sp>
          <p:nvSpPr>
            <p:cNvPr id="487444" name="Rectangle 20"/>
            <p:cNvSpPr>
              <a:spLocks noChangeArrowheads="1"/>
            </p:cNvSpPr>
            <p:nvPr/>
          </p:nvSpPr>
          <p:spPr bwMode="auto">
            <a:xfrm>
              <a:off x="3842" y="1592"/>
              <a:ext cx="38"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487445" name="Rectangle 21"/>
            <p:cNvSpPr>
              <a:spLocks noChangeArrowheads="1"/>
            </p:cNvSpPr>
            <p:nvPr/>
          </p:nvSpPr>
          <p:spPr bwMode="auto">
            <a:xfrm>
              <a:off x="3873" y="1592"/>
              <a:ext cx="91"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er</a:t>
              </a:r>
              <a:endParaRPr lang="en-US" altLang="en-US" sz="1800"/>
            </a:p>
          </p:txBody>
        </p:sp>
        <p:sp>
          <p:nvSpPr>
            <p:cNvPr id="487446" name="Rectangle 22"/>
            <p:cNvSpPr>
              <a:spLocks noChangeArrowheads="1"/>
            </p:cNvSpPr>
            <p:nvPr/>
          </p:nvSpPr>
          <p:spPr bwMode="auto">
            <a:xfrm>
              <a:off x="3456" y="1092"/>
              <a:ext cx="610" cy="876"/>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7447" name="Line 23"/>
            <p:cNvSpPr>
              <a:spLocks noChangeShapeType="1"/>
            </p:cNvSpPr>
            <p:nvPr/>
          </p:nvSpPr>
          <p:spPr bwMode="auto">
            <a:xfrm flipH="1">
              <a:off x="3244" y="1668"/>
              <a:ext cx="87" cy="8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448" name="Rectangle 24"/>
            <p:cNvSpPr>
              <a:spLocks noChangeArrowheads="1"/>
            </p:cNvSpPr>
            <p:nvPr/>
          </p:nvSpPr>
          <p:spPr bwMode="auto">
            <a:xfrm>
              <a:off x="3241" y="1556"/>
              <a:ext cx="115"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16</a:t>
              </a:r>
              <a:endParaRPr lang="en-US" altLang="en-US" sz="1800"/>
            </a:p>
          </p:txBody>
        </p:sp>
        <p:sp>
          <p:nvSpPr>
            <p:cNvPr id="487449" name="Rectangle 25"/>
            <p:cNvSpPr>
              <a:spLocks noChangeArrowheads="1"/>
            </p:cNvSpPr>
            <p:nvPr/>
          </p:nvSpPr>
          <p:spPr bwMode="auto">
            <a:xfrm>
              <a:off x="2500" y="1221"/>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f</a:t>
              </a:r>
              <a:endParaRPr lang="en-US" altLang="en-US" sz="1800"/>
            </a:p>
          </p:txBody>
        </p:sp>
        <p:sp>
          <p:nvSpPr>
            <p:cNvPr id="487450" name="Rectangle 26"/>
            <p:cNvSpPr>
              <a:spLocks noChangeArrowheads="1"/>
            </p:cNvSpPr>
            <p:nvPr/>
          </p:nvSpPr>
          <p:spPr bwMode="auto">
            <a:xfrm>
              <a:off x="2529" y="1221"/>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487451" name="Rectangle 27"/>
            <p:cNvSpPr>
              <a:spLocks noChangeArrowheads="1"/>
            </p:cNvSpPr>
            <p:nvPr/>
          </p:nvSpPr>
          <p:spPr bwMode="auto">
            <a:xfrm>
              <a:off x="2560" y="1221"/>
              <a:ext cx="32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om but</a:t>
              </a:r>
              <a:endParaRPr lang="en-US" altLang="en-US" sz="1800"/>
            </a:p>
          </p:txBody>
        </p:sp>
        <p:sp>
          <p:nvSpPr>
            <p:cNvPr id="487452" name="Rectangle 28"/>
            <p:cNvSpPr>
              <a:spLocks noChangeArrowheads="1"/>
            </p:cNvSpPr>
            <p:nvPr/>
          </p:nvSpPr>
          <p:spPr bwMode="auto">
            <a:xfrm>
              <a:off x="2865" y="1221"/>
              <a:ext cx="3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a:t>
              </a:r>
              <a:endParaRPr lang="en-US" altLang="en-US" sz="1800"/>
            </a:p>
          </p:txBody>
        </p:sp>
        <p:sp>
          <p:nvSpPr>
            <p:cNvPr id="487453" name="Rectangle 29"/>
            <p:cNvSpPr>
              <a:spLocks noChangeArrowheads="1"/>
            </p:cNvSpPr>
            <p:nvPr/>
          </p:nvSpPr>
          <p:spPr bwMode="auto">
            <a:xfrm>
              <a:off x="2898" y="1221"/>
              <a:ext cx="11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on</a:t>
              </a:r>
              <a:endParaRPr lang="en-US" altLang="en-US" sz="1800"/>
            </a:p>
          </p:txBody>
        </p:sp>
        <p:sp>
          <p:nvSpPr>
            <p:cNvPr id="487454" name="Rectangle 30"/>
            <p:cNvSpPr>
              <a:spLocks noChangeArrowheads="1"/>
            </p:cNvSpPr>
            <p:nvPr/>
          </p:nvSpPr>
          <p:spPr bwMode="auto">
            <a:xfrm>
              <a:off x="2605" y="1642"/>
              <a:ext cx="3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a:t>
              </a:r>
              <a:endParaRPr lang="en-US" altLang="en-US" sz="1800"/>
            </a:p>
          </p:txBody>
        </p:sp>
        <p:sp>
          <p:nvSpPr>
            <p:cNvPr id="487455" name="Rectangle 31"/>
            <p:cNvSpPr>
              <a:spLocks noChangeArrowheads="1"/>
            </p:cNvSpPr>
            <p:nvPr/>
          </p:nvSpPr>
          <p:spPr bwMode="auto">
            <a:xfrm>
              <a:off x="2638" y="1642"/>
              <a:ext cx="309"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 displ</a:t>
              </a:r>
              <a:endParaRPr lang="en-US" altLang="en-US" sz="1800"/>
            </a:p>
          </p:txBody>
        </p:sp>
        <p:sp>
          <p:nvSpPr>
            <p:cNvPr id="487456" name="Rectangle 32"/>
            <p:cNvSpPr>
              <a:spLocks noChangeArrowheads="1"/>
            </p:cNvSpPr>
            <p:nvPr/>
          </p:nvSpPr>
          <p:spPr bwMode="auto">
            <a:xfrm>
              <a:off x="2914" y="1642"/>
              <a:ext cx="52"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a:t>
              </a:r>
              <a:endParaRPr lang="en-US" altLang="en-US" sz="1800"/>
            </a:p>
          </p:txBody>
        </p:sp>
        <p:sp>
          <p:nvSpPr>
            <p:cNvPr id="487457" name="Rectangle 33"/>
            <p:cNvSpPr>
              <a:spLocks noChangeArrowheads="1"/>
            </p:cNvSpPr>
            <p:nvPr/>
          </p:nvSpPr>
          <p:spPr bwMode="auto">
            <a:xfrm>
              <a:off x="2962" y="1642"/>
              <a:ext cx="57"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y</a:t>
              </a:r>
              <a:endParaRPr lang="en-US" altLang="en-US" sz="1800"/>
            </a:p>
          </p:txBody>
        </p:sp>
        <p:sp>
          <p:nvSpPr>
            <p:cNvPr id="487458" name="Rectangle 34"/>
            <p:cNvSpPr>
              <a:spLocks noChangeArrowheads="1"/>
            </p:cNvSpPr>
            <p:nvPr/>
          </p:nvSpPr>
          <p:spPr bwMode="auto">
            <a:xfrm>
              <a:off x="4418" y="1561"/>
              <a:ext cx="6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a:t>
              </a:r>
              <a:endParaRPr lang="en-US" altLang="en-US" sz="1800"/>
            </a:p>
          </p:txBody>
        </p:sp>
        <p:sp>
          <p:nvSpPr>
            <p:cNvPr id="487459" name="Rectangle 35"/>
            <p:cNvSpPr>
              <a:spLocks noChangeArrowheads="1"/>
            </p:cNvSpPr>
            <p:nvPr/>
          </p:nvSpPr>
          <p:spPr bwMode="auto">
            <a:xfrm>
              <a:off x="4420" y="1159"/>
              <a:ext cx="70"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L</a:t>
              </a:r>
              <a:endParaRPr lang="en-US" altLang="en-US" sz="1800"/>
            </a:p>
          </p:txBody>
        </p:sp>
        <p:sp>
          <p:nvSpPr>
            <p:cNvPr id="487460" name="Rectangle 36"/>
            <p:cNvSpPr>
              <a:spLocks noChangeArrowheads="1"/>
            </p:cNvSpPr>
            <p:nvPr/>
          </p:nvSpPr>
          <p:spPr bwMode="auto">
            <a:xfrm>
              <a:off x="3038" y="1561"/>
              <a:ext cx="83"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
              </a:r>
              <a:endParaRPr lang="en-US" altLang="en-US" sz="1800"/>
            </a:p>
          </p:txBody>
        </p:sp>
        <p:sp>
          <p:nvSpPr>
            <p:cNvPr id="487461" name="Rectangle 37"/>
            <p:cNvSpPr>
              <a:spLocks noChangeArrowheads="1"/>
            </p:cNvSpPr>
            <p:nvPr/>
          </p:nvSpPr>
          <p:spPr bwMode="auto">
            <a:xfrm>
              <a:off x="3049" y="1159"/>
              <a:ext cx="76" cy="1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B</a:t>
              </a:r>
              <a:endParaRPr lang="en-US" altLang="en-US" sz="1800"/>
            </a:p>
          </p:txBody>
        </p:sp>
        <p:sp>
          <p:nvSpPr>
            <p:cNvPr id="487462" name="Rectangle 38"/>
            <p:cNvSpPr>
              <a:spLocks noChangeArrowheads="1"/>
            </p:cNvSpPr>
            <p:nvPr/>
          </p:nvSpPr>
          <p:spPr bwMode="auto">
            <a:xfrm>
              <a:off x="4503" y="1231"/>
              <a:ext cx="32"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a:t>
              </a:r>
              <a:endParaRPr lang="en-US" altLang="en-US" sz="1800"/>
            </a:p>
          </p:txBody>
        </p:sp>
        <p:sp>
          <p:nvSpPr>
            <p:cNvPr id="487463" name="Rectangle 39"/>
            <p:cNvSpPr>
              <a:spLocks noChangeArrowheads="1"/>
            </p:cNvSpPr>
            <p:nvPr/>
          </p:nvSpPr>
          <p:spPr bwMode="auto">
            <a:xfrm>
              <a:off x="4537" y="1231"/>
              <a:ext cx="305"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 laser</a:t>
              </a:r>
              <a:endParaRPr lang="en-US" altLang="en-US" sz="1800"/>
            </a:p>
          </p:txBody>
        </p:sp>
        <p:sp>
          <p:nvSpPr>
            <p:cNvPr id="487464" name="Rectangle 40"/>
            <p:cNvSpPr>
              <a:spLocks noChangeArrowheads="1"/>
            </p:cNvSpPr>
            <p:nvPr/>
          </p:nvSpPr>
          <p:spPr bwMode="auto">
            <a:xfrm>
              <a:off x="4503" y="1649"/>
              <a:ext cx="39"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f</a:t>
              </a:r>
              <a:endParaRPr lang="en-US" altLang="en-US" sz="1800"/>
            </a:p>
          </p:txBody>
        </p:sp>
        <p:sp>
          <p:nvSpPr>
            <p:cNvPr id="487465" name="Rectangle 41"/>
            <p:cNvSpPr>
              <a:spLocks noChangeArrowheads="1"/>
            </p:cNvSpPr>
            <p:nvPr/>
          </p:nvSpPr>
          <p:spPr bwMode="auto">
            <a:xfrm>
              <a:off x="4535" y="1649"/>
              <a:ext cx="38"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487466" name="Rectangle 42"/>
            <p:cNvSpPr>
              <a:spLocks noChangeArrowheads="1"/>
            </p:cNvSpPr>
            <p:nvPr/>
          </p:nvSpPr>
          <p:spPr bwMode="auto">
            <a:xfrm>
              <a:off x="4566" y="1649"/>
              <a:ext cx="470" cy="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om sensor</a:t>
              </a:r>
              <a:endParaRPr lang="en-US" altLang="en-US" sz="1800"/>
            </a:p>
          </p:txBody>
        </p:sp>
      </p:grpSp>
      <p:sp>
        <p:nvSpPr>
          <p:cNvPr id="487585" name="Rectangle 161"/>
          <p:cNvSpPr>
            <a:spLocks noChangeArrowheads="1"/>
          </p:cNvSpPr>
          <p:nvPr/>
        </p:nvSpPr>
        <p:spPr bwMode="auto">
          <a:xfrm>
            <a:off x="1006475" y="3040063"/>
            <a:ext cx="230188"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S0</a:t>
            </a:r>
            <a:endParaRPr lang="en-US" altLang="en-US" sz="3200"/>
          </a:p>
        </p:txBody>
      </p:sp>
      <p:sp>
        <p:nvSpPr>
          <p:cNvPr id="487586" name="Oval 162"/>
          <p:cNvSpPr>
            <a:spLocks noChangeArrowheads="1"/>
          </p:cNvSpPr>
          <p:nvPr/>
        </p:nvSpPr>
        <p:spPr bwMode="auto">
          <a:xfrm>
            <a:off x="649288" y="2894013"/>
            <a:ext cx="911225" cy="4508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7587" name="Line 163"/>
          <p:cNvSpPr>
            <a:spLocks noChangeShapeType="1"/>
          </p:cNvSpPr>
          <p:nvPr/>
        </p:nvSpPr>
        <p:spPr bwMode="auto">
          <a:xfrm>
            <a:off x="1570038" y="3124200"/>
            <a:ext cx="461962"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588" name="Freeform 164"/>
          <p:cNvSpPr>
            <a:spLocks/>
          </p:cNvSpPr>
          <p:nvPr/>
        </p:nvSpPr>
        <p:spPr bwMode="auto">
          <a:xfrm>
            <a:off x="1990725" y="3086100"/>
            <a:ext cx="220663" cy="7620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589" name="Line 165"/>
          <p:cNvSpPr>
            <a:spLocks noChangeShapeType="1"/>
          </p:cNvSpPr>
          <p:nvPr/>
        </p:nvSpPr>
        <p:spPr bwMode="auto">
          <a:xfrm>
            <a:off x="3125788" y="3124200"/>
            <a:ext cx="476250"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590" name="Freeform 166"/>
          <p:cNvSpPr>
            <a:spLocks/>
          </p:cNvSpPr>
          <p:nvPr/>
        </p:nvSpPr>
        <p:spPr bwMode="auto">
          <a:xfrm>
            <a:off x="3562350" y="3086100"/>
            <a:ext cx="220663" cy="7620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591" name="Rectangle 167"/>
          <p:cNvSpPr>
            <a:spLocks noChangeArrowheads="1"/>
          </p:cNvSpPr>
          <p:nvPr/>
        </p:nvSpPr>
        <p:spPr bwMode="auto">
          <a:xfrm>
            <a:off x="2568575" y="3040063"/>
            <a:ext cx="2270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S1</a:t>
            </a:r>
            <a:endParaRPr lang="en-US" altLang="en-US" sz="3200"/>
          </a:p>
        </p:txBody>
      </p:sp>
      <p:sp>
        <p:nvSpPr>
          <p:cNvPr id="487592" name="Rectangle 168"/>
          <p:cNvSpPr>
            <a:spLocks noChangeArrowheads="1"/>
          </p:cNvSpPr>
          <p:nvPr/>
        </p:nvSpPr>
        <p:spPr bwMode="auto">
          <a:xfrm>
            <a:off x="4146550" y="3040063"/>
            <a:ext cx="2270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S2</a:t>
            </a:r>
            <a:endParaRPr lang="en-US" altLang="en-US" sz="3200"/>
          </a:p>
        </p:txBody>
      </p:sp>
      <p:sp>
        <p:nvSpPr>
          <p:cNvPr id="487593" name="Oval 169"/>
          <p:cNvSpPr>
            <a:spLocks noChangeArrowheads="1"/>
          </p:cNvSpPr>
          <p:nvPr/>
        </p:nvSpPr>
        <p:spPr bwMode="auto">
          <a:xfrm>
            <a:off x="3789363" y="2894013"/>
            <a:ext cx="912812" cy="4508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7594" name="Line 170"/>
          <p:cNvSpPr>
            <a:spLocks noChangeShapeType="1"/>
          </p:cNvSpPr>
          <p:nvPr/>
        </p:nvSpPr>
        <p:spPr bwMode="auto">
          <a:xfrm>
            <a:off x="4708525" y="3124200"/>
            <a:ext cx="465138"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595" name="Freeform 171"/>
          <p:cNvSpPr>
            <a:spLocks/>
          </p:cNvSpPr>
          <p:nvPr/>
        </p:nvSpPr>
        <p:spPr bwMode="auto">
          <a:xfrm>
            <a:off x="5130800" y="3086100"/>
            <a:ext cx="222250" cy="7620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596" name="Line 172"/>
          <p:cNvSpPr>
            <a:spLocks noChangeShapeType="1"/>
          </p:cNvSpPr>
          <p:nvPr/>
        </p:nvSpPr>
        <p:spPr bwMode="auto">
          <a:xfrm>
            <a:off x="6272213" y="3124200"/>
            <a:ext cx="457200"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597" name="Freeform 173"/>
          <p:cNvSpPr>
            <a:spLocks/>
          </p:cNvSpPr>
          <p:nvPr/>
        </p:nvSpPr>
        <p:spPr bwMode="auto">
          <a:xfrm>
            <a:off x="6686550" y="3086100"/>
            <a:ext cx="222250" cy="7620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598" name="Rectangle 174"/>
          <p:cNvSpPr>
            <a:spLocks noChangeArrowheads="1"/>
          </p:cNvSpPr>
          <p:nvPr/>
        </p:nvSpPr>
        <p:spPr bwMode="auto">
          <a:xfrm>
            <a:off x="5708650" y="3040063"/>
            <a:ext cx="2286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S3</a:t>
            </a:r>
            <a:endParaRPr lang="en-US" altLang="en-US" sz="3200"/>
          </a:p>
        </p:txBody>
      </p:sp>
      <p:sp>
        <p:nvSpPr>
          <p:cNvPr id="487599" name="Freeform 175"/>
          <p:cNvSpPr>
            <a:spLocks/>
          </p:cNvSpPr>
          <p:nvPr/>
        </p:nvSpPr>
        <p:spPr bwMode="auto">
          <a:xfrm>
            <a:off x="2211388" y="2538413"/>
            <a:ext cx="914400" cy="403225"/>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7600" name="Freeform 176"/>
          <p:cNvSpPr>
            <a:spLocks/>
          </p:cNvSpPr>
          <p:nvPr/>
        </p:nvSpPr>
        <p:spPr bwMode="auto">
          <a:xfrm>
            <a:off x="2178050" y="2803525"/>
            <a:ext cx="179388" cy="144463"/>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601" name="Freeform 177"/>
          <p:cNvSpPr>
            <a:spLocks/>
          </p:cNvSpPr>
          <p:nvPr/>
        </p:nvSpPr>
        <p:spPr bwMode="auto">
          <a:xfrm>
            <a:off x="581025" y="2816225"/>
            <a:ext cx="206375" cy="134938"/>
          </a:xfrm>
          <a:custGeom>
            <a:avLst/>
            <a:gdLst>
              <a:gd name="T0" fmla="*/ 93 w 93"/>
              <a:gd name="T1" fmla="*/ 88 h 88"/>
              <a:gd name="T2" fmla="*/ 34 w 93"/>
              <a:gd name="T3" fmla="*/ 0 h 88"/>
              <a:gd name="T4" fmla="*/ 0 w 93"/>
              <a:gd name="T5" fmla="*/ 38 h 88"/>
              <a:gd name="T6" fmla="*/ 93 w 93"/>
              <a:gd name="T7" fmla="*/ 88 h 88"/>
            </a:gdLst>
            <a:ahLst/>
            <a:cxnLst>
              <a:cxn ang="0">
                <a:pos x="T0" y="T1"/>
              </a:cxn>
              <a:cxn ang="0">
                <a:pos x="T2" y="T3"/>
              </a:cxn>
              <a:cxn ang="0">
                <a:pos x="T4" y="T5"/>
              </a:cxn>
              <a:cxn ang="0">
                <a:pos x="T6" y="T7"/>
              </a:cxn>
            </a:cxnLst>
            <a:rect l="0" t="0" r="r" b="b"/>
            <a:pathLst>
              <a:path w="93" h="88">
                <a:moveTo>
                  <a:pt x="93" y="88"/>
                </a:moveTo>
                <a:lnTo>
                  <a:pt x="34" y="0"/>
                </a:lnTo>
                <a:lnTo>
                  <a:pt x="0" y="38"/>
                </a:lnTo>
                <a:lnTo>
                  <a:pt x="93"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602" name="Rectangle 178"/>
          <p:cNvSpPr>
            <a:spLocks noChangeArrowheads="1"/>
          </p:cNvSpPr>
          <p:nvPr/>
        </p:nvSpPr>
        <p:spPr bwMode="auto">
          <a:xfrm>
            <a:off x="914400" y="3416300"/>
            <a:ext cx="4699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0</a:t>
            </a:r>
            <a:endParaRPr lang="en-US" altLang="en-US" sz="3200"/>
          </a:p>
        </p:txBody>
      </p:sp>
      <p:sp>
        <p:nvSpPr>
          <p:cNvPr id="487603" name="Rectangle 179"/>
          <p:cNvSpPr>
            <a:spLocks noChangeArrowheads="1"/>
          </p:cNvSpPr>
          <p:nvPr/>
        </p:nvSpPr>
        <p:spPr bwMode="auto">
          <a:xfrm>
            <a:off x="892175" y="3587750"/>
            <a:ext cx="49371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0</a:t>
            </a:r>
            <a:endParaRPr lang="en-US" altLang="en-US" sz="3200"/>
          </a:p>
        </p:txBody>
      </p:sp>
      <p:sp>
        <p:nvSpPr>
          <p:cNvPr id="487604" name="Rectangle 180"/>
          <p:cNvSpPr>
            <a:spLocks noChangeArrowheads="1"/>
          </p:cNvSpPr>
          <p:nvPr/>
        </p:nvSpPr>
        <p:spPr bwMode="auto">
          <a:xfrm>
            <a:off x="4067175" y="3417888"/>
            <a:ext cx="46831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 = 1</a:t>
            </a:r>
            <a:endParaRPr lang="en-US" altLang="en-US" sz="3200"/>
          </a:p>
        </p:txBody>
      </p:sp>
      <p:sp>
        <p:nvSpPr>
          <p:cNvPr id="487605" name="Rectangle 181"/>
          <p:cNvSpPr>
            <a:spLocks noChangeArrowheads="1"/>
          </p:cNvSpPr>
          <p:nvPr/>
        </p:nvSpPr>
        <p:spPr bwMode="auto">
          <a:xfrm>
            <a:off x="5703888" y="3417888"/>
            <a:ext cx="36036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L=0</a:t>
            </a:r>
            <a:endParaRPr lang="en-US" altLang="en-US" sz="3200"/>
          </a:p>
        </p:txBody>
      </p:sp>
      <p:sp>
        <p:nvSpPr>
          <p:cNvPr id="487606" name="Rectangle 182"/>
          <p:cNvSpPr>
            <a:spLocks noChangeArrowheads="1"/>
          </p:cNvSpPr>
          <p:nvPr/>
        </p:nvSpPr>
        <p:spPr bwMode="auto">
          <a:xfrm>
            <a:off x="5248275" y="3587750"/>
            <a:ext cx="14033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Dctr = Dctr + 1</a:t>
            </a:r>
            <a:endParaRPr lang="en-US" altLang="en-US" sz="3200"/>
          </a:p>
        </p:txBody>
      </p:sp>
      <p:sp>
        <p:nvSpPr>
          <p:cNvPr id="487622" name="Rectangle 198"/>
          <p:cNvSpPr>
            <a:spLocks noChangeArrowheads="1"/>
          </p:cNvSpPr>
          <p:nvPr/>
        </p:nvSpPr>
        <p:spPr bwMode="auto">
          <a:xfrm>
            <a:off x="2301875" y="3417888"/>
            <a:ext cx="7620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Dctr = 0</a:t>
            </a:r>
            <a:endParaRPr lang="en-US" altLang="en-US" sz="3200"/>
          </a:p>
        </p:txBody>
      </p:sp>
      <p:sp>
        <p:nvSpPr>
          <p:cNvPr id="487625" name="Rectangle 201"/>
          <p:cNvSpPr>
            <a:spLocks noChangeArrowheads="1"/>
          </p:cNvSpPr>
          <p:nvPr/>
        </p:nvSpPr>
        <p:spPr bwMode="auto">
          <a:xfrm>
            <a:off x="2605088" y="2298700"/>
            <a:ext cx="192087"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487627" name="Freeform 203"/>
          <p:cNvSpPr>
            <a:spLocks/>
          </p:cNvSpPr>
          <p:nvPr/>
        </p:nvSpPr>
        <p:spPr bwMode="auto">
          <a:xfrm>
            <a:off x="5345113" y="2538413"/>
            <a:ext cx="912812" cy="403225"/>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7628" name="Freeform 204"/>
          <p:cNvSpPr>
            <a:spLocks/>
          </p:cNvSpPr>
          <p:nvPr/>
        </p:nvSpPr>
        <p:spPr bwMode="auto">
          <a:xfrm>
            <a:off x="5310188" y="2803525"/>
            <a:ext cx="179387" cy="144463"/>
          </a:xfrm>
          <a:custGeom>
            <a:avLst/>
            <a:gdLst>
              <a:gd name="T0" fmla="*/ 81 w 81"/>
              <a:gd name="T1" fmla="*/ 94 h 94"/>
              <a:gd name="T2" fmla="*/ 38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8"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629" name="Rectangle 205"/>
          <p:cNvSpPr>
            <a:spLocks noChangeArrowheads="1"/>
          </p:cNvSpPr>
          <p:nvPr/>
        </p:nvSpPr>
        <p:spPr bwMode="auto">
          <a:xfrm>
            <a:off x="5724525" y="2282825"/>
            <a:ext cx="192088"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a:t>
            </a:r>
            <a:endParaRPr lang="en-US" altLang="en-US" sz="3200"/>
          </a:p>
        </p:txBody>
      </p:sp>
      <p:sp>
        <p:nvSpPr>
          <p:cNvPr id="487631" name="Rectangle 207"/>
          <p:cNvSpPr>
            <a:spLocks noChangeArrowheads="1"/>
          </p:cNvSpPr>
          <p:nvPr/>
        </p:nvSpPr>
        <p:spPr bwMode="auto">
          <a:xfrm>
            <a:off x="3321050" y="3162300"/>
            <a:ext cx="14287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487632" name="Rectangle 208"/>
          <p:cNvSpPr>
            <a:spLocks noChangeArrowheads="1"/>
          </p:cNvSpPr>
          <p:nvPr/>
        </p:nvSpPr>
        <p:spPr bwMode="auto">
          <a:xfrm>
            <a:off x="6451600" y="316230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a:t>
            </a:r>
            <a:endParaRPr lang="en-US" altLang="en-US" sz="3200"/>
          </a:p>
        </p:txBody>
      </p:sp>
      <p:sp>
        <p:nvSpPr>
          <p:cNvPr id="487633" name="Oval 209"/>
          <p:cNvSpPr>
            <a:spLocks noChangeArrowheads="1"/>
          </p:cNvSpPr>
          <p:nvPr/>
        </p:nvSpPr>
        <p:spPr bwMode="auto">
          <a:xfrm>
            <a:off x="5353050" y="2894013"/>
            <a:ext cx="911225" cy="4508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87643" name="Group 219"/>
          <p:cNvGrpSpPr>
            <a:grpSpLocks/>
          </p:cNvGrpSpPr>
          <p:nvPr/>
        </p:nvGrpSpPr>
        <p:grpSpPr bwMode="auto">
          <a:xfrm>
            <a:off x="6859588" y="2894013"/>
            <a:ext cx="1212850" cy="952500"/>
            <a:chOff x="4321" y="1823"/>
            <a:chExt cx="764" cy="600"/>
          </a:xfrm>
        </p:grpSpPr>
        <p:sp>
          <p:nvSpPr>
            <p:cNvPr id="487612" name="Rectangle 188"/>
            <p:cNvSpPr>
              <a:spLocks noChangeArrowheads="1"/>
            </p:cNvSpPr>
            <p:nvPr/>
          </p:nvSpPr>
          <p:spPr bwMode="auto">
            <a:xfrm>
              <a:off x="4378" y="2153"/>
              <a:ext cx="69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Dctr / 2</a:t>
              </a:r>
              <a:endParaRPr lang="en-US" altLang="en-US" sz="3200"/>
            </a:p>
          </p:txBody>
        </p:sp>
        <p:sp>
          <p:nvSpPr>
            <p:cNvPr id="487616" name="Rectangle 192"/>
            <p:cNvSpPr>
              <a:spLocks noChangeArrowheads="1"/>
            </p:cNvSpPr>
            <p:nvPr/>
          </p:nvSpPr>
          <p:spPr bwMode="auto">
            <a:xfrm>
              <a:off x="4321" y="2260"/>
              <a:ext cx="76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(calculate D)</a:t>
              </a:r>
              <a:endParaRPr lang="en-US" altLang="en-US" sz="3200"/>
            </a:p>
          </p:txBody>
        </p:sp>
        <p:sp>
          <p:nvSpPr>
            <p:cNvPr id="487634" name="Rectangle 210"/>
            <p:cNvSpPr>
              <a:spLocks noChangeArrowheads="1"/>
            </p:cNvSpPr>
            <p:nvPr/>
          </p:nvSpPr>
          <p:spPr bwMode="auto">
            <a:xfrm>
              <a:off x="4580" y="1915"/>
              <a:ext cx="1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S4</a:t>
              </a:r>
              <a:endParaRPr lang="en-US" altLang="en-US" sz="3200"/>
            </a:p>
          </p:txBody>
        </p:sp>
        <p:sp>
          <p:nvSpPr>
            <p:cNvPr id="487635" name="Oval 211"/>
            <p:cNvSpPr>
              <a:spLocks noChangeArrowheads="1"/>
            </p:cNvSpPr>
            <p:nvPr/>
          </p:nvSpPr>
          <p:spPr bwMode="auto">
            <a:xfrm>
              <a:off x="4356" y="1823"/>
              <a:ext cx="575" cy="284"/>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87636" name="Oval 212"/>
          <p:cNvSpPr>
            <a:spLocks noChangeArrowheads="1"/>
          </p:cNvSpPr>
          <p:nvPr/>
        </p:nvSpPr>
        <p:spPr bwMode="auto">
          <a:xfrm>
            <a:off x="2211388" y="2894013"/>
            <a:ext cx="914400" cy="4508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7637" name="Freeform 213"/>
          <p:cNvSpPr>
            <a:spLocks/>
          </p:cNvSpPr>
          <p:nvPr/>
        </p:nvSpPr>
        <p:spPr bwMode="auto">
          <a:xfrm>
            <a:off x="3084513" y="2870200"/>
            <a:ext cx="192087" cy="138113"/>
          </a:xfrm>
          <a:custGeom>
            <a:avLst/>
            <a:gdLst>
              <a:gd name="T0" fmla="*/ 0 w 87"/>
              <a:gd name="T1" fmla="*/ 90 h 90"/>
              <a:gd name="T2" fmla="*/ 87 w 87"/>
              <a:gd name="T3" fmla="*/ 34 h 90"/>
              <a:gd name="T4" fmla="*/ 50 w 87"/>
              <a:gd name="T5" fmla="*/ 0 h 90"/>
              <a:gd name="T6" fmla="*/ 0 w 87"/>
              <a:gd name="T7" fmla="*/ 90 h 90"/>
            </a:gdLst>
            <a:ahLst/>
            <a:cxnLst>
              <a:cxn ang="0">
                <a:pos x="T0" y="T1"/>
              </a:cxn>
              <a:cxn ang="0">
                <a:pos x="T2" y="T3"/>
              </a:cxn>
              <a:cxn ang="0">
                <a:pos x="T4" y="T5"/>
              </a:cxn>
              <a:cxn ang="0">
                <a:pos x="T6" y="T7"/>
              </a:cxn>
            </a:cxnLst>
            <a:rect l="0" t="0" r="r" b="b"/>
            <a:pathLst>
              <a:path w="87" h="90">
                <a:moveTo>
                  <a:pt x="0" y="90"/>
                </a:moveTo>
                <a:lnTo>
                  <a:pt x="87" y="34"/>
                </a:lnTo>
                <a:lnTo>
                  <a:pt x="50" y="0"/>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7638" name="Freeform 214"/>
          <p:cNvSpPr>
            <a:spLocks/>
          </p:cNvSpPr>
          <p:nvPr/>
        </p:nvSpPr>
        <p:spPr bwMode="auto">
          <a:xfrm>
            <a:off x="3159125" y="1219200"/>
            <a:ext cx="4038600" cy="1728788"/>
          </a:xfrm>
          <a:custGeom>
            <a:avLst/>
            <a:gdLst>
              <a:gd name="T0" fmla="*/ 584 w 584"/>
              <a:gd name="T1" fmla="*/ 350 h 360"/>
              <a:gd name="T2" fmla="*/ 0 w 584"/>
              <a:gd name="T3" fmla="*/ 360 h 360"/>
            </a:gdLst>
            <a:ahLst/>
            <a:cxnLst>
              <a:cxn ang="0">
                <a:pos x="T0" y="T1"/>
              </a:cxn>
              <a:cxn ang="0">
                <a:pos x="T2" y="T3"/>
              </a:cxn>
            </a:cxnLst>
            <a:rect l="0" t="0" r="r" b="b"/>
            <a:pathLst>
              <a:path w="584" h="360">
                <a:moveTo>
                  <a:pt x="584" y="350"/>
                </a:moveTo>
                <a:cubicBezTo>
                  <a:pt x="584" y="350"/>
                  <a:pt x="346" y="0"/>
                  <a:pt x="0" y="360"/>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7639" name="Line 215"/>
          <p:cNvSpPr>
            <a:spLocks noChangeShapeType="1"/>
          </p:cNvSpPr>
          <p:nvPr/>
        </p:nvSpPr>
        <p:spPr bwMode="auto">
          <a:xfrm>
            <a:off x="317500" y="2671763"/>
            <a:ext cx="319088" cy="1920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7642" name="Text Box 218"/>
          <p:cNvSpPr txBox="1">
            <a:spLocks noChangeArrowheads="1"/>
          </p:cNvSpPr>
          <p:nvPr/>
        </p:nvSpPr>
        <p:spPr bwMode="auto">
          <a:xfrm>
            <a:off x="8067675" y="28305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487644" name="Rectangle 220"/>
          <p:cNvSpPr>
            <a:spLocks noChangeArrowheads="1"/>
          </p:cNvSpPr>
          <p:nvPr/>
        </p:nvSpPr>
        <p:spPr bwMode="auto">
          <a:xfrm>
            <a:off x="1931988" y="1709738"/>
            <a:ext cx="28479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Local Registers: Dctr (16 bits)</a:t>
            </a:r>
            <a:endParaRPr lang="en-US" altLang="en-US" sz="3200"/>
          </a:p>
        </p:txBody>
      </p:sp>
      <p:sp>
        <p:nvSpPr>
          <p:cNvPr id="487645" name="Rectangle 221"/>
          <p:cNvSpPr>
            <a:spLocks noChangeArrowheads="1"/>
          </p:cNvSpPr>
          <p:nvPr/>
        </p:nvSpPr>
        <p:spPr bwMode="auto">
          <a:xfrm>
            <a:off x="790575" y="1452563"/>
            <a:ext cx="226377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B, S (1 bit each)</a:t>
            </a:r>
            <a:endParaRPr lang="en-US" altLang="en-US" sz="3200"/>
          </a:p>
        </p:txBody>
      </p:sp>
      <p:sp>
        <p:nvSpPr>
          <p:cNvPr id="487646" name="Rectangle 222"/>
          <p:cNvSpPr>
            <a:spLocks noChangeArrowheads="1"/>
          </p:cNvSpPr>
          <p:nvPr/>
        </p:nvSpPr>
        <p:spPr bwMode="auto">
          <a:xfrm>
            <a:off x="3228975" y="1460500"/>
            <a:ext cx="2549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L (bit), D (16 bits)</a:t>
            </a:r>
            <a:endParaRPr lang="en-US" altLang="en-US" sz="3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876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876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0902DB49-9EA3-4B7A-8737-D8595782E753}" type="slidenum">
              <a:rPr lang="en-US" altLang="en-US"/>
              <a:pPr/>
              <a:t>19</a:t>
            </a:fld>
            <a:endParaRPr lang="en-US" altLang="en-US"/>
          </a:p>
        </p:txBody>
      </p:sp>
      <p:sp>
        <p:nvSpPr>
          <p:cNvPr id="488450" name="Rectangle 2"/>
          <p:cNvSpPr>
            <a:spLocks noGrp="1" noChangeArrowheads="1"/>
          </p:cNvSpPr>
          <p:nvPr>
            <p:ph type="title"/>
          </p:nvPr>
        </p:nvSpPr>
        <p:spPr/>
        <p:txBody>
          <a:bodyPr/>
          <a:lstStyle/>
          <a:p>
            <a:r>
              <a:rPr lang="en-US" altLang="en-US"/>
              <a:t>Step 2: Create a Datapath</a:t>
            </a:r>
          </a:p>
        </p:txBody>
      </p:sp>
      <p:sp>
        <p:nvSpPr>
          <p:cNvPr id="488451" name="Rectangle 3"/>
          <p:cNvSpPr>
            <a:spLocks noGrp="1" noChangeArrowheads="1"/>
          </p:cNvSpPr>
          <p:nvPr>
            <p:ph type="body" idx="1"/>
          </p:nvPr>
        </p:nvSpPr>
        <p:spPr>
          <a:xfrm>
            <a:off x="228600" y="1219200"/>
            <a:ext cx="5916613" cy="4876800"/>
          </a:xfrm>
        </p:spPr>
        <p:txBody>
          <a:bodyPr/>
          <a:lstStyle/>
          <a:p>
            <a:pPr>
              <a:lnSpc>
                <a:spcPct val="90000"/>
              </a:lnSpc>
            </a:pPr>
            <a:r>
              <a:rPr lang="en-US" altLang="en-US"/>
              <a:t>Datapath must</a:t>
            </a:r>
          </a:p>
          <a:p>
            <a:pPr lvl="1">
              <a:lnSpc>
                <a:spcPct val="90000"/>
              </a:lnSpc>
            </a:pPr>
            <a:r>
              <a:rPr lang="en-US" altLang="en-US"/>
              <a:t>Implement data storage</a:t>
            </a:r>
          </a:p>
          <a:p>
            <a:pPr lvl="1">
              <a:lnSpc>
                <a:spcPct val="90000"/>
              </a:lnSpc>
            </a:pPr>
            <a:r>
              <a:rPr lang="en-US" altLang="en-US"/>
              <a:t>Implement data computations</a:t>
            </a:r>
          </a:p>
          <a:p>
            <a:pPr>
              <a:lnSpc>
                <a:spcPct val="90000"/>
              </a:lnSpc>
            </a:pPr>
            <a:r>
              <a:rPr lang="en-US" altLang="en-US"/>
              <a:t>Look at high-level state machine, do three substeps</a:t>
            </a:r>
          </a:p>
          <a:p>
            <a:pPr lvl="1">
              <a:lnSpc>
                <a:spcPct val="90000"/>
              </a:lnSpc>
            </a:pPr>
            <a:r>
              <a:rPr lang="en-US" altLang="en-US"/>
              <a:t>(a) Make data inputs/outputs be datapath inputs/outputs</a:t>
            </a:r>
          </a:p>
          <a:p>
            <a:pPr lvl="1">
              <a:lnSpc>
                <a:spcPct val="90000"/>
              </a:lnSpc>
            </a:pPr>
            <a:r>
              <a:rPr lang="en-US" altLang="en-US"/>
              <a:t>(b) Instantiate declared registers into the datapath (also instantiate a register for each data output)</a:t>
            </a:r>
          </a:p>
          <a:p>
            <a:pPr lvl="1">
              <a:lnSpc>
                <a:spcPct val="90000"/>
              </a:lnSpc>
            </a:pPr>
            <a:r>
              <a:rPr lang="en-US" altLang="en-US"/>
              <a:t>(c) Examine every state and transition, and instantiate datapath components and connections to implement any data computations</a:t>
            </a:r>
          </a:p>
          <a:p>
            <a:pPr lvl="1">
              <a:lnSpc>
                <a:spcPct val="90000"/>
              </a:lnSpc>
            </a:pPr>
            <a:endParaRPr lang="en-US" altLang="en-US"/>
          </a:p>
        </p:txBody>
      </p:sp>
      <p:sp>
        <p:nvSpPr>
          <p:cNvPr id="488452" name="Text Box 4"/>
          <p:cNvSpPr txBox="1">
            <a:spLocks noChangeArrowheads="1"/>
          </p:cNvSpPr>
          <p:nvPr/>
        </p:nvSpPr>
        <p:spPr bwMode="auto">
          <a:xfrm>
            <a:off x="6480175" y="3854450"/>
            <a:ext cx="243363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i="1"/>
              <a:t>Instantiate</a:t>
            </a:r>
            <a:r>
              <a:rPr lang="en-US" altLang="en-US" sz="2400"/>
              <a:t>: to introduce a new component into a design.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Slide Number Placeholder 3"/>
          <p:cNvSpPr>
            <a:spLocks noGrp="1"/>
          </p:cNvSpPr>
          <p:nvPr>
            <p:ph type="sldNum" sz="quarter" idx="10"/>
          </p:nvPr>
        </p:nvSpPr>
        <p:spPr/>
        <p:txBody>
          <a:bodyPr/>
          <a:lstStyle/>
          <a:p>
            <a:fld id="{17E74F9A-03C6-4C1D-A121-F8BAF3413342}" type="slidenum">
              <a:rPr lang="en-US" altLang="en-US"/>
              <a:pPr/>
              <a:t>20</a:t>
            </a:fld>
            <a:endParaRPr lang="en-US" altLang="en-US"/>
          </a:p>
        </p:txBody>
      </p:sp>
      <p:sp>
        <p:nvSpPr>
          <p:cNvPr id="489474" name="Rectangle 2"/>
          <p:cNvSpPr>
            <a:spLocks noGrp="1" noChangeArrowheads="1"/>
          </p:cNvSpPr>
          <p:nvPr>
            <p:ph type="title"/>
          </p:nvPr>
        </p:nvSpPr>
        <p:spPr/>
        <p:txBody>
          <a:bodyPr/>
          <a:lstStyle/>
          <a:p>
            <a:r>
              <a:rPr lang="en-US" altLang="en-US"/>
              <a:t>Step 2 Example: </a:t>
            </a:r>
            <a:r>
              <a:rPr lang="en-US" altLang="en-US" sz="3200"/>
              <a:t>Laser-Based Distance Measurer</a:t>
            </a:r>
          </a:p>
        </p:txBody>
      </p:sp>
      <p:sp>
        <p:nvSpPr>
          <p:cNvPr id="489475" name="Rectangle 3"/>
          <p:cNvSpPr>
            <a:spLocks noGrp="1" noChangeArrowheads="1"/>
          </p:cNvSpPr>
          <p:nvPr>
            <p:ph type="body" idx="1"/>
          </p:nvPr>
        </p:nvSpPr>
        <p:spPr>
          <a:xfrm>
            <a:off x="212725" y="1341438"/>
            <a:ext cx="2276475" cy="4583112"/>
          </a:xfrm>
        </p:spPr>
        <p:txBody>
          <a:bodyPr/>
          <a:lstStyle/>
          <a:p>
            <a:pPr>
              <a:lnSpc>
                <a:spcPct val="90000"/>
              </a:lnSpc>
              <a:buFontTx/>
              <a:buNone/>
            </a:pPr>
            <a:r>
              <a:rPr lang="en-US" altLang="en-US" sz="1600"/>
              <a:t>(a) Make data inputs/outputs be datapath inputs/outputs</a:t>
            </a:r>
          </a:p>
          <a:p>
            <a:pPr>
              <a:lnSpc>
                <a:spcPct val="90000"/>
              </a:lnSpc>
              <a:buFontTx/>
              <a:buNone/>
            </a:pPr>
            <a:r>
              <a:rPr lang="en-US" altLang="en-US" sz="1600"/>
              <a:t>(b) Instantiate declared registers into the datapath (also instantiate a register for each data output)</a:t>
            </a:r>
          </a:p>
          <a:p>
            <a:pPr>
              <a:lnSpc>
                <a:spcPct val="90000"/>
              </a:lnSpc>
              <a:buFontTx/>
              <a:buNone/>
            </a:pPr>
            <a:r>
              <a:rPr lang="en-US" altLang="en-US" sz="1600"/>
              <a:t>(c) Examine every state and transition, and instantiate datapath components and connections to implement any data computations</a:t>
            </a:r>
          </a:p>
          <a:p>
            <a:pPr>
              <a:lnSpc>
                <a:spcPct val="90000"/>
              </a:lnSpc>
              <a:buFontTx/>
              <a:buNone/>
            </a:pPr>
            <a:endParaRPr lang="en-US" altLang="en-US" sz="1600"/>
          </a:p>
        </p:txBody>
      </p:sp>
      <p:sp>
        <p:nvSpPr>
          <p:cNvPr id="489481" name="Freeform 9"/>
          <p:cNvSpPr>
            <a:spLocks/>
          </p:cNvSpPr>
          <p:nvPr/>
        </p:nvSpPr>
        <p:spPr bwMode="auto">
          <a:xfrm>
            <a:off x="3409950" y="5249863"/>
            <a:ext cx="163513" cy="163512"/>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484" name="Rectangle 12"/>
          <p:cNvSpPr>
            <a:spLocks noChangeArrowheads="1"/>
          </p:cNvSpPr>
          <p:nvPr/>
        </p:nvSpPr>
        <p:spPr bwMode="auto">
          <a:xfrm>
            <a:off x="3409950" y="3527425"/>
            <a:ext cx="5180013" cy="202406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523" name="Rectangle 51"/>
          <p:cNvSpPr>
            <a:spLocks noChangeArrowheads="1"/>
          </p:cNvSpPr>
          <p:nvPr/>
        </p:nvSpPr>
        <p:spPr bwMode="auto">
          <a:xfrm>
            <a:off x="3536950" y="3597275"/>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9524" name="Rectangle 52"/>
          <p:cNvSpPr>
            <a:spLocks noChangeArrowheads="1"/>
          </p:cNvSpPr>
          <p:nvPr/>
        </p:nvSpPr>
        <p:spPr bwMode="auto">
          <a:xfrm>
            <a:off x="3643313" y="3597275"/>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489525" name="Rectangle 53"/>
          <p:cNvSpPr>
            <a:spLocks noChangeArrowheads="1"/>
          </p:cNvSpPr>
          <p:nvPr/>
        </p:nvSpPr>
        <p:spPr bwMode="auto">
          <a:xfrm>
            <a:off x="3719513" y="3597275"/>
            <a:ext cx="2016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tap</a:t>
            </a:r>
            <a:endParaRPr lang="en-US" altLang="en-US" sz="2400"/>
          </a:p>
        </p:txBody>
      </p:sp>
      <p:sp>
        <p:nvSpPr>
          <p:cNvPr id="489526" name="Rectangle 54"/>
          <p:cNvSpPr>
            <a:spLocks noChangeArrowheads="1"/>
          </p:cNvSpPr>
          <p:nvPr/>
        </p:nvSpPr>
        <p:spPr bwMode="auto">
          <a:xfrm>
            <a:off x="3938588" y="3597275"/>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489527" name="Rectangle 55"/>
          <p:cNvSpPr>
            <a:spLocks noChangeArrowheads="1"/>
          </p:cNvSpPr>
          <p:nvPr/>
        </p:nvSpPr>
        <p:spPr bwMode="auto">
          <a:xfrm>
            <a:off x="4014788" y="359727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th</a:t>
            </a:r>
            <a:endParaRPr lang="en-US" altLang="en-US" sz="2400"/>
          </a:p>
        </p:txBody>
      </p:sp>
      <p:grpSp>
        <p:nvGrpSpPr>
          <p:cNvPr id="489658" name="Group 186"/>
          <p:cNvGrpSpPr>
            <a:grpSpLocks/>
          </p:cNvGrpSpPr>
          <p:nvPr/>
        </p:nvGrpSpPr>
        <p:grpSpPr bwMode="auto">
          <a:xfrm>
            <a:off x="2541588" y="3727450"/>
            <a:ext cx="588962" cy="965200"/>
            <a:chOff x="1601" y="2348"/>
            <a:chExt cx="371" cy="608"/>
          </a:xfrm>
        </p:grpSpPr>
        <p:sp>
          <p:nvSpPr>
            <p:cNvPr id="489528" name="Rectangle 56"/>
            <p:cNvSpPr>
              <a:spLocks noChangeArrowheads="1"/>
            </p:cNvSpPr>
            <p:nvPr/>
          </p:nvSpPr>
          <p:spPr bwMode="auto">
            <a:xfrm>
              <a:off x="1607" y="2348"/>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9529" name="Rectangle 57"/>
            <p:cNvSpPr>
              <a:spLocks noChangeArrowheads="1"/>
            </p:cNvSpPr>
            <p:nvPr/>
          </p:nvSpPr>
          <p:spPr bwMode="auto">
            <a:xfrm>
              <a:off x="1674" y="2348"/>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89530" name="Rectangle 58"/>
            <p:cNvSpPr>
              <a:spLocks noChangeArrowheads="1"/>
            </p:cNvSpPr>
            <p:nvPr/>
          </p:nvSpPr>
          <p:spPr bwMode="auto">
            <a:xfrm>
              <a:off x="1705" y="2348"/>
              <a:ext cx="26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eg_clr</a:t>
              </a:r>
              <a:endParaRPr lang="en-US" altLang="en-US" sz="2400"/>
            </a:p>
          </p:txBody>
        </p:sp>
        <p:sp>
          <p:nvSpPr>
            <p:cNvPr id="489531" name="Rectangle 59"/>
            <p:cNvSpPr>
              <a:spLocks noChangeArrowheads="1"/>
            </p:cNvSpPr>
            <p:nvPr/>
          </p:nvSpPr>
          <p:spPr bwMode="auto">
            <a:xfrm>
              <a:off x="1632" y="2702"/>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9532" name="Rectangle 60"/>
            <p:cNvSpPr>
              <a:spLocks noChangeArrowheads="1"/>
            </p:cNvSpPr>
            <p:nvPr/>
          </p:nvSpPr>
          <p:spPr bwMode="auto">
            <a:xfrm>
              <a:off x="1699" y="2702"/>
              <a:ext cx="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89533" name="Rectangle 61"/>
            <p:cNvSpPr>
              <a:spLocks noChangeArrowheads="1"/>
            </p:cNvSpPr>
            <p:nvPr/>
          </p:nvSpPr>
          <p:spPr bwMode="auto">
            <a:xfrm>
              <a:off x="1746" y="2702"/>
              <a:ext cx="2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tr_clr</a:t>
              </a:r>
              <a:endParaRPr lang="en-US" altLang="en-US" sz="2400"/>
            </a:p>
          </p:txBody>
        </p:sp>
        <p:sp>
          <p:nvSpPr>
            <p:cNvPr id="489534" name="Rectangle 62"/>
            <p:cNvSpPr>
              <a:spLocks noChangeArrowheads="1"/>
            </p:cNvSpPr>
            <p:nvPr/>
          </p:nvSpPr>
          <p:spPr bwMode="auto">
            <a:xfrm>
              <a:off x="1601" y="2831"/>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9535" name="Rectangle 63"/>
            <p:cNvSpPr>
              <a:spLocks noChangeArrowheads="1"/>
            </p:cNvSpPr>
            <p:nvPr/>
          </p:nvSpPr>
          <p:spPr bwMode="auto">
            <a:xfrm>
              <a:off x="1668" y="2831"/>
              <a:ext cx="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89536" name="Rectangle 64"/>
            <p:cNvSpPr>
              <a:spLocks noChangeArrowheads="1"/>
            </p:cNvSpPr>
            <p:nvPr/>
          </p:nvSpPr>
          <p:spPr bwMode="auto">
            <a:xfrm>
              <a:off x="1714" y="2831"/>
              <a:ext cx="16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tr_c</a:t>
              </a:r>
              <a:endParaRPr lang="en-US" altLang="en-US" sz="2400"/>
            </a:p>
          </p:txBody>
        </p:sp>
        <p:sp>
          <p:nvSpPr>
            <p:cNvPr id="489537" name="Rectangle 65"/>
            <p:cNvSpPr>
              <a:spLocks noChangeArrowheads="1"/>
            </p:cNvSpPr>
            <p:nvPr/>
          </p:nvSpPr>
          <p:spPr bwMode="auto">
            <a:xfrm>
              <a:off x="1874" y="2831"/>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a:t>
              </a:r>
              <a:endParaRPr lang="en-US" altLang="en-US" sz="2400"/>
            </a:p>
          </p:txBody>
        </p:sp>
        <p:sp>
          <p:nvSpPr>
            <p:cNvPr id="489538" name="Rectangle 66"/>
            <p:cNvSpPr>
              <a:spLocks noChangeArrowheads="1"/>
            </p:cNvSpPr>
            <p:nvPr/>
          </p:nvSpPr>
          <p:spPr bwMode="auto">
            <a:xfrm>
              <a:off x="1929" y="2831"/>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89539" name="Rectangle 67"/>
            <p:cNvSpPr>
              <a:spLocks noChangeArrowheads="1"/>
            </p:cNvSpPr>
            <p:nvPr/>
          </p:nvSpPr>
          <p:spPr bwMode="auto">
            <a:xfrm>
              <a:off x="1628" y="2502"/>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9540" name="Rectangle 68"/>
            <p:cNvSpPr>
              <a:spLocks noChangeArrowheads="1"/>
            </p:cNvSpPr>
            <p:nvPr/>
          </p:nvSpPr>
          <p:spPr bwMode="auto">
            <a:xfrm>
              <a:off x="1695" y="2502"/>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89541" name="Rectangle 69"/>
            <p:cNvSpPr>
              <a:spLocks noChangeArrowheads="1"/>
            </p:cNvSpPr>
            <p:nvPr/>
          </p:nvSpPr>
          <p:spPr bwMode="auto">
            <a:xfrm>
              <a:off x="1726" y="2502"/>
              <a:ext cx="23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eg_ld</a:t>
              </a:r>
              <a:endParaRPr lang="en-US" altLang="en-US" sz="2400"/>
            </a:p>
          </p:txBody>
        </p:sp>
      </p:grpSp>
      <p:grpSp>
        <p:nvGrpSpPr>
          <p:cNvPr id="489747" name="Group 275"/>
          <p:cNvGrpSpPr>
            <a:grpSpLocks/>
          </p:cNvGrpSpPr>
          <p:nvPr/>
        </p:nvGrpSpPr>
        <p:grpSpPr bwMode="auto">
          <a:xfrm>
            <a:off x="2560638" y="771525"/>
            <a:ext cx="6421437" cy="2497138"/>
            <a:chOff x="1613" y="486"/>
            <a:chExt cx="4045" cy="1573"/>
          </a:xfrm>
        </p:grpSpPr>
        <p:sp>
          <p:nvSpPr>
            <p:cNvPr id="489561" name="Rectangle 89"/>
            <p:cNvSpPr>
              <a:spLocks noChangeArrowheads="1"/>
            </p:cNvSpPr>
            <p:nvPr/>
          </p:nvSpPr>
          <p:spPr bwMode="auto">
            <a:xfrm>
              <a:off x="2431" y="895"/>
              <a:ext cx="158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Local Registers: Dctr (16 bits)</a:t>
              </a:r>
              <a:endParaRPr lang="en-US" altLang="en-US" sz="2800"/>
            </a:p>
          </p:txBody>
        </p:sp>
        <p:sp>
          <p:nvSpPr>
            <p:cNvPr id="489573" name="Rectangle 101"/>
            <p:cNvSpPr>
              <a:spLocks noChangeArrowheads="1"/>
            </p:cNvSpPr>
            <p:nvPr/>
          </p:nvSpPr>
          <p:spPr bwMode="auto">
            <a:xfrm>
              <a:off x="1968" y="158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S0</a:t>
              </a:r>
              <a:endParaRPr lang="en-US" altLang="en-US" sz="2800"/>
            </a:p>
          </p:txBody>
        </p:sp>
        <p:sp>
          <p:nvSpPr>
            <p:cNvPr id="489574" name="Oval 102"/>
            <p:cNvSpPr>
              <a:spLocks noChangeArrowheads="1"/>
            </p:cNvSpPr>
            <p:nvPr/>
          </p:nvSpPr>
          <p:spPr bwMode="auto">
            <a:xfrm>
              <a:off x="1784" y="1496"/>
              <a:ext cx="469"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575" name="Line 103"/>
            <p:cNvSpPr>
              <a:spLocks noChangeShapeType="1"/>
            </p:cNvSpPr>
            <p:nvPr/>
          </p:nvSpPr>
          <p:spPr bwMode="auto">
            <a:xfrm>
              <a:off x="2258" y="1635"/>
              <a:ext cx="238"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9576" name="Freeform 104"/>
            <p:cNvSpPr>
              <a:spLocks/>
            </p:cNvSpPr>
            <p:nvPr/>
          </p:nvSpPr>
          <p:spPr bwMode="auto">
            <a:xfrm>
              <a:off x="2475" y="1612"/>
              <a:ext cx="114"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77" name="Line 105"/>
            <p:cNvSpPr>
              <a:spLocks noChangeShapeType="1"/>
            </p:cNvSpPr>
            <p:nvPr/>
          </p:nvSpPr>
          <p:spPr bwMode="auto">
            <a:xfrm>
              <a:off x="3060" y="1635"/>
              <a:ext cx="245"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9578" name="Freeform 106"/>
            <p:cNvSpPr>
              <a:spLocks/>
            </p:cNvSpPr>
            <p:nvPr/>
          </p:nvSpPr>
          <p:spPr bwMode="auto">
            <a:xfrm>
              <a:off x="3285" y="1612"/>
              <a:ext cx="113"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79" name="Rectangle 107"/>
            <p:cNvSpPr>
              <a:spLocks noChangeArrowheads="1"/>
            </p:cNvSpPr>
            <p:nvPr/>
          </p:nvSpPr>
          <p:spPr bwMode="auto">
            <a:xfrm>
              <a:off x="2773" y="158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S1</a:t>
              </a:r>
              <a:endParaRPr lang="en-US" altLang="en-US" sz="2800"/>
            </a:p>
          </p:txBody>
        </p:sp>
        <p:sp>
          <p:nvSpPr>
            <p:cNvPr id="489580" name="Rectangle 108"/>
            <p:cNvSpPr>
              <a:spLocks noChangeArrowheads="1"/>
            </p:cNvSpPr>
            <p:nvPr/>
          </p:nvSpPr>
          <p:spPr bwMode="auto">
            <a:xfrm>
              <a:off x="3586" y="158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S2</a:t>
              </a:r>
              <a:endParaRPr lang="en-US" altLang="en-US" sz="2800"/>
            </a:p>
          </p:txBody>
        </p:sp>
        <p:sp>
          <p:nvSpPr>
            <p:cNvPr id="489581" name="Oval 109"/>
            <p:cNvSpPr>
              <a:spLocks noChangeArrowheads="1"/>
            </p:cNvSpPr>
            <p:nvPr/>
          </p:nvSpPr>
          <p:spPr bwMode="auto">
            <a:xfrm>
              <a:off x="3402" y="1496"/>
              <a:ext cx="470"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582" name="Line 110"/>
            <p:cNvSpPr>
              <a:spLocks noChangeShapeType="1"/>
            </p:cNvSpPr>
            <p:nvPr/>
          </p:nvSpPr>
          <p:spPr bwMode="auto">
            <a:xfrm>
              <a:off x="3875" y="1635"/>
              <a:ext cx="24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9583" name="Freeform 111"/>
            <p:cNvSpPr>
              <a:spLocks/>
            </p:cNvSpPr>
            <p:nvPr/>
          </p:nvSpPr>
          <p:spPr bwMode="auto">
            <a:xfrm>
              <a:off x="4093" y="1612"/>
              <a:ext cx="114"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84" name="Line 112"/>
            <p:cNvSpPr>
              <a:spLocks noChangeShapeType="1"/>
            </p:cNvSpPr>
            <p:nvPr/>
          </p:nvSpPr>
          <p:spPr bwMode="auto">
            <a:xfrm>
              <a:off x="4681" y="1635"/>
              <a:ext cx="235"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9585" name="Freeform 113"/>
            <p:cNvSpPr>
              <a:spLocks/>
            </p:cNvSpPr>
            <p:nvPr/>
          </p:nvSpPr>
          <p:spPr bwMode="auto">
            <a:xfrm>
              <a:off x="4894" y="1612"/>
              <a:ext cx="115"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86" name="Rectangle 114"/>
            <p:cNvSpPr>
              <a:spLocks noChangeArrowheads="1"/>
            </p:cNvSpPr>
            <p:nvPr/>
          </p:nvSpPr>
          <p:spPr bwMode="auto">
            <a:xfrm>
              <a:off x="4390" y="158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S3</a:t>
              </a:r>
              <a:endParaRPr lang="en-US" altLang="en-US" sz="2800"/>
            </a:p>
          </p:txBody>
        </p:sp>
        <p:sp>
          <p:nvSpPr>
            <p:cNvPr id="489587" name="Freeform 115"/>
            <p:cNvSpPr>
              <a:spLocks/>
            </p:cNvSpPr>
            <p:nvPr/>
          </p:nvSpPr>
          <p:spPr bwMode="auto">
            <a:xfrm>
              <a:off x="2589" y="1282"/>
              <a:ext cx="471" cy="243"/>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588" name="Freeform 116"/>
            <p:cNvSpPr>
              <a:spLocks/>
            </p:cNvSpPr>
            <p:nvPr/>
          </p:nvSpPr>
          <p:spPr bwMode="auto">
            <a:xfrm>
              <a:off x="2571" y="1442"/>
              <a:ext cx="93" cy="87"/>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89" name="Freeform 117"/>
            <p:cNvSpPr>
              <a:spLocks/>
            </p:cNvSpPr>
            <p:nvPr/>
          </p:nvSpPr>
          <p:spPr bwMode="auto">
            <a:xfrm>
              <a:off x="1749" y="1449"/>
              <a:ext cx="106" cy="82"/>
            </a:xfrm>
            <a:custGeom>
              <a:avLst/>
              <a:gdLst>
                <a:gd name="T0" fmla="*/ 93 w 93"/>
                <a:gd name="T1" fmla="*/ 88 h 88"/>
                <a:gd name="T2" fmla="*/ 34 w 93"/>
                <a:gd name="T3" fmla="*/ 0 h 88"/>
                <a:gd name="T4" fmla="*/ 0 w 93"/>
                <a:gd name="T5" fmla="*/ 38 h 88"/>
                <a:gd name="T6" fmla="*/ 93 w 93"/>
                <a:gd name="T7" fmla="*/ 88 h 88"/>
              </a:gdLst>
              <a:ahLst/>
              <a:cxnLst>
                <a:cxn ang="0">
                  <a:pos x="T0" y="T1"/>
                </a:cxn>
                <a:cxn ang="0">
                  <a:pos x="T2" y="T3"/>
                </a:cxn>
                <a:cxn ang="0">
                  <a:pos x="T4" y="T5"/>
                </a:cxn>
                <a:cxn ang="0">
                  <a:pos x="T6" y="T7"/>
                </a:cxn>
              </a:cxnLst>
              <a:rect l="0" t="0" r="r" b="b"/>
              <a:pathLst>
                <a:path w="93" h="88">
                  <a:moveTo>
                    <a:pt x="93" y="88"/>
                  </a:moveTo>
                  <a:lnTo>
                    <a:pt x="34" y="0"/>
                  </a:lnTo>
                  <a:lnTo>
                    <a:pt x="0" y="38"/>
                  </a:lnTo>
                  <a:lnTo>
                    <a:pt x="93"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90" name="Rectangle 118"/>
            <p:cNvSpPr>
              <a:spLocks noChangeArrowheads="1"/>
            </p:cNvSpPr>
            <p:nvPr/>
          </p:nvSpPr>
          <p:spPr bwMode="auto">
            <a:xfrm>
              <a:off x="1921" y="1809"/>
              <a:ext cx="2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 = 0</a:t>
              </a:r>
              <a:endParaRPr lang="en-US" altLang="en-US" sz="2800"/>
            </a:p>
          </p:txBody>
        </p:sp>
        <p:sp>
          <p:nvSpPr>
            <p:cNvPr id="489591" name="Rectangle 119"/>
            <p:cNvSpPr>
              <a:spLocks noChangeArrowheads="1"/>
            </p:cNvSpPr>
            <p:nvPr/>
          </p:nvSpPr>
          <p:spPr bwMode="auto">
            <a:xfrm>
              <a:off x="1909" y="1913"/>
              <a:ext cx="29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0</a:t>
              </a:r>
              <a:endParaRPr lang="en-US" altLang="en-US" sz="2800"/>
            </a:p>
          </p:txBody>
        </p:sp>
        <p:sp>
          <p:nvSpPr>
            <p:cNvPr id="489592" name="Rectangle 120"/>
            <p:cNvSpPr>
              <a:spLocks noChangeArrowheads="1"/>
            </p:cNvSpPr>
            <p:nvPr/>
          </p:nvSpPr>
          <p:spPr bwMode="auto">
            <a:xfrm>
              <a:off x="3545" y="1812"/>
              <a:ext cx="2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 = 1</a:t>
              </a:r>
              <a:endParaRPr lang="en-US" altLang="en-US" sz="2800"/>
            </a:p>
          </p:txBody>
        </p:sp>
        <p:sp>
          <p:nvSpPr>
            <p:cNvPr id="489593" name="Rectangle 121"/>
            <p:cNvSpPr>
              <a:spLocks noChangeArrowheads="1"/>
            </p:cNvSpPr>
            <p:nvPr/>
          </p:nvSpPr>
          <p:spPr bwMode="auto">
            <a:xfrm>
              <a:off x="4388" y="1812"/>
              <a:ext cx="2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L=0</a:t>
              </a:r>
              <a:endParaRPr lang="en-US" altLang="en-US" sz="2800"/>
            </a:p>
          </p:txBody>
        </p:sp>
        <p:sp>
          <p:nvSpPr>
            <p:cNvPr id="489594" name="Rectangle 122"/>
            <p:cNvSpPr>
              <a:spLocks noChangeArrowheads="1"/>
            </p:cNvSpPr>
            <p:nvPr/>
          </p:nvSpPr>
          <p:spPr bwMode="auto">
            <a:xfrm>
              <a:off x="4153" y="1913"/>
              <a:ext cx="77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Dctr = Dctr + 1</a:t>
              </a:r>
              <a:endParaRPr lang="en-US" altLang="en-US" sz="2800"/>
            </a:p>
          </p:txBody>
        </p:sp>
        <p:sp>
          <p:nvSpPr>
            <p:cNvPr id="489600" name="Rectangle 128"/>
            <p:cNvSpPr>
              <a:spLocks noChangeArrowheads="1"/>
            </p:cNvSpPr>
            <p:nvPr/>
          </p:nvSpPr>
          <p:spPr bwMode="auto">
            <a:xfrm>
              <a:off x="2635" y="1812"/>
              <a:ext cx="42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Dctr = 0</a:t>
              </a:r>
              <a:endParaRPr lang="en-US" altLang="en-US" sz="2800"/>
            </a:p>
          </p:txBody>
        </p:sp>
        <p:sp>
          <p:nvSpPr>
            <p:cNvPr id="489603" name="Rectangle 131"/>
            <p:cNvSpPr>
              <a:spLocks noChangeArrowheads="1"/>
            </p:cNvSpPr>
            <p:nvPr/>
          </p:nvSpPr>
          <p:spPr bwMode="auto">
            <a:xfrm>
              <a:off x="2791" y="1172"/>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89604" name="Rectangle 132"/>
            <p:cNvSpPr>
              <a:spLocks noChangeArrowheads="1"/>
            </p:cNvSpPr>
            <p:nvPr/>
          </p:nvSpPr>
          <p:spPr bwMode="auto">
            <a:xfrm>
              <a:off x="2854" y="1162"/>
              <a:ext cx="2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Tahoma" panose="020B0604030504040204" pitchFamily="34" charset="0"/>
                </a:rPr>
                <a:t>‘</a:t>
              </a:r>
            </a:p>
          </p:txBody>
        </p:sp>
        <p:sp>
          <p:nvSpPr>
            <p:cNvPr id="489605" name="Freeform 133"/>
            <p:cNvSpPr>
              <a:spLocks/>
            </p:cNvSpPr>
            <p:nvPr/>
          </p:nvSpPr>
          <p:spPr bwMode="auto">
            <a:xfrm>
              <a:off x="4203" y="1282"/>
              <a:ext cx="470" cy="243"/>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606" name="Freeform 134"/>
            <p:cNvSpPr>
              <a:spLocks/>
            </p:cNvSpPr>
            <p:nvPr/>
          </p:nvSpPr>
          <p:spPr bwMode="auto">
            <a:xfrm>
              <a:off x="4185" y="1442"/>
              <a:ext cx="92" cy="87"/>
            </a:xfrm>
            <a:custGeom>
              <a:avLst/>
              <a:gdLst>
                <a:gd name="T0" fmla="*/ 81 w 81"/>
                <a:gd name="T1" fmla="*/ 94 h 94"/>
                <a:gd name="T2" fmla="*/ 38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8"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607" name="Rectangle 135"/>
            <p:cNvSpPr>
              <a:spLocks noChangeArrowheads="1"/>
            </p:cNvSpPr>
            <p:nvPr/>
          </p:nvSpPr>
          <p:spPr bwMode="auto">
            <a:xfrm>
              <a:off x="4399" y="1174"/>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t>
              </a:r>
              <a:endParaRPr lang="en-US" altLang="en-US" sz="2800"/>
            </a:p>
          </p:txBody>
        </p:sp>
        <p:sp>
          <p:nvSpPr>
            <p:cNvPr id="489608" name="Rectangle 136"/>
            <p:cNvSpPr>
              <a:spLocks noChangeArrowheads="1"/>
            </p:cNvSpPr>
            <p:nvPr/>
          </p:nvSpPr>
          <p:spPr bwMode="auto">
            <a:xfrm>
              <a:off x="4454" y="1163"/>
              <a:ext cx="2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Tahoma" panose="020B0604030504040204" pitchFamily="34" charset="0"/>
                </a:rPr>
                <a:t>‘</a:t>
              </a:r>
            </a:p>
          </p:txBody>
        </p:sp>
        <p:sp>
          <p:nvSpPr>
            <p:cNvPr id="489609" name="Rectangle 137"/>
            <p:cNvSpPr>
              <a:spLocks noChangeArrowheads="1"/>
            </p:cNvSpPr>
            <p:nvPr/>
          </p:nvSpPr>
          <p:spPr bwMode="auto">
            <a:xfrm>
              <a:off x="3160" y="1658"/>
              <a:ext cx="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89610" name="Rectangle 138"/>
            <p:cNvSpPr>
              <a:spLocks noChangeArrowheads="1"/>
            </p:cNvSpPr>
            <p:nvPr/>
          </p:nvSpPr>
          <p:spPr bwMode="auto">
            <a:xfrm>
              <a:off x="4773" y="1658"/>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t>
              </a:r>
              <a:endParaRPr lang="en-US" altLang="en-US" sz="2800"/>
            </a:p>
          </p:txBody>
        </p:sp>
        <p:sp>
          <p:nvSpPr>
            <p:cNvPr id="489611" name="Oval 139"/>
            <p:cNvSpPr>
              <a:spLocks noChangeArrowheads="1"/>
            </p:cNvSpPr>
            <p:nvPr/>
          </p:nvSpPr>
          <p:spPr bwMode="auto">
            <a:xfrm>
              <a:off x="4207" y="1496"/>
              <a:ext cx="470"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89746" name="Group 274"/>
            <p:cNvGrpSpPr>
              <a:grpSpLocks/>
            </p:cNvGrpSpPr>
            <p:nvPr/>
          </p:nvGrpSpPr>
          <p:grpSpPr bwMode="auto">
            <a:xfrm>
              <a:off x="4983" y="1496"/>
              <a:ext cx="675" cy="563"/>
              <a:chOff x="4983" y="1496"/>
              <a:chExt cx="675" cy="563"/>
            </a:xfrm>
          </p:grpSpPr>
          <p:sp>
            <p:nvSpPr>
              <p:cNvPr id="489613" name="Rectangle 141"/>
              <p:cNvSpPr>
                <a:spLocks noChangeArrowheads="1"/>
              </p:cNvSpPr>
              <p:nvPr/>
            </p:nvSpPr>
            <p:spPr bwMode="auto">
              <a:xfrm>
                <a:off x="5030" y="1812"/>
                <a:ext cx="60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Dctr / 2</a:t>
                </a:r>
                <a:endParaRPr lang="en-US" altLang="en-US" sz="2800"/>
              </a:p>
            </p:txBody>
          </p:sp>
          <p:sp>
            <p:nvSpPr>
              <p:cNvPr id="489617" name="Rectangle 145"/>
              <p:cNvSpPr>
                <a:spLocks noChangeArrowheads="1"/>
              </p:cNvSpPr>
              <p:nvPr/>
            </p:nvSpPr>
            <p:spPr bwMode="auto">
              <a:xfrm>
                <a:off x="4983" y="1915"/>
                <a:ext cx="6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(calculate D)</a:t>
                </a:r>
                <a:endParaRPr lang="en-US" altLang="en-US" sz="2800"/>
              </a:p>
            </p:txBody>
          </p:sp>
          <p:sp>
            <p:nvSpPr>
              <p:cNvPr id="489623" name="Rectangle 151"/>
              <p:cNvSpPr>
                <a:spLocks noChangeArrowheads="1"/>
              </p:cNvSpPr>
              <p:nvPr/>
            </p:nvSpPr>
            <p:spPr bwMode="auto">
              <a:xfrm>
                <a:off x="5196" y="1585"/>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S4</a:t>
                </a:r>
                <a:endParaRPr lang="en-US" altLang="en-US" sz="2800"/>
              </a:p>
            </p:txBody>
          </p:sp>
          <p:sp>
            <p:nvSpPr>
              <p:cNvPr id="489624" name="Oval 152"/>
              <p:cNvSpPr>
                <a:spLocks noChangeArrowheads="1"/>
              </p:cNvSpPr>
              <p:nvPr/>
            </p:nvSpPr>
            <p:spPr bwMode="auto">
              <a:xfrm>
                <a:off x="5012" y="1496"/>
                <a:ext cx="470"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89625" name="Oval 153"/>
            <p:cNvSpPr>
              <a:spLocks noChangeArrowheads="1"/>
            </p:cNvSpPr>
            <p:nvPr/>
          </p:nvSpPr>
          <p:spPr bwMode="auto">
            <a:xfrm>
              <a:off x="2589" y="1496"/>
              <a:ext cx="471"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626" name="Freeform 154"/>
            <p:cNvSpPr>
              <a:spLocks/>
            </p:cNvSpPr>
            <p:nvPr/>
          </p:nvSpPr>
          <p:spPr bwMode="auto">
            <a:xfrm>
              <a:off x="3038" y="1482"/>
              <a:ext cx="99" cy="83"/>
            </a:xfrm>
            <a:custGeom>
              <a:avLst/>
              <a:gdLst>
                <a:gd name="T0" fmla="*/ 0 w 87"/>
                <a:gd name="T1" fmla="*/ 90 h 90"/>
                <a:gd name="T2" fmla="*/ 87 w 87"/>
                <a:gd name="T3" fmla="*/ 34 h 90"/>
                <a:gd name="T4" fmla="*/ 50 w 87"/>
                <a:gd name="T5" fmla="*/ 0 h 90"/>
                <a:gd name="T6" fmla="*/ 0 w 87"/>
                <a:gd name="T7" fmla="*/ 90 h 90"/>
              </a:gdLst>
              <a:ahLst/>
              <a:cxnLst>
                <a:cxn ang="0">
                  <a:pos x="T0" y="T1"/>
                </a:cxn>
                <a:cxn ang="0">
                  <a:pos x="T2" y="T3"/>
                </a:cxn>
                <a:cxn ang="0">
                  <a:pos x="T4" y="T5"/>
                </a:cxn>
                <a:cxn ang="0">
                  <a:pos x="T6" y="T7"/>
                </a:cxn>
              </a:cxnLst>
              <a:rect l="0" t="0" r="r" b="b"/>
              <a:pathLst>
                <a:path w="87" h="90">
                  <a:moveTo>
                    <a:pt x="0" y="90"/>
                  </a:moveTo>
                  <a:lnTo>
                    <a:pt x="87" y="34"/>
                  </a:lnTo>
                  <a:lnTo>
                    <a:pt x="50" y="0"/>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627" name="Freeform 155"/>
            <p:cNvSpPr>
              <a:spLocks/>
            </p:cNvSpPr>
            <p:nvPr/>
          </p:nvSpPr>
          <p:spPr bwMode="auto">
            <a:xfrm>
              <a:off x="3077" y="486"/>
              <a:ext cx="2080" cy="1043"/>
            </a:xfrm>
            <a:custGeom>
              <a:avLst/>
              <a:gdLst>
                <a:gd name="T0" fmla="*/ 584 w 584"/>
                <a:gd name="T1" fmla="*/ 350 h 360"/>
                <a:gd name="T2" fmla="*/ 0 w 584"/>
                <a:gd name="T3" fmla="*/ 360 h 360"/>
              </a:gdLst>
              <a:ahLst/>
              <a:cxnLst>
                <a:cxn ang="0">
                  <a:pos x="T0" y="T1"/>
                </a:cxn>
                <a:cxn ang="0">
                  <a:pos x="T2" y="T3"/>
                </a:cxn>
              </a:cxnLst>
              <a:rect l="0" t="0" r="r" b="b"/>
              <a:pathLst>
                <a:path w="584" h="360">
                  <a:moveTo>
                    <a:pt x="584" y="350"/>
                  </a:moveTo>
                  <a:cubicBezTo>
                    <a:pt x="584" y="350"/>
                    <a:pt x="346" y="0"/>
                    <a:pt x="0" y="360"/>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628" name="Line 156"/>
            <p:cNvSpPr>
              <a:spLocks noChangeShapeType="1"/>
            </p:cNvSpPr>
            <p:nvPr/>
          </p:nvSpPr>
          <p:spPr bwMode="auto">
            <a:xfrm>
              <a:off x="1613" y="1362"/>
              <a:ext cx="164" cy="116"/>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489647" name="Group 175"/>
          <p:cNvGrpSpPr>
            <a:grpSpLocks/>
          </p:cNvGrpSpPr>
          <p:nvPr/>
        </p:nvGrpSpPr>
        <p:grpSpPr bwMode="auto">
          <a:xfrm>
            <a:off x="3176588" y="1449388"/>
            <a:ext cx="5268912" cy="3521075"/>
            <a:chOff x="2001" y="913"/>
            <a:chExt cx="3319" cy="2218"/>
          </a:xfrm>
        </p:grpSpPr>
        <p:grpSp>
          <p:nvGrpSpPr>
            <p:cNvPr id="489644" name="Group 172"/>
            <p:cNvGrpSpPr>
              <a:grpSpLocks/>
            </p:cNvGrpSpPr>
            <p:nvPr/>
          </p:nvGrpSpPr>
          <p:grpSpPr bwMode="auto">
            <a:xfrm>
              <a:off x="2001" y="2563"/>
              <a:ext cx="3319" cy="568"/>
              <a:chOff x="2001" y="2563"/>
              <a:chExt cx="3319" cy="568"/>
            </a:xfrm>
          </p:grpSpPr>
          <p:sp>
            <p:nvSpPr>
              <p:cNvPr id="489479" name="Freeform 7"/>
              <p:cNvSpPr>
                <a:spLocks/>
              </p:cNvSpPr>
              <p:nvPr/>
            </p:nvSpPr>
            <p:spPr bwMode="auto">
              <a:xfrm>
                <a:off x="3932" y="2860"/>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43" name="Freeform 71"/>
              <p:cNvSpPr>
                <a:spLocks/>
              </p:cNvSpPr>
              <p:nvPr/>
            </p:nvSpPr>
            <p:spPr bwMode="auto">
              <a:xfrm>
                <a:off x="2001" y="2563"/>
                <a:ext cx="1950" cy="322"/>
              </a:xfrm>
              <a:custGeom>
                <a:avLst/>
                <a:gdLst>
                  <a:gd name="T0" fmla="*/ 1950 w 1950"/>
                  <a:gd name="T1" fmla="*/ 322 h 322"/>
                  <a:gd name="T2" fmla="*/ 1756 w 1950"/>
                  <a:gd name="T3" fmla="*/ 322 h 322"/>
                  <a:gd name="T4" fmla="*/ 1756 w 1950"/>
                  <a:gd name="T5" fmla="*/ 0 h 322"/>
                  <a:gd name="T6" fmla="*/ 0 w 1950"/>
                  <a:gd name="T7" fmla="*/ 0 h 322"/>
                </a:gdLst>
                <a:ahLst/>
                <a:cxnLst>
                  <a:cxn ang="0">
                    <a:pos x="T0" y="T1"/>
                  </a:cxn>
                  <a:cxn ang="0">
                    <a:pos x="T2" y="T3"/>
                  </a:cxn>
                  <a:cxn ang="0">
                    <a:pos x="T4" y="T5"/>
                  </a:cxn>
                  <a:cxn ang="0">
                    <a:pos x="T6" y="T7"/>
                  </a:cxn>
                </a:cxnLst>
                <a:rect l="0" t="0" r="r" b="b"/>
                <a:pathLst>
                  <a:path w="1950" h="322">
                    <a:moveTo>
                      <a:pt x="1950" y="322"/>
                    </a:moveTo>
                    <a:lnTo>
                      <a:pt x="1756" y="322"/>
                    </a:lnTo>
                    <a:lnTo>
                      <a:pt x="1756"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483" name="Freeform 11"/>
              <p:cNvSpPr>
                <a:spLocks/>
              </p:cNvSpPr>
              <p:nvPr/>
            </p:nvSpPr>
            <p:spPr bwMode="auto">
              <a:xfrm>
                <a:off x="4036" y="2991"/>
                <a:ext cx="103" cy="103"/>
              </a:xfrm>
              <a:custGeom>
                <a:avLst/>
                <a:gdLst>
                  <a:gd name="T0" fmla="*/ 0 w 103"/>
                  <a:gd name="T1" fmla="*/ 103 h 103"/>
                  <a:gd name="T2" fmla="*/ 103 w 103"/>
                  <a:gd name="T3" fmla="*/ 50 h 103"/>
                  <a:gd name="T4" fmla="*/ 0 w 103"/>
                  <a:gd name="T5" fmla="*/ 0 h 103"/>
                </a:gdLst>
                <a:ahLst/>
                <a:cxnLst>
                  <a:cxn ang="0">
                    <a:pos x="T0" y="T1"/>
                  </a:cxn>
                  <a:cxn ang="0">
                    <a:pos x="T2" y="T3"/>
                  </a:cxn>
                  <a:cxn ang="0">
                    <a:pos x="T4" y="T5"/>
                  </a:cxn>
                </a:cxnLst>
                <a:rect l="0" t="0" r="r" b="b"/>
                <a:pathLst>
                  <a:path w="103" h="103">
                    <a:moveTo>
                      <a:pt x="0" y="103"/>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492" name="Rectangle 20"/>
              <p:cNvSpPr>
                <a:spLocks noChangeArrowheads="1"/>
              </p:cNvSpPr>
              <p:nvPr/>
            </p:nvSpPr>
            <p:spPr bwMode="auto">
              <a:xfrm>
                <a:off x="4056" y="2836"/>
                <a:ext cx="17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load</a:t>
                </a:r>
                <a:endParaRPr lang="en-US" altLang="en-US" sz="2400"/>
              </a:p>
            </p:txBody>
          </p:sp>
          <p:sp>
            <p:nvSpPr>
              <p:cNvPr id="489494" name="Rectangle 22"/>
              <p:cNvSpPr>
                <a:spLocks noChangeArrowheads="1"/>
              </p:cNvSpPr>
              <p:nvPr/>
            </p:nvSpPr>
            <p:spPr bwMode="auto">
              <a:xfrm>
                <a:off x="4644" y="3006"/>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Q</a:t>
                </a:r>
                <a:endParaRPr lang="en-US" altLang="en-US" sz="2400"/>
              </a:p>
            </p:txBody>
          </p:sp>
          <p:sp>
            <p:nvSpPr>
              <p:cNvPr id="489495" name="Rectangle 23"/>
              <p:cNvSpPr>
                <a:spLocks noChangeArrowheads="1"/>
              </p:cNvSpPr>
              <p:nvPr/>
            </p:nvSpPr>
            <p:spPr bwMode="auto">
              <a:xfrm>
                <a:off x="4666" y="2681"/>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a:t>
                </a:r>
                <a:endParaRPr lang="en-US" altLang="en-US" sz="2400"/>
              </a:p>
            </p:txBody>
          </p:sp>
          <p:sp>
            <p:nvSpPr>
              <p:cNvPr id="489509" name="Rectangle 37"/>
              <p:cNvSpPr>
                <a:spLocks noChangeArrowheads="1"/>
              </p:cNvSpPr>
              <p:nvPr/>
            </p:nvSpPr>
            <p:spPr bwMode="auto">
              <a:xfrm>
                <a:off x="4779" y="2767"/>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9510" name="Rectangle 38"/>
              <p:cNvSpPr>
                <a:spLocks noChangeArrowheads="1"/>
              </p:cNvSpPr>
              <p:nvPr/>
            </p:nvSpPr>
            <p:spPr bwMode="auto">
              <a:xfrm>
                <a:off x="4846" y="2767"/>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89511" name="Rectangle 39"/>
              <p:cNvSpPr>
                <a:spLocks noChangeArrowheads="1"/>
              </p:cNvSpPr>
              <p:nvPr/>
            </p:nvSpPr>
            <p:spPr bwMode="auto">
              <a:xfrm>
                <a:off x="4878" y="2767"/>
                <a:ext cx="40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eg: 16-bit</a:t>
                </a:r>
                <a:endParaRPr lang="en-US" altLang="en-US" sz="2400"/>
              </a:p>
            </p:txBody>
          </p:sp>
          <p:sp>
            <p:nvSpPr>
              <p:cNvPr id="489512" name="Rectangle 40"/>
              <p:cNvSpPr>
                <a:spLocks noChangeArrowheads="1"/>
              </p:cNvSpPr>
              <p:nvPr/>
            </p:nvSpPr>
            <p:spPr bwMode="auto">
              <a:xfrm>
                <a:off x="4957" y="2878"/>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89513" name="Rectangle 41"/>
              <p:cNvSpPr>
                <a:spLocks noChangeArrowheads="1"/>
              </p:cNvSpPr>
              <p:nvPr/>
            </p:nvSpPr>
            <p:spPr bwMode="auto">
              <a:xfrm>
                <a:off x="4988" y="2878"/>
                <a:ext cx="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a:t>
                </a:r>
                <a:endParaRPr lang="en-US" altLang="en-US" sz="2400"/>
              </a:p>
            </p:txBody>
          </p:sp>
          <p:sp>
            <p:nvSpPr>
              <p:cNvPr id="489514" name="Rectangle 42"/>
              <p:cNvSpPr>
                <a:spLocks noChangeArrowheads="1"/>
              </p:cNvSpPr>
              <p:nvPr/>
            </p:nvSpPr>
            <p:spPr bwMode="auto">
              <a:xfrm>
                <a:off x="5039" y="287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g</a:t>
                </a:r>
                <a:endParaRPr lang="en-US" altLang="en-US" sz="2400"/>
              </a:p>
            </p:txBody>
          </p:sp>
          <p:sp>
            <p:nvSpPr>
              <p:cNvPr id="489515" name="Rectangle 43"/>
              <p:cNvSpPr>
                <a:spLocks noChangeArrowheads="1"/>
              </p:cNvSpPr>
              <p:nvPr/>
            </p:nvSpPr>
            <p:spPr bwMode="auto">
              <a:xfrm>
                <a:off x="5094" y="2878"/>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is</a:t>
                </a:r>
                <a:endParaRPr lang="en-US" altLang="en-US" sz="2400"/>
              </a:p>
            </p:txBody>
          </p:sp>
          <p:sp>
            <p:nvSpPr>
              <p:cNvPr id="489516" name="Rectangle 44"/>
              <p:cNvSpPr>
                <a:spLocks noChangeArrowheads="1"/>
              </p:cNvSpPr>
              <p:nvPr/>
            </p:nvSpPr>
            <p:spPr bwMode="auto">
              <a:xfrm>
                <a:off x="5157" y="287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89517" name="Rectangle 45"/>
              <p:cNvSpPr>
                <a:spLocks noChangeArrowheads="1"/>
              </p:cNvSpPr>
              <p:nvPr/>
            </p:nvSpPr>
            <p:spPr bwMode="auto">
              <a:xfrm>
                <a:off x="5189" y="2878"/>
                <a:ext cx="8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er</a:t>
                </a:r>
                <a:endParaRPr lang="en-US" altLang="en-US" sz="2400"/>
              </a:p>
            </p:txBody>
          </p:sp>
          <p:sp>
            <p:nvSpPr>
              <p:cNvPr id="489550" name="Rectangle 78"/>
              <p:cNvSpPr>
                <a:spLocks noChangeArrowheads="1"/>
              </p:cNvSpPr>
              <p:nvPr/>
            </p:nvSpPr>
            <p:spPr bwMode="auto">
              <a:xfrm>
                <a:off x="4036" y="2672"/>
                <a:ext cx="1284" cy="4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89630" name="Freeform 158"/>
            <p:cNvSpPr>
              <a:spLocks/>
            </p:cNvSpPr>
            <p:nvPr/>
          </p:nvSpPr>
          <p:spPr bwMode="auto">
            <a:xfrm>
              <a:off x="3992" y="913"/>
              <a:ext cx="431" cy="1728"/>
            </a:xfrm>
            <a:custGeom>
              <a:avLst/>
              <a:gdLst>
                <a:gd name="T0" fmla="*/ 138 w 431"/>
                <a:gd name="T1" fmla="*/ 0 h 1728"/>
                <a:gd name="T2" fmla="*/ 192 w 431"/>
                <a:gd name="T3" fmla="*/ 402 h 1728"/>
                <a:gd name="T4" fmla="*/ 40 w 431"/>
                <a:gd name="T5" fmla="*/ 1206 h 1728"/>
                <a:gd name="T6" fmla="*/ 431 w 431"/>
                <a:gd name="T7" fmla="*/ 1728 h 1728"/>
              </a:gdLst>
              <a:ahLst/>
              <a:cxnLst>
                <a:cxn ang="0">
                  <a:pos x="T0" y="T1"/>
                </a:cxn>
                <a:cxn ang="0">
                  <a:pos x="T2" y="T3"/>
                </a:cxn>
                <a:cxn ang="0">
                  <a:pos x="T4" y="T5"/>
                </a:cxn>
                <a:cxn ang="0">
                  <a:pos x="T6" y="T7"/>
                </a:cxn>
              </a:cxnLst>
              <a:rect l="0" t="0" r="r" b="b"/>
              <a:pathLst>
                <a:path w="431" h="1728">
                  <a:moveTo>
                    <a:pt x="138" y="0"/>
                  </a:moveTo>
                  <a:cubicBezTo>
                    <a:pt x="147" y="69"/>
                    <a:pt x="208" y="201"/>
                    <a:pt x="192" y="402"/>
                  </a:cubicBezTo>
                  <a:cubicBezTo>
                    <a:pt x="176" y="603"/>
                    <a:pt x="0" y="985"/>
                    <a:pt x="40" y="1206"/>
                  </a:cubicBezTo>
                  <a:cubicBezTo>
                    <a:pt x="80" y="1427"/>
                    <a:pt x="350" y="1619"/>
                    <a:pt x="431" y="1728"/>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89655" name="Group 183"/>
          <p:cNvGrpSpPr>
            <a:grpSpLocks/>
          </p:cNvGrpSpPr>
          <p:nvPr/>
        </p:nvGrpSpPr>
        <p:grpSpPr bwMode="auto">
          <a:xfrm>
            <a:off x="3825875" y="1673225"/>
            <a:ext cx="2536825" cy="3297238"/>
            <a:chOff x="2410" y="1054"/>
            <a:chExt cx="1598" cy="2077"/>
          </a:xfrm>
        </p:grpSpPr>
        <p:sp>
          <p:nvSpPr>
            <p:cNvPr id="489482" name="Freeform 10"/>
            <p:cNvSpPr>
              <a:spLocks/>
            </p:cNvSpPr>
            <p:nvPr/>
          </p:nvSpPr>
          <p:spPr bwMode="auto">
            <a:xfrm>
              <a:off x="2410" y="2991"/>
              <a:ext cx="104" cy="103"/>
            </a:xfrm>
            <a:custGeom>
              <a:avLst/>
              <a:gdLst>
                <a:gd name="T0" fmla="*/ 0 w 104"/>
                <a:gd name="T1" fmla="*/ 103 h 103"/>
                <a:gd name="T2" fmla="*/ 104 w 104"/>
                <a:gd name="T3" fmla="*/ 50 h 103"/>
                <a:gd name="T4" fmla="*/ 0 w 104"/>
                <a:gd name="T5" fmla="*/ 0 h 103"/>
              </a:gdLst>
              <a:ahLst/>
              <a:cxnLst>
                <a:cxn ang="0">
                  <a:pos x="T0" y="T1"/>
                </a:cxn>
                <a:cxn ang="0">
                  <a:pos x="T2" y="T3"/>
                </a:cxn>
                <a:cxn ang="0">
                  <a:pos x="T4" y="T5"/>
                </a:cxn>
              </a:cxnLst>
              <a:rect l="0" t="0" r="r" b="b"/>
              <a:pathLst>
                <a:path w="104" h="103">
                  <a:moveTo>
                    <a:pt x="0" y="103"/>
                  </a:moveTo>
                  <a:lnTo>
                    <a:pt x="104"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485" name="Rectangle 13"/>
            <p:cNvSpPr>
              <a:spLocks noChangeArrowheads="1"/>
            </p:cNvSpPr>
            <p:nvPr/>
          </p:nvSpPr>
          <p:spPr bwMode="auto">
            <a:xfrm>
              <a:off x="2410" y="2672"/>
              <a:ext cx="1285" cy="4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493" name="Rectangle 21"/>
            <p:cNvSpPr>
              <a:spLocks noChangeArrowheads="1"/>
            </p:cNvSpPr>
            <p:nvPr/>
          </p:nvSpPr>
          <p:spPr bwMode="auto">
            <a:xfrm>
              <a:off x="3022" y="3006"/>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Q</a:t>
              </a:r>
              <a:endParaRPr lang="en-US" altLang="en-US" sz="2400"/>
            </a:p>
          </p:txBody>
        </p:sp>
        <p:sp>
          <p:nvSpPr>
            <p:cNvPr id="489496" name="Rectangle 24"/>
            <p:cNvSpPr>
              <a:spLocks noChangeArrowheads="1"/>
            </p:cNvSpPr>
            <p:nvPr/>
          </p:nvSpPr>
          <p:spPr bwMode="auto">
            <a:xfrm>
              <a:off x="3185" y="2767"/>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9497" name="Rectangle 25"/>
            <p:cNvSpPr>
              <a:spLocks noChangeArrowheads="1"/>
            </p:cNvSpPr>
            <p:nvPr/>
          </p:nvSpPr>
          <p:spPr bwMode="auto">
            <a:xfrm>
              <a:off x="3252" y="2767"/>
              <a:ext cx="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89498" name="Rectangle 26"/>
            <p:cNvSpPr>
              <a:spLocks noChangeArrowheads="1"/>
            </p:cNvSpPr>
            <p:nvPr/>
          </p:nvSpPr>
          <p:spPr bwMode="auto">
            <a:xfrm>
              <a:off x="3298" y="2767"/>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89499" name="Rectangle 27"/>
            <p:cNvSpPr>
              <a:spLocks noChangeArrowheads="1"/>
            </p:cNvSpPr>
            <p:nvPr/>
          </p:nvSpPr>
          <p:spPr bwMode="auto">
            <a:xfrm>
              <a:off x="3331" y="2767"/>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89500" name="Rectangle 28"/>
            <p:cNvSpPr>
              <a:spLocks noChangeArrowheads="1"/>
            </p:cNvSpPr>
            <p:nvPr/>
          </p:nvSpPr>
          <p:spPr bwMode="auto">
            <a:xfrm>
              <a:off x="3365" y="2767"/>
              <a:ext cx="3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 16-bit</a:t>
              </a:r>
              <a:endParaRPr lang="en-US" altLang="en-US" sz="2400"/>
            </a:p>
          </p:txBody>
        </p:sp>
        <p:sp>
          <p:nvSpPr>
            <p:cNvPr id="489501" name="Rectangle 29"/>
            <p:cNvSpPr>
              <a:spLocks noChangeArrowheads="1"/>
            </p:cNvSpPr>
            <p:nvPr/>
          </p:nvSpPr>
          <p:spPr bwMode="auto">
            <a:xfrm>
              <a:off x="3183" y="287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u</a:t>
              </a:r>
              <a:endParaRPr lang="en-US" altLang="en-US" sz="2400"/>
            </a:p>
          </p:txBody>
        </p:sp>
        <p:sp>
          <p:nvSpPr>
            <p:cNvPr id="489502" name="Rectangle 30"/>
            <p:cNvSpPr>
              <a:spLocks noChangeArrowheads="1"/>
            </p:cNvSpPr>
            <p:nvPr/>
          </p:nvSpPr>
          <p:spPr bwMode="auto">
            <a:xfrm>
              <a:off x="3238" y="287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a:t>
              </a:r>
              <a:endParaRPr lang="en-US" altLang="en-US" sz="2400"/>
            </a:p>
          </p:txBody>
        </p:sp>
        <p:sp>
          <p:nvSpPr>
            <p:cNvPr id="489503" name="Rectangle 31"/>
            <p:cNvSpPr>
              <a:spLocks noChangeArrowheads="1"/>
            </p:cNvSpPr>
            <p:nvPr/>
          </p:nvSpPr>
          <p:spPr bwMode="auto">
            <a:xfrm>
              <a:off x="3296" y="2878"/>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t>
              </a:r>
              <a:endParaRPr lang="en-US" altLang="en-US" sz="2400"/>
            </a:p>
          </p:txBody>
        </p:sp>
        <p:sp>
          <p:nvSpPr>
            <p:cNvPr id="489504" name="Rectangle 32"/>
            <p:cNvSpPr>
              <a:spLocks noChangeArrowheads="1"/>
            </p:cNvSpPr>
            <p:nvPr/>
          </p:nvSpPr>
          <p:spPr bwMode="auto">
            <a:xfrm>
              <a:off x="3329" y="2878"/>
              <a:ext cx="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89505" name="Rectangle 33"/>
            <p:cNvSpPr>
              <a:spLocks noChangeArrowheads="1"/>
            </p:cNvSpPr>
            <p:nvPr/>
          </p:nvSpPr>
          <p:spPr bwMode="auto">
            <a:xfrm>
              <a:off x="3373" y="2878"/>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ou</a:t>
              </a:r>
              <a:endParaRPr lang="en-US" altLang="en-US" sz="2400"/>
            </a:p>
          </p:txBody>
        </p:sp>
        <p:sp>
          <p:nvSpPr>
            <p:cNvPr id="489506" name="Rectangle 34"/>
            <p:cNvSpPr>
              <a:spLocks noChangeArrowheads="1"/>
            </p:cNvSpPr>
            <p:nvPr/>
          </p:nvSpPr>
          <p:spPr bwMode="auto">
            <a:xfrm>
              <a:off x="3483" y="287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a:t>
              </a:r>
              <a:endParaRPr lang="en-US" altLang="en-US" sz="2400"/>
            </a:p>
          </p:txBody>
        </p:sp>
        <p:sp>
          <p:nvSpPr>
            <p:cNvPr id="489507" name="Rectangle 35"/>
            <p:cNvSpPr>
              <a:spLocks noChangeArrowheads="1"/>
            </p:cNvSpPr>
            <p:nvPr/>
          </p:nvSpPr>
          <p:spPr bwMode="auto">
            <a:xfrm>
              <a:off x="3538" y="287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89508" name="Rectangle 36"/>
            <p:cNvSpPr>
              <a:spLocks noChangeArrowheads="1"/>
            </p:cNvSpPr>
            <p:nvPr/>
          </p:nvSpPr>
          <p:spPr bwMode="auto">
            <a:xfrm>
              <a:off x="3570" y="2878"/>
              <a:ext cx="8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er</a:t>
              </a:r>
              <a:endParaRPr lang="en-US" altLang="en-US" sz="2400"/>
            </a:p>
          </p:txBody>
        </p:sp>
        <p:sp>
          <p:nvSpPr>
            <p:cNvPr id="489631" name="Freeform 159"/>
            <p:cNvSpPr>
              <a:spLocks/>
            </p:cNvSpPr>
            <p:nvPr/>
          </p:nvSpPr>
          <p:spPr bwMode="auto">
            <a:xfrm>
              <a:off x="3195" y="1054"/>
              <a:ext cx="813" cy="1620"/>
            </a:xfrm>
            <a:custGeom>
              <a:avLst/>
              <a:gdLst>
                <a:gd name="T0" fmla="*/ 272 w 813"/>
                <a:gd name="T1" fmla="*/ 0 h 1620"/>
                <a:gd name="T2" fmla="*/ 750 w 813"/>
                <a:gd name="T3" fmla="*/ 304 h 1620"/>
                <a:gd name="T4" fmla="*/ 652 w 813"/>
                <a:gd name="T5" fmla="*/ 1044 h 1620"/>
                <a:gd name="T6" fmla="*/ 250 w 813"/>
                <a:gd name="T7" fmla="*/ 1261 h 1620"/>
                <a:gd name="T8" fmla="*/ 0 w 813"/>
                <a:gd name="T9" fmla="*/ 1620 h 1620"/>
              </a:gdLst>
              <a:ahLst/>
              <a:cxnLst>
                <a:cxn ang="0">
                  <a:pos x="T0" y="T1"/>
                </a:cxn>
                <a:cxn ang="0">
                  <a:pos x="T2" y="T3"/>
                </a:cxn>
                <a:cxn ang="0">
                  <a:pos x="T4" y="T5"/>
                </a:cxn>
                <a:cxn ang="0">
                  <a:pos x="T6" y="T7"/>
                </a:cxn>
                <a:cxn ang="0">
                  <a:pos x="T8" y="T9"/>
                </a:cxn>
              </a:cxnLst>
              <a:rect l="0" t="0" r="r" b="b"/>
              <a:pathLst>
                <a:path w="813" h="1620">
                  <a:moveTo>
                    <a:pt x="272" y="0"/>
                  </a:moveTo>
                  <a:cubicBezTo>
                    <a:pt x="352" y="51"/>
                    <a:pt x="687" y="130"/>
                    <a:pt x="750" y="304"/>
                  </a:cubicBezTo>
                  <a:cubicBezTo>
                    <a:pt x="813" y="478"/>
                    <a:pt x="735" y="885"/>
                    <a:pt x="652" y="1044"/>
                  </a:cubicBezTo>
                  <a:cubicBezTo>
                    <a:pt x="569" y="1203"/>
                    <a:pt x="359" y="1165"/>
                    <a:pt x="250" y="1261"/>
                  </a:cubicBezTo>
                  <a:cubicBezTo>
                    <a:pt x="141" y="1357"/>
                    <a:pt x="70" y="1488"/>
                    <a:pt x="0" y="1620"/>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89645" name="Group 173"/>
          <p:cNvGrpSpPr>
            <a:grpSpLocks/>
          </p:cNvGrpSpPr>
          <p:nvPr/>
        </p:nvGrpSpPr>
        <p:grpSpPr bwMode="auto">
          <a:xfrm>
            <a:off x="5934075" y="1466850"/>
            <a:ext cx="1746250" cy="4327525"/>
            <a:chOff x="3738" y="924"/>
            <a:chExt cx="1100" cy="2726"/>
          </a:xfrm>
        </p:grpSpPr>
        <p:grpSp>
          <p:nvGrpSpPr>
            <p:cNvPr id="489638" name="Group 166"/>
            <p:cNvGrpSpPr>
              <a:grpSpLocks/>
            </p:cNvGrpSpPr>
            <p:nvPr/>
          </p:nvGrpSpPr>
          <p:grpSpPr bwMode="auto">
            <a:xfrm>
              <a:off x="4626" y="3122"/>
              <a:ext cx="212" cy="528"/>
              <a:chOff x="4626" y="3122"/>
              <a:chExt cx="212" cy="528"/>
            </a:xfrm>
          </p:grpSpPr>
          <p:sp>
            <p:nvSpPr>
              <p:cNvPr id="489480" name="Freeform 8"/>
              <p:cNvSpPr>
                <a:spLocks/>
              </p:cNvSpPr>
              <p:nvPr/>
            </p:nvSpPr>
            <p:spPr bwMode="auto">
              <a:xfrm>
                <a:off x="4651" y="3541"/>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21" name="Rectangle 49"/>
              <p:cNvSpPr>
                <a:spLocks noChangeArrowheads="1"/>
              </p:cNvSpPr>
              <p:nvPr/>
            </p:nvSpPr>
            <p:spPr bwMode="auto">
              <a:xfrm>
                <a:off x="4734" y="3347"/>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489522" name="Rectangle 50"/>
              <p:cNvSpPr>
                <a:spLocks noChangeArrowheads="1"/>
              </p:cNvSpPr>
              <p:nvPr/>
            </p:nvSpPr>
            <p:spPr bwMode="auto">
              <a:xfrm>
                <a:off x="4752" y="3525"/>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89548" name="Line 76"/>
              <p:cNvSpPr>
                <a:spLocks noChangeShapeType="1"/>
              </p:cNvSpPr>
              <p:nvPr/>
            </p:nvSpPr>
            <p:spPr bwMode="auto">
              <a:xfrm flipV="1">
                <a:off x="4676" y="3122"/>
                <a:ext cx="1" cy="43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9549" name="Line 77"/>
              <p:cNvSpPr>
                <a:spLocks noChangeShapeType="1"/>
              </p:cNvSpPr>
              <p:nvPr/>
            </p:nvSpPr>
            <p:spPr bwMode="auto">
              <a:xfrm flipH="1">
                <a:off x="4626" y="3353"/>
                <a:ext cx="100" cy="1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489632" name="Freeform 160"/>
            <p:cNvSpPr>
              <a:spLocks/>
            </p:cNvSpPr>
            <p:nvPr/>
          </p:nvSpPr>
          <p:spPr bwMode="auto">
            <a:xfrm>
              <a:off x="3738" y="924"/>
              <a:ext cx="924" cy="2630"/>
            </a:xfrm>
            <a:custGeom>
              <a:avLst/>
              <a:gdLst>
                <a:gd name="T0" fmla="*/ 370 w 924"/>
                <a:gd name="T1" fmla="*/ 0 h 2630"/>
                <a:gd name="T2" fmla="*/ 337 w 924"/>
                <a:gd name="T3" fmla="*/ 434 h 2630"/>
                <a:gd name="T4" fmla="*/ 98 w 924"/>
                <a:gd name="T5" fmla="*/ 2184 h 2630"/>
                <a:gd name="T6" fmla="*/ 924 w 924"/>
                <a:gd name="T7" fmla="*/ 2630 h 2630"/>
              </a:gdLst>
              <a:ahLst/>
              <a:cxnLst>
                <a:cxn ang="0">
                  <a:pos x="T0" y="T1"/>
                </a:cxn>
                <a:cxn ang="0">
                  <a:pos x="T2" y="T3"/>
                </a:cxn>
                <a:cxn ang="0">
                  <a:pos x="T4" y="T5"/>
                </a:cxn>
                <a:cxn ang="0">
                  <a:pos x="T6" y="T7"/>
                </a:cxn>
              </a:cxnLst>
              <a:rect l="0" t="0" r="r" b="b"/>
              <a:pathLst>
                <a:path w="924" h="2630">
                  <a:moveTo>
                    <a:pt x="370" y="0"/>
                  </a:moveTo>
                  <a:cubicBezTo>
                    <a:pt x="365" y="72"/>
                    <a:pt x="382" y="70"/>
                    <a:pt x="337" y="434"/>
                  </a:cubicBezTo>
                  <a:cubicBezTo>
                    <a:pt x="292" y="798"/>
                    <a:pt x="0" y="1818"/>
                    <a:pt x="98" y="2184"/>
                  </a:cubicBezTo>
                  <a:cubicBezTo>
                    <a:pt x="196" y="2550"/>
                    <a:pt x="553" y="2589"/>
                    <a:pt x="924" y="2630"/>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89652" name="Group 180"/>
          <p:cNvGrpSpPr>
            <a:grpSpLocks/>
          </p:cNvGrpSpPr>
          <p:nvPr/>
        </p:nvGrpSpPr>
        <p:grpSpPr bwMode="auto">
          <a:xfrm>
            <a:off x="3176588" y="3208338"/>
            <a:ext cx="3582987" cy="1241425"/>
            <a:chOff x="2001" y="2021"/>
            <a:chExt cx="2257" cy="782"/>
          </a:xfrm>
        </p:grpSpPr>
        <p:sp>
          <p:nvSpPr>
            <p:cNvPr id="489478" name="Freeform 6"/>
            <p:cNvSpPr>
              <a:spLocks/>
            </p:cNvSpPr>
            <p:nvPr/>
          </p:nvSpPr>
          <p:spPr bwMode="auto">
            <a:xfrm>
              <a:off x="3929" y="2710"/>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42" name="Freeform 70"/>
            <p:cNvSpPr>
              <a:spLocks/>
            </p:cNvSpPr>
            <p:nvPr/>
          </p:nvSpPr>
          <p:spPr bwMode="auto">
            <a:xfrm>
              <a:off x="2001" y="2413"/>
              <a:ext cx="1947" cy="322"/>
            </a:xfrm>
            <a:custGeom>
              <a:avLst/>
              <a:gdLst>
                <a:gd name="T0" fmla="*/ 1947 w 1947"/>
                <a:gd name="T1" fmla="*/ 322 h 322"/>
                <a:gd name="T2" fmla="*/ 1863 w 1947"/>
                <a:gd name="T3" fmla="*/ 322 h 322"/>
                <a:gd name="T4" fmla="*/ 1863 w 1947"/>
                <a:gd name="T5" fmla="*/ 0 h 322"/>
                <a:gd name="T6" fmla="*/ 0 w 1947"/>
                <a:gd name="T7" fmla="*/ 0 h 322"/>
              </a:gdLst>
              <a:ahLst/>
              <a:cxnLst>
                <a:cxn ang="0">
                  <a:pos x="T0" y="T1"/>
                </a:cxn>
                <a:cxn ang="0">
                  <a:pos x="T2" y="T3"/>
                </a:cxn>
                <a:cxn ang="0">
                  <a:pos x="T4" y="T5"/>
                </a:cxn>
                <a:cxn ang="0">
                  <a:pos x="T6" y="T7"/>
                </a:cxn>
              </a:cxnLst>
              <a:rect l="0" t="0" r="r" b="b"/>
              <a:pathLst>
                <a:path w="1947" h="322">
                  <a:moveTo>
                    <a:pt x="1947" y="322"/>
                  </a:moveTo>
                  <a:lnTo>
                    <a:pt x="1863" y="322"/>
                  </a:lnTo>
                  <a:lnTo>
                    <a:pt x="1863"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89491" name="Rectangle 19"/>
            <p:cNvSpPr>
              <a:spLocks noChangeArrowheads="1"/>
            </p:cNvSpPr>
            <p:nvPr/>
          </p:nvSpPr>
          <p:spPr bwMode="auto">
            <a:xfrm>
              <a:off x="4056" y="2678"/>
              <a:ext cx="20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clear</a:t>
              </a:r>
              <a:endParaRPr lang="en-US" altLang="en-US" sz="2400"/>
            </a:p>
          </p:txBody>
        </p:sp>
        <p:sp>
          <p:nvSpPr>
            <p:cNvPr id="489649" name="Freeform 177"/>
            <p:cNvSpPr>
              <a:spLocks/>
            </p:cNvSpPr>
            <p:nvPr/>
          </p:nvSpPr>
          <p:spPr bwMode="auto">
            <a:xfrm>
              <a:off x="2054" y="2021"/>
              <a:ext cx="2032" cy="674"/>
            </a:xfrm>
            <a:custGeom>
              <a:avLst/>
              <a:gdLst>
                <a:gd name="T0" fmla="*/ 0 w 2032"/>
                <a:gd name="T1" fmla="*/ 0 h 674"/>
                <a:gd name="T2" fmla="*/ 674 w 2032"/>
                <a:gd name="T3" fmla="*/ 66 h 674"/>
                <a:gd name="T4" fmla="*/ 1337 w 2032"/>
                <a:gd name="T5" fmla="*/ 131 h 674"/>
                <a:gd name="T6" fmla="*/ 2032 w 2032"/>
                <a:gd name="T7" fmla="*/ 674 h 674"/>
              </a:gdLst>
              <a:ahLst/>
              <a:cxnLst>
                <a:cxn ang="0">
                  <a:pos x="T0" y="T1"/>
                </a:cxn>
                <a:cxn ang="0">
                  <a:pos x="T2" y="T3"/>
                </a:cxn>
                <a:cxn ang="0">
                  <a:pos x="T4" y="T5"/>
                </a:cxn>
                <a:cxn ang="0">
                  <a:pos x="T6" y="T7"/>
                </a:cxn>
              </a:cxnLst>
              <a:rect l="0" t="0" r="r" b="b"/>
              <a:pathLst>
                <a:path w="2032" h="674">
                  <a:moveTo>
                    <a:pt x="0" y="0"/>
                  </a:moveTo>
                  <a:cubicBezTo>
                    <a:pt x="112" y="11"/>
                    <a:pt x="451" y="44"/>
                    <a:pt x="674" y="66"/>
                  </a:cubicBezTo>
                  <a:cubicBezTo>
                    <a:pt x="897" y="88"/>
                    <a:pt x="1111" y="30"/>
                    <a:pt x="1337" y="131"/>
                  </a:cubicBezTo>
                  <a:cubicBezTo>
                    <a:pt x="1563" y="232"/>
                    <a:pt x="1853" y="452"/>
                    <a:pt x="2032" y="674"/>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89653" name="Group 181"/>
          <p:cNvGrpSpPr>
            <a:grpSpLocks/>
          </p:cNvGrpSpPr>
          <p:nvPr/>
        </p:nvGrpSpPr>
        <p:grpSpPr bwMode="auto">
          <a:xfrm>
            <a:off x="3190875" y="3054350"/>
            <a:ext cx="1444625" cy="1395413"/>
            <a:chOff x="2010" y="1924"/>
            <a:chExt cx="910" cy="879"/>
          </a:xfrm>
        </p:grpSpPr>
        <p:sp>
          <p:nvSpPr>
            <p:cNvPr id="489544" name="Line 72"/>
            <p:cNvSpPr>
              <a:spLocks noChangeShapeType="1"/>
            </p:cNvSpPr>
            <p:nvPr/>
          </p:nvSpPr>
          <p:spPr bwMode="auto">
            <a:xfrm flipH="1">
              <a:off x="2010" y="2735"/>
              <a:ext cx="31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9486" name="Rectangle 14"/>
            <p:cNvSpPr>
              <a:spLocks noChangeArrowheads="1"/>
            </p:cNvSpPr>
            <p:nvPr/>
          </p:nvSpPr>
          <p:spPr bwMode="auto">
            <a:xfrm>
              <a:off x="2431" y="2678"/>
              <a:ext cx="20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clear</a:t>
              </a:r>
              <a:endParaRPr lang="en-US" altLang="en-US" sz="2400"/>
            </a:p>
          </p:txBody>
        </p:sp>
        <p:sp>
          <p:nvSpPr>
            <p:cNvPr id="489545" name="Freeform 73"/>
            <p:cNvSpPr>
              <a:spLocks/>
            </p:cNvSpPr>
            <p:nvPr/>
          </p:nvSpPr>
          <p:spPr bwMode="auto">
            <a:xfrm>
              <a:off x="2304" y="2710"/>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651" name="Freeform 179"/>
            <p:cNvSpPr>
              <a:spLocks/>
            </p:cNvSpPr>
            <p:nvPr/>
          </p:nvSpPr>
          <p:spPr bwMode="auto">
            <a:xfrm>
              <a:off x="2597" y="1924"/>
              <a:ext cx="323" cy="804"/>
            </a:xfrm>
            <a:custGeom>
              <a:avLst/>
              <a:gdLst>
                <a:gd name="T0" fmla="*/ 305 w 323"/>
                <a:gd name="T1" fmla="*/ 0 h 804"/>
                <a:gd name="T2" fmla="*/ 272 w 323"/>
                <a:gd name="T3" fmla="*/ 543 h 804"/>
                <a:gd name="T4" fmla="*/ 0 w 323"/>
                <a:gd name="T5" fmla="*/ 804 h 804"/>
              </a:gdLst>
              <a:ahLst/>
              <a:cxnLst>
                <a:cxn ang="0">
                  <a:pos x="T0" y="T1"/>
                </a:cxn>
                <a:cxn ang="0">
                  <a:pos x="T2" y="T3"/>
                </a:cxn>
                <a:cxn ang="0">
                  <a:pos x="T4" y="T5"/>
                </a:cxn>
              </a:cxnLst>
              <a:rect l="0" t="0" r="r" b="b"/>
              <a:pathLst>
                <a:path w="323" h="804">
                  <a:moveTo>
                    <a:pt x="305" y="0"/>
                  </a:moveTo>
                  <a:cubicBezTo>
                    <a:pt x="314" y="204"/>
                    <a:pt x="323" y="409"/>
                    <a:pt x="272" y="543"/>
                  </a:cubicBezTo>
                  <a:cubicBezTo>
                    <a:pt x="221" y="677"/>
                    <a:pt x="110" y="740"/>
                    <a:pt x="0" y="804"/>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89657" name="Group 185"/>
          <p:cNvGrpSpPr>
            <a:grpSpLocks/>
          </p:cNvGrpSpPr>
          <p:nvPr/>
        </p:nvGrpSpPr>
        <p:grpSpPr bwMode="auto">
          <a:xfrm>
            <a:off x="3186113" y="3225800"/>
            <a:ext cx="4365625" cy="1449388"/>
            <a:chOff x="2007" y="2032"/>
            <a:chExt cx="2750" cy="913"/>
          </a:xfrm>
        </p:grpSpPr>
        <p:grpSp>
          <p:nvGrpSpPr>
            <p:cNvPr id="489654" name="Group 182"/>
            <p:cNvGrpSpPr>
              <a:grpSpLocks/>
            </p:cNvGrpSpPr>
            <p:nvPr/>
          </p:nvGrpSpPr>
          <p:grpSpPr bwMode="auto">
            <a:xfrm>
              <a:off x="2007" y="2820"/>
              <a:ext cx="663" cy="125"/>
              <a:chOff x="2007" y="2820"/>
              <a:chExt cx="663" cy="125"/>
            </a:xfrm>
          </p:grpSpPr>
          <p:sp>
            <p:nvSpPr>
              <p:cNvPr id="489547" name="Freeform 75"/>
              <p:cNvSpPr>
                <a:spLocks/>
              </p:cNvSpPr>
              <p:nvPr/>
            </p:nvSpPr>
            <p:spPr bwMode="auto">
              <a:xfrm>
                <a:off x="2307" y="2860"/>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89546" name="Line 74"/>
              <p:cNvSpPr>
                <a:spLocks noChangeShapeType="1"/>
              </p:cNvSpPr>
              <p:nvPr/>
            </p:nvSpPr>
            <p:spPr bwMode="auto">
              <a:xfrm flipH="1">
                <a:off x="2007" y="2885"/>
                <a:ext cx="31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89487" name="Rectangle 15"/>
              <p:cNvSpPr>
                <a:spLocks noChangeArrowheads="1"/>
              </p:cNvSpPr>
              <p:nvPr/>
            </p:nvSpPr>
            <p:spPr bwMode="auto">
              <a:xfrm>
                <a:off x="2431" y="2820"/>
                <a:ext cx="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89488" name="Rectangle 16"/>
              <p:cNvSpPr>
                <a:spLocks noChangeArrowheads="1"/>
              </p:cNvSpPr>
              <p:nvPr/>
            </p:nvSpPr>
            <p:spPr bwMode="auto">
              <a:xfrm>
                <a:off x="2475" y="2820"/>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ou</a:t>
                </a:r>
                <a:endParaRPr lang="en-US" altLang="en-US" sz="2400"/>
              </a:p>
            </p:txBody>
          </p:sp>
          <p:sp>
            <p:nvSpPr>
              <p:cNvPr id="489489" name="Rectangle 17"/>
              <p:cNvSpPr>
                <a:spLocks noChangeArrowheads="1"/>
              </p:cNvSpPr>
              <p:nvPr/>
            </p:nvSpPr>
            <p:spPr bwMode="auto">
              <a:xfrm>
                <a:off x="2585" y="2820"/>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a:t>
                </a:r>
                <a:endParaRPr lang="en-US" altLang="en-US" sz="2400"/>
              </a:p>
            </p:txBody>
          </p:sp>
          <p:sp>
            <p:nvSpPr>
              <p:cNvPr id="489490" name="Rectangle 18"/>
              <p:cNvSpPr>
                <a:spLocks noChangeArrowheads="1"/>
              </p:cNvSpPr>
              <p:nvPr/>
            </p:nvSpPr>
            <p:spPr bwMode="auto">
              <a:xfrm>
                <a:off x="2641" y="2820"/>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grpSp>
        <p:sp>
          <p:nvSpPr>
            <p:cNvPr id="489656" name="Freeform 184"/>
            <p:cNvSpPr>
              <a:spLocks/>
            </p:cNvSpPr>
            <p:nvPr/>
          </p:nvSpPr>
          <p:spPr bwMode="auto">
            <a:xfrm>
              <a:off x="2663" y="2032"/>
              <a:ext cx="2094" cy="837"/>
            </a:xfrm>
            <a:custGeom>
              <a:avLst/>
              <a:gdLst>
                <a:gd name="T0" fmla="*/ 1804 w 2094"/>
                <a:gd name="T1" fmla="*/ 0 h 837"/>
                <a:gd name="T2" fmla="*/ 1793 w 2094"/>
                <a:gd name="T3" fmla="*/ 272 h 837"/>
                <a:gd name="T4" fmla="*/ 0 w 2094"/>
                <a:gd name="T5" fmla="*/ 837 h 837"/>
              </a:gdLst>
              <a:ahLst/>
              <a:cxnLst>
                <a:cxn ang="0">
                  <a:pos x="T0" y="T1"/>
                </a:cxn>
                <a:cxn ang="0">
                  <a:pos x="T2" y="T3"/>
                </a:cxn>
                <a:cxn ang="0">
                  <a:pos x="T4" y="T5"/>
                </a:cxn>
              </a:cxnLst>
              <a:rect l="0" t="0" r="r" b="b"/>
              <a:pathLst>
                <a:path w="2094" h="837">
                  <a:moveTo>
                    <a:pt x="1804" y="0"/>
                  </a:moveTo>
                  <a:cubicBezTo>
                    <a:pt x="1949" y="66"/>
                    <a:pt x="2094" y="133"/>
                    <a:pt x="1793" y="272"/>
                  </a:cubicBezTo>
                  <a:cubicBezTo>
                    <a:pt x="1492" y="411"/>
                    <a:pt x="746" y="624"/>
                    <a:pt x="0" y="837"/>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89743" name="Text Box 271"/>
          <p:cNvSpPr txBox="1">
            <a:spLocks noChangeArrowheads="1"/>
          </p:cNvSpPr>
          <p:nvPr/>
        </p:nvSpPr>
        <p:spPr bwMode="auto">
          <a:xfrm>
            <a:off x="8689975" y="338296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489744" name="Rectangle 272"/>
          <p:cNvSpPr>
            <a:spLocks noChangeArrowheads="1"/>
          </p:cNvSpPr>
          <p:nvPr/>
        </p:nvSpPr>
        <p:spPr bwMode="auto">
          <a:xfrm>
            <a:off x="2867025" y="1249363"/>
            <a:ext cx="19891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Inputs: B, S (1 bit each)</a:t>
            </a:r>
            <a:endParaRPr lang="en-US" altLang="en-US" sz="2800"/>
          </a:p>
        </p:txBody>
      </p:sp>
      <p:sp>
        <p:nvSpPr>
          <p:cNvPr id="489745" name="Rectangle 273"/>
          <p:cNvSpPr>
            <a:spLocks noChangeArrowheads="1"/>
          </p:cNvSpPr>
          <p:nvPr/>
        </p:nvSpPr>
        <p:spPr bwMode="auto">
          <a:xfrm>
            <a:off x="5114925" y="1249363"/>
            <a:ext cx="22431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Outputs: L (bit), D (16 bits)</a:t>
            </a:r>
            <a:endParaRPr lang="en-US"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8964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896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8964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8965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48965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489657"/>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4896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Slide Number Placeholder 3"/>
          <p:cNvSpPr>
            <a:spLocks noGrp="1"/>
          </p:cNvSpPr>
          <p:nvPr>
            <p:ph type="sldNum" sz="quarter" idx="10"/>
          </p:nvPr>
        </p:nvSpPr>
        <p:spPr/>
        <p:txBody>
          <a:bodyPr/>
          <a:lstStyle/>
          <a:p>
            <a:fld id="{0562BFF5-973C-496E-9986-1300E41DD104}" type="slidenum">
              <a:rPr lang="en-US" altLang="en-US"/>
              <a:pPr/>
              <a:t>21</a:t>
            </a:fld>
            <a:endParaRPr lang="en-US" altLang="en-US"/>
          </a:p>
        </p:txBody>
      </p:sp>
      <p:sp>
        <p:nvSpPr>
          <p:cNvPr id="490498" name="Rectangle 2"/>
          <p:cNvSpPr>
            <a:spLocks noGrp="1" noChangeArrowheads="1"/>
          </p:cNvSpPr>
          <p:nvPr>
            <p:ph type="title"/>
          </p:nvPr>
        </p:nvSpPr>
        <p:spPr/>
        <p:txBody>
          <a:bodyPr/>
          <a:lstStyle/>
          <a:p>
            <a:r>
              <a:rPr lang="en-US" altLang="en-US"/>
              <a:t>Step 2 Example: </a:t>
            </a:r>
            <a:r>
              <a:rPr lang="en-US" altLang="en-US" sz="3200"/>
              <a:t>Laser-Based Distance Measurer</a:t>
            </a:r>
          </a:p>
        </p:txBody>
      </p:sp>
      <p:sp>
        <p:nvSpPr>
          <p:cNvPr id="490499" name="Rectangle 3"/>
          <p:cNvSpPr>
            <a:spLocks noGrp="1" noChangeArrowheads="1"/>
          </p:cNvSpPr>
          <p:nvPr>
            <p:ph type="body" idx="1"/>
          </p:nvPr>
        </p:nvSpPr>
        <p:spPr>
          <a:xfrm>
            <a:off x="212725" y="1341438"/>
            <a:ext cx="2276475" cy="4583112"/>
          </a:xfrm>
        </p:spPr>
        <p:txBody>
          <a:bodyPr/>
          <a:lstStyle/>
          <a:p>
            <a:pPr>
              <a:buFontTx/>
              <a:buNone/>
            </a:pPr>
            <a:r>
              <a:rPr lang="en-US" altLang="en-US" sz="1600"/>
              <a:t>(c) (continued) Examine every state and transition, and instantiate datapath components and connections to implement any data computations</a:t>
            </a:r>
          </a:p>
          <a:p>
            <a:pPr>
              <a:buFontTx/>
              <a:buNone/>
            </a:pPr>
            <a:endParaRPr lang="en-US" altLang="en-US" sz="1600"/>
          </a:p>
        </p:txBody>
      </p:sp>
      <p:sp>
        <p:nvSpPr>
          <p:cNvPr id="490666" name="Freeform 170"/>
          <p:cNvSpPr>
            <a:spLocks/>
          </p:cNvSpPr>
          <p:nvPr/>
        </p:nvSpPr>
        <p:spPr bwMode="auto">
          <a:xfrm>
            <a:off x="6143625" y="4581525"/>
            <a:ext cx="166688" cy="825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667" name="Freeform 171"/>
          <p:cNvSpPr>
            <a:spLocks/>
          </p:cNvSpPr>
          <p:nvPr/>
        </p:nvSpPr>
        <p:spPr bwMode="auto">
          <a:xfrm>
            <a:off x="6151563" y="4830763"/>
            <a:ext cx="165100" cy="825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668" name="Freeform 172"/>
          <p:cNvSpPr>
            <a:spLocks/>
          </p:cNvSpPr>
          <p:nvPr/>
        </p:nvSpPr>
        <p:spPr bwMode="auto">
          <a:xfrm>
            <a:off x="7339013" y="5972175"/>
            <a:ext cx="84137" cy="16668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670" name="Freeform 174"/>
          <p:cNvSpPr>
            <a:spLocks/>
          </p:cNvSpPr>
          <p:nvPr/>
        </p:nvSpPr>
        <p:spPr bwMode="auto">
          <a:xfrm>
            <a:off x="3465513" y="5043488"/>
            <a:ext cx="171450" cy="176212"/>
          </a:xfrm>
          <a:custGeom>
            <a:avLst/>
            <a:gdLst>
              <a:gd name="T0" fmla="*/ 0 w 103"/>
              <a:gd name="T1" fmla="*/ 107 h 107"/>
              <a:gd name="T2" fmla="*/ 103 w 103"/>
              <a:gd name="T3" fmla="*/ 53 h 107"/>
              <a:gd name="T4" fmla="*/ 0 w 103"/>
              <a:gd name="T5" fmla="*/ 0 h 107"/>
            </a:gdLst>
            <a:ahLst/>
            <a:cxnLst>
              <a:cxn ang="0">
                <a:pos x="T0" y="T1"/>
              </a:cxn>
              <a:cxn ang="0">
                <a:pos x="T2" y="T3"/>
              </a:cxn>
              <a:cxn ang="0">
                <a:pos x="T4" y="T5"/>
              </a:cxn>
            </a:cxnLst>
            <a:rect l="0" t="0" r="r" b="b"/>
            <a:pathLst>
              <a:path w="103" h="107">
                <a:moveTo>
                  <a:pt x="0" y="107"/>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671" name="Freeform 175"/>
          <p:cNvSpPr>
            <a:spLocks/>
          </p:cNvSpPr>
          <p:nvPr/>
        </p:nvSpPr>
        <p:spPr bwMode="auto">
          <a:xfrm>
            <a:off x="6321425" y="5043488"/>
            <a:ext cx="169863" cy="176212"/>
          </a:xfrm>
          <a:custGeom>
            <a:avLst/>
            <a:gdLst>
              <a:gd name="T0" fmla="*/ 0 w 103"/>
              <a:gd name="T1" fmla="*/ 107 h 107"/>
              <a:gd name="T2" fmla="*/ 103 w 103"/>
              <a:gd name="T3" fmla="*/ 53 h 107"/>
              <a:gd name="T4" fmla="*/ 0 w 103"/>
              <a:gd name="T5" fmla="*/ 0 h 107"/>
            </a:gdLst>
            <a:ahLst/>
            <a:cxnLst>
              <a:cxn ang="0">
                <a:pos x="T0" y="T1"/>
              </a:cxn>
              <a:cxn ang="0">
                <a:pos x="T2" y="T3"/>
              </a:cxn>
              <a:cxn ang="0">
                <a:pos x="T4" y="T5"/>
              </a:cxn>
            </a:cxnLst>
            <a:rect l="0" t="0" r="r" b="b"/>
            <a:pathLst>
              <a:path w="103" h="107">
                <a:moveTo>
                  <a:pt x="0" y="107"/>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672" name="Rectangle 176"/>
          <p:cNvSpPr>
            <a:spLocks noChangeArrowheads="1"/>
          </p:cNvSpPr>
          <p:nvPr/>
        </p:nvSpPr>
        <p:spPr bwMode="auto">
          <a:xfrm>
            <a:off x="3206750" y="3402013"/>
            <a:ext cx="5395913" cy="245110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673" name="Rectangle 177"/>
          <p:cNvSpPr>
            <a:spLocks noChangeArrowheads="1"/>
          </p:cNvSpPr>
          <p:nvPr/>
        </p:nvSpPr>
        <p:spPr bwMode="auto">
          <a:xfrm>
            <a:off x="3465513" y="4518025"/>
            <a:ext cx="2120900" cy="74930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674" name="Rectangle 178"/>
          <p:cNvSpPr>
            <a:spLocks noChangeArrowheads="1"/>
          </p:cNvSpPr>
          <p:nvPr/>
        </p:nvSpPr>
        <p:spPr bwMode="auto">
          <a:xfrm>
            <a:off x="3497263" y="4525963"/>
            <a:ext cx="3206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clear</a:t>
            </a:r>
            <a:endParaRPr lang="en-US" altLang="en-US" sz="2400"/>
          </a:p>
        </p:txBody>
      </p:sp>
      <p:sp>
        <p:nvSpPr>
          <p:cNvPr id="490675" name="Rectangle 179"/>
          <p:cNvSpPr>
            <a:spLocks noChangeArrowheads="1"/>
          </p:cNvSpPr>
          <p:nvPr/>
        </p:nvSpPr>
        <p:spPr bwMode="auto">
          <a:xfrm>
            <a:off x="3497263" y="4762500"/>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90676" name="Rectangle 180"/>
          <p:cNvSpPr>
            <a:spLocks noChangeArrowheads="1"/>
          </p:cNvSpPr>
          <p:nvPr/>
        </p:nvSpPr>
        <p:spPr bwMode="auto">
          <a:xfrm>
            <a:off x="3570288" y="4762500"/>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ou</a:t>
            </a:r>
            <a:endParaRPr lang="en-US" altLang="en-US" sz="2400"/>
          </a:p>
        </p:txBody>
      </p:sp>
      <p:sp>
        <p:nvSpPr>
          <p:cNvPr id="490677" name="Rectangle 181"/>
          <p:cNvSpPr>
            <a:spLocks noChangeArrowheads="1"/>
          </p:cNvSpPr>
          <p:nvPr/>
        </p:nvSpPr>
        <p:spPr bwMode="auto">
          <a:xfrm>
            <a:off x="3752850" y="476250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a:t>
            </a:r>
            <a:endParaRPr lang="en-US" altLang="en-US" sz="2400"/>
          </a:p>
        </p:txBody>
      </p:sp>
      <p:sp>
        <p:nvSpPr>
          <p:cNvPr id="490678" name="Rectangle 182"/>
          <p:cNvSpPr>
            <a:spLocks noChangeArrowheads="1"/>
          </p:cNvSpPr>
          <p:nvPr/>
        </p:nvSpPr>
        <p:spPr bwMode="auto">
          <a:xfrm>
            <a:off x="3843338" y="4762500"/>
            <a:ext cx="460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90679" name="Rectangle 183"/>
          <p:cNvSpPr>
            <a:spLocks noChangeArrowheads="1"/>
          </p:cNvSpPr>
          <p:nvPr/>
        </p:nvSpPr>
        <p:spPr bwMode="auto">
          <a:xfrm>
            <a:off x="6354763" y="4525963"/>
            <a:ext cx="3206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clear</a:t>
            </a:r>
            <a:endParaRPr lang="en-US" altLang="en-US" sz="2400"/>
          </a:p>
        </p:txBody>
      </p:sp>
      <p:sp>
        <p:nvSpPr>
          <p:cNvPr id="490680" name="Rectangle 184"/>
          <p:cNvSpPr>
            <a:spLocks noChangeArrowheads="1"/>
          </p:cNvSpPr>
          <p:nvPr/>
        </p:nvSpPr>
        <p:spPr bwMode="auto">
          <a:xfrm>
            <a:off x="6354763" y="4779963"/>
            <a:ext cx="2841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load</a:t>
            </a:r>
            <a:endParaRPr lang="en-US" altLang="en-US" sz="2400"/>
          </a:p>
        </p:txBody>
      </p:sp>
      <p:sp>
        <p:nvSpPr>
          <p:cNvPr id="490681" name="Rectangle 185"/>
          <p:cNvSpPr>
            <a:spLocks noChangeArrowheads="1"/>
          </p:cNvSpPr>
          <p:nvPr/>
        </p:nvSpPr>
        <p:spPr bwMode="auto">
          <a:xfrm>
            <a:off x="4475163" y="5070475"/>
            <a:ext cx="1190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Q</a:t>
            </a:r>
            <a:endParaRPr lang="en-US" altLang="en-US" sz="2400"/>
          </a:p>
        </p:txBody>
      </p:sp>
      <p:sp>
        <p:nvSpPr>
          <p:cNvPr id="490682" name="Rectangle 186"/>
          <p:cNvSpPr>
            <a:spLocks noChangeArrowheads="1"/>
          </p:cNvSpPr>
          <p:nvPr/>
        </p:nvSpPr>
        <p:spPr bwMode="auto">
          <a:xfrm>
            <a:off x="7326313" y="5070475"/>
            <a:ext cx="1190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Q</a:t>
            </a:r>
            <a:endParaRPr lang="en-US" altLang="en-US" sz="2400"/>
          </a:p>
        </p:txBody>
      </p:sp>
      <p:sp>
        <p:nvSpPr>
          <p:cNvPr id="490683" name="Rectangle 187"/>
          <p:cNvSpPr>
            <a:spLocks noChangeArrowheads="1"/>
          </p:cNvSpPr>
          <p:nvPr/>
        </p:nvSpPr>
        <p:spPr bwMode="auto">
          <a:xfrm>
            <a:off x="7362825" y="4530725"/>
            <a:ext cx="555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a:t>
            </a:r>
            <a:endParaRPr lang="en-US" altLang="en-US" sz="2400"/>
          </a:p>
        </p:txBody>
      </p:sp>
      <p:sp>
        <p:nvSpPr>
          <p:cNvPr id="490684" name="Rectangle 188"/>
          <p:cNvSpPr>
            <a:spLocks noChangeArrowheads="1"/>
          </p:cNvSpPr>
          <p:nvPr/>
        </p:nvSpPr>
        <p:spPr bwMode="auto">
          <a:xfrm>
            <a:off x="4743450" y="4670425"/>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0685" name="Rectangle 189"/>
          <p:cNvSpPr>
            <a:spLocks noChangeArrowheads="1"/>
          </p:cNvSpPr>
          <p:nvPr/>
        </p:nvSpPr>
        <p:spPr bwMode="auto">
          <a:xfrm>
            <a:off x="4854575" y="4670425"/>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90686" name="Rectangle 190"/>
          <p:cNvSpPr>
            <a:spLocks noChangeArrowheads="1"/>
          </p:cNvSpPr>
          <p:nvPr/>
        </p:nvSpPr>
        <p:spPr bwMode="auto">
          <a:xfrm>
            <a:off x="4932363" y="4670425"/>
            <a:ext cx="460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90687" name="Rectangle 191"/>
          <p:cNvSpPr>
            <a:spLocks noChangeArrowheads="1"/>
          </p:cNvSpPr>
          <p:nvPr/>
        </p:nvSpPr>
        <p:spPr bwMode="auto">
          <a:xfrm>
            <a:off x="4987925" y="4670425"/>
            <a:ext cx="555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90688" name="Rectangle 192"/>
          <p:cNvSpPr>
            <a:spLocks noChangeArrowheads="1"/>
          </p:cNvSpPr>
          <p:nvPr/>
        </p:nvSpPr>
        <p:spPr bwMode="auto">
          <a:xfrm>
            <a:off x="5041900" y="4670425"/>
            <a:ext cx="482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 16-bit</a:t>
            </a:r>
            <a:endParaRPr lang="en-US" altLang="en-US" sz="2400"/>
          </a:p>
        </p:txBody>
      </p:sp>
      <p:sp>
        <p:nvSpPr>
          <p:cNvPr id="490689" name="Rectangle 193"/>
          <p:cNvSpPr>
            <a:spLocks noChangeArrowheads="1"/>
          </p:cNvSpPr>
          <p:nvPr/>
        </p:nvSpPr>
        <p:spPr bwMode="auto">
          <a:xfrm>
            <a:off x="4740275" y="485775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u</a:t>
            </a:r>
            <a:endParaRPr lang="en-US" altLang="en-US" sz="2400"/>
          </a:p>
        </p:txBody>
      </p:sp>
      <p:sp>
        <p:nvSpPr>
          <p:cNvPr id="490690" name="Rectangle 194"/>
          <p:cNvSpPr>
            <a:spLocks noChangeArrowheads="1"/>
          </p:cNvSpPr>
          <p:nvPr/>
        </p:nvSpPr>
        <p:spPr bwMode="auto">
          <a:xfrm>
            <a:off x="4832350" y="485775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a:t>
            </a:r>
            <a:endParaRPr lang="en-US" altLang="en-US" sz="2400"/>
          </a:p>
        </p:txBody>
      </p:sp>
      <p:sp>
        <p:nvSpPr>
          <p:cNvPr id="490691" name="Rectangle 195"/>
          <p:cNvSpPr>
            <a:spLocks noChangeArrowheads="1"/>
          </p:cNvSpPr>
          <p:nvPr/>
        </p:nvSpPr>
        <p:spPr bwMode="auto">
          <a:xfrm>
            <a:off x="4929188" y="4857750"/>
            <a:ext cx="555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t>
            </a:r>
            <a:endParaRPr lang="en-US" altLang="en-US" sz="2400"/>
          </a:p>
        </p:txBody>
      </p:sp>
      <p:sp>
        <p:nvSpPr>
          <p:cNvPr id="490692" name="Rectangle 196"/>
          <p:cNvSpPr>
            <a:spLocks noChangeArrowheads="1"/>
          </p:cNvSpPr>
          <p:nvPr/>
        </p:nvSpPr>
        <p:spPr bwMode="auto">
          <a:xfrm>
            <a:off x="4981575" y="4857750"/>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90693" name="Rectangle 197"/>
          <p:cNvSpPr>
            <a:spLocks noChangeArrowheads="1"/>
          </p:cNvSpPr>
          <p:nvPr/>
        </p:nvSpPr>
        <p:spPr bwMode="auto">
          <a:xfrm>
            <a:off x="5054600" y="4857750"/>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ou</a:t>
            </a:r>
            <a:endParaRPr lang="en-US" altLang="en-US" sz="2400"/>
          </a:p>
        </p:txBody>
      </p:sp>
      <p:sp>
        <p:nvSpPr>
          <p:cNvPr id="490694" name="Rectangle 198"/>
          <p:cNvSpPr>
            <a:spLocks noChangeArrowheads="1"/>
          </p:cNvSpPr>
          <p:nvPr/>
        </p:nvSpPr>
        <p:spPr bwMode="auto">
          <a:xfrm>
            <a:off x="5237163" y="485775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a:t>
            </a:r>
            <a:endParaRPr lang="en-US" altLang="en-US" sz="2400"/>
          </a:p>
        </p:txBody>
      </p:sp>
      <p:sp>
        <p:nvSpPr>
          <p:cNvPr id="490695" name="Rectangle 199"/>
          <p:cNvSpPr>
            <a:spLocks noChangeArrowheads="1"/>
          </p:cNvSpPr>
          <p:nvPr/>
        </p:nvSpPr>
        <p:spPr bwMode="auto">
          <a:xfrm>
            <a:off x="5329238" y="4857750"/>
            <a:ext cx="460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90696" name="Rectangle 200"/>
          <p:cNvSpPr>
            <a:spLocks noChangeArrowheads="1"/>
          </p:cNvSpPr>
          <p:nvPr/>
        </p:nvSpPr>
        <p:spPr bwMode="auto">
          <a:xfrm>
            <a:off x="5383213" y="4857750"/>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er</a:t>
            </a:r>
            <a:endParaRPr lang="en-US" altLang="en-US" sz="2400"/>
          </a:p>
        </p:txBody>
      </p:sp>
      <p:sp>
        <p:nvSpPr>
          <p:cNvPr id="490697" name="Rectangle 201"/>
          <p:cNvSpPr>
            <a:spLocks noChangeArrowheads="1"/>
          </p:cNvSpPr>
          <p:nvPr/>
        </p:nvSpPr>
        <p:spPr bwMode="auto">
          <a:xfrm>
            <a:off x="7550150" y="4670425"/>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0698" name="Rectangle 202"/>
          <p:cNvSpPr>
            <a:spLocks noChangeArrowheads="1"/>
          </p:cNvSpPr>
          <p:nvPr/>
        </p:nvSpPr>
        <p:spPr bwMode="auto">
          <a:xfrm>
            <a:off x="7661275" y="4670425"/>
            <a:ext cx="555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90699" name="Rectangle 203"/>
          <p:cNvSpPr>
            <a:spLocks noChangeArrowheads="1"/>
          </p:cNvSpPr>
          <p:nvPr/>
        </p:nvSpPr>
        <p:spPr bwMode="auto">
          <a:xfrm>
            <a:off x="7713663" y="4670425"/>
            <a:ext cx="636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eg: 16-bit</a:t>
            </a:r>
            <a:endParaRPr lang="en-US" altLang="en-US" sz="2400"/>
          </a:p>
        </p:txBody>
      </p:sp>
      <p:sp>
        <p:nvSpPr>
          <p:cNvPr id="490700" name="Rectangle 204"/>
          <p:cNvSpPr>
            <a:spLocks noChangeArrowheads="1"/>
          </p:cNvSpPr>
          <p:nvPr/>
        </p:nvSpPr>
        <p:spPr bwMode="auto">
          <a:xfrm>
            <a:off x="7843838" y="4857750"/>
            <a:ext cx="555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90701" name="Rectangle 205"/>
          <p:cNvSpPr>
            <a:spLocks noChangeArrowheads="1"/>
          </p:cNvSpPr>
          <p:nvPr/>
        </p:nvSpPr>
        <p:spPr bwMode="auto">
          <a:xfrm>
            <a:off x="7896225" y="4857750"/>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a:t>
            </a:r>
            <a:endParaRPr lang="en-US" altLang="en-US" sz="2400"/>
          </a:p>
        </p:txBody>
      </p:sp>
      <p:sp>
        <p:nvSpPr>
          <p:cNvPr id="490702" name="Rectangle 206"/>
          <p:cNvSpPr>
            <a:spLocks noChangeArrowheads="1"/>
          </p:cNvSpPr>
          <p:nvPr/>
        </p:nvSpPr>
        <p:spPr bwMode="auto">
          <a:xfrm>
            <a:off x="7980363" y="485775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g</a:t>
            </a:r>
            <a:endParaRPr lang="en-US" altLang="en-US" sz="2400"/>
          </a:p>
        </p:txBody>
      </p:sp>
      <p:sp>
        <p:nvSpPr>
          <p:cNvPr id="490703" name="Rectangle 207"/>
          <p:cNvSpPr>
            <a:spLocks noChangeArrowheads="1"/>
          </p:cNvSpPr>
          <p:nvPr/>
        </p:nvSpPr>
        <p:spPr bwMode="auto">
          <a:xfrm>
            <a:off x="8070850" y="4857750"/>
            <a:ext cx="10953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is</a:t>
            </a:r>
            <a:endParaRPr lang="en-US" altLang="en-US" sz="2400"/>
          </a:p>
        </p:txBody>
      </p:sp>
      <p:sp>
        <p:nvSpPr>
          <p:cNvPr id="490704" name="Rectangle 208"/>
          <p:cNvSpPr>
            <a:spLocks noChangeArrowheads="1"/>
          </p:cNvSpPr>
          <p:nvPr/>
        </p:nvSpPr>
        <p:spPr bwMode="auto">
          <a:xfrm>
            <a:off x="8175625" y="4857750"/>
            <a:ext cx="4603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90705" name="Rectangle 209"/>
          <p:cNvSpPr>
            <a:spLocks noChangeArrowheads="1"/>
          </p:cNvSpPr>
          <p:nvPr/>
        </p:nvSpPr>
        <p:spPr bwMode="auto">
          <a:xfrm>
            <a:off x="8228013" y="4857750"/>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er</a:t>
            </a:r>
            <a:endParaRPr lang="en-US" altLang="en-US" sz="2400"/>
          </a:p>
        </p:txBody>
      </p:sp>
      <p:sp>
        <p:nvSpPr>
          <p:cNvPr id="490706" name="Rectangle 210"/>
          <p:cNvSpPr>
            <a:spLocks noChangeArrowheads="1"/>
          </p:cNvSpPr>
          <p:nvPr/>
        </p:nvSpPr>
        <p:spPr bwMode="auto">
          <a:xfrm>
            <a:off x="7485063" y="5627688"/>
            <a:ext cx="165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490708" name="Rectangle 212"/>
          <p:cNvSpPr>
            <a:spLocks noChangeArrowheads="1"/>
          </p:cNvSpPr>
          <p:nvPr/>
        </p:nvSpPr>
        <p:spPr bwMode="auto">
          <a:xfrm>
            <a:off x="7505700" y="5943600"/>
            <a:ext cx="119063"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0709" name="Rectangle 213"/>
          <p:cNvSpPr>
            <a:spLocks noChangeArrowheads="1"/>
          </p:cNvSpPr>
          <p:nvPr/>
        </p:nvSpPr>
        <p:spPr bwMode="auto">
          <a:xfrm>
            <a:off x="3282950" y="3449638"/>
            <a:ext cx="1190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0710" name="Rectangle 214"/>
          <p:cNvSpPr>
            <a:spLocks noChangeArrowheads="1"/>
          </p:cNvSpPr>
          <p:nvPr/>
        </p:nvSpPr>
        <p:spPr bwMode="auto">
          <a:xfrm>
            <a:off x="3392488" y="3449638"/>
            <a:ext cx="730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490711" name="Rectangle 215"/>
          <p:cNvSpPr>
            <a:spLocks noChangeArrowheads="1"/>
          </p:cNvSpPr>
          <p:nvPr/>
        </p:nvSpPr>
        <p:spPr bwMode="auto">
          <a:xfrm>
            <a:off x="3470275" y="3449638"/>
            <a:ext cx="2016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tap</a:t>
            </a:r>
            <a:endParaRPr lang="en-US" altLang="en-US" sz="2400"/>
          </a:p>
        </p:txBody>
      </p:sp>
      <p:sp>
        <p:nvSpPr>
          <p:cNvPr id="490712" name="Rectangle 216"/>
          <p:cNvSpPr>
            <a:spLocks noChangeArrowheads="1"/>
          </p:cNvSpPr>
          <p:nvPr/>
        </p:nvSpPr>
        <p:spPr bwMode="auto">
          <a:xfrm>
            <a:off x="3700463" y="3449638"/>
            <a:ext cx="730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490713" name="Rectangle 217"/>
          <p:cNvSpPr>
            <a:spLocks noChangeArrowheads="1"/>
          </p:cNvSpPr>
          <p:nvPr/>
        </p:nvSpPr>
        <p:spPr bwMode="auto">
          <a:xfrm>
            <a:off x="3778250" y="3449638"/>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th</a:t>
            </a:r>
            <a:endParaRPr lang="en-US" altLang="en-US" sz="2400"/>
          </a:p>
        </p:txBody>
      </p:sp>
      <p:sp>
        <p:nvSpPr>
          <p:cNvPr id="490714" name="Rectangle 218"/>
          <p:cNvSpPr>
            <a:spLocks noChangeArrowheads="1"/>
          </p:cNvSpPr>
          <p:nvPr/>
        </p:nvSpPr>
        <p:spPr bwMode="auto">
          <a:xfrm>
            <a:off x="2305050" y="3979863"/>
            <a:ext cx="1190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0715" name="Rectangle 219"/>
          <p:cNvSpPr>
            <a:spLocks noChangeArrowheads="1"/>
          </p:cNvSpPr>
          <p:nvPr/>
        </p:nvSpPr>
        <p:spPr bwMode="auto">
          <a:xfrm>
            <a:off x="2416175" y="3979863"/>
            <a:ext cx="55563"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90716" name="Rectangle 220"/>
          <p:cNvSpPr>
            <a:spLocks noChangeArrowheads="1"/>
          </p:cNvSpPr>
          <p:nvPr/>
        </p:nvSpPr>
        <p:spPr bwMode="auto">
          <a:xfrm>
            <a:off x="2466975" y="3979863"/>
            <a:ext cx="4127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eg_clr</a:t>
            </a:r>
            <a:endParaRPr lang="en-US" altLang="en-US" sz="2400"/>
          </a:p>
        </p:txBody>
      </p:sp>
      <p:sp>
        <p:nvSpPr>
          <p:cNvPr id="490717" name="Rectangle 221"/>
          <p:cNvSpPr>
            <a:spLocks noChangeArrowheads="1"/>
          </p:cNvSpPr>
          <p:nvPr/>
        </p:nvSpPr>
        <p:spPr bwMode="auto">
          <a:xfrm>
            <a:off x="2346325" y="4565650"/>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0718" name="Rectangle 222"/>
          <p:cNvSpPr>
            <a:spLocks noChangeArrowheads="1"/>
          </p:cNvSpPr>
          <p:nvPr/>
        </p:nvSpPr>
        <p:spPr bwMode="auto">
          <a:xfrm>
            <a:off x="2457450" y="4565650"/>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90719" name="Rectangle 223"/>
          <p:cNvSpPr>
            <a:spLocks noChangeArrowheads="1"/>
          </p:cNvSpPr>
          <p:nvPr/>
        </p:nvSpPr>
        <p:spPr bwMode="auto">
          <a:xfrm>
            <a:off x="2533650" y="4565650"/>
            <a:ext cx="3587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tr_clr</a:t>
            </a:r>
            <a:endParaRPr lang="en-US" altLang="en-US" sz="2400"/>
          </a:p>
        </p:txBody>
      </p:sp>
      <p:sp>
        <p:nvSpPr>
          <p:cNvPr id="490720" name="Rectangle 224"/>
          <p:cNvSpPr>
            <a:spLocks noChangeArrowheads="1"/>
          </p:cNvSpPr>
          <p:nvPr/>
        </p:nvSpPr>
        <p:spPr bwMode="auto">
          <a:xfrm>
            <a:off x="2293938" y="4779963"/>
            <a:ext cx="1190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0721" name="Rectangle 225"/>
          <p:cNvSpPr>
            <a:spLocks noChangeArrowheads="1"/>
          </p:cNvSpPr>
          <p:nvPr/>
        </p:nvSpPr>
        <p:spPr bwMode="auto">
          <a:xfrm>
            <a:off x="2405063" y="4779963"/>
            <a:ext cx="730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490722" name="Rectangle 226"/>
          <p:cNvSpPr>
            <a:spLocks noChangeArrowheads="1"/>
          </p:cNvSpPr>
          <p:nvPr/>
        </p:nvSpPr>
        <p:spPr bwMode="auto">
          <a:xfrm>
            <a:off x="2482850" y="4779963"/>
            <a:ext cx="2571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tr_c</a:t>
            </a:r>
            <a:endParaRPr lang="en-US" altLang="en-US" sz="2400"/>
          </a:p>
        </p:txBody>
      </p:sp>
      <p:sp>
        <p:nvSpPr>
          <p:cNvPr id="490723" name="Rectangle 227"/>
          <p:cNvSpPr>
            <a:spLocks noChangeArrowheads="1"/>
          </p:cNvSpPr>
          <p:nvPr/>
        </p:nvSpPr>
        <p:spPr bwMode="auto">
          <a:xfrm>
            <a:off x="2747963" y="4779963"/>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n</a:t>
            </a:r>
            <a:endParaRPr lang="en-US" altLang="en-US" sz="2400"/>
          </a:p>
        </p:txBody>
      </p:sp>
      <p:sp>
        <p:nvSpPr>
          <p:cNvPr id="490724" name="Rectangle 228"/>
          <p:cNvSpPr>
            <a:spLocks noChangeArrowheads="1"/>
          </p:cNvSpPr>
          <p:nvPr/>
        </p:nvSpPr>
        <p:spPr bwMode="auto">
          <a:xfrm>
            <a:off x="2838450" y="4779963"/>
            <a:ext cx="4603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490725" name="Rectangle 229"/>
          <p:cNvSpPr>
            <a:spLocks noChangeArrowheads="1"/>
          </p:cNvSpPr>
          <p:nvPr/>
        </p:nvSpPr>
        <p:spPr bwMode="auto">
          <a:xfrm>
            <a:off x="2339975" y="4235450"/>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0726" name="Rectangle 230"/>
          <p:cNvSpPr>
            <a:spLocks noChangeArrowheads="1"/>
          </p:cNvSpPr>
          <p:nvPr/>
        </p:nvSpPr>
        <p:spPr bwMode="auto">
          <a:xfrm>
            <a:off x="2451100" y="4235450"/>
            <a:ext cx="571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90727" name="Rectangle 231"/>
          <p:cNvSpPr>
            <a:spLocks noChangeArrowheads="1"/>
          </p:cNvSpPr>
          <p:nvPr/>
        </p:nvSpPr>
        <p:spPr bwMode="auto">
          <a:xfrm>
            <a:off x="2501900" y="4235450"/>
            <a:ext cx="3667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eg_ld</a:t>
            </a:r>
            <a:endParaRPr lang="en-US" altLang="en-US" sz="2400"/>
          </a:p>
        </p:txBody>
      </p:sp>
      <p:sp>
        <p:nvSpPr>
          <p:cNvPr id="490728" name="Freeform 232"/>
          <p:cNvSpPr>
            <a:spLocks/>
          </p:cNvSpPr>
          <p:nvPr/>
        </p:nvSpPr>
        <p:spPr bwMode="auto">
          <a:xfrm>
            <a:off x="2957513" y="4087813"/>
            <a:ext cx="3213100" cy="534987"/>
          </a:xfrm>
          <a:custGeom>
            <a:avLst/>
            <a:gdLst>
              <a:gd name="T0" fmla="*/ 1941 w 1941"/>
              <a:gd name="T1" fmla="*/ 322 h 322"/>
              <a:gd name="T2" fmla="*/ 1838 w 1941"/>
              <a:gd name="T3" fmla="*/ 322 h 322"/>
              <a:gd name="T4" fmla="*/ 1838 w 1941"/>
              <a:gd name="T5" fmla="*/ 0 h 322"/>
              <a:gd name="T6" fmla="*/ 0 w 1941"/>
              <a:gd name="T7" fmla="*/ 0 h 322"/>
            </a:gdLst>
            <a:ahLst/>
            <a:cxnLst>
              <a:cxn ang="0">
                <a:pos x="T0" y="T1"/>
              </a:cxn>
              <a:cxn ang="0">
                <a:pos x="T2" y="T3"/>
              </a:cxn>
              <a:cxn ang="0">
                <a:pos x="T4" y="T5"/>
              </a:cxn>
              <a:cxn ang="0">
                <a:pos x="T6" y="T7"/>
              </a:cxn>
            </a:cxnLst>
            <a:rect l="0" t="0" r="r" b="b"/>
            <a:pathLst>
              <a:path w="1941" h="322">
                <a:moveTo>
                  <a:pt x="1941" y="322"/>
                </a:moveTo>
                <a:lnTo>
                  <a:pt x="1838" y="322"/>
                </a:lnTo>
                <a:lnTo>
                  <a:pt x="1838"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29" name="Freeform 233"/>
          <p:cNvSpPr>
            <a:spLocks/>
          </p:cNvSpPr>
          <p:nvPr/>
        </p:nvSpPr>
        <p:spPr bwMode="auto">
          <a:xfrm>
            <a:off x="2957513" y="4337050"/>
            <a:ext cx="3222625" cy="534988"/>
          </a:xfrm>
          <a:custGeom>
            <a:avLst/>
            <a:gdLst>
              <a:gd name="T0" fmla="*/ 1947 w 1947"/>
              <a:gd name="T1" fmla="*/ 322 h 322"/>
              <a:gd name="T2" fmla="*/ 1750 w 1947"/>
              <a:gd name="T3" fmla="*/ 322 h 322"/>
              <a:gd name="T4" fmla="*/ 1750 w 1947"/>
              <a:gd name="T5" fmla="*/ 0 h 322"/>
              <a:gd name="T6" fmla="*/ 0 w 1947"/>
              <a:gd name="T7" fmla="*/ 0 h 322"/>
            </a:gdLst>
            <a:ahLst/>
            <a:cxnLst>
              <a:cxn ang="0">
                <a:pos x="T0" y="T1"/>
              </a:cxn>
              <a:cxn ang="0">
                <a:pos x="T2" y="T3"/>
              </a:cxn>
              <a:cxn ang="0">
                <a:pos x="T4" y="T5"/>
              </a:cxn>
              <a:cxn ang="0">
                <a:pos x="T6" y="T7"/>
              </a:cxn>
            </a:cxnLst>
            <a:rect l="0" t="0" r="r" b="b"/>
            <a:pathLst>
              <a:path w="1947" h="322">
                <a:moveTo>
                  <a:pt x="1947" y="322"/>
                </a:moveTo>
                <a:lnTo>
                  <a:pt x="1750" y="322"/>
                </a:lnTo>
                <a:lnTo>
                  <a:pt x="1750"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31" name="Line 235"/>
          <p:cNvSpPr>
            <a:spLocks noChangeShapeType="1"/>
          </p:cNvSpPr>
          <p:nvPr/>
        </p:nvSpPr>
        <p:spPr bwMode="auto">
          <a:xfrm flipH="1">
            <a:off x="2974975" y="4622800"/>
            <a:ext cx="33972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32" name="Freeform 236"/>
          <p:cNvSpPr>
            <a:spLocks/>
          </p:cNvSpPr>
          <p:nvPr/>
        </p:nvSpPr>
        <p:spPr bwMode="auto">
          <a:xfrm>
            <a:off x="3284538" y="4581525"/>
            <a:ext cx="165100" cy="825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33" name="Line 237"/>
          <p:cNvSpPr>
            <a:spLocks noChangeShapeType="1"/>
          </p:cNvSpPr>
          <p:nvPr/>
        </p:nvSpPr>
        <p:spPr bwMode="auto">
          <a:xfrm flipH="1">
            <a:off x="2968625" y="4872038"/>
            <a:ext cx="357188"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34" name="Freeform 238"/>
          <p:cNvSpPr>
            <a:spLocks/>
          </p:cNvSpPr>
          <p:nvPr/>
        </p:nvSpPr>
        <p:spPr bwMode="auto">
          <a:xfrm>
            <a:off x="3295650" y="4830763"/>
            <a:ext cx="165100" cy="825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35" name="Line 239"/>
          <p:cNvSpPr>
            <a:spLocks noChangeShapeType="1"/>
          </p:cNvSpPr>
          <p:nvPr/>
        </p:nvSpPr>
        <p:spPr bwMode="auto">
          <a:xfrm flipV="1">
            <a:off x="7380288" y="5276850"/>
            <a:ext cx="1587" cy="720725"/>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36" name="Line 240"/>
          <p:cNvSpPr>
            <a:spLocks noChangeShapeType="1"/>
          </p:cNvSpPr>
          <p:nvPr/>
        </p:nvSpPr>
        <p:spPr bwMode="auto">
          <a:xfrm flipH="1">
            <a:off x="7297738" y="5640388"/>
            <a:ext cx="166687" cy="16668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490751" name="Group 255"/>
          <p:cNvGrpSpPr>
            <a:grpSpLocks/>
          </p:cNvGrpSpPr>
          <p:nvPr/>
        </p:nvGrpSpPr>
        <p:grpSpPr bwMode="auto">
          <a:xfrm>
            <a:off x="3200400" y="5130800"/>
            <a:ext cx="3121025" cy="623888"/>
            <a:chOff x="2016" y="3232"/>
            <a:chExt cx="1966" cy="393"/>
          </a:xfrm>
        </p:grpSpPr>
        <p:sp>
          <p:nvSpPr>
            <p:cNvPr id="490669" name="Freeform 173"/>
            <p:cNvSpPr>
              <a:spLocks/>
            </p:cNvSpPr>
            <p:nvPr/>
          </p:nvSpPr>
          <p:spPr bwMode="auto">
            <a:xfrm>
              <a:off x="2016" y="3517"/>
              <a:ext cx="108" cy="108"/>
            </a:xfrm>
            <a:custGeom>
              <a:avLst/>
              <a:gdLst>
                <a:gd name="T0" fmla="*/ 0 w 103"/>
                <a:gd name="T1" fmla="*/ 104 h 104"/>
                <a:gd name="T2" fmla="*/ 103 w 103"/>
                <a:gd name="T3" fmla="*/ 50 h 104"/>
                <a:gd name="T4" fmla="*/ 0 w 103"/>
                <a:gd name="T5" fmla="*/ 0 h 104"/>
              </a:gdLst>
              <a:ahLst/>
              <a:cxnLst>
                <a:cxn ang="0">
                  <a:pos x="T0" y="T1"/>
                </a:cxn>
                <a:cxn ang="0">
                  <a:pos x="T2" y="T3"/>
                </a:cxn>
                <a:cxn ang="0">
                  <a:pos x="T4" y="T5"/>
                </a:cxn>
              </a:cxnLst>
              <a:rect l="0" t="0" r="r" b="b"/>
              <a:pathLst>
                <a:path w="103" h="104">
                  <a:moveTo>
                    <a:pt x="0" y="104"/>
                  </a:moveTo>
                  <a:lnTo>
                    <a:pt x="103" y="5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30" name="Freeform 234"/>
            <p:cNvSpPr>
              <a:spLocks/>
            </p:cNvSpPr>
            <p:nvPr/>
          </p:nvSpPr>
          <p:spPr bwMode="auto">
            <a:xfrm>
              <a:off x="2024" y="3232"/>
              <a:ext cx="1958" cy="337"/>
            </a:xfrm>
            <a:custGeom>
              <a:avLst/>
              <a:gdLst>
                <a:gd name="T0" fmla="*/ 1878 w 1878"/>
                <a:gd name="T1" fmla="*/ 0 h 322"/>
                <a:gd name="T2" fmla="*/ 1809 w 1878"/>
                <a:gd name="T3" fmla="*/ 0 h 322"/>
                <a:gd name="T4" fmla="*/ 1809 w 1878"/>
                <a:gd name="T5" fmla="*/ 322 h 322"/>
                <a:gd name="T6" fmla="*/ 0 w 1878"/>
                <a:gd name="T7" fmla="*/ 322 h 322"/>
              </a:gdLst>
              <a:ahLst/>
              <a:cxnLst>
                <a:cxn ang="0">
                  <a:pos x="T0" y="T1"/>
                </a:cxn>
                <a:cxn ang="0">
                  <a:pos x="T2" y="T3"/>
                </a:cxn>
                <a:cxn ang="0">
                  <a:pos x="T4" y="T5"/>
                </a:cxn>
                <a:cxn ang="0">
                  <a:pos x="T6" y="T7"/>
                </a:cxn>
              </a:cxnLst>
              <a:rect l="0" t="0" r="r" b="b"/>
              <a:pathLst>
                <a:path w="1878" h="322">
                  <a:moveTo>
                    <a:pt x="1878" y="0"/>
                  </a:moveTo>
                  <a:lnTo>
                    <a:pt x="1809" y="0"/>
                  </a:lnTo>
                  <a:lnTo>
                    <a:pt x="1809" y="322"/>
                  </a:lnTo>
                  <a:lnTo>
                    <a:pt x="0" y="3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46" name="Freeform 250"/>
            <p:cNvSpPr>
              <a:spLocks/>
            </p:cNvSpPr>
            <p:nvPr/>
          </p:nvSpPr>
          <p:spPr bwMode="auto">
            <a:xfrm>
              <a:off x="2134" y="3232"/>
              <a:ext cx="42" cy="337"/>
            </a:xfrm>
            <a:custGeom>
              <a:avLst/>
              <a:gdLst>
                <a:gd name="T0" fmla="*/ 40 w 40"/>
                <a:gd name="T1" fmla="*/ 0 h 322"/>
                <a:gd name="T2" fmla="*/ 0 w 40"/>
                <a:gd name="T3" fmla="*/ 0 h 322"/>
                <a:gd name="T4" fmla="*/ 0 w 40"/>
                <a:gd name="T5" fmla="*/ 322 h 322"/>
              </a:gdLst>
              <a:ahLst/>
              <a:cxnLst>
                <a:cxn ang="0">
                  <a:pos x="T0" y="T1"/>
                </a:cxn>
                <a:cxn ang="0">
                  <a:pos x="T2" y="T3"/>
                </a:cxn>
                <a:cxn ang="0">
                  <a:pos x="T4" y="T5"/>
                </a:cxn>
              </a:cxnLst>
              <a:rect l="0" t="0" r="r" b="b"/>
              <a:pathLst>
                <a:path w="40" h="322">
                  <a:moveTo>
                    <a:pt x="40" y="0"/>
                  </a:moveTo>
                  <a:lnTo>
                    <a:pt x="0" y="0"/>
                  </a:lnTo>
                  <a:lnTo>
                    <a:pt x="0" y="3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47" name="Oval 251"/>
            <p:cNvSpPr>
              <a:spLocks noChangeArrowheads="1"/>
            </p:cNvSpPr>
            <p:nvPr/>
          </p:nvSpPr>
          <p:spPr bwMode="auto">
            <a:xfrm>
              <a:off x="2108" y="3543"/>
              <a:ext cx="52" cy="52"/>
            </a:xfrm>
            <a:prstGeom prst="ellipse">
              <a:avLst/>
            </a:prstGeom>
            <a:solidFill>
              <a:srgbClr val="000000"/>
            </a:solidFill>
            <a:ln w="4763">
              <a:solidFill>
                <a:srgbClr val="000000"/>
              </a:solidFill>
              <a:miter lim="800000"/>
              <a:headEnd/>
              <a:tailEnd/>
            </a:ln>
          </p:spPr>
          <p:txBody>
            <a:bodyPr/>
            <a:lstStyle/>
            <a:p>
              <a:endParaRPr lang="en-US"/>
            </a:p>
          </p:txBody>
        </p:sp>
      </p:grpSp>
      <p:sp>
        <p:nvSpPr>
          <p:cNvPr id="490748" name="Rectangle 252"/>
          <p:cNvSpPr>
            <a:spLocks noChangeArrowheads="1"/>
          </p:cNvSpPr>
          <p:nvPr/>
        </p:nvSpPr>
        <p:spPr bwMode="auto">
          <a:xfrm>
            <a:off x="6321425" y="4518025"/>
            <a:ext cx="2120900" cy="74930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90752" name="Group 256"/>
          <p:cNvGrpSpPr>
            <a:grpSpLocks/>
          </p:cNvGrpSpPr>
          <p:nvPr/>
        </p:nvGrpSpPr>
        <p:grpSpPr bwMode="auto">
          <a:xfrm>
            <a:off x="4530725" y="3019425"/>
            <a:ext cx="3440113" cy="2449513"/>
            <a:chOff x="2854" y="1902"/>
            <a:chExt cx="2167" cy="1543"/>
          </a:xfrm>
        </p:grpSpPr>
        <p:grpSp>
          <p:nvGrpSpPr>
            <p:cNvPr id="490749" name="Group 253"/>
            <p:cNvGrpSpPr>
              <a:grpSpLocks/>
            </p:cNvGrpSpPr>
            <p:nvPr/>
          </p:nvGrpSpPr>
          <p:grpSpPr bwMode="auto">
            <a:xfrm>
              <a:off x="2854" y="2294"/>
              <a:ext cx="2076" cy="1151"/>
              <a:chOff x="2854" y="2294"/>
              <a:chExt cx="2076" cy="1151"/>
            </a:xfrm>
          </p:grpSpPr>
          <p:sp>
            <p:nvSpPr>
              <p:cNvPr id="490707" name="Rectangle 211"/>
              <p:cNvSpPr>
                <a:spLocks noChangeArrowheads="1"/>
              </p:cNvSpPr>
              <p:nvPr/>
            </p:nvSpPr>
            <p:spPr bwMode="auto">
              <a:xfrm>
                <a:off x="4713" y="2613"/>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490737" name="Freeform 241"/>
              <p:cNvSpPr>
                <a:spLocks/>
              </p:cNvSpPr>
              <p:nvPr/>
            </p:nvSpPr>
            <p:spPr bwMode="auto">
              <a:xfrm>
                <a:off x="4623" y="2735"/>
                <a:ext cx="53" cy="10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38" name="Line 242"/>
              <p:cNvSpPr>
                <a:spLocks noChangeShapeType="1"/>
              </p:cNvSpPr>
              <p:nvPr/>
            </p:nvSpPr>
            <p:spPr bwMode="auto">
              <a:xfrm flipV="1">
                <a:off x="4649" y="2598"/>
                <a:ext cx="1" cy="15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39" name="Freeform 243"/>
              <p:cNvSpPr>
                <a:spLocks/>
              </p:cNvSpPr>
              <p:nvPr/>
            </p:nvSpPr>
            <p:spPr bwMode="auto">
              <a:xfrm>
                <a:off x="4623" y="2369"/>
                <a:ext cx="53" cy="10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40" name="Freeform 244"/>
              <p:cNvSpPr>
                <a:spLocks/>
              </p:cNvSpPr>
              <p:nvPr/>
            </p:nvSpPr>
            <p:spPr bwMode="auto">
              <a:xfrm>
                <a:off x="2854" y="2294"/>
                <a:ext cx="1795" cy="1151"/>
              </a:xfrm>
              <a:custGeom>
                <a:avLst/>
                <a:gdLst>
                  <a:gd name="T0" fmla="*/ 1722 w 1722"/>
                  <a:gd name="T1" fmla="*/ 88 h 1101"/>
                  <a:gd name="T2" fmla="*/ 1722 w 1722"/>
                  <a:gd name="T3" fmla="*/ 0 h 1101"/>
                  <a:gd name="T4" fmla="*/ 710 w 1722"/>
                  <a:gd name="T5" fmla="*/ 0 h 1101"/>
                  <a:gd name="T6" fmla="*/ 710 w 1722"/>
                  <a:gd name="T7" fmla="*/ 1101 h 1101"/>
                  <a:gd name="T8" fmla="*/ 0 w 1722"/>
                  <a:gd name="T9" fmla="*/ 1101 h 1101"/>
                  <a:gd name="T10" fmla="*/ 0 w 1722"/>
                  <a:gd name="T11" fmla="*/ 979 h 1101"/>
                </a:gdLst>
                <a:ahLst/>
                <a:cxnLst>
                  <a:cxn ang="0">
                    <a:pos x="T0" y="T1"/>
                  </a:cxn>
                  <a:cxn ang="0">
                    <a:pos x="T2" y="T3"/>
                  </a:cxn>
                  <a:cxn ang="0">
                    <a:pos x="T4" y="T5"/>
                  </a:cxn>
                  <a:cxn ang="0">
                    <a:pos x="T6" y="T7"/>
                  </a:cxn>
                  <a:cxn ang="0">
                    <a:pos x="T8" y="T9"/>
                  </a:cxn>
                  <a:cxn ang="0">
                    <a:pos x="T10" y="T11"/>
                  </a:cxn>
                </a:cxnLst>
                <a:rect l="0" t="0" r="r" b="b"/>
                <a:pathLst>
                  <a:path w="1722" h="1101">
                    <a:moveTo>
                      <a:pt x="1722" y="88"/>
                    </a:moveTo>
                    <a:lnTo>
                      <a:pt x="1722" y="0"/>
                    </a:lnTo>
                    <a:lnTo>
                      <a:pt x="710" y="0"/>
                    </a:lnTo>
                    <a:lnTo>
                      <a:pt x="710" y="1101"/>
                    </a:lnTo>
                    <a:lnTo>
                      <a:pt x="0" y="1101"/>
                    </a:lnTo>
                    <a:lnTo>
                      <a:pt x="0" y="979"/>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41" name="Line 245"/>
              <p:cNvSpPr>
                <a:spLocks noChangeShapeType="1"/>
              </p:cNvSpPr>
              <p:nvPr/>
            </p:nvSpPr>
            <p:spPr bwMode="auto">
              <a:xfrm flipH="1">
                <a:off x="4597" y="2618"/>
                <a:ext cx="105" cy="10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42" name="Rectangle 246"/>
              <p:cNvSpPr>
                <a:spLocks noChangeArrowheads="1"/>
              </p:cNvSpPr>
              <p:nvPr/>
            </p:nvSpPr>
            <p:spPr bwMode="auto">
              <a:xfrm>
                <a:off x="3637" y="3296"/>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490743" name="Line 247"/>
              <p:cNvSpPr>
                <a:spLocks noChangeShapeType="1"/>
              </p:cNvSpPr>
              <p:nvPr/>
            </p:nvSpPr>
            <p:spPr bwMode="auto">
              <a:xfrm flipH="1">
                <a:off x="3542" y="3288"/>
                <a:ext cx="104" cy="10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44" name="Rectangle 248"/>
              <p:cNvSpPr>
                <a:spLocks noChangeArrowheads="1"/>
              </p:cNvSpPr>
              <p:nvPr/>
            </p:nvSpPr>
            <p:spPr bwMode="auto">
              <a:xfrm>
                <a:off x="4370" y="2477"/>
                <a:ext cx="560" cy="118"/>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45" name="Rectangle 249"/>
              <p:cNvSpPr>
                <a:spLocks noChangeArrowheads="1"/>
              </p:cNvSpPr>
              <p:nvPr/>
            </p:nvSpPr>
            <p:spPr bwMode="auto">
              <a:xfrm>
                <a:off x="4562" y="2468"/>
                <a:ext cx="17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&gt;&gt;1</a:t>
                </a:r>
                <a:endParaRPr lang="en-US" altLang="en-US" sz="2400"/>
              </a:p>
            </p:txBody>
          </p:sp>
        </p:grpSp>
        <p:sp>
          <p:nvSpPr>
            <p:cNvPr id="490750" name="Freeform 254"/>
            <p:cNvSpPr>
              <a:spLocks/>
            </p:cNvSpPr>
            <p:nvPr/>
          </p:nvSpPr>
          <p:spPr bwMode="auto">
            <a:xfrm>
              <a:off x="4662" y="1902"/>
              <a:ext cx="359" cy="380"/>
            </a:xfrm>
            <a:custGeom>
              <a:avLst/>
              <a:gdLst>
                <a:gd name="T0" fmla="*/ 359 w 359"/>
                <a:gd name="T1" fmla="*/ 0 h 380"/>
                <a:gd name="T2" fmla="*/ 207 w 359"/>
                <a:gd name="T3" fmla="*/ 196 h 380"/>
                <a:gd name="T4" fmla="*/ 0 w 359"/>
                <a:gd name="T5" fmla="*/ 380 h 380"/>
              </a:gdLst>
              <a:ahLst/>
              <a:cxnLst>
                <a:cxn ang="0">
                  <a:pos x="T0" y="T1"/>
                </a:cxn>
                <a:cxn ang="0">
                  <a:pos x="T2" y="T3"/>
                </a:cxn>
                <a:cxn ang="0">
                  <a:pos x="T4" y="T5"/>
                </a:cxn>
              </a:cxnLst>
              <a:rect l="0" t="0" r="r" b="b"/>
              <a:pathLst>
                <a:path w="359" h="380">
                  <a:moveTo>
                    <a:pt x="359" y="0"/>
                  </a:moveTo>
                  <a:cubicBezTo>
                    <a:pt x="313" y="66"/>
                    <a:pt x="267" y="133"/>
                    <a:pt x="207" y="196"/>
                  </a:cubicBezTo>
                  <a:cubicBezTo>
                    <a:pt x="147" y="259"/>
                    <a:pt x="73" y="319"/>
                    <a:pt x="0" y="380"/>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490753" name="Text Box 257"/>
          <p:cNvSpPr txBox="1">
            <a:spLocks noChangeArrowheads="1"/>
          </p:cNvSpPr>
          <p:nvPr/>
        </p:nvSpPr>
        <p:spPr bwMode="auto">
          <a:xfrm>
            <a:off x="8705850" y="333057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490754" name="Group 258"/>
          <p:cNvGrpSpPr>
            <a:grpSpLocks/>
          </p:cNvGrpSpPr>
          <p:nvPr/>
        </p:nvGrpSpPr>
        <p:grpSpPr bwMode="auto">
          <a:xfrm>
            <a:off x="2587625" y="752475"/>
            <a:ext cx="6421438" cy="2497138"/>
            <a:chOff x="1613" y="486"/>
            <a:chExt cx="4045" cy="1573"/>
          </a:xfrm>
        </p:grpSpPr>
        <p:sp>
          <p:nvSpPr>
            <p:cNvPr id="490755" name="Rectangle 259"/>
            <p:cNvSpPr>
              <a:spLocks noChangeArrowheads="1"/>
            </p:cNvSpPr>
            <p:nvPr/>
          </p:nvSpPr>
          <p:spPr bwMode="auto">
            <a:xfrm>
              <a:off x="2431" y="895"/>
              <a:ext cx="158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Local Registers: Dctr (16 bits)</a:t>
              </a:r>
              <a:endParaRPr lang="en-US" altLang="en-US" sz="2800"/>
            </a:p>
          </p:txBody>
        </p:sp>
        <p:sp>
          <p:nvSpPr>
            <p:cNvPr id="490756" name="Rectangle 260"/>
            <p:cNvSpPr>
              <a:spLocks noChangeArrowheads="1"/>
            </p:cNvSpPr>
            <p:nvPr/>
          </p:nvSpPr>
          <p:spPr bwMode="auto">
            <a:xfrm>
              <a:off x="1968" y="158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S0</a:t>
              </a:r>
              <a:endParaRPr lang="en-US" altLang="en-US" sz="2800"/>
            </a:p>
          </p:txBody>
        </p:sp>
        <p:sp>
          <p:nvSpPr>
            <p:cNvPr id="490757" name="Oval 261"/>
            <p:cNvSpPr>
              <a:spLocks noChangeArrowheads="1"/>
            </p:cNvSpPr>
            <p:nvPr/>
          </p:nvSpPr>
          <p:spPr bwMode="auto">
            <a:xfrm>
              <a:off x="1784" y="1496"/>
              <a:ext cx="469"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58" name="Line 262"/>
            <p:cNvSpPr>
              <a:spLocks noChangeShapeType="1"/>
            </p:cNvSpPr>
            <p:nvPr/>
          </p:nvSpPr>
          <p:spPr bwMode="auto">
            <a:xfrm>
              <a:off x="2258" y="1635"/>
              <a:ext cx="238"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59" name="Freeform 263"/>
            <p:cNvSpPr>
              <a:spLocks/>
            </p:cNvSpPr>
            <p:nvPr/>
          </p:nvSpPr>
          <p:spPr bwMode="auto">
            <a:xfrm>
              <a:off x="2475" y="1612"/>
              <a:ext cx="114"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60" name="Line 264"/>
            <p:cNvSpPr>
              <a:spLocks noChangeShapeType="1"/>
            </p:cNvSpPr>
            <p:nvPr/>
          </p:nvSpPr>
          <p:spPr bwMode="auto">
            <a:xfrm>
              <a:off x="3060" y="1635"/>
              <a:ext cx="245"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61" name="Freeform 265"/>
            <p:cNvSpPr>
              <a:spLocks/>
            </p:cNvSpPr>
            <p:nvPr/>
          </p:nvSpPr>
          <p:spPr bwMode="auto">
            <a:xfrm>
              <a:off x="3285" y="1612"/>
              <a:ext cx="113"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62" name="Rectangle 266"/>
            <p:cNvSpPr>
              <a:spLocks noChangeArrowheads="1"/>
            </p:cNvSpPr>
            <p:nvPr/>
          </p:nvSpPr>
          <p:spPr bwMode="auto">
            <a:xfrm>
              <a:off x="2773" y="158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S1</a:t>
              </a:r>
              <a:endParaRPr lang="en-US" altLang="en-US" sz="2800"/>
            </a:p>
          </p:txBody>
        </p:sp>
        <p:sp>
          <p:nvSpPr>
            <p:cNvPr id="490763" name="Rectangle 267"/>
            <p:cNvSpPr>
              <a:spLocks noChangeArrowheads="1"/>
            </p:cNvSpPr>
            <p:nvPr/>
          </p:nvSpPr>
          <p:spPr bwMode="auto">
            <a:xfrm>
              <a:off x="3586" y="158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S2</a:t>
              </a:r>
              <a:endParaRPr lang="en-US" altLang="en-US" sz="2800"/>
            </a:p>
          </p:txBody>
        </p:sp>
        <p:sp>
          <p:nvSpPr>
            <p:cNvPr id="490764" name="Oval 268"/>
            <p:cNvSpPr>
              <a:spLocks noChangeArrowheads="1"/>
            </p:cNvSpPr>
            <p:nvPr/>
          </p:nvSpPr>
          <p:spPr bwMode="auto">
            <a:xfrm>
              <a:off x="3402" y="1496"/>
              <a:ext cx="470"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65" name="Line 269"/>
            <p:cNvSpPr>
              <a:spLocks noChangeShapeType="1"/>
            </p:cNvSpPr>
            <p:nvPr/>
          </p:nvSpPr>
          <p:spPr bwMode="auto">
            <a:xfrm>
              <a:off x="3875" y="1635"/>
              <a:ext cx="24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66" name="Freeform 270"/>
            <p:cNvSpPr>
              <a:spLocks/>
            </p:cNvSpPr>
            <p:nvPr/>
          </p:nvSpPr>
          <p:spPr bwMode="auto">
            <a:xfrm>
              <a:off x="4093" y="1612"/>
              <a:ext cx="114"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67" name="Line 271"/>
            <p:cNvSpPr>
              <a:spLocks noChangeShapeType="1"/>
            </p:cNvSpPr>
            <p:nvPr/>
          </p:nvSpPr>
          <p:spPr bwMode="auto">
            <a:xfrm>
              <a:off x="4681" y="1635"/>
              <a:ext cx="235"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0768" name="Freeform 272"/>
            <p:cNvSpPr>
              <a:spLocks/>
            </p:cNvSpPr>
            <p:nvPr/>
          </p:nvSpPr>
          <p:spPr bwMode="auto">
            <a:xfrm>
              <a:off x="4894" y="1612"/>
              <a:ext cx="115" cy="4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69" name="Rectangle 273"/>
            <p:cNvSpPr>
              <a:spLocks noChangeArrowheads="1"/>
            </p:cNvSpPr>
            <p:nvPr/>
          </p:nvSpPr>
          <p:spPr bwMode="auto">
            <a:xfrm>
              <a:off x="4390" y="1586"/>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S3</a:t>
              </a:r>
              <a:endParaRPr lang="en-US" altLang="en-US" sz="2800"/>
            </a:p>
          </p:txBody>
        </p:sp>
        <p:sp>
          <p:nvSpPr>
            <p:cNvPr id="490770" name="Freeform 274"/>
            <p:cNvSpPr>
              <a:spLocks/>
            </p:cNvSpPr>
            <p:nvPr/>
          </p:nvSpPr>
          <p:spPr bwMode="auto">
            <a:xfrm>
              <a:off x="2589" y="1282"/>
              <a:ext cx="471" cy="243"/>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71" name="Freeform 275"/>
            <p:cNvSpPr>
              <a:spLocks/>
            </p:cNvSpPr>
            <p:nvPr/>
          </p:nvSpPr>
          <p:spPr bwMode="auto">
            <a:xfrm>
              <a:off x="2571" y="1442"/>
              <a:ext cx="93" cy="87"/>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72" name="Freeform 276"/>
            <p:cNvSpPr>
              <a:spLocks/>
            </p:cNvSpPr>
            <p:nvPr/>
          </p:nvSpPr>
          <p:spPr bwMode="auto">
            <a:xfrm>
              <a:off x="1749" y="1449"/>
              <a:ext cx="106" cy="82"/>
            </a:xfrm>
            <a:custGeom>
              <a:avLst/>
              <a:gdLst>
                <a:gd name="T0" fmla="*/ 93 w 93"/>
                <a:gd name="T1" fmla="*/ 88 h 88"/>
                <a:gd name="T2" fmla="*/ 34 w 93"/>
                <a:gd name="T3" fmla="*/ 0 h 88"/>
                <a:gd name="T4" fmla="*/ 0 w 93"/>
                <a:gd name="T5" fmla="*/ 38 h 88"/>
                <a:gd name="T6" fmla="*/ 93 w 93"/>
                <a:gd name="T7" fmla="*/ 88 h 88"/>
              </a:gdLst>
              <a:ahLst/>
              <a:cxnLst>
                <a:cxn ang="0">
                  <a:pos x="T0" y="T1"/>
                </a:cxn>
                <a:cxn ang="0">
                  <a:pos x="T2" y="T3"/>
                </a:cxn>
                <a:cxn ang="0">
                  <a:pos x="T4" y="T5"/>
                </a:cxn>
                <a:cxn ang="0">
                  <a:pos x="T6" y="T7"/>
                </a:cxn>
              </a:cxnLst>
              <a:rect l="0" t="0" r="r" b="b"/>
              <a:pathLst>
                <a:path w="93" h="88">
                  <a:moveTo>
                    <a:pt x="93" y="88"/>
                  </a:moveTo>
                  <a:lnTo>
                    <a:pt x="34" y="0"/>
                  </a:lnTo>
                  <a:lnTo>
                    <a:pt x="0" y="38"/>
                  </a:lnTo>
                  <a:lnTo>
                    <a:pt x="93"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73" name="Rectangle 277"/>
            <p:cNvSpPr>
              <a:spLocks noChangeArrowheads="1"/>
            </p:cNvSpPr>
            <p:nvPr/>
          </p:nvSpPr>
          <p:spPr bwMode="auto">
            <a:xfrm>
              <a:off x="1921" y="1809"/>
              <a:ext cx="2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 = 0</a:t>
              </a:r>
              <a:endParaRPr lang="en-US" altLang="en-US" sz="2800"/>
            </a:p>
          </p:txBody>
        </p:sp>
        <p:sp>
          <p:nvSpPr>
            <p:cNvPr id="490774" name="Rectangle 278"/>
            <p:cNvSpPr>
              <a:spLocks noChangeArrowheads="1"/>
            </p:cNvSpPr>
            <p:nvPr/>
          </p:nvSpPr>
          <p:spPr bwMode="auto">
            <a:xfrm>
              <a:off x="1909" y="1913"/>
              <a:ext cx="29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0</a:t>
              </a:r>
              <a:endParaRPr lang="en-US" altLang="en-US" sz="2800"/>
            </a:p>
          </p:txBody>
        </p:sp>
        <p:sp>
          <p:nvSpPr>
            <p:cNvPr id="490775" name="Rectangle 279"/>
            <p:cNvSpPr>
              <a:spLocks noChangeArrowheads="1"/>
            </p:cNvSpPr>
            <p:nvPr/>
          </p:nvSpPr>
          <p:spPr bwMode="auto">
            <a:xfrm>
              <a:off x="3545" y="1812"/>
              <a:ext cx="2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 = 1</a:t>
              </a:r>
              <a:endParaRPr lang="en-US" altLang="en-US" sz="2800"/>
            </a:p>
          </p:txBody>
        </p:sp>
        <p:sp>
          <p:nvSpPr>
            <p:cNvPr id="490776" name="Rectangle 280"/>
            <p:cNvSpPr>
              <a:spLocks noChangeArrowheads="1"/>
            </p:cNvSpPr>
            <p:nvPr/>
          </p:nvSpPr>
          <p:spPr bwMode="auto">
            <a:xfrm>
              <a:off x="4388" y="1812"/>
              <a:ext cx="2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L=0</a:t>
              </a:r>
              <a:endParaRPr lang="en-US" altLang="en-US" sz="2800"/>
            </a:p>
          </p:txBody>
        </p:sp>
        <p:sp>
          <p:nvSpPr>
            <p:cNvPr id="490777" name="Rectangle 281"/>
            <p:cNvSpPr>
              <a:spLocks noChangeArrowheads="1"/>
            </p:cNvSpPr>
            <p:nvPr/>
          </p:nvSpPr>
          <p:spPr bwMode="auto">
            <a:xfrm>
              <a:off x="4153" y="1913"/>
              <a:ext cx="77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Dctr = Dctr + 1</a:t>
              </a:r>
              <a:endParaRPr lang="en-US" altLang="en-US" sz="2800"/>
            </a:p>
          </p:txBody>
        </p:sp>
        <p:sp>
          <p:nvSpPr>
            <p:cNvPr id="490778" name="Rectangle 282"/>
            <p:cNvSpPr>
              <a:spLocks noChangeArrowheads="1"/>
            </p:cNvSpPr>
            <p:nvPr/>
          </p:nvSpPr>
          <p:spPr bwMode="auto">
            <a:xfrm>
              <a:off x="2635" y="1812"/>
              <a:ext cx="42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Dctr = 0</a:t>
              </a:r>
              <a:endParaRPr lang="en-US" altLang="en-US" sz="2800"/>
            </a:p>
          </p:txBody>
        </p:sp>
        <p:sp>
          <p:nvSpPr>
            <p:cNvPr id="490779" name="Rectangle 283"/>
            <p:cNvSpPr>
              <a:spLocks noChangeArrowheads="1"/>
            </p:cNvSpPr>
            <p:nvPr/>
          </p:nvSpPr>
          <p:spPr bwMode="auto">
            <a:xfrm>
              <a:off x="2791" y="1172"/>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90780" name="Rectangle 284"/>
            <p:cNvSpPr>
              <a:spLocks noChangeArrowheads="1"/>
            </p:cNvSpPr>
            <p:nvPr/>
          </p:nvSpPr>
          <p:spPr bwMode="auto">
            <a:xfrm>
              <a:off x="2854" y="1162"/>
              <a:ext cx="2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Tahoma" panose="020B0604030504040204" pitchFamily="34" charset="0"/>
                </a:rPr>
                <a:t>‘</a:t>
              </a:r>
            </a:p>
          </p:txBody>
        </p:sp>
        <p:sp>
          <p:nvSpPr>
            <p:cNvPr id="490781" name="Freeform 285"/>
            <p:cNvSpPr>
              <a:spLocks/>
            </p:cNvSpPr>
            <p:nvPr/>
          </p:nvSpPr>
          <p:spPr bwMode="auto">
            <a:xfrm>
              <a:off x="4203" y="1282"/>
              <a:ext cx="470" cy="243"/>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82" name="Freeform 286"/>
            <p:cNvSpPr>
              <a:spLocks/>
            </p:cNvSpPr>
            <p:nvPr/>
          </p:nvSpPr>
          <p:spPr bwMode="auto">
            <a:xfrm>
              <a:off x="4185" y="1442"/>
              <a:ext cx="92" cy="87"/>
            </a:xfrm>
            <a:custGeom>
              <a:avLst/>
              <a:gdLst>
                <a:gd name="T0" fmla="*/ 81 w 81"/>
                <a:gd name="T1" fmla="*/ 94 h 94"/>
                <a:gd name="T2" fmla="*/ 38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8"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83" name="Rectangle 287"/>
            <p:cNvSpPr>
              <a:spLocks noChangeArrowheads="1"/>
            </p:cNvSpPr>
            <p:nvPr/>
          </p:nvSpPr>
          <p:spPr bwMode="auto">
            <a:xfrm>
              <a:off x="4399" y="1174"/>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t>
              </a:r>
              <a:endParaRPr lang="en-US" altLang="en-US" sz="2800"/>
            </a:p>
          </p:txBody>
        </p:sp>
        <p:sp>
          <p:nvSpPr>
            <p:cNvPr id="490784" name="Rectangle 288"/>
            <p:cNvSpPr>
              <a:spLocks noChangeArrowheads="1"/>
            </p:cNvSpPr>
            <p:nvPr/>
          </p:nvSpPr>
          <p:spPr bwMode="auto">
            <a:xfrm>
              <a:off x="4454" y="1163"/>
              <a:ext cx="2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Tahoma" panose="020B0604030504040204" pitchFamily="34" charset="0"/>
                </a:rPr>
                <a:t>‘</a:t>
              </a:r>
            </a:p>
          </p:txBody>
        </p:sp>
        <p:sp>
          <p:nvSpPr>
            <p:cNvPr id="490785" name="Rectangle 289"/>
            <p:cNvSpPr>
              <a:spLocks noChangeArrowheads="1"/>
            </p:cNvSpPr>
            <p:nvPr/>
          </p:nvSpPr>
          <p:spPr bwMode="auto">
            <a:xfrm>
              <a:off x="3160" y="1658"/>
              <a:ext cx="8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90786" name="Rectangle 290"/>
            <p:cNvSpPr>
              <a:spLocks noChangeArrowheads="1"/>
            </p:cNvSpPr>
            <p:nvPr/>
          </p:nvSpPr>
          <p:spPr bwMode="auto">
            <a:xfrm>
              <a:off x="4773" y="1658"/>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t>
              </a:r>
              <a:endParaRPr lang="en-US" altLang="en-US" sz="2800"/>
            </a:p>
          </p:txBody>
        </p:sp>
        <p:sp>
          <p:nvSpPr>
            <p:cNvPr id="490787" name="Oval 291"/>
            <p:cNvSpPr>
              <a:spLocks noChangeArrowheads="1"/>
            </p:cNvSpPr>
            <p:nvPr/>
          </p:nvSpPr>
          <p:spPr bwMode="auto">
            <a:xfrm>
              <a:off x="4207" y="1496"/>
              <a:ext cx="470"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90788" name="Group 292"/>
            <p:cNvGrpSpPr>
              <a:grpSpLocks/>
            </p:cNvGrpSpPr>
            <p:nvPr/>
          </p:nvGrpSpPr>
          <p:grpSpPr bwMode="auto">
            <a:xfrm>
              <a:off x="4983" y="1496"/>
              <a:ext cx="675" cy="563"/>
              <a:chOff x="4983" y="1496"/>
              <a:chExt cx="675" cy="563"/>
            </a:xfrm>
          </p:grpSpPr>
          <p:sp>
            <p:nvSpPr>
              <p:cNvPr id="490789" name="Rectangle 293"/>
              <p:cNvSpPr>
                <a:spLocks noChangeArrowheads="1"/>
              </p:cNvSpPr>
              <p:nvPr/>
            </p:nvSpPr>
            <p:spPr bwMode="auto">
              <a:xfrm>
                <a:off x="5030" y="1812"/>
                <a:ext cx="60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Dctr / 2</a:t>
                </a:r>
                <a:endParaRPr lang="en-US" altLang="en-US" sz="2800"/>
              </a:p>
            </p:txBody>
          </p:sp>
          <p:sp>
            <p:nvSpPr>
              <p:cNvPr id="490790" name="Rectangle 294"/>
              <p:cNvSpPr>
                <a:spLocks noChangeArrowheads="1"/>
              </p:cNvSpPr>
              <p:nvPr/>
            </p:nvSpPr>
            <p:spPr bwMode="auto">
              <a:xfrm>
                <a:off x="4983" y="1915"/>
                <a:ext cx="6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(calculate D)</a:t>
                </a:r>
                <a:endParaRPr lang="en-US" altLang="en-US" sz="2800"/>
              </a:p>
            </p:txBody>
          </p:sp>
          <p:sp>
            <p:nvSpPr>
              <p:cNvPr id="490791" name="Rectangle 295"/>
              <p:cNvSpPr>
                <a:spLocks noChangeArrowheads="1"/>
              </p:cNvSpPr>
              <p:nvPr/>
            </p:nvSpPr>
            <p:spPr bwMode="auto">
              <a:xfrm>
                <a:off x="5196" y="1585"/>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S4</a:t>
                </a:r>
                <a:endParaRPr lang="en-US" altLang="en-US" sz="2800"/>
              </a:p>
            </p:txBody>
          </p:sp>
          <p:sp>
            <p:nvSpPr>
              <p:cNvPr id="490792" name="Oval 296"/>
              <p:cNvSpPr>
                <a:spLocks noChangeArrowheads="1"/>
              </p:cNvSpPr>
              <p:nvPr/>
            </p:nvSpPr>
            <p:spPr bwMode="auto">
              <a:xfrm>
                <a:off x="5012" y="1496"/>
                <a:ext cx="470"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90793" name="Oval 297"/>
            <p:cNvSpPr>
              <a:spLocks noChangeArrowheads="1"/>
            </p:cNvSpPr>
            <p:nvPr/>
          </p:nvSpPr>
          <p:spPr bwMode="auto">
            <a:xfrm>
              <a:off x="2589" y="1496"/>
              <a:ext cx="471" cy="272"/>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94" name="Freeform 298"/>
            <p:cNvSpPr>
              <a:spLocks/>
            </p:cNvSpPr>
            <p:nvPr/>
          </p:nvSpPr>
          <p:spPr bwMode="auto">
            <a:xfrm>
              <a:off x="3038" y="1482"/>
              <a:ext cx="99" cy="83"/>
            </a:xfrm>
            <a:custGeom>
              <a:avLst/>
              <a:gdLst>
                <a:gd name="T0" fmla="*/ 0 w 87"/>
                <a:gd name="T1" fmla="*/ 90 h 90"/>
                <a:gd name="T2" fmla="*/ 87 w 87"/>
                <a:gd name="T3" fmla="*/ 34 h 90"/>
                <a:gd name="T4" fmla="*/ 50 w 87"/>
                <a:gd name="T5" fmla="*/ 0 h 90"/>
                <a:gd name="T6" fmla="*/ 0 w 87"/>
                <a:gd name="T7" fmla="*/ 90 h 90"/>
              </a:gdLst>
              <a:ahLst/>
              <a:cxnLst>
                <a:cxn ang="0">
                  <a:pos x="T0" y="T1"/>
                </a:cxn>
                <a:cxn ang="0">
                  <a:pos x="T2" y="T3"/>
                </a:cxn>
                <a:cxn ang="0">
                  <a:pos x="T4" y="T5"/>
                </a:cxn>
                <a:cxn ang="0">
                  <a:pos x="T6" y="T7"/>
                </a:cxn>
              </a:cxnLst>
              <a:rect l="0" t="0" r="r" b="b"/>
              <a:pathLst>
                <a:path w="87" h="90">
                  <a:moveTo>
                    <a:pt x="0" y="90"/>
                  </a:moveTo>
                  <a:lnTo>
                    <a:pt x="87" y="34"/>
                  </a:lnTo>
                  <a:lnTo>
                    <a:pt x="50" y="0"/>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0795" name="Freeform 299"/>
            <p:cNvSpPr>
              <a:spLocks/>
            </p:cNvSpPr>
            <p:nvPr/>
          </p:nvSpPr>
          <p:spPr bwMode="auto">
            <a:xfrm>
              <a:off x="3077" y="486"/>
              <a:ext cx="2080" cy="1043"/>
            </a:xfrm>
            <a:custGeom>
              <a:avLst/>
              <a:gdLst>
                <a:gd name="T0" fmla="*/ 584 w 584"/>
                <a:gd name="T1" fmla="*/ 350 h 360"/>
                <a:gd name="T2" fmla="*/ 0 w 584"/>
                <a:gd name="T3" fmla="*/ 360 h 360"/>
              </a:gdLst>
              <a:ahLst/>
              <a:cxnLst>
                <a:cxn ang="0">
                  <a:pos x="T0" y="T1"/>
                </a:cxn>
                <a:cxn ang="0">
                  <a:pos x="T2" y="T3"/>
                </a:cxn>
              </a:cxnLst>
              <a:rect l="0" t="0" r="r" b="b"/>
              <a:pathLst>
                <a:path w="584" h="360">
                  <a:moveTo>
                    <a:pt x="584" y="350"/>
                  </a:moveTo>
                  <a:cubicBezTo>
                    <a:pt x="584" y="350"/>
                    <a:pt x="346" y="0"/>
                    <a:pt x="0" y="360"/>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0796" name="Line 300"/>
            <p:cNvSpPr>
              <a:spLocks noChangeShapeType="1"/>
            </p:cNvSpPr>
            <p:nvPr/>
          </p:nvSpPr>
          <p:spPr bwMode="auto">
            <a:xfrm>
              <a:off x="1613" y="1362"/>
              <a:ext cx="164" cy="116"/>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490797" name="Rectangle 301"/>
          <p:cNvSpPr>
            <a:spLocks noChangeArrowheads="1"/>
          </p:cNvSpPr>
          <p:nvPr/>
        </p:nvSpPr>
        <p:spPr bwMode="auto">
          <a:xfrm>
            <a:off x="2894013" y="1230313"/>
            <a:ext cx="19891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Inputs: B, S (1 bit each)</a:t>
            </a:r>
            <a:endParaRPr lang="en-US" altLang="en-US" sz="2800"/>
          </a:p>
        </p:txBody>
      </p:sp>
      <p:sp>
        <p:nvSpPr>
          <p:cNvPr id="490798" name="Rectangle 302"/>
          <p:cNvSpPr>
            <a:spLocks noChangeArrowheads="1"/>
          </p:cNvSpPr>
          <p:nvPr/>
        </p:nvSpPr>
        <p:spPr bwMode="auto">
          <a:xfrm>
            <a:off x="5141913" y="1230313"/>
            <a:ext cx="22431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Outputs: L (bit), D (16 bits)</a:t>
            </a:r>
            <a:endParaRPr lang="en-US"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9075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907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lide Number Placeholder 3"/>
          <p:cNvSpPr>
            <a:spLocks noGrp="1"/>
          </p:cNvSpPr>
          <p:nvPr>
            <p:ph type="sldNum" sz="quarter" idx="10"/>
          </p:nvPr>
        </p:nvSpPr>
        <p:spPr/>
        <p:txBody>
          <a:bodyPr/>
          <a:lstStyle/>
          <a:p>
            <a:fld id="{2DBDB085-E1C1-4518-9502-FBDCCCFBAA5B}" type="slidenum">
              <a:rPr lang="en-US" altLang="en-US"/>
              <a:pPr/>
              <a:t>22</a:t>
            </a:fld>
            <a:endParaRPr lang="en-US" altLang="en-US"/>
          </a:p>
        </p:txBody>
      </p:sp>
      <p:sp>
        <p:nvSpPr>
          <p:cNvPr id="491522" name="Rectangle 2"/>
          <p:cNvSpPr>
            <a:spLocks noGrp="1" noChangeArrowheads="1"/>
          </p:cNvSpPr>
          <p:nvPr>
            <p:ph type="title"/>
          </p:nvPr>
        </p:nvSpPr>
        <p:spPr/>
        <p:txBody>
          <a:bodyPr/>
          <a:lstStyle/>
          <a:p>
            <a:r>
              <a:rPr lang="en-US" altLang="en-US"/>
              <a:t>Step 2 Example Showing Mux Use</a:t>
            </a:r>
          </a:p>
        </p:txBody>
      </p:sp>
      <p:sp>
        <p:nvSpPr>
          <p:cNvPr id="491523" name="Rectangle 3"/>
          <p:cNvSpPr>
            <a:spLocks noGrp="1" noChangeArrowheads="1"/>
          </p:cNvSpPr>
          <p:nvPr>
            <p:ph type="body" idx="1"/>
          </p:nvPr>
        </p:nvSpPr>
        <p:spPr>
          <a:xfrm>
            <a:off x="228600" y="4978400"/>
            <a:ext cx="8610600" cy="1117600"/>
          </a:xfrm>
        </p:spPr>
        <p:txBody>
          <a:bodyPr/>
          <a:lstStyle/>
          <a:p>
            <a:r>
              <a:rPr lang="en-US" altLang="en-US"/>
              <a:t>Introduce mux when one component input can come from more than one source</a:t>
            </a:r>
          </a:p>
        </p:txBody>
      </p:sp>
      <p:grpSp>
        <p:nvGrpSpPr>
          <p:cNvPr id="491667" name="Group 147"/>
          <p:cNvGrpSpPr>
            <a:grpSpLocks/>
          </p:cNvGrpSpPr>
          <p:nvPr/>
        </p:nvGrpSpPr>
        <p:grpSpPr bwMode="auto">
          <a:xfrm>
            <a:off x="596900" y="1252538"/>
            <a:ext cx="1416050" cy="3252787"/>
            <a:chOff x="376" y="789"/>
            <a:chExt cx="892" cy="2049"/>
          </a:xfrm>
        </p:grpSpPr>
        <p:sp>
          <p:nvSpPr>
            <p:cNvPr id="491524" name="Line 4"/>
            <p:cNvSpPr>
              <a:spLocks noChangeShapeType="1"/>
            </p:cNvSpPr>
            <p:nvPr/>
          </p:nvSpPr>
          <p:spPr bwMode="auto">
            <a:xfrm>
              <a:off x="579" y="1702"/>
              <a:ext cx="1" cy="15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25" name="Freeform 5"/>
            <p:cNvSpPr>
              <a:spLocks/>
            </p:cNvSpPr>
            <p:nvPr/>
          </p:nvSpPr>
          <p:spPr bwMode="auto">
            <a:xfrm>
              <a:off x="552" y="1810"/>
              <a:ext cx="53" cy="119"/>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26" name="Freeform 6"/>
            <p:cNvSpPr>
              <a:spLocks/>
            </p:cNvSpPr>
            <p:nvPr/>
          </p:nvSpPr>
          <p:spPr bwMode="auto">
            <a:xfrm>
              <a:off x="552" y="1313"/>
              <a:ext cx="53" cy="11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40" name="Rectangle 20"/>
            <p:cNvSpPr>
              <a:spLocks noChangeArrowheads="1"/>
            </p:cNvSpPr>
            <p:nvPr/>
          </p:nvSpPr>
          <p:spPr bwMode="auto">
            <a:xfrm>
              <a:off x="530" y="1492"/>
              <a:ext cx="133"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T0</a:t>
              </a:r>
              <a:endParaRPr lang="en-US" altLang="en-US" sz="2800"/>
            </a:p>
          </p:txBody>
        </p:sp>
        <p:sp>
          <p:nvSpPr>
            <p:cNvPr id="491541" name="Oval 21"/>
            <p:cNvSpPr>
              <a:spLocks noChangeArrowheads="1"/>
            </p:cNvSpPr>
            <p:nvPr/>
          </p:nvSpPr>
          <p:spPr bwMode="auto">
            <a:xfrm>
              <a:off x="415" y="1435"/>
              <a:ext cx="330" cy="263"/>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42" name="Rectangle 22"/>
            <p:cNvSpPr>
              <a:spLocks noChangeArrowheads="1"/>
            </p:cNvSpPr>
            <p:nvPr/>
          </p:nvSpPr>
          <p:spPr bwMode="auto">
            <a:xfrm>
              <a:off x="530" y="1989"/>
              <a:ext cx="1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T1</a:t>
              </a:r>
              <a:endParaRPr lang="en-US" altLang="en-US" sz="2800"/>
            </a:p>
          </p:txBody>
        </p:sp>
        <p:sp>
          <p:nvSpPr>
            <p:cNvPr id="491543" name="Oval 23"/>
            <p:cNvSpPr>
              <a:spLocks noChangeArrowheads="1"/>
            </p:cNvSpPr>
            <p:nvPr/>
          </p:nvSpPr>
          <p:spPr bwMode="auto">
            <a:xfrm>
              <a:off x="415" y="1932"/>
              <a:ext cx="330" cy="264"/>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30" name="Rectangle 110"/>
            <p:cNvSpPr>
              <a:spLocks noChangeArrowheads="1"/>
            </p:cNvSpPr>
            <p:nvPr/>
          </p:nvSpPr>
          <p:spPr bwMode="auto">
            <a:xfrm>
              <a:off x="765" y="1501"/>
              <a:ext cx="4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 = E + F</a:t>
              </a:r>
              <a:endParaRPr lang="en-US" altLang="en-US" sz="2800"/>
            </a:p>
          </p:txBody>
        </p:sp>
        <p:sp>
          <p:nvSpPr>
            <p:cNvPr id="491631" name="Rectangle 111"/>
            <p:cNvSpPr>
              <a:spLocks noChangeArrowheads="1"/>
            </p:cNvSpPr>
            <p:nvPr/>
          </p:nvSpPr>
          <p:spPr bwMode="auto">
            <a:xfrm>
              <a:off x="765" y="1995"/>
              <a:ext cx="50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 = R + G</a:t>
              </a:r>
              <a:endParaRPr lang="en-US" altLang="en-US" sz="2800"/>
            </a:p>
          </p:txBody>
        </p:sp>
        <p:sp>
          <p:nvSpPr>
            <p:cNvPr id="491632" name="Rectangle 112"/>
            <p:cNvSpPr>
              <a:spLocks noChangeArrowheads="1"/>
            </p:cNvSpPr>
            <p:nvPr/>
          </p:nvSpPr>
          <p:spPr bwMode="auto">
            <a:xfrm>
              <a:off x="376" y="945"/>
              <a:ext cx="73"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E</a:t>
              </a:r>
              <a:endParaRPr lang="en-US" altLang="en-US" sz="2800"/>
            </a:p>
          </p:txBody>
        </p:sp>
        <p:sp>
          <p:nvSpPr>
            <p:cNvPr id="491633" name="Rectangle 113"/>
            <p:cNvSpPr>
              <a:spLocks noChangeArrowheads="1"/>
            </p:cNvSpPr>
            <p:nvPr/>
          </p:nvSpPr>
          <p:spPr bwMode="auto">
            <a:xfrm>
              <a:off x="428" y="945"/>
              <a:ext cx="30"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sp>
          <p:nvSpPr>
            <p:cNvPr id="491634" name="Rectangle 114"/>
            <p:cNvSpPr>
              <a:spLocks noChangeArrowheads="1"/>
            </p:cNvSpPr>
            <p:nvPr/>
          </p:nvSpPr>
          <p:spPr bwMode="auto">
            <a:xfrm>
              <a:off x="473" y="945"/>
              <a:ext cx="67"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a:t>
              </a:r>
              <a:endParaRPr lang="en-US" altLang="en-US" sz="2800"/>
            </a:p>
          </p:txBody>
        </p:sp>
        <p:sp>
          <p:nvSpPr>
            <p:cNvPr id="491635" name="Rectangle 115"/>
            <p:cNvSpPr>
              <a:spLocks noChangeArrowheads="1"/>
            </p:cNvSpPr>
            <p:nvPr/>
          </p:nvSpPr>
          <p:spPr bwMode="auto">
            <a:xfrm>
              <a:off x="515" y="945"/>
              <a:ext cx="721"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 G, R (16 bits)</a:t>
              </a:r>
              <a:endParaRPr lang="en-US" altLang="en-US" sz="2800"/>
            </a:p>
          </p:txBody>
        </p:sp>
        <p:sp>
          <p:nvSpPr>
            <p:cNvPr id="491636" name="Rectangle 116"/>
            <p:cNvSpPr>
              <a:spLocks noChangeArrowheads="1"/>
            </p:cNvSpPr>
            <p:nvPr/>
          </p:nvSpPr>
          <p:spPr bwMode="auto">
            <a:xfrm>
              <a:off x="376" y="789"/>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a:t>
              </a:r>
              <a:endParaRPr lang="en-US" altLang="en-US" sz="2800"/>
            </a:p>
          </p:txBody>
        </p:sp>
        <p:sp>
          <p:nvSpPr>
            <p:cNvPr id="491637" name="Rectangle 117"/>
            <p:cNvSpPr>
              <a:spLocks noChangeArrowheads="1"/>
            </p:cNvSpPr>
            <p:nvPr/>
          </p:nvSpPr>
          <p:spPr bwMode="auto">
            <a:xfrm>
              <a:off x="425" y="789"/>
              <a:ext cx="19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ocal</a:t>
              </a:r>
              <a:endParaRPr lang="en-US" altLang="en-US" sz="2800"/>
            </a:p>
          </p:txBody>
        </p:sp>
        <p:sp>
          <p:nvSpPr>
            <p:cNvPr id="491638" name="Rectangle 118"/>
            <p:cNvSpPr>
              <a:spLocks noChangeArrowheads="1"/>
            </p:cNvSpPr>
            <p:nvPr/>
          </p:nvSpPr>
          <p:spPr bwMode="auto">
            <a:xfrm>
              <a:off x="631" y="789"/>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t>
              </a:r>
              <a:endParaRPr lang="en-US" altLang="en-US" sz="2800"/>
            </a:p>
          </p:txBody>
        </p:sp>
        <p:sp>
          <p:nvSpPr>
            <p:cNvPr id="491639" name="Rectangle 119"/>
            <p:cNvSpPr>
              <a:spLocks noChangeArrowheads="1"/>
            </p:cNvSpPr>
            <p:nvPr/>
          </p:nvSpPr>
          <p:spPr bwMode="auto">
            <a:xfrm>
              <a:off x="664" y="789"/>
              <a:ext cx="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e</a:t>
              </a:r>
              <a:endParaRPr lang="en-US" altLang="en-US" sz="2800"/>
            </a:p>
          </p:txBody>
        </p:sp>
        <p:sp>
          <p:nvSpPr>
            <p:cNvPr id="491640" name="Rectangle 120"/>
            <p:cNvSpPr>
              <a:spLocks noChangeArrowheads="1"/>
            </p:cNvSpPr>
            <p:nvPr/>
          </p:nvSpPr>
          <p:spPr bwMode="auto">
            <a:xfrm>
              <a:off x="718" y="789"/>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a:t>
              </a:r>
              <a:endParaRPr lang="en-US" altLang="en-US" sz="2800"/>
            </a:p>
          </p:txBody>
        </p:sp>
        <p:sp>
          <p:nvSpPr>
            <p:cNvPr id="491641" name="Rectangle 121"/>
            <p:cNvSpPr>
              <a:spLocks noChangeArrowheads="1"/>
            </p:cNvSpPr>
            <p:nvPr/>
          </p:nvSpPr>
          <p:spPr bwMode="auto">
            <a:xfrm>
              <a:off x="777" y="789"/>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is</a:t>
              </a:r>
              <a:endParaRPr lang="en-US" altLang="en-US" sz="2800"/>
            </a:p>
          </p:txBody>
        </p:sp>
        <p:sp>
          <p:nvSpPr>
            <p:cNvPr id="491642" name="Rectangle 122"/>
            <p:cNvSpPr>
              <a:spLocks noChangeArrowheads="1"/>
            </p:cNvSpPr>
            <p:nvPr/>
          </p:nvSpPr>
          <p:spPr bwMode="auto">
            <a:xfrm>
              <a:off x="844" y="789"/>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a:t>
              </a:r>
              <a:endParaRPr lang="en-US" altLang="en-US" sz="2800"/>
            </a:p>
          </p:txBody>
        </p:sp>
        <p:sp>
          <p:nvSpPr>
            <p:cNvPr id="491643" name="Rectangle 123"/>
            <p:cNvSpPr>
              <a:spLocks noChangeArrowheads="1"/>
            </p:cNvSpPr>
            <p:nvPr/>
          </p:nvSpPr>
          <p:spPr bwMode="auto">
            <a:xfrm>
              <a:off x="878" y="789"/>
              <a:ext cx="1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ers</a:t>
              </a:r>
              <a:endParaRPr lang="en-US" altLang="en-US" sz="2800"/>
            </a:p>
          </p:txBody>
        </p:sp>
        <p:sp>
          <p:nvSpPr>
            <p:cNvPr id="491644" name="Rectangle 124"/>
            <p:cNvSpPr>
              <a:spLocks noChangeArrowheads="1"/>
            </p:cNvSpPr>
            <p:nvPr/>
          </p:nvSpPr>
          <p:spPr bwMode="auto">
            <a:xfrm>
              <a:off x="1009" y="789"/>
              <a:ext cx="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sp>
          <p:nvSpPr>
            <p:cNvPr id="491651" name="Freeform 131"/>
            <p:cNvSpPr>
              <a:spLocks/>
            </p:cNvSpPr>
            <p:nvPr/>
          </p:nvSpPr>
          <p:spPr bwMode="auto">
            <a:xfrm>
              <a:off x="386" y="1187"/>
              <a:ext cx="193" cy="148"/>
            </a:xfrm>
            <a:custGeom>
              <a:avLst/>
              <a:gdLst>
                <a:gd name="T0" fmla="*/ 0 w 58"/>
                <a:gd name="T1" fmla="*/ 6 h 40"/>
                <a:gd name="T2" fmla="*/ 58 w 58"/>
                <a:gd name="T3" fmla="*/ 40 h 40"/>
              </a:gdLst>
              <a:ahLst/>
              <a:cxnLst>
                <a:cxn ang="0">
                  <a:pos x="T0" y="T1"/>
                </a:cxn>
                <a:cxn ang="0">
                  <a:pos x="T2" y="T3"/>
                </a:cxn>
              </a:cxnLst>
              <a:rect l="0" t="0" r="r" b="b"/>
              <a:pathLst>
                <a:path w="58" h="40">
                  <a:moveTo>
                    <a:pt x="0" y="6"/>
                  </a:moveTo>
                  <a:cubicBezTo>
                    <a:pt x="0" y="6"/>
                    <a:pt x="58" y="0"/>
                    <a:pt x="58" y="40"/>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52" name="Rectangle 132"/>
            <p:cNvSpPr>
              <a:spLocks noChangeArrowheads="1"/>
            </p:cNvSpPr>
            <p:nvPr/>
          </p:nvSpPr>
          <p:spPr bwMode="auto">
            <a:xfrm>
              <a:off x="759" y="2694"/>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sp>
          <p:nvSpPr>
            <p:cNvPr id="491653" name="Rectangle 133"/>
            <p:cNvSpPr>
              <a:spLocks noChangeArrowheads="1"/>
            </p:cNvSpPr>
            <p:nvPr/>
          </p:nvSpPr>
          <p:spPr bwMode="auto">
            <a:xfrm>
              <a:off x="790" y="2694"/>
              <a:ext cx="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a:t>
              </a:r>
              <a:endParaRPr lang="en-US" altLang="en-US" sz="2800"/>
            </a:p>
          </p:txBody>
        </p:sp>
        <p:sp>
          <p:nvSpPr>
            <p:cNvPr id="491654" name="Rectangle 134"/>
            <p:cNvSpPr>
              <a:spLocks noChangeArrowheads="1"/>
            </p:cNvSpPr>
            <p:nvPr/>
          </p:nvSpPr>
          <p:spPr bwMode="auto">
            <a:xfrm>
              <a:off x="841" y="2694"/>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grpSp>
      <p:grpSp>
        <p:nvGrpSpPr>
          <p:cNvPr id="491671" name="Group 151"/>
          <p:cNvGrpSpPr>
            <a:grpSpLocks/>
          </p:cNvGrpSpPr>
          <p:nvPr/>
        </p:nvGrpSpPr>
        <p:grpSpPr bwMode="auto">
          <a:xfrm>
            <a:off x="6232525" y="1595438"/>
            <a:ext cx="2393950" cy="3484562"/>
            <a:chOff x="3926" y="1005"/>
            <a:chExt cx="1508" cy="2195"/>
          </a:xfrm>
        </p:grpSpPr>
        <p:sp>
          <p:nvSpPr>
            <p:cNvPr id="491578" name="Line 58"/>
            <p:cNvSpPr>
              <a:spLocks noChangeShapeType="1"/>
            </p:cNvSpPr>
            <p:nvPr/>
          </p:nvSpPr>
          <p:spPr bwMode="auto">
            <a:xfrm flipH="1">
              <a:off x="4990" y="2878"/>
              <a:ext cx="74" cy="8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79" name="Line 59"/>
            <p:cNvSpPr>
              <a:spLocks noChangeShapeType="1"/>
            </p:cNvSpPr>
            <p:nvPr/>
          </p:nvSpPr>
          <p:spPr bwMode="auto">
            <a:xfrm>
              <a:off x="5023" y="2274"/>
              <a:ext cx="1" cy="20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80" name="Freeform 60"/>
            <p:cNvSpPr>
              <a:spLocks/>
            </p:cNvSpPr>
            <p:nvPr/>
          </p:nvSpPr>
          <p:spPr bwMode="auto">
            <a:xfrm>
              <a:off x="4997" y="2437"/>
              <a:ext cx="53" cy="11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81" name="Line 61"/>
            <p:cNvSpPr>
              <a:spLocks noChangeShapeType="1"/>
            </p:cNvSpPr>
            <p:nvPr/>
          </p:nvSpPr>
          <p:spPr bwMode="auto">
            <a:xfrm>
              <a:off x="4794" y="1791"/>
              <a:ext cx="1" cy="12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82" name="Freeform 62"/>
            <p:cNvSpPr>
              <a:spLocks/>
            </p:cNvSpPr>
            <p:nvPr/>
          </p:nvSpPr>
          <p:spPr bwMode="auto">
            <a:xfrm>
              <a:off x="4767" y="1869"/>
              <a:ext cx="54" cy="119"/>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83" name="Line 63"/>
            <p:cNvSpPr>
              <a:spLocks noChangeShapeType="1"/>
            </p:cNvSpPr>
            <p:nvPr/>
          </p:nvSpPr>
          <p:spPr bwMode="auto">
            <a:xfrm>
              <a:off x="4415" y="1702"/>
              <a:ext cx="16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84" name="Freeform 64"/>
            <p:cNvSpPr>
              <a:spLocks/>
            </p:cNvSpPr>
            <p:nvPr/>
          </p:nvSpPr>
          <p:spPr bwMode="auto">
            <a:xfrm>
              <a:off x="4544" y="1672"/>
              <a:ext cx="106" cy="6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85" name="Freeform 65"/>
            <p:cNvSpPr>
              <a:spLocks/>
            </p:cNvSpPr>
            <p:nvPr/>
          </p:nvSpPr>
          <p:spPr bwMode="auto">
            <a:xfrm>
              <a:off x="4415" y="1698"/>
              <a:ext cx="652" cy="142"/>
            </a:xfrm>
            <a:custGeom>
              <a:avLst/>
              <a:gdLst>
                <a:gd name="T0" fmla="*/ 612 w 612"/>
                <a:gd name="T1" fmla="*/ 0 h 119"/>
                <a:gd name="T2" fmla="*/ 531 w 612"/>
                <a:gd name="T3" fmla="*/ 0 h 119"/>
                <a:gd name="T4" fmla="*/ 531 w 612"/>
                <a:gd name="T5" fmla="*/ 119 h 119"/>
                <a:gd name="T6" fmla="*/ 0 w 612"/>
                <a:gd name="T7" fmla="*/ 119 h 119"/>
              </a:gdLst>
              <a:ahLst/>
              <a:cxnLst>
                <a:cxn ang="0">
                  <a:pos x="T0" y="T1"/>
                </a:cxn>
                <a:cxn ang="0">
                  <a:pos x="T2" y="T3"/>
                </a:cxn>
                <a:cxn ang="0">
                  <a:pos x="T4" y="T5"/>
                </a:cxn>
                <a:cxn ang="0">
                  <a:pos x="T6" y="T7"/>
                </a:cxn>
              </a:cxnLst>
              <a:rect l="0" t="0" r="r" b="b"/>
              <a:pathLst>
                <a:path w="612" h="119">
                  <a:moveTo>
                    <a:pt x="612" y="0"/>
                  </a:moveTo>
                  <a:lnTo>
                    <a:pt x="531" y="0"/>
                  </a:lnTo>
                  <a:lnTo>
                    <a:pt x="531" y="119"/>
                  </a:lnTo>
                  <a:lnTo>
                    <a:pt x="0" y="119"/>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86" name="Freeform 66"/>
            <p:cNvSpPr>
              <a:spLocks/>
            </p:cNvSpPr>
            <p:nvPr/>
          </p:nvSpPr>
          <p:spPr bwMode="auto">
            <a:xfrm>
              <a:off x="5031" y="1669"/>
              <a:ext cx="107" cy="5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87" name="Line 67"/>
            <p:cNvSpPr>
              <a:spLocks noChangeShapeType="1"/>
            </p:cNvSpPr>
            <p:nvPr/>
          </p:nvSpPr>
          <p:spPr bwMode="auto">
            <a:xfrm>
              <a:off x="5274" y="1791"/>
              <a:ext cx="1" cy="12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88" name="Freeform 68"/>
            <p:cNvSpPr>
              <a:spLocks/>
            </p:cNvSpPr>
            <p:nvPr/>
          </p:nvSpPr>
          <p:spPr bwMode="auto">
            <a:xfrm>
              <a:off x="5247" y="1869"/>
              <a:ext cx="54" cy="119"/>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89" name="Freeform 69"/>
            <p:cNvSpPr>
              <a:spLocks/>
            </p:cNvSpPr>
            <p:nvPr/>
          </p:nvSpPr>
          <p:spPr bwMode="auto">
            <a:xfrm>
              <a:off x="4537" y="1171"/>
              <a:ext cx="83" cy="9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90" name="Freeform 70"/>
            <p:cNvSpPr>
              <a:spLocks/>
            </p:cNvSpPr>
            <p:nvPr/>
          </p:nvSpPr>
          <p:spPr bwMode="auto">
            <a:xfrm>
              <a:off x="4901" y="2719"/>
              <a:ext cx="83" cy="93"/>
            </a:xfrm>
            <a:custGeom>
              <a:avLst/>
              <a:gdLst>
                <a:gd name="T0" fmla="*/ 0 w 78"/>
                <a:gd name="T1" fmla="*/ 78 h 78"/>
                <a:gd name="T2" fmla="*/ 78 w 78"/>
                <a:gd name="T3" fmla="*/ 37 h 78"/>
                <a:gd name="T4" fmla="*/ 0 w 78"/>
                <a:gd name="T5" fmla="*/ 0 h 78"/>
              </a:gdLst>
              <a:ahLst/>
              <a:cxnLst>
                <a:cxn ang="0">
                  <a:pos x="T0" y="T1"/>
                </a:cxn>
                <a:cxn ang="0">
                  <a:pos x="T2" y="T3"/>
                </a:cxn>
                <a:cxn ang="0">
                  <a:pos x="T4" y="T5"/>
                </a:cxn>
              </a:cxnLst>
              <a:rect l="0" t="0" r="r" b="b"/>
              <a:pathLst>
                <a:path w="78" h="78">
                  <a:moveTo>
                    <a:pt x="0" y="78"/>
                  </a:moveTo>
                  <a:lnTo>
                    <a:pt x="78" y="37"/>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91" name="Freeform 71"/>
            <p:cNvSpPr>
              <a:spLocks/>
            </p:cNvSpPr>
            <p:nvPr/>
          </p:nvSpPr>
          <p:spPr bwMode="auto">
            <a:xfrm>
              <a:off x="4854" y="1171"/>
              <a:ext cx="83" cy="9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92" name="Freeform 72"/>
            <p:cNvSpPr>
              <a:spLocks/>
            </p:cNvSpPr>
            <p:nvPr/>
          </p:nvSpPr>
          <p:spPr bwMode="auto">
            <a:xfrm>
              <a:off x="5177" y="1171"/>
              <a:ext cx="83" cy="9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93" name="Line 73"/>
            <p:cNvSpPr>
              <a:spLocks noChangeShapeType="1"/>
            </p:cNvSpPr>
            <p:nvPr/>
          </p:nvSpPr>
          <p:spPr bwMode="auto">
            <a:xfrm flipH="1">
              <a:off x="4987" y="2318"/>
              <a:ext cx="74" cy="8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94" name="Line 74"/>
            <p:cNvSpPr>
              <a:spLocks noChangeShapeType="1"/>
            </p:cNvSpPr>
            <p:nvPr/>
          </p:nvSpPr>
          <p:spPr bwMode="auto">
            <a:xfrm>
              <a:off x="4670" y="1290"/>
              <a:ext cx="148" cy="27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95" name="Freeform 75"/>
            <p:cNvSpPr>
              <a:spLocks/>
            </p:cNvSpPr>
            <p:nvPr/>
          </p:nvSpPr>
          <p:spPr bwMode="auto">
            <a:xfrm>
              <a:off x="4771" y="1501"/>
              <a:ext cx="80" cy="115"/>
            </a:xfrm>
            <a:custGeom>
              <a:avLst/>
              <a:gdLst>
                <a:gd name="T0" fmla="*/ 75 w 75"/>
                <a:gd name="T1" fmla="*/ 97 h 97"/>
                <a:gd name="T2" fmla="*/ 41 w 75"/>
                <a:gd name="T3" fmla="*/ 0 h 97"/>
                <a:gd name="T4" fmla="*/ 0 w 75"/>
                <a:gd name="T5" fmla="*/ 29 h 97"/>
                <a:gd name="T6" fmla="*/ 75 w 75"/>
                <a:gd name="T7" fmla="*/ 97 h 97"/>
              </a:gdLst>
              <a:ahLst/>
              <a:cxnLst>
                <a:cxn ang="0">
                  <a:pos x="T0" y="T1"/>
                </a:cxn>
                <a:cxn ang="0">
                  <a:pos x="T2" y="T3"/>
                </a:cxn>
                <a:cxn ang="0">
                  <a:pos x="T4" y="T5"/>
                </a:cxn>
                <a:cxn ang="0">
                  <a:pos x="T6" y="T7"/>
                </a:cxn>
              </a:cxnLst>
              <a:rect l="0" t="0" r="r" b="b"/>
              <a:pathLst>
                <a:path w="75" h="97">
                  <a:moveTo>
                    <a:pt x="75" y="97"/>
                  </a:moveTo>
                  <a:lnTo>
                    <a:pt x="41" y="0"/>
                  </a:lnTo>
                  <a:lnTo>
                    <a:pt x="0" y="29"/>
                  </a:lnTo>
                  <a:lnTo>
                    <a:pt x="75"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96" name="Freeform 76"/>
            <p:cNvSpPr>
              <a:spLocks/>
            </p:cNvSpPr>
            <p:nvPr/>
          </p:nvSpPr>
          <p:spPr bwMode="auto">
            <a:xfrm>
              <a:off x="4487" y="1438"/>
              <a:ext cx="540" cy="1574"/>
            </a:xfrm>
            <a:custGeom>
              <a:avLst/>
              <a:gdLst>
                <a:gd name="T0" fmla="*/ 185 w 506"/>
                <a:gd name="T1" fmla="*/ 104 h 1326"/>
                <a:gd name="T2" fmla="*/ 116 w 506"/>
                <a:gd name="T3" fmla="*/ 0 h 1326"/>
                <a:gd name="T4" fmla="*/ 0 w 506"/>
                <a:gd name="T5" fmla="*/ 0 h 1326"/>
                <a:gd name="T6" fmla="*/ 0 w 506"/>
                <a:gd name="T7" fmla="*/ 1326 h 1326"/>
                <a:gd name="T8" fmla="*/ 506 w 506"/>
                <a:gd name="T9" fmla="*/ 1326 h 1326"/>
                <a:gd name="T10" fmla="*/ 506 w 506"/>
                <a:gd name="T11" fmla="*/ 1179 h 1326"/>
              </a:gdLst>
              <a:ahLst/>
              <a:cxnLst>
                <a:cxn ang="0">
                  <a:pos x="T0" y="T1"/>
                </a:cxn>
                <a:cxn ang="0">
                  <a:pos x="T2" y="T3"/>
                </a:cxn>
                <a:cxn ang="0">
                  <a:pos x="T4" y="T5"/>
                </a:cxn>
                <a:cxn ang="0">
                  <a:pos x="T6" y="T7"/>
                </a:cxn>
                <a:cxn ang="0">
                  <a:pos x="T8" y="T9"/>
                </a:cxn>
                <a:cxn ang="0">
                  <a:pos x="T10" y="T11"/>
                </a:cxn>
              </a:cxnLst>
              <a:rect l="0" t="0" r="r" b="b"/>
              <a:pathLst>
                <a:path w="506" h="1326">
                  <a:moveTo>
                    <a:pt x="185" y="104"/>
                  </a:moveTo>
                  <a:lnTo>
                    <a:pt x="116" y="0"/>
                  </a:lnTo>
                  <a:lnTo>
                    <a:pt x="0" y="0"/>
                  </a:lnTo>
                  <a:lnTo>
                    <a:pt x="0" y="1326"/>
                  </a:lnTo>
                  <a:lnTo>
                    <a:pt x="506" y="1326"/>
                  </a:lnTo>
                  <a:lnTo>
                    <a:pt x="506" y="1179"/>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97" name="Freeform 77"/>
            <p:cNvSpPr>
              <a:spLocks/>
            </p:cNvSpPr>
            <p:nvPr/>
          </p:nvSpPr>
          <p:spPr bwMode="auto">
            <a:xfrm>
              <a:off x="4641" y="1510"/>
              <a:ext cx="83" cy="115"/>
            </a:xfrm>
            <a:custGeom>
              <a:avLst/>
              <a:gdLst>
                <a:gd name="T0" fmla="*/ 78 w 78"/>
                <a:gd name="T1" fmla="*/ 97 h 97"/>
                <a:gd name="T2" fmla="*/ 41 w 78"/>
                <a:gd name="T3" fmla="*/ 0 h 97"/>
                <a:gd name="T4" fmla="*/ 0 w 78"/>
                <a:gd name="T5" fmla="*/ 28 h 97"/>
                <a:gd name="T6" fmla="*/ 78 w 78"/>
                <a:gd name="T7" fmla="*/ 97 h 97"/>
              </a:gdLst>
              <a:ahLst/>
              <a:cxnLst>
                <a:cxn ang="0">
                  <a:pos x="T0" y="T1"/>
                </a:cxn>
                <a:cxn ang="0">
                  <a:pos x="T2" y="T3"/>
                </a:cxn>
                <a:cxn ang="0">
                  <a:pos x="T4" y="T5"/>
                </a:cxn>
                <a:cxn ang="0">
                  <a:pos x="T6" y="T7"/>
                </a:cxn>
              </a:cxnLst>
              <a:rect l="0" t="0" r="r" b="b"/>
              <a:pathLst>
                <a:path w="78" h="97">
                  <a:moveTo>
                    <a:pt x="78" y="97"/>
                  </a:moveTo>
                  <a:lnTo>
                    <a:pt x="41" y="0"/>
                  </a:lnTo>
                  <a:lnTo>
                    <a:pt x="0" y="28"/>
                  </a:lnTo>
                  <a:lnTo>
                    <a:pt x="78"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98" name="Line 78"/>
            <p:cNvSpPr>
              <a:spLocks noChangeShapeType="1"/>
            </p:cNvSpPr>
            <p:nvPr/>
          </p:nvSpPr>
          <p:spPr bwMode="auto">
            <a:xfrm flipH="1">
              <a:off x="4711" y="1346"/>
              <a:ext cx="33" cy="11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602" name="Line 82"/>
            <p:cNvSpPr>
              <a:spLocks noChangeShapeType="1"/>
            </p:cNvSpPr>
            <p:nvPr/>
          </p:nvSpPr>
          <p:spPr bwMode="auto">
            <a:xfrm flipH="1">
              <a:off x="5040" y="1346"/>
              <a:ext cx="34" cy="11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603" name="Line 83"/>
            <p:cNvSpPr>
              <a:spLocks noChangeShapeType="1"/>
            </p:cNvSpPr>
            <p:nvPr/>
          </p:nvSpPr>
          <p:spPr bwMode="auto">
            <a:xfrm flipH="1">
              <a:off x="5284" y="1342"/>
              <a:ext cx="56" cy="1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604" name="Line 84"/>
            <p:cNvSpPr>
              <a:spLocks noChangeShapeType="1"/>
            </p:cNvSpPr>
            <p:nvPr/>
          </p:nvSpPr>
          <p:spPr bwMode="auto">
            <a:xfrm>
              <a:off x="4978" y="1286"/>
              <a:ext cx="186" cy="27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605" name="Freeform 85"/>
            <p:cNvSpPr>
              <a:spLocks/>
            </p:cNvSpPr>
            <p:nvPr/>
          </p:nvSpPr>
          <p:spPr bwMode="auto">
            <a:xfrm>
              <a:off x="5120" y="1506"/>
              <a:ext cx="84" cy="110"/>
            </a:xfrm>
            <a:custGeom>
              <a:avLst/>
              <a:gdLst>
                <a:gd name="T0" fmla="*/ 78 w 78"/>
                <a:gd name="T1" fmla="*/ 93 h 93"/>
                <a:gd name="T2" fmla="*/ 37 w 78"/>
                <a:gd name="T3" fmla="*/ 0 h 93"/>
                <a:gd name="T4" fmla="*/ 0 w 78"/>
                <a:gd name="T5" fmla="*/ 28 h 93"/>
                <a:gd name="T6" fmla="*/ 78 w 78"/>
                <a:gd name="T7" fmla="*/ 93 h 93"/>
              </a:gdLst>
              <a:ahLst/>
              <a:cxnLst>
                <a:cxn ang="0">
                  <a:pos x="T0" y="T1"/>
                </a:cxn>
                <a:cxn ang="0">
                  <a:pos x="T2" y="T3"/>
                </a:cxn>
                <a:cxn ang="0">
                  <a:pos x="T4" y="T5"/>
                </a:cxn>
                <a:cxn ang="0">
                  <a:pos x="T6" y="T7"/>
                </a:cxn>
              </a:cxnLst>
              <a:rect l="0" t="0" r="r" b="b"/>
              <a:pathLst>
                <a:path w="78" h="93">
                  <a:moveTo>
                    <a:pt x="78" y="93"/>
                  </a:moveTo>
                  <a:lnTo>
                    <a:pt x="37" y="0"/>
                  </a:lnTo>
                  <a:lnTo>
                    <a:pt x="0" y="28"/>
                  </a:lnTo>
                  <a:lnTo>
                    <a:pt x="78" y="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606" name="Line 86"/>
            <p:cNvSpPr>
              <a:spLocks noChangeShapeType="1"/>
            </p:cNvSpPr>
            <p:nvPr/>
          </p:nvSpPr>
          <p:spPr bwMode="auto">
            <a:xfrm>
              <a:off x="5301" y="1290"/>
              <a:ext cx="30" cy="25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607" name="Freeform 87"/>
            <p:cNvSpPr>
              <a:spLocks/>
            </p:cNvSpPr>
            <p:nvPr/>
          </p:nvSpPr>
          <p:spPr bwMode="auto">
            <a:xfrm>
              <a:off x="5301" y="1498"/>
              <a:ext cx="50" cy="118"/>
            </a:xfrm>
            <a:custGeom>
              <a:avLst/>
              <a:gdLst>
                <a:gd name="T0" fmla="*/ 37 w 47"/>
                <a:gd name="T1" fmla="*/ 100 h 100"/>
                <a:gd name="T2" fmla="*/ 0 w 47"/>
                <a:gd name="T3" fmla="*/ 7 h 100"/>
                <a:gd name="T4" fmla="*/ 47 w 47"/>
                <a:gd name="T5" fmla="*/ 0 h 100"/>
                <a:gd name="T6" fmla="*/ 37 w 47"/>
                <a:gd name="T7" fmla="*/ 100 h 100"/>
              </a:gdLst>
              <a:ahLst/>
              <a:cxnLst>
                <a:cxn ang="0">
                  <a:pos x="T0" y="T1"/>
                </a:cxn>
                <a:cxn ang="0">
                  <a:pos x="T2" y="T3"/>
                </a:cxn>
                <a:cxn ang="0">
                  <a:pos x="T4" y="T5"/>
                </a:cxn>
                <a:cxn ang="0">
                  <a:pos x="T6" y="T7"/>
                </a:cxn>
              </a:cxnLst>
              <a:rect l="0" t="0" r="r" b="b"/>
              <a:pathLst>
                <a:path w="47" h="100">
                  <a:moveTo>
                    <a:pt x="37" y="100"/>
                  </a:moveTo>
                  <a:lnTo>
                    <a:pt x="0" y="7"/>
                  </a:lnTo>
                  <a:lnTo>
                    <a:pt x="47" y="0"/>
                  </a:lnTo>
                  <a:lnTo>
                    <a:pt x="37"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608" name="Rectangle 88"/>
            <p:cNvSpPr>
              <a:spLocks noChangeArrowheads="1"/>
            </p:cNvSpPr>
            <p:nvPr/>
          </p:nvSpPr>
          <p:spPr bwMode="auto">
            <a:xfrm>
              <a:off x="4534" y="1005"/>
              <a:ext cx="260"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09" name="Rectangle 89"/>
            <p:cNvSpPr>
              <a:spLocks noChangeArrowheads="1"/>
            </p:cNvSpPr>
            <p:nvPr/>
          </p:nvSpPr>
          <p:spPr bwMode="auto">
            <a:xfrm>
              <a:off x="4854" y="1005"/>
              <a:ext cx="260"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10" name="Rectangle 90"/>
            <p:cNvSpPr>
              <a:spLocks noChangeArrowheads="1"/>
            </p:cNvSpPr>
            <p:nvPr/>
          </p:nvSpPr>
          <p:spPr bwMode="auto">
            <a:xfrm>
              <a:off x="4898" y="2559"/>
              <a:ext cx="259" cy="28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11" name="Rectangle 91"/>
            <p:cNvSpPr>
              <a:spLocks noChangeArrowheads="1"/>
            </p:cNvSpPr>
            <p:nvPr/>
          </p:nvSpPr>
          <p:spPr bwMode="auto">
            <a:xfrm>
              <a:off x="5174" y="1005"/>
              <a:ext cx="260"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12" name="Rectangle 92"/>
            <p:cNvSpPr>
              <a:spLocks noChangeArrowheads="1"/>
            </p:cNvSpPr>
            <p:nvPr/>
          </p:nvSpPr>
          <p:spPr bwMode="auto">
            <a:xfrm>
              <a:off x="4714" y="1995"/>
              <a:ext cx="640" cy="28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13" name="Rectangle 93"/>
            <p:cNvSpPr>
              <a:spLocks noChangeArrowheads="1"/>
            </p:cNvSpPr>
            <p:nvPr/>
          </p:nvSpPr>
          <p:spPr bwMode="auto">
            <a:xfrm>
              <a:off x="4637" y="1076"/>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E</a:t>
              </a:r>
              <a:endParaRPr lang="en-US" altLang="en-US" sz="2800"/>
            </a:p>
          </p:txBody>
        </p:sp>
        <p:sp>
          <p:nvSpPr>
            <p:cNvPr id="491614" name="Rectangle 94"/>
            <p:cNvSpPr>
              <a:spLocks noChangeArrowheads="1"/>
            </p:cNvSpPr>
            <p:nvPr/>
          </p:nvSpPr>
          <p:spPr bwMode="auto">
            <a:xfrm>
              <a:off x="4968" y="107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a:t>
              </a:r>
              <a:endParaRPr lang="en-US" altLang="en-US" sz="2800"/>
            </a:p>
          </p:txBody>
        </p:sp>
        <p:sp>
          <p:nvSpPr>
            <p:cNvPr id="491615" name="Rectangle 95"/>
            <p:cNvSpPr>
              <a:spLocks noChangeArrowheads="1"/>
            </p:cNvSpPr>
            <p:nvPr/>
          </p:nvSpPr>
          <p:spPr bwMode="auto">
            <a:xfrm>
              <a:off x="5279" y="107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a:t>
              </a:r>
              <a:endParaRPr lang="en-US" altLang="en-US" sz="2800"/>
            </a:p>
          </p:txBody>
        </p:sp>
        <p:sp>
          <p:nvSpPr>
            <p:cNvPr id="491616" name="Rectangle 96"/>
            <p:cNvSpPr>
              <a:spLocks noChangeArrowheads="1"/>
            </p:cNvSpPr>
            <p:nvPr/>
          </p:nvSpPr>
          <p:spPr bwMode="auto">
            <a:xfrm>
              <a:off x="4761" y="1997"/>
              <a:ext cx="8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a:t>
              </a:r>
              <a:endParaRPr lang="en-US" altLang="en-US" sz="2800"/>
            </a:p>
          </p:txBody>
        </p:sp>
        <p:sp>
          <p:nvSpPr>
            <p:cNvPr id="491617" name="Rectangle 97"/>
            <p:cNvSpPr>
              <a:spLocks noChangeArrowheads="1"/>
            </p:cNvSpPr>
            <p:nvPr/>
          </p:nvSpPr>
          <p:spPr bwMode="auto">
            <a:xfrm>
              <a:off x="5246" y="1997"/>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91618" name="Rectangle 98"/>
            <p:cNvSpPr>
              <a:spLocks noChangeArrowheads="1"/>
            </p:cNvSpPr>
            <p:nvPr/>
          </p:nvSpPr>
          <p:spPr bwMode="auto">
            <a:xfrm>
              <a:off x="4984" y="2038"/>
              <a:ext cx="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a:t>
              </a:r>
              <a:endParaRPr lang="en-US" altLang="en-US" sz="2800"/>
            </a:p>
          </p:txBody>
        </p:sp>
        <p:sp>
          <p:nvSpPr>
            <p:cNvPr id="491619" name="Rectangle 99"/>
            <p:cNvSpPr>
              <a:spLocks noChangeArrowheads="1"/>
            </p:cNvSpPr>
            <p:nvPr/>
          </p:nvSpPr>
          <p:spPr bwMode="auto">
            <a:xfrm>
              <a:off x="5002" y="262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t>
              </a:r>
              <a:endParaRPr lang="en-US" altLang="en-US" sz="2800"/>
            </a:p>
          </p:txBody>
        </p:sp>
        <p:sp>
          <p:nvSpPr>
            <p:cNvPr id="491620" name="Rectangle 100"/>
            <p:cNvSpPr>
              <a:spLocks noChangeArrowheads="1"/>
            </p:cNvSpPr>
            <p:nvPr/>
          </p:nvSpPr>
          <p:spPr bwMode="auto">
            <a:xfrm>
              <a:off x="3926" y="1612"/>
              <a:ext cx="4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chemeClr val="accent2"/>
                  </a:solidFill>
                  <a:latin typeface="Myriad Roman" charset="0"/>
                </a:rPr>
                <a:t>add_A_s0</a:t>
              </a:r>
              <a:endParaRPr lang="en-US" altLang="en-US" sz="2800">
                <a:solidFill>
                  <a:schemeClr val="accent2"/>
                </a:solidFill>
              </a:endParaRPr>
            </a:p>
          </p:txBody>
        </p:sp>
        <p:sp>
          <p:nvSpPr>
            <p:cNvPr id="491621" name="Rectangle 101"/>
            <p:cNvSpPr>
              <a:spLocks noChangeArrowheads="1"/>
            </p:cNvSpPr>
            <p:nvPr/>
          </p:nvSpPr>
          <p:spPr bwMode="auto">
            <a:xfrm>
              <a:off x="3929" y="1781"/>
              <a:ext cx="4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chemeClr val="accent2"/>
                  </a:solidFill>
                  <a:latin typeface="Myriad Roman" charset="0"/>
                </a:rPr>
                <a:t>add_B_s0</a:t>
              </a:r>
              <a:endParaRPr lang="en-US" altLang="en-US" sz="2800">
                <a:solidFill>
                  <a:schemeClr val="accent2"/>
                </a:solidFill>
              </a:endParaRPr>
            </a:p>
          </p:txBody>
        </p:sp>
        <p:sp>
          <p:nvSpPr>
            <p:cNvPr id="491622" name="Rectangle 102"/>
            <p:cNvSpPr>
              <a:spLocks noChangeArrowheads="1"/>
            </p:cNvSpPr>
            <p:nvPr/>
          </p:nvSpPr>
          <p:spPr bwMode="auto">
            <a:xfrm>
              <a:off x="4654" y="1625"/>
              <a:ext cx="267" cy="16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23" name="Rectangle 103"/>
            <p:cNvSpPr>
              <a:spLocks noChangeArrowheads="1"/>
            </p:cNvSpPr>
            <p:nvPr/>
          </p:nvSpPr>
          <p:spPr bwMode="auto">
            <a:xfrm>
              <a:off x="4713" y="1640"/>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chemeClr val="accent2"/>
                  </a:solidFill>
                  <a:latin typeface="Myriad Roman" charset="0"/>
                </a:rPr>
                <a:t>2</a:t>
              </a:r>
              <a:endParaRPr lang="en-US" altLang="en-US" sz="2800">
                <a:solidFill>
                  <a:schemeClr val="accent2"/>
                </a:solidFill>
              </a:endParaRPr>
            </a:p>
          </p:txBody>
        </p:sp>
        <p:sp>
          <p:nvSpPr>
            <p:cNvPr id="491624" name="Rectangle 104"/>
            <p:cNvSpPr>
              <a:spLocks noChangeArrowheads="1"/>
            </p:cNvSpPr>
            <p:nvPr/>
          </p:nvSpPr>
          <p:spPr bwMode="auto">
            <a:xfrm>
              <a:off x="4767" y="1628"/>
              <a:ext cx="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Symbol" panose="05050102010706020507" pitchFamily="18" charset="2"/>
                </a:rPr>
                <a:t>×</a:t>
              </a:r>
              <a:endParaRPr lang="en-US" altLang="en-US" sz="2800"/>
            </a:p>
          </p:txBody>
        </p:sp>
        <p:sp>
          <p:nvSpPr>
            <p:cNvPr id="491625" name="Rectangle 105"/>
            <p:cNvSpPr>
              <a:spLocks noChangeArrowheads="1"/>
            </p:cNvSpPr>
            <p:nvPr/>
          </p:nvSpPr>
          <p:spPr bwMode="auto">
            <a:xfrm>
              <a:off x="4826" y="1640"/>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chemeClr val="accent2"/>
                  </a:solidFill>
                  <a:latin typeface="Myriad Roman" charset="0"/>
                </a:rPr>
                <a:t>1</a:t>
              </a:r>
              <a:endParaRPr lang="en-US" altLang="en-US" sz="2800">
                <a:solidFill>
                  <a:schemeClr val="accent2"/>
                </a:solidFill>
              </a:endParaRPr>
            </a:p>
          </p:txBody>
        </p:sp>
        <p:sp>
          <p:nvSpPr>
            <p:cNvPr id="491626" name="Rectangle 106"/>
            <p:cNvSpPr>
              <a:spLocks noChangeArrowheads="1"/>
            </p:cNvSpPr>
            <p:nvPr/>
          </p:nvSpPr>
          <p:spPr bwMode="auto">
            <a:xfrm>
              <a:off x="5141" y="1625"/>
              <a:ext cx="266" cy="16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27" name="Rectangle 107"/>
            <p:cNvSpPr>
              <a:spLocks noChangeArrowheads="1"/>
            </p:cNvSpPr>
            <p:nvPr/>
          </p:nvSpPr>
          <p:spPr bwMode="auto">
            <a:xfrm>
              <a:off x="5189" y="1640"/>
              <a:ext cx="6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chemeClr val="accent2"/>
                  </a:solidFill>
                  <a:latin typeface="Myriad Roman" charset="0"/>
                </a:rPr>
                <a:t>2</a:t>
              </a:r>
              <a:endParaRPr lang="en-US" altLang="en-US" sz="2800">
                <a:solidFill>
                  <a:schemeClr val="accent2"/>
                </a:solidFill>
              </a:endParaRPr>
            </a:p>
          </p:txBody>
        </p:sp>
        <p:sp>
          <p:nvSpPr>
            <p:cNvPr id="491628" name="Rectangle 108"/>
            <p:cNvSpPr>
              <a:spLocks noChangeArrowheads="1"/>
            </p:cNvSpPr>
            <p:nvPr/>
          </p:nvSpPr>
          <p:spPr bwMode="auto">
            <a:xfrm>
              <a:off x="5243" y="1628"/>
              <a:ext cx="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Symbol" panose="05050102010706020507" pitchFamily="18" charset="2"/>
                </a:rPr>
                <a:t>×</a:t>
              </a:r>
              <a:endParaRPr lang="en-US" altLang="en-US" sz="2800"/>
            </a:p>
          </p:txBody>
        </p:sp>
        <p:sp>
          <p:nvSpPr>
            <p:cNvPr id="491629" name="Rectangle 109"/>
            <p:cNvSpPr>
              <a:spLocks noChangeArrowheads="1"/>
            </p:cNvSpPr>
            <p:nvPr/>
          </p:nvSpPr>
          <p:spPr bwMode="auto">
            <a:xfrm>
              <a:off x="5302" y="1640"/>
              <a:ext cx="5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chemeClr val="accent2"/>
                  </a:solidFill>
                  <a:latin typeface="Myriad Roman" charset="0"/>
                </a:rPr>
                <a:t>1</a:t>
              </a:r>
              <a:endParaRPr lang="en-US" altLang="en-US" sz="2800">
                <a:solidFill>
                  <a:schemeClr val="accent2"/>
                </a:solidFill>
              </a:endParaRPr>
            </a:p>
          </p:txBody>
        </p:sp>
        <p:sp>
          <p:nvSpPr>
            <p:cNvPr id="491661" name="Rectangle 141"/>
            <p:cNvSpPr>
              <a:spLocks noChangeArrowheads="1"/>
            </p:cNvSpPr>
            <p:nvPr/>
          </p:nvSpPr>
          <p:spPr bwMode="auto">
            <a:xfrm>
              <a:off x="4964" y="3056"/>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sp>
          <p:nvSpPr>
            <p:cNvPr id="491662" name="Rectangle 142"/>
            <p:cNvSpPr>
              <a:spLocks noChangeArrowheads="1"/>
            </p:cNvSpPr>
            <p:nvPr/>
          </p:nvSpPr>
          <p:spPr bwMode="auto">
            <a:xfrm>
              <a:off x="4994" y="3056"/>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
              </a:r>
              <a:endParaRPr lang="en-US" altLang="en-US" sz="2800"/>
            </a:p>
          </p:txBody>
        </p:sp>
        <p:sp>
          <p:nvSpPr>
            <p:cNvPr id="491663" name="Rectangle 143"/>
            <p:cNvSpPr>
              <a:spLocks noChangeArrowheads="1"/>
            </p:cNvSpPr>
            <p:nvPr/>
          </p:nvSpPr>
          <p:spPr bwMode="auto">
            <a:xfrm>
              <a:off x="5054" y="3056"/>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sp>
          <p:nvSpPr>
            <p:cNvPr id="491664" name="Rectangle 144"/>
            <p:cNvSpPr>
              <a:spLocks noChangeArrowheads="1"/>
            </p:cNvSpPr>
            <p:nvPr/>
          </p:nvSpPr>
          <p:spPr bwMode="auto">
            <a:xfrm>
              <a:off x="5242" y="1631"/>
              <a:ext cx="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chemeClr val="accent2"/>
                  </a:solidFill>
                </a:rPr>
                <a:t>×</a:t>
              </a:r>
              <a:endParaRPr lang="en-US" altLang="en-US" sz="2800">
                <a:solidFill>
                  <a:schemeClr val="accent2"/>
                </a:solidFill>
              </a:endParaRPr>
            </a:p>
          </p:txBody>
        </p:sp>
        <p:sp>
          <p:nvSpPr>
            <p:cNvPr id="491665" name="Rectangle 145"/>
            <p:cNvSpPr>
              <a:spLocks noChangeArrowheads="1"/>
            </p:cNvSpPr>
            <p:nvPr/>
          </p:nvSpPr>
          <p:spPr bwMode="auto">
            <a:xfrm>
              <a:off x="4766" y="1631"/>
              <a:ext cx="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chemeClr val="accent2"/>
                  </a:solidFill>
                </a:rPr>
                <a:t>×</a:t>
              </a:r>
              <a:endParaRPr lang="en-US" altLang="en-US" sz="2800">
                <a:solidFill>
                  <a:schemeClr val="accent2"/>
                </a:solidFill>
              </a:endParaRPr>
            </a:p>
          </p:txBody>
        </p:sp>
      </p:grpSp>
      <p:sp>
        <p:nvSpPr>
          <p:cNvPr id="491669" name="Text Box 149"/>
          <p:cNvSpPr txBox="1">
            <a:spLocks noChangeArrowheads="1"/>
          </p:cNvSpPr>
          <p:nvPr/>
        </p:nvSpPr>
        <p:spPr bwMode="auto">
          <a:xfrm>
            <a:off x="2324100" y="338137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491673" name="Group 153"/>
          <p:cNvGrpSpPr>
            <a:grpSpLocks/>
          </p:cNvGrpSpPr>
          <p:nvPr/>
        </p:nvGrpSpPr>
        <p:grpSpPr bwMode="auto">
          <a:xfrm>
            <a:off x="1725613" y="1595438"/>
            <a:ext cx="2043112" cy="2909887"/>
            <a:chOff x="1087" y="1005"/>
            <a:chExt cx="1287" cy="1833"/>
          </a:xfrm>
        </p:grpSpPr>
        <p:grpSp>
          <p:nvGrpSpPr>
            <p:cNvPr id="491668" name="Group 148"/>
            <p:cNvGrpSpPr>
              <a:grpSpLocks/>
            </p:cNvGrpSpPr>
            <p:nvPr/>
          </p:nvGrpSpPr>
          <p:grpSpPr bwMode="auto">
            <a:xfrm>
              <a:off x="1474" y="1005"/>
              <a:ext cx="900" cy="1833"/>
              <a:chOff x="1474" y="1005"/>
              <a:chExt cx="900" cy="1833"/>
            </a:xfrm>
          </p:grpSpPr>
          <p:sp>
            <p:nvSpPr>
              <p:cNvPr id="491527" name="Line 7"/>
              <p:cNvSpPr>
                <a:spLocks noChangeShapeType="1"/>
              </p:cNvSpPr>
              <p:nvPr/>
            </p:nvSpPr>
            <p:spPr bwMode="auto">
              <a:xfrm>
                <a:off x="1965" y="1910"/>
                <a:ext cx="1" cy="23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28" name="Freeform 8"/>
              <p:cNvSpPr>
                <a:spLocks/>
              </p:cNvSpPr>
              <p:nvPr/>
            </p:nvSpPr>
            <p:spPr bwMode="auto">
              <a:xfrm>
                <a:off x="1938" y="2107"/>
                <a:ext cx="54" cy="118"/>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29" name="Freeform 9"/>
              <p:cNvSpPr>
                <a:spLocks/>
              </p:cNvSpPr>
              <p:nvPr/>
            </p:nvSpPr>
            <p:spPr bwMode="auto">
              <a:xfrm>
                <a:off x="1479" y="1171"/>
                <a:ext cx="83" cy="9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30" name="Freeform 10"/>
              <p:cNvSpPr>
                <a:spLocks/>
              </p:cNvSpPr>
              <p:nvPr/>
            </p:nvSpPr>
            <p:spPr bwMode="auto">
              <a:xfrm>
                <a:off x="1794" y="1171"/>
                <a:ext cx="84" cy="9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31" name="Freeform 11"/>
              <p:cNvSpPr>
                <a:spLocks/>
              </p:cNvSpPr>
              <p:nvPr/>
            </p:nvSpPr>
            <p:spPr bwMode="auto">
              <a:xfrm>
                <a:off x="2117" y="1171"/>
                <a:ext cx="85" cy="93"/>
              </a:xfrm>
              <a:custGeom>
                <a:avLst/>
                <a:gdLst>
                  <a:gd name="T0" fmla="*/ 0 w 79"/>
                  <a:gd name="T1" fmla="*/ 78 h 78"/>
                  <a:gd name="T2" fmla="*/ 79 w 79"/>
                  <a:gd name="T3" fmla="*/ 41 h 78"/>
                  <a:gd name="T4" fmla="*/ 0 w 79"/>
                  <a:gd name="T5" fmla="*/ 0 h 78"/>
                </a:gdLst>
                <a:ahLst/>
                <a:cxnLst>
                  <a:cxn ang="0">
                    <a:pos x="T0" y="T1"/>
                  </a:cxn>
                  <a:cxn ang="0">
                    <a:pos x="T2" y="T3"/>
                  </a:cxn>
                  <a:cxn ang="0">
                    <a:pos x="T4" y="T5"/>
                  </a:cxn>
                </a:cxnLst>
                <a:rect l="0" t="0" r="r" b="b"/>
                <a:pathLst>
                  <a:path w="79" h="78">
                    <a:moveTo>
                      <a:pt x="0" y="78"/>
                    </a:moveTo>
                    <a:lnTo>
                      <a:pt x="79"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33" name="Line 13"/>
              <p:cNvSpPr>
                <a:spLocks noChangeShapeType="1"/>
              </p:cNvSpPr>
              <p:nvPr/>
            </p:nvSpPr>
            <p:spPr bwMode="auto">
              <a:xfrm flipH="1">
                <a:off x="1928" y="1948"/>
                <a:ext cx="80" cy="9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34" name="Line 14"/>
              <p:cNvSpPr>
                <a:spLocks noChangeShapeType="1"/>
              </p:cNvSpPr>
              <p:nvPr/>
            </p:nvSpPr>
            <p:spPr bwMode="auto">
              <a:xfrm>
                <a:off x="1639" y="1290"/>
                <a:ext cx="166" cy="27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35" name="Freeform 15"/>
              <p:cNvSpPr>
                <a:spLocks/>
              </p:cNvSpPr>
              <p:nvPr/>
            </p:nvSpPr>
            <p:spPr bwMode="auto">
              <a:xfrm>
                <a:off x="1761" y="1510"/>
                <a:ext cx="83" cy="115"/>
              </a:xfrm>
              <a:custGeom>
                <a:avLst/>
                <a:gdLst>
                  <a:gd name="T0" fmla="*/ 78 w 78"/>
                  <a:gd name="T1" fmla="*/ 97 h 97"/>
                  <a:gd name="T2" fmla="*/ 41 w 78"/>
                  <a:gd name="T3" fmla="*/ 0 h 97"/>
                  <a:gd name="T4" fmla="*/ 0 w 78"/>
                  <a:gd name="T5" fmla="*/ 28 h 97"/>
                  <a:gd name="T6" fmla="*/ 78 w 78"/>
                  <a:gd name="T7" fmla="*/ 97 h 97"/>
                </a:gdLst>
                <a:ahLst/>
                <a:cxnLst>
                  <a:cxn ang="0">
                    <a:pos x="T0" y="T1"/>
                  </a:cxn>
                  <a:cxn ang="0">
                    <a:pos x="T2" y="T3"/>
                  </a:cxn>
                  <a:cxn ang="0">
                    <a:pos x="T4" y="T5"/>
                  </a:cxn>
                  <a:cxn ang="0">
                    <a:pos x="T6" y="T7"/>
                  </a:cxn>
                </a:cxnLst>
                <a:rect l="0" t="0" r="r" b="b"/>
                <a:pathLst>
                  <a:path w="78" h="97">
                    <a:moveTo>
                      <a:pt x="78" y="97"/>
                    </a:moveTo>
                    <a:lnTo>
                      <a:pt x="41" y="0"/>
                    </a:lnTo>
                    <a:lnTo>
                      <a:pt x="0" y="28"/>
                    </a:lnTo>
                    <a:lnTo>
                      <a:pt x="78"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36" name="Line 16"/>
              <p:cNvSpPr>
                <a:spLocks noChangeShapeType="1"/>
              </p:cNvSpPr>
              <p:nvPr/>
            </p:nvSpPr>
            <p:spPr bwMode="auto">
              <a:xfrm flipH="1">
                <a:off x="1698" y="1339"/>
                <a:ext cx="21" cy="129"/>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37" name="Line 17"/>
              <p:cNvSpPr>
                <a:spLocks noChangeShapeType="1"/>
              </p:cNvSpPr>
              <p:nvPr/>
            </p:nvSpPr>
            <p:spPr bwMode="auto">
              <a:xfrm>
                <a:off x="1915" y="1290"/>
                <a:ext cx="166" cy="27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38" name="Freeform 18"/>
              <p:cNvSpPr>
                <a:spLocks/>
              </p:cNvSpPr>
              <p:nvPr/>
            </p:nvSpPr>
            <p:spPr bwMode="auto">
              <a:xfrm>
                <a:off x="2037" y="1510"/>
                <a:ext cx="85" cy="115"/>
              </a:xfrm>
              <a:custGeom>
                <a:avLst/>
                <a:gdLst>
                  <a:gd name="T0" fmla="*/ 79 w 79"/>
                  <a:gd name="T1" fmla="*/ 97 h 97"/>
                  <a:gd name="T2" fmla="*/ 41 w 79"/>
                  <a:gd name="T3" fmla="*/ 0 h 97"/>
                  <a:gd name="T4" fmla="*/ 0 w 79"/>
                  <a:gd name="T5" fmla="*/ 28 h 97"/>
                  <a:gd name="T6" fmla="*/ 79 w 79"/>
                  <a:gd name="T7" fmla="*/ 97 h 97"/>
                </a:gdLst>
                <a:ahLst/>
                <a:cxnLst>
                  <a:cxn ang="0">
                    <a:pos x="T0" y="T1"/>
                  </a:cxn>
                  <a:cxn ang="0">
                    <a:pos x="T2" y="T3"/>
                  </a:cxn>
                  <a:cxn ang="0">
                    <a:pos x="T4" y="T5"/>
                  </a:cxn>
                  <a:cxn ang="0">
                    <a:pos x="T6" y="T7"/>
                  </a:cxn>
                </a:cxnLst>
                <a:rect l="0" t="0" r="r" b="b"/>
                <a:pathLst>
                  <a:path w="79" h="97">
                    <a:moveTo>
                      <a:pt x="79" y="97"/>
                    </a:moveTo>
                    <a:lnTo>
                      <a:pt x="41" y="0"/>
                    </a:lnTo>
                    <a:lnTo>
                      <a:pt x="0" y="28"/>
                    </a:lnTo>
                    <a:lnTo>
                      <a:pt x="79"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39" name="Line 19"/>
              <p:cNvSpPr>
                <a:spLocks noChangeShapeType="1"/>
              </p:cNvSpPr>
              <p:nvPr/>
            </p:nvSpPr>
            <p:spPr bwMode="auto">
              <a:xfrm flipH="1">
                <a:off x="1975" y="1339"/>
                <a:ext cx="23" cy="129"/>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44" name="Rectangle 24"/>
              <p:cNvSpPr>
                <a:spLocks noChangeArrowheads="1"/>
              </p:cNvSpPr>
              <p:nvPr/>
            </p:nvSpPr>
            <p:spPr bwMode="auto">
              <a:xfrm>
                <a:off x="1474" y="1005"/>
                <a:ext cx="261"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45" name="Rectangle 25"/>
              <p:cNvSpPr>
                <a:spLocks noChangeArrowheads="1"/>
              </p:cNvSpPr>
              <p:nvPr/>
            </p:nvSpPr>
            <p:spPr bwMode="auto">
              <a:xfrm>
                <a:off x="1794" y="1005"/>
                <a:ext cx="261"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46" name="Rectangle 26"/>
              <p:cNvSpPr>
                <a:spLocks noChangeArrowheads="1"/>
              </p:cNvSpPr>
              <p:nvPr/>
            </p:nvSpPr>
            <p:spPr bwMode="auto">
              <a:xfrm>
                <a:off x="2114" y="1005"/>
                <a:ext cx="260"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47" name="Rectangle 27"/>
              <p:cNvSpPr>
                <a:spLocks noChangeArrowheads="1"/>
              </p:cNvSpPr>
              <p:nvPr/>
            </p:nvSpPr>
            <p:spPr bwMode="auto">
              <a:xfrm>
                <a:off x="1579" y="1076"/>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E</a:t>
                </a:r>
                <a:endParaRPr lang="en-US" altLang="en-US" sz="2800"/>
              </a:p>
            </p:txBody>
          </p:sp>
          <p:sp>
            <p:nvSpPr>
              <p:cNvPr id="491548" name="Rectangle 28"/>
              <p:cNvSpPr>
                <a:spLocks noChangeArrowheads="1"/>
              </p:cNvSpPr>
              <p:nvPr/>
            </p:nvSpPr>
            <p:spPr bwMode="auto">
              <a:xfrm>
                <a:off x="1908" y="107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a:t>
                </a:r>
                <a:endParaRPr lang="en-US" altLang="en-US" sz="2800"/>
              </a:p>
            </p:txBody>
          </p:sp>
          <p:sp>
            <p:nvSpPr>
              <p:cNvPr id="491549" name="Rectangle 29"/>
              <p:cNvSpPr>
                <a:spLocks noChangeArrowheads="1"/>
              </p:cNvSpPr>
              <p:nvPr/>
            </p:nvSpPr>
            <p:spPr bwMode="auto">
              <a:xfrm>
                <a:off x="2220" y="107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a:t>
                </a:r>
                <a:endParaRPr lang="en-US" altLang="en-US" sz="2800"/>
              </a:p>
            </p:txBody>
          </p:sp>
          <p:sp>
            <p:nvSpPr>
              <p:cNvPr id="491550" name="Rectangle 30"/>
              <p:cNvSpPr>
                <a:spLocks noChangeArrowheads="1"/>
              </p:cNvSpPr>
              <p:nvPr/>
            </p:nvSpPr>
            <p:spPr bwMode="auto">
              <a:xfrm>
                <a:off x="1795" y="1633"/>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a:t>
                </a:r>
                <a:endParaRPr lang="en-US" altLang="en-US" sz="2800"/>
              </a:p>
            </p:txBody>
          </p:sp>
          <p:sp>
            <p:nvSpPr>
              <p:cNvPr id="491551" name="Rectangle 31"/>
              <p:cNvSpPr>
                <a:spLocks noChangeArrowheads="1"/>
              </p:cNvSpPr>
              <p:nvPr/>
            </p:nvSpPr>
            <p:spPr bwMode="auto">
              <a:xfrm>
                <a:off x="2079" y="163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91552" name="Rectangle 32"/>
              <p:cNvSpPr>
                <a:spLocks noChangeArrowheads="1"/>
              </p:cNvSpPr>
              <p:nvPr/>
            </p:nvSpPr>
            <p:spPr bwMode="auto">
              <a:xfrm>
                <a:off x="1932" y="1696"/>
                <a:ext cx="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a:t>
                </a:r>
                <a:endParaRPr lang="en-US" altLang="en-US" sz="2800"/>
              </a:p>
            </p:txBody>
          </p:sp>
          <p:sp>
            <p:nvSpPr>
              <p:cNvPr id="491553" name="Rectangle 33"/>
              <p:cNvSpPr>
                <a:spLocks noChangeArrowheads="1"/>
              </p:cNvSpPr>
              <p:nvPr/>
            </p:nvSpPr>
            <p:spPr bwMode="auto">
              <a:xfrm>
                <a:off x="1943" y="2308"/>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t>
                </a:r>
                <a:endParaRPr lang="en-US" altLang="en-US" sz="2800"/>
              </a:p>
            </p:txBody>
          </p:sp>
          <p:sp>
            <p:nvSpPr>
              <p:cNvPr id="491645" name="Freeform 125"/>
              <p:cNvSpPr>
                <a:spLocks/>
              </p:cNvSpPr>
              <p:nvPr/>
            </p:nvSpPr>
            <p:spPr bwMode="auto">
              <a:xfrm>
                <a:off x="1841" y="2384"/>
                <a:ext cx="83" cy="94"/>
              </a:xfrm>
              <a:custGeom>
                <a:avLst/>
                <a:gdLst>
                  <a:gd name="T0" fmla="*/ 0 w 78"/>
                  <a:gd name="T1" fmla="*/ 79 h 79"/>
                  <a:gd name="T2" fmla="*/ 78 w 78"/>
                  <a:gd name="T3" fmla="*/ 41 h 79"/>
                  <a:gd name="T4" fmla="*/ 0 w 78"/>
                  <a:gd name="T5" fmla="*/ 0 h 79"/>
                </a:gdLst>
                <a:ahLst/>
                <a:cxnLst>
                  <a:cxn ang="0">
                    <a:pos x="T0" y="T1"/>
                  </a:cxn>
                  <a:cxn ang="0">
                    <a:pos x="T2" y="T3"/>
                  </a:cxn>
                  <a:cxn ang="0">
                    <a:pos x="T4" y="T5"/>
                  </a:cxn>
                </a:cxnLst>
                <a:rect l="0" t="0" r="r" b="b"/>
                <a:pathLst>
                  <a:path w="78" h="79">
                    <a:moveTo>
                      <a:pt x="0" y="79"/>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46" name="Rectangle 126"/>
              <p:cNvSpPr>
                <a:spLocks noChangeArrowheads="1"/>
              </p:cNvSpPr>
              <p:nvPr/>
            </p:nvSpPr>
            <p:spPr bwMode="auto">
              <a:xfrm>
                <a:off x="1838" y="2225"/>
                <a:ext cx="260" cy="28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47" name="Rectangle 127"/>
              <p:cNvSpPr>
                <a:spLocks noChangeArrowheads="1"/>
              </p:cNvSpPr>
              <p:nvPr/>
            </p:nvSpPr>
            <p:spPr bwMode="auto">
              <a:xfrm>
                <a:off x="1735" y="1628"/>
                <a:ext cx="462" cy="28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55" name="Rectangle 135"/>
              <p:cNvSpPr>
                <a:spLocks noChangeArrowheads="1"/>
              </p:cNvSpPr>
              <p:nvPr/>
            </p:nvSpPr>
            <p:spPr bwMode="auto">
              <a:xfrm>
                <a:off x="1914" y="2694"/>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sp>
            <p:nvSpPr>
              <p:cNvPr id="491656" name="Rectangle 136"/>
              <p:cNvSpPr>
                <a:spLocks noChangeArrowheads="1"/>
              </p:cNvSpPr>
              <p:nvPr/>
            </p:nvSpPr>
            <p:spPr bwMode="auto">
              <a:xfrm>
                <a:off x="1945" y="269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91657" name="Rectangle 137"/>
              <p:cNvSpPr>
                <a:spLocks noChangeArrowheads="1"/>
              </p:cNvSpPr>
              <p:nvPr/>
            </p:nvSpPr>
            <p:spPr bwMode="auto">
              <a:xfrm>
                <a:off x="2005" y="2694"/>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grpSp>
        <p:sp>
          <p:nvSpPr>
            <p:cNvPr id="491672" name="Freeform 152"/>
            <p:cNvSpPr>
              <a:spLocks/>
            </p:cNvSpPr>
            <p:nvPr/>
          </p:nvSpPr>
          <p:spPr bwMode="auto">
            <a:xfrm>
              <a:off x="1087" y="1587"/>
              <a:ext cx="598" cy="161"/>
            </a:xfrm>
            <a:custGeom>
              <a:avLst/>
              <a:gdLst>
                <a:gd name="T0" fmla="*/ 0 w 598"/>
                <a:gd name="T1" fmla="*/ 54 h 161"/>
                <a:gd name="T2" fmla="*/ 293 w 598"/>
                <a:gd name="T3" fmla="*/ 152 h 161"/>
                <a:gd name="T4" fmla="*/ 598 w 598"/>
                <a:gd name="T5" fmla="*/ 0 h 161"/>
              </a:gdLst>
              <a:ahLst/>
              <a:cxnLst>
                <a:cxn ang="0">
                  <a:pos x="T0" y="T1"/>
                </a:cxn>
                <a:cxn ang="0">
                  <a:pos x="T2" y="T3"/>
                </a:cxn>
                <a:cxn ang="0">
                  <a:pos x="T4" y="T5"/>
                </a:cxn>
              </a:cxnLst>
              <a:rect l="0" t="0" r="r" b="b"/>
              <a:pathLst>
                <a:path w="598" h="161">
                  <a:moveTo>
                    <a:pt x="0" y="54"/>
                  </a:moveTo>
                  <a:cubicBezTo>
                    <a:pt x="96" y="107"/>
                    <a:pt x="193" y="161"/>
                    <a:pt x="293" y="152"/>
                  </a:cubicBezTo>
                  <a:cubicBezTo>
                    <a:pt x="393" y="143"/>
                    <a:pt x="495" y="71"/>
                    <a:pt x="598" y="0"/>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91676" name="Group 156"/>
          <p:cNvGrpSpPr>
            <a:grpSpLocks/>
          </p:cNvGrpSpPr>
          <p:nvPr/>
        </p:nvGrpSpPr>
        <p:grpSpPr bwMode="auto">
          <a:xfrm>
            <a:off x="1690688" y="1595438"/>
            <a:ext cx="4337050" cy="2909887"/>
            <a:chOff x="1065" y="1005"/>
            <a:chExt cx="2732" cy="1833"/>
          </a:xfrm>
        </p:grpSpPr>
        <p:grpSp>
          <p:nvGrpSpPr>
            <p:cNvPr id="491670" name="Group 150"/>
            <p:cNvGrpSpPr>
              <a:grpSpLocks/>
            </p:cNvGrpSpPr>
            <p:nvPr/>
          </p:nvGrpSpPr>
          <p:grpSpPr bwMode="auto">
            <a:xfrm>
              <a:off x="2801" y="1005"/>
              <a:ext cx="903" cy="1833"/>
              <a:chOff x="2801" y="1005"/>
              <a:chExt cx="903" cy="1833"/>
            </a:xfrm>
          </p:grpSpPr>
          <p:sp>
            <p:nvSpPr>
              <p:cNvPr id="491532" name="Line 12"/>
              <p:cNvSpPr>
                <a:spLocks noChangeShapeType="1"/>
              </p:cNvSpPr>
              <p:nvPr/>
            </p:nvSpPr>
            <p:spPr bwMode="auto">
              <a:xfrm flipH="1">
                <a:off x="3257" y="2508"/>
                <a:ext cx="77" cy="8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54" name="Line 34"/>
              <p:cNvSpPr>
                <a:spLocks noChangeShapeType="1"/>
              </p:cNvSpPr>
              <p:nvPr/>
            </p:nvSpPr>
            <p:spPr bwMode="auto">
              <a:xfrm>
                <a:off x="3295" y="1910"/>
                <a:ext cx="1" cy="20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55" name="Freeform 35"/>
              <p:cNvSpPr>
                <a:spLocks/>
              </p:cNvSpPr>
              <p:nvPr/>
            </p:nvSpPr>
            <p:spPr bwMode="auto">
              <a:xfrm>
                <a:off x="3268" y="2066"/>
                <a:ext cx="53" cy="119"/>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56" name="Freeform 36"/>
              <p:cNvSpPr>
                <a:spLocks/>
              </p:cNvSpPr>
              <p:nvPr/>
            </p:nvSpPr>
            <p:spPr bwMode="auto">
              <a:xfrm>
                <a:off x="2804" y="1171"/>
                <a:ext cx="83" cy="9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57" name="Freeform 37"/>
              <p:cNvSpPr>
                <a:spLocks/>
              </p:cNvSpPr>
              <p:nvPr/>
            </p:nvSpPr>
            <p:spPr bwMode="auto">
              <a:xfrm>
                <a:off x="3121" y="1171"/>
                <a:ext cx="83" cy="9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58" name="Freeform 38"/>
              <p:cNvSpPr>
                <a:spLocks/>
              </p:cNvSpPr>
              <p:nvPr/>
            </p:nvSpPr>
            <p:spPr bwMode="auto">
              <a:xfrm>
                <a:off x="3444" y="1171"/>
                <a:ext cx="83" cy="9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59" name="Line 39"/>
              <p:cNvSpPr>
                <a:spLocks noChangeShapeType="1"/>
              </p:cNvSpPr>
              <p:nvPr/>
            </p:nvSpPr>
            <p:spPr bwMode="auto">
              <a:xfrm flipH="1">
                <a:off x="3261" y="1955"/>
                <a:ext cx="73" cy="8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60" name="Freeform 40"/>
              <p:cNvSpPr>
                <a:spLocks/>
              </p:cNvSpPr>
              <p:nvPr/>
            </p:nvSpPr>
            <p:spPr bwMode="auto">
              <a:xfrm>
                <a:off x="2878" y="1491"/>
                <a:ext cx="420" cy="1150"/>
              </a:xfrm>
              <a:custGeom>
                <a:avLst/>
                <a:gdLst>
                  <a:gd name="T0" fmla="*/ 175 w 394"/>
                  <a:gd name="T1" fmla="*/ 72 h 969"/>
                  <a:gd name="T2" fmla="*/ 41 w 394"/>
                  <a:gd name="T3" fmla="*/ 0 h 969"/>
                  <a:gd name="T4" fmla="*/ 0 w 394"/>
                  <a:gd name="T5" fmla="*/ 0 h 969"/>
                  <a:gd name="T6" fmla="*/ 0 w 394"/>
                  <a:gd name="T7" fmla="*/ 969 h 969"/>
                  <a:gd name="T8" fmla="*/ 394 w 394"/>
                  <a:gd name="T9" fmla="*/ 969 h 969"/>
                  <a:gd name="T10" fmla="*/ 394 w 394"/>
                  <a:gd name="T11" fmla="*/ 822 h 969"/>
                </a:gdLst>
                <a:ahLst/>
                <a:cxnLst>
                  <a:cxn ang="0">
                    <a:pos x="T0" y="T1"/>
                  </a:cxn>
                  <a:cxn ang="0">
                    <a:pos x="T2" y="T3"/>
                  </a:cxn>
                  <a:cxn ang="0">
                    <a:pos x="T4" y="T5"/>
                  </a:cxn>
                  <a:cxn ang="0">
                    <a:pos x="T6" y="T7"/>
                  </a:cxn>
                  <a:cxn ang="0">
                    <a:pos x="T8" y="T9"/>
                  </a:cxn>
                  <a:cxn ang="0">
                    <a:pos x="T10" y="T11"/>
                  </a:cxn>
                </a:cxnLst>
                <a:rect l="0" t="0" r="r" b="b"/>
                <a:pathLst>
                  <a:path w="394" h="969">
                    <a:moveTo>
                      <a:pt x="175" y="72"/>
                    </a:moveTo>
                    <a:lnTo>
                      <a:pt x="41" y="0"/>
                    </a:lnTo>
                    <a:lnTo>
                      <a:pt x="0" y="0"/>
                    </a:lnTo>
                    <a:lnTo>
                      <a:pt x="0" y="969"/>
                    </a:lnTo>
                    <a:lnTo>
                      <a:pt x="394" y="969"/>
                    </a:lnTo>
                    <a:lnTo>
                      <a:pt x="394" y="8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61" name="Freeform 41"/>
              <p:cNvSpPr>
                <a:spLocks/>
              </p:cNvSpPr>
              <p:nvPr/>
            </p:nvSpPr>
            <p:spPr bwMode="auto">
              <a:xfrm>
                <a:off x="3041" y="1546"/>
                <a:ext cx="110" cy="79"/>
              </a:xfrm>
              <a:custGeom>
                <a:avLst/>
                <a:gdLst>
                  <a:gd name="T0" fmla="*/ 103 w 103"/>
                  <a:gd name="T1" fmla="*/ 66 h 66"/>
                  <a:gd name="T2" fmla="*/ 22 w 103"/>
                  <a:gd name="T3" fmla="*/ 0 h 66"/>
                  <a:gd name="T4" fmla="*/ 0 w 103"/>
                  <a:gd name="T5" fmla="*/ 44 h 66"/>
                  <a:gd name="T6" fmla="*/ 103 w 103"/>
                  <a:gd name="T7" fmla="*/ 66 h 66"/>
                </a:gdLst>
                <a:ahLst/>
                <a:cxnLst>
                  <a:cxn ang="0">
                    <a:pos x="T0" y="T1"/>
                  </a:cxn>
                  <a:cxn ang="0">
                    <a:pos x="T2" y="T3"/>
                  </a:cxn>
                  <a:cxn ang="0">
                    <a:pos x="T4" y="T5"/>
                  </a:cxn>
                  <a:cxn ang="0">
                    <a:pos x="T6" y="T7"/>
                  </a:cxn>
                </a:cxnLst>
                <a:rect l="0" t="0" r="r" b="b"/>
                <a:pathLst>
                  <a:path w="103" h="66">
                    <a:moveTo>
                      <a:pt x="103" y="66"/>
                    </a:moveTo>
                    <a:lnTo>
                      <a:pt x="22" y="0"/>
                    </a:lnTo>
                    <a:lnTo>
                      <a:pt x="0" y="44"/>
                    </a:lnTo>
                    <a:lnTo>
                      <a:pt x="103" y="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62" name="Line 42"/>
              <p:cNvSpPr>
                <a:spLocks noChangeShapeType="1"/>
              </p:cNvSpPr>
              <p:nvPr/>
            </p:nvSpPr>
            <p:spPr bwMode="auto">
              <a:xfrm>
                <a:off x="3251" y="1290"/>
                <a:ext cx="166" cy="27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63" name="Freeform 43"/>
              <p:cNvSpPr>
                <a:spLocks/>
              </p:cNvSpPr>
              <p:nvPr/>
            </p:nvSpPr>
            <p:spPr bwMode="auto">
              <a:xfrm>
                <a:off x="3375" y="1510"/>
                <a:ext cx="80" cy="115"/>
              </a:xfrm>
              <a:custGeom>
                <a:avLst/>
                <a:gdLst>
                  <a:gd name="T0" fmla="*/ 75 w 75"/>
                  <a:gd name="T1" fmla="*/ 97 h 97"/>
                  <a:gd name="T2" fmla="*/ 40 w 75"/>
                  <a:gd name="T3" fmla="*/ 0 h 97"/>
                  <a:gd name="T4" fmla="*/ 0 w 75"/>
                  <a:gd name="T5" fmla="*/ 28 h 97"/>
                  <a:gd name="T6" fmla="*/ 75 w 75"/>
                  <a:gd name="T7" fmla="*/ 97 h 97"/>
                </a:gdLst>
                <a:ahLst/>
                <a:cxnLst>
                  <a:cxn ang="0">
                    <a:pos x="T0" y="T1"/>
                  </a:cxn>
                  <a:cxn ang="0">
                    <a:pos x="T2" y="T3"/>
                  </a:cxn>
                  <a:cxn ang="0">
                    <a:pos x="T4" y="T5"/>
                  </a:cxn>
                  <a:cxn ang="0">
                    <a:pos x="T6" y="T7"/>
                  </a:cxn>
                </a:cxnLst>
                <a:rect l="0" t="0" r="r" b="b"/>
                <a:pathLst>
                  <a:path w="75" h="97">
                    <a:moveTo>
                      <a:pt x="75" y="97"/>
                    </a:moveTo>
                    <a:lnTo>
                      <a:pt x="40" y="0"/>
                    </a:lnTo>
                    <a:lnTo>
                      <a:pt x="0" y="28"/>
                    </a:lnTo>
                    <a:lnTo>
                      <a:pt x="75"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64" name="Line 44"/>
              <p:cNvSpPr>
                <a:spLocks noChangeShapeType="1"/>
              </p:cNvSpPr>
              <p:nvPr/>
            </p:nvSpPr>
            <p:spPr bwMode="auto">
              <a:xfrm flipH="1">
                <a:off x="3481" y="1290"/>
                <a:ext cx="107" cy="26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65" name="Freeform 45"/>
              <p:cNvSpPr>
                <a:spLocks/>
              </p:cNvSpPr>
              <p:nvPr/>
            </p:nvSpPr>
            <p:spPr bwMode="auto">
              <a:xfrm>
                <a:off x="3455" y="1506"/>
                <a:ext cx="66" cy="122"/>
              </a:xfrm>
              <a:custGeom>
                <a:avLst/>
                <a:gdLst>
                  <a:gd name="T0" fmla="*/ 0 w 62"/>
                  <a:gd name="T1" fmla="*/ 103 h 103"/>
                  <a:gd name="T2" fmla="*/ 18 w 62"/>
                  <a:gd name="T3" fmla="*/ 0 h 103"/>
                  <a:gd name="T4" fmla="*/ 62 w 62"/>
                  <a:gd name="T5" fmla="*/ 18 h 103"/>
                  <a:gd name="T6" fmla="*/ 0 w 62"/>
                  <a:gd name="T7" fmla="*/ 103 h 103"/>
                </a:gdLst>
                <a:ahLst/>
                <a:cxnLst>
                  <a:cxn ang="0">
                    <a:pos x="T0" y="T1"/>
                  </a:cxn>
                  <a:cxn ang="0">
                    <a:pos x="T2" y="T3"/>
                  </a:cxn>
                  <a:cxn ang="0">
                    <a:pos x="T4" y="T5"/>
                  </a:cxn>
                  <a:cxn ang="0">
                    <a:pos x="T6" y="T7"/>
                  </a:cxn>
                </a:cxnLst>
                <a:rect l="0" t="0" r="r" b="b"/>
                <a:pathLst>
                  <a:path w="62" h="103">
                    <a:moveTo>
                      <a:pt x="0" y="103"/>
                    </a:moveTo>
                    <a:lnTo>
                      <a:pt x="18" y="0"/>
                    </a:lnTo>
                    <a:lnTo>
                      <a:pt x="62" y="18"/>
                    </a:lnTo>
                    <a:lnTo>
                      <a:pt x="0"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66" name="Line 46"/>
              <p:cNvSpPr>
                <a:spLocks noChangeShapeType="1"/>
              </p:cNvSpPr>
              <p:nvPr/>
            </p:nvSpPr>
            <p:spPr bwMode="auto">
              <a:xfrm>
                <a:off x="2944" y="1286"/>
                <a:ext cx="174" cy="276"/>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567" name="Freeform 47"/>
              <p:cNvSpPr>
                <a:spLocks/>
              </p:cNvSpPr>
              <p:nvPr/>
            </p:nvSpPr>
            <p:spPr bwMode="auto">
              <a:xfrm>
                <a:off x="3074" y="1510"/>
                <a:ext cx="80" cy="115"/>
              </a:xfrm>
              <a:custGeom>
                <a:avLst/>
                <a:gdLst>
                  <a:gd name="T0" fmla="*/ 75 w 75"/>
                  <a:gd name="T1" fmla="*/ 97 h 97"/>
                  <a:gd name="T2" fmla="*/ 41 w 75"/>
                  <a:gd name="T3" fmla="*/ 0 h 97"/>
                  <a:gd name="T4" fmla="*/ 0 w 75"/>
                  <a:gd name="T5" fmla="*/ 28 h 97"/>
                  <a:gd name="T6" fmla="*/ 75 w 75"/>
                  <a:gd name="T7" fmla="*/ 97 h 97"/>
                </a:gdLst>
                <a:ahLst/>
                <a:cxnLst>
                  <a:cxn ang="0">
                    <a:pos x="T0" y="T1"/>
                  </a:cxn>
                  <a:cxn ang="0">
                    <a:pos x="T2" y="T3"/>
                  </a:cxn>
                  <a:cxn ang="0">
                    <a:pos x="T4" y="T5"/>
                  </a:cxn>
                  <a:cxn ang="0">
                    <a:pos x="T6" y="T7"/>
                  </a:cxn>
                </a:cxnLst>
                <a:rect l="0" t="0" r="r" b="b"/>
                <a:pathLst>
                  <a:path w="75" h="97">
                    <a:moveTo>
                      <a:pt x="75" y="97"/>
                    </a:moveTo>
                    <a:lnTo>
                      <a:pt x="41" y="0"/>
                    </a:lnTo>
                    <a:lnTo>
                      <a:pt x="0" y="28"/>
                    </a:lnTo>
                    <a:lnTo>
                      <a:pt x="75"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1568" name="Rectangle 48"/>
              <p:cNvSpPr>
                <a:spLocks noChangeArrowheads="1"/>
              </p:cNvSpPr>
              <p:nvPr/>
            </p:nvSpPr>
            <p:spPr bwMode="auto">
              <a:xfrm>
                <a:off x="2801" y="1005"/>
                <a:ext cx="263"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69" name="Rectangle 49"/>
              <p:cNvSpPr>
                <a:spLocks noChangeArrowheads="1"/>
              </p:cNvSpPr>
              <p:nvPr/>
            </p:nvSpPr>
            <p:spPr bwMode="auto">
              <a:xfrm>
                <a:off x="3121" y="1005"/>
                <a:ext cx="263"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70" name="Rectangle 50"/>
              <p:cNvSpPr>
                <a:spLocks noChangeArrowheads="1"/>
              </p:cNvSpPr>
              <p:nvPr/>
            </p:nvSpPr>
            <p:spPr bwMode="auto">
              <a:xfrm>
                <a:off x="3441" y="1005"/>
                <a:ext cx="263"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571" name="Rectangle 51"/>
              <p:cNvSpPr>
                <a:spLocks noChangeArrowheads="1"/>
              </p:cNvSpPr>
              <p:nvPr/>
            </p:nvSpPr>
            <p:spPr bwMode="auto">
              <a:xfrm>
                <a:off x="2907" y="1076"/>
                <a:ext cx="7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E</a:t>
                </a:r>
                <a:endParaRPr lang="en-US" altLang="en-US" sz="2800"/>
              </a:p>
            </p:txBody>
          </p:sp>
          <p:sp>
            <p:nvSpPr>
              <p:cNvPr id="491572" name="Rectangle 52"/>
              <p:cNvSpPr>
                <a:spLocks noChangeArrowheads="1"/>
              </p:cNvSpPr>
              <p:nvPr/>
            </p:nvSpPr>
            <p:spPr bwMode="auto">
              <a:xfrm>
                <a:off x="3237" y="1076"/>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a:t>
                </a:r>
                <a:endParaRPr lang="en-US" altLang="en-US" sz="2800"/>
              </a:p>
            </p:txBody>
          </p:sp>
          <p:sp>
            <p:nvSpPr>
              <p:cNvPr id="491573" name="Rectangle 53"/>
              <p:cNvSpPr>
                <a:spLocks noChangeArrowheads="1"/>
              </p:cNvSpPr>
              <p:nvPr/>
            </p:nvSpPr>
            <p:spPr bwMode="auto">
              <a:xfrm>
                <a:off x="3549" y="1076"/>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a:t>
                </a:r>
                <a:endParaRPr lang="en-US" altLang="en-US" sz="2800"/>
              </a:p>
            </p:txBody>
          </p:sp>
          <p:sp>
            <p:nvSpPr>
              <p:cNvPr id="491574" name="Rectangle 54"/>
              <p:cNvSpPr>
                <a:spLocks noChangeArrowheads="1"/>
              </p:cNvSpPr>
              <p:nvPr/>
            </p:nvSpPr>
            <p:spPr bwMode="auto">
              <a:xfrm>
                <a:off x="3124" y="1633"/>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a:t>
                </a:r>
                <a:endParaRPr lang="en-US" altLang="en-US" sz="2800"/>
              </a:p>
            </p:txBody>
          </p:sp>
          <p:sp>
            <p:nvSpPr>
              <p:cNvPr id="491575" name="Rectangle 55"/>
              <p:cNvSpPr>
                <a:spLocks noChangeArrowheads="1"/>
              </p:cNvSpPr>
              <p:nvPr/>
            </p:nvSpPr>
            <p:spPr bwMode="auto">
              <a:xfrm>
                <a:off x="3408" y="1633"/>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91576" name="Rectangle 56"/>
              <p:cNvSpPr>
                <a:spLocks noChangeArrowheads="1"/>
              </p:cNvSpPr>
              <p:nvPr/>
            </p:nvSpPr>
            <p:spPr bwMode="auto">
              <a:xfrm>
                <a:off x="3261" y="1696"/>
                <a:ext cx="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a:t>
                </a:r>
                <a:endParaRPr lang="en-US" altLang="en-US" sz="2800"/>
              </a:p>
            </p:txBody>
          </p:sp>
          <p:sp>
            <p:nvSpPr>
              <p:cNvPr id="491577" name="Rectangle 57"/>
              <p:cNvSpPr>
                <a:spLocks noChangeArrowheads="1"/>
              </p:cNvSpPr>
              <p:nvPr/>
            </p:nvSpPr>
            <p:spPr bwMode="auto">
              <a:xfrm>
                <a:off x="3271" y="2267"/>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t>
                </a:r>
                <a:endParaRPr lang="en-US" altLang="en-US" sz="2800"/>
              </a:p>
            </p:txBody>
          </p:sp>
          <p:sp>
            <p:nvSpPr>
              <p:cNvPr id="491599" name="Line 79"/>
              <p:cNvSpPr>
                <a:spLocks noChangeShapeType="1"/>
              </p:cNvSpPr>
              <p:nvPr/>
            </p:nvSpPr>
            <p:spPr bwMode="auto">
              <a:xfrm flipH="1">
                <a:off x="2975" y="1309"/>
                <a:ext cx="33" cy="11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600" name="Line 80"/>
              <p:cNvSpPr>
                <a:spLocks noChangeShapeType="1"/>
              </p:cNvSpPr>
              <p:nvPr/>
            </p:nvSpPr>
            <p:spPr bwMode="auto">
              <a:xfrm flipH="1">
                <a:off x="3281" y="1309"/>
                <a:ext cx="33" cy="11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601" name="Line 81"/>
              <p:cNvSpPr>
                <a:spLocks noChangeShapeType="1"/>
              </p:cNvSpPr>
              <p:nvPr/>
            </p:nvSpPr>
            <p:spPr bwMode="auto">
              <a:xfrm flipH="1">
                <a:off x="3488" y="1391"/>
                <a:ext cx="93" cy="5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1648" name="Freeform 128"/>
              <p:cNvSpPr>
                <a:spLocks/>
              </p:cNvSpPr>
              <p:nvPr/>
            </p:nvSpPr>
            <p:spPr bwMode="auto">
              <a:xfrm>
                <a:off x="3168" y="2348"/>
                <a:ext cx="83" cy="92"/>
              </a:xfrm>
              <a:custGeom>
                <a:avLst/>
                <a:gdLst>
                  <a:gd name="T0" fmla="*/ 0 w 78"/>
                  <a:gd name="T1" fmla="*/ 78 h 78"/>
                  <a:gd name="T2" fmla="*/ 78 w 78"/>
                  <a:gd name="T3" fmla="*/ 38 h 78"/>
                  <a:gd name="T4" fmla="*/ 0 w 78"/>
                  <a:gd name="T5" fmla="*/ 0 h 78"/>
                </a:gdLst>
                <a:ahLst/>
                <a:cxnLst>
                  <a:cxn ang="0">
                    <a:pos x="T0" y="T1"/>
                  </a:cxn>
                  <a:cxn ang="0">
                    <a:pos x="T2" y="T3"/>
                  </a:cxn>
                  <a:cxn ang="0">
                    <a:pos x="T4" y="T5"/>
                  </a:cxn>
                </a:cxnLst>
                <a:rect l="0" t="0" r="r" b="b"/>
                <a:pathLst>
                  <a:path w="78" h="78">
                    <a:moveTo>
                      <a:pt x="0" y="78"/>
                    </a:moveTo>
                    <a:lnTo>
                      <a:pt x="78" y="38"/>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49" name="Rectangle 129"/>
              <p:cNvSpPr>
                <a:spLocks noChangeArrowheads="1"/>
              </p:cNvSpPr>
              <p:nvPr/>
            </p:nvSpPr>
            <p:spPr bwMode="auto">
              <a:xfrm>
                <a:off x="3165" y="2189"/>
                <a:ext cx="263" cy="28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50" name="Rectangle 130"/>
              <p:cNvSpPr>
                <a:spLocks noChangeArrowheads="1"/>
              </p:cNvSpPr>
              <p:nvPr/>
            </p:nvSpPr>
            <p:spPr bwMode="auto">
              <a:xfrm>
                <a:off x="3064" y="1628"/>
                <a:ext cx="460" cy="28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1658" name="Rectangle 138"/>
              <p:cNvSpPr>
                <a:spLocks noChangeArrowheads="1"/>
              </p:cNvSpPr>
              <p:nvPr/>
            </p:nvSpPr>
            <p:spPr bwMode="auto">
              <a:xfrm>
                <a:off x="3244" y="2694"/>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sp>
            <p:nvSpPr>
              <p:cNvPr id="491659" name="Rectangle 139"/>
              <p:cNvSpPr>
                <a:spLocks noChangeArrowheads="1"/>
              </p:cNvSpPr>
              <p:nvPr/>
            </p:nvSpPr>
            <p:spPr bwMode="auto">
              <a:xfrm>
                <a:off x="3273" y="2694"/>
                <a:ext cx="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c</a:t>
                </a:r>
                <a:endParaRPr lang="en-US" altLang="en-US" sz="2800"/>
              </a:p>
            </p:txBody>
          </p:sp>
          <p:sp>
            <p:nvSpPr>
              <p:cNvPr id="491660" name="Rectangle 140"/>
              <p:cNvSpPr>
                <a:spLocks noChangeArrowheads="1"/>
              </p:cNvSpPr>
              <p:nvPr/>
            </p:nvSpPr>
            <p:spPr bwMode="auto">
              <a:xfrm>
                <a:off x="3321" y="2694"/>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sz="2800"/>
              </a:p>
            </p:txBody>
          </p:sp>
        </p:grpSp>
        <p:sp>
          <p:nvSpPr>
            <p:cNvPr id="491674" name="Freeform 154"/>
            <p:cNvSpPr>
              <a:spLocks/>
            </p:cNvSpPr>
            <p:nvPr/>
          </p:nvSpPr>
          <p:spPr bwMode="auto">
            <a:xfrm>
              <a:off x="1065" y="2011"/>
              <a:ext cx="1782" cy="337"/>
            </a:xfrm>
            <a:custGeom>
              <a:avLst/>
              <a:gdLst>
                <a:gd name="T0" fmla="*/ 0 w 1782"/>
                <a:gd name="T1" fmla="*/ 130 h 337"/>
                <a:gd name="T2" fmla="*/ 511 w 1782"/>
                <a:gd name="T3" fmla="*/ 315 h 337"/>
                <a:gd name="T4" fmla="*/ 1782 w 1782"/>
                <a:gd name="T5" fmla="*/ 0 h 337"/>
              </a:gdLst>
              <a:ahLst/>
              <a:cxnLst>
                <a:cxn ang="0">
                  <a:pos x="T0" y="T1"/>
                </a:cxn>
                <a:cxn ang="0">
                  <a:pos x="T2" y="T3"/>
                </a:cxn>
                <a:cxn ang="0">
                  <a:pos x="T4" y="T5"/>
                </a:cxn>
              </a:cxnLst>
              <a:rect l="0" t="0" r="r" b="b"/>
              <a:pathLst>
                <a:path w="1782" h="337">
                  <a:moveTo>
                    <a:pt x="0" y="130"/>
                  </a:moveTo>
                  <a:cubicBezTo>
                    <a:pt x="107" y="233"/>
                    <a:pt x="214" y="337"/>
                    <a:pt x="511" y="315"/>
                  </a:cubicBezTo>
                  <a:cubicBezTo>
                    <a:pt x="808" y="293"/>
                    <a:pt x="1295" y="146"/>
                    <a:pt x="1782" y="0"/>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75" name="Freeform 155"/>
            <p:cNvSpPr>
              <a:spLocks/>
            </p:cNvSpPr>
            <p:nvPr/>
          </p:nvSpPr>
          <p:spPr bwMode="auto">
            <a:xfrm>
              <a:off x="2532" y="1587"/>
              <a:ext cx="1265" cy="530"/>
            </a:xfrm>
            <a:custGeom>
              <a:avLst/>
              <a:gdLst>
                <a:gd name="T0" fmla="*/ 0 w 1265"/>
                <a:gd name="T1" fmla="*/ 511 h 530"/>
                <a:gd name="T2" fmla="*/ 1098 w 1265"/>
                <a:gd name="T3" fmla="*/ 445 h 530"/>
                <a:gd name="T4" fmla="*/ 1000 w 1265"/>
                <a:gd name="T5" fmla="*/ 0 h 530"/>
              </a:gdLst>
              <a:ahLst/>
              <a:cxnLst>
                <a:cxn ang="0">
                  <a:pos x="T0" y="T1"/>
                </a:cxn>
                <a:cxn ang="0">
                  <a:pos x="T2" y="T3"/>
                </a:cxn>
                <a:cxn ang="0">
                  <a:pos x="T4" y="T5"/>
                </a:cxn>
              </a:cxnLst>
              <a:rect l="0" t="0" r="r" b="b"/>
              <a:pathLst>
                <a:path w="1265" h="530">
                  <a:moveTo>
                    <a:pt x="0" y="511"/>
                  </a:moveTo>
                  <a:cubicBezTo>
                    <a:pt x="465" y="520"/>
                    <a:pt x="931" y="530"/>
                    <a:pt x="1098" y="445"/>
                  </a:cubicBezTo>
                  <a:cubicBezTo>
                    <a:pt x="1265" y="360"/>
                    <a:pt x="1132" y="180"/>
                    <a:pt x="1000" y="0"/>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916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9167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4916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Slide Number Placeholder 3"/>
          <p:cNvSpPr>
            <a:spLocks noGrp="1"/>
          </p:cNvSpPr>
          <p:nvPr>
            <p:ph type="sldNum" sz="quarter" idx="10"/>
          </p:nvPr>
        </p:nvSpPr>
        <p:spPr/>
        <p:txBody>
          <a:bodyPr/>
          <a:lstStyle/>
          <a:p>
            <a:fld id="{4313657E-A201-49FB-A03F-C9F18B245C34}" type="slidenum">
              <a:rPr lang="en-US" altLang="en-US"/>
              <a:pPr/>
              <a:t>23</a:t>
            </a:fld>
            <a:endParaRPr lang="en-US" altLang="en-US"/>
          </a:p>
        </p:txBody>
      </p:sp>
      <p:sp>
        <p:nvSpPr>
          <p:cNvPr id="492546" name="Rectangle 2"/>
          <p:cNvSpPr>
            <a:spLocks noGrp="1" noChangeArrowheads="1"/>
          </p:cNvSpPr>
          <p:nvPr>
            <p:ph type="title"/>
          </p:nvPr>
        </p:nvSpPr>
        <p:spPr/>
        <p:txBody>
          <a:bodyPr/>
          <a:lstStyle/>
          <a:p>
            <a:r>
              <a:rPr lang="en-US" altLang="en-US"/>
              <a:t>Step 3: Connecting the Datapath to a Controller</a:t>
            </a:r>
          </a:p>
        </p:txBody>
      </p:sp>
      <p:sp>
        <p:nvSpPr>
          <p:cNvPr id="492547" name="Rectangle 3"/>
          <p:cNvSpPr>
            <a:spLocks noGrp="1" noChangeArrowheads="1"/>
          </p:cNvSpPr>
          <p:nvPr>
            <p:ph type="body" idx="1"/>
          </p:nvPr>
        </p:nvSpPr>
        <p:spPr>
          <a:xfrm>
            <a:off x="5765800" y="2493963"/>
            <a:ext cx="3124200" cy="2133600"/>
          </a:xfrm>
        </p:spPr>
        <p:txBody>
          <a:bodyPr/>
          <a:lstStyle/>
          <a:p>
            <a:r>
              <a:rPr lang="en-US" altLang="en-US" sz="2000"/>
              <a:t>Laser-based distance measurer example</a:t>
            </a:r>
          </a:p>
          <a:p>
            <a:r>
              <a:rPr lang="en-US" altLang="en-US" sz="2000"/>
              <a:t>Easy – just connect all control signals between controller and datapath</a:t>
            </a:r>
          </a:p>
        </p:txBody>
      </p:sp>
      <p:grpSp>
        <p:nvGrpSpPr>
          <p:cNvPr id="492741" name="Group 197"/>
          <p:cNvGrpSpPr>
            <a:grpSpLocks/>
          </p:cNvGrpSpPr>
          <p:nvPr/>
        </p:nvGrpSpPr>
        <p:grpSpPr bwMode="auto">
          <a:xfrm>
            <a:off x="285750" y="1738313"/>
            <a:ext cx="6472238" cy="2701925"/>
            <a:chOff x="180" y="1095"/>
            <a:chExt cx="4077" cy="1702"/>
          </a:xfrm>
        </p:grpSpPr>
        <p:sp>
          <p:nvSpPr>
            <p:cNvPr id="492548" name="Rectangle 4"/>
            <p:cNvSpPr>
              <a:spLocks noChangeArrowheads="1"/>
            </p:cNvSpPr>
            <p:nvPr/>
          </p:nvSpPr>
          <p:spPr bwMode="auto">
            <a:xfrm>
              <a:off x="1060" y="1119"/>
              <a:ext cx="2384" cy="1678"/>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49" name="Line 5"/>
            <p:cNvSpPr>
              <a:spLocks noChangeShapeType="1"/>
            </p:cNvSpPr>
            <p:nvPr/>
          </p:nvSpPr>
          <p:spPr bwMode="auto">
            <a:xfrm flipH="1">
              <a:off x="809" y="2496"/>
              <a:ext cx="1886" cy="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50" name="Freeform 6"/>
            <p:cNvSpPr>
              <a:spLocks/>
            </p:cNvSpPr>
            <p:nvPr/>
          </p:nvSpPr>
          <p:spPr bwMode="auto">
            <a:xfrm>
              <a:off x="711" y="2468"/>
              <a:ext cx="113" cy="57"/>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51" name="Line 7"/>
            <p:cNvSpPr>
              <a:spLocks noChangeShapeType="1"/>
            </p:cNvSpPr>
            <p:nvPr/>
          </p:nvSpPr>
          <p:spPr bwMode="auto">
            <a:xfrm flipH="1">
              <a:off x="2123" y="1423"/>
              <a:ext cx="154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52" name="Freeform 8"/>
            <p:cNvSpPr>
              <a:spLocks/>
            </p:cNvSpPr>
            <p:nvPr/>
          </p:nvSpPr>
          <p:spPr bwMode="auto">
            <a:xfrm>
              <a:off x="2024" y="1394"/>
              <a:ext cx="113" cy="57"/>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53" name="Line 9"/>
            <p:cNvSpPr>
              <a:spLocks noChangeShapeType="1"/>
            </p:cNvSpPr>
            <p:nvPr/>
          </p:nvSpPr>
          <p:spPr bwMode="auto">
            <a:xfrm>
              <a:off x="2021" y="1260"/>
              <a:ext cx="156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54" name="Freeform 10"/>
            <p:cNvSpPr>
              <a:spLocks/>
            </p:cNvSpPr>
            <p:nvPr/>
          </p:nvSpPr>
          <p:spPr bwMode="auto">
            <a:xfrm>
              <a:off x="3574" y="1232"/>
              <a:ext cx="113" cy="56"/>
            </a:xfrm>
            <a:custGeom>
              <a:avLst/>
              <a:gdLst>
                <a:gd name="T0" fmla="*/ 100 w 100"/>
                <a:gd name="T1" fmla="*/ 25 h 50"/>
                <a:gd name="T2" fmla="*/ 0 w 100"/>
                <a:gd name="T3" fmla="*/ 50 h 50"/>
                <a:gd name="T4" fmla="*/ 0 w 100"/>
                <a:gd name="T5" fmla="*/ 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50"/>
                  </a:lnTo>
                  <a:lnTo>
                    <a:pt x="0" y="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55" name="Line 11"/>
            <p:cNvSpPr>
              <a:spLocks noChangeShapeType="1"/>
            </p:cNvSpPr>
            <p:nvPr/>
          </p:nvSpPr>
          <p:spPr bwMode="auto">
            <a:xfrm>
              <a:off x="806" y="1310"/>
              <a:ext cx="41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56" name="Freeform 12"/>
            <p:cNvSpPr>
              <a:spLocks/>
            </p:cNvSpPr>
            <p:nvPr/>
          </p:nvSpPr>
          <p:spPr bwMode="auto">
            <a:xfrm>
              <a:off x="1201" y="1281"/>
              <a:ext cx="113" cy="5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57" name="Line 13"/>
            <p:cNvSpPr>
              <a:spLocks noChangeShapeType="1"/>
            </p:cNvSpPr>
            <p:nvPr/>
          </p:nvSpPr>
          <p:spPr bwMode="auto">
            <a:xfrm>
              <a:off x="2338" y="2638"/>
              <a:ext cx="272"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58" name="Freeform 14"/>
            <p:cNvSpPr>
              <a:spLocks/>
            </p:cNvSpPr>
            <p:nvPr/>
          </p:nvSpPr>
          <p:spPr bwMode="auto">
            <a:xfrm>
              <a:off x="2593" y="2609"/>
              <a:ext cx="113" cy="5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59" name="Line 15"/>
            <p:cNvSpPr>
              <a:spLocks noChangeShapeType="1"/>
            </p:cNvSpPr>
            <p:nvPr/>
          </p:nvSpPr>
          <p:spPr bwMode="auto">
            <a:xfrm>
              <a:off x="2014" y="2373"/>
              <a:ext cx="58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60" name="Freeform 16"/>
            <p:cNvSpPr>
              <a:spLocks/>
            </p:cNvSpPr>
            <p:nvPr/>
          </p:nvSpPr>
          <p:spPr bwMode="auto">
            <a:xfrm>
              <a:off x="2582" y="2345"/>
              <a:ext cx="113" cy="5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61" name="Line 17"/>
            <p:cNvSpPr>
              <a:spLocks noChangeShapeType="1"/>
            </p:cNvSpPr>
            <p:nvPr/>
          </p:nvSpPr>
          <p:spPr bwMode="auto">
            <a:xfrm>
              <a:off x="2014" y="2119"/>
              <a:ext cx="58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62" name="Freeform 18"/>
            <p:cNvSpPr>
              <a:spLocks/>
            </p:cNvSpPr>
            <p:nvPr/>
          </p:nvSpPr>
          <p:spPr bwMode="auto">
            <a:xfrm>
              <a:off x="2582" y="2091"/>
              <a:ext cx="113" cy="5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63" name="Line 19"/>
            <p:cNvSpPr>
              <a:spLocks noChangeShapeType="1"/>
            </p:cNvSpPr>
            <p:nvPr/>
          </p:nvSpPr>
          <p:spPr bwMode="auto">
            <a:xfrm>
              <a:off x="2014" y="1868"/>
              <a:ext cx="58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64" name="Freeform 20"/>
            <p:cNvSpPr>
              <a:spLocks/>
            </p:cNvSpPr>
            <p:nvPr/>
          </p:nvSpPr>
          <p:spPr bwMode="auto">
            <a:xfrm>
              <a:off x="2582" y="1840"/>
              <a:ext cx="113" cy="5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65" name="Line 21"/>
            <p:cNvSpPr>
              <a:spLocks noChangeShapeType="1"/>
            </p:cNvSpPr>
            <p:nvPr/>
          </p:nvSpPr>
          <p:spPr bwMode="auto">
            <a:xfrm>
              <a:off x="2014" y="1614"/>
              <a:ext cx="58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66" name="Freeform 22"/>
            <p:cNvSpPr>
              <a:spLocks/>
            </p:cNvSpPr>
            <p:nvPr/>
          </p:nvSpPr>
          <p:spPr bwMode="auto">
            <a:xfrm>
              <a:off x="2582" y="1585"/>
              <a:ext cx="113" cy="5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67" name="Freeform 23"/>
            <p:cNvSpPr>
              <a:spLocks/>
            </p:cNvSpPr>
            <p:nvPr/>
          </p:nvSpPr>
          <p:spPr bwMode="auto">
            <a:xfrm>
              <a:off x="1127" y="2059"/>
              <a:ext cx="191" cy="590"/>
            </a:xfrm>
            <a:custGeom>
              <a:avLst/>
              <a:gdLst>
                <a:gd name="T0" fmla="*/ 85 w 169"/>
                <a:gd name="T1" fmla="*/ 0 h 522"/>
                <a:gd name="T2" fmla="*/ 0 w 169"/>
                <a:gd name="T3" fmla="*/ 0 h 522"/>
                <a:gd name="T4" fmla="*/ 0 w 169"/>
                <a:gd name="T5" fmla="*/ 522 h 522"/>
                <a:gd name="T6" fmla="*/ 169 w 169"/>
                <a:gd name="T7" fmla="*/ 522 h 522"/>
              </a:gdLst>
              <a:ahLst/>
              <a:cxnLst>
                <a:cxn ang="0">
                  <a:pos x="T0" y="T1"/>
                </a:cxn>
                <a:cxn ang="0">
                  <a:pos x="T2" y="T3"/>
                </a:cxn>
                <a:cxn ang="0">
                  <a:pos x="T4" y="T5"/>
                </a:cxn>
                <a:cxn ang="0">
                  <a:pos x="T6" y="T7"/>
                </a:cxn>
              </a:cxnLst>
              <a:rect l="0" t="0" r="r" b="b"/>
              <a:pathLst>
                <a:path w="169" h="522">
                  <a:moveTo>
                    <a:pt x="85" y="0"/>
                  </a:moveTo>
                  <a:lnTo>
                    <a:pt x="0" y="0"/>
                  </a:lnTo>
                  <a:lnTo>
                    <a:pt x="0" y="522"/>
                  </a:lnTo>
                  <a:lnTo>
                    <a:pt x="169" y="5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68" name="Freeform 24"/>
            <p:cNvSpPr>
              <a:spLocks/>
            </p:cNvSpPr>
            <p:nvPr/>
          </p:nvSpPr>
          <p:spPr bwMode="auto">
            <a:xfrm>
              <a:off x="1201" y="2031"/>
              <a:ext cx="113" cy="5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69" name="Freeform 25"/>
            <p:cNvSpPr>
              <a:spLocks/>
            </p:cNvSpPr>
            <p:nvPr/>
          </p:nvSpPr>
          <p:spPr bwMode="auto">
            <a:xfrm>
              <a:off x="1329" y="1998"/>
              <a:ext cx="116" cy="118"/>
            </a:xfrm>
            <a:custGeom>
              <a:avLst/>
              <a:gdLst>
                <a:gd name="T0" fmla="*/ 0 w 103"/>
                <a:gd name="T1" fmla="*/ 104 h 104"/>
                <a:gd name="T2" fmla="*/ 103 w 103"/>
                <a:gd name="T3" fmla="*/ 50 h 104"/>
                <a:gd name="T4" fmla="*/ 0 w 103"/>
                <a:gd name="T5" fmla="*/ 0 h 104"/>
              </a:gdLst>
              <a:ahLst/>
              <a:cxnLst>
                <a:cxn ang="0">
                  <a:pos x="T0" y="T1"/>
                </a:cxn>
                <a:cxn ang="0">
                  <a:pos x="T2" y="T3"/>
                </a:cxn>
                <a:cxn ang="0">
                  <a:pos x="T4" y="T5"/>
                </a:cxn>
              </a:cxnLst>
              <a:rect l="0" t="0" r="r" b="b"/>
              <a:pathLst>
                <a:path w="103" h="104">
                  <a:moveTo>
                    <a:pt x="0" y="104"/>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70" name="Freeform 26"/>
            <p:cNvSpPr>
              <a:spLocks/>
            </p:cNvSpPr>
            <p:nvPr/>
          </p:nvSpPr>
          <p:spPr bwMode="auto">
            <a:xfrm>
              <a:off x="2706" y="2574"/>
              <a:ext cx="117" cy="120"/>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571" name="Freeform 27"/>
            <p:cNvSpPr>
              <a:spLocks/>
            </p:cNvSpPr>
            <p:nvPr/>
          </p:nvSpPr>
          <p:spPr bwMode="auto">
            <a:xfrm>
              <a:off x="881" y="2440"/>
              <a:ext cx="123" cy="124"/>
            </a:xfrm>
            <a:custGeom>
              <a:avLst/>
              <a:gdLst>
                <a:gd name="T0" fmla="*/ 109 w 109"/>
                <a:gd name="T1" fmla="*/ 0 h 110"/>
                <a:gd name="T2" fmla="*/ 0 w 109"/>
                <a:gd name="T3" fmla="*/ 110 h 110"/>
                <a:gd name="T4" fmla="*/ 109 w 109"/>
                <a:gd name="T5" fmla="*/ 0 h 110"/>
              </a:gdLst>
              <a:ahLst/>
              <a:cxnLst>
                <a:cxn ang="0">
                  <a:pos x="T0" y="T1"/>
                </a:cxn>
                <a:cxn ang="0">
                  <a:pos x="T2" y="T3"/>
                </a:cxn>
                <a:cxn ang="0">
                  <a:pos x="T4" y="T5"/>
                </a:cxn>
              </a:cxnLst>
              <a:rect l="0" t="0" r="r" b="b"/>
              <a:pathLst>
                <a:path w="109" h="110">
                  <a:moveTo>
                    <a:pt x="109" y="0"/>
                  </a:moveTo>
                  <a:lnTo>
                    <a:pt x="0" y="110"/>
                  </a:lnTo>
                  <a:lnTo>
                    <a:pt x="10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572" name="Line 28"/>
            <p:cNvSpPr>
              <a:spLocks noChangeShapeType="1"/>
            </p:cNvSpPr>
            <p:nvPr/>
          </p:nvSpPr>
          <p:spPr bwMode="auto">
            <a:xfrm flipH="1">
              <a:off x="881" y="2440"/>
              <a:ext cx="123" cy="12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573" name="Rectangle 29"/>
            <p:cNvSpPr>
              <a:spLocks noChangeArrowheads="1"/>
            </p:cNvSpPr>
            <p:nvPr/>
          </p:nvSpPr>
          <p:spPr bwMode="auto">
            <a:xfrm>
              <a:off x="1500" y="2577"/>
              <a:ext cx="29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300 M</a:t>
              </a:r>
              <a:endParaRPr lang="en-US" altLang="en-US" sz="2400"/>
            </a:p>
          </p:txBody>
        </p:sp>
        <p:sp>
          <p:nvSpPr>
            <p:cNvPr id="492574" name="Rectangle 30"/>
            <p:cNvSpPr>
              <a:spLocks noChangeArrowheads="1"/>
            </p:cNvSpPr>
            <p:nvPr/>
          </p:nvSpPr>
          <p:spPr bwMode="auto">
            <a:xfrm>
              <a:off x="1788" y="2577"/>
              <a:ext cx="7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H</a:t>
              </a:r>
              <a:endParaRPr lang="en-US" altLang="en-US" sz="2400"/>
            </a:p>
          </p:txBody>
        </p:sp>
        <p:sp>
          <p:nvSpPr>
            <p:cNvPr id="492575" name="Rectangle 31"/>
            <p:cNvSpPr>
              <a:spLocks noChangeArrowheads="1"/>
            </p:cNvSpPr>
            <p:nvPr/>
          </p:nvSpPr>
          <p:spPr bwMode="auto">
            <a:xfrm>
              <a:off x="1864" y="2577"/>
              <a:ext cx="3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z Clock</a:t>
              </a:r>
              <a:endParaRPr lang="en-US" altLang="en-US" sz="2400"/>
            </a:p>
          </p:txBody>
        </p:sp>
        <p:sp>
          <p:nvSpPr>
            <p:cNvPr id="492576" name="Rectangle 32"/>
            <p:cNvSpPr>
              <a:spLocks noChangeArrowheads="1"/>
            </p:cNvSpPr>
            <p:nvPr/>
          </p:nvSpPr>
          <p:spPr bwMode="auto">
            <a:xfrm>
              <a:off x="900" y="2322"/>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2577" name="Rectangle 33"/>
            <p:cNvSpPr>
              <a:spLocks noChangeArrowheads="1"/>
            </p:cNvSpPr>
            <p:nvPr/>
          </p:nvSpPr>
          <p:spPr bwMode="auto">
            <a:xfrm>
              <a:off x="827" y="1162"/>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2578" name="Rectangle 34"/>
            <p:cNvSpPr>
              <a:spLocks noChangeArrowheads="1"/>
            </p:cNvSpPr>
            <p:nvPr/>
          </p:nvSpPr>
          <p:spPr bwMode="auto">
            <a:xfrm>
              <a:off x="3576" y="1095"/>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t>
              </a:r>
              <a:endParaRPr lang="en-US" altLang="en-US" sz="2400"/>
            </a:p>
          </p:txBody>
        </p:sp>
        <p:sp>
          <p:nvSpPr>
            <p:cNvPr id="492579" name="Rectangle 35"/>
            <p:cNvSpPr>
              <a:spLocks noChangeArrowheads="1"/>
            </p:cNvSpPr>
            <p:nvPr/>
          </p:nvSpPr>
          <p:spPr bwMode="auto">
            <a:xfrm>
              <a:off x="3575" y="1451"/>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2580" name="Rectangle 36"/>
            <p:cNvSpPr>
              <a:spLocks noChangeArrowheads="1"/>
            </p:cNvSpPr>
            <p:nvPr/>
          </p:nvSpPr>
          <p:spPr bwMode="auto">
            <a:xfrm>
              <a:off x="879" y="2568"/>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492581" name="Rectangle 37"/>
            <p:cNvSpPr>
              <a:spLocks noChangeArrowheads="1"/>
            </p:cNvSpPr>
            <p:nvPr/>
          </p:nvSpPr>
          <p:spPr bwMode="auto">
            <a:xfrm>
              <a:off x="239" y="2424"/>
              <a:ext cx="44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display</a:t>
              </a:r>
              <a:endParaRPr lang="en-US" altLang="en-US" sz="2400"/>
            </a:p>
          </p:txBody>
        </p:sp>
        <p:sp>
          <p:nvSpPr>
            <p:cNvPr id="492585" name="Rectangle 41"/>
            <p:cNvSpPr>
              <a:spLocks noChangeArrowheads="1"/>
            </p:cNvSpPr>
            <p:nvPr/>
          </p:nvSpPr>
          <p:spPr bwMode="auto">
            <a:xfrm>
              <a:off x="180" y="1237"/>
              <a:ext cx="5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from button</a:t>
              </a:r>
              <a:endParaRPr lang="en-US" altLang="en-US" sz="2400"/>
            </a:p>
          </p:txBody>
        </p:sp>
        <p:sp>
          <p:nvSpPr>
            <p:cNvPr id="492590" name="Rectangle 46"/>
            <p:cNvSpPr>
              <a:spLocks noChangeArrowheads="1"/>
            </p:cNvSpPr>
            <p:nvPr/>
          </p:nvSpPr>
          <p:spPr bwMode="auto">
            <a:xfrm>
              <a:off x="1423" y="1327"/>
              <a:ext cx="4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Controller</a:t>
              </a:r>
              <a:endParaRPr lang="en-US" altLang="en-US" sz="2400"/>
            </a:p>
          </p:txBody>
        </p:sp>
        <p:sp>
          <p:nvSpPr>
            <p:cNvPr id="492596" name="Rectangle 52"/>
            <p:cNvSpPr>
              <a:spLocks noChangeArrowheads="1"/>
            </p:cNvSpPr>
            <p:nvPr/>
          </p:nvSpPr>
          <p:spPr bwMode="auto">
            <a:xfrm>
              <a:off x="3706" y="1188"/>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laser</a:t>
              </a:r>
              <a:endParaRPr lang="en-US" altLang="en-US" sz="2400"/>
            </a:p>
          </p:txBody>
        </p:sp>
        <p:sp>
          <p:nvSpPr>
            <p:cNvPr id="492598" name="Rectangle 54"/>
            <p:cNvSpPr>
              <a:spLocks noChangeArrowheads="1"/>
            </p:cNvSpPr>
            <p:nvPr/>
          </p:nvSpPr>
          <p:spPr bwMode="auto">
            <a:xfrm>
              <a:off x="3706" y="1355"/>
              <a:ext cx="5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from sensor</a:t>
              </a:r>
              <a:endParaRPr lang="en-US" altLang="en-US" sz="2400"/>
            </a:p>
          </p:txBody>
        </p:sp>
        <p:sp>
          <p:nvSpPr>
            <p:cNvPr id="492601" name="Rectangle 57"/>
            <p:cNvSpPr>
              <a:spLocks noChangeArrowheads="1"/>
            </p:cNvSpPr>
            <p:nvPr/>
          </p:nvSpPr>
          <p:spPr bwMode="auto">
            <a:xfrm>
              <a:off x="2822" y="1977"/>
              <a:ext cx="3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Datapath</a:t>
              </a:r>
              <a:endParaRPr lang="en-US" altLang="en-US" sz="2400"/>
            </a:p>
          </p:txBody>
        </p:sp>
        <p:sp>
          <p:nvSpPr>
            <p:cNvPr id="492606" name="Rectangle 62"/>
            <p:cNvSpPr>
              <a:spLocks noChangeArrowheads="1"/>
            </p:cNvSpPr>
            <p:nvPr/>
          </p:nvSpPr>
          <p:spPr bwMode="auto">
            <a:xfrm>
              <a:off x="2117" y="1460"/>
              <a:ext cx="37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a:t>
              </a:r>
              <a:endParaRPr lang="en-US" altLang="en-US" sz="2400"/>
            </a:p>
          </p:txBody>
        </p:sp>
        <p:sp>
          <p:nvSpPr>
            <p:cNvPr id="492609" name="Rectangle 65"/>
            <p:cNvSpPr>
              <a:spLocks noChangeArrowheads="1"/>
            </p:cNvSpPr>
            <p:nvPr/>
          </p:nvSpPr>
          <p:spPr bwMode="auto">
            <a:xfrm>
              <a:off x="2117" y="1722"/>
              <a:ext cx="36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Dreg_ld</a:t>
              </a:r>
              <a:endParaRPr lang="en-US" altLang="en-US" sz="2400"/>
            </a:p>
          </p:txBody>
        </p:sp>
        <p:sp>
          <p:nvSpPr>
            <p:cNvPr id="492612" name="Rectangle 68"/>
            <p:cNvSpPr>
              <a:spLocks noChangeArrowheads="1"/>
            </p:cNvSpPr>
            <p:nvPr/>
          </p:nvSpPr>
          <p:spPr bwMode="auto">
            <a:xfrm>
              <a:off x="2117" y="1967"/>
              <a:ext cx="34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Dctr_clr</a:t>
              </a:r>
              <a:endParaRPr lang="en-US" altLang="en-US" sz="2400"/>
            </a:p>
          </p:txBody>
        </p:sp>
        <p:sp>
          <p:nvSpPr>
            <p:cNvPr id="492615" name="Rectangle 71"/>
            <p:cNvSpPr>
              <a:spLocks noChangeArrowheads="1"/>
            </p:cNvSpPr>
            <p:nvPr/>
          </p:nvSpPr>
          <p:spPr bwMode="auto">
            <a:xfrm>
              <a:off x="2117" y="2214"/>
              <a:ext cx="36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Dctr_cnt</a:t>
              </a:r>
              <a:endParaRPr lang="en-US" altLang="en-US" sz="2400"/>
            </a:p>
          </p:txBody>
        </p:sp>
        <p:sp>
          <p:nvSpPr>
            <p:cNvPr id="492620" name="Rectangle 76"/>
            <p:cNvSpPr>
              <a:spLocks noChangeArrowheads="1"/>
            </p:cNvSpPr>
            <p:nvPr/>
          </p:nvSpPr>
          <p:spPr bwMode="auto">
            <a:xfrm>
              <a:off x="1325" y="1179"/>
              <a:ext cx="685" cy="1254"/>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621" name="Rectangle 77"/>
            <p:cNvSpPr>
              <a:spLocks noChangeArrowheads="1"/>
            </p:cNvSpPr>
            <p:nvPr/>
          </p:nvSpPr>
          <p:spPr bwMode="auto">
            <a:xfrm>
              <a:off x="2699" y="1486"/>
              <a:ext cx="689" cy="125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622" name="Rectangle 78"/>
            <p:cNvSpPr>
              <a:spLocks noChangeArrowheads="1"/>
            </p:cNvSpPr>
            <p:nvPr/>
          </p:nvSpPr>
          <p:spPr bwMode="auto">
            <a:xfrm>
              <a:off x="1325" y="2556"/>
              <a:ext cx="1010" cy="17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92739" name="Freeform 195"/>
          <p:cNvSpPr>
            <a:spLocks/>
          </p:cNvSpPr>
          <p:nvPr/>
        </p:nvSpPr>
        <p:spPr bwMode="auto">
          <a:xfrm>
            <a:off x="5210175" y="4122738"/>
            <a:ext cx="406400" cy="576262"/>
          </a:xfrm>
          <a:custGeom>
            <a:avLst/>
            <a:gdLst>
              <a:gd name="T0" fmla="*/ 304 w 584"/>
              <a:gd name="T1" fmla="*/ 848 h 848"/>
              <a:gd name="T2" fmla="*/ 533 w 584"/>
              <a:gd name="T3" fmla="*/ 468 h 848"/>
              <a:gd name="T4" fmla="*/ 0 w 584"/>
              <a:gd name="T5" fmla="*/ 0 h 848"/>
            </a:gdLst>
            <a:ahLst/>
            <a:cxnLst>
              <a:cxn ang="0">
                <a:pos x="T0" y="T1"/>
              </a:cxn>
              <a:cxn ang="0">
                <a:pos x="T2" y="T3"/>
              </a:cxn>
              <a:cxn ang="0">
                <a:pos x="T4" y="T5"/>
              </a:cxn>
            </a:cxnLst>
            <a:rect l="0" t="0" r="r" b="b"/>
            <a:pathLst>
              <a:path w="584" h="848">
                <a:moveTo>
                  <a:pt x="304" y="848"/>
                </a:moveTo>
                <a:cubicBezTo>
                  <a:pt x="444" y="728"/>
                  <a:pt x="584" y="609"/>
                  <a:pt x="533" y="468"/>
                </a:cubicBezTo>
                <a:cubicBezTo>
                  <a:pt x="482" y="327"/>
                  <a:pt x="241" y="163"/>
                  <a:pt x="0" y="0"/>
                </a:cubicBezTo>
              </a:path>
            </a:pathLst>
          </a:custGeom>
          <a:noFill/>
          <a:ln w="9525">
            <a:solidFill>
              <a:schemeClr val="accent2"/>
            </a:solidFill>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92905" name="Group 361"/>
          <p:cNvGrpSpPr>
            <a:grpSpLocks/>
          </p:cNvGrpSpPr>
          <p:nvPr/>
        </p:nvGrpSpPr>
        <p:grpSpPr bwMode="auto">
          <a:xfrm>
            <a:off x="2306638" y="4714875"/>
            <a:ext cx="5140325" cy="1901825"/>
            <a:chOff x="1453" y="2794"/>
            <a:chExt cx="3238" cy="1198"/>
          </a:xfrm>
        </p:grpSpPr>
        <p:sp>
          <p:nvSpPr>
            <p:cNvPr id="492817" name="Freeform 273"/>
            <p:cNvSpPr>
              <a:spLocks/>
            </p:cNvSpPr>
            <p:nvPr/>
          </p:nvSpPr>
          <p:spPr bwMode="auto">
            <a:xfrm>
              <a:off x="3429" y="3301"/>
              <a:ext cx="85" cy="3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818" name="Freeform 274"/>
            <p:cNvSpPr>
              <a:spLocks/>
            </p:cNvSpPr>
            <p:nvPr/>
          </p:nvSpPr>
          <p:spPr bwMode="auto">
            <a:xfrm>
              <a:off x="3433" y="3409"/>
              <a:ext cx="85" cy="3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819" name="Freeform 275"/>
            <p:cNvSpPr>
              <a:spLocks/>
            </p:cNvSpPr>
            <p:nvPr/>
          </p:nvSpPr>
          <p:spPr bwMode="auto">
            <a:xfrm>
              <a:off x="4042" y="3899"/>
              <a:ext cx="44" cy="7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820" name="Freeform 276"/>
            <p:cNvSpPr>
              <a:spLocks/>
            </p:cNvSpPr>
            <p:nvPr/>
          </p:nvSpPr>
          <p:spPr bwMode="auto">
            <a:xfrm>
              <a:off x="2054" y="3500"/>
              <a:ext cx="88" cy="76"/>
            </a:xfrm>
            <a:custGeom>
              <a:avLst/>
              <a:gdLst>
                <a:gd name="T0" fmla="*/ 0 w 103"/>
                <a:gd name="T1" fmla="*/ 107 h 107"/>
                <a:gd name="T2" fmla="*/ 103 w 103"/>
                <a:gd name="T3" fmla="*/ 53 h 107"/>
                <a:gd name="T4" fmla="*/ 0 w 103"/>
                <a:gd name="T5" fmla="*/ 0 h 107"/>
              </a:gdLst>
              <a:ahLst/>
              <a:cxnLst>
                <a:cxn ang="0">
                  <a:pos x="T0" y="T1"/>
                </a:cxn>
                <a:cxn ang="0">
                  <a:pos x="T2" y="T3"/>
                </a:cxn>
                <a:cxn ang="0">
                  <a:pos x="T4" y="T5"/>
                </a:cxn>
              </a:cxnLst>
              <a:rect l="0" t="0" r="r" b="b"/>
              <a:pathLst>
                <a:path w="103" h="107">
                  <a:moveTo>
                    <a:pt x="0" y="107"/>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21" name="Freeform 277"/>
            <p:cNvSpPr>
              <a:spLocks/>
            </p:cNvSpPr>
            <p:nvPr/>
          </p:nvSpPr>
          <p:spPr bwMode="auto">
            <a:xfrm>
              <a:off x="3520" y="3500"/>
              <a:ext cx="87" cy="76"/>
            </a:xfrm>
            <a:custGeom>
              <a:avLst/>
              <a:gdLst>
                <a:gd name="T0" fmla="*/ 0 w 103"/>
                <a:gd name="T1" fmla="*/ 107 h 107"/>
                <a:gd name="T2" fmla="*/ 103 w 103"/>
                <a:gd name="T3" fmla="*/ 53 h 107"/>
                <a:gd name="T4" fmla="*/ 0 w 103"/>
                <a:gd name="T5" fmla="*/ 0 h 107"/>
              </a:gdLst>
              <a:ahLst/>
              <a:cxnLst>
                <a:cxn ang="0">
                  <a:pos x="T0" y="T1"/>
                </a:cxn>
                <a:cxn ang="0">
                  <a:pos x="T2" y="T3"/>
                </a:cxn>
                <a:cxn ang="0">
                  <a:pos x="T4" y="T5"/>
                </a:cxn>
              </a:cxnLst>
              <a:rect l="0" t="0" r="r" b="b"/>
              <a:pathLst>
                <a:path w="103" h="107">
                  <a:moveTo>
                    <a:pt x="0" y="107"/>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22" name="Rectangle 278"/>
            <p:cNvSpPr>
              <a:spLocks noChangeArrowheads="1"/>
            </p:cNvSpPr>
            <p:nvPr/>
          </p:nvSpPr>
          <p:spPr bwMode="auto">
            <a:xfrm>
              <a:off x="1922" y="2794"/>
              <a:ext cx="2769" cy="1054"/>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23" name="Rectangle 279"/>
            <p:cNvSpPr>
              <a:spLocks noChangeArrowheads="1"/>
            </p:cNvSpPr>
            <p:nvPr/>
          </p:nvSpPr>
          <p:spPr bwMode="auto">
            <a:xfrm>
              <a:off x="2054" y="3274"/>
              <a:ext cx="1089" cy="32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24" name="Rectangle 280"/>
            <p:cNvSpPr>
              <a:spLocks noChangeArrowheads="1"/>
            </p:cNvSpPr>
            <p:nvPr/>
          </p:nvSpPr>
          <p:spPr bwMode="auto">
            <a:xfrm>
              <a:off x="2071" y="3278"/>
              <a:ext cx="17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clear</a:t>
              </a:r>
              <a:endParaRPr lang="en-US" altLang="en-US"/>
            </a:p>
          </p:txBody>
        </p:sp>
        <p:sp>
          <p:nvSpPr>
            <p:cNvPr id="492825" name="Rectangle 281"/>
            <p:cNvSpPr>
              <a:spLocks noChangeArrowheads="1"/>
            </p:cNvSpPr>
            <p:nvPr/>
          </p:nvSpPr>
          <p:spPr bwMode="auto">
            <a:xfrm>
              <a:off x="2071" y="3379"/>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2826" name="Rectangle 282"/>
            <p:cNvSpPr>
              <a:spLocks noChangeArrowheads="1"/>
            </p:cNvSpPr>
            <p:nvPr/>
          </p:nvSpPr>
          <p:spPr bwMode="auto">
            <a:xfrm>
              <a:off x="2108" y="337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ou</a:t>
              </a:r>
              <a:endParaRPr lang="en-US" altLang="en-US"/>
            </a:p>
          </p:txBody>
        </p:sp>
        <p:sp>
          <p:nvSpPr>
            <p:cNvPr id="492827" name="Rectangle 283"/>
            <p:cNvSpPr>
              <a:spLocks noChangeArrowheads="1"/>
            </p:cNvSpPr>
            <p:nvPr/>
          </p:nvSpPr>
          <p:spPr bwMode="auto">
            <a:xfrm>
              <a:off x="2202" y="3379"/>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n</a:t>
              </a:r>
              <a:endParaRPr lang="en-US" altLang="en-US"/>
            </a:p>
          </p:txBody>
        </p:sp>
        <p:sp>
          <p:nvSpPr>
            <p:cNvPr id="492828" name="Rectangle 284"/>
            <p:cNvSpPr>
              <a:spLocks noChangeArrowheads="1"/>
            </p:cNvSpPr>
            <p:nvPr/>
          </p:nvSpPr>
          <p:spPr bwMode="auto">
            <a:xfrm>
              <a:off x="2248" y="3379"/>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2829" name="Rectangle 285"/>
            <p:cNvSpPr>
              <a:spLocks noChangeArrowheads="1"/>
            </p:cNvSpPr>
            <p:nvPr/>
          </p:nvSpPr>
          <p:spPr bwMode="auto">
            <a:xfrm>
              <a:off x="3537" y="3278"/>
              <a:ext cx="17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clear</a:t>
              </a:r>
              <a:endParaRPr lang="en-US" altLang="en-US"/>
            </a:p>
          </p:txBody>
        </p:sp>
        <p:sp>
          <p:nvSpPr>
            <p:cNvPr id="492830" name="Rectangle 286"/>
            <p:cNvSpPr>
              <a:spLocks noChangeArrowheads="1"/>
            </p:cNvSpPr>
            <p:nvPr/>
          </p:nvSpPr>
          <p:spPr bwMode="auto">
            <a:xfrm>
              <a:off x="3537" y="3387"/>
              <a:ext cx="15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load</a:t>
              </a:r>
              <a:endParaRPr lang="en-US" altLang="en-US"/>
            </a:p>
          </p:txBody>
        </p:sp>
        <p:sp>
          <p:nvSpPr>
            <p:cNvPr id="492831" name="Rectangle 287"/>
            <p:cNvSpPr>
              <a:spLocks noChangeArrowheads="1"/>
            </p:cNvSpPr>
            <p:nvPr/>
          </p:nvSpPr>
          <p:spPr bwMode="auto">
            <a:xfrm>
              <a:off x="2573" y="3512"/>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Q</a:t>
              </a:r>
              <a:endParaRPr lang="en-US" altLang="en-US"/>
            </a:p>
          </p:txBody>
        </p:sp>
        <p:sp>
          <p:nvSpPr>
            <p:cNvPr id="492832" name="Rectangle 288"/>
            <p:cNvSpPr>
              <a:spLocks noChangeArrowheads="1"/>
            </p:cNvSpPr>
            <p:nvPr/>
          </p:nvSpPr>
          <p:spPr bwMode="auto">
            <a:xfrm>
              <a:off x="4036" y="3512"/>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Q</a:t>
              </a:r>
              <a:endParaRPr lang="en-US" altLang="en-US"/>
            </a:p>
          </p:txBody>
        </p:sp>
        <p:sp>
          <p:nvSpPr>
            <p:cNvPr id="492833" name="Rectangle 289"/>
            <p:cNvSpPr>
              <a:spLocks noChangeArrowheads="1"/>
            </p:cNvSpPr>
            <p:nvPr/>
          </p:nvSpPr>
          <p:spPr bwMode="auto">
            <a:xfrm>
              <a:off x="4055" y="328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I</a:t>
              </a:r>
              <a:endParaRPr lang="en-US" altLang="en-US"/>
            </a:p>
          </p:txBody>
        </p:sp>
        <p:sp>
          <p:nvSpPr>
            <p:cNvPr id="492834" name="Rectangle 290"/>
            <p:cNvSpPr>
              <a:spLocks noChangeArrowheads="1"/>
            </p:cNvSpPr>
            <p:nvPr/>
          </p:nvSpPr>
          <p:spPr bwMode="auto">
            <a:xfrm>
              <a:off x="2710" y="3340"/>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2835" name="Rectangle 291"/>
            <p:cNvSpPr>
              <a:spLocks noChangeArrowheads="1"/>
            </p:cNvSpPr>
            <p:nvPr/>
          </p:nvSpPr>
          <p:spPr bwMode="auto">
            <a:xfrm>
              <a:off x="2767" y="3340"/>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2836" name="Rectangle 292"/>
            <p:cNvSpPr>
              <a:spLocks noChangeArrowheads="1"/>
            </p:cNvSpPr>
            <p:nvPr/>
          </p:nvSpPr>
          <p:spPr bwMode="auto">
            <a:xfrm>
              <a:off x="2807" y="3340"/>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2837" name="Rectangle 293"/>
            <p:cNvSpPr>
              <a:spLocks noChangeArrowheads="1"/>
            </p:cNvSpPr>
            <p:nvPr/>
          </p:nvSpPr>
          <p:spPr bwMode="auto">
            <a:xfrm>
              <a:off x="2836" y="334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2838" name="Rectangle 294"/>
            <p:cNvSpPr>
              <a:spLocks noChangeArrowheads="1"/>
            </p:cNvSpPr>
            <p:nvPr/>
          </p:nvSpPr>
          <p:spPr bwMode="auto">
            <a:xfrm>
              <a:off x="2863" y="3340"/>
              <a:ext cx="25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 16-bit</a:t>
              </a:r>
              <a:endParaRPr lang="en-US" altLang="en-US"/>
            </a:p>
          </p:txBody>
        </p:sp>
        <p:sp>
          <p:nvSpPr>
            <p:cNvPr id="492839" name="Rectangle 295"/>
            <p:cNvSpPr>
              <a:spLocks noChangeArrowheads="1"/>
            </p:cNvSpPr>
            <p:nvPr/>
          </p:nvSpPr>
          <p:spPr bwMode="auto">
            <a:xfrm>
              <a:off x="2709" y="34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u</a:t>
              </a:r>
              <a:endParaRPr lang="en-US" altLang="en-US"/>
            </a:p>
          </p:txBody>
        </p:sp>
        <p:sp>
          <p:nvSpPr>
            <p:cNvPr id="492840" name="Rectangle 296"/>
            <p:cNvSpPr>
              <a:spLocks noChangeArrowheads="1"/>
            </p:cNvSpPr>
            <p:nvPr/>
          </p:nvSpPr>
          <p:spPr bwMode="auto">
            <a:xfrm>
              <a:off x="2756" y="34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p</a:t>
              </a:r>
              <a:endParaRPr lang="en-US" altLang="en-US"/>
            </a:p>
          </p:txBody>
        </p:sp>
        <p:sp>
          <p:nvSpPr>
            <p:cNvPr id="492841" name="Rectangle 297"/>
            <p:cNvSpPr>
              <a:spLocks noChangeArrowheads="1"/>
            </p:cNvSpPr>
            <p:nvPr/>
          </p:nvSpPr>
          <p:spPr bwMode="auto">
            <a:xfrm>
              <a:off x="2806" y="342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a:t>
              </a:r>
              <a:endParaRPr lang="en-US" altLang="en-US"/>
            </a:p>
          </p:txBody>
        </p:sp>
        <p:sp>
          <p:nvSpPr>
            <p:cNvPr id="492842" name="Rectangle 298"/>
            <p:cNvSpPr>
              <a:spLocks noChangeArrowheads="1"/>
            </p:cNvSpPr>
            <p:nvPr/>
          </p:nvSpPr>
          <p:spPr bwMode="auto">
            <a:xfrm>
              <a:off x="2832" y="3420"/>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2843" name="Rectangle 299"/>
            <p:cNvSpPr>
              <a:spLocks noChangeArrowheads="1"/>
            </p:cNvSpPr>
            <p:nvPr/>
          </p:nvSpPr>
          <p:spPr bwMode="auto">
            <a:xfrm>
              <a:off x="2870" y="3420"/>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ou</a:t>
              </a:r>
              <a:endParaRPr lang="en-US" altLang="en-US"/>
            </a:p>
          </p:txBody>
        </p:sp>
        <p:sp>
          <p:nvSpPr>
            <p:cNvPr id="492844" name="Rectangle 300"/>
            <p:cNvSpPr>
              <a:spLocks noChangeArrowheads="1"/>
            </p:cNvSpPr>
            <p:nvPr/>
          </p:nvSpPr>
          <p:spPr bwMode="auto">
            <a:xfrm>
              <a:off x="2964" y="34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n</a:t>
              </a:r>
              <a:endParaRPr lang="en-US" altLang="en-US"/>
            </a:p>
          </p:txBody>
        </p:sp>
        <p:sp>
          <p:nvSpPr>
            <p:cNvPr id="492845" name="Rectangle 301"/>
            <p:cNvSpPr>
              <a:spLocks noChangeArrowheads="1"/>
            </p:cNvSpPr>
            <p:nvPr/>
          </p:nvSpPr>
          <p:spPr bwMode="auto">
            <a:xfrm>
              <a:off x="3011" y="3420"/>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2846" name="Rectangle 302"/>
            <p:cNvSpPr>
              <a:spLocks noChangeArrowheads="1"/>
            </p:cNvSpPr>
            <p:nvPr/>
          </p:nvSpPr>
          <p:spPr bwMode="auto">
            <a:xfrm>
              <a:off x="3039" y="3420"/>
              <a:ext cx="6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er</a:t>
              </a:r>
              <a:endParaRPr lang="en-US" altLang="en-US"/>
            </a:p>
          </p:txBody>
        </p:sp>
        <p:sp>
          <p:nvSpPr>
            <p:cNvPr id="492847" name="Rectangle 303"/>
            <p:cNvSpPr>
              <a:spLocks noChangeArrowheads="1"/>
            </p:cNvSpPr>
            <p:nvPr/>
          </p:nvSpPr>
          <p:spPr bwMode="auto">
            <a:xfrm>
              <a:off x="4151" y="3340"/>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2848" name="Rectangle 304"/>
            <p:cNvSpPr>
              <a:spLocks noChangeArrowheads="1"/>
            </p:cNvSpPr>
            <p:nvPr/>
          </p:nvSpPr>
          <p:spPr bwMode="auto">
            <a:xfrm>
              <a:off x="4208" y="334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2849" name="Rectangle 305"/>
            <p:cNvSpPr>
              <a:spLocks noChangeArrowheads="1"/>
            </p:cNvSpPr>
            <p:nvPr/>
          </p:nvSpPr>
          <p:spPr bwMode="auto">
            <a:xfrm>
              <a:off x="4235" y="3340"/>
              <a:ext cx="33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eg: 16-bit</a:t>
              </a:r>
              <a:endParaRPr lang="en-US" altLang="en-US"/>
            </a:p>
          </p:txBody>
        </p:sp>
        <p:sp>
          <p:nvSpPr>
            <p:cNvPr id="492850" name="Rectangle 306"/>
            <p:cNvSpPr>
              <a:spLocks noChangeArrowheads="1"/>
            </p:cNvSpPr>
            <p:nvPr/>
          </p:nvSpPr>
          <p:spPr bwMode="auto">
            <a:xfrm>
              <a:off x="4302" y="342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2851" name="Rectangle 307"/>
            <p:cNvSpPr>
              <a:spLocks noChangeArrowheads="1"/>
            </p:cNvSpPr>
            <p:nvPr/>
          </p:nvSpPr>
          <p:spPr bwMode="auto">
            <a:xfrm>
              <a:off x="4328" y="3420"/>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a:t>
              </a:r>
              <a:endParaRPr lang="en-US" altLang="en-US"/>
            </a:p>
          </p:txBody>
        </p:sp>
        <p:sp>
          <p:nvSpPr>
            <p:cNvPr id="492852" name="Rectangle 308"/>
            <p:cNvSpPr>
              <a:spLocks noChangeArrowheads="1"/>
            </p:cNvSpPr>
            <p:nvPr/>
          </p:nvSpPr>
          <p:spPr bwMode="auto">
            <a:xfrm>
              <a:off x="4372" y="34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g</a:t>
              </a:r>
              <a:endParaRPr lang="en-US" altLang="en-US"/>
            </a:p>
          </p:txBody>
        </p:sp>
        <p:sp>
          <p:nvSpPr>
            <p:cNvPr id="492853" name="Rectangle 309"/>
            <p:cNvSpPr>
              <a:spLocks noChangeArrowheads="1"/>
            </p:cNvSpPr>
            <p:nvPr/>
          </p:nvSpPr>
          <p:spPr bwMode="auto">
            <a:xfrm>
              <a:off x="4418" y="3420"/>
              <a:ext cx="5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is</a:t>
              </a:r>
              <a:endParaRPr lang="en-US" altLang="en-US"/>
            </a:p>
          </p:txBody>
        </p:sp>
        <p:sp>
          <p:nvSpPr>
            <p:cNvPr id="492854" name="Rectangle 310"/>
            <p:cNvSpPr>
              <a:spLocks noChangeArrowheads="1"/>
            </p:cNvSpPr>
            <p:nvPr/>
          </p:nvSpPr>
          <p:spPr bwMode="auto">
            <a:xfrm>
              <a:off x="4472" y="3420"/>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2855" name="Rectangle 311"/>
            <p:cNvSpPr>
              <a:spLocks noChangeArrowheads="1"/>
            </p:cNvSpPr>
            <p:nvPr/>
          </p:nvSpPr>
          <p:spPr bwMode="auto">
            <a:xfrm>
              <a:off x="4499" y="3420"/>
              <a:ext cx="6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er</a:t>
              </a:r>
              <a:endParaRPr lang="en-US" altLang="en-US"/>
            </a:p>
          </p:txBody>
        </p:sp>
        <p:sp>
          <p:nvSpPr>
            <p:cNvPr id="492856" name="Rectangle 312"/>
            <p:cNvSpPr>
              <a:spLocks noChangeArrowheads="1"/>
            </p:cNvSpPr>
            <p:nvPr/>
          </p:nvSpPr>
          <p:spPr bwMode="auto">
            <a:xfrm>
              <a:off x="4117" y="3751"/>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16</a:t>
              </a:r>
              <a:endParaRPr lang="en-US" altLang="en-US"/>
            </a:p>
          </p:txBody>
        </p:sp>
        <p:sp>
          <p:nvSpPr>
            <p:cNvPr id="492857" name="Rectangle 313"/>
            <p:cNvSpPr>
              <a:spLocks noChangeArrowheads="1"/>
            </p:cNvSpPr>
            <p:nvPr/>
          </p:nvSpPr>
          <p:spPr bwMode="auto">
            <a:xfrm>
              <a:off x="4128" y="3886"/>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2858" name="Rectangle 314"/>
            <p:cNvSpPr>
              <a:spLocks noChangeArrowheads="1"/>
            </p:cNvSpPr>
            <p:nvPr/>
          </p:nvSpPr>
          <p:spPr bwMode="auto">
            <a:xfrm>
              <a:off x="1961" y="2815"/>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2859" name="Rectangle 315"/>
            <p:cNvSpPr>
              <a:spLocks noChangeArrowheads="1"/>
            </p:cNvSpPr>
            <p:nvPr/>
          </p:nvSpPr>
          <p:spPr bwMode="auto">
            <a:xfrm>
              <a:off x="2017" y="2815"/>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a</a:t>
              </a:r>
              <a:endParaRPr lang="en-US" altLang="en-US"/>
            </a:p>
          </p:txBody>
        </p:sp>
        <p:sp>
          <p:nvSpPr>
            <p:cNvPr id="492860" name="Rectangle 316"/>
            <p:cNvSpPr>
              <a:spLocks noChangeArrowheads="1"/>
            </p:cNvSpPr>
            <p:nvPr/>
          </p:nvSpPr>
          <p:spPr bwMode="auto">
            <a:xfrm>
              <a:off x="2057" y="2815"/>
              <a:ext cx="107"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tap</a:t>
              </a:r>
              <a:endParaRPr lang="en-US" altLang="en-US"/>
            </a:p>
          </p:txBody>
        </p:sp>
        <p:sp>
          <p:nvSpPr>
            <p:cNvPr id="492861" name="Rectangle 317"/>
            <p:cNvSpPr>
              <a:spLocks noChangeArrowheads="1"/>
            </p:cNvSpPr>
            <p:nvPr/>
          </p:nvSpPr>
          <p:spPr bwMode="auto">
            <a:xfrm>
              <a:off x="2175" y="2815"/>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a</a:t>
              </a:r>
              <a:endParaRPr lang="en-US" altLang="en-US"/>
            </a:p>
          </p:txBody>
        </p:sp>
        <p:sp>
          <p:nvSpPr>
            <p:cNvPr id="492862" name="Rectangle 318"/>
            <p:cNvSpPr>
              <a:spLocks noChangeArrowheads="1"/>
            </p:cNvSpPr>
            <p:nvPr/>
          </p:nvSpPr>
          <p:spPr bwMode="auto">
            <a:xfrm>
              <a:off x="2215" y="2815"/>
              <a:ext cx="6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th</a:t>
              </a:r>
              <a:endParaRPr lang="en-US" altLang="en-US"/>
            </a:p>
          </p:txBody>
        </p:sp>
        <p:sp>
          <p:nvSpPr>
            <p:cNvPr id="492863" name="Rectangle 319"/>
            <p:cNvSpPr>
              <a:spLocks noChangeArrowheads="1"/>
            </p:cNvSpPr>
            <p:nvPr/>
          </p:nvSpPr>
          <p:spPr bwMode="auto">
            <a:xfrm>
              <a:off x="1459" y="3043"/>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2864" name="Rectangle 320"/>
            <p:cNvSpPr>
              <a:spLocks noChangeArrowheads="1"/>
            </p:cNvSpPr>
            <p:nvPr/>
          </p:nvSpPr>
          <p:spPr bwMode="auto">
            <a:xfrm>
              <a:off x="1516" y="3043"/>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2865" name="Rectangle 321"/>
            <p:cNvSpPr>
              <a:spLocks noChangeArrowheads="1"/>
            </p:cNvSpPr>
            <p:nvPr/>
          </p:nvSpPr>
          <p:spPr bwMode="auto">
            <a:xfrm>
              <a:off x="1542" y="3043"/>
              <a:ext cx="21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eg_clr</a:t>
              </a:r>
              <a:endParaRPr lang="en-US" altLang="en-US"/>
            </a:p>
          </p:txBody>
        </p:sp>
        <p:sp>
          <p:nvSpPr>
            <p:cNvPr id="492866" name="Rectangle 322"/>
            <p:cNvSpPr>
              <a:spLocks noChangeArrowheads="1"/>
            </p:cNvSpPr>
            <p:nvPr/>
          </p:nvSpPr>
          <p:spPr bwMode="auto">
            <a:xfrm>
              <a:off x="1480" y="3295"/>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2867" name="Rectangle 323"/>
            <p:cNvSpPr>
              <a:spLocks noChangeArrowheads="1"/>
            </p:cNvSpPr>
            <p:nvPr/>
          </p:nvSpPr>
          <p:spPr bwMode="auto">
            <a:xfrm>
              <a:off x="1537" y="3295"/>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2868" name="Rectangle 324"/>
            <p:cNvSpPr>
              <a:spLocks noChangeArrowheads="1"/>
            </p:cNvSpPr>
            <p:nvPr/>
          </p:nvSpPr>
          <p:spPr bwMode="auto">
            <a:xfrm>
              <a:off x="1576" y="3295"/>
              <a:ext cx="18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tr_clr</a:t>
              </a:r>
              <a:endParaRPr lang="en-US" altLang="en-US"/>
            </a:p>
          </p:txBody>
        </p:sp>
        <p:sp>
          <p:nvSpPr>
            <p:cNvPr id="492869" name="Rectangle 325"/>
            <p:cNvSpPr>
              <a:spLocks noChangeArrowheads="1"/>
            </p:cNvSpPr>
            <p:nvPr/>
          </p:nvSpPr>
          <p:spPr bwMode="auto">
            <a:xfrm>
              <a:off x="1453" y="3387"/>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2870" name="Rectangle 326"/>
            <p:cNvSpPr>
              <a:spLocks noChangeArrowheads="1"/>
            </p:cNvSpPr>
            <p:nvPr/>
          </p:nvSpPr>
          <p:spPr bwMode="auto">
            <a:xfrm>
              <a:off x="1510" y="3387"/>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2871" name="Rectangle 327"/>
            <p:cNvSpPr>
              <a:spLocks noChangeArrowheads="1"/>
            </p:cNvSpPr>
            <p:nvPr/>
          </p:nvSpPr>
          <p:spPr bwMode="auto">
            <a:xfrm>
              <a:off x="1550" y="3387"/>
              <a:ext cx="136"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tr_c</a:t>
              </a:r>
              <a:endParaRPr lang="en-US" altLang="en-US"/>
            </a:p>
          </p:txBody>
        </p:sp>
        <p:sp>
          <p:nvSpPr>
            <p:cNvPr id="492872" name="Rectangle 328"/>
            <p:cNvSpPr>
              <a:spLocks noChangeArrowheads="1"/>
            </p:cNvSpPr>
            <p:nvPr/>
          </p:nvSpPr>
          <p:spPr bwMode="auto">
            <a:xfrm>
              <a:off x="1686" y="3387"/>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n</a:t>
              </a:r>
              <a:endParaRPr lang="en-US" altLang="en-US"/>
            </a:p>
          </p:txBody>
        </p:sp>
        <p:sp>
          <p:nvSpPr>
            <p:cNvPr id="492873" name="Rectangle 329"/>
            <p:cNvSpPr>
              <a:spLocks noChangeArrowheads="1"/>
            </p:cNvSpPr>
            <p:nvPr/>
          </p:nvSpPr>
          <p:spPr bwMode="auto">
            <a:xfrm>
              <a:off x="1732" y="3387"/>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2874" name="Rectangle 330"/>
            <p:cNvSpPr>
              <a:spLocks noChangeArrowheads="1"/>
            </p:cNvSpPr>
            <p:nvPr/>
          </p:nvSpPr>
          <p:spPr bwMode="auto">
            <a:xfrm>
              <a:off x="1477" y="3153"/>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2875" name="Rectangle 331"/>
            <p:cNvSpPr>
              <a:spLocks noChangeArrowheads="1"/>
            </p:cNvSpPr>
            <p:nvPr/>
          </p:nvSpPr>
          <p:spPr bwMode="auto">
            <a:xfrm>
              <a:off x="1534" y="3153"/>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2876" name="Rectangle 332"/>
            <p:cNvSpPr>
              <a:spLocks noChangeArrowheads="1"/>
            </p:cNvSpPr>
            <p:nvPr/>
          </p:nvSpPr>
          <p:spPr bwMode="auto">
            <a:xfrm>
              <a:off x="1560" y="3153"/>
              <a:ext cx="19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eg_ld</a:t>
              </a:r>
              <a:endParaRPr lang="en-US" altLang="en-US"/>
            </a:p>
          </p:txBody>
        </p:sp>
        <p:sp>
          <p:nvSpPr>
            <p:cNvPr id="492877" name="Freeform 333"/>
            <p:cNvSpPr>
              <a:spLocks/>
            </p:cNvSpPr>
            <p:nvPr/>
          </p:nvSpPr>
          <p:spPr bwMode="auto">
            <a:xfrm>
              <a:off x="1794" y="3089"/>
              <a:ext cx="1649" cy="230"/>
            </a:xfrm>
            <a:custGeom>
              <a:avLst/>
              <a:gdLst>
                <a:gd name="T0" fmla="*/ 1941 w 1941"/>
                <a:gd name="T1" fmla="*/ 322 h 322"/>
                <a:gd name="T2" fmla="*/ 1838 w 1941"/>
                <a:gd name="T3" fmla="*/ 322 h 322"/>
                <a:gd name="T4" fmla="*/ 1838 w 1941"/>
                <a:gd name="T5" fmla="*/ 0 h 322"/>
                <a:gd name="T6" fmla="*/ 0 w 1941"/>
                <a:gd name="T7" fmla="*/ 0 h 322"/>
              </a:gdLst>
              <a:ahLst/>
              <a:cxnLst>
                <a:cxn ang="0">
                  <a:pos x="T0" y="T1"/>
                </a:cxn>
                <a:cxn ang="0">
                  <a:pos x="T2" y="T3"/>
                </a:cxn>
                <a:cxn ang="0">
                  <a:pos x="T4" y="T5"/>
                </a:cxn>
                <a:cxn ang="0">
                  <a:pos x="T6" y="T7"/>
                </a:cxn>
              </a:cxnLst>
              <a:rect l="0" t="0" r="r" b="b"/>
              <a:pathLst>
                <a:path w="1941" h="322">
                  <a:moveTo>
                    <a:pt x="1941" y="322"/>
                  </a:moveTo>
                  <a:lnTo>
                    <a:pt x="1838" y="322"/>
                  </a:lnTo>
                  <a:lnTo>
                    <a:pt x="1838"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78" name="Freeform 334"/>
            <p:cNvSpPr>
              <a:spLocks/>
            </p:cNvSpPr>
            <p:nvPr/>
          </p:nvSpPr>
          <p:spPr bwMode="auto">
            <a:xfrm>
              <a:off x="1794" y="3196"/>
              <a:ext cx="1654" cy="230"/>
            </a:xfrm>
            <a:custGeom>
              <a:avLst/>
              <a:gdLst>
                <a:gd name="T0" fmla="*/ 1947 w 1947"/>
                <a:gd name="T1" fmla="*/ 322 h 322"/>
                <a:gd name="T2" fmla="*/ 1750 w 1947"/>
                <a:gd name="T3" fmla="*/ 322 h 322"/>
                <a:gd name="T4" fmla="*/ 1750 w 1947"/>
                <a:gd name="T5" fmla="*/ 0 h 322"/>
                <a:gd name="T6" fmla="*/ 0 w 1947"/>
                <a:gd name="T7" fmla="*/ 0 h 322"/>
              </a:gdLst>
              <a:ahLst/>
              <a:cxnLst>
                <a:cxn ang="0">
                  <a:pos x="T0" y="T1"/>
                </a:cxn>
                <a:cxn ang="0">
                  <a:pos x="T2" y="T3"/>
                </a:cxn>
                <a:cxn ang="0">
                  <a:pos x="T4" y="T5"/>
                </a:cxn>
                <a:cxn ang="0">
                  <a:pos x="T6" y="T7"/>
                </a:cxn>
              </a:cxnLst>
              <a:rect l="0" t="0" r="r" b="b"/>
              <a:pathLst>
                <a:path w="1947" h="322">
                  <a:moveTo>
                    <a:pt x="1947" y="322"/>
                  </a:moveTo>
                  <a:lnTo>
                    <a:pt x="1750" y="322"/>
                  </a:lnTo>
                  <a:lnTo>
                    <a:pt x="1750"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79" name="Line 335"/>
            <p:cNvSpPr>
              <a:spLocks noChangeShapeType="1"/>
            </p:cNvSpPr>
            <p:nvPr/>
          </p:nvSpPr>
          <p:spPr bwMode="auto">
            <a:xfrm flipH="1">
              <a:off x="1803" y="3319"/>
              <a:ext cx="17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880" name="Freeform 336"/>
            <p:cNvSpPr>
              <a:spLocks/>
            </p:cNvSpPr>
            <p:nvPr/>
          </p:nvSpPr>
          <p:spPr bwMode="auto">
            <a:xfrm>
              <a:off x="1961" y="3301"/>
              <a:ext cx="85" cy="3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881" name="Line 337"/>
            <p:cNvSpPr>
              <a:spLocks noChangeShapeType="1"/>
            </p:cNvSpPr>
            <p:nvPr/>
          </p:nvSpPr>
          <p:spPr bwMode="auto">
            <a:xfrm flipH="1">
              <a:off x="1799" y="3426"/>
              <a:ext cx="18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882" name="Freeform 338"/>
            <p:cNvSpPr>
              <a:spLocks/>
            </p:cNvSpPr>
            <p:nvPr/>
          </p:nvSpPr>
          <p:spPr bwMode="auto">
            <a:xfrm>
              <a:off x="1967" y="3409"/>
              <a:ext cx="85" cy="3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883" name="Line 339"/>
            <p:cNvSpPr>
              <a:spLocks noChangeShapeType="1"/>
            </p:cNvSpPr>
            <p:nvPr/>
          </p:nvSpPr>
          <p:spPr bwMode="auto">
            <a:xfrm flipV="1">
              <a:off x="4064" y="3600"/>
              <a:ext cx="0" cy="310"/>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884" name="Line 340"/>
            <p:cNvSpPr>
              <a:spLocks noChangeShapeType="1"/>
            </p:cNvSpPr>
            <p:nvPr/>
          </p:nvSpPr>
          <p:spPr bwMode="auto">
            <a:xfrm flipH="1">
              <a:off x="4021" y="3757"/>
              <a:ext cx="86" cy="7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492885" name="Group 341"/>
            <p:cNvGrpSpPr>
              <a:grpSpLocks/>
            </p:cNvGrpSpPr>
            <p:nvPr/>
          </p:nvGrpSpPr>
          <p:grpSpPr bwMode="auto">
            <a:xfrm>
              <a:off x="1918" y="3538"/>
              <a:ext cx="1602" cy="268"/>
              <a:chOff x="2016" y="3232"/>
              <a:chExt cx="1966" cy="393"/>
            </a:xfrm>
          </p:grpSpPr>
          <p:sp>
            <p:nvSpPr>
              <p:cNvPr id="492886" name="Freeform 342"/>
              <p:cNvSpPr>
                <a:spLocks/>
              </p:cNvSpPr>
              <p:nvPr/>
            </p:nvSpPr>
            <p:spPr bwMode="auto">
              <a:xfrm>
                <a:off x="2016" y="3517"/>
                <a:ext cx="108" cy="108"/>
              </a:xfrm>
              <a:custGeom>
                <a:avLst/>
                <a:gdLst>
                  <a:gd name="T0" fmla="*/ 0 w 103"/>
                  <a:gd name="T1" fmla="*/ 104 h 104"/>
                  <a:gd name="T2" fmla="*/ 103 w 103"/>
                  <a:gd name="T3" fmla="*/ 50 h 104"/>
                  <a:gd name="T4" fmla="*/ 0 w 103"/>
                  <a:gd name="T5" fmla="*/ 0 h 104"/>
                </a:gdLst>
                <a:ahLst/>
                <a:cxnLst>
                  <a:cxn ang="0">
                    <a:pos x="T0" y="T1"/>
                  </a:cxn>
                  <a:cxn ang="0">
                    <a:pos x="T2" y="T3"/>
                  </a:cxn>
                  <a:cxn ang="0">
                    <a:pos x="T4" y="T5"/>
                  </a:cxn>
                </a:cxnLst>
                <a:rect l="0" t="0" r="r" b="b"/>
                <a:pathLst>
                  <a:path w="103" h="104">
                    <a:moveTo>
                      <a:pt x="0" y="104"/>
                    </a:moveTo>
                    <a:lnTo>
                      <a:pt x="103" y="5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87" name="Freeform 343"/>
              <p:cNvSpPr>
                <a:spLocks/>
              </p:cNvSpPr>
              <p:nvPr/>
            </p:nvSpPr>
            <p:spPr bwMode="auto">
              <a:xfrm>
                <a:off x="2024" y="3232"/>
                <a:ext cx="1958" cy="337"/>
              </a:xfrm>
              <a:custGeom>
                <a:avLst/>
                <a:gdLst>
                  <a:gd name="T0" fmla="*/ 1878 w 1878"/>
                  <a:gd name="T1" fmla="*/ 0 h 322"/>
                  <a:gd name="T2" fmla="*/ 1809 w 1878"/>
                  <a:gd name="T3" fmla="*/ 0 h 322"/>
                  <a:gd name="T4" fmla="*/ 1809 w 1878"/>
                  <a:gd name="T5" fmla="*/ 322 h 322"/>
                  <a:gd name="T6" fmla="*/ 0 w 1878"/>
                  <a:gd name="T7" fmla="*/ 322 h 322"/>
                </a:gdLst>
                <a:ahLst/>
                <a:cxnLst>
                  <a:cxn ang="0">
                    <a:pos x="T0" y="T1"/>
                  </a:cxn>
                  <a:cxn ang="0">
                    <a:pos x="T2" y="T3"/>
                  </a:cxn>
                  <a:cxn ang="0">
                    <a:pos x="T4" y="T5"/>
                  </a:cxn>
                  <a:cxn ang="0">
                    <a:pos x="T6" y="T7"/>
                  </a:cxn>
                </a:cxnLst>
                <a:rect l="0" t="0" r="r" b="b"/>
                <a:pathLst>
                  <a:path w="1878" h="322">
                    <a:moveTo>
                      <a:pt x="1878" y="0"/>
                    </a:moveTo>
                    <a:lnTo>
                      <a:pt x="1809" y="0"/>
                    </a:lnTo>
                    <a:lnTo>
                      <a:pt x="1809" y="322"/>
                    </a:lnTo>
                    <a:lnTo>
                      <a:pt x="0" y="3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88" name="Freeform 344"/>
              <p:cNvSpPr>
                <a:spLocks/>
              </p:cNvSpPr>
              <p:nvPr/>
            </p:nvSpPr>
            <p:spPr bwMode="auto">
              <a:xfrm>
                <a:off x="2134" y="3232"/>
                <a:ext cx="42" cy="337"/>
              </a:xfrm>
              <a:custGeom>
                <a:avLst/>
                <a:gdLst>
                  <a:gd name="T0" fmla="*/ 40 w 40"/>
                  <a:gd name="T1" fmla="*/ 0 h 322"/>
                  <a:gd name="T2" fmla="*/ 0 w 40"/>
                  <a:gd name="T3" fmla="*/ 0 h 322"/>
                  <a:gd name="T4" fmla="*/ 0 w 40"/>
                  <a:gd name="T5" fmla="*/ 322 h 322"/>
                </a:gdLst>
                <a:ahLst/>
                <a:cxnLst>
                  <a:cxn ang="0">
                    <a:pos x="T0" y="T1"/>
                  </a:cxn>
                  <a:cxn ang="0">
                    <a:pos x="T2" y="T3"/>
                  </a:cxn>
                  <a:cxn ang="0">
                    <a:pos x="T4" y="T5"/>
                  </a:cxn>
                </a:cxnLst>
                <a:rect l="0" t="0" r="r" b="b"/>
                <a:pathLst>
                  <a:path w="40" h="322">
                    <a:moveTo>
                      <a:pt x="40" y="0"/>
                    </a:moveTo>
                    <a:lnTo>
                      <a:pt x="0" y="0"/>
                    </a:lnTo>
                    <a:lnTo>
                      <a:pt x="0" y="3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89" name="Oval 345"/>
              <p:cNvSpPr>
                <a:spLocks noChangeArrowheads="1"/>
              </p:cNvSpPr>
              <p:nvPr/>
            </p:nvSpPr>
            <p:spPr bwMode="auto">
              <a:xfrm>
                <a:off x="2108" y="3543"/>
                <a:ext cx="52" cy="52"/>
              </a:xfrm>
              <a:prstGeom prst="ellipse">
                <a:avLst/>
              </a:prstGeom>
              <a:solidFill>
                <a:srgbClr val="000000"/>
              </a:solidFill>
              <a:ln w="4763">
                <a:solidFill>
                  <a:srgbClr val="000000"/>
                </a:solidFill>
                <a:miter lim="800000"/>
                <a:headEnd/>
                <a:tailEnd/>
              </a:ln>
            </p:spPr>
            <p:txBody>
              <a:bodyPr/>
              <a:lstStyle/>
              <a:p>
                <a:endParaRPr lang="en-US"/>
              </a:p>
            </p:txBody>
          </p:sp>
        </p:grpSp>
        <p:sp>
          <p:nvSpPr>
            <p:cNvPr id="492890" name="Rectangle 346"/>
            <p:cNvSpPr>
              <a:spLocks noChangeArrowheads="1"/>
            </p:cNvSpPr>
            <p:nvPr/>
          </p:nvSpPr>
          <p:spPr bwMode="auto">
            <a:xfrm>
              <a:off x="3520" y="3274"/>
              <a:ext cx="1089" cy="32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92892" name="Group 348"/>
            <p:cNvGrpSpPr>
              <a:grpSpLocks/>
            </p:cNvGrpSpPr>
            <p:nvPr/>
          </p:nvGrpSpPr>
          <p:grpSpPr bwMode="auto">
            <a:xfrm>
              <a:off x="2601" y="2897"/>
              <a:ext cx="1692" cy="790"/>
              <a:chOff x="2854" y="2294"/>
              <a:chExt cx="2076" cy="1157"/>
            </a:xfrm>
          </p:grpSpPr>
          <p:sp>
            <p:nvSpPr>
              <p:cNvPr id="492893" name="Rectangle 349"/>
              <p:cNvSpPr>
                <a:spLocks noChangeArrowheads="1"/>
              </p:cNvSpPr>
              <p:nvPr/>
            </p:nvSpPr>
            <p:spPr bwMode="auto">
              <a:xfrm>
                <a:off x="4713" y="2614"/>
                <a:ext cx="10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16</a:t>
                </a:r>
                <a:endParaRPr lang="en-US" altLang="en-US"/>
              </a:p>
            </p:txBody>
          </p:sp>
          <p:sp>
            <p:nvSpPr>
              <p:cNvPr id="492894" name="Freeform 350"/>
              <p:cNvSpPr>
                <a:spLocks/>
              </p:cNvSpPr>
              <p:nvPr/>
            </p:nvSpPr>
            <p:spPr bwMode="auto">
              <a:xfrm>
                <a:off x="4623" y="2735"/>
                <a:ext cx="53" cy="10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895" name="Line 351"/>
              <p:cNvSpPr>
                <a:spLocks noChangeShapeType="1"/>
              </p:cNvSpPr>
              <p:nvPr/>
            </p:nvSpPr>
            <p:spPr bwMode="auto">
              <a:xfrm flipV="1">
                <a:off x="4649" y="2598"/>
                <a:ext cx="1" cy="15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896" name="Freeform 352"/>
              <p:cNvSpPr>
                <a:spLocks/>
              </p:cNvSpPr>
              <p:nvPr/>
            </p:nvSpPr>
            <p:spPr bwMode="auto">
              <a:xfrm>
                <a:off x="4623" y="2369"/>
                <a:ext cx="53" cy="10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2897" name="Freeform 353"/>
              <p:cNvSpPr>
                <a:spLocks/>
              </p:cNvSpPr>
              <p:nvPr/>
            </p:nvSpPr>
            <p:spPr bwMode="auto">
              <a:xfrm>
                <a:off x="2854" y="2294"/>
                <a:ext cx="1795" cy="1151"/>
              </a:xfrm>
              <a:custGeom>
                <a:avLst/>
                <a:gdLst>
                  <a:gd name="T0" fmla="*/ 1722 w 1722"/>
                  <a:gd name="T1" fmla="*/ 88 h 1101"/>
                  <a:gd name="T2" fmla="*/ 1722 w 1722"/>
                  <a:gd name="T3" fmla="*/ 0 h 1101"/>
                  <a:gd name="T4" fmla="*/ 710 w 1722"/>
                  <a:gd name="T5" fmla="*/ 0 h 1101"/>
                  <a:gd name="T6" fmla="*/ 710 w 1722"/>
                  <a:gd name="T7" fmla="*/ 1101 h 1101"/>
                  <a:gd name="T8" fmla="*/ 0 w 1722"/>
                  <a:gd name="T9" fmla="*/ 1101 h 1101"/>
                  <a:gd name="T10" fmla="*/ 0 w 1722"/>
                  <a:gd name="T11" fmla="*/ 979 h 1101"/>
                </a:gdLst>
                <a:ahLst/>
                <a:cxnLst>
                  <a:cxn ang="0">
                    <a:pos x="T0" y="T1"/>
                  </a:cxn>
                  <a:cxn ang="0">
                    <a:pos x="T2" y="T3"/>
                  </a:cxn>
                  <a:cxn ang="0">
                    <a:pos x="T4" y="T5"/>
                  </a:cxn>
                  <a:cxn ang="0">
                    <a:pos x="T6" y="T7"/>
                  </a:cxn>
                  <a:cxn ang="0">
                    <a:pos x="T8" y="T9"/>
                  </a:cxn>
                  <a:cxn ang="0">
                    <a:pos x="T10" y="T11"/>
                  </a:cxn>
                </a:cxnLst>
                <a:rect l="0" t="0" r="r" b="b"/>
                <a:pathLst>
                  <a:path w="1722" h="1101">
                    <a:moveTo>
                      <a:pt x="1722" y="88"/>
                    </a:moveTo>
                    <a:lnTo>
                      <a:pt x="1722" y="0"/>
                    </a:lnTo>
                    <a:lnTo>
                      <a:pt x="710" y="0"/>
                    </a:lnTo>
                    <a:lnTo>
                      <a:pt x="710" y="1101"/>
                    </a:lnTo>
                    <a:lnTo>
                      <a:pt x="0" y="1101"/>
                    </a:lnTo>
                    <a:lnTo>
                      <a:pt x="0" y="979"/>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898" name="Line 354"/>
              <p:cNvSpPr>
                <a:spLocks noChangeShapeType="1"/>
              </p:cNvSpPr>
              <p:nvPr/>
            </p:nvSpPr>
            <p:spPr bwMode="auto">
              <a:xfrm flipH="1">
                <a:off x="4597" y="2618"/>
                <a:ext cx="105" cy="10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899" name="Rectangle 355"/>
              <p:cNvSpPr>
                <a:spLocks noChangeArrowheads="1"/>
              </p:cNvSpPr>
              <p:nvPr/>
            </p:nvSpPr>
            <p:spPr bwMode="auto">
              <a:xfrm>
                <a:off x="3637" y="3296"/>
                <a:ext cx="10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16</a:t>
                </a:r>
                <a:endParaRPr lang="en-US" altLang="en-US"/>
              </a:p>
            </p:txBody>
          </p:sp>
          <p:sp>
            <p:nvSpPr>
              <p:cNvPr id="492900" name="Line 356"/>
              <p:cNvSpPr>
                <a:spLocks noChangeShapeType="1"/>
              </p:cNvSpPr>
              <p:nvPr/>
            </p:nvSpPr>
            <p:spPr bwMode="auto">
              <a:xfrm flipH="1">
                <a:off x="3542" y="3288"/>
                <a:ext cx="104" cy="10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2901" name="Rectangle 357"/>
              <p:cNvSpPr>
                <a:spLocks noChangeArrowheads="1"/>
              </p:cNvSpPr>
              <p:nvPr/>
            </p:nvSpPr>
            <p:spPr bwMode="auto">
              <a:xfrm>
                <a:off x="4370" y="2477"/>
                <a:ext cx="560" cy="118"/>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2902" name="Rectangle 358"/>
              <p:cNvSpPr>
                <a:spLocks noChangeArrowheads="1"/>
              </p:cNvSpPr>
              <p:nvPr/>
            </p:nvSpPr>
            <p:spPr bwMode="auto">
              <a:xfrm>
                <a:off x="4562" y="2469"/>
                <a:ext cx="177"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&gt;&gt;1</a:t>
                </a:r>
                <a:endParaRPr lang="en-US" altLang="en-US"/>
              </a:p>
            </p:txBody>
          </p:sp>
        </p:gr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lide Number Placeholder 3"/>
          <p:cNvSpPr>
            <a:spLocks noGrp="1"/>
          </p:cNvSpPr>
          <p:nvPr>
            <p:ph type="sldNum" sz="quarter" idx="10"/>
          </p:nvPr>
        </p:nvSpPr>
        <p:spPr/>
        <p:txBody>
          <a:bodyPr/>
          <a:lstStyle/>
          <a:p>
            <a:fld id="{DBEB2C37-CFAC-4EB8-A001-FB203A54A1C8}" type="slidenum">
              <a:rPr lang="en-US" altLang="en-US"/>
              <a:pPr/>
              <a:t>24</a:t>
            </a:fld>
            <a:endParaRPr lang="en-US" altLang="en-US"/>
          </a:p>
        </p:txBody>
      </p:sp>
      <p:sp>
        <p:nvSpPr>
          <p:cNvPr id="493570" name="Rectangle 2"/>
          <p:cNvSpPr>
            <a:spLocks noGrp="1" noChangeArrowheads="1"/>
          </p:cNvSpPr>
          <p:nvPr>
            <p:ph type="title"/>
          </p:nvPr>
        </p:nvSpPr>
        <p:spPr/>
        <p:txBody>
          <a:bodyPr/>
          <a:lstStyle/>
          <a:p>
            <a:r>
              <a:rPr lang="en-US" altLang="en-US"/>
              <a:t>Step 4: Deriving the Controller’s FSM</a:t>
            </a:r>
          </a:p>
        </p:txBody>
      </p:sp>
      <p:sp>
        <p:nvSpPr>
          <p:cNvPr id="493571" name="Rectangle 3"/>
          <p:cNvSpPr>
            <a:spLocks noGrp="1" noChangeArrowheads="1"/>
          </p:cNvSpPr>
          <p:nvPr>
            <p:ph type="body" idx="1"/>
          </p:nvPr>
        </p:nvSpPr>
        <p:spPr>
          <a:xfrm>
            <a:off x="-63500" y="3376613"/>
            <a:ext cx="2706688" cy="2597150"/>
          </a:xfrm>
        </p:spPr>
        <p:txBody>
          <a:bodyPr/>
          <a:lstStyle/>
          <a:p>
            <a:pPr>
              <a:lnSpc>
                <a:spcPct val="90000"/>
              </a:lnSpc>
            </a:pPr>
            <a:r>
              <a:rPr lang="en-US" altLang="en-US" sz="2000"/>
              <a:t>FSM has same structure as high-level state machine</a:t>
            </a:r>
          </a:p>
          <a:p>
            <a:pPr lvl="1">
              <a:lnSpc>
                <a:spcPct val="90000"/>
              </a:lnSpc>
            </a:pPr>
            <a:r>
              <a:rPr lang="en-US" altLang="en-US" sz="1800"/>
              <a:t>Inputs/outputs all bits now</a:t>
            </a:r>
          </a:p>
          <a:p>
            <a:pPr lvl="1">
              <a:lnSpc>
                <a:spcPct val="90000"/>
              </a:lnSpc>
            </a:pPr>
            <a:r>
              <a:rPr lang="en-US" altLang="en-US" sz="1800"/>
              <a:t>Replace data operations by bit operations using datapath</a:t>
            </a:r>
          </a:p>
        </p:txBody>
      </p:sp>
      <p:grpSp>
        <p:nvGrpSpPr>
          <p:cNvPr id="493572" name="Group 4"/>
          <p:cNvGrpSpPr>
            <a:grpSpLocks/>
          </p:cNvGrpSpPr>
          <p:nvPr/>
        </p:nvGrpSpPr>
        <p:grpSpPr bwMode="auto">
          <a:xfrm>
            <a:off x="155575" y="1300163"/>
            <a:ext cx="3035300" cy="1787525"/>
            <a:chOff x="1017" y="779"/>
            <a:chExt cx="3620" cy="1506"/>
          </a:xfrm>
        </p:grpSpPr>
        <p:sp>
          <p:nvSpPr>
            <p:cNvPr id="493573" name="Rectangle 5"/>
            <p:cNvSpPr>
              <a:spLocks noChangeArrowheads="1"/>
            </p:cNvSpPr>
            <p:nvPr/>
          </p:nvSpPr>
          <p:spPr bwMode="auto">
            <a:xfrm>
              <a:off x="1796" y="800"/>
              <a:ext cx="2110" cy="148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574" name="Line 6"/>
            <p:cNvSpPr>
              <a:spLocks noChangeShapeType="1"/>
            </p:cNvSpPr>
            <p:nvPr/>
          </p:nvSpPr>
          <p:spPr bwMode="auto">
            <a:xfrm flipH="1">
              <a:off x="1574" y="2019"/>
              <a:ext cx="1669"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75" name="Freeform 7"/>
            <p:cNvSpPr>
              <a:spLocks/>
            </p:cNvSpPr>
            <p:nvPr/>
          </p:nvSpPr>
          <p:spPr bwMode="auto">
            <a:xfrm>
              <a:off x="1487" y="1994"/>
              <a:ext cx="100" cy="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76" name="Line 8"/>
            <p:cNvSpPr>
              <a:spLocks noChangeShapeType="1"/>
            </p:cNvSpPr>
            <p:nvPr/>
          </p:nvSpPr>
          <p:spPr bwMode="auto">
            <a:xfrm flipH="1">
              <a:off x="2737" y="1069"/>
              <a:ext cx="136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77" name="Freeform 9"/>
            <p:cNvSpPr>
              <a:spLocks/>
            </p:cNvSpPr>
            <p:nvPr/>
          </p:nvSpPr>
          <p:spPr bwMode="auto">
            <a:xfrm>
              <a:off x="2649" y="1044"/>
              <a:ext cx="100" cy="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78" name="Line 10"/>
            <p:cNvSpPr>
              <a:spLocks noChangeShapeType="1"/>
            </p:cNvSpPr>
            <p:nvPr/>
          </p:nvSpPr>
          <p:spPr bwMode="auto">
            <a:xfrm>
              <a:off x="2646" y="925"/>
              <a:ext cx="1385"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79" name="Freeform 11"/>
            <p:cNvSpPr>
              <a:spLocks/>
            </p:cNvSpPr>
            <p:nvPr/>
          </p:nvSpPr>
          <p:spPr bwMode="auto">
            <a:xfrm>
              <a:off x="4021" y="900"/>
              <a:ext cx="100" cy="50"/>
            </a:xfrm>
            <a:custGeom>
              <a:avLst/>
              <a:gdLst>
                <a:gd name="T0" fmla="*/ 100 w 100"/>
                <a:gd name="T1" fmla="*/ 25 h 50"/>
                <a:gd name="T2" fmla="*/ 0 w 100"/>
                <a:gd name="T3" fmla="*/ 50 h 50"/>
                <a:gd name="T4" fmla="*/ 0 w 100"/>
                <a:gd name="T5" fmla="*/ 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50"/>
                  </a:lnTo>
                  <a:lnTo>
                    <a:pt x="0" y="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80" name="Line 12"/>
            <p:cNvSpPr>
              <a:spLocks noChangeShapeType="1"/>
            </p:cNvSpPr>
            <p:nvPr/>
          </p:nvSpPr>
          <p:spPr bwMode="auto">
            <a:xfrm>
              <a:off x="1571" y="969"/>
              <a:ext cx="36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81" name="Freeform 13"/>
            <p:cNvSpPr>
              <a:spLocks/>
            </p:cNvSpPr>
            <p:nvPr/>
          </p:nvSpPr>
          <p:spPr bwMode="auto">
            <a:xfrm>
              <a:off x="1921" y="944"/>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82" name="Line 14"/>
            <p:cNvSpPr>
              <a:spLocks noChangeShapeType="1"/>
            </p:cNvSpPr>
            <p:nvPr/>
          </p:nvSpPr>
          <p:spPr bwMode="auto">
            <a:xfrm>
              <a:off x="2927" y="2144"/>
              <a:ext cx="24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83" name="Freeform 15"/>
            <p:cNvSpPr>
              <a:spLocks/>
            </p:cNvSpPr>
            <p:nvPr/>
          </p:nvSpPr>
          <p:spPr bwMode="auto">
            <a:xfrm>
              <a:off x="3153" y="2119"/>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84" name="Line 16"/>
            <p:cNvSpPr>
              <a:spLocks noChangeShapeType="1"/>
            </p:cNvSpPr>
            <p:nvPr/>
          </p:nvSpPr>
          <p:spPr bwMode="auto">
            <a:xfrm>
              <a:off x="2640" y="1910"/>
              <a:ext cx="51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85" name="Freeform 17"/>
            <p:cNvSpPr>
              <a:spLocks/>
            </p:cNvSpPr>
            <p:nvPr/>
          </p:nvSpPr>
          <p:spPr bwMode="auto">
            <a:xfrm>
              <a:off x="3143" y="1885"/>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86" name="Line 18"/>
            <p:cNvSpPr>
              <a:spLocks noChangeShapeType="1"/>
            </p:cNvSpPr>
            <p:nvPr/>
          </p:nvSpPr>
          <p:spPr bwMode="auto">
            <a:xfrm>
              <a:off x="2640" y="1685"/>
              <a:ext cx="51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87" name="Freeform 19"/>
            <p:cNvSpPr>
              <a:spLocks/>
            </p:cNvSpPr>
            <p:nvPr/>
          </p:nvSpPr>
          <p:spPr bwMode="auto">
            <a:xfrm>
              <a:off x="3143" y="1660"/>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88" name="Line 20"/>
            <p:cNvSpPr>
              <a:spLocks noChangeShapeType="1"/>
            </p:cNvSpPr>
            <p:nvPr/>
          </p:nvSpPr>
          <p:spPr bwMode="auto">
            <a:xfrm>
              <a:off x="2640" y="1463"/>
              <a:ext cx="51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89" name="Freeform 21"/>
            <p:cNvSpPr>
              <a:spLocks/>
            </p:cNvSpPr>
            <p:nvPr/>
          </p:nvSpPr>
          <p:spPr bwMode="auto">
            <a:xfrm>
              <a:off x="3143" y="143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90" name="Line 22"/>
            <p:cNvSpPr>
              <a:spLocks noChangeShapeType="1"/>
            </p:cNvSpPr>
            <p:nvPr/>
          </p:nvSpPr>
          <p:spPr bwMode="auto">
            <a:xfrm>
              <a:off x="2640" y="1238"/>
              <a:ext cx="51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91" name="Freeform 23"/>
            <p:cNvSpPr>
              <a:spLocks/>
            </p:cNvSpPr>
            <p:nvPr/>
          </p:nvSpPr>
          <p:spPr bwMode="auto">
            <a:xfrm>
              <a:off x="3143" y="1213"/>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92" name="Freeform 24"/>
            <p:cNvSpPr>
              <a:spLocks/>
            </p:cNvSpPr>
            <p:nvPr/>
          </p:nvSpPr>
          <p:spPr bwMode="auto">
            <a:xfrm>
              <a:off x="1855" y="1632"/>
              <a:ext cx="169" cy="522"/>
            </a:xfrm>
            <a:custGeom>
              <a:avLst/>
              <a:gdLst>
                <a:gd name="T0" fmla="*/ 85 w 169"/>
                <a:gd name="T1" fmla="*/ 0 h 522"/>
                <a:gd name="T2" fmla="*/ 0 w 169"/>
                <a:gd name="T3" fmla="*/ 0 h 522"/>
                <a:gd name="T4" fmla="*/ 0 w 169"/>
                <a:gd name="T5" fmla="*/ 522 h 522"/>
                <a:gd name="T6" fmla="*/ 169 w 169"/>
                <a:gd name="T7" fmla="*/ 522 h 522"/>
              </a:gdLst>
              <a:ahLst/>
              <a:cxnLst>
                <a:cxn ang="0">
                  <a:pos x="T0" y="T1"/>
                </a:cxn>
                <a:cxn ang="0">
                  <a:pos x="T2" y="T3"/>
                </a:cxn>
                <a:cxn ang="0">
                  <a:pos x="T4" y="T5"/>
                </a:cxn>
                <a:cxn ang="0">
                  <a:pos x="T6" y="T7"/>
                </a:cxn>
              </a:cxnLst>
              <a:rect l="0" t="0" r="r" b="b"/>
              <a:pathLst>
                <a:path w="169" h="522">
                  <a:moveTo>
                    <a:pt x="85" y="0"/>
                  </a:moveTo>
                  <a:lnTo>
                    <a:pt x="0" y="0"/>
                  </a:lnTo>
                  <a:lnTo>
                    <a:pt x="0" y="522"/>
                  </a:lnTo>
                  <a:lnTo>
                    <a:pt x="169" y="5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593" name="Freeform 25"/>
            <p:cNvSpPr>
              <a:spLocks/>
            </p:cNvSpPr>
            <p:nvPr/>
          </p:nvSpPr>
          <p:spPr bwMode="auto">
            <a:xfrm>
              <a:off x="1921" y="1607"/>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94" name="Freeform 26"/>
            <p:cNvSpPr>
              <a:spLocks/>
            </p:cNvSpPr>
            <p:nvPr/>
          </p:nvSpPr>
          <p:spPr bwMode="auto">
            <a:xfrm>
              <a:off x="2034" y="1578"/>
              <a:ext cx="103" cy="104"/>
            </a:xfrm>
            <a:custGeom>
              <a:avLst/>
              <a:gdLst>
                <a:gd name="T0" fmla="*/ 0 w 103"/>
                <a:gd name="T1" fmla="*/ 104 h 104"/>
                <a:gd name="T2" fmla="*/ 103 w 103"/>
                <a:gd name="T3" fmla="*/ 50 h 104"/>
                <a:gd name="T4" fmla="*/ 0 w 103"/>
                <a:gd name="T5" fmla="*/ 0 h 104"/>
              </a:gdLst>
              <a:ahLst/>
              <a:cxnLst>
                <a:cxn ang="0">
                  <a:pos x="T0" y="T1"/>
                </a:cxn>
                <a:cxn ang="0">
                  <a:pos x="T2" y="T3"/>
                </a:cxn>
                <a:cxn ang="0">
                  <a:pos x="T4" y="T5"/>
                </a:cxn>
              </a:cxnLst>
              <a:rect l="0" t="0" r="r" b="b"/>
              <a:pathLst>
                <a:path w="103" h="104">
                  <a:moveTo>
                    <a:pt x="0" y="104"/>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595" name="Freeform 27"/>
            <p:cNvSpPr>
              <a:spLocks/>
            </p:cNvSpPr>
            <p:nvPr/>
          </p:nvSpPr>
          <p:spPr bwMode="auto">
            <a:xfrm>
              <a:off x="3253" y="2088"/>
              <a:ext cx="103" cy="106"/>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596" name="Freeform 28"/>
            <p:cNvSpPr>
              <a:spLocks/>
            </p:cNvSpPr>
            <p:nvPr/>
          </p:nvSpPr>
          <p:spPr bwMode="auto">
            <a:xfrm>
              <a:off x="1637" y="1969"/>
              <a:ext cx="109" cy="110"/>
            </a:xfrm>
            <a:custGeom>
              <a:avLst/>
              <a:gdLst>
                <a:gd name="T0" fmla="*/ 109 w 109"/>
                <a:gd name="T1" fmla="*/ 0 h 110"/>
                <a:gd name="T2" fmla="*/ 0 w 109"/>
                <a:gd name="T3" fmla="*/ 110 h 110"/>
                <a:gd name="T4" fmla="*/ 109 w 109"/>
                <a:gd name="T5" fmla="*/ 0 h 110"/>
              </a:gdLst>
              <a:ahLst/>
              <a:cxnLst>
                <a:cxn ang="0">
                  <a:pos x="T0" y="T1"/>
                </a:cxn>
                <a:cxn ang="0">
                  <a:pos x="T2" y="T3"/>
                </a:cxn>
                <a:cxn ang="0">
                  <a:pos x="T4" y="T5"/>
                </a:cxn>
              </a:cxnLst>
              <a:rect l="0" t="0" r="r" b="b"/>
              <a:pathLst>
                <a:path w="109" h="110">
                  <a:moveTo>
                    <a:pt x="109" y="0"/>
                  </a:moveTo>
                  <a:lnTo>
                    <a:pt x="0" y="110"/>
                  </a:lnTo>
                  <a:lnTo>
                    <a:pt x="10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597" name="Line 29"/>
            <p:cNvSpPr>
              <a:spLocks noChangeShapeType="1"/>
            </p:cNvSpPr>
            <p:nvPr/>
          </p:nvSpPr>
          <p:spPr bwMode="auto">
            <a:xfrm flipH="1">
              <a:off x="1637" y="1969"/>
              <a:ext cx="109" cy="11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598" name="Rectangle 30"/>
            <p:cNvSpPr>
              <a:spLocks noChangeArrowheads="1"/>
            </p:cNvSpPr>
            <p:nvPr/>
          </p:nvSpPr>
          <p:spPr bwMode="auto">
            <a:xfrm>
              <a:off x="2187" y="2092"/>
              <a:ext cx="280"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300 M</a:t>
              </a:r>
              <a:endParaRPr lang="en-US" altLang="en-US" sz="700"/>
            </a:p>
          </p:txBody>
        </p:sp>
        <p:sp>
          <p:nvSpPr>
            <p:cNvPr id="493599" name="Rectangle 31"/>
            <p:cNvSpPr>
              <a:spLocks noChangeArrowheads="1"/>
            </p:cNvSpPr>
            <p:nvPr/>
          </p:nvSpPr>
          <p:spPr bwMode="auto">
            <a:xfrm>
              <a:off x="2439" y="2092"/>
              <a:ext cx="7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H</a:t>
              </a:r>
              <a:endParaRPr lang="en-US" altLang="en-US" sz="700"/>
            </a:p>
          </p:txBody>
        </p:sp>
        <p:sp>
          <p:nvSpPr>
            <p:cNvPr id="493600" name="Rectangle 32"/>
            <p:cNvSpPr>
              <a:spLocks noChangeArrowheads="1"/>
            </p:cNvSpPr>
            <p:nvPr/>
          </p:nvSpPr>
          <p:spPr bwMode="auto">
            <a:xfrm>
              <a:off x="2509" y="2092"/>
              <a:ext cx="327"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z Clock</a:t>
              </a:r>
              <a:endParaRPr lang="en-US" altLang="en-US" sz="700"/>
            </a:p>
          </p:txBody>
        </p:sp>
        <p:sp>
          <p:nvSpPr>
            <p:cNvPr id="493601" name="Rectangle 33"/>
            <p:cNvSpPr>
              <a:spLocks noChangeArrowheads="1"/>
            </p:cNvSpPr>
            <p:nvPr/>
          </p:nvSpPr>
          <p:spPr bwMode="auto">
            <a:xfrm>
              <a:off x="1653" y="1865"/>
              <a:ext cx="7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D</a:t>
              </a:r>
              <a:endParaRPr lang="en-US" altLang="en-US" sz="700"/>
            </a:p>
          </p:txBody>
        </p:sp>
        <p:sp>
          <p:nvSpPr>
            <p:cNvPr id="493602" name="Rectangle 34"/>
            <p:cNvSpPr>
              <a:spLocks noChangeArrowheads="1"/>
            </p:cNvSpPr>
            <p:nvPr/>
          </p:nvSpPr>
          <p:spPr bwMode="auto">
            <a:xfrm>
              <a:off x="1593" y="837"/>
              <a:ext cx="70"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B</a:t>
              </a:r>
              <a:endParaRPr lang="en-US" altLang="en-US" sz="700"/>
            </a:p>
          </p:txBody>
        </p:sp>
        <p:sp>
          <p:nvSpPr>
            <p:cNvPr id="493603" name="Rectangle 35"/>
            <p:cNvSpPr>
              <a:spLocks noChangeArrowheads="1"/>
            </p:cNvSpPr>
            <p:nvPr/>
          </p:nvSpPr>
          <p:spPr bwMode="auto">
            <a:xfrm>
              <a:off x="4024" y="779"/>
              <a:ext cx="64"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L</a:t>
              </a:r>
              <a:endParaRPr lang="en-US" altLang="en-US" sz="700"/>
            </a:p>
          </p:txBody>
        </p:sp>
        <p:sp>
          <p:nvSpPr>
            <p:cNvPr id="493604" name="Rectangle 36"/>
            <p:cNvSpPr>
              <a:spLocks noChangeArrowheads="1"/>
            </p:cNvSpPr>
            <p:nvPr/>
          </p:nvSpPr>
          <p:spPr bwMode="auto">
            <a:xfrm>
              <a:off x="4024" y="1095"/>
              <a:ext cx="58"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S</a:t>
              </a:r>
              <a:endParaRPr lang="en-US" altLang="en-US" sz="700"/>
            </a:p>
          </p:txBody>
        </p:sp>
        <p:sp>
          <p:nvSpPr>
            <p:cNvPr id="493605" name="Rectangle 37"/>
            <p:cNvSpPr>
              <a:spLocks noChangeArrowheads="1"/>
            </p:cNvSpPr>
            <p:nvPr/>
          </p:nvSpPr>
          <p:spPr bwMode="auto">
            <a:xfrm>
              <a:off x="1636" y="2082"/>
              <a:ext cx="106"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16</a:t>
              </a:r>
              <a:endParaRPr lang="en-US" altLang="en-US" sz="700"/>
            </a:p>
          </p:txBody>
        </p:sp>
        <p:sp>
          <p:nvSpPr>
            <p:cNvPr id="493606" name="Rectangle 38"/>
            <p:cNvSpPr>
              <a:spLocks noChangeArrowheads="1"/>
            </p:cNvSpPr>
            <p:nvPr/>
          </p:nvSpPr>
          <p:spPr bwMode="auto">
            <a:xfrm>
              <a:off x="1070" y="1955"/>
              <a:ext cx="30"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a:t>
              </a:r>
              <a:endParaRPr lang="en-US" altLang="en-US" sz="700"/>
            </a:p>
          </p:txBody>
        </p:sp>
        <p:sp>
          <p:nvSpPr>
            <p:cNvPr id="493607" name="Rectangle 39"/>
            <p:cNvSpPr>
              <a:spLocks noChangeArrowheads="1"/>
            </p:cNvSpPr>
            <p:nvPr/>
          </p:nvSpPr>
          <p:spPr bwMode="auto">
            <a:xfrm>
              <a:off x="1104" y="1955"/>
              <a:ext cx="288"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o displ</a:t>
              </a:r>
              <a:endParaRPr lang="en-US" altLang="en-US" sz="700"/>
            </a:p>
          </p:txBody>
        </p:sp>
        <p:sp>
          <p:nvSpPr>
            <p:cNvPr id="493608" name="Rectangle 40"/>
            <p:cNvSpPr>
              <a:spLocks noChangeArrowheads="1"/>
            </p:cNvSpPr>
            <p:nvPr/>
          </p:nvSpPr>
          <p:spPr bwMode="auto">
            <a:xfrm>
              <a:off x="1381" y="1955"/>
              <a:ext cx="47"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a</a:t>
              </a:r>
              <a:endParaRPr lang="en-US" altLang="en-US" sz="700"/>
            </a:p>
          </p:txBody>
        </p:sp>
        <p:sp>
          <p:nvSpPr>
            <p:cNvPr id="493609" name="Rectangle 41"/>
            <p:cNvSpPr>
              <a:spLocks noChangeArrowheads="1"/>
            </p:cNvSpPr>
            <p:nvPr/>
          </p:nvSpPr>
          <p:spPr bwMode="auto">
            <a:xfrm>
              <a:off x="1428" y="1955"/>
              <a:ext cx="53"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y</a:t>
              </a:r>
              <a:endParaRPr lang="en-US" altLang="en-US" sz="700"/>
            </a:p>
          </p:txBody>
        </p:sp>
        <p:sp>
          <p:nvSpPr>
            <p:cNvPr id="493610" name="Rectangle 42"/>
            <p:cNvSpPr>
              <a:spLocks noChangeArrowheads="1"/>
            </p:cNvSpPr>
            <p:nvPr/>
          </p:nvSpPr>
          <p:spPr bwMode="auto">
            <a:xfrm>
              <a:off x="1017" y="906"/>
              <a:ext cx="3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f</a:t>
              </a:r>
              <a:endParaRPr lang="en-US" altLang="en-US" sz="700"/>
            </a:p>
          </p:txBody>
        </p:sp>
        <p:sp>
          <p:nvSpPr>
            <p:cNvPr id="493611" name="Rectangle 43"/>
            <p:cNvSpPr>
              <a:spLocks noChangeArrowheads="1"/>
            </p:cNvSpPr>
            <p:nvPr/>
          </p:nvSpPr>
          <p:spPr bwMode="auto">
            <a:xfrm>
              <a:off x="1044" y="906"/>
              <a:ext cx="35"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r</a:t>
              </a:r>
              <a:endParaRPr lang="en-US" altLang="en-US" sz="700"/>
            </a:p>
          </p:txBody>
        </p:sp>
        <p:sp>
          <p:nvSpPr>
            <p:cNvPr id="493612" name="Rectangle 44"/>
            <p:cNvSpPr>
              <a:spLocks noChangeArrowheads="1"/>
            </p:cNvSpPr>
            <p:nvPr/>
          </p:nvSpPr>
          <p:spPr bwMode="auto">
            <a:xfrm>
              <a:off x="1078" y="906"/>
              <a:ext cx="299"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om but</a:t>
              </a:r>
              <a:endParaRPr lang="en-US" altLang="en-US" sz="700"/>
            </a:p>
          </p:txBody>
        </p:sp>
        <p:sp>
          <p:nvSpPr>
            <p:cNvPr id="493613" name="Rectangle 45"/>
            <p:cNvSpPr>
              <a:spLocks noChangeArrowheads="1"/>
            </p:cNvSpPr>
            <p:nvPr/>
          </p:nvSpPr>
          <p:spPr bwMode="auto">
            <a:xfrm>
              <a:off x="1382" y="906"/>
              <a:ext cx="31"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a:t>
              </a:r>
              <a:endParaRPr lang="en-US" altLang="en-US" sz="700"/>
            </a:p>
          </p:txBody>
        </p:sp>
        <p:sp>
          <p:nvSpPr>
            <p:cNvPr id="493614" name="Rectangle 46"/>
            <p:cNvSpPr>
              <a:spLocks noChangeArrowheads="1"/>
            </p:cNvSpPr>
            <p:nvPr/>
          </p:nvSpPr>
          <p:spPr bwMode="auto">
            <a:xfrm>
              <a:off x="1415" y="906"/>
              <a:ext cx="10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on</a:t>
              </a:r>
              <a:endParaRPr lang="en-US" altLang="en-US" sz="700"/>
            </a:p>
          </p:txBody>
        </p:sp>
        <p:sp>
          <p:nvSpPr>
            <p:cNvPr id="493615" name="Rectangle 47"/>
            <p:cNvSpPr>
              <a:spLocks noChangeArrowheads="1"/>
            </p:cNvSpPr>
            <p:nvPr/>
          </p:nvSpPr>
          <p:spPr bwMode="auto">
            <a:xfrm>
              <a:off x="2115" y="984"/>
              <a:ext cx="70"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C</a:t>
              </a:r>
              <a:endParaRPr lang="en-US" altLang="en-US" sz="700"/>
            </a:p>
          </p:txBody>
        </p:sp>
        <p:sp>
          <p:nvSpPr>
            <p:cNvPr id="493616" name="Rectangle 48"/>
            <p:cNvSpPr>
              <a:spLocks noChangeArrowheads="1"/>
            </p:cNvSpPr>
            <p:nvPr/>
          </p:nvSpPr>
          <p:spPr bwMode="auto">
            <a:xfrm>
              <a:off x="2174" y="984"/>
              <a:ext cx="53"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o</a:t>
              </a:r>
              <a:endParaRPr lang="en-US" altLang="en-US" sz="700"/>
            </a:p>
          </p:txBody>
        </p:sp>
        <p:sp>
          <p:nvSpPr>
            <p:cNvPr id="493617" name="Rectangle 49"/>
            <p:cNvSpPr>
              <a:spLocks noChangeArrowheads="1"/>
            </p:cNvSpPr>
            <p:nvPr/>
          </p:nvSpPr>
          <p:spPr bwMode="auto">
            <a:xfrm>
              <a:off x="2229" y="984"/>
              <a:ext cx="53"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n</a:t>
              </a:r>
              <a:endParaRPr lang="en-US" altLang="en-US" sz="700"/>
            </a:p>
          </p:txBody>
        </p:sp>
        <p:sp>
          <p:nvSpPr>
            <p:cNvPr id="493618" name="Rectangle 50"/>
            <p:cNvSpPr>
              <a:spLocks noChangeArrowheads="1"/>
            </p:cNvSpPr>
            <p:nvPr/>
          </p:nvSpPr>
          <p:spPr bwMode="auto">
            <a:xfrm>
              <a:off x="2282" y="984"/>
              <a:ext cx="30"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a:t>
              </a:r>
              <a:endParaRPr lang="en-US" altLang="en-US" sz="700"/>
            </a:p>
          </p:txBody>
        </p:sp>
        <p:sp>
          <p:nvSpPr>
            <p:cNvPr id="493619" name="Rectangle 51"/>
            <p:cNvSpPr>
              <a:spLocks noChangeArrowheads="1"/>
            </p:cNvSpPr>
            <p:nvPr/>
          </p:nvSpPr>
          <p:spPr bwMode="auto">
            <a:xfrm>
              <a:off x="2320" y="984"/>
              <a:ext cx="36"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r</a:t>
              </a:r>
              <a:endParaRPr lang="en-US" altLang="en-US" sz="700"/>
            </a:p>
          </p:txBody>
        </p:sp>
        <p:sp>
          <p:nvSpPr>
            <p:cNvPr id="493620" name="Rectangle 52"/>
            <p:cNvSpPr>
              <a:spLocks noChangeArrowheads="1"/>
            </p:cNvSpPr>
            <p:nvPr/>
          </p:nvSpPr>
          <p:spPr bwMode="auto">
            <a:xfrm>
              <a:off x="2350" y="984"/>
              <a:ext cx="197"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oller</a:t>
              </a:r>
              <a:endParaRPr lang="en-US" altLang="en-US" sz="700"/>
            </a:p>
          </p:txBody>
        </p:sp>
        <p:sp>
          <p:nvSpPr>
            <p:cNvPr id="493621" name="Rectangle 53"/>
            <p:cNvSpPr>
              <a:spLocks noChangeArrowheads="1"/>
            </p:cNvSpPr>
            <p:nvPr/>
          </p:nvSpPr>
          <p:spPr bwMode="auto">
            <a:xfrm>
              <a:off x="4137" y="861"/>
              <a:ext cx="30"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a:t>
              </a:r>
              <a:endParaRPr lang="en-US" altLang="en-US" sz="700"/>
            </a:p>
          </p:txBody>
        </p:sp>
        <p:sp>
          <p:nvSpPr>
            <p:cNvPr id="493622" name="Rectangle 54"/>
            <p:cNvSpPr>
              <a:spLocks noChangeArrowheads="1"/>
            </p:cNvSpPr>
            <p:nvPr/>
          </p:nvSpPr>
          <p:spPr bwMode="auto">
            <a:xfrm>
              <a:off x="4169" y="861"/>
              <a:ext cx="282"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o laser</a:t>
              </a:r>
              <a:endParaRPr lang="en-US" altLang="en-US" sz="700"/>
            </a:p>
          </p:txBody>
        </p:sp>
        <p:sp>
          <p:nvSpPr>
            <p:cNvPr id="493623" name="Rectangle 55"/>
            <p:cNvSpPr>
              <a:spLocks noChangeArrowheads="1"/>
            </p:cNvSpPr>
            <p:nvPr/>
          </p:nvSpPr>
          <p:spPr bwMode="auto">
            <a:xfrm>
              <a:off x="4137" y="1010"/>
              <a:ext cx="3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f</a:t>
              </a:r>
              <a:endParaRPr lang="en-US" altLang="en-US" sz="700"/>
            </a:p>
          </p:txBody>
        </p:sp>
        <p:sp>
          <p:nvSpPr>
            <p:cNvPr id="493624" name="Rectangle 56"/>
            <p:cNvSpPr>
              <a:spLocks noChangeArrowheads="1"/>
            </p:cNvSpPr>
            <p:nvPr/>
          </p:nvSpPr>
          <p:spPr bwMode="auto">
            <a:xfrm>
              <a:off x="4167" y="1009"/>
              <a:ext cx="3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r</a:t>
              </a:r>
              <a:endParaRPr lang="en-US" altLang="en-US" sz="700"/>
            </a:p>
          </p:txBody>
        </p:sp>
        <p:sp>
          <p:nvSpPr>
            <p:cNvPr id="493625" name="Rectangle 57"/>
            <p:cNvSpPr>
              <a:spLocks noChangeArrowheads="1"/>
            </p:cNvSpPr>
            <p:nvPr/>
          </p:nvSpPr>
          <p:spPr bwMode="auto">
            <a:xfrm>
              <a:off x="4201" y="1009"/>
              <a:ext cx="43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om sensor</a:t>
              </a:r>
              <a:endParaRPr lang="en-US" altLang="en-US" sz="700"/>
            </a:p>
          </p:txBody>
        </p:sp>
        <p:sp>
          <p:nvSpPr>
            <p:cNvPr id="493626" name="Rectangle 58"/>
            <p:cNvSpPr>
              <a:spLocks noChangeArrowheads="1"/>
            </p:cNvSpPr>
            <p:nvPr/>
          </p:nvSpPr>
          <p:spPr bwMode="auto">
            <a:xfrm>
              <a:off x="3355" y="1560"/>
              <a:ext cx="7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D</a:t>
              </a:r>
              <a:endParaRPr lang="en-US" altLang="en-US" sz="700"/>
            </a:p>
          </p:txBody>
        </p:sp>
        <p:sp>
          <p:nvSpPr>
            <p:cNvPr id="493627" name="Rectangle 59"/>
            <p:cNvSpPr>
              <a:spLocks noChangeArrowheads="1"/>
            </p:cNvSpPr>
            <p:nvPr/>
          </p:nvSpPr>
          <p:spPr bwMode="auto">
            <a:xfrm>
              <a:off x="3423" y="1560"/>
              <a:ext cx="48"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a</a:t>
              </a:r>
              <a:endParaRPr lang="en-US" altLang="en-US" sz="700"/>
            </a:p>
          </p:txBody>
        </p:sp>
        <p:sp>
          <p:nvSpPr>
            <p:cNvPr id="493628" name="Rectangle 60"/>
            <p:cNvSpPr>
              <a:spLocks noChangeArrowheads="1"/>
            </p:cNvSpPr>
            <p:nvPr/>
          </p:nvSpPr>
          <p:spPr bwMode="auto">
            <a:xfrm>
              <a:off x="3467" y="1560"/>
              <a:ext cx="130"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tap</a:t>
              </a:r>
              <a:endParaRPr lang="en-US" altLang="en-US" sz="700"/>
            </a:p>
          </p:txBody>
        </p:sp>
        <p:sp>
          <p:nvSpPr>
            <p:cNvPr id="493629" name="Rectangle 61"/>
            <p:cNvSpPr>
              <a:spLocks noChangeArrowheads="1"/>
            </p:cNvSpPr>
            <p:nvPr/>
          </p:nvSpPr>
          <p:spPr bwMode="auto">
            <a:xfrm>
              <a:off x="3609" y="1560"/>
              <a:ext cx="47"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a</a:t>
              </a:r>
              <a:endParaRPr lang="en-US" altLang="en-US" sz="700"/>
            </a:p>
          </p:txBody>
        </p:sp>
        <p:sp>
          <p:nvSpPr>
            <p:cNvPr id="493630" name="Rectangle 62"/>
            <p:cNvSpPr>
              <a:spLocks noChangeArrowheads="1"/>
            </p:cNvSpPr>
            <p:nvPr/>
          </p:nvSpPr>
          <p:spPr bwMode="auto">
            <a:xfrm>
              <a:off x="3660" y="1560"/>
              <a:ext cx="83"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th</a:t>
              </a:r>
              <a:endParaRPr lang="en-US" altLang="en-US" sz="700"/>
            </a:p>
          </p:txBody>
        </p:sp>
        <p:sp>
          <p:nvSpPr>
            <p:cNvPr id="493631" name="Rectangle 63"/>
            <p:cNvSpPr>
              <a:spLocks noChangeArrowheads="1"/>
            </p:cNvSpPr>
            <p:nvPr/>
          </p:nvSpPr>
          <p:spPr bwMode="auto">
            <a:xfrm>
              <a:off x="2732" y="1101"/>
              <a:ext cx="7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D</a:t>
              </a:r>
              <a:endParaRPr lang="en-US" altLang="en-US" sz="700"/>
            </a:p>
          </p:txBody>
        </p:sp>
        <p:sp>
          <p:nvSpPr>
            <p:cNvPr id="493632" name="Rectangle 64"/>
            <p:cNvSpPr>
              <a:spLocks noChangeArrowheads="1"/>
            </p:cNvSpPr>
            <p:nvPr/>
          </p:nvSpPr>
          <p:spPr bwMode="auto">
            <a:xfrm>
              <a:off x="2797" y="1101"/>
              <a:ext cx="3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r</a:t>
              </a:r>
              <a:endParaRPr lang="en-US" altLang="en-US" sz="700"/>
            </a:p>
          </p:txBody>
        </p:sp>
        <p:sp>
          <p:nvSpPr>
            <p:cNvPr id="493633" name="Rectangle 65"/>
            <p:cNvSpPr>
              <a:spLocks noChangeArrowheads="1"/>
            </p:cNvSpPr>
            <p:nvPr/>
          </p:nvSpPr>
          <p:spPr bwMode="auto">
            <a:xfrm>
              <a:off x="2831" y="1101"/>
              <a:ext cx="267"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eg_clr</a:t>
              </a:r>
              <a:endParaRPr lang="en-US" altLang="en-US" sz="700"/>
            </a:p>
          </p:txBody>
        </p:sp>
        <p:sp>
          <p:nvSpPr>
            <p:cNvPr id="493634" name="Rectangle 66"/>
            <p:cNvSpPr>
              <a:spLocks noChangeArrowheads="1"/>
            </p:cNvSpPr>
            <p:nvPr/>
          </p:nvSpPr>
          <p:spPr bwMode="auto">
            <a:xfrm>
              <a:off x="2732" y="1334"/>
              <a:ext cx="7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D</a:t>
              </a:r>
              <a:endParaRPr lang="en-US" altLang="en-US" sz="700"/>
            </a:p>
          </p:txBody>
        </p:sp>
        <p:sp>
          <p:nvSpPr>
            <p:cNvPr id="493635" name="Rectangle 67"/>
            <p:cNvSpPr>
              <a:spLocks noChangeArrowheads="1"/>
            </p:cNvSpPr>
            <p:nvPr/>
          </p:nvSpPr>
          <p:spPr bwMode="auto">
            <a:xfrm>
              <a:off x="2797" y="1334"/>
              <a:ext cx="3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r</a:t>
              </a:r>
              <a:endParaRPr lang="en-US" altLang="en-US" sz="700"/>
            </a:p>
          </p:txBody>
        </p:sp>
        <p:sp>
          <p:nvSpPr>
            <p:cNvPr id="493636" name="Rectangle 68"/>
            <p:cNvSpPr>
              <a:spLocks noChangeArrowheads="1"/>
            </p:cNvSpPr>
            <p:nvPr/>
          </p:nvSpPr>
          <p:spPr bwMode="auto">
            <a:xfrm>
              <a:off x="2831" y="1334"/>
              <a:ext cx="23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eg_ld</a:t>
              </a:r>
              <a:endParaRPr lang="en-US" altLang="en-US" sz="700"/>
            </a:p>
          </p:txBody>
        </p:sp>
        <p:sp>
          <p:nvSpPr>
            <p:cNvPr id="493637" name="Rectangle 69"/>
            <p:cNvSpPr>
              <a:spLocks noChangeArrowheads="1"/>
            </p:cNvSpPr>
            <p:nvPr/>
          </p:nvSpPr>
          <p:spPr bwMode="auto">
            <a:xfrm>
              <a:off x="2732" y="1553"/>
              <a:ext cx="76"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D</a:t>
              </a:r>
              <a:endParaRPr lang="en-US" altLang="en-US" sz="700"/>
            </a:p>
          </p:txBody>
        </p:sp>
        <p:sp>
          <p:nvSpPr>
            <p:cNvPr id="493638" name="Rectangle 70"/>
            <p:cNvSpPr>
              <a:spLocks noChangeArrowheads="1"/>
            </p:cNvSpPr>
            <p:nvPr/>
          </p:nvSpPr>
          <p:spPr bwMode="auto">
            <a:xfrm>
              <a:off x="2799" y="1553"/>
              <a:ext cx="47"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c</a:t>
              </a:r>
              <a:endParaRPr lang="en-US" altLang="en-US" sz="700"/>
            </a:p>
          </p:txBody>
        </p:sp>
        <p:sp>
          <p:nvSpPr>
            <p:cNvPr id="493639" name="Rectangle 71"/>
            <p:cNvSpPr>
              <a:spLocks noChangeArrowheads="1"/>
            </p:cNvSpPr>
            <p:nvPr/>
          </p:nvSpPr>
          <p:spPr bwMode="auto">
            <a:xfrm>
              <a:off x="2844" y="1553"/>
              <a:ext cx="233" cy="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tr_clr</a:t>
              </a:r>
              <a:endParaRPr lang="en-US" altLang="en-US" sz="700"/>
            </a:p>
          </p:txBody>
        </p:sp>
        <p:sp>
          <p:nvSpPr>
            <p:cNvPr id="493640" name="Rectangle 72"/>
            <p:cNvSpPr>
              <a:spLocks noChangeArrowheads="1"/>
            </p:cNvSpPr>
            <p:nvPr/>
          </p:nvSpPr>
          <p:spPr bwMode="auto">
            <a:xfrm>
              <a:off x="2732" y="1769"/>
              <a:ext cx="76"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D</a:t>
              </a:r>
              <a:endParaRPr lang="en-US" altLang="en-US" sz="700"/>
            </a:p>
          </p:txBody>
        </p:sp>
        <p:sp>
          <p:nvSpPr>
            <p:cNvPr id="493641" name="Rectangle 73"/>
            <p:cNvSpPr>
              <a:spLocks noChangeArrowheads="1"/>
            </p:cNvSpPr>
            <p:nvPr/>
          </p:nvSpPr>
          <p:spPr bwMode="auto">
            <a:xfrm>
              <a:off x="2799" y="1769"/>
              <a:ext cx="47"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c</a:t>
              </a:r>
              <a:endParaRPr lang="en-US" altLang="en-US" sz="700"/>
            </a:p>
          </p:txBody>
        </p:sp>
        <p:sp>
          <p:nvSpPr>
            <p:cNvPr id="493642" name="Rectangle 74"/>
            <p:cNvSpPr>
              <a:spLocks noChangeArrowheads="1"/>
            </p:cNvSpPr>
            <p:nvPr/>
          </p:nvSpPr>
          <p:spPr bwMode="auto">
            <a:xfrm>
              <a:off x="2844" y="1769"/>
              <a:ext cx="167"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tr_c</a:t>
              </a:r>
              <a:endParaRPr lang="en-US" altLang="en-US" sz="700"/>
            </a:p>
          </p:txBody>
        </p:sp>
        <p:sp>
          <p:nvSpPr>
            <p:cNvPr id="493643" name="Rectangle 75"/>
            <p:cNvSpPr>
              <a:spLocks noChangeArrowheads="1"/>
            </p:cNvSpPr>
            <p:nvPr/>
          </p:nvSpPr>
          <p:spPr bwMode="auto">
            <a:xfrm>
              <a:off x="3007" y="1769"/>
              <a:ext cx="53"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n</a:t>
              </a:r>
              <a:endParaRPr lang="en-US" altLang="en-US" sz="700"/>
            </a:p>
          </p:txBody>
        </p:sp>
        <p:sp>
          <p:nvSpPr>
            <p:cNvPr id="493644" name="Rectangle 76"/>
            <p:cNvSpPr>
              <a:spLocks noChangeArrowheads="1"/>
            </p:cNvSpPr>
            <p:nvPr/>
          </p:nvSpPr>
          <p:spPr bwMode="auto">
            <a:xfrm>
              <a:off x="3058" y="1769"/>
              <a:ext cx="30"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700">
                  <a:solidFill>
                    <a:srgbClr val="000000"/>
                  </a:solidFill>
                  <a:latin typeface="Myriad Roman" charset="0"/>
                </a:rPr>
                <a:t>t</a:t>
              </a:r>
              <a:endParaRPr lang="en-US" altLang="en-US" sz="700"/>
            </a:p>
          </p:txBody>
        </p:sp>
        <p:sp>
          <p:nvSpPr>
            <p:cNvPr id="493645" name="Rectangle 77"/>
            <p:cNvSpPr>
              <a:spLocks noChangeArrowheads="1"/>
            </p:cNvSpPr>
            <p:nvPr/>
          </p:nvSpPr>
          <p:spPr bwMode="auto">
            <a:xfrm>
              <a:off x="2030" y="853"/>
              <a:ext cx="607" cy="111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646" name="Rectangle 78"/>
            <p:cNvSpPr>
              <a:spLocks noChangeArrowheads="1"/>
            </p:cNvSpPr>
            <p:nvPr/>
          </p:nvSpPr>
          <p:spPr bwMode="auto">
            <a:xfrm>
              <a:off x="3246" y="1125"/>
              <a:ext cx="610" cy="110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647" name="Rectangle 79"/>
            <p:cNvSpPr>
              <a:spLocks noChangeArrowheads="1"/>
            </p:cNvSpPr>
            <p:nvPr/>
          </p:nvSpPr>
          <p:spPr bwMode="auto">
            <a:xfrm>
              <a:off x="2030" y="2072"/>
              <a:ext cx="894" cy="15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93911" name="Group 343"/>
          <p:cNvGrpSpPr>
            <a:grpSpLocks/>
          </p:cNvGrpSpPr>
          <p:nvPr/>
        </p:nvGrpSpPr>
        <p:grpSpPr bwMode="auto">
          <a:xfrm>
            <a:off x="2579688" y="3370263"/>
            <a:ext cx="3522662" cy="392112"/>
            <a:chOff x="1625" y="2123"/>
            <a:chExt cx="2219" cy="247"/>
          </a:xfrm>
        </p:grpSpPr>
        <p:sp>
          <p:nvSpPr>
            <p:cNvPr id="493649" name="Rectangle 81"/>
            <p:cNvSpPr>
              <a:spLocks noChangeArrowheads="1"/>
            </p:cNvSpPr>
            <p:nvPr/>
          </p:nvSpPr>
          <p:spPr bwMode="auto">
            <a:xfrm>
              <a:off x="1644" y="2123"/>
              <a:ext cx="53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Inputs: B, S</a:t>
              </a:r>
              <a:endParaRPr lang="en-US" altLang="en-US" sz="2400"/>
            </a:p>
          </p:txBody>
        </p:sp>
        <p:sp>
          <p:nvSpPr>
            <p:cNvPr id="493654" name="Rectangle 86"/>
            <p:cNvSpPr>
              <a:spLocks noChangeArrowheads="1"/>
            </p:cNvSpPr>
            <p:nvPr/>
          </p:nvSpPr>
          <p:spPr bwMode="auto">
            <a:xfrm>
              <a:off x="1625" y="2245"/>
              <a:ext cx="221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Outputs: L, Dreg_clr, Dreg_ld, Dctr_clr, Dctr_cnt</a:t>
              </a:r>
              <a:endParaRPr lang="en-US" altLang="en-US" sz="2400"/>
            </a:p>
          </p:txBody>
        </p:sp>
      </p:grpSp>
      <p:grpSp>
        <p:nvGrpSpPr>
          <p:cNvPr id="493901" name="Group 333"/>
          <p:cNvGrpSpPr>
            <a:grpSpLocks/>
          </p:cNvGrpSpPr>
          <p:nvPr/>
        </p:nvGrpSpPr>
        <p:grpSpPr bwMode="auto">
          <a:xfrm>
            <a:off x="2678113" y="2819400"/>
            <a:ext cx="5378450" cy="2468563"/>
            <a:chOff x="1687" y="1776"/>
            <a:chExt cx="3388" cy="1555"/>
          </a:xfrm>
        </p:grpSpPr>
        <p:sp>
          <p:nvSpPr>
            <p:cNvPr id="493676" name="Rectangle 108"/>
            <p:cNvSpPr>
              <a:spLocks noChangeArrowheads="1"/>
            </p:cNvSpPr>
            <p:nvPr/>
          </p:nvSpPr>
          <p:spPr bwMode="auto">
            <a:xfrm>
              <a:off x="1992" y="2960"/>
              <a:ext cx="1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S0</a:t>
              </a:r>
              <a:endParaRPr lang="en-US" altLang="en-US" sz="2400"/>
            </a:p>
          </p:txBody>
        </p:sp>
        <p:sp>
          <p:nvSpPr>
            <p:cNvPr id="493677" name="Oval 109"/>
            <p:cNvSpPr>
              <a:spLocks noChangeArrowheads="1"/>
            </p:cNvSpPr>
            <p:nvPr/>
          </p:nvSpPr>
          <p:spPr bwMode="auto">
            <a:xfrm>
              <a:off x="1831" y="2867"/>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678" name="Line 110"/>
            <p:cNvSpPr>
              <a:spLocks noChangeShapeType="1"/>
            </p:cNvSpPr>
            <p:nvPr/>
          </p:nvSpPr>
          <p:spPr bwMode="auto">
            <a:xfrm>
              <a:off x="2247" y="3017"/>
              <a:ext cx="20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679" name="Freeform 111"/>
            <p:cNvSpPr>
              <a:spLocks/>
            </p:cNvSpPr>
            <p:nvPr/>
          </p:nvSpPr>
          <p:spPr bwMode="auto">
            <a:xfrm>
              <a:off x="2437" y="299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680" name="Line 112"/>
            <p:cNvSpPr>
              <a:spLocks noChangeShapeType="1"/>
            </p:cNvSpPr>
            <p:nvPr/>
          </p:nvSpPr>
          <p:spPr bwMode="auto">
            <a:xfrm>
              <a:off x="2950" y="3017"/>
              <a:ext cx="21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681" name="Freeform 113"/>
            <p:cNvSpPr>
              <a:spLocks/>
            </p:cNvSpPr>
            <p:nvPr/>
          </p:nvSpPr>
          <p:spPr bwMode="auto">
            <a:xfrm>
              <a:off x="3147" y="299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682" name="Rectangle 114"/>
            <p:cNvSpPr>
              <a:spLocks noChangeArrowheads="1"/>
            </p:cNvSpPr>
            <p:nvPr/>
          </p:nvSpPr>
          <p:spPr bwMode="auto">
            <a:xfrm>
              <a:off x="2699" y="2960"/>
              <a:ext cx="1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S1</a:t>
              </a:r>
              <a:endParaRPr lang="en-US" altLang="en-US" sz="2400"/>
            </a:p>
          </p:txBody>
        </p:sp>
        <p:sp>
          <p:nvSpPr>
            <p:cNvPr id="493683" name="Rectangle 115"/>
            <p:cNvSpPr>
              <a:spLocks noChangeArrowheads="1"/>
            </p:cNvSpPr>
            <p:nvPr/>
          </p:nvSpPr>
          <p:spPr bwMode="auto">
            <a:xfrm>
              <a:off x="3411" y="2960"/>
              <a:ext cx="1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S2</a:t>
              </a:r>
              <a:endParaRPr lang="en-US" altLang="en-US" sz="2400"/>
            </a:p>
          </p:txBody>
        </p:sp>
        <p:sp>
          <p:nvSpPr>
            <p:cNvPr id="493684" name="Oval 116"/>
            <p:cNvSpPr>
              <a:spLocks noChangeArrowheads="1"/>
            </p:cNvSpPr>
            <p:nvPr/>
          </p:nvSpPr>
          <p:spPr bwMode="auto">
            <a:xfrm>
              <a:off x="3250" y="2867"/>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685" name="Line 117"/>
            <p:cNvSpPr>
              <a:spLocks noChangeShapeType="1"/>
            </p:cNvSpPr>
            <p:nvPr/>
          </p:nvSpPr>
          <p:spPr bwMode="auto">
            <a:xfrm>
              <a:off x="3666" y="3017"/>
              <a:ext cx="20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686" name="Freeform 118"/>
            <p:cNvSpPr>
              <a:spLocks/>
            </p:cNvSpPr>
            <p:nvPr/>
          </p:nvSpPr>
          <p:spPr bwMode="auto">
            <a:xfrm>
              <a:off x="3856" y="299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687" name="Line 119"/>
            <p:cNvSpPr>
              <a:spLocks noChangeShapeType="1"/>
            </p:cNvSpPr>
            <p:nvPr/>
          </p:nvSpPr>
          <p:spPr bwMode="auto">
            <a:xfrm>
              <a:off x="4372" y="3017"/>
              <a:ext cx="20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688" name="Freeform 120"/>
            <p:cNvSpPr>
              <a:spLocks/>
            </p:cNvSpPr>
            <p:nvPr/>
          </p:nvSpPr>
          <p:spPr bwMode="auto">
            <a:xfrm>
              <a:off x="4560" y="299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689" name="Rectangle 121"/>
            <p:cNvSpPr>
              <a:spLocks noChangeArrowheads="1"/>
            </p:cNvSpPr>
            <p:nvPr/>
          </p:nvSpPr>
          <p:spPr bwMode="auto">
            <a:xfrm>
              <a:off x="4118" y="2960"/>
              <a:ext cx="1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S3</a:t>
              </a:r>
              <a:endParaRPr lang="en-US" altLang="en-US" sz="2400"/>
            </a:p>
          </p:txBody>
        </p:sp>
        <p:sp>
          <p:nvSpPr>
            <p:cNvPr id="493690" name="Freeform 122"/>
            <p:cNvSpPr>
              <a:spLocks/>
            </p:cNvSpPr>
            <p:nvPr/>
          </p:nvSpPr>
          <p:spPr bwMode="auto">
            <a:xfrm>
              <a:off x="2537" y="2635"/>
              <a:ext cx="413" cy="263"/>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691" name="Freeform 123"/>
            <p:cNvSpPr>
              <a:spLocks/>
            </p:cNvSpPr>
            <p:nvPr/>
          </p:nvSpPr>
          <p:spPr bwMode="auto">
            <a:xfrm>
              <a:off x="2522" y="2807"/>
              <a:ext cx="81" cy="94"/>
            </a:xfrm>
            <a:custGeom>
              <a:avLst/>
              <a:gdLst>
                <a:gd name="T0" fmla="*/ 81 w 81"/>
                <a:gd name="T1" fmla="*/ 94 h 94"/>
                <a:gd name="T2" fmla="*/ 37 w 81"/>
                <a:gd name="T3" fmla="*/ 0 h 94"/>
                <a:gd name="T4" fmla="*/ 0 w 81"/>
                <a:gd name="T5" fmla="*/ 32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2"/>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692" name="Freeform 124"/>
            <p:cNvSpPr>
              <a:spLocks/>
            </p:cNvSpPr>
            <p:nvPr/>
          </p:nvSpPr>
          <p:spPr bwMode="auto">
            <a:xfrm>
              <a:off x="1800" y="2817"/>
              <a:ext cx="94" cy="87"/>
            </a:xfrm>
            <a:custGeom>
              <a:avLst/>
              <a:gdLst>
                <a:gd name="T0" fmla="*/ 94 w 94"/>
                <a:gd name="T1" fmla="*/ 87 h 87"/>
                <a:gd name="T2" fmla="*/ 34 w 94"/>
                <a:gd name="T3" fmla="*/ 0 h 87"/>
                <a:gd name="T4" fmla="*/ 0 w 94"/>
                <a:gd name="T5" fmla="*/ 37 h 87"/>
                <a:gd name="T6" fmla="*/ 94 w 94"/>
                <a:gd name="T7" fmla="*/ 87 h 87"/>
              </a:gdLst>
              <a:ahLst/>
              <a:cxnLst>
                <a:cxn ang="0">
                  <a:pos x="T0" y="T1"/>
                </a:cxn>
                <a:cxn ang="0">
                  <a:pos x="T2" y="T3"/>
                </a:cxn>
                <a:cxn ang="0">
                  <a:pos x="T4" y="T5"/>
                </a:cxn>
                <a:cxn ang="0">
                  <a:pos x="T6" y="T7"/>
                </a:cxn>
              </a:cxnLst>
              <a:rect l="0" t="0" r="r" b="b"/>
              <a:pathLst>
                <a:path w="94" h="87">
                  <a:moveTo>
                    <a:pt x="94" y="87"/>
                  </a:moveTo>
                  <a:lnTo>
                    <a:pt x="34" y="0"/>
                  </a:lnTo>
                  <a:lnTo>
                    <a:pt x="0" y="37"/>
                  </a:lnTo>
                  <a:lnTo>
                    <a:pt x="94"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693" name="Rectangle 125"/>
            <p:cNvSpPr>
              <a:spLocks noChangeArrowheads="1"/>
            </p:cNvSpPr>
            <p:nvPr/>
          </p:nvSpPr>
          <p:spPr bwMode="auto">
            <a:xfrm>
              <a:off x="1951" y="3206"/>
              <a:ext cx="2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3694" name="Rectangle 126"/>
            <p:cNvSpPr>
              <a:spLocks noChangeArrowheads="1"/>
            </p:cNvSpPr>
            <p:nvPr/>
          </p:nvSpPr>
          <p:spPr bwMode="auto">
            <a:xfrm>
              <a:off x="3376" y="3206"/>
              <a:ext cx="2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1</a:t>
              </a:r>
              <a:endParaRPr lang="en-US" altLang="en-US" sz="2400"/>
            </a:p>
          </p:txBody>
        </p:sp>
        <p:sp>
          <p:nvSpPr>
            <p:cNvPr id="493695" name="Rectangle 127"/>
            <p:cNvSpPr>
              <a:spLocks noChangeArrowheads="1"/>
            </p:cNvSpPr>
            <p:nvPr/>
          </p:nvSpPr>
          <p:spPr bwMode="auto">
            <a:xfrm>
              <a:off x="4078" y="3206"/>
              <a:ext cx="2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3696" name="Rectangle 128"/>
            <p:cNvSpPr>
              <a:spLocks noChangeArrowheads="1"/>
            </p:cNvSpPr>
            <p:nvPr/>
          </p:nvSpPr>
          <p:spPr bwMode="auto">
            <a:xfrm>
              <a:off x="2644" y="3206"/>
              <a:ext cx="2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3697" name="Rectangle 129"/>
            <p:cNvSpPr>
              <a:spLocks noChangeArrowheads="1"/>
            </p:cNvSpPr>
            <p:nvPr/>
          </p:nvSpPr>
          <p:spPr bwMode="auto">
            <a:xfrm>
              <a:off x="2716" y="2491"/>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3699" name="Freeform 131"/>
            <p:cNvSpPr>
              <a:spLocks/>
            </p:cNvSpPr>
            <p:nvPr/>
          </p:nvSpPr>
          <p:spPr bwMode="auto">
            <a:xfrm>
              <a:off x="3953" y="2635"/>
              <a:ext cx="413" cy="263"/>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700" name="Freeform 132"/>
            <p:cNvSpPr>
              <a:spLocks/>
            </p:cNvSpPr>
            <p:nvPr/>
          </p:nvSpPr>
          <p:spPr bwMode="auto">
            <a:xfrm>
              <a:off x="3938" y="2807"/>
              <a:ext cx="81" cy="94"/>
            </a:xfrm>
            <a:custGeom>
              <a:avLst/>
              <a:gdLst>
                <a:gd name="T0" fmla="*/ 81 w 81"/>
                <a:gd name="T1" fmla="*/ 94 h 94"/>
                <a:gd name="T2" fmla="*/ 37 w 81"/>
                <a:gd name="T3" fmla="*/ 0 h 94"/>
                <a:gd name="T4" fmla="*/ 0 w 81"/>
                <a:gd name="T5" fmla="*/ 32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2"/>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701" name="Rectangle 133"/>
            <p:cNvSpPr>
              <a:spLocks noChangeArrowheads="1"/>
            </p:cNvSpPr>
            <p:nvPr/>
          </p:nvSpPr>
          <p:spPr bwMode="auto">
            <a:xfrm>
              <a:off x="4101" y="2497"/>
              <a:ext cx="9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3703" name="Rectangle 135"/>
            <p:cNvSpPr>
              <a:spLocks noChangeArrowheads="1"/>
            </p:cNvSpPr>
            <p:nvPr/>
          </p:nvSpPr>
          <p:spPr bwMode="auto">
            <a:xfrm>
              <a:off x="3120" y="2887"/>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3704" name="Rectangle 136"/>
            <p:cNvSpPr>
              <a:spLocks noChangeArrowheads="1"/>
            </p:cNvSpPr>
            <p:nvPr/>
          </p:nvSpPr>
          <p:spPr bwMode="auto">
            <a:xfrm>
              <a:off x="4454" y="2887"/>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3705" name="Oval 137"/>
            <p:cNvSpPr>
              <a:spLocks noChangeArrowheads="1"/>
            </p:cNvSpPr>
            <p:nvPr/>
          </p:nvSpPr>
          <p:spPr bwMode="auto">
            <a:xfrm>
              <a:off x="3956" y="2867"/>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706" name="Rectangle 138"/>
            <p:cNvSpPr>
              <a:spLocks noChangeArrowheads="1"/>
            </p:cNvSpPr>
            <p:nvPr/>
          </p:nvSpPr>
          <p:spPr bwMode="auto">
            <a:xfrm>
              <a:off x="4824" y="2960"/>
              <a:ext cx="1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S4</a:t>
              </a:r>
              <a:endParaRPr lang="en-US" altLang="en-US" sz="2400"/>
            </a:p>
          </p:txBody>
        </p:sp>
        <p:sp>
          <p:nvSpPr>
            <p:cNvPr id="493707" name="Oval 139"/>
            <p:cNvSpPr>
              <a:spLocks noChangeArrowheads="1"/>
            </p:cNvSpPr>
            <p:nvPr/>
          </p:nvSpPr>
          <p:spPr bwMode="auto">
            <a:xfrm>
              <a:off x="2537" y="2867"/>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769" name="Rectangle 201"/>
            <p:cNvSpPr>
              <a:spLocks noChangeArrowheads="1"/>
            </p:cNvSpPr>
            <p:nvPr/>
          </p:nvSpPr>
          <p:spPr bwMode="auto">
            <a:xfrm>
              <a:off x="4795" y="3206"/>
              <a:ext cx="2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3812" name="Oval 244"/>
            <p:cNvSpPr>
              <a:spLocks noChangeArrowheads="1"/>
            </p:cNvSpPr>
            <p:nvPr/>
          </p:nvSpPr>
          <p:spPr bwMode="auto">
            <a:xfrm>
              <a:off x="4663" y="2867"/>
              <a:ext cx="412"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813" name="Line 245"/>
            <p:cNvSpPr>
              <a:spLocks noChangeShapeType="1"/>
            </p:cNvSpPr>
            <p:nvPr/>
          </p:nvSpPr>
          <p:spPr bwMode="auto">
            <a:xfrm>
              <a:off x="1687" y="2723"/>
              <a:ext cx="144" cy="12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814" name="Freeform 246"/>
            <p:cNvSpPr>
              <a:spLocks/>
            </p:cNvSpPr>
            <p:nvPr/>
          </p:nvSpPr>
          <p:spPr bwMode="auto">
            <a:xfrm>
              <a:off x="2937" y="2851"/>
              <a:ext cx="88" cy="91"/>
            </a:xfrm>
            <a:custGeom>
              <a:avLst/>
              <a:gdLst>
                <a:gd name="T0" fmla="*/ 0 w 88"/>
                <a:gd name="T1" fmla="*/ 91 h 91"/>
                <a:gd name="T2" fmla="*/ 88 w 88"/>
                <a:gd name="T3" fmla="*/ 34 h 91"/>
                <a:gd name="T4" fmla="*/ 50 w 88"/>
                <a:gd name="T5" fmla="*/ 0 h 91"/>
                <a:gd name="T6" fmla="*/ 0 w 88"/>
                <a:gd name="T7" fmla="*/ 91 h 91"/>
              </a:gdLst>
              <a:ahLst/>
              <a:cxnLst>
                <a:cxn ang="0">
                  <a:pos x="T0" y="T1"/>
                </a:cxn>
                <a:cxn ang="0">
                  <a:pos x="T2" y="T3"/>
                </a:cxn>
                <a:cxn ang="0">
                  <a:pos x="T4" y="T5"/>
                </a:cxn>
                <a:cxn ang="0">
                  <a:pos x="T6" y="T7"/>
                </a:cxn>
              </a:cxnLst>
              <a:rect l="0" t="0" r="r" b="b"/>
              <a:pathLst>
                <a:path w="88" h="91">
                  <a:moveTo>
                    <a:pt x="0" y="91"/>
                  </a:moveTo>
                  <a:lnTo>
                    <a:pt x="88" y="34"/>
                  </a:lnTo>
                  <a:lnTo>
                    <a:pt x="50" y="0"/>
                  </a:lnTo>
                  <a:lnTo>
                    <a:pt x="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15" name="Freeform 247"/>
            <p:cNvSpPr>
              <a:spLocks/>
            </p:cNvSpPr>
            <p:nvPr/>
          </p:nvSpPr>
          <p:spPr bwMode="auto">
            <a:xfrm>
              <a:off x="2972" y="1776"/>
              <a:ext cx="1881" cy="1125"/>
            </a:xfrm>
            <a:custGeom>
              <a:avLst/>
              <a:gdLst>
                <a:gd name="T0" fmla="*/ 602 w 602"/>
                <a:gd name="T1" fmla="*/ 349 h 360"/>
                <a:gd name="T2" fmla="*/ 0 w 602"/>
                <a:gd name="T3" fmla="*/ 360 h 360"/>
              </a:gdLst>
              <a:ahLst/>
              <a:cxnLst>
                <a:cxn ang="0">
                  <a:pos x="T0" y="T1"/>
                </a:cxn>
                <a:cxn ang="0">
                  <a:pos x="T2" y="T3"/>
                </a:cxn>
              </a:cxnLst>
              <a:rect l="0" t="0" r="r" b="b"/>
              <a:pathLst>
                <a:path w="602" h="360">
                  <a:moveTo>
                    <a:pt x="602" y="349"/>
                  </a:moveTo>
                  <a:cubicBezTo>
                    <a:pt x="602" y="349"/>
                    <a:pt x="346" y="0"/>
                    <a:pt x="0" y="36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493910" name="Group 342"/>
          <p:cNvGrpSpPr>
            <a:grpSpLocks/>
          </p:cNvGrpSpPr>
          <p:nvPr/>
        </p:nvGrpSpPr>
        <p:grpSpPr bwMode="auto">
          <a:xfrm>
            <a:off x="2957513" y="684213"/>
            <a:ext cx="6013450" cy="2597150"/>
            <a:chOff x="1863" y="431"/>
            <a:chExt cx="3788" cy="1636"/>
          </a:xfrm>
        </p:grpSpPr>
        <p:sp>
          <p:nvSpPr>
            <p:cNvPr id="493816" name="Rectangle 248"/>
            <p:cNvSpPr>
              <a:spLocks noChangeArrowheads="1"/>
            </p:cNvSpPr>
            <p:nvPr/>
          </p:nvSpPr>
          <p:spPr bwMode="auto">
            <a:xfrm>
              <a:off x="2275" y="746"/>
              <a:ext cx="125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Inputs: B, S (1 bit each)</a:t>
              </a:r>
              <a:endParaRPr lang="en-US" altLang="en-US" sz="2800"/>
            </a:p>
          </p:txBody>
        </p:sp>
        <p:sp>
          <p:nvSpPr>
            <p:cNvPr id="493824" name="Rectangle 256"/>
            <p:cNvSpPr>
              <a:spLocks noChangeArrowheads="1"/>
            </p:cNvSpPr>
            <p:nvPr/>
          </p:nvSpPr>
          <p:spPr bwMode="auto">
            <a:xfrm>
              <a:off x="3710" y="746"/>
              <a:ext cx="14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Outputs: L (bit), D (16 bits)</a:t>
              </a:r>
              <a:endParaRPr lang="en-US" altLang="en-US" sz="2800"/>
            </a:p>
          </p:txBody>
        </p:sp>
        <p:sp>
          <p:nvSpPr>
            <p:cNvPr id="493826" name="Rectangle 258"/>
            <p:cNvSpPr>
              <a:spLocks noChangeArrowheads="1"/>
            </p:cNvSpPr>
            <p:nvPr/>
          </p:nvSpPr>
          <p:spPr bwMode="auto">
            <a:xfrm>
              <a:off x="2757" y="857"/>
              <a:ext cx="158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Local Registers: Dctr (16 bits)</a:t>
              </a:r>
              <a:endParaRPr lang="en-US" altLang="en-US" sz="2800"/>
            </a:p>
          </p:txBody>
        </p:sp>
        <p:sp>
          <p:nvSpPr>
            <p:cNvPr id="493838" name="Rectangle 270"/>
            <p:cNvSpPr>
              <a:spLocks noChangeArrowheads="1"/>
            </p:cNvSpPr>
            <p:nvPr/>
          </p:nvSpPr>
          <p:spPr bwMode="auto">
            <a:xfrm>
              <a:off x="2192" y="1578"/>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S0</a:t>
              </a:r>
              <a:endParaRPr lang="en-US" altLang="en-US" sz="2800"/>
            </a:p>
          </p:txBody>
        </p:sp>
        <p:sp>
          <p:nvSpPr>
            <p:cNvPr id="493839" name="Oval 271"/>
            <p:cNvSpPr>
              <a:spLocks noChangeArrowheads="1"/>
            </p:cNvSpPr>
            <p:nvPr/>
          </p:nvSpPr>
          <p:spPr bwMode="auto">
            <a:xfrm>
              <a:off x="2021" y="1486"/>
              <a:ext cx="433" cy="284"/>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840" name="Line 272"/>
            <p:cNvSpPr>
              <a:spLocks noChangeShapeType="1"/>
            </p:cNvSpPr>
            <p:nvPr/>
          </p:nvSpPr>
          <p:spPr bwMode="auto">
            <a:xfrm>
              <a:off x="2459" y="1631"/>
              <a:ext cx="22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841" name="Freeform 273"/>
            <p:cNvSpPr>
              <a:spLocks/>
            </p:cNvSpPr>
            <p:nvPr/>
          </p:nvSpPr>
          <p:spPr bwMode="auto">
            <a:xfrm>
              <a:off x="2659" y="1607"/>
              <a:ext cx="105" cy="4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42" name="Line 274"/>
            <p:cNvSpPr>
              <a:spLocks noChangeShapeType="1"/>
            </p:cNvSpPr>
            <p:nvPr/>
          </p:nvSpPr>
          <p:spPr bwMode="auto">
            <a:xfrm>
              <a:off x="3199" y="1631"/>
              <a:ext cx="22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843" name="Freeform 275"/>
            <p:cNvSpPr>
              <a:spLocks/>
            </p:cNvSpPr>
            <p:nvPr/>
          </p:nvSpPr>
          <p:spPr bwMode="auto">
            <a:xfrm>
              <a:off x="3407" y="1607"/>
              <a:ext cx="105" cy="4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44" name="Rectangle 276"/>
            <p:cNvSpPr>
              <a:spLocks noChangeArrowheads="1"/>
            </p:cNvSpPr>
            <p:nvPr/>
          </p:nvSpPr>
          <p:spPr bwMode="auto">
            <a:xfrm>
              <a:off x="2934" y="1578"/>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S1</a:t>
              </a:r>
              <a:endParaRPr lang="en-US" altLang="en-US" sz="2800"/>
            </a:p>
          </p:txBody>
        </p:sp>
        <p:sp>
          <p:nvSpPr>
            <p:cNvPr id="493845" name="Rectangle 277"/>
            <p:cNvSpPr>
              <a:spLocks noChangeArrowheads="1"/>
            </p:cNvSpPr>
            <p:nvPr/>
          </p:nvSpPr>
          <p:spPr bwMode="auto">
            <a:xfrm>
              <a:off x="3685" y="1578"/>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S2</a:t>
              </a:r>
              <a:endParaRPr lang="en-US" altLang="en-US" sz="2800"/>
            </a:p>
          </p:txBody>
        </p:sp>
        <p:sp>
          <p:nvSpPr>
            <p:cNvPr id="493846" name="Oval 278"/>
            <p:cNvSpPr>
              <a:spLocks noChangeArrowheads="1"/>
            </p:cNvSpPr>
            <p:nvPr/>
          </p:nvSpPr>
          <p:spPr bwMode="auto">
            <a:xfrm>
              <a:off x="3515" y="1486"/>
              <a:ext cx="434" cy="284"/>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847" name="Line 279"/>
            <p:cNvSpPr>
              <a:spLocks noChangeShapeType="1"/>
            </p:cNvSpPr>
            <p:nvPr/>
          </p:nvSpPr>
          <p:spPr bwMode="auto">
            <a:xfrm>
              <a:off x="3952" y="1631"/>
              <a:ext cx="222"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848" name="Freeform 280"/>
            <p:cNvSpPr>
              <a:spLocks/>
            </p:cNvSpPr>
            <p:nvPr/>
          </p:nvSpPr>
          <p:spPr bwMode="auto">
            <a:xfrm>
              <a:off x="4153" y="1607"/>
              <a:ext cx="106" cy="4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49" name="Line 281"/>
            <p:cNvSpPr>
              <a:spLocks noChangeShapeType="1"/>
            </p:cNvSpPr>
            <p:nvPr/>
          </p:nvSpPr>
          <p:spPr bwMode="auto">
            <a:xfrm>
              <a:off x="4697" y="1631"/>
              <a:ext cx="21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3850" name="Freeform 282"/>
            <p:cNvSpPr>
              <a:spLocks/>
            </p:cNvSpPr>
            <p:nvPr/>
          </p:nvSpPr>
          <p:spPr bwMode="auto">
            <a:xfrm>
              <a:off x="4894" y="1607"/>
              <a:ext cx="105" cy="4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51" name="Rectangle 283"/>
            <p:cNvSpPr>
              <a:spLocks noChangeArrowheads="1"/>
            </p:cNvSpPr>
            <p:nvPr/>
          </p:nvSpPr>
          <p:spPr bwMode="auto">
            <a:xfrm>
              <a:off x="4428" y="1578"/>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S3</a:t>
              </a:r>
              <a:endParaRPr lang="en-US" altLang="en-US" sz="2800"/>
            </a:p>
          </p:txBody>
        </p:sp>
        <p:sp>
          <p:nvSpPr>
            <p:cNvPr id="493852" name="Freeform 284"/>
            <p:cNvSpPr>
              <a:spLocks/>
            </p:cNvSpPr>
            <p:nvPr/>
          </p:nvSpPr>
          <p:spPr bwMode="auto">
            <a:xfrm>
              <a:off x="2764" y="1262"/>
              <a:ext cx="435" cy="254"/>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853" name="Freeform 285"/>
            <p:cNvSpPr>
              <a:spLocks/>
            </p:cNvSpPr>
            <p:nvPr/>
          </p:nvSpPr>
          <p:spPr bwMode="auto">
            <a:xfrm>
              <a:off x="2748" y="1429"/>
              <a:ext cx="86" cy="91"/>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54" name="Freeform 286"/>
            <p:cNvSpPr>
              <a:spLocks/>
            </p:cNvSpPr>
            <p:nvPr/>
          </p:nvSpPr>
          <p:spPr bwMode="auto">
            <a:xfrm>
              <a:off x="1988" y="1437"/>
              <a:ext cx="99" cy="85"/>
            </a:xfrm>
            <a:custGeom>
              <a:avLst/>
              <a:gdLst>
                <a:gd name="T0" fmla="*/ 93 w 93"/>
                <a:gd name="T1" fmla="*/ 88 h 88"/>
                <a:gd name="T2" fmla="*/ 34 w 93"/>
                <a:gd name="T3" fmla="*/ 0 h 88"/>
                <a:gd name="T4" fmla="*/ 0 w 93"/>
                <a:gd name="T5" fmla="*/ 38 h 88"/>
                <a:gd name="T6" fmla="*/ 93 w 93"/>
                <a:gd name="T7" fmla="*/ 88 h 88"/>
              </a:gdLst>
              <a:ahLst/>
              <a:cxnLst>
                <a:cxn ang="0">
                  <a:pos x="T0" y="T1"/>
                </a:cxn>
                <a:cxn ang="0">
                  <a:pos x="T2" y="T3"/>
                </a:cxn>
                <a:cxn ang="0">
                  <a:pos x="T4" y="T5"/>
                </a:cxn>
                <a:cxn ang="0">
                  <a:pos x="T6" y="T7"/>
                </a:cxn>
              </a:cxnLst>
              <a:rect l="0" t="0" r="r" b="b"/>
              <a:pathLst>
                <a:path w="93" h="88">
                  <a:moveTo>
                    <a:pt x="93" y="88"/>
                  </a:moveTo>
                  <a:lnTo>
                    <a:pt x="34" y="0"/>
                  </a:lnTo>
                  <a:lnTo>
                    <a:pt x="0" y="38"/>
                  </a:lnTo>
                  <a:lnTo>
                    <a:pt x="93" y="8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55" name="Rectangle 287"/>
            <p:cNvSpPr>
              <a:spLocks noChangeArrowheads="1"/>
            </p:cNvSpPr>
            <p:nvPr/>
          </p:nvSpPr>
          <p:spPr bwMode="auto">
            <a:xfrm>
              <a:off x="2147" y="1815"/>
              <a:ext cx="2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 = 0</a:t>
              </a:r>
              <a:endParaRPr lang="en-US" altLang="en-US" sz="2800"/>
            </a:p>
          </p:txBody>
        </p:sp>
        <p:sp>
          <p:nvSpPr>
            <p:cNvPr id="493856" name="Rectangle 288"/>
            <p:cNvSpPr>
              <a:spLocks noChangeArrowheads="1"/>
            </p:cNvSpPr>
            <p:nvPr/>
          </p:nvSpPr>
          <p:spPr bwMode="auto">
            <a:xfrm>
              <a:off x="2136" y="1923"/>
              <a:ext cx="29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0</a:t>
              </a:r>
              <a:endParaRPr lang="en-US" altLang="en-US" sz="2800"/>
            </a:p>
          </p:txBody>
        </p:sp>
        <p:sp>
          <p:nvSpPr>
            <p:cNvPr id="493857" name="Rectangle 289"/>
            <p:cNvSpPr>
              <a:spLocks noChangeArrowheads="1"/>
            </p:cNvSpPr>
            <p:nvPr/>
          </p:nvSpPr>
          <p:spPr bwMode="auto">
            <a:xfrm>
              <a:off x="3647" y="1816"/>
              <a:ext cx="2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 = 1</a:t>
              </a:r>
              <a:endParaRPr lang="en-US" altLang="en-US" sz="2800"/>
            </a:p>
          </p:txBody>
        </p:sp>
        <p:sp>
          <p:nvSpPr>
            <p:cNvPr id="493858" name="Rectangle 290"/>
            <p:cNvSpPr>
              <a:spLocks noChangeArrowheads="1"/>
            </p:cNvSpPr>
            <p:nvPr/>
          </p:nvSpPr>
          <p:spPr bwMode="auto">
            <a:xfrm>
              <a:off x="4341" y="1816"/>
              <a:ext cx="20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L=0</a:t>
              </a:r>
              <a:endParaRPr lang="en-US" altLang="en-US" sz="2800"/>
            </a:p>
          </p:txBody>
        </p:sp>
        <p:sp>
          <p:nvSpPr>
            <p:cNvPr id="493859" name="Rectangle 291"/>
            <p:cNvSpPr>
              <a:spLocks noChangeArrowheads="1"/>
            </p:cNvSpPr>
            <p:nvPr/>
          </p:nvSpPr>
          <p:spPr bwMode="auto">
            <a:xfrm>
              <a:off x="4108" y="1923"/>
              <a:ext cx="77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Dctr = Dctr + 1</a:t>
              </a:r>
              <a:endParaRPr lang="en-US" altLang="en-US" sz="2800"/>
            </a:p>
          </p:txBody>
        </p:sp>
        <p:sp>
          <p:nvSpPr>
            <p:cNvPr id="493865" name="Rectangle 297"/>
            <p:cNvSpPr>
              <a:spLocks noChangeArrowheads="1"/>
            </p:cNvSpPr>
            <p:nvPr/>
          </p:nvSpPr>
          <p:spPr bwMode="auto">
            <a:xfrm>
              <a:off x="2807" y="1816"/>
              <a:ext cx="42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Dctr = 0</a:t>
              </a:r>
              <a:endParaRPr lang="en-US" altLang="en-US" sz="2800"/>
            </a:p>
          </p:txBody>
        </p:sp>
        <p:sp>
          <p:nvSpPr>
            <p:cNvPr id="493868" name="Rectangle 300"/>
            <p:cNvSpPr>
              <a:spLocks noChangeArrowheads="1"/>
            </p:cNvSpPr>
            <p:nvPr/>
          </p:nvSpPr>
          <p:spPr bwMode="auto">
            <a:xfrm>
              <a:off x="2951" y="1123"/>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93870" name="Freeform 302"/>
            <p:cNvSpPr>
              <a:spLocks/>
            </p:cNvSpPr>
            <p:nvPr/>
          </p:nvSpPr>
          <p:spPr bwMode="auto">
            <a:xfrm>
              <a:off x="4255" y="1262"/>
              <a:ext cx="435" cy="254"/>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871" name="Freeform 303"/>
            <p:cNvSpPr>
              <a:spLocks/>
            </p:cNvSpPr>
            <p:nvPr/>
          </p:nvSpPr>
          <p:spPr bwMode="auto">
            <a:xfrm>
              <a:off x="4239" y="1429"/>
              <a:ext cx="85" cy="91"/>
            </a:xfrm>
            <a:custGeom>
              <a:avLst/>
              <a:gdLst>
                <a:gd name="T0" fmla="*/ 81 w 81"/>
                <a:gd name="T1" fmla="*/ 94 h 94"/>
                <a:gd name="T2" fmla="*/ 38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8"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72" name="Rectangle 304"/>
            <p:cNvSpPr>
              <a:spLocks noChangeArrowheads="1"/>
            </p:cNvSpPr>
            <p:nvPr/>
          </p:nvSpPr>
          <p:spPr bwMode="auto">
            <a:xfrm>
              <a:off x="4431" y="1125"/>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t>
              </a:r>
              <a:endParaRPr lang="en-US" altLang="en-US" sz="2800"/>
            </a:p>
          </p:txBody>
        </p:sp>
        <p:sp>
          <p:nvSpPr>
            <p:cNvPr id="493874" name="Rectangle 306"/>
            <p:cNvSpPr>
              <a:spLocks noChangeArrowheads="1"/>
            </p:cNvSpPr>
            <p:nvPr/>
          </p:nvSpPr>
          <p:spPr bwMode="auto">
            <a:xfrm>
              <a:off x="3292" y="165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493875" name="Rectangle 307"/>
            <p:cNvSpPr>
              <a:spLocks noChangeArrowheads="1"/>
            </p:cNvSpPr>
            <p:nvPr/>
          </p:nvSpPr>
          <p:spPr bwMode="auto">
            <a:xfrm>
              <a:off x="4782" y="1655"/>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t>
              </a:r>
              <a:endParaRPr lang="en-US" altLang="en-US" sz="2800"/>
            </a:p>
          </p:txBody>
        </p:sp>
        <p:sp>
          <p:nvSpPr>
            <p:cNvPr id="493876" name="Oval 308"/>
            <p:cNvSpPr>
              <a:spLocks noChangeArrowheads="1"/>
            </p:cNvSpPr>
            <p:nvPr/>
          </p:nvSpPr>
          <p:spPr bwMode="auto">
            <a:xfrm>
              <a:off x="4259" y="1486"/>
              <a:ext cx="434" cy="284"/>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93909" name="Group 341"/>
            <p:cNvGrpSpPr>
              <a:grpSpLocks/>
            </p:cNvGrpSpPr>
            <p:nvPr/>
          </p:nvGrpSpPr>
          <p:grpSpPr bwMode="auto">
            <a:xfrm>
              <a:off x="4976" y="1486"/>
              <a:ext cx="675" cy="581"/>
              <a:chOff x="4976" y="1486"/>
              <a:chExt cx="675" cy="581"/>
            </a:xfrm>
          </p:grpSpPr>
          <p:sp>
            <p:nvSpPr>
              <p:cNvPr id="493878" name="Rectangle 310"/>
              <p:cNvSpPr>
                <a:spLocks noChangeArrowheads="1"/>
              </p:cNvSpPr>
              <p:nvPr/>
            </p:nvSpPr>
            <p:spPr bwMode="auto">
              <a:xfrm>
                <a:off x="5020" y="1816"/>
                <a:ext cx="60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Dctr / 2</a:t>
                </a:r>
                <a:endParaRPr lang="en-US" altLang="en-US" sz="2800"/>
              </a:p>
            </p:txBody>
          </p:sp>
          <p:sp>
            <p:nvSpPr>
              <p:cNvPr id="493882" name="Rectangle 314"/>
              <p:cNvSpPr>
                <a:spLocks noChangeArrowheads="1"/>
              </p:cNvSpPr>
              <p:nvPr/>
            </p:nvSpPr>
            <p:spPr bwMode="auto">
              <a:xfrm>
                <a:off x="4976" y="1923"/>
                <a:ext cx="6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(calculate D)</a:t>
                </a:r>
                <a:endParaRPr lang="en-US" altLang="en-US" sz="2800"/>
              </a:p>
            </p:txBody>
          </p:sp>
          <p:sp>
            <p:nvSpPr>
              <p:cNvPr id="493888" name="Rectangle 320"/>
              <p:cNvSpPr>
                <a:spLocks noChangeArrowheads="1"/>
              </p:cNvSpPr>
              <p:nvPr/>
            </p:nvSpPr>
            <p:spPr bwMode="auto">
              <a:xfrm>
                <a:off x="5171" y="1578"/>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S4</a:t>
                </a:r>
                <a:endParaRPr lang="en-US" altLang="en-US" sz="2800"/>
              </a:p>
            </p:txBody>
          </p:sp>
          <p:sp>
            <p:nvSpPr>
              <p:cNvPr id="493889" name="Oval 321"/>
              <p:cNvSpPr>
                <a:spLocks noChangeArrowheads="1"/>
              </p:cNvSpPr>
              <p:nvPr/>
            </p:nvSpPr>
            <p:spPr bwMode="auto">
              <a:xfrm>
                <a:off x="5002" y="1486"/>
                <a:ext cx="435" cy="284"/>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93890" name="Oval 322"/>
            <p:cNvSpPr>
              <a:spLocks noChangeArrowheads="1"/>
            </p:cNvSpPr>
            <p:nvPr/>
          </p:nvSpPr>
          <p:spPr bwMode="auto">
            <a:xfrm>
              <a:off x="2764" y="1486"/>
              <a:ext cx="435" cy="284"/>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891" name="Freeform 323"/>
            <p:cNvSpPr>
              <a:spLocks/>
            </p:cNvSpPr>
            <p:nvPr/>
          </p:nvSpPr>
          <p:spPr bwMode="auto">
            <a:xfrm>
              <a:off x="3180" y="1471"/>
              <a:ext cx="91" cy="87"/>
            </a:xfrm>
            <a:custGeom>
              <a:avLst/>
              <a:gdLst>
                <a:gd name="T0" fmla="*/ 0 w 87"/>
                <a:gd name="T1" fmla="*/ 90 h 90"/>
                <a:gd name="T2" fmla="*/ 87 w 87"/>
                <a:gd name="T3" fmla="*/ 34 h 90"/>
                <a:gd name="T4" fmla="*/ 50 w 87"/>
                <a:gd name="T5" fmla="*/ 0 h 90"/>
                <a:gd name="T6" fmla="*/ 0 w 87"/>
                <a:gd name="T7" fmla="*/ 90 h 90"/>
              </a:gdLst>
              <a:ahLst/>
              <a:cxnLst>
                <a:cxn ang="0">
                  <a:pos x="T0" y="T1"/>
                </a:cxn>
                <a:cxn ang="0">
                  <a:pos x="T2" y="T3"/>
                </a:cxn>
                <a:cxn ang="0">
                  <a:pos x="T4" y="T5"/>
                </a:cxn>
                <a:cxn ang="0">
                  <a:pos x="T6" y="T7"/>
                </a:cxn>
              </a:cxnLst>
              <a:rect l="0" t="0" r="r" b="b"/>
              <a:pathLst>
                <a:path w="87" h="90">
                  <a:moveTo>
                    <a:pt x="0" y="90"/>
                  </a:moveTo>
                  <a:lnTo>
                    <a:pt x="87" y="34"/>
                  </a:lnTo>
                  <a:lnTo>
                    <a:pt x="50" y="0"/>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3892" name="Freeform 324"/>
            <p:cNvSpPr>
              <a:spLocks/>
            </p:cNvSpPr>
            <p:nvPr/>
          </p:nvSpPr>
          <p:spPr bwMode="auto">
            <a:xfrm>
              <a:off x="3215" y="431"/>
              <a:ext cx="1922" cy="1089"/>
            </a:xfrm>
            <a:custGeom>
              <a:avLst/>
              <a:gdLst>
                <a:gd name="T0" fmla="*/ 584 w 584"/>
                <a:gd name="T1" fmla="*/ 350 h 360"/>
                <a:gd name="T2" fmla="*/ 0 w 584"/>
                <a:gd name="T3" fmla="*/ 360 h 360"/>
              </a:gdLst>
              <a:ahLst/>
              <a:cxnLst>
                <a:cxn ang="0">
                  <a:pos x="T0" y="T1"/>
                </a:cxn>
                <a:cxn ang="0">
                  <a:pos x="T2" y="T3"/>
                </a:cxn>
              </a:cxnLst>
              <a:rect l="0" t="0" r="r" b="b"/>
              <a:pathLst>
                <a:path w="584" h="360">
                  <a:moveTo>
                    <a:pt x="584" y="350"/>
                  </a:moveTo>
                  <a:cubicBezTo>
                    <a:pt x="584" y="350"/>
                    <a:pt x="346" y="0"/>
                    <a:pt x="0" y="360"/>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3893" name="Line 325"/>
            <p:cNvSpPr>
              <a:spLocks noChangeShapeType="1"/>
            </p:cNvSpPr>
            <p:nvPr/>
          </p:nvSpPr>
          <p:spPr bwMode="auto">
            <a:xfrm>
              <a:off x="1863" y="1346"/>
              <a:ext cx="152" cy="12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493902" name="Freeform 334"/>
          <p:cNvSpPr>
            <a:spLocks/>
          </p:cNvSpPr>
          <p:nvPr/>
        </p:nvSpPr>
        <p:spPr bwMode="auto">
          <a:xfrm>
            <a:off x="1241425" y="2260600"/>
            <a:ext cx="2192338" cy="2070100"/>
          </a:xfrm>
          <a:custGeom>
            <a:avLst/>
            <a:gdLst>
              <a:gd name="T0" fmla="*/ 0 w 1381"/>
              <a:gd name="T1" fmla="*/ 0 h 1304"/>
              <a:gd name="T2" fmla="*/ 174 w 1381"/>
              <a:gd name="T3" fmla="*/ 250 h 1304"/>
              <a:gd name="T4" fmla="*/ 576 w 1381"/>
              <a:gd name="T5" fmla="*/ 565 h 1304"/>
              <a:gd name="T6" fmla="*/ 816 w 1381"/>
              <a:gd name="T7" fmla="*/ 1086 h 1304"/>
              <a:gd name="T8" fmla="*/ 1381 w 1381"/>
              <a:gd name="T9" fmla="*/ 1304 h 1304"/>
            </a:gdLst>
            <a:ahLst/>
            <a:cxnLst>
              <a:cxn ang="0">
                <a:pos x="T0" y="T1"/>
              </a:cxn>
              <a:cxn ang="0">
                <a:pos x="T2" y="T3"/>
              </a:cxn>
              <a:cxn ang="0">
                <a:pos x="T4" y="T5"/>
              </a:cxn>
              <a:cxn ang="0">
                <a:pos x="T6" y="T7"/>
              </a:cxn>
              <a:cxn ang="0">
                <a:pos x="T8" y="T9"/>
              </a:cxn>
            </a:cxnLst>
            <a:rect l="0" t="0" r="r" b="b"/>
            <a:pathLst>
              <a:path w="1381" h="1304">
                <a:moveTo>
                  <a:pt x="0" y="0"/>
                </a:moveTo>
                <a:cubicBezTo>
                  <a:pt x="29" y="42"/>
                  <a:pt x="78" y="156"/>
                  <a:pt x="174" y="250"/>
                </a:cubicBezTo>
                <a:cubicBezTo>
                  <a:pt x="270" y="344"/>
                  <a:pt x="469" y="426"/>
                  <a:pt x="576" y="565"/>
                </a:cubicBezTo>
                <a:cubicBezTo>
                  <a:pt x="683" y="704"/>
                  <a:pt x="682" y="963"/>
                  <a:pt x="816" y="1086"/>
                </a:cubicBezTo>
                <a:cubicBezTo>
                  <a:pt x="950" y="1209"/>
                  <a:pt x="1154" y="1248"/>
                  <a:pt x="1381" y="1304"/>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3908" name="Text Box 340"/>
          <p:cNvSpPr txBox="1">
            <a:spLocks noChangeArrowheads="1"/>
          </p:cNvSpPr>
          <p:nvPr/>
        </p:nvSpPr>
        <p:spPr bwMode="auto">
          <a:xfrm>
            <a:off x="8137525" y="424497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493925" name="Rectangle 357"/>
          <p:cNvSpPr>
            <a:spLocks noChangeArrowheads="1"/>
          </p:cNvSpPr>
          <p:nvPr/>
        </p:nvSpPr>
        <p:spPr bwMode="auto">
          <a:xfrm>
            <a:off x="2779713" y="5248275"/>
            <a:ext cx="92075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1</a:t>
            </a:r>
          </a:p>
          <a:p>
            <a:r>
              <a:rPr lang="en-US" altLang="en-US" sz="1300">
                <a:solidFill>
                  <a:srgbClr val="000000"/>
                </a:solidFill>
                <a:latin typeface="Myriad Roman" charset="0"/>
              </a:rPr>
              <a:t>Dreg_ld = 0</a:t>
            </a:r>
          </a:p>
          <a:p>
            <a:r>
              <a:rPr lang="en-US" altLang="en-US" sz="1300">
                <a:solidFill>
                  <a:srgbClr val="000000"/>
                </a:solidFill>
                <a:latin typeface="Myriad Roman" charset="0"/>
              </a:rPr>
              <a:t>Dctr_clr = 0</a:t>
            </a:r>
          </a:p>
          <a:p>
            <a:r>
              <a:rPr lang="en-US" altLang="en-US" sz="1300">
                <a:solidFill>
                  <a:srgbClr val="000000"/>
                </a:solidFill>
                <a:latin typeface="Myriad Roman" charset="0"/>
              </a:rPr>
              <a:t>Dctr_cnt = 0</a:t>
            </a:r>
          </a:p>
          <a:p>
            <a:r>
              <a:rPr lang="en-US" altLang="en-US" sz="1300">
                <a:solidFill>
                  <a:srgbClr val="000000"/>
                </a:solidFill>
                <a:latin typeface="Myriad Roman" charset="0"/>
              </a:rPr>
              <a:t>(laser off)</a:t>
            </a:r>
          </a:p>
          <a:p>
            <a:r>
              <a:rPr lang="en-US" altLang="en-US" sz="1300">
                <a:solidFill>
                  <a:srgbClr val="000000"/>
                </a:solidFill>
                <a:latin typeface="Myriad Roman" charset="0"/>
              </a:rPr>
              <a:t>(clear D reg)</a:t>
            </a:r>
            <a:endParaRPr lang="en-US" altLang="en-US" sz="2400"/>
          </a:p>
        </p:txBody>
      </p:sp>
      <p:sp>
        <p:nvSpPr>
          <p:cNvPr id="493926" name="Rectangle 358"/>
          <p:cNvSpPr>
            <a:spLocks noChangeArrowheads="1"/>
          </p:cNvSpPr>
          <p:nvPr/>
        </p:nvSpPr>
        <p:spPr bwMode="auto">
          <a:xfrm>
            <a:off x="3903663" y="5248275"/>
            <a:ext cx="920750"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0</a:t>
            </a:r>
          </a:p>
          <a:p>
            <a:r>
              <a:rPr lang="en-US" altLang="en-US" sz="1300">
                <a:solidFill>
                  <a:srgbClr val="000000"/>
                </a:solidFill>
                <a:latin typeface="Myriad Roman" charset="0"/>
              </a:rPr>
              <a:t>Dreg_ld = 0</a:t>
            </a:r>
          </a:p>
          <a:p>
            <a:r>
              <a:rPr lang="en-US" altLang="en-US" sz="1300">
                <a:solidFill>
                  <a:srgbClr val="000000"/>
                </a:solidFill>
                <a:latin typeface="Myriad Roman" charset="0"/>
              </a:rPr>
              <a:t>Dctr_clr = 1</a:t>
            </a:r>
          </a:p>
          <a:p>
            <a:r>
              <a:rPr lang="en-US" altLang="en-US" sz="1300">
                <a:solidFill>
                  <a:srgbClr val="000000"/>
                </a:solidFill>
                <a:latin typeface="Myriad Roman" charset="0"/>
              </a:rPr>
              <a:t>Dctr_cnt = 0</a:t>
            </a:r>
          </a:p>
          <a:p>
            <a:r>
              <a:rPr lang="en-US" altLang="en-US" sz="1300">
                <a:solidFill>
                  <a:srgbClr val="000000"/>
                </a:solidFill>
                <a:latin typeface="Myriad Roman" charset="0"/>
              </a:rPr>
              <a:t>(clear count)</a:t>
            </a:r>
            <a:endParaRPr lang="en-US" altLang="en-US" sz="2400"/>
          </a:p>
        </p:txBody>
      </p:sp>
      <p:sp>
        <p:nvSpPr>
          <p:cNvPr id="493927" name="Rectangle 359"/>
          <p:cNvSpPr>
            <a:spLocks noChangeArrowheads="1"/>
          </p:cNvSpPr>
          <p:nvPr/>
        </p:nvSpPr>
        <p:spPr bwMode="auto">
          <a:xfrm>
            <a:off x="5068888" y="5248275"/>
            <a:ext cx="906462" cy="99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0</a:t>
            </a:r>
          </a:p>
          <a:p>
            <a:r>
              <a:rPr lang="en-US" altLang="en-US" sz="1300">
                <a:solidFill>
                  <a:srgbClr val="000000"/>
                </a:solidFill>
                <a:latin typeface="Myriad Roman" charset="0"/>
              </a:rPr>
              <a:t>Dreg_ld = 0</a:t>
            </a:r>
          </a:p>
          <a:p>
            <a:r>
              <a:rPr lang="en-US" altLang="en-US" sz="1300">
                <a:solidFill>
                  <a:srgbClr val="000000"/>
                </a:solidFill>
                <a:latin typeface="Myriad Roman" charset="0"/>
              </a:rPr>
              <a:t>Dctr_clr = 0</a:t>
            </a:r>
          </a:p>
          <a:p>
            <a:r>
              <a:rPr lang="en-US" altLang="en-US" sz="1300">
                <a:solidFill>
                  <a:srgbClr val="000000"/>
                </a:solidFill>
                <a:latin typeface="Myriad Roman" charset="0"/>
              </a:rPr>
              <a:t>Dctr_cnt = 0</a:t>
            </a:r>
          </a:p>
          <a:p>
            <a:r>
              <a:rPr lang="en-US" altLang="en-US" sz="1300">
                <a:solidFill>
                  <a:srgbClr val="000000"/>
                </a:solidFill>
                <a:latin typeface="Myriad Roman" charset="0"/>
              </a:rPr>
              <a:t>(laser on)</a:t>
            </a:r>
            <a:endParaRPr lang="en-US" altLang="en-US" sz="2400"/>
          </a:p>
        </p:txBody>
      </p:sp>
      <p:sp>
        <p:nvSpPr>
          <p:cNvPr id="493928" name="Rectangle 360"/>
          <p:cNvSpPr>
            <a:spLocks noChangeArrowheads="1"/>
          </p:cNvSpPr>
          <p:nvPr/>
        </p:nvSpPr>
        <p:spPr bwMode="auto">
          <a:xfrm>
            <a:off x="6186488" y="5248275"/>
            <a:ext cx="906462"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0</a:t>
            </a:r>
          </a:p>
          <a:p>
            <a:r>
              <a:rPr lang="en-US" altLang="en-US" sz="1300">
                <a:solidFill>
                  <a:srgbClr val="000000"/>
                </a:solidFill>
                <a:latin typeface="Myriad Roman" charset="0"/>
              </a:rPr>
              <a:t>Dreg_ld = 0</a:t>
            </a:r>
          </a:p>
          <a:p>
            <a:r>
              <a:rPr lang="en-US" altLang="en-US" sz="1300">
                <a:solidFill>
                  <a:srgbClr val="000000"/>
                </a:solidFill>
                <a:latin typeface="Myriad Roman" charset="0"/>
              </a:rPr>
              <a:t>Dctr_clr = 0</a:t>
            </a:r>
          </a:p>
          <a:p>
            <a:r>
              <a:rPr lang="en-US" altLang="en-US" sz="1300">
                <a:solidFill>
                  <a:srgbClr val="000000"/>
                </a:solidFill>
                <a:latin typeface="Myriad Roman" charset="0"/>
              </a:rPr>
              <a:t>Dctr_cnt = 1</a:t>
            </a:r>
          </a:p>
          <a:p>
            <a:r>
              <a:rPr lang="en-US" altLang="en-US" sz="1300">
                <a:solidFill>
                  <a:srgbClr val="000000"/>
                </a:solidFill>
                <a:latin typeface="Myriad Roman" charset="0"/>
              </a:rPr>
              <a:t>(laser off)</a:t>
            </a:r>
          </a:p>
          <a:p>
            <a:r>
              <a:rPr lang="en-US" altLang="en-US" sz="1300">
                <a:solidFill>
                  <a:srgbClr val="000000"/>
                </a:solidFill>
                <a:latin typeface="Myriad Roman" charset="0"/>
              </a:rPr>
              <a:t>(count up)</a:t>
            </a:r>
            <a:endParaRPr lang="en-US" altLang="en-US" sz="2400"/>
          </a:p>
        </p:txBody>
      </p:sp>
      <p:sp>
        <p:nvSpPr>
          <p:cNvPr id="493929" name="Rectangle 361"/>
          <p:cNvSpPr>
            <a:spLocks noChangeArrowheads="1"/>
          </p:cNvSpPr>
          <p:nvPr/>
        </p:nvSpPr>
        <p:spPr bwMode="auto">
          <a:xfrm>
            <a:off x="7318375" y="5248275"/>
            <a:ext cx="17018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0</a:t>
            </a:r>
          </a:p>
          <a:p>
            <a:r>
              <a:rPr lang="en-US" altLang="en-US" sz="1300">
                <a:solidFill>
                  <a:srgbClr val="000000"/>
                </a:solidFill>
                <a:latin typeface="Myriad Roman" charset="0"/>
              </a:rPr>
              <a:t>Dreg_ld = 1</a:t>
            </a:r>
          </a:p>
          <a:p>
            <a:r>
              <a:rPr lang="en-US" altLang="en-US" sz="1300">
                <a:solidFill>
                  <a:srgbClr val="000000"/>
                </a:solidFill>
                <a:latin typeface="Myriad Roman" charset="0"/>
              </a:rPr>
              <a:t>Dctr_clr = 0</a:t>
            </a:r>
          </a:p>
          <a:p>
            <a:r>
              <a:rPr lang="en-US" altLang="en-US" sz="1300">
                <a:solidFill>
                  <a:srgbClr val="000000"/>
                </a:solidFill>
                <a:latin typeface="Myriad Roman" charset="0"/>
              </a:rPr>
              <a:t>Dctr_cnt = 0</a:t>
            </a:r>
          </a:p>
          <a:p>
            <a:r>
              <a:rPr lang="en-US" altLang="en-US" sz="1300">
                <a:solidFill>
                  <a:srgbClr val="000000"/>
                </a:solidFill>
                <a:latin typeface="Myriad Roman" charset="0"/>
              </a:rPr>
              <a:t>(load D reg with Dctr/2)</a:t>
            </a:r>
          </a:p>
          <a:p>
            <a:r>
              <a:rPr lang="en-US" altLang="en-US" sz="1300">
                <a:solidFill>
                  <a:srgbClr val="000000"/>
                </a:solidFill>
                <a:latin typeface="Myriad Roman" charset="0"/>
              </a:rPr>
              <a:t>(stop counting)</a:t>
            </a: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39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392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392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392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93928"/>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939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925" grpId="0"/>
      <p:bldP spid="493926" grpId="0"/>
      <p:bldP spid="493927" grpId="0"/>
      <p:bldP spid="493928" grpId="0"/>
      <p:bldP spid="49392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Slide Number Placeholder 3"/>
          <p:cNvSpPr>
            <a:spLocks noGrp="1"/>
          </p:cNvSpPr>
          <p:nvPr>
            <p:ph type="sldNum" sz="quarter" idx="10"/>
          </p:nvPr>
        </p:nvSpPr>
        <p:spPr/>
        <p:txBody>
          <a:bodyPr/>
          <a:lstStyle/>
          <a:p>
            <a:fld id="{A0952212-1CC9-4DD7-B465-18B2E9636C4A}" type="slidenum">
              <a:rPr lang="en-US" altLang="en-US"/>
              <a:pPr/>
              <a:t>25</a:t>
            </a:fld>
            <a:endParaRPr lang="en-US" altLang="en-US"/>
          </a:p>
        </p:txBody>
      </p:sp>
      <p:sp>
        <p:nvSpPr>
          <p:cNvPr id="497666" name="Rectangle 2"/>
          <p:cNvSpPr>
            <a:spLocks noGrp="1" noChangeArrowheads="1"/>
          </p:cNvSpPr>
          <p:nvPr>
            <p:ph type="title"/>
          </p:nvPr>
        </p:nvSpPr>
        <p:spPr/>
        <p:txBody>
          <a:bodyPr/>
          <a:lstStyle/>
          <a:p>
            <a:r>
              <a:rPr lang="en-US" altLang="en-US"/>
              <a:t>Step 4: Deriving the Controller’s FSM</a:t>
            </a:r>
          </a:p>
        </p:txBody>
      </p:sp>
      <p:sp>
        <p:nvSpPr>
          <p:cNvPr id="497667" name="Rectangle 3"/>
          <p:cNvSpPr>
            <a:spLocks noGrp="1" noChangeArrowheads="1"/>
          </p:cNvSpPr>
          <p:nvPr>
            <p:ph type="body" idx="1"/>
          </p:nvPr>
        </p:nvSpPr>
        <p:spPr>
          <a:xfrm>
            <a:off x="-63500" y="3773488"/>
            <a:ext cx="2019300" cy="1976437"/>
          </a:xfrm>
        </p:spPr>
        <p:txBody>
          <a:bodyPr/>
          <a:lstStyle/>
          <a:p>
            <a:r>
              <a:rPr lang="en-US" altLang="en-US" sz="2000"/>
              <a:t>Using shorthand of outputs not assigned implicitly assigned 0</a:t>
            </a:r>
          </a:p>
        </p:txBody>
      </p:sp>
      <p:sp>
        <p:nvSpPr>
          <p:cNvPr id="497996" name="Text Box 332"/>
          <p:cNvSpPr txBox="1">
            <a:spLocks noChangeArrowheads="1"/>
          </p:cNvSpPr>
          <p:nvPr/>
        </p:nvSpPr>
        <p:spPr bwMode="auto">
          <a:xfrm>
            <a:off x="8759825" y="440055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498121" name="Group 457"/>
          <p:cNvGrpSpPr>
            <a:grpSpLocks/>
          </p:cNvGrpSpPr>
          <p:nvPr/>
        </p:nvGrpSpPr>
        <p:grpSpPr bwMode="auto">
          <a:xfrm>
            <a:off x="1776413" y="2398713"/>
            <a:ext cx="6384925" cy="776287"/>
            <a:chOff x="1119" y="1511"/>
            <a:chExt cx="4022" cy="489"/>
          </a:xfrm>
        </p:grpSpPr>
        <p:sp>
          <p:nvSpPr>
            <p:cNvPr id="498119" name="Line 455"/>
            <p:cNvSpPr>
              <a:spLocks noChangeShapeType="1"/>
            </p:cNvSpPr>
            <p:nvPr/>
          </p:nvSpPr>
          <p:spPr bwMode="auto">
            <a:xfrm>
              <a:off x="1130" y="1532"/>
              <a:ext cx="4011" cy="435"/>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8120" name="Line 456"/>
            <p:cNvSpPr>
              <a:spLocks noChangeShapeType="1"/>
            </p:cNvSpPr>
            <p:nvPr/>
          </p:nvSpPr>
          <p:spPr bwMode="auto">
            <a:xfrm flipV="1">
              <a:off x="1119" y="1511"/>
              <a:ext cx="4011" cy="489"/>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498164" name="Group 500"/>
          <p:cNvGrpSpPr>
            <a:grpSpLocks/>
          </p:cNvGrpSpPr>
          <p:nvPr/>
        </p:nvGrpSpPr>
        <p:grpSpPr bwMode="auto">
          <a:xfrm>
            <a:off x="1800225" y="0"/>
            <a:ext cx="6342063" cy="3619500"/>
            <a:chOff x="1783" y="1872"/>
            <a:chExt cx="3995" cy="2280"/>
          </a:xfrm>
        </p:grpSpPr>
        <p:grpSp>
          <p:nvGrpSpPr>
            <p:cNvPr id="498165" name="Group 501"/>
            <p:cNvGrpSpPr>
              <a:grpSpLocks/>
            </p:cNvGrpSpPr>
            <p:nvPr/>
          </p:nvGrpSpPr>
          <p:grpSpPr bwMode="auto">
            <a:xfrm>
              <a:off x="1783" y="1872"/>
              <a:ext cx="3388" cy="1555"/>
              <a:chOff x="1687" y="1776"/>
              <a:chExt cx="3388" cy="1555"/>
            </a:xfrm>
          </p:grpSpPr>
          <p:sp>
            <p:nvSpPr>
              <p:cNvPr id="498166" name="Rectangle 502"/>
              <p:cNvSpPr>
                <a:spLocks noChangeArrowheads="1"/>
              </p:cNvSpPr>
              <p:nvPr/>
            </p:nvSpPr>
            <p:spPr bwMode="auto">
              <a:xfrm>
                <a:off x="1992" y="2960"/>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S0</a:t>
                </a:r>
                <a:endParaRPr lang="en-US" altLang="en-US" sz="2400"/>
              </a:p>
            </p:txBody>
          </p:sp>
          <p:sp>
            <p:nvSpPr>
              <p:cNvPr id="498167" name="Oval 503"/>
              <p:cNvSpPr>
                <a:spLocks noChangeArrowheads="1"/>
              </p:cNvSpPr>
              <p:nvPr/>
            </p:nvSpPr>
            <p:spPr bwMode="auto">
              <a:xfrm>
                <a:off x="1831" y="2867"/>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68" name="Line 504"/>
              <p:cNvSpPr>
                <a:spLocks noChangeShapeType="1"/>
              </p:cNvSpPr>
              <p:nvPr/>
            </p:nvSpPr>
            <p:spPr bwMode="auto">
              <a:xfrm>
                <a:off x="2247" y="3017"/>
                <a:ext cx="20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169" name="Freeform 505"/>
              <p:cNvSpPr>
                <a:spLocks/>
              </p:cNvSpPr>
              <p:nvPr/>
            </p:nvSpPr>
            <p:spPr bwMode="auto">
              <a:xfrm>
                <a:off x="2437" y="299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70" name="Line 506"/>
              <p:cNvSpPr>
                <a:spLocks noChangeShapeType="1"/>
              </p:cNvSpPr>
              <p:nvPr/>
            </p:nvSpPr>
            <p:spPr bwMode="auto">
              <a:xfrm>
                <a:off x="2950" y="3017"/>
                <a:ext cx="21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171" name="Freeform 507"/>
              <p:cNvSpPr>
                <a:spLocks/>
              </p:cNvSpPr>
              <p:nvPr/>
            </p:nvSpPr>
            <p:spPr bwMode="auto">
              <a:xfrm>
                <a:off x="3147" y="299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72" name="Rectangle 508"/>
              <p:cNvSpPr>
                <a:spLocks noChangeArrowheads="1"/>
              </p:cNvSpPr>
              <p:nvPr/>
            </p:nvSpPr>
            <p:spPr bwMode="auto">
              <a:xfrm>
                <a:off x="2699" y="2960"/>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S1</a:t>
                </a:r>
                <a:endParaRPr lang="en-US" altLang="en-US" sz="2400"/>
              </a:p>
            </p:txBody>
          </p:sp>
          <p:sp>
            <p:nvSpPr>
              <p:cNvPr id="498173" name="Rectangle 509"/>
              <p:cNvSpPr>
                <a:spLocks noChangeArrowheads="1"/>
              </p:cNvSpPr>
              <p:nvPr/>
            </p:nvSpPr>
            <p:spPr bwMode="auto">
              <a:xfrm>
                <a:off x="3411" y="2960"/>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S2</a:t>
                </a:r>
                <a:endParaRPr lang="en-US" altLang="en-US" sz="2400"/>
              </a:p>
            </p:txBody>
          </p:sp>
          <p:sp>
            <p:nvSpPr>
              <p:cNvPr id="498174" name="Oval 510"/>
              <p:cNvSpPr>
                <a:spLocks noChangeArrowheads="1"/>
              </p:cNvSpPr>
              <p:nvPr/>
            </p:nvSpPr>
            <p:spPr bwMode="auto">
              <a:xfrm>
                <a:off x="3250" y="2867"/>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75" name="Line 511"/>
              <p:cNvSpPr>
                <a:spLocks noChangeShapeType="1"/>
              </p:cNvSpPr>
              <p:nvPr/>
            </p:nvSpPr>
            <p:spPr bwMode="auto">
              <a:xfrm>
                <a:off x="3666" y="3017"/>
                <a:ext cx="20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176" name="Freeform 512"/>
              <p:cNvSpPr>
                <a:spLocks/>
              </p:cNvSpPr>
              <p:nvPr/>
            </p:nvSpPr>
            <p:spPr bwMode="auto">
              <a:xfrm>
                <a:off x="3856" y="299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77" name="Line 513"/>
              <p:cNvSpPr>
                <a:spLocks noChangeShapeType="1"/>
              </p:cNvSpPr>
              <p:nvPr/>
            </p:nvSpPr>
            <p:spPr bwMode="auto">
              <a:xfrm>
                <a:off x="4372" y="3017"/>
                <a:ext cx="20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178" name="Freeform 514"/>
              <p:cNvSpPr>
                <a:spLocks/>
              </p:cNvSpPr>
              <p:nvPr/>
            </p:nvSpPr>
            <p:spPr bwMode="auto">
              <a:xfrm>
                <a:off x="4560" y="299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79" name="Rectangle 515"/>
              <p:cNvSpPr>
                <a:spLocks noChangeArrowheads="1"/>
              </p:cNvSpPr>
              <p:nvPr/>
            </p:nvSpPr>
            <p:spPr bwMode="auto">
              <a:xfrm>
                <a:off x="4118" y="2960"/>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S3</a:t>
                </a:r>
                <a:endParaRPr lang="en-US" altLang="en-US" sz="2400"/>
              </a:p>
            </p:txBody>
          </p:sp>
          <p:sp>
            <p:nvSpPr>
              <p:cNvPr id="498180" name="Freeform 516"/>
              <p:cNvSpPr>
                <a:spLocks/>
              </p:cNvSpPr>
              <p:nvPr/>
            </p:nvSpPr>
            <p:spPr bwMode="auto">
              <a:xfrm>
                <a:off x="2537" y="2635"/>
                <a:ext cx="413" cy="263"/>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81" name="Freeform 517"/>
              <p:cNvSpPr>
                <a:spLocks/>
              </p:cNvSpPr>
              <p:nvPr/>
            </p:nvSpPr>
            <p:spPr bwMode="auto">
              <a:xfrm>
                <a:off x="2522" y="2807"/>
                <a:ext cx="81" cy="94"/>
              </a:xfrm>
              <a:custGeom>
                <a:avLst/>
                <a:gdLst>
                  <a:gd name="T0" fmla="*/ 81 w 81"/>
                  <a:gd name="T1" fmla="*/ 94 h 94"/>
                  <a:gd name="T2" fmla="*/ 37 w 81"/>
                  <a:gd name="T3" fmla="*/ 0 h 94"/>
                  <a:gd name="T4" fmla="*/ 0 w 81"/>
                  <a:gd name="T5" fmla="*/ 32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2"/>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82" name="Freeform 518"/>
              <p:cNvSpPr>
                <a:spLocks/>
              </p:cNvSpPr>
              <p:nvPr/>
            </p:nvSpPr>
            <p:spPr bwMode="auto">
              <a:xfrm>
                <a:off x="1800" y="2817"/>
                <a:ext cx="94" cy="87"/>
              </a:xfrm>
              <a:custGeom>
                <a:avLst/>
                <a:gdLst>
                  <a:gd name="T0" fmla="*/ 94 w 94"/>
                  <a:gd name="T1" fmla="*/ 87 h 87"/>
                  <a:gd name="T2" fmla="*/ 34 w 94"/>
                  <a:gd name="T3" fmla="*/ 0 h 87"/>
                  <a:gd name="T4" fmla="*/ 0 w 94"/>
                  <a:gd name="T5" fmla="*/ 37 h 87"/>
                  <a:gd name="T6" fmla="*/ 94 w 94"/>
                  <a:gd name="T7" fmla="*/ 87 h 87"/>
                </a:gdLst>
                <a:ahLst/>
                <a:cxnLst>
                  <a:cxn ang="0">
                    <a:pos x="T0" y="T1"/>
                  </a:cxn>
                  <a:cxn ang="0">
                    <a:pos x="T2" y="T3"/>
                  </a:cxn>
                  <a:cxn ang="0">
                    <a:pos x="T4" y="T5"/>
                  </a:cxn>
                  <a:cxn ang="0">
                    <a:pos x="T6" y="T7"/>
                  </a:cxn>
                </a:cxnLst>
                <a:rect l="0" t="0" r="r" b="b"/>
                <a:pathLst>
                  <a:path w="94" h="87">
                    <a:moveTo>
                      <a:pt x="94" y="87"/>
                    </a:moveTo>
                    <a:lnTo>
                      <a:pt x="34" y="0"/>
                    </a:lnTo>
                    <a:lnTo>
                      <a:pt x="0" y="37"/>
                    </a:lnTo>
                    <a:lnTo>
                      <a:pt x="94"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83" name="Rectangle 519"/>
              <p:cNvSpPr>
                <a:spLocks noChangeArrowheads="1"/>
              </p:cNvSpPr>
              <p:nvPr/>
            </p:nvSpPr>
            <p:spPr bwMode="auto">
              <a:xfrm>
                <a:off x="1951" y="3206"/>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8184" name="Rectangle 520"/>
              <p:cNvSpPr>
                <a:spLocks noChangeArrowheads="1"/>
              </p:cNvSpPr>
              <p:nvPr/>
            </p:nvSpPr>
            <p:spPr bwMode="auto">
              <a:xfrm>
                <a:off x="3376" y="3206"/>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1</a:t>
                </a:r>
                <a:endParaRPr lang="en-US" altLang="en-US" sz="2400"/>
              </a:p>
            </p:txBody>
          </p:sp>
          <p:sp>
            <p:nvSpPr>
              <p:cNvPr id="498185" name="Rectangle 521"/>
              <p:cNvSpPr>
                <a:spLocks noChangeArrowheads="1"/>
              </p:cNvSpPr>
              <p:nvPr/>
            </p:nvSpPr>
            <p:spPr bwMode="auto">
              <a:xfrm>
                <a:off x="4078" y="3206"/>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8186" name="Rectangle 522"/>
              <p:cNvSpPr>
                <a:spLocks noChangeArrowheads="1"/>
              </p:cNvSpPr>
              <p:nvPr/>
            </p:nvSpPr>
            <p:spPr bwMode="auto">
              <a:xfrm>
                <a:off x="2644" y="3206"/>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8187" name="Rectangle 523"/>
              <p:cNvSpPr>
                <a:spLocks noChangeArrowheads="1"/>
              </p:cNvSpPr>
              <p:nvPr/>
            </p:nvSpPr>
            <p:spPr bwMode="auto">
              <a:xfrm>
                <a:off x="2716" y="2491"/>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8188" name="Freeform 524"/>
              <p:cNvSpPr>
                <a:spLocks/>
              </p:cNvSpPr>
              <p:nvPr/>
            </p:nvSpPr>
            <p:spPr bwMode="auto">
              <a:xfrm>
                <a:off x="3953" y="2635"/>
                <a:ext cx="413" cy="263"/>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89" name="Freeform 525"/>
              <p:cNvSpPr>
                <a:spLocks/>
              </p:cNvSpPr>
              <p:nvPr/>
            </p:nvSpPr>
            <p:spPr bwMode="auto">
              <a:xfrm>
                <a:off x="3938" y="2807"/>
                <a:ext cx="81" cy="94"/>
              </a:xfrm>
              <a:custGeom>
                <a:avLst/>
                <a:gdLst>
                  <a:gd name="T0" fmla="*/ 81 w 81"/>
                  <a:gd name="T1" fmla="*/ 94 h 94"/>
                  <a:gd name="T2" fmla="*/ 37 w 81"/>
                  <a:gd name="T3" fmla="*/ 0 h 94"/>
                  <a:gd name="T4" fmla="*/ 0 w 81"/>
                  <a:gd name="T5" fmla="*/ 32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2"/>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90" name="Rectangle 526"/>
              <p:cNvSpPr>
                <a:spLocks noChangeArrowheads="1"/>
              </p:cNvSpPr>
              <p:nvPr/>
            </p:nvSpPr>
            <p:spPr bwMode="auto">
              <a:xfrm>
                <a:off x="4101" y="2497"/>
                <a:ext cx="9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8191" name="Rectangle 527"/>
              <p:cNvSpPr>
                <a:spLocks noChangeArrowheads="1"/>
              </p:cNvSpPr>
              <p:nvPr/>
            </p:nvSpPr>
            <p:spPr bwMode="auto">
              <a:xfrm>
                <a:off x="3120" y="2887"/>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8192" name="Rectangle 528"/>
              <p:cNvSpPr>
                <a:spLocks noChangeArrowheads="1"/>
              </p:cNvSpPr>
              <p:nvPr/>
            </p:nvSpPr>
            <p:spPr bwMode="auto">
              <a:xfrm>
                <a:off x="4454" y="2887"/>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8193" name="Oval 529"/>
              <p:cNvSpPr>
                <a:spLocks noChangeArrowheads="1"/>
              </p:cNvSpPr>
              <p:nvPr/>
            </p:nvSpPr>
            <p:spPr bwMode="auto">
              <a:xfrm>
                <a:off x="3956" y="2867"/>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94" name="Rectangle 530"/>
              <p:cNvSpPr>
                <a:spLocks noChangeArrowheads="1"/>
              </p:cNvSpPr>
              <p:nvPr/>
            </p:nvSpPr>
            <p:spPr bwMode="auto">
              <a:xfrm>
                <a:off x="4824" y="2960"/>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S4</a:t>
                </a:r>
                <a:endParaRPr lang="en-US" altLang="en-US" sz="2400"/>
              </a:p>
            </p:txBody>
          </p:sp>
          <p:sp>
            <p:nvSpPr>
              <p:cNvPr id="498195" name="Oval 531"/>
              <p:cNvSpPr>
                <a:spLocks noChangeArrowheads="1"/>
              </p:cNvSpPr>
              <p:nvPr/>
            </p:nvSpPr>
            <p:spPr bwMode="auto">
              <a:xfrm>
                <a:off x="2537" y="2867"/>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96" name="Rectangle 532"/>
              <p:cNvSpPr>
                <a:spLocks noChangeArrowheads="1"/>
              </p:cNvSpPr>
              <p:nvPr/>
            </p:nvSpPr>
            <p:spPr bwMode="auto">
              <a:xfrm>
                <a:off x="4795" y="3206"/>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8197" name="Oval 533"/>
              <p:cNvSpPr>
                <a:spLocks noChangeArrowheads="1"/>
              </p:cNvSpPr>
              <p:nvPr/>
            </p:nvSpPr>
            <p:spPr bwMode="auto">
              <a:xfrm>
                <a:off x="4663" y="2867"/>
                <a:ext cx="412"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98" name="Line 534"/>
              <p:cNvSpPr>
                <a:spLocks noChangeShapeType="1"/>
              </p:cNvSpPr>
              <p:nvPr/>
            </p:nvSpPr>
            <p:spPr bwMode="auto">
              <a:xfrm>
                <a:off x="1687" y="2723"/>
                <a:ext cx="144" cy="12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199" name="Freeform 535"/>
              <p:cNvSpPr>
                <a:spLocks/>
              </p:cNvSpPr>
              <p:nvPr/>
            </p:nvSpPr>
            <p:spPr bwMode="auto">
              <a:xfrm>
                <a:off x="2937" y="2851"/>
                <a:ext cx="88" cy="91"/>
              </a:xfrm>
              <a:custGeom>
                <a:avLst/>
                <a:gdLst>
                  <a:gd name="T0" fmla="*/ 0 w 88"/>
                  <a:gd name="T1" fmla="*/ 91 h 91"/>
                  <a:gd name="T2" fmla="*/ 88 w 88"/>
                  <a:gd name="T3" fmla="*/ 34 h 91"/>
                  <a:gd name="T4" fmla="*/ 50 w 88"/>
                  <a:gd name="T5" fmla="*/ 0 h 91"/>
                  <a:gd name="T6" fmla="*/ 0 w 88"/>
                  <a:gd name="T7" fmla="*/ 91 h 91"/>
                </a:gdLst>
                <a:ahLst/>
                <a:cxnLst>
                  <a:cxn ang="0">
                    <a:pos x="T0" y="T1"/>
                  </a:cxn>
                  <a:cxn ang="0">
                    <a:pos x="T2" y="T3"/>
                  </a:cxn>
                  <a:cxn ang="0">
                    <a:pos x="T4" y="T5"/>
                  </a:cxn>
                  <a:cxn ang="0">
                    <a:pos x="T6" y="T7"/>
                  </a:cxn>
                </a:cxnLst>
                <a:rect l="0" t="0" r="r" b="b"/>
                <a:pathLst>
                  <a:path w="88" h="91">
                    <a:moveTo>
                      <a:pt x="0" y="91"/>
                    </a:moveTo>
                    <a:lnTo>
                      <a:pt x="88" y="34"/>
                    </a:lnTo>
                    <a:lnTo>
                      <a:pt x="50" y="0"/>
                    </a:lnTo>
                    <a:lnTo>
                      <a:pt x="0" y="9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200" name="Freeform 536"/>
              <p:cNvSpPr>
                <a:spLocks/>
              </p:cNvSpPr>
              <p:nvPr/>
            </p:nvSpPr>
            <p:spPr bwMode="auto">
              <a:xfrm>
                <a:off x="2972" y="1776"/>
                <a:ext cx="1881" cy="1125"/>
              </a:xfrm>
              <a:custGeom>
                <a:avLst/>
                <a:gdLst>
                  <a:gd name="T0" fmla="*/ 602 w 602"/>
                  <a:gd name="T1" fmla="*/ 349 h 360"/>
                  <a:gd name="T2" fmla="*/ 0 w 602"/>
                  <a:gd name="T3" fmla="*/ 360 h 360"/>
                </a:gdLst>
                <a:ahLst/>
                <a:cxnLst>
                  <a:cxn ang="0">
                    <a:pos x="T0" y="T1"/>
                  </a:cxn>
                  <a:cxn ang="0">
                    <a:pos x="T2" y="T3"/>
                  </a:cxn>
                </a:cxnLst>
                <a:rect l="0" t="0" r="r" b="b"/>
                <a:pathLst>
                  <a:path w="602" h="360">
                    <a:moveTo>
                      <a:pt x="602" y="349"/>
                    </a:moveTo>
                    <a:cubicBezTo>
                      <a:pt x="602" y="349"/>
                      <a:pt x="346" y="0"/>
                      <a:pt x="0" y="36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98201" name="Rectangle 537"/>
            <p:cNvSpPr>
              <a:spLocks noChangeArrowheads="1"/>
            </p:cNvSpPr>
            <p:nvPr/>
          </p:nvSpPr>
          <p:spPr bwMode="auto">
            <a:xfrm>
              <a:off x="1847" y="3402"/>
              <a:ext cx="580"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1</a:t>
              </a:r>
            </a:p>
            <a:p>
              <a:r>
                <a:rPr lang="en-US" altLang="en-US" sz="1300">
                  <a:solidFill>
                    <a:srgbClr val="000000"/>
                  </a:solidFill>
                  <a:latin typeface="Myriad Roman" charset="0"/>
                </a:rPr>
                <a:t>Dreg_ld = 0</a:t>
              </a:r>
            </a:p>
            <a:p>
              <a:r>
                <a:rPr lang="en-US" altLang="en-US" sz="1300">
                  <a:solidFill>
                    <a:srgbClr val="000000"/>
                  </a:solidFill>
                  <a:latin typeface="Myriad Roman" charset="0"/>
                </a:rPr>
                <a:t>Dctr_clr = 0</a:t>
              </a:r>
            </a:p>
            <a:p>
              <a:r>
                <a:rPr lang="en-US" altLang="en-US" sz="1300">
                  <a:solidFill>
                    <a:srgbClr val="000000"/>
                  </a:solidFill>
                  <a:latin typeface="Myriad Roman" charset="0"/>
                </a:rPr>
                <a:t>Dctr_cnt = 0</a:t>
              </a:r>
            </a:p>
            <a:p>
              <a:r>
                <a:rPr lang="en-US" altLang="en-US" sz="1300">
                  <a:solidFill>
                    <a:srgbClr val="000000"/>
                  </a:solidFill>
                  <a:latin typeface="Myriad Roman" charset="0"/>
                </a:rPr>
                <a:t>(laser off)</a:t>
              </a:r>
            </a:p>
            <a:p>
              <a:r>
                <a:rPr lang="en-US" altLang="en-US" sz="1300">
                  <a:solidFill>
                    <a:srgbClr val="000000"/>
                  </a:solidFill>
                  <a:latin typeface="Myriad Roman" charset="0"/>
                </a:rPr>
                <a:t>(clear D reg)</a:t>
              </a:r>
              <a:endParaRPr lang="en-US" altLang="en-US" sz="2400"/>
            </a:p>
          </p:txBody>
        </p:sp>
        <p:sp>
          <p:nvSpPr>
            <p:cNvPr id="498202" name="Rectangle 538"/>
            <p:cNvSpPr>
              <a:spLocks noChangeArrowheads="1"/>
            </p:cNvSpPr>
            <p:nvPr/>
          </p:nvSpPr>
          <p:spPr bwMode="auto">
            <a:xfrm>
              <a:off x="2555" y="3402"/>
              <a:ext cx="580"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0</a:t>
              </a:r>
            </a:p>
            <a:p>
              <a:r>
                <a:rPr lang="en-US" altLang="en-US" sz="1300">
                  <a:solidFill>
                    <a:srgbClr val="000000"/>
                  </a:solidFill>
                  <a:latin typeface="Myriad Roman" charset="0"/>
                </a:rPr>
                <a:t>Dreg_ld = 0</a:t>
              </a:r>
            </a:p>
            <a:p>
              <a:r>
                <a:rPr lang="en-US" altLang="en-US" sz="1300">
                  <a:solidFill>
                    <a:srgbClr val="000000"/>
                  </a:solidFill>
                  <a:latin typeface="Myriad Roman" charset="0"/>
                </a:rPr>
                <a:t>Dctr_clr = 1</a:t>
              </a:r>
            </a:p>
            <a:p>
              <a:r>
                <a:rPr lang="en-US" altLang="en-US" sz="1300">
                  <a:solidFill>
                    <a:srgbClr val="000000"/>
                  </a:solidFill>
                  <a:latin typeface="Myriad Roman" charset="0"/>
                </a:rPr>
                <a:t>Dctr_cnt = 0</a:t>
              </a:r>
            </a:p>
            <a:p>
              <a:r>
                <a:rPr lang="en-US" altLang="en-US" sz="1300">
                  <a:solidFill>
                    <a:srgbClr val="000000"/>
                  </a:solidFill>
                  <a:latin typeface="Myriad Roman" charset="0"/>
                </a:rPr>
                <a:t>(clear count)</a:t>
              </a:r>
              <a:endParaRPr lang="en-US" altLang="en-US" sz="2400"/>
            </a:p>
          </p:txBody>
        </p:sp>
        <p:sp>
          <p:nvSpPr>
            <p:cNvPr id="498203" name="Rectangle 539"/>
            <p:cNvSpPr>
              <a:spLocks noChangeArrowheads="1"/>
            </p:cNvSpPr>
            <p:nvPr/>
          </p:nvSpPr>
          <p:spPr bwMode="auto">
            <a:xfrm>
              <a:off x="3289" y="3402"/>
              <a:ext cx="571" cy="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0</a:t>
              </a:r>
            </a:p>
            <a:p>
              <a:r>
                <a:rPr lang="en-US" altLang="en-US" sz="1300">
                  <a:solidFill>
                    <a:srgbClr val="000000"/>
                  </a:solidFill>
                  <a:latin typeface="Myriad Roman" charset="0"/>
                </a:rPr>
                <a:t>Dreg_ld = 0</a:t>
              </a:r>
            </a:p>
            <a:p>
              <a:r>
                <a:rPr lang="en-US" altLang="en-US" sz="1300">
                  <a:solidFill>
                    <a:srgbClr val="000000"/>
                  </a:solidFill>
                  <a:latin typeface="Myriad Roman" charset="0"/>
                </a:rPr>
                <a:t>Dctr_clr = 0</a:t>
              </a:r>
            </a:p>
            <a:p>
              <a:r>
                <a:rPr lang="en-US" altLang="en-US" sz="1300">
                  <a:solidFill>
                    <a:srgbClr val="000000"/>
                  </a:solidFill>
                  <a:latin typeface="Myriad Roman" charset="0"/>
                </a:rPr>
                <a:t>Dctr_cnt = 0</a:t>
              </a:r>
            </a:p>
            <a:p>
              <a:r>
                <a:rPr lang="en-US" altLang="en-US" sz="1300">
                  <a:solidFill>
                    <a:srgbClr val="000000"/>
                  </a:solidFill>
                  <a:latin typeface="Myriad Roman" charset="0"/>
                </a:rPr>
                <a:t>(laser on)</a:t>
              </a:r>
              <a:endParaRPr lang="en-US" altLang="en-US" sz="2400"/>
            </a:p>
          </p:txBody>
        </p:sp>
        <p:sp>
          <p:nvSpPr>
            <p:cNvPr id="498204" name="Rectangle 540"/>
            <p:cNvSpPr>
              <a:spLocks noChangeArrowheads="1"/>
            </p:cNvSpPr>
            <p:nvPr/>
          </p:nvSpPr>
          <p:spPr bwMode="auto">
            <a:xfrm>
              <a:off x="3993" y="3402"/>
              <a:ext cx="571"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0</a:t>
              </a:r>
            </a:p>
            <a:p>
              <a:r>
                <a:rPr lang="en-US" altLang="en-US" sz="1300">
                  <a:solidFill>
                    <a:srgbClr val="000000"/>
                  </a:solidFill>
                  <a:latin typeface="Myriad Roman" charset="0"/>
                </a:rPr>
                <a:t>Dreg_ld = 0</a:t>
              </a:r>
            </a:p>
            <a:p>
              <a:r>
                <a:rPr lang="en-US" altLang="en-US" sz="1300">
                  <a:solidFill>
                    <a:srgbClr val="000000"/>
                  </a:solidFill>
                  <a:latin typeface="Myriad Roman" charset="0"/>
                </a:rPr>
                <a:t>Dctr_clr = 0</a:t>
              </a:r>
            </a:p>
            <a:p>
              <a:r>
                <a:rPr lang="en-US" altLang="en-US" sz="1300">
                  <a:solidFill>
                    <a:srgbClr val="000000"/>
                  </a:solidFill>
                  <a:latin typeface="Myriad Roman" charset="0"/>
                </a:rPr>
                <a:t>Dctr_cnt = 1</a:t>
              </a:r>
            </a:p>
            <a:p>
              <a:r>
                <a:rPr lang="en-US" altLang="en-US" sz="1300">
                  <a:solidFill>
                    <a:srgbClr val="000000"/>
                  </a:solidFill>
                  <a:latin typeface="Myriad Roman" charset="0"/>
                </a:rPr>
                <a:t>(laser off)</a:t>
              </a:r>
            </a:p>
            <a:p>
              <a:r>
                <a:rPr lang="en-US" altLang="en-US" sz="1300">
                  <a:solidFill>
                    <a:srgbClr val="000000"/>
                  </a:solidFill>
                  <a:latin typeface="Myriad Roman" charset="0"/>
                </a:rPr>
                <a:t>(count up)</a:t>
              </a:r>
              <a:endParaRPr lang="en-US" altLang="en-US" sz="2400"/>
            </a:p>
          </p:txBody>
        </p:sp>
        <p:sp>
          <p:nvSpPr>
            <p:cNvPr id="498205" name="Rectangle 541"/>
            <p:cNvSpPr>
              <a:spLocks noChangeArrowheads="1"/>
            </p:cNvSpPr>
            <p:nvPr/>
          </p:nvSpPr>
          <p:spPr bwMode="auto">
            <a:xfrm>
              <a:off x="4706" y="3402"/>
              <a:ext cx="1072" cy="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0</a:t>
              </a:r>
            </a:p>
            <a:p>
              <a:r>
                <a:rPr lang="en-US" altLang="en-US" sz="1300">
                  <a:solidFill>
                    <a:srgbClr val="000000"/>
                  </a:solidFill>
                  <a:latin typeface="Myriad Roman" charset="0"/>
                </a:rPr>
                <a:t>Dreg_ld = 1</a:t>
              </a:r>
            </a:p>
            <a:p>
              <a:r>
                <a:rPr lang="en-US" altLang="en-US" sz="1300">
                  <a:solidFill>
                    <a:srgbClr val="000000"/>
                  </a:solidFill>
                  <a:latin typeface="Myriad Roman" charset="0"/>
                </a:rPr>
                <a:t>Dctr_clr = 0</a:t>
              </a:r>
            </a:p>
            <a:p>
              <a:r>
                <a:rPr lang="en-US" altLang="en-US" sz="1300">
                  <a:solidFill>
                    <a:srgbClr val="000000"/>
                  </a:solidFill>
                  <a:latin typeface="Myriad Roman" charset="0"/>
                </a:rPr>
                <a:t>Dctr_cnt = 0</a:t>
              </a:r>
            </a:p>
            <a:p>
              <a:r>
                <a:rPr lang="en-US" altLang="en-US" sz="1300">
                  <a:solidFill>
                    <a:srgbClr val="000000"/>
                  </a:solidFill>
                  <a:latin typeface="Myriad Roman" charset="0"/>
                </a:rPr>
                <a:t>(load D reg with Dctr/2)</a:t>
              </a:r>
            </a:p>
            <a:p>
              <a:r>
                <a:rPr lang="en-US" altLang="en-US" sz="1300">
                  <a:solidFill>
                    <a:srgbClr val="000000"/>
                  </a:solidFill>
                  <a:latin typeface="Myriad Roman" charset="0"/>
                </a:rPr>
                <a:t>(stop counting)</a:t>
              </a:r>
              <a:endParaRPr lang="en-US" altLang="en-US" sz="2400"/>
            </a:p>
          </p:txBody>
        </p:sp>
      </p:grpSp>
      <p:grpSp>
        <p:nvGrpSpPr>
          <p:cNvPr id="498215" name="Group 551"/>
          <p:cNvGrpSpPr>
            <a:grpSpLocks/>
          </p:cNvGrpSpPr>
          <p:nvPr/>
        </p:nvGrpSpPr>
        <p:grpSpPr bwMode="auto">
          <a:xfrm>
            <a:off x="1938338" y="3136900"/>
            <a:ext cx="6356350" cy="3060700"/>
            <a:chOff x="1221" y="1976"/>
            <a:chExt cx="4004" cy="1928"/>
          </a:xfrm>
        </p:grpSpPr>
        <p:sp>
          <p:nvSpPr>
            <p:cNvPr id="498025" name="Rectangle 361"/>
            <p:cNvSpPr>
              <a:spLocks noChangeArrowheads="1"/>
            </p:cNvSpPr>
            <p:nvPr/>
          </p:nvSpPr>
          <p:spPr bwMode="auto">
            <a:xfrm>
              <a:off x="1535"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S0</a:t>
              </a:r>
              <a:endParaRPr lang="en-US" altLang="en-US" sz="2400"/>
            </a:p>
          </p:txBody>
        </p:sp>
        <p:sp>
          <p:nvSpPr>
            <p:cNvPr id="498026" name="Oval 362"/>
            <p:cNvSpPr>
              <a:spLocks noChangeArrowheads="1"/>
            </p:cNvSpPr>
            <p:nvPr/>
          </p:nvSpPr>
          <p:spPr bwMode="auto">
            <a:xfrm>
              <a:off x="1374" y="3063"/>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027" name="Line 363"/>
            <p:cNvSpPr>
              <a:spLocks noChangeShapeType="1"/>
            </p:cNvSpPr>
            <p:nvPr/>
          </p:nvSpPr>
          <p:spPr bwMode="auto">
            <a:xfrm>
              <a:off x="1790" y="3213"/>
              <a:ext cx="20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028" name="Freeform 364"/>
            <p:cNvSpPr>
              <a:spLocks/>
            </p:cNvSpPr>
            <p:nvPr/>
          </p:nvSpPr>
          <p:spPr bwMode="auto">
            <a:xfrm>
              <a:off x="1980" y="318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029" name="Line 365"/>
            <p:cNvSpPr>
              <a:spLocks noChangeShapeType="1"/>
            </p:cNvSpPr>
            <p:nvPr/>
          </p:nvSpPr>
          <p:spPr bwMode="auto">
            <a:xfrm>
              <a:off x="2493" y="3213"/>
              <a:ext cx="21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030" name="Freeform 366"/>
            <p:cNvSpPr>
              <a:spLocks/>
            </p:cNvSpPr>
            <p:nvPr/>
          </p:nvSpPr>
          <p:spPr bwMode="auto">
            <a:xfrm>
              <a:off x="2690" y="318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031" name="Rectangle 367"/>
            <p:cNvSpPr>
              <a:spLocks noChangeArrowheads="1"/>
            </p:cNvSpPr>
            <p:nvPr/>
          </p:nvSpPr>
          <p:spPr bwMode="auto">
            <a:xfrm>
              <a:off x="2242"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S1</a:t>
              </a:r>
              <a:endParaRPr lang="en-US" altLang="en-US" sz="2400"/>
            </a:p>
          </p:txBody>
        </p:sp>
        <p:sp>
          <p:nvSpPr>
            <p:cNvPr id="498032" name="Rectangle 368"/>
            <p:cNvSpPr>
              <a:spLocks noChangeArrowheads="1"/>
            </p:cNvSpPr>
            <p:nvPr/>
          </p:nvSpPr>
          <p:spPr bwMode="auto">
            <a:xfrm>
              <a:off x="2954"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S2</a:t>
              </a:r>
              <a:endParaRPr lang="en-US" altLang="en-US" sz="2400"/>
            </a:p>
          </p:txBody>
        </p:sp>
        <p:sp>
          <p:nvSpPr>
            <p:cNvPr id="498033" name="Oval 369"/>
            <p:cNvSpPr>
              <a:spLocks noChangeArrowheads="1"/>
            </p:cNvSpPr>
            <p:nvPr/>
          </p:nvSpPr>
          <p:spPr bwMode="auto">
            <a:xfrm>
              <a:off x="2793" y="3063"/>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034" name="Line 370"/>
            <p:cNvSpPr>
              <a:spLocks noChangeShapeType="1"/>
            </p:cNvSpPr>
            <p:nvPr/>
          </p:nvSpPr>
          <p:spPr bwMode="auto">
            <a:xfrm>
              <a:off x="3209" y="3213"/>
              <a:ext cx="20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035" name="Freeform 371"/>
            <p:cNvSpPr>
              <a:spLocks/>
            </p:cNvSpPr>
            <p:nvPr/>
          </p:nvSpPr>
          <p:spPr bwMode="auto">
            <a:xfrm>
              <a:off x="3399" y="318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036" name="Line 372"/>
            <p:cNvSpPr>
              <a:spLocks noChangeShapeType="1"/>
            </p:cNvSpPr>
            <p:nvPr/>
          </p:nvSpPr>
          <p:spPr bwMode="auto">
            <a:xfrm>
              <a:off x="3915" y="3213"/>
              <a:ext cx="20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037" name="Freeform 373"/>
            <p:cNvSpPr>
              <a:spLocks/>
            </p:cNvSpPr>
            <p:nvPr/>
          </p:nvSpPr>
          <p:spPr bwMode="auto">
            <a:xfrm>
              <a:off x="4103" y="318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038" name="Rectangle 374"/>
            <p:cNvSpPr>
              <a:spLocks noChangeArrowheads="1"/>
            </p:cNvSpPr>
            <p:nvPr/>
          </p:nvSpPr>
          <p:spPr bwMode="auto">
            <a:xfrm>
              <a:off x="3661"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S3</a:t>
              </a:r>
              <a:endParaRPr lang="en-US" altLang="en-US" sz="2400"/>
            </a:p>
          </p:txBody>
        </p:sp>
        <p:sp>
          <p:nvSpPr>
            <p:cNvPr id="498039" name="Freeform 375"/>
            <p:cNvSpPr>
              <a:spLocks/>
            </p:cNvSpPr>
            <p:nvPr/>
          </p:nvSpPr>
          <p:spPr bwMode="auto">
            <a:xfrm>
              <a:off x="2080" y="2832"/>
              <a:ext cx="413" cy="263"/>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040" name="Freeform 376"/>
            <p:cNvSpPr>
              <a:spLocks/>
            </p:cNvSpPr>
            <p:nvPr/>
          </p:nvSpPr>
          <p:spPr bwMode="auto">
            <a:xfrm>
              <a:off x="2065" y="3004"/>
              <a:ext cx="81" cy="94"/>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041" name="Rectangle 377"/>
            <p:cNvSpPr>
              <a:spLocks noChangeArrowheads="1"/>
            </p:cNvSpPr>
            <p:nvPr/>
          </p:nvSpPr>
          <p:spPr bwMode="auto">
            <a:xfrm>
              <a:off x="1494" y="3404"/>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8042" name="Rectangle 378"/>
            <p:cNvSpPr>
              <a:spLocks noChangeArrowheads="1"/>
            </p:cNvSpPr>
            <p:nvPr/>
          </p:nvSpPr>
          <p:spPr bwMode="auto">
            <a:xfrm>
              <a:off x="2919" y="3404"/>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1</a:t>
              </a:r>
              <a:endParaRPr lang="en-US" altLang="en-US" sz="2400"/>
            </a:p>
          </p:txBody>
        </p:sp>
        <p:sp>
          <p:nvSpPr>
            <p:cNvPr id="498043" name="Rectangle 379"/>
            <p:cNvSpPr>
              <a:spLocks noChangeArrowheads="1"/>
            </p:cNvSpPr>
            <p:nvPr/>
          </p:nvSpPr>
          <p:spPr bwMode="auto">
            <a:xfrm>
              <a:off x="3621" y="3404"/>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8044" name="Rectangle 380"/>
            <p:cNvSpPr>
              <a:spLocks noChangeArrowheads="1"/>
            </p:cNvSpPr>
            <p:nvPr/>
          </p:nvSpPr>
          <p:spPr bwMode="auto">
            <a:xfrm>
              <a:off x="2259" y="2689"/>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8046" name="Freeform 382"/>
            <p:cNvSpPr>
              <a:spLocks/>
            </p:cNvSpPr>
            <p:nvPr/>
          </p:nvSpPr>
          <p:spPr bwMode="auto">
            <a:xfrm>
              <a:off x="3496" y="2832"/>
              <a:ext cx="413" cy="263"/>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047" name="Freeform 383"/>
            <p:cNvSpPr>
              <a:spLocks/>
            </p:cNvSpPr>
            <p:nvPr/>
          </p:nvSpPr>
          <p:spPr bwMode="auto">
            <a:xfrm>
              <a:off x="3481" y="3004"/>
              <a:ext cx="81" cy="94"/>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048" name="Rectangle 384"/>
            <p:cNvSpPr>
              <a:spLocks noChangeArrowheads="1"/>
            </p:cNvSpPr>
            <p:nvPr/>
          </p:nvSpPr>
          <p:spPr bwMode="auto">
            <a:xfrm>
              <a:off x="3668" y="2689"/>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8050" name="Rectangle 386"/>
            <p:cNvSpPr>
              <a:spLocks noChangeArrowheads="1"/>
            </p:cNvSpPr>
            <p:nvPr/>
          </p:nvSpPr>
          <p:spPr bwMode="auto">
            <a:xfrm>
              <a:off x="2663" y="3085"/>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8051" name="Rectangle 387"/>
            <p:cNvSpPr>
              <a:spLocks noChangeArrowheads="1"/>
            </p:cNvSpPr>
            <p:nvPr/>
          </p:nvSpPr>
          <p:spPr bwMode="auto">
            <a:xfrm>
              <a:off x="3997" y="3085"/>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8052" name="Oval 388"/>
            <p:cNvSpPr>
              <a:spLocks noChangeArrowheads="1"/>
            </p:cNvSpPr>
            <p:nvPr/>
          </p:nvSpPr>
          <p:spPr bwMode="auto">
            <a:xfrm>
              <a:off x="3499" y="3063"/>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053" name="Oval 389"/>
            <p:cNvSpPr>
              <a:spLocks noChangeArrowheads="1"/>
            </p:cNvSpPr>
            <p:nvPr/>
          </p:nvSpPr>
          <p:spPr bwMode="auto">
            <a:xfrm>
              <a:off x="2080" y="3063"/>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07" name="Rectangle 443"/>
            <p:cNvSpPr>
              <a:spLocks noChangeArrowheads="1"/>
            </p:cNvSpPr>
            <p:nvPr/>
          </p:nvSpPr>
          <p:spPr bwMode="auto">
            <a:xfrm>
              <a:off x="2792" y="3506"/>
              <a:ext cx="4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(laser on)</a:t>
              </a:r>
              <a:endParaRPr lang="en-US" altLang="en-US" sz="2400"/>
            </a:p>
          </p:txBody>
        </p:sp>
        <p:sp>
          <p:nvSpPr>
            <p:cNvPr id="498108" name="Freeform 444"/>
            <p:cNvSpPr>
              <a:spLocks/>
            </p:cNvSpPr>
            <p:nvPr/>
          </p:nvSpPr>
          <p:spPr bwMode="auto">
            <a:xfrm>
              <a:off x="1340" y="3010"/>
              <a:ext cx="90" cy="85"/>
            </a:xfrm>
            <a:custGeom>
              <a:avLst/>
              <a:gdLst>
                <a:gd name="T0" fmla="*/ 90 w 90"/>
                <a:gd name="T1" fmla="*/ 85 h 85"/>
                <a:gd name="T2" fmla="*/ 34 w 90"/>
                <a:gd name="T3" fmla="*/ 0 h 85"/>
                <a:gd name="T4" fmla="*/ 0 w 90"/>
                <a:gd name="T5" fmla="*/ 38 h 85"/>
                <a:gd name="T6" fmla="*/ 90 w 90"/>
                <a:gd name="T7" fmla="*/ 85 h 85"/>
              </a:gdLst>
              <a:ahLst/>
              <a:cxnLst>
                <a:cxn ang="0">
                  <a:pos x="T0" y="T1"/>
                </a:cxn>
                <a:cxn ang="0">
                  <a:pos x="T2" y="T3"/>
                </a:cxn>
                <a:cxn ang="0">
                  <a:pos x="T4" y="T5"/>
                </a:cxn>
                <a:cxn ang="0">
                  <a:pos x="T6" y="T7"/>
                </a:cxn>
              </a:cxnLst>
              <a:rect l="0" t="0" r="r" b="b"/>
              <a:pathLst>
                <a:path w="90" h="85">
                  <a:moveTo>
                    <a:pt x="90" y="85"/>
                  </a:moveTo>
                  <a:lnTo>
                    <a:pt x="34" y="0"/>
                  </a:lnTo>
                  <a:lnTo>
                    <a:pt x="0" y="38"/>
                  </a:lnTo>
                  <a:lnTo>
                    <a:pt x="9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09" name="Freeform 445"/>
            <p:cNvSpPr>
              <a:spLocks/>
            </p:cNvSpPr>
            <p:nvPr/>
          </p:nvSpPr>
          <p:spPr bwMode="auto">
            <a:xfrm>
              <a:off x="2465" y="3051"/>
              <a:ext cx="87" cy="90"/>
            </a:xfrm>
            <a:custGeom>
              <a:avLst/>
              <a:gdLst>
                <a:gd name="T0" fmla="*/ 0 w 87"/>
                <a:gd name="T1" fmla="*/ 90 h 90"/>
                <a:gd name="T2" fmla="*/ 87 w 87"/>
                <a:gd name="T3" fmla="*/ 34 h 90"/>
                <a:gd name="T4" fmla="*/ 50 w 87"/>
                <a:gd name="T5" fmla="*/ 0 h 90"/>
                <a:gd name="T6" fmla="*/ 0 w 87"/>
                <a:gd name="T7" fmla="*/ 90 h 90"/>
              </a:gdLst>
              <a:ahLst/>
              <a:cxnLst>
                <a:cxn ang="0">
                  <a:pos x="T0" y="T1"/>
                </a:cxn>
                <a:cxn ang="0">
                  <a:pos x="T2" y="T3"/>
                </a:cxn>
                <a:cxn ang="0">
                  <a:pos x="T4" y="T5"/>
                </a:cxn>
                <a:cxn ang="0">
                  <a:pos x="T6" y="T7"/>
                </a:cxn>
              </a:cxnLst>
              <a:rect l="0" t="0" r="r" b="b"/>
              <a:pathLst>
                <a:path w="87" h="90">
                  <a:moveTo>
                    <a:pt x="0" y="90"/>
                  </a:moveTo>
                  <a:lnTo>
                    <a:pt x="87" y="34"/>
                  </a:lnTo>
                  <a:lnTo>
                    <a:pt x="50" y="0"/>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110" name="Freeform 446"/>
            <p:cNvSpPr>
              <a:spLocks/>
            </p:cNvSpPr>
            <p:nvPr/>
          </p:nvSpPr>
          <p:spPr bwMode="auto">
            <a:xfrm>
              <a:off x="2499" y="1976"/>
              <a:ext cx="1891" cy="1125"/>
            </a:xfrm>
            <a:custGeom>
              <a:avLst/>
              <a:gdLst>
                <a:gd name="T0" fmla="*/ 605 w 605"/>
                <a:gd name="T1" fmla="*/ 348 h 360"/>
                <a:gd name="T2" fmla="*/ 0 w 605"/>
                <a:gd name="T3" fmla="*/ 360 h 360"/>
              </a:gdLst>
              <a:ahLst/>
              <a:cxnLst>
                <a:cxn ang="0">
                  <a:pos x="T0" y="T1"/>
                </a:cxn>
                <a:cxn ang="0">
                  <a:pos x="T2" y="T3"/>
                </a:cxn>
              </a:cxnLst>
              <a:rect l="0" t="0" r="r" b="b"/>
              <a:pathLst>
                <a:path w="605" h="360">
                  <a:moveTo>
                    <a:pt x="605" y="348"/>
                  </a:moveTo>
                  <a:cubicBezTo>
                    <a:pt x="605" y="348"/>
                    <a:pt x="346" y="0"/>
                    <a:pt x="0" y="36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111" name="Line 447"/>
            <p:cNvSpPr>
              <a:spLocks noChangeShapeType="1"/>
            </p:cNvSpPr>
            <p:nvPr/>
          </p:nvSpPr>
          <p:spPr bwMode="auto">
            <a:xfrm>
              <a:off x="1221" y="2913"/>
              <a:ext cx="144" cy="12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112" name="Rectangle 448"/>
            <p:cNvSpPr>
              <a:spLocks noChangeArrowheads="1"/>
            </p:cNvSpPr>
            <p:nvPr/>
          </p:nvSpPr>
          <p:spPr bwMode="auto">
            <a:xfrm>
              <a:off x="4367"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S4</a:t>
              </a:r>
              <a:endParaRPr lang="en-US" altLang="en-US" sz="2400"/>
            </a:p>
          </p:txBody>
        </p:sp>
        <p:sp>
          <p:nvSpPr>
            <p:cNvPr id="498113" name="Oval 449"/>
            <p:cNvSpPr>
              <a:spLocks noChangeArrowheads="1"/>
            </p:cNvSpPr>
            <p:nvPr/>
          </p:nvSpPr>
          <p:spPr bwMode="auto">
            <a:xfrm>
              <a:off x="4206" y="3063"/>
              <a:ext cx="412"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98213" name="Group 549"/>
            <p:cNvGrpSpPr>
              <a:grpSpLocks/>
            </p:cNvGrpSpPr>
            <p:nvPr/>
          </p:nvGrpSpPr>
          <p:grpSpPr bwMode="auto">
            <a:xfrm>
              <a:off x="1226" y="2400"/>
              <a:ext cx="2866" cy="129"/>
              <a:chOff x="1226" y="2400"/>
              <a:chExt cx="2866" cy="129"/>
            </a:xfrm>
          </p:grpSpPr>
          <p:sp>
            <p:nvSpPr>
              <p:cNvPr id="498207" name="Rectangle 543"/>
              <p:cNvSpPr>
                <a:spLocks noChangeArrowheads="1"/>
              </p:cNvSpPr>
              <p:nvPr/>
            </p:nvSpPr>
            <p:spPr bwMode="auto">
              <a:xfrm>
                <a:off x="1226" y="2400"/>
                <a:ext cx="53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Inputs: B, S</a:t>
                </a:r>
                <a:endParaRPr lang="en-US" altLang="en-US" sz="2400"/>
              </a:p>
            </p:txBody>
          </p:sp>
          <p:sp>
            <p:nvSpPr>
              <p:cNvPr id="498208" name="Rectangle 544"/>
              <p:cNvSpPr>
                <a:spLocks noChangeArrowheads="1"/>
              </p:cNvSpPr>
              <p:nvPr/>
            </p:nvSpPr>
            <p:spPr bwMode="auto">
              <a:xfrm>
                <a:off x="1873" y="2404"/>
                <a:ext cx="221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Outputs: L, Dreg_clr, Dreg_ld, Dctr_clr, Dctr_cnt</a:t>
                </a:r>
                <a:endParaRPr lang="en-US" altLang="en-US" sz="2400"/>
              </a:p>
            </p:txBody>
          </p:sp>
        </p:grpSp>
        <p:sp>
          <p:nvSpPr>
            <p:cNvPr id="498209" name="Rectangle 545"/>
            <p:cNvSpPr>
              <a:spLocks noChangeArrowheads="1"/>
            </p:cNvSpPr>
            <p:nvPr/>
          </p:nvSpPr>
          <p:spPr bwMode="auto">
            <a:xfrm>
              <a:off x="1298" y="3506"/>
              <a:ext cx="58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1</a:t>
              </a:r>
            </a:p>
            <a:p>
              <a:r>
                <a:rPr lang="en-US" altLang="en-US" sz="1300">
                  <a:solidFill>
                    <a:srgbClr val="000000"/>
                  </a:solidFill>
                  <a:latin typeface="Myriad Roman" charset="0"/>
                </a:rPr>
                <a:t>(laser off)</a:t>
              </a:r>
            </a:p>
            <a:p>
              <a:r>
                <a:rPr lang="en-US" altLang="en-US" sz="1300">
                  <a:solidFill>
                    <a:srgbClr val="000000"/>
                  </a:solidFill>
                  <a:latin typeface="Myriad Roman" charset="0"/>
                </a:rPr>
                <a:t>(clear D reg)</a:t>
              </a:r>
              <a:endParaRPr lang="en-US" altLang="en-US" sz="2400"/>
            </a:p>
          </p:txBody>
        </p:sp>
        <p:sp>
          <p:nvSpPr>
            <p:cNvPr id="498210" name="Rectangle 546"/>
            <p:cNvSpPr>
              <a:spLocks noChangeArrowheads="1"/>
            </p:cNvSpPr>
            <p:nvPr/>
          </p:nvSpPr>
          <p:spPr bwMode="auto">
            <a:xfrm>
              <a:off x="2002" y="3404"/>
              <a:ext cx="5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Dctr_clr = 1</a:t>
              </a:r>
            </a:p>
            <a:p>
              <a:r>
                <a:rPr lang="en-US" altLang="en-US" sz="1300">
                  <a:solidFill>
                    <a:srgbClr val="000000"/>
                  </a:solidFill>
                  <a:latin typeface="Myriad Roman" charset="0"/>
                </a:rPr>
                <a:t>(clear count)</a:t>
              </a:r>
              <a:endParaRPr lang="en-US" altLang="en-US" sz="2400"/>
            </a:p>
          </p:txBody>
        </p:sp>
        <p:sp>
          <p:nvSpPr>
            <p:cNvPr id="498211" name="Rectangle 547"/>
            <p:cNvSpPr>
              <a:spLocks noChangeArrowheads="1"/>
            </p:cNvSpPr>
            <p:nvPr/>
          </p:nvSpPr>
          <p:spPr bwMode="auto">
            <a:xfrm>
              <a:off x="3440" y="3506"/>
              <a:ext cx="56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Dctr_cnt = 1</a:t>
              </a:r>
            </a:p>
            <a:p>
              <a:r>
                <a:rPr lang="en-US" altLang="en-US" sz="1300">
                  <a:solidFill>
                    <a:srgbClr val="000000"/>
                  </a:solidFill>
                  <a:latin typeface="Myriad Roman" charset="0"/>
                </a:rPr>
                <a:t>(laser off)</a:t>
              </a:r>
            </a:p>
            <a:p>
              <a:r>
                <a:rPr lang="en-US" altLang="en-US" sz="1300">
                  <a:solidFill>
                    <a:srgbClr val="000000"/>
                  </a:solidFill>
                  <a:latin typeface="Myriad Roman" charset="0"/>
                </a:rPr>
                <a:t>(count up)</a:t>
              </a:r>
              <a:endParaRPr lang="en-US" altLang="en-US" sz="2400"/>
            </a:p>
          </p:txBody>
        </p:sp>
        <p:sp>
          <p:nvSpPr>
            <p:cNvPr id="498212" name="Rectangle 548"/>
            <p:cNvSpPr>
              <a:spLocks noChangeArrowheads="1"/>
            </p:cNvSpPr>
            <p:nvPr/>
          </p:nvSpPr>
          <p:spPr bwMode="auto">
            <a:xfrm>
              <a:off x="4153" y="3404"/>
              <a:ext cx="1072"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Dreg_ld = 1</a:t>
              </a:r>
            </a:p>
            <a:p>
              <a:r>
                <a:rPr lang="en-US" altLang="en-US" sz="1300">
                  <a:solidFill>
                    <a:srgbClr val="000000"/>
                  </a:solidFill>
                  <a:latin typeface="Myriad Roman" charset="0"/>
                </a:rPr>
                <a:t>Dctr_cnt = 0</a:t>
              </a:r>
            </a:p>
            <a:p>
              <a:r>
                <a:rPr lang="en-US" altLang="en-US" sz="1300">
                  <a:solidFill>
                    <a:srgbClr val="000000"/>
                  </a:solidFill>
                  <a:latin typeface="Myriad Roman" charset="0"/>
                </a:rPr>
                <a:t>(load D reg with Dctr/2)</a:t>
              </a:r>
            </a:p>
            <a:p>
              <a:r>
                <a:rPr lang="en-US" altLang="en-US" sz="1300">
                  <a:solidFill>
                    <a:srgbClr val="000000"/>
                  </a:solidFill>
                  <a:latin typeface="Myriad Roman" charset="0"/>
                </a:rPr>
                <a:t>(stop counting)</a:t>
              </a:r>
              <a:endParaRPr lang="en-US" altLang="en-US" sz="240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981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9" presetClass="entr" presetSubtype="0" fill="hold" nodeType="clickEffect">
                                  <p:stCondLst>
                                    <p:cond delay="0"/>
                                  </p:stCondLst>
                                  <p:childTnLst>
                                    <p:set>
                                      <p:cBhvr>
                                        <p:cTn id="10" dur="1" fill="hold">
                                          <p:stCondLst>
                                            <p:cond delay="0"/>
                                          </p:stCondLst>
                                        </p:cTn>
                                        <p:tgtEl>
                                          <p:spTgt spid="498215"/>
                                        </p:tgtEl>
                                        <p:attrNameLst>
                                          <p:attrName>style.visibility</p:attrName>
                                        </p:attrNameLst>
                                      </p:cBhvr>
                                      <p:to>
                                        <p:strVal val="visible"/>
                                      </p:to>
                                    </p:set>
                                    <p:animEffect transition="in" filter="dissolve">
                                      <p:cBhvr>
                                        <p:cTn id="11" dur="500"/>
                                        <p:tgtEl>
                                          <p:spTgt spid="4982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 name="Slide Number Placeholder 3"/>
          <p:cNvSpPr>
            <a:spLocks noGrp="1"/>
          </p:cNvSpPr>
          <p:nvPr>
            <p:ph type="sldNum" sz="quarter" idx="10"/>
          </p:nvPr>
        </p:nvSpPr>
        <p:spPr/>
        <p:txBody>
          <a:bodyPr/>
          <a:lstStyle/>
          <a:p>
            <a:fld id="{06470B52-F3FE-4961-8FBB-CC90EAEBFA3A}" type="slidenum">
              <a:rPr lang="en-US" altLang="en-US"/>
              <a:pPr/>
              <a:t>26</a:t>
            </a:fld>
            <a:endParaRPr lang="en-US" altLang="en-US"/>
          </a:p>
        </p:txBody>
      </p:sp>
      <p:sp>
        <p:nvSpPr>
          <p:cNvPr id="498690" name="Rectangle 2"/>
          <p:cNvSpPr>
            <a:spLocks noGrp="1" noChangeArrowheads="1"/>
          </p:cNvSpPr>
          <p:nvPr>
            <p:ph type="title"/>
          </p:nvPr>
        </p:nvSpPr>
        <p:spPr/>
        <p:txBody>
          <a:bodyPr/>
          <a:lstStyle/>
          <a:p>
            <a:r>
              <a:rPr lang="en-US" altLang="en-US"/>
              <a:t>Step 4</a:t>
            </a:r>
          </a:p>
        </p:txBody>
      </p:sp>
      <p:sp>
        <p:nvSpPr>
          <p:cNvPr id="498691" name="Rectangle 3"/>
          <p:cNvSpPr>
            <a:spLocks noGrp="1" noChangeArrowheads="1"/>
          </p:cNvSpPr>
          <p:nvPr>
            <p:ph type="body" idx="1"/>
          </p:nvPr>
        </p:nvSpPr>
        <p:spPr>
          <a:xfrm>
            <a:off x="6734175" y="4170363"/>
            <a:ext cx="2071688" cy="2081212"/>
          </a:xfrm>
        </p:spPr>
        <p:txBody>
          <a:bodyPr/>
          <a:lstStyle/>
          <a:p>
            <a:r>
              <a:rPr lang="en-US" altLang="en-US" sz="2000"/>
              <a:t>Implement FSM as state register and logic (Ch3) to complete the design</a:t>
            </a:r>
          </a:p>
        </p:txBody>
      </p:sp>
      <p:grpSp>
        <p:nvGrpSpPr>
          <p:cNvPr id="499008" name="Group 320"/>
          <p:cNvGrpSpPr>
            <a:grpSpLocks/>
          </p:cNvGrpSpPr>
          <p:nvPr/>
        </p:nvGrpSpPr>
        <p:grpSpPr bwMode="auto">
          <a:xfrm>
            <a:off x="442913" y="1231900"/>
            <a:ext cx="3363912" cy="1598613"/>
            <a:chOff x="279" y="776"/>
            <a:chExt cx="2119" cy="1007"/>
          </a:xfrm>
        </p:grpSpPr>
        <p:sp>
          <p:nvSpPr>
            <p:cNvPr id="498885" name="Rectangle 197"/>
            <p:cNvSpPr>
              <a:spLocks noChangeArrowheads="1"/>
            </p:cNvSpPr>
            <p:nvPr/>
          </p:nvSpPr>
          <p:spPr bwMode="auto">
            <a:xfrm>
              <a:off x="820" y="790"/>
              <a:ext cx="1042" cy="99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886" name="Line 198"/>
            <p:cNvSpPr>
              <a:spLocks noChangeShapeType="1"/>
            </p:cNvSpPr>
            <p:nvPr/>
          </p:nvSpPr>
          <p:spPr bwMode="auto">
            <a:xfrm flipH="1">
              <a:off x="710" y="1605"/>
              <a:ext cx="825"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887" name="Freeform 199"/>
            <p:cNvSpPr>
              <a:spLocks/>
            </p:cNvSpPr>
            <p:nvPr/>
          </p:nvSpPr>
          <p:spPr bwMode="auto">
            <a:xfrm>
              <a:off x="667" y="1588"/>
              <a:ext cx="50" cy="34"/>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888" name="Line 200"/>
            <p:cNvSpPr>
              <a:spLocks noChangeShapeType="1"/>
            </p:cNvSpPr>
            <p:nvPr/>
          </p:nvSpPr>
          <p:spPr bwMode="auto">
            <a:xfrm flipH="1">
              <a:off x="1285" y="970"/>
              <a:ext cx="67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889" name="Freeform 201"/>
            <p:cNvSpPr>
              <a:spLocks/>
            </p:cNvSpPr>
            <p:nvPr/>
          </p:nvSpPr>
          <p:spPr bwMode="auto">
            <a:xfrm>
              <a:off x="1241" y="953"/>
              <a:ext cx="50" cy="34"/>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890" name="Line 202"/>
            <p:cNvSpPr>
              <a:spLocks noChangeShapeType="1"/>
            </p:cNvSpPr>
            <p:nvPr/>
          </p:nvSpPr>
          <p:spPr bwMode="auto">
            <a:xfrm>
              <a:off x="1240" y="874"/>
              <a:ext cx="684" cy="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891" name="Freeform 203"/>
            <p:cNvSpPr>
              <a:spLocks/>
            </p:cNvSpPr>
            <p:nvPr/>
          </p:nvSpPr>
          <p:spPr bwMode="auto">
            <a:xfrm>
              <a:off x="1919" y="857"/>
              <a:ext cx="49" cy="33"/>
            </a:xfrm>
            <a:custGeom>
              <a:avLst/>
              <a:gdLst>
                <a:gd name="T0" fmla="*/ 100 w 100"/>
                <a:gd name="T1" fmla="*/ 25 h 50"/>
                <a:gd name="T2" fmla="*/ 0 w 100"/>
                <a:gd name="T3" fmla="*/ 50 h 50"/>
                <a:gd name="T4" fmla="*/ 0 w 100"/>
                <a:gd name="T5" fmla="*/ 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50"/>
                  </a:lnTo>
                  <a:lnTo>
                    <a:pt x="0" y="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892" name="Line 204"/>
            <p:cNvSpPr>
              <a:spLocks noChangeShapeType="1"/>
            </p:cNvSpPr>
            <p:nvPr/>
          </p:nvSpPr>
          <p:spPr bwMode="auto">
            <a:xfrm>
              <a:off x="709" y="903"/>
              <a:ext cx="182"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893" name="Freeform 205"/>
            <p:cNvSpPr>
              <a:spLocks/>
            </p:cNvSpPr>
            <p:nvPr/>
          </p:nvSpPr>
          <p:spPr bwMode="auto">
            <a:xfrm>
              <a:off x="882" y="886"/>
              <a:ext cx="49"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894" name="Line 206"/>
            <p:cNvSpPr>
              <a:spLocks noChangeShapeType="1"/>
            </p:cNvSpPr>
            <p:nvPr/>
          </p:nvSpPr>
          <p:spPr bwMode="auto">
            <a:xfrm>
              <a:off x="1379" y="1689"/>
              <a:ext cx="119" cy="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895" name="Freeform 207"/>
            <p:cNvSpPr>
              <a:spLocks/>
            </p:cNvSpPr>
            <p:nvPr/>
          </p:nvSpPr>
          <p:spPr bwMode="auto">
            <a:xfrm>
              <a:off x="1490" y="1672"/>
              <a:ext cx="50" cy="3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896" name="Line 208"/>
            <p:cNvSpPr>
              <a:spLocks noChangeShapeType="1"/>
            </p:cNvSpPr>
            <p:nvPr/>
          </p:nvSpPr>
          <p:spPr bwMode="auto">
            <a:xfrm>
              <a:off x="1237" y="1532"/>
              <a:ext cx="25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897" name="Freeform 209"/>
            <p:cNvSpPr>
              <a:spLocks/>
            </p:cNvSpPr>
            <p:nvPr/>
          </p:nvSpPr>
          <p:spPr bwMode="auto">
            <a:xfrm>
              <a:off x="1485" y="1516"/>
              <a:ext cx="50" cy="3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898" name="Line 210"/>
            <p:cNvSpPr>
              <a:spLocks noChangeShapeType="1"/>
            </p:cNvSpPr>
            <p:nvPr/>
          </p:nvSpPr>
          <p:spPr bwMode="auto">
            <a:xfrm>
              <a:off x="1237" y="1382"/>
              <a:ext cx="256" cy="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899" name="Freeform 211"/>
            <p:cNvSpPr>
              <a:spLocks/>
            </p:cNvSpPr>
            <p:nvPr/>
          </p:nvSpPr>
          <p:spPr bwMode="auto">
            <a:xfrm>
              <a:off x="1485" y="1365"/>
              <a:ext cx="50"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00" name="Line 212"/>
            <p:cNvSpPr>
              <a:spLocks noChangeShapeType="1"/>
            </p:cNvSpPr>
            <p:nvPr/>
          </p:nvSpPr>
          <p:spPr bwMode="auto">
            <a:xfrm>
              <a:off x="1237" y="1233"/>
              <a:ext cx="25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901" name="Freeform 213"/>
            <p:cNvSpPr>
              <a:spLocks/>
            </p:cNvSpPr>
            <p:nvPr/>
          </p:nvSpPr>
          <p:spPr bwMode="auto">
            <a:xfrm>
              <a:off x="1485" y="1217"/>
              <a:ext cx="50" cy="3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02" name="Line 214"/>
            <p:cNvSpPr>
              <a:spLocks noChangeShapeType="1"/>
            </p:cNvSpPr>
            <p:nvPr/>
          </p:nvSpPr>
          <p:spPr bwMode="auto">
            <a:xfrm>
              <a:off x="1237" y="1083"/>
              <a:ext cx="25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903" name="Freeform 215"/>
            <p:cNvSpPr>
              <a:spLocks/>
            </p:cNvSpPr>
            <p:nvPr/>
          </p:nvSpPr>
          <p:spPr bwMode="auto">
            <a:xfrm>
              <a:off x="1485" y="1066"/>
              <a:ext cx="50"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04" name="Freeform 216"/>
            <p:cNvSpPr>
              <a:spLocks/>
            </p:cNvSpPr>
            <p:nvPr/>
          </p:nvSpPr>
          <p:spPr bwMode="auto">
            <a:xfrm>
              <a:off x="849" y="1346"/>
              <a:ext cx="83" cy="349"/>
            </a:xfrm>
            <a:custGeom>
              <a:avLst/>
              <a:gdLst>
                <a:gd name="T0" fmla="*/ 85 w 169"/>
                <a:gd name="T1" fmla="*/ 0 h 522"/>
                <a:gd name="T2" fmla="*/ 0 w 169"/>
                <a:gd name="T3" fmla="*/ 0 h 522"/>
                <a:gd name="T4" fmla="*/ 0 w 169"/>
                <a:gd name="T5" fmla="*/ 522 h 522"/>
                <a:gd name="T6" fmla="*/ 169 w 169"/>
                <a:gd name="T7" fmla="*/ 522 h 522"/>
              </a:gdLst>
              <a:ahLst/>
              <a:cxnLst>
                <a:cxn ang="0">
                  <a:pos x="T0" y="T1"/>
                </a:cxn>
                <a:cxn ang="0">
                  <a:pos x="T2" y="T3"/>
                </a:cxn>
                <a:cxn ang="0">
                  <a:pos x="T4" y="T5"/>
                </a:cxn>
                <a:cxn ang="0">
                  <a:pos x="T6" y="T7"/>
                </a:cxn>
              </a:cxnLst>
              <a:rect l="0" t="0" r="r" b="b"/>
              <a:pathLst>
                <a:path w="169" h="522">
                  <a:moveTo>
                    <a:pt x="85" y="0"/>
                  </a:moveTo>
                  <a:lnTo>
                    <a:pt x="0" y="0"/>
                  </a:lnTo>
                  <a:lnTo>
                    <a:pt x="0" y="522"/>
                  </a:lnTo>
                  <a:lnTo>
                    <a:pt x="169" y="5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05" name="Freeform 217"/>
            <p:cNvSpPr>
              <a:spLocks/>
            </p:cNvSpPr>
            <p:nvPr/>
          </p:nvSpPr>
          <p:spPr bwMode="auto">
            <a:xfrm>
              <a:off x="882" y="1330"/>
              <a:ext cx="49" cy="3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06" name="Freeform 218"/>
            <p:cNvSpPr>
              <a:spLocks/>
            </p:cNvSpPr>
            <p:nvPr/>
          </p:nvSpPr>
          <p:spPr bwMode="auto">
            <a:xfrm>
              <a:off x="937" y="1310"/>
              <a:ext cx="51" cy="70"/>
            </a:xfrm>
            <a:custGeom>
              <a:avLst/>
              <a:gdLst>
                <a:gd name="T0" fmla="*/ 0 w 103"/>
                <a:gd name="T1" fmla="*/ 104 h 104"/>
                <a:gd name="T2" fmla="*/ 103 w 103"/>
                <a:gd name="T3" fmla="*/ 50 h 104"/>
                <a:gd name="T4" fmla="*/ 0 w 103"/>
                <a:gd name="T5" fmla="*/ 0 h 104"/>
              </a:gdLst>
              <a:ahLst/>
              <a:cxnLst>
                <a:cxn ang="0">
                  <a:pos x="T0" y="T1"/>
                </a:cxn>
                <a:cxn ang="0">
                  <a:pos x="T2" y="T3"/>
                </a:cxn>
                <a:cxn ang="0">
                  <a:pos x="T4" y="T5"/>
                </a:cxn>
              </a:cxnLst>
              <a:rect l="0" t="0" r="r" b="b"/>
              <a:pathLst>
                <a:path w="103" h="104">
                  <a:moveTo>
                    <a:pt x="0" y="104"/>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07" name="Freeform 219"/>
            <p:cNvSpPr>
              <a:spLocks/>
            </p:cNvSpPr>
            <p:nvPr/>
          </p:nvSpPr>
          <p:spPr bwMode="auto">
            <a:xfrm>
              <a:off x="1540" y="1651"/>
              <a:ext cx="51" cy="71"/>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08" name="Freeform 220"/>
            <p:cNvSpPr>
              <a:spLocks/>
            </p:cNvSpPr>
            <p:nvPr/>
          </p:nvSpPr>
          <p:spPr bwMode="auto">
            <a:xfrm>
              <a:off x="741" y="1572"/>
              <a:ext cx="54" cy="73"/>
            </a:xfrm>
            <a:custGeom>
              <a:avLst/>
              <a:gdLst>
                <a:gd name="T0" fmla="*/ 109 w 109"/>
                <a:gd name="T1" fmla="*/ 0 h 110"/>
                <a:gd name="T2" fmla="*/ 0 w 109"/>
                <a:gd name="T3" fmla="*/ 110 h 110"/>
                <a:gd name="T4" fmla="*/ 109 w 109"/>
                <a:gd name="T5" fmla="*/ 0 h 110"/>
              </a:gdLst>
              <a:ahLst/>
              <a:cxnLst>
                <a:cxn ang="0">
                  <a:pos x="T0" y="T1"/>
                </a:cxn>
                <a:cxn ang="0">
                  <a:pos x="T2" y="T3"/>
                </a:cxn>
                <a:cxn ang="0">
                  <a:pos x="T4" y="T5"/>
                </a:cxn>
              </a:cxnLst>
              <a:rect l="0" t="0" r="r" b="b"/>
              <a:pathLst>
                <a:path w="109" h="110">
                  <a:moveTo>
                    <a:pt x="109" y="0"/>
                  </a:moveTo>
                  <a:lnTo>
                    <a:pt x="0" y="110"/>
                  </a:lnTo>
                  <a:lnTo>
                    <a:pt x="10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09" name="Line 221"/>
            <p:cNvSpPr>
              <a:spLocks noChangeShapeType="1"/>
            </p:cNvSpPr>
            <p:nvPr/>
          </p:nvSpPr>
          <p:spPr bwMode="auto">
            <a:xfrm flipH="1">
              <a:off x="741" y="1572"/>
              <a:ext cx="54" cy="7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910" name="Rectangle 222"/>
            <p:cNvSpPr>
              <a:spLocks noChangeArrowheads="1"/>
            </p:cNvSpPr>
            <p:nvPr/>
          </p:nvSpPr>
          <p:spPr bwMode="auto">
            <a:xfrm>
              <a:off x="953" y="1647"/>
              <a:ext cx="40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Arial Narrow" panose="020B0606020202030204" pitchFamily="34" charset="0"/>
                </a:rPr>
                <a:t>300 MHz Clock</a:t>
              </a:r>
              <a:endParaRPr lang="en-US" altLang="en-US" sz="1600">
                <a:latin typeface="Arial Narrow" panose="020B0606020202030204" pitchFamily="34" charset="0"/>
              </a:endParaRPr>
            </a:p>
          </p:txBody>
        </p:sp>
        <p:sp>
          <p:nvSpPr>
            <p:cNvPr id="498913" name="Rectangle 225"/>
            <p:cNvSpPr>
              <a:spLocks noChangeArrowheads="1"/>
            </p:cNvSpPr>
            <p:nvPr/>
          </p:nvSpPr>
          <p:spPr bwMode="auto">
            <a:xfrm>
              <a:off x="749" y="1503"/>
              <a:ext cx="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
              </a:r>
              <a:endParaRPr lang="en-US" altLang="en-US" sz="1800"/>
            </a:p>
          </p:txBody>
        </p:sp>
        <p:sp>
          <p:nvSpPr>
            <p:cNvPr id="498914" name="Rectangle 226"/>
            <p:cNvSpPr>
              <a:spLocks noChangeArrowheads="1"/>
            </p:cNvSpPr>
            <p:nvPr/>
          </p:nvSpPr>
          <p:spPr bwMode="auto">
            <a:xfrm>
              <a:off x="719" y="815"/>
              <a:ext cx="5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B</a:t>
              </a:r>
              <a:endParaRPr lang="en-US" altLang="en-US" sz="1800"/>
            </a:p>
          </p:txBody>
        </p:sp>
        <p:sp>
          <p:nvSpPr>
            <p:cNvPr id="498915" name="Rectangle 227"/>
            <p:cNvSpPr>
              <a:spLocks noChangeArrowheads="1"/>
            </p:cNvSpPr>
            <p:nvPr/>
          </p:nvSpPr>
          <p:spPr bwMode="auto">
            <a:xfrm>
              <a:off x="1921" y="776"/>
              <a:ext cx="4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L</a:t>
              </a:r>
              <a:endParaRPr lang="en-US" altLang="en-US" sz="1800"/>
            </a:p>
          </p:txBody>
        </p:sp>
        <p:sp>
          <p:nvSpPr>
            <p:cNvPr id="498916" name="Rectangle 228"/>
            <p:cNvSpPr>
              <a:spLocks noChangeArrowheads="1"/>
            </p:cNvSpPr>
            <p:nvPr/>
          </p:nvSpPr>
          <p:spPr bwMode="auto">
            <a:xfrm>
              <a:off x="1921" y="987"/>
              <a:ext cx="5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a:t>
              </a:r>
              <a:endParaRPr lang="en-US" altLang="en-US" sz="1800"/>
            </a:p>
          </p:txBody>
        </p:sp>
        <p:sp>
          <p:nvSpPr>
            <p:cNvPr id="498917" name="Rectangle 229"/>
            <p:cNvSpPr>
              <a:spLocks noChangeArrowheads="1"/>
            </p:cNvSpPr>
            <p:nvPr/>
          </p:nvSpPr>
          <p:spPr bwMode="auto">
            <a:xfrm>
              <a:off x="741" y="1648"/>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16</a:t>
              </a:r>
              <a:endParaRPr lang="en-US" altLang="en-US" sz="1800"/>
            </a:p>
          </p:txBody>
        </p:sp>
        <p:sp>
          <p:nvSpPr>
            <p:cNvPr id="498918" name="Rectangle 230"/>
            <p:cNvSpPr>
              <a:spLocks noChangeArrowheads="1"/>
            </p:cNvSpPr>
            <p:nvPr/>
          </p:nvSpPr>
          <p:spPr bwMode="auto">
            <a:xfrm>
              <a:off x="293" y="1556"/>
              <a:ext cx="33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to display</a:t>
              </a:r>
              <a:endParaRPr lang="en-US" altLang="en-US" sz="1800"/>
            </a:p>
          </p:txBody>
        </p:sp>
        <p:sp>
          <p:nvSpPr>
            <p:cNvPr id="498922" name="Rectangle 234"/>
            <p:cNvSpPr>
              <a:spLocks noChangeArrowheads="1"/>
            </p:cNvSpPr>
            <p:nvPr/>
          </p:nvSpPr>
          <p:spPr bwMode="auto">
            <a:xfrm>
              <a:off x="279" y="860"/>
              <a:ext cx="40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from button</a:t>
              </a:r>
              <a:endParaRPr lang="en-US" altLang="en-US" sz="1800"/>
            </a:p>
          </p:txBody>
        </p:sp>
        <p:sp>
          <p:nvSpPr>
            <p:cNvPr id="498927" name="Rectangle 239"/>
            <p:cNvSpPr>
              <a:spLocks noChangeArrowheads="1"/>
            </p:cNvSpPr>
            <p:nvPr/>
          </p:nvSpPr>
          <p:spPr bwMode="auto">
            <a:xfrm rot="-5400000">
              <a:off x="964" y="991"/>
              <a:ext cx="34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Controller</a:t>
              </a:r>
              <a:endParaRPr lang="en-US" altLang="en-US" sz="1800"/>
            </a:p>
          </p:txBody>
        </p:sp>
        <p:sp>
          <p:nvSpPr>
            <p:cNvPr id="498933" name="Rectangle 245"/>
            <p:cNvSpPr>
              <a:spLocks noChangeArrowheads="1"/>
            </p:cNvSpPr>
            <p:nvPr/>
          </p:nvSpPr>
          <p:spPr bwMode="auto">
            <a:xfrm>
              <a:off x="1977" y="831"/>
              <a:ext cx="26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to laser</a:t>
              </a:r>
              <a:endParaRPr lang="en-US" altLang="en-US" sz="1800"/>
            </a:p>
          </p:txBody>
        </p:sp>
        <p:sp>
          <p:nvSpPr>
            <p:cNvPr id="498935" name="Rectangle 247"/>
            <p:cNvSpPr>
              <a:spLocks noChangeArrowheads="1"/>
            </p:cNvSpPr>
            <p:nvPr/>
          </p:nvSpPr>
          <p:spPr bwMode="auto">
            <a:xfrm>
              <a:off x="1977" y="930"/>
              <a:ext cx="42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from sensor</a:t>
              </a:r>
              <a:endParaRPr lang="en-US" altLang="en-US" sz="1800"/>
            </a:p>
          </p:txBody>
        </p:sp>
        <p:sp>
          <p:nvSpPr>
            <p:cNvPr id="498938" name="Rectangle 250"/>
            <p:cNvSpPr>
              <a:spLocks noChangeArrowheads="1"/>
            </p:cNvSpPr>
            <p:nvPr/>
          </p:nvSpPr>
          <p:spPr bwMode="auto">
            <a:xfrm rot="16200000">
              <a:off x="1590" y="1194"/>
              <a:ext cx="32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Datapath</a:t>
              </a:r>
              <a:endParaRPr lang="en-US" altLang="en-US" sz="1800"/>
            </a:p>
          </p:txBody>
        </p:sp>
        <p:sp>
          <p:nvSpPr>
            <p:cNvPr id="498943" name="Rectangle 255"/>
            <p:cNvSpPr>
              <a:spLocks noChangeArrowheads="1"/>
            </p:cNvSpPr>
            <p:nvPr/>
          </p:nvSpPr>
          <p:spPr bwMode="auto">
            <a:xfrm>
              <a:off x="1258" y="988"/>
              <a:ext cx="24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Arial Narrow" panose="020B0606020202030204" pitchFamily="34" charset="0"/>
                </a:rPr>
                <a:t>Dreg_clr</a:t>
              </a:r>
              <a:endParaRPr lang="en-US" altLang="en-US" sz="1800">
                <a:latin typeface="Arial Narrow" panose="020B0606020202030204" pitchFamily="34" charset="0"/>
              </a:endParaRPr>
            </a:p>
          </p:txBody>
        </p:sp>
        <p:sp>
          <p:nvSpPr>
            <p:cNvPr id="498957" name="Rectangle 269"/>
            <p:cNvSpPr>
              <a:spLocks noChangeArrowheads="1"/>
            </p:cNvSpPr>
            <p:nvPr/>
          </p:nvSpPr>
          <p:spPr bwMode="auto">
            <a:xfrm>
              <a:off x="935" y="825"/>
              <a:ext cx="300" cy="74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58" name="Rectangle 270"/>
            <p:cNvSpPr>
              <a:spLocks noChangeArrowheads="1"/>
            </p:cNvSpPr>
            <p:nvPr/>
          </p:nvSpPr>
          <p:spPr bwMode="auto">
            <a:xfrm>
              <a:off x="1536" y="1007"/>
              <a:ext cx="302" cy="74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59" name="Rectangle 271"/>
            <p:cNvSpPr>
              <a:spLocks noChangeArrowheads="1"/>
            </p:cNvSpPr>
            <p:nvPr/>
          </p:nvSpPr>
          <p:spPr bwMode="auto">
            <a:xfrm>
              <a:off x="935" y="1641"/>
              <a:ext cx="442" cy="10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498960" name="Freeform 272"/>
          <p:cNvSpPr>
            <a:spLocks/>
          </p:cNvSpPr>
          <p:nvPr/>
        </p:nvSpPr>
        <p:spPr bwMode="auto">
          <a:xfrm>
            <a:off x="163513" y="2052638"/>
            <a:ext cx="1647825" cy="1931987"/>
          </a:xfrm>
          <a:custGeom>
            <a:avLst/>
            <a:gdLst>
              <a:gd name="T0" fmla="*/ 1038 w 1038"/>
              <a:gd name="T1" fmla="*/ 0 h 1217"/>
              <a:gd name="T2" fmla="*/ 60 w 1038"/>
              <a:gd name="T3" fmla="*/ 750 h 1217"/>
              <a:gd name="T4" fmla="*/ 679 w 1038"/>
              <a:gd name="T5" fmla="*/ 1217 h 1217"/>
            </a:gdLst>
            <a:ahLst/>
            <a:cxnLst>
              <a:cxn ang="0">
                <a:pos x="T0" y="T1"/>
              </a:cxn>
              <a:cxn ang="0">
                <a:pos x="T2" y="T3"/>
              </a:cxn>
              <a:cxn ang="0">
                <a:pos x="T4" y="T5"/>
              </a:cxn>
            </a:cxnLst>
            <a:rect l="0" t="0" r="r" b="b"/>
            <a:pathLst>
              <a:path w="1038" h="1217">
                <a:moveTo>
                  <a:pt x="1038" y="0"/>
                </a:moveTo>
                <a:cubicBezTo>
                  <a:pt x="579" y="273"/>
                  <a:pt x="120" y="547"/>
                  <a:pt x="60" y="750"/>
                </a:cubicBezTo>
                <a:cubicBezTo>
                  <a:pt x="0" y="953"/>
                  <a:pt x="339" y="1085"/>
                  <a:pt x="679" y="1217"/>
                </a:cubicBezTo>
              </a:path>
            </a:pathLst>
          </a:cu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8961" name="Freeform 273"/>
          <p:cNvSpPr>
            <a:spLocks/>
          </p:cNvSpPr>
          <p:nvPr/>
        </p:nvSpPr>
        <p:spPr bwMode="auto">
          <a:xfrm>
            <a:off x="2881313" y="2416175"/>
            <a:ext cx="1538287" cy="468313"/>
          </a:xfrm>
          <a:custGeom>
            <a:avLst/>
            <a:gdLst>
              <a:gd name="T0" fmla="*/ 0 w 969"/>
              <a:gd name="T1" fmla="*/ 0 h 295"/>
              <a:gd name="T2" fmla="*/ 537 w 969"/>
              <a:gd name="T3" fmla="*/ 278 h 295"/>
              <a:gd name="T4" fmla="*/ 969 w 969"/>
              <a:gd name="T5" fmla="*/ 102 h 295"/>
            </a:gdLst>
            <a:ahLst/>
            <a:cxnLst>
              <a:cxn ang="0">
                <a:pos x="T0" y="T1"/>
              </a:cxn>
              <a:cxn ang="0">
                <a:pos x="T2" y="T3"/>
              </a:cxn>
              <a:cxn ang="0">
                <a:pos x="T4" y="T5"/>
              </a:cxn>
            </a:cxnLst>
            <a:rect l="0" t="0" r="r" b="b"/>
            <a:pathLst>
              <a:path w="969" h="295">
                <a:moveTo>
                  <a:pt x="0" y="0"/>
                </a:moveTo>
                <a:cubicBezTo>
                  <a:pt x="89" y="46"/>
                  <a:pt x="376" y="261"/>
                  <a:pt x="537" y="278"/>
                </a:cubicBezTo>
                <a:cubicBezTo>
                  <a:pt x="698" y="295"/>
                  <a:pt x="879" y="139"/>
                  <a:pt x="969" y="102"/>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498962" name="Group 274"/>
          <p:cNvGrpSpPr>
            <a:grpSpLocks/>
          </p:cNvGrpSpPr>
          <p:nvPr/>
        </p:nvGrpSpPr>
        <p:grpSpPr bwMode="auto">
          <a:xfrm>
            <a:off x="522288" y="2689225"/>
            <a:ext cx="6356350" cy="3060700"/>
            <a:chOff x="1221" y="1976"/>
            <a:chExt cx="4004" cy="1928"/>
          </a:xfrm>
        </p:grpSpPr>
        <p:sp>
          <p:nvSpPr>
            <p:cNvPr id="498963" name="Rectangle 275"/>
            <p:cNvSpPr>
              <a:spLocks noChangeArrowheads="1"/>
            </p:cNvSpPr>
            <p:nvPr/>
          </p:nvSpPr>
          <p:spPr bwMode="auto">
            <a:xfrm>
              <a:off x="1535"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S0</a:t>
              </a:r>
              <a:endParaRPr lang="en-US" altLang="en-US" sz="2400"/>
            </a:p>
          </p:txBody>
        </p:sp>
        <p:sp>
          <p:nvSpPr>
            <p:cNvPr id="498964" name="Oval 276"/>
            <p:cNvSpPr>
              <a:spLocks noChangeArrowheads="1"/>
            </p:cNvSpPr>
            <p:nvPr/>
          </p:nvSpPr>
          <p:spPr bwMode="auto">
            <a:xfrm>
              <a:off x="1374" y="3063"/>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65" name="Line 277"/>
            <p:cNvSpPr>
              <a:spLocks noChangeShapeType="1"/>
            </p:cNvSpPr>
            <p:nvPr/>
          </p:nvSpPr>
          <p:spPr bwMode="auto">
            <a:xfrm>
              <a:off x="1790" y="3213"/>
              <a:ext cx="20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966" name="Freeform 278"/>
            <p:cNvSpPr>
              <a:spLocks/>
            </p:cNvSpPr>
            <p:nvPr/>
          </p:nvSpPr>
          <p:spPr bwMode="auto">
            <a:xfrm>
              <a:off x="1980" y="318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67" name="Line 279"/>
            <p:cNvSpPr>
              <a:spLocks noChangeShapeType="1"/>
            </p:cNvSpPr>
            <p:nvPr/>
          </p:nvSpPr>
          <p:spPr bwMode="auto">
            <a:xfrm>
              <a:off x="2493" y="3213"/>
              <a:ext cx="21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968" name="Freeform 280"/>
            <p:cNvSpPr>
              <a:spLocks/>
            </p:cNvSpPr>
            <p:nvPr/>
          </p:nvSpPr>
          <p:spPr bwMode="auto">
            <a:xfrm>
              <a:off x="2690" y="318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69" name="Rectangle 281"/>
            <p:cNvSpPr>
              <a:spLocks noChangeArrowheads="1"/>
            </p:cNvSpPr>
            <p:nvPr/>
          </p:nvSpPr>
          <p:spPr bwMode="auto">
            <a:xfrm>
              <a:off x="2242"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S1</a:t>
              </a:r>
              <a:endParaRPr lang="en-US" altLang="en-US" sz="2400"/>
            </a:p>
          </p:txBody>
        </p:sp>
        <p:sp>
          <p:nvSpPr>
            <p:cNvPr id="498970" name="Rectangle 282"/>
            <p:cNvSpPr>
              <a:spLocks noChangeArrowheads="1"/>
            </p:cNvSpPr>
            <p:nvPr/>
          </p:nvSpPr>
          <p:spPr bwMode="auto">
            <a:xfrm>
              <a:off x="2954"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S2</a:t>
              </a:r>
              <a:endParaRPr lang="en-US" altLang="en-US" sz="2400"/>
            </a:p>
          </p:txBody>
        </p:sp>
        <p:sp>
          <p:nvSpPr>
            <p:cNvPr id="498971" name="Oval 283"/>
            <p:cNvSpPr>
              <a:spLocks noChangeArrowheads="1"/>
            </p:cNvSpPr>
            <p:nvPr/>
          </p:nvSpPr>
          <p:spPr bwMode="auto">
            <a:xfrm>
              <a:off x="2793" y="3063"/>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72" name="Line 284"/>
            <p:cNvSpPr>
              <a:spLocks noChangeShapeType="1"/>
            </p:cNvSpPr>
            <p:nvPr/>
          </p:nvSpPr>
          <p:spPr bwMode="auto">
            <a:xfrm>
              <a:off x="3209" y="3213"/>
              <a:ext cx="20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973" name="Freeform 285"/>
            <p:cNvSpPr>
              <a:spLocks/>
            </p:cNvSpPr>
            <p:nvPr/>
          </p:nvSpPr>
          <p:spPr bwMode="auto">
            <a:xfrm>
              <a:off x="3399" y="318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74" name="Line 286"/>
            <p:cNvSpPr>
              <a:spLocks noChangeShapeType="1"/>
            </p:cNvSpPr>
            <p:nvPr/>
          </p:nvSpPr>
          <p:spPr bwMode="auto">
            <a:xfrm>
              <a:off x="3915" y="3213"/>
              <a:ext cx="20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975" name="Freeform 287"/>
            <p:cNvSpPr>
              <a:spLocks/>
            </p:cNvSpPr>
            <p:nvPr/>
          </p:nvSpPr>
          <p:spPr bwMode="auto">
            <a:xfrm>
              <a:off x="4103" y="318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76" name="Rectangle 288"/>
            <p:cNvSpPr>
              <a:spLocks noChangeArrowheads="1"/>
            </p:cNvSpPr>
            <p:nvPr/>
          </p:nvSpPr>
          <p:spPr bwMode="auto">
            <a:xfrm>
              <a:off x="3661"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S3</a:t>
              </a:r>
              <a:endParaRPr lang="en-US" altLang="en-US" sz="2400"/>
            </a:p>
          </p:txBody>
        </p:sp>
        <p:sp>
          <p:nvSpPr>
            <p:cNvPr id="498977" name="Freeform 289"/>
            <p:cNvSpPr>
              <a:spLocks/>
            </p:cNvSpPr>
            <p:nvPr/>
          </p:nvSpPr>
          <p:spPr bwMode="auto">
            <a:xfrm>
              <a:off x="2080" y="2832"/>
              <a:ext cx="413" cy="263"/>
            </a:xfrm>
            <a:custGeom>
              <a:avLst/>
              <a:gdLst>
                <a:gd name="T0" fmla="*/ 6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6" y="66"/>
                  </a:moveTo>
                  <a:cubicBezTo>
                    <a:pt x="2" y="60"/>
                    <a:pt x="0" y="54"/>
                    <a:pt x="0" y="47"/>
                  </a:cubicBezTo>
                  <a:cubicBezTo>
                    <a:pt x="0" y="21"/>
                    <a:pt x="30" y="0"/>
                    <a:pt x="66" y="0"/>
                  </a:cubicBezTo>
                  <a:cubicBezTo>
                    <a:pt x="103" y="0"/>
                    <a:pt x="132" y="21"/>
                    <a:pt x="132" y="47"/>
                  </a:cubicBezTo>
                  <a:cubicBezTo>
                    <a:pt x="132" y="62"/>
                    <a:pt x="123"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78" name="Freeform 290"/>
            <p:cNvSpPr>
              <a:spLocks/>
            </p:cNvSpPr>
            <p:nvPr/>
          </p:nvSpPr>
          <p:spPr bwMode="auto">
            <a:xfrm>
              <a:off x="2065" y="3004"/>
              <a:ext cx="81" cy="94"/>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79" name="Rectangle 291"/>
            <p:cNvSpPr>
              <a:spLocks noChangeArrowheads="1"/>
            </p:cNvSpPr>
            <p:nvPr/>
          </p:nvSpPr>
          <p:spPr bwMode="auto">
            <a:xfrm>
              <a:off x="1494" y="3404"/>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8980" name="Rectangle 292"/>
            <p:cNvSpPr>
              <a:spLocks noChangeArrowheads="1"/>
            </p:cNvSpPr>
            <p:nvPr/>
          </p:nvSpPr>
          <p:spPr bwMode="auto">
            <a:xfrm>
              <a:off x="2919" y="3404"/>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1</a:t>
              </a:r>
              <a:endParaRPr lang="en-US" altLang="en-US" sz="2400"/>
            </a:p>
          </p:txBody>
        </p:sp>
        <p:sp>
          <p:nvSpPr>
            <p:cNvPr id="498981" name="Rectangle 293"/>
            <p:cNvSpPr>
              <a:spLocks noChangeArrowheads="1"/>
            </p:cNvSpPr>
            <p:nvPr/>
          </p:nvSpPr>
          <p:spPr bwMode="auto">
            <a:xfrm>
              <a:off x="3621" y="3404"/>
              <a:ext cx="2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 = 0</a:t>
              </a:r>
              <a:endParaRPr lang="en-US" altLang="en-US" sz="2400"/>
            </a:p>
          </p:txBody>
        </p:sp>
        <p:sp>
          <p:nvSpPr>
            <p:cNvPr id="498982" name="Rectangle 294"/>
            <p:cNvSpPr>
              <a:spLocks noChangeArrowheads="1"/>
            </p:cNvSpPr>
            <p:nvPr/>
          </p:nvSpPr>
          <p:spPr bwMode="auto">
            <a:xfrm>
              <a:off x="2259" y="2689"/>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8983" name="Freeform 295"/>
            <p:cNvSpPr>
              <a:spLocks/>
            </p:cNvSpPr>
            <p:nvPr/>
          </p:nvSpPr>
          <p:spPr bwMode="auto">
            <a:xfrm>
              <a:off x="3496" y="2832"/>
              <a:ext cx="413" cy="263"/>
            </a:xfrm>
            <a:custGeom>
              <a:avLst/>
              <a:gdLst>
                <a:gd name="T0" fmla="*/ 5 w 132"/>
                <a:gd name="T1" fmla="*/ 66 h 84"/>
                <a:gd name="T2" fmla="*/ 0 w 132"/>
                <a:gd name="T3" fmla="*/ 47 h 84"/>
                <a:gd name="T4" fmla="*/ 66 w 132"/>
                <a:gd name="T5" fmla="*/ 0 h 84"/>
                <a:gd name="T6" fmla="*/ 132 w 132"/>
                <a:gd name="T7" fmla="*/ 47 h 84"/>
                <a:gd name="T8" fmla="*/ 107 w 132"/>
                <a:gd name="T9" fmla="*/ 84 h 84"/>
              </a:gdLst>
              <a:ahLst/>
              <a:cxnLst>
                <a:cxn ang="0">
                  <a:pos x="T0" y="T1"/>
                </a:cxn>
                <a:cxn ang="0">
                  <a:pos x="T2" y="T3"/>
                </a:cxn>
                <a:cxn ang="0">
                  <a:pos x="T4" y="T5"/>
                </a:cxn>
                <a:cxn ang="0">
                  <a:pos x="T6" y="T7"/>
                </a:cxn>
                <a:cxn ang="0">
                  <a:pos x="T8" y="T9"/>
                </a:cxn>
              </a:cxnLst>
              <a:rect l="0" t="0" r="r" b="b"/>
              <a:pathLst>
                <a:path w="132" h="84">
                  <a:moveTo>
                    <a:pt x="5" y="66"/>
                  </a:moveTo>
                  <a:cubicBezTo>
                    <a:pt x="2" y="60"/>
                    <a:pt x="0" y="54"/>
                    <a:pt x="0" y="47"/>
                  </a:cubicBezTo>
                  <a:cubicBezTo>
                    <a:pt x="0" y="21"/>
                    <a:pt x="30" y="0"/>
                    <a:pt x="66" y="0"/>
                  </a:cubicBezTo>
                  <a:cubicBezTo>
                    <a:pt x="102" y="0"/>
                    <a:pt x="132" y="21"/>
                    <a:pt x="132" y="47"/>
                  </a:cubicBezTo>
                  <a:cubicBezTo>
                    <a:pt x="132" y="62"/>
                    <a:pt x="122" y="75"/>
                    <a:pt x="107" y="8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84" name="Freeform 296"/>
            <p:cNvSpPr>
              <a:spLocks/>
            </p:cNvSpPr>
            <p:nvPr/>
          </p:nvSpPr>
          <p:spPr bwMode="auto">
            <a:xfrm>
              <a:off x="3481" y="3004"/>
              <a:ext cx="81" cy="94"/>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85" name="Rectangle 297"/>
            <p:cNvSpPr>
              <a:spLocks noChangeArrowheads="1"/>
            </p:cNvSpPr>
            <p:nvPr/>
          </p:nvSpPr>
          <p:spPr bwMode="auto">
            <a:xfrm>
              <a:off x="3668" y="2689"/>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8986" name="Rectangle 298"/>
            <p:cNvSpPr>
              <a:spLocks noChangeArrowheads="1"/>
            </p:cNvSpPr>
            <p:nvPr/>
          </p:nvSpPr>
          <p:spPr bwMode="auto">
            <a:xfrm>
              <a:off x="2663" y="3085"/>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498987" name="Rectangle 299"/>
            <p:cNvSpPr>
              <a:spLocks noChangeArrowheads="1"/>
            </p:cNvSpPr>
            <p:nvPr/>
          </p:nvSpPr>
          <p:spPr bwMode="auto">
            <a:xfrm>
              <a:off x="3997" y="3085"/>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498988" name="Oval 300"/>
            <p:cNvSpPr>
              <a:spLocks noChangeArrowheads="1"/>
            </p:cNvSpPr>
            <p:nvPr/>
          </p:nvSpPr>
          <p:spPr bwMode="auto">
            <a:xfrm>
              <a:off x="3499" y="3063"/>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89" name="Oval 301"/>
            <p:cNvSpPr>
              <a:spLocks noChangeArrowheads="1"/>
            </p:cNvSpPr>
            <p:nvPr/>
          </p:nvSpPr>
          <p:spPr bwMode="auto">
            <a:xfrm>
              <a:off x="2080" y="3063"/>
              <a:ext cx="413"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90" name="Rectangle 302"/>
            <p:cNvSpPr>
              <a:spLocks noChangeArrowheads="1"/>
            </p:cNvSpPr>
            <p:nvPr/>
          </p:nvSpPr>
          <p:spPr bwMode="auto">
            <a:xfrm>
              <a:off x="2792" y="3506"/>
              <a:ext cx="4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(laser on)</a:t>
              </a:r>
              <a:endParaRPr lang="en-US" altLang="en-US" sz="2400"/>
            </a:p>
          </p:txBody>
        </p:sp>
        <p:sp>
          <p:nvSpPr>
            <p:cNvPr id="498991" name="Freeform 303"/>
            <p:cNvSpPr>
              <a:spLocks/>
            </p:cNvSpPr>
            <p:nvPr/>
          </p:nvSpPr>
          <p:spPr bwMode="auto">
            <a:xfrm>
              <a:off x="1340" y="3010"/>
              <a:ext cx="90" cy="85"/>
            </a:xfrm>
            <a:custGeom>
              <a:avLst/>
              <a:gdLst>
                <a:gd name="T0" fmla="*/ 90 w 90"/>
                <a:gd name="T1" fmla="*/ 85 h 85"/>
                <a:gd name="T2" fmla="*/ 34 w 90"/>
                <a:gd name="T3" fmla="*/ 0 h 85"/>
                <a:gd name="T4" fmla="*/ 0 w 90"/>
                <a:gd name="T5" fmla="*/ 38 h 85"/>
                <a:gd name="T6" fmla="*/ 90 w 90"/>
                <a:gd name="T7" fmla="*/ 85 h 85"/>
              </a:gdLst>
              <a:ahLst/>
              <a:cxnLst>
                <a:cxn ang="0">
                  <a:pos x="T0" y="T1"/>
                </a:cxn>
                <a:cxn ang="0">
                  <a:pos x="T2" y="T3"/>
                </a:cxn>
                <a:cxn ang="0">
                  <a:pos x="T4" y="T5"/>
                </a:cxn>
                <a:cxn ang="0">
                  <a:pos x="T6" y="T7"/>
                </a:cxn>
              </a:cxnLst>
              <a:rect l="0" t="0" r="r" b="b"/>
              <a:pathLst>
                <a:path w="90" h="85">
                  <a:moveTo>
                    <a:pt x="90" y="85"/>
                  </a:moveTo>
                  <a:lnTo>
                    <a:pt x="34" y="0"/>
                  </a:lnTo>
                  <a:lnTo>
                    <a:pt x="0" y="38"/>
                  </a:lnTo>
                  <a:lnTo>
                    <a:pt x="90" y="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92" name="Freeform 304"/>
            <p:cNvSpPr>
              <a:spLocks/>
            </p:cNvSpPr>
            <p:nvPr/>
          </p:nvSpPr>
          <p:spPr bwMode="auto">
            <a:xfrm>
              <a:off x="2465" y="3051"/>
              <a:ext cx="87" cy="90"/>
            </a:xfrm>
            <a:custGeom>
              <a:avLst/>
              <a:gdLst>
                <a:gd name="T0" fmla="*/ 0 w 87"/>
                <a:gd name="T1" fmla="*/ 90 h 90"/>
                <a:gd name="T2" fmla="*/ 87 w 87"/>
                <a:gd name="T3" fmla="*/ 34 h 90"/>
                <a:gd name="T4" fmla="*/ 50 w 87"/>
                <a:gd name="T5" fmla="*/ 0 h 90"/>
                <a:gd name="T6" fmla="*/ 0 w 87"/>
                <a:gd name="T7" fmla="*/ 90 h 90"/>
              </a:gdLst>
              <a:ahLst/>
              <a:cxnLst>
                <a:cxn ang="0">
                  <a:pos x="T0" y="T1"/>
                </a:cxn>
                <a:cxn ang="0">
                  <a:pos x="T2" y="T3"/>
                </a:cxn>
                <a:cxn ang="0">
                  <a:pos x="T4" y="T5"/>
                </a:cxn>
                <a:cxn ang="0">
                  <a:pos x="T6" y="T7"/>
                </a:cxn>
              </a:cxnLst>
              <a:rect l="0" t="0" r="r" b="b"/>
              <a:pathLst>
                <a:path w="87" h="90">
                  <a:moveTo>
                    <a:pt x="0" y="90"/>
                  </a:moveTo>
                  <a:lnTo>
                    <a:pt x="87" y="34"/>
                  </a:lnTo>
                  <a:lnTo>
                    <a:pt x="50" y="0"/>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8993" name="Freeform 305"/>
            <p:cNvSpPr>
              <a:spLocks/>
            </p:cNvSpPr>
            <p:nvPr/>
          </p:nvSpPr>
          <p:spPr bwMode="auto">
            <a:xfrm>
              <a:off x="2499" y="1976"/>
              <a:ext cx="1891" cy="1125"/>
            </a:xfrm>
            <a:custGeom>
              <a:avLst/>
              <a:gdLst>
                <a:gd name="T0" fmla="*/ 605 w 605"/>
                <a:gd name="T1" fmla="*/ 348 h 360"/>
                <a:gd name="T2" fmla="*/ 0 w 605"/>
                <a:gd name="T3" fmla="*/ 360 h 360"/>
              </a:gdLst>
              <a:ahLst/>
              <a:cxnLst>
                <a:cxn ang="0">
                  <a:pos x="T0" y="T1"/>
                </a:cxn>
                <a:cxn ang="0">
                  <a:pos x="T2" y="T3"/>
                </a:cxn>
              </a:cxnLst>
              <a:rect l="0" t="0" r="r" b="b"/>
              <a:pathLst>
                <a:path w="605" h="360">
                  <a:moveTo>
                    <a:pt x="605" y="348"/>
                  </a:moveTo>
                  <a:cubicBezTo>
                    <a:pt x="605" y="348"/>
                    <a:pt x="346" y="0"/>
                    <a:pt x="0" y="36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8994" name="Line 306"/>
            <p:cNvSpPr>
              <a:spLocks noChangeShapeType="1"/>
            </p:cNvSpPr>
            <p:nvPr/>
          </p:nvSpPr>
          <p:spPr bwMode="auto">
            <a:xfrm>
              <a:off x="1221" y="2913"/>
              <a:ext cx="144" cy="12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8995" name="Rectangle 307"/>
            <p:cNvSpPr>
              <a:spLocks noChangeArrowheads="1"/>
            </p:cNvSpPr>
            <p:nvPr/>
          </p:nvSpPr>
          <p:spPr bwMode="auto">
            <a:xfrm>
              <a:off x="4367" y="3158"/>
              <a:ext cx="12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S4</a:t>
              </a:r>
              <a:endParaRPr lang="en-US" altLang="en-US" sz="2400"/>
            </a:p>
          </p:txBody>
        </p:sp>
        <p:sp>
          <p:nvSpPr>
            <p:cNvPr id="498996" name="Oval 308"/>
            <p:cNvSpPr>
              <a:spLocks noChangeArrowheads="1"/>
            </p:cNvSpPr>
            <p:nvPr/>
          </p:nvSpPr>
          <p:spPr bwMode="auto">
            <a:xfrm>
              <a:off x="4206" y="3063"/>
              <a:ext cx="412" cy="2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98997" name="Group 309"/>
            <p:cNvGrpSpPr>
              <a:grpSpLocks/>
            </p:cNvGrpSpPr>
            <p:nvPr/>
          </p:nvGrpSpPr>
          <p:grpSpPr bwMode="auto">
            <a:xfrm>
              <a:off x="1226" y="2400"/>
              <a:ext cx="2866" cy="129"/>
              <a:chOff x="1226" y="2400"/>
              <a:chExt cx="2866" cy="129"/>
            </a:xfrm>
          </p:grpSpPr>
          <p:sp>
            <p:nvSpPr>
              <p:cNvPr id="498998" name="Rectangle 310"/>
              <p:cNvSpPr>
                <a:spLocks noChangeArrowheads="1"/>
              </p:cNvSpPr>
              <p:nvPr/>
            </p:nvSpPr>
            <p:spPr bwMode="auto">
              <a:xfrm>
                <a:off x="1226" y="2400"/>
                <a:ext cx="53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Inputs: B, S</a:t>
                </a:r>
                <a:endParaRPr lang="en-US" altLang="en-US" sz="2400"/>
              </a:p>
            </p:txBody>
          </p:sp>
          <p:sp>
            <p:nvSpPr>
              <p:cNvPr id="498999" name="Rectangle 311"/>
              <p:cNvSpPr>
                <a:spLocks noChangeArrowheads="1"/>
              </p:cNvSpPr>
              <p:nvPr/>
            </p:nvSpPr>
            <p:spPr bwMode="auto">
              <a:xfrm>
                <a:off x="1873" y="2404"/>
                <a:ext cx="221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Outputs: L, Dreg_clr, Dreg_ld, Dctr_clr, Dctr_cnt</a:t>
                </a:r>
                <a:endParaRPr lang="en-US" altLang="en-US" sz="2400"/>
              </a:p>
            </p:txBody>
          </p:sp>
        </p:grpSp>
        <p:sp>
          <p:nvSpPr>
            <p:cNvPr id="499000" name="Rectangle 312"/>
            <p:cNvSpPr>
              <a:spLocks noChangeArrowheads="1"/>
            </p:cNvSpPr>
            <p:nvPr/>
          </p:nvSpPr>
          <p:spPr bwMode="auto">
            <a:xfrm>
              <a:off x="1298" y="3506"/>
              <a:ext cx="580"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Dreg_clr = 1</a:t>
              </a:r>
            </a:p>
            <a:p>
              <a:r>
                <a:rPr lang="en-US" altLang="en-US" sz="1300">
                  <a:solidFill>
                    <a:srgbClr val="000000"/>
                  </a:solidFill>
                  <a:latin typeface="Myriad Roman" charset="0"/>
                </a:rPr>
                <a:t>(laser off)</a:t>
              </a:r>
            </a:p>
            <a:p>
              <a:r>
                <a:rPr lang="en-US" altLang="en-US" sz="1300">
                  <a:solidFill>
                    <a:srgbClr val="000000"/>
                  </a:solidFill>
                  <a:latin typeface="Myriad Roman" charset="0"/>
                </a:rPr>
                <a:t>(clear D reg)</a:t>
              </a:r>
              <a:endParaRPr lang="en-US" altLang="en-US" sz="2400"/>
            </a:p>
          </p:txBody>
        </p:sp>
        <p:sp>
          <p:nvSpPr>
            <p:cNvPr id="499001" name="Rectangle 313"/>
            <p:cNvSpPr>
              <a:spLocks noChangeArrowheads="1"/>
            </p:cNvSpPr>
            <p:nvPr/>
          </p:nvSpPr>
          <p:spPr bwMode="auto">
            <a:xfrm>
              <a:off x="2002" y="3404"/>
              <a:ext cx="5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Dctr_clr = 1</a:t>
              </a:r>
            </a:p>
            <a:p>
              <a:r>
                <a:rPr lang="en-US" altLang="en-US" sz="1300">
                  <a:solidFill>
                    <a:srgbClr val="000000"/>
                  </a:solidFill>
                  <a:latin typeface="Myriad Roman" charset="0"/>
                </a:rPr>
                <a:t>(clear count)</a:t>
              </a:r>
              <a:endParaRPr lang="en-US" altLang="en-US" sz="2400"/>
            </a:p>
          </p:txBody>
        </p:sp>
        <p:sp>
          <p:nvSpPr>
            <p:cNvPr id="499002" name="Rectangle 314"/>
            <p:cNvSpPr>
              <a:spLocks noChangeArrowheads="1"/>
            </p:cNvSpPr>
            <p:nvPr/>
          </p:nvSpPr>
          <p:spPr bwMode="auto">
            <a:xfrm>
              <a:off x="3440" y="3506"/>
              <a:ext cx="565"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Dctr_cnt = 1</a:t>
              </a:r>
            </a:p>
            <a:p>
              <a:r>
                <a:rPr lang="en-US" altLang="en-US" sz="1300">
                  <a:solidFill>
                    <a:srgbClr val="000000"/>
                  </a:solidFill>
                  <a:latin typeface="Myriad Roman" charset="0"/>
                </a:rPr>
                <a:t>(laser off)</a:t>
              </a:r>
            </a:p>
            <a:p>
              <a:r>
                <a:rPr lang="en-US" altLang="en-US" sz="1300">
                  <a:solidFill>
                    <a:srgbClr val="000000"/>
                  </a:solidFill>
                  <a:latin typeface="Myriad Roman" charset="0"/>
                </a:rPr>
                <a:t>(count up)</a:t>
              </a:r>
              <a:endParaRPr lang="en-US" altLang="en-US" sz="2400"/>
            </a:p>
          </p:txBody>
        </p:sp>
        <p:sp>
          <p:nvSpPr>
            <p:cNvPr id="499003" name="Rectangle 315"/>
            <p:cNvSpPr>
              <a:spLocks noChangeArrowheads="1"/>
            </p:cNvSpPr>
            <p:nvPr/>
          </p:nvSpPr>
          <p:spPr bwMode="auto">
            <a:xfrm>
              <a:off x="4153" y="3404"/>
              <a:ext cx="1072" cy="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Dreg_ld = 1</a:t>
              </a:r>
            </a:p>
            <a:p>
              <a:r>
                <a:rPr lang="en-US" altLang="en-US" sz="1300">
                  <a:solidFill>
                    <a:srgbClr val="000000"/>
                  </a:solidFill>
                  <a:latin typeface="Myriad Roman" charset="0"/>
                </a:rPr>
                <a:t>Dctr_cnt = 0</a:t>
              </a:r>
            </a:p>
            <a:p>
              <a:r>
                <a:rPr lang="en-US" altLang="en-US" sz="1300">
                  <a:solidFill>
                    <a:srgbClr val="000000"/>
                  </a:solidFill>
                  <a:latin typeface="Myriad Roman" charset="0"/>
                </a:rPr>
                <a:t>(load D reg with Dctr/2)</a:t>
              </a:r>
            </a:p>
            <a:p>
              <a:r>
                <a:rPr lang="en-US" altLang="en-US" sz="1300">
                  <a:solidFill>
                    <a:srgbClr val="000000"/>
                  </a:solidFill>
                  <a:latin typeface="Myriad Roman" charset="0"/>
                </a:rPr>
                <a:t>(stop counting)</a:t>
              </a:r>
              <a:endParaRPr lang="en-US" altLang="en-US" sz="2400"/>
            </a:p>
          </p:txBody>
        </p:sp>
      </p:grpSp>
      <p:sp>
        <p:nvSpPr>
          <p:cNvPr id="499005" name="Rectangle 317"/>
          <p:cNvSpPr>
            <a:spLocks noChangeArrowheads="1"/>
          </p:cNvSpPr>
          <p:nvPr/>
        </p:nvSpPr>
        <p:spPr bwMode="auto">
          <a:xfrm>
            <a:off x="1997075" y="1784350"/>
            <a:ext cx="3619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Arial Narrow" panose="020B0606020202030204" pitchFamily="34" charset="0"/>
              </a:rPr>
              <a:t>Dreg_ld</a:t>
            </a:r>
            <a:endParaRPr lang="en-US" altLang="en-US" sz="1800">
              <a:latin typeface="Arial Narrow" panose="020B0606020202030204" pitchFamily="34" charset="0"/>
            </a:endParaRPr>
          </a:p>
        </p:txBody>
      </p:sp>
      <p:sp>
        <p:nvSpPr>
          <p:cNvPr id="499006" name="Rectangle 318"/>
          <p:cNvSpPr>
            <a:spLocks noChangeArrowheads="1"/>
          </p:cNvSpPr>
          <p:nvPr/>
        </p:nvSpPr>
        <p:spPr bwMode="auto">
          <a:xfrm>
            <a:off x="1997075" y="2009775"/>
            <a:ext cx="3587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Arial Narrow" panose="020B0606020202030204" pitchFamily="34" charset="0"/>
              </a:rPr>
              <a:t>Dctr_clr</a:t>
            </a:r>
            <a:endParaRPr lang="en-US" altLang="en-US" sz="1800">
              <a:latin typeface="Arial Narrow" panose="020B0606020202030204" pitchFamily="34" charset="0"/>
            </a:endParaRPr>
          </a:p>
        </p:txBody>
      </p:sp>
      <p:sp>
        <p:nvSpPr>
          <p:cNvPr id="499007" name="Rectangle 319"/>
          <p:cNvSpPr>
            <a:spLocks noChangeArrowheads="1"/>
          </p:cNvSpPr>
          <p:nvPr/>
        </p:nvSpPr>
        <p:spPr bwMode="auto">
          <a:xfrm>
            <a:off x="1997075" y="2247900"/>
            <a:ext cx="3857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Arial Narrow" panose="020B0606020202030204" pitchFamily="34" charset="0"/>
              </a:rPr>
              <a:t>Dctr_cnt</a:t>
            </a:r>
            <a:endParaRPr lang="en-US" altLang="en-US" sz="1800">
              <a:latin typeface="Arial Narrow" panose="020B0606020202030204" pitchFamily="34" charset="0"/>
            </a:endParaRPr>
          </a:p>
        </p:txBody>
      </p:sp>
      <p:grpSp>
        <p:nvGrpSpPr>
          <p:cNvPr id="499009" name="Group 321"/>
          <p:cNvGrpSpPr>
            <a:grpSpLocks/>
          </p:cNvGrpSpPr>
          <p:nvPr/>
        </p:nvGrpSpPr>
        <p:grpSpPr bwMode="auto">
          <a:xfrm>
            <a:off x="3665538" y="1311275"/>
            <a:ext cx="5140325" cy="1901825"/>
            <a:chOff x="1453" y="2794"/>
            <a:chExt cx="3238" cy="1198"/>
          </a:xfrm>
        </p:grpSpPr>
        <p:sp>
          <p:nvSpPr>
            <p:cNvPr id="499010" name="Freeform 322"/>
            <p:cNvSpPr>
              <a:spLocks/>
            </p:cNvSpPr>
            <p:nvPr/>
          </p:nvSpPr>
          <p:spPr bwMode="auto">
            <a:xfrm>
              <a:off x="3429" y="3301"/>
              <a:ext cx="85" cy="3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011" name="Freeform 323"/>
            <p:cNvSpPr>
              <a:spLocks/>
            </p:cNvSpPr>
            <p:nvPr/>
          </p:nvSpPr>
          <p:spPr bwMode="auto">
            <a:xfrm>
              <a:off x="3433" y="3409"/>
              <a:ext cx="85" cy="3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012" name="Freeform 324"/>
            <p:cNvSpPr>
              <a:spLocks/>
            </p:cNvSpPr>
            <p:nvPr/>
          </p:nvSpPr>
          <p:spPr bwMode="auto">
            <a:xfrm>
              <a:off x="4042" y="3899"/>
              <a:ext cx="44" cy="7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013" name="Freeform 325"/>
            <p:cNvSpPr>
              <a:spLocks/>
            </p:cNvSpPr>
            <p:nvPr/>
          </p:nvSpPr>
          <p:spPr bwMode="auto">
            <a:xfrm>
              <a:off x="2054" y="3500"/>
              <a:ext cx="88" cy="76"/>
            </a:xfrm>
            <a:custGeom>
              <a:avLst/>
              <a:gdLst>
                <a:gd name="T0" fmla="*/ 0 w 103"/>
                <a:gd name="T1" fmla="*/ 107 h 107"/>
                <a:gd name="T2" fmla="*/ 103 w 103"/>
                <a:gd name="T3" fmla="*/ 53 h 107"/>
                <a:gd name="T4" fmla="*/ 0 w 103"/>
                <a:gd name="T5" fmla="*/ 0 h 107"/>
              </a:gdLst>
              <a:ahLst/>
              <a:cxnLst>
                <a:cxn ang="0">
                  <a:pos x="T0" y="T1"/>
                </a:cxn>
                <a:cxn ang="0">
                  <a:pos x="T2" y="T3"/>
                </a:cxn>
                <a:cxn ang="0">
                  <a:pos x="T4" y="T5"/>
                </a:cxn>
              </a:cxnLst>
              <a:rect l="0" t="0" r="r" b="b"/>
              <a:pathLst>
                <a:path w="103" h="107">
                  <a:moveTo>
                    <a:pt x="0" y="107"/>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14" name="Freeform 326"/>
            <p:cNvSpPr>
              <a:spLocks/>
            </p:cNvSpPr>
            <p:nvPr/>
          </p:nvSpPr>
          <p:spPr bwMode="auto">
            <a:xfrm>
              <a:off x="3520" y="3500"/>
              <a:ext cx="87" cy="76"/>
            </a:xfrm>
            <a:custGeom>
              <a:avLst/>
              <a:gdLst>
                <a:gd name="T0" fmla="*/ 0 w 103"/>
                <a:gd name="T1" fmla="*/ 107 h 107"/>
                <a:gd name="T2" fmla="*/ 103 w 103"/>
                <a:gd name="T3" fmla="*/ 53 h 107"/>
                <a:gd name="T4" fmla="*/ 0 w 103"/>
                <a:gd name="T5" fmla="*/ 0 h 107"/>
              </a:gdLst>
              <a:ahLst/>
              <a:cxnLst>
                <a:cxn ang="0">
                  <a:pos x="T0" y="T1"/>
                </a:cxn>
                <a:cxn ang="0">
                  <a:pos x="T2" y="T3"/>
                </a:cxn>
                <a:cxn ang="0">
                  <a:pos x="T4" y="T5"/>
                </a:cxn>
              </a:cxnLst>
              <a:rect l="0" t="0" r="r" b="b"/>
              <a:pathLst>
                <a:path w="103" h="107">
                  <a:moveTo>
                    <a:pt x="0" y="107"/>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15" name="Rectangle 327"/>
            <p:cNvSpPr>
              <a:spLocks noChangeArrowheads="1"/>
            </p:cNvSpPr>
            <p:nvPr/>
          </p:nvSpPr>
          <p:spPr bwMode="auto">
            <a:xfrm>
              <a:off x="1922" y="2794"/>
              <a:ext cx="2769" cy="1054"/>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16" name="Rectangle 328"/>
            <p:cNvSpPr>
              <a:spLocks noChangeArrowheads="1"/>
            </p:cNvSpPr>
            <p:nvPr/>
          </p:nvSpPr>
          <p:spPr bwMode="auto">
            <a:xfrm>
              <a:off x="2054" y="3274"/>
              <a:ext cx="1089" cy="32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17" name="Rectangle 329"/>
            <p:cNvSpPr>
              <a:spLocks noChangeArrowheads="1"/>
            </p:cNvSpPr>
            <p:nvPr/>
          </p:nvSpPr>
          <p:spPr bwMode="auto">
            <a:xfrm>
              <a:off x="2071" y="3278"/>
              <a:ext cx="17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clear</a:t>
              </a:r>
              <a:endParaRPr lang="en-US" altLang="en-US"/>
            </a:p>
          </p:txBody>
        </p:sp>
        <p:sp>
          <p:nvSpPr>
            <p:cNvPr id="499018" name="Rectangle 330"/>
            <p:cNvSpPr>
              <a:spLocks noChangeArrowheads="1"/>
            </p:cNvSpPr>
            <p:nvPr/>
          </p:nvSpPr>
          <p:spPr bwMode="auto">
            <a:xfrm>
              <a:off x="2071" y="3379"/>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9019" name="Rectangle 331"/>
            <p:cNvSpPr>
              <a:spLocks noChangeArrowheads="1"/>
            </p:cNvSpPr>
            <p:nvPr/>
          </p:nvSpPr>
          <p:spPr bwMode="auto">
            <a:xfrm>
              <a:off x="2108" y="3379"/>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ou</a:t>
              </a:r>
              <a:endParaRPr lang="en-US" altLang="en-US"/>
            </a:p>
          </p:txBody>
        </p:sp>
        <p:sp>
          <p:nvSpPr>
            <p:cNvPr id="499020" name="Rectangle 332"/>
            <p:cNvSpPr>
              <a:spLocks noChangeArrowheads="1"/>
            </p:cNvSpPr>
            <p:nvPr/>
          </p:nvSpPr>
          <p:spPr bwMode="auto">
            <a:xfrm>
              <a:off x="2202" y="3379"/>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n</a:t>
              </a:r>
              <a:endParaRPr lang="en-US" altLang="en-US"/>
            </a:p>
          </p:txBody>
        </p:sp>
        <p:sp>
          <p:nvSpPr>
            <p:cNvPr id="499021" name="Rectangle 333"/>
            <p:cNvSpPr>
              <a:spLocks noChangeArrowheads="1"/>
            </p:cNvSpPr>
            <p:nvPr/>
          </p:nvSpPr>
          <p:spPr bwMode="auto">
            <a:xfrm>
              <a:off x="2248" y="3379"/>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9022" name="Rectangle 334"/>
            <p:cNvSpPr>
              <a:spLocks noChangeArrowheads="1"/>
            </p:cNvSpPr>
            <p:nvPr/>
          </p:nvSpPr>
          <p:spPr bwMode="auto">
            <a:xfrm>
              <a:off x="3537" y="3278"/>
              <a:ext cx="17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clear</a:t>
              </a:r>
              <a:endParaRPr lang="en-US" altLang="en-US"/>
            </a:p>
          </p:txBody>
        </p:sp>
        <p:sp>
          <p:nvSpPr>
            <p:cNvPr id="499023" name="Rectangle 335"/>
            <p:cNvSpPr>
              <a:spLocks noChangeArrowheads="1"/>
            </p:cNvSpPr>
            <p:nvPr/>
          </p:nvSpPr>
          <p:spPr bwMode="auto">
            <a:xfrm>
              <a:off x="3537" y="3387"/>
              <a:ext cx="15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load</a:t>
              </a:r>
              <a:endParaRPr lang="en-US" altLang="en-US"/>
            </a:p>
          </p:txBody>
        </p:sp>
        <p:sp>
          <p:nvSpPr>
            <p:cNvPr id="499024" name="Rectangle 336"/>
            <p:cNvSpPr>
              <a:spLocks noChangeArrowheads="1"/>
            </p:cNvSpPr>
            <p:nvPr/>
          </p:nvSpPr>
          <p:spPr bwMode="auto">
            <a:xfrm>
              <a:off x="2573" y="3512"/>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Q</a:t>
              </a:r>
              <a:endParaRPr lang="en-US" altLang="en-US"/>
            </a:p>
          </p:txBody>
        </p:sp>
        <p:sp>
          <p:nvSpPr>
            <p:cNvPr id="499025" name="Rectangle 337"/>
            <p:cNvSpPr>
              <a:spLocks noChangeArrowheads="1"/>
            </p:cNvSpPr>
            <p:nvPr/>
          </p:nvSpPr>
          <p:spPr bwMode="auto">
            <a:xfrm>
              <a:off x="4036" y="3512"/>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Q</a:t>
              </a:r>
              <a:endParaRPr lang="en-US" altLang="en-US"/>
            </a:p>
          </p:txBody>
        </p:sp>
        <p:sp>
          <p:nvSpPr>
            <p:cNvPr id="499026" name="Rectangle 338"/>
            <p:cNvSpPr>
              <a:spLocks noChangeArrowheads="1"/>
            </p:cNvSpPr>
            <p:nvPr/>
          </p:nvSpPr>
          <p:spPr bwMode="auto">
            <a:xfrm>
              <a:off x="4055" y="328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I</a:t>
              </a:r>
              <a:endParaRPr lang="en-US" altLang="en-US"/>
            </a:p>
          </p:txBody>
        </p:sp>
        <p:sp>
          <p:nvSpPr>
            <p:cNvPr id="499027" name="Rectangle 339"/>
            <p:cNvSpPr>
              <a:spLocks noChangeArrowheads="1"/>
            </p:cNvSpPr>
            <p:nvPr/>
          </p:nvSpPr>
          <p:spPr bwMode="auto">
            <a:xfrm>
              <a:off x="2710" y="3340"/>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9028" name="Rectangle 340"/>
            <p:cNvSpPr>
              <a:spLocks noChangeArrowheads="1"/>
            </p:cNvSpPr>
            <p:nvPr/>
          </p:nvSpPr>
          <p:spPr bwMode="auto">
            <a:xfrm>
              <a:off x="2767" y="3340"/>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9029" name="Rectangle 341"/>
            <p:cNvSpPr>
              <a:spLocks noChangeArrowheads="1"/>
            </p:cNvSpPr>
            <p:nvPr/>
          </p:nvSpPr>
          <p:spPr bwMode="auto">
            <a:xfrm>
              <a:off x="2807" y="3340"/>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9030" name="Rectangle 342"/>
            <p:cNvSpPr>
              <a:spLocks noChangeArrowheads="1"/>
            </p:cNvSpPr>
            <p:nvPr/>
          </p:nvSpPr>
          <p:spPr bwMode="auto">
            <a:xfrm>
              <a:off x="2836" y="334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9031" name="Rectangle 343"/>
            <p:cNvSpPr>
              <a:spLocks noChangeArrowheads="1"/>
            </p:cNvSpPr>
            <p:nvPr/>
          </p:nvSpPr>
          <p:spPr bwMode="auto">
            <a:xfrm>
              <a:off x="2863" y="3340"/>
              <a:ext cx="25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 16-bit</a:t>
              </a:r>
              <a:endParaRPr lang="en-US" altLang="en-US"/>
            </a:p>
          </p:txBody>
        </p:sp>
        <p:sp>
          <p:nvSpPr>
            <p:cNvPr id="499032" name="Rectangle 344"/>
            <p:cNvSpPr>
              <a:spLocks noChangeArrowheads="1"/>
            </p:cNvSpPr>
            <p:nvPr/>
          </p:nvSpPr>
          <p:spPr bwMode="auto">
            <a:xfrm>
              <a:off x="2709" y="34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u</a:t>
              </a:r>
              <a:endParaRPr lang="en-US" altLang="en-US"/>
            </a:p>
          </p:txBody>
        </p:sp>
        <p:sp>
          <p:nvSpPr>
            <p:cNvPr id="499033" name="Rectangle 345"/>
            <p:cNvSpPr>
              <a:spLocks noChangeArrowheads="1"/>
            </p:cNvSpPr>
            <p:nvPr/>
          </p:nvSpPr>
          <p:spPr bwMode="auto">
            <a:xfrm>
              <a:off x="2756" y="34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p</a:t>
              </a:r>
              <a:endParaRPr lang="en-US" altLang="en-US"/>
            </a:p>
          </p:txBody>
        </p:sp>
        <p:sp>
          <p:nvSpPr>
            <p:cNvPr id="499034" name="Rectangle 346"/>
            <p:cNvSpPr>
              <a:spLocks noChangeArrowheads="1"/>
            </p:cNvSpPr>
            <p:nvPr/>
          </p:nvSpPr>
          <p:spPr bwMode="auto">
            <a:xfrm>
              <a:off x="2806" y="342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a:t>
              </a:r>
              <a:endParaRPr lang="en-US" altLang="en-US"/>
            </a:p>
          </p:txBody>
        </p:sp>
        <p:sp>
          <p:nvSpPr>
            <p:cNvPr id="499035" name="Rectangle 347"/>
            <p:cNvSpPr>
              <a:spLocks noChangeArrowheads="1"/>
            </p:cNvSpPr>
            <p:nvPr/>
          </p:nvSpPr>
          <p:spPr bwMode="auto">
            <a:xfrm>
              <a:off x="2832" y="3420"/>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9036" name="Rectangle 348"/>
            <p:cNvSpPr>
              <a:spLocks noChangeArrowheads="1"/>
            </p:cNvSpPr>
            <p:nvPr/>
          </p:nvSpPr>
          <p:spPr bwMode="auto">
            <a:xfrm>
              <a:off x="2870" y="3420"/>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ou</a:t>
              </a:r>
              <a:endParaRPr lang="en-US" altLang="en-US"/>
            </a:p>
          </p:txBody>
        </p:sp>
        <p:sp>
          <p:nvSpPr>
            <p:cNvPr id="499037" name="Rectangle 349"/>
            <p:cNvSpPr>
              <a:spLocks noChangeArrowheads="1"/>
            </p:cNvSpPr>
            <p:nvPr/>
          </p:nvSpPr>
          <p:spPr bwMode="auto">
            <a:xfrm>
              <a:off x="2964" y="34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n</a:t>
              </a:r>
              <a:endParaRPr lang="en-US" altLang="en-US"/>
            </a:p>
          </p:txBody>
        </p:sp>
        <p:sp>
          <p:nvSpPr>
            <p:cNvPr id="499038" name="Rectangle 350"/>
            <p:cNvSpPr>
              <a:spLocks noChangeArrowheads="1"/>
            </p:cNvSpPr>
            <p:nvPr/>
          </p:nvSpPr>
          <p:spPr bwMode="auto">
            <a:xfrm>
              <a:off x="3011" y="3420"/>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9039" name="Rectangle 351"/>
            <p:cNvSpPr>
              <a:spLocks noChangeArrowheads="1"/>
            </p:cNvSpPr>
            <p:nvPr/>
          </p:nvSpPr>
          <p:spPr bwMode="auto">
            <a:xfrm>
              <a:off x="3039" y="3420"/>
              <a:ext cx="6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er</a:t>
              </a:r>
              <a:endParaRPr lang="en-US" altLang="en-US"/>
            </a:p>
          </p:txBody>
        </p:sp>
        <p:sp>
          <p:nvSpPr>
            <p:cNvPr id="499040" name="Rectangle 352"/>
            <p:cNvSpPr>
              <a:spLocks noChangeArrowheads="1"/>
            </p:cNvSpPr>
            <p:nvPr/>
          </p:nvSpPr>
          <p:spPr bwMode="auto">
            <a:xfrm>
              <a:off x="4151" y="3340"/>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9041" name="Rectangle 353"/>
            <p:cNvSpPr>
              <a:spLocks noChangeArrowheads="1"/>
            </p:cNvSpPr>
            <p:nvPr/>
          </p:nvSpPr>
          <p:spPr bwMode="auto">
            <a:xfrm>
              <a:off x="4208" y="334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9042" name="Rectangle 354"/>
            <p:cNvSpPr>
              <a:spLocks noChangeArrowheads="1"/>
            </p:cNvSpPr>
            <p:nvPr/>
          </p:nvSpPr>
          <p:spPr bwMode="auto">
            <a:xfrm>
              <a:off x="4235" y="3340"/>
              <a:ext cx="33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eg: 16-bit</a:t>
              </a:r>
              <a:endParaRPr lang="en-US" altLang="en-US"/>
            </a:p>
          </p:txBody>
        </p:sp>
        <p:sp>
          <p:nvSpPr>
            <p:cNvPr id="499043" name="Rectangle 355"/>
            <p:cNvSpPr>
              <a:spLocks noChangeArrowheads="1"/>
            </p:cNvSpPr>
            <p:nvPr/>
          </p:nvSpPr>
          <p:spPr bwMode="auto">
            <a:xfrm>
              <a:off x="4302" y="3420"/>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9044" name="Rectangle 356"/>
            <p:cNvSpPr>
              <a:spLocks noChangeArrowheads="1"/>
            </p:cNvSpPr>
            <p:nvPr/>
          </p:nvSpPr>
          <p:spPr bwMode="auto">
            <a:xfrm>
              <a:off x="4328" y="3420"/>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a:t>
              </a:r>
              <a:endParaRPr lang="en-US" altLang="en-US"/>
            </a:p>
          </p:txBody>
        </p:sp>
        <p:sp>
          <p:nvSpPr>
            <p:cNvPr id="499045" name="Rectangle 357"/>
            <p:cNvSpPr>
              <a:spLocks noChangeArrowheads="1"/>
            </p:cNvSpPr>
            <p:nvPr/>
          </p:nvSpPr>
          <p:spPr bwMode="auto">
            <a:xfrm>
              <a:off x="4372" y="3420"/>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g</a:t>
              </a:r>
              <a:endParaRPr lang="en-US" altLang="en-US"/>
            </a:p>
          </p:txBody>
        </p:sp>
        <p:sp>
          <p:nvSpPr>
            <p:cNvPr id="499046" name="Rectangle 358"/>
            <p:cNvSpPr>
              <a:spLocks noChangeArrowheads="1"/>
            </p:cNvSpPr>
            <p:nvPr/>
          </p:nvSpPr>
          <p:spPr bwMode="auto">
            <a:xfrm>
              <a:off x="4418" y="3420"/>
              <a:ext cx="5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is</a:t>
              </a:r>
              <a:endParaRPr lang="en-US" altLang="en-US"/>
            </a:p>
          </p:txBody>
        </p:sp>
        <p:sp>
          <p:nvSpPr>
            <p:cNvPr id="499047" name="Rectangle 359"/>
            <p:cNvSpPr>
              <a:spLocks noChangeArrowheads="1"/>
            </p:cNvSpPr>
            <p:nvPr/>
          </p:nvSpPr>
          <p:spPr bwMode="auto">
            <a:xfrm>
              <a:off x="4472" y="3420"/>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9048" name="Rectangle 360"/>
            <p:cNvSpPr>
              <a:spLocks noChangeArrowheads="1"/>
            </p:cNvSpPr>
            <p:nvPr/>
          </p:nvSpPr>
          <p:spPr bwMode="auto">
            <a:xfrm>
              <a:off x="4499" y="3420"/>
              <a:ext cx="6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er</a:t>
              </a:r>
              <a:endParaRPr lang="en-US" altLang="en-US"/>
            </a:p>
          </p:txBody>
        </p:sp>
        <p:sp>
          <p:nvSpPr>
            <p:cNvPr id="499049" name="Rectangle 361"/>
            <p:cNvSpPr>
              <a:spLocks noChangeArrowheads="1"/>
            </p:cNvSpPr>
            <p:nvPr/>
          </p:nvSpPr>
          <p:spPr bwMode="auto">
            <a:xfrm>
              <a:off x="4117" y="3751"/>
              <a:ext cx="8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16</a:t>
              </a:r>
              <a:endParaRPr lang="en-US" altLang="en-US"/>
            </a:p>
          </p:txBody>
        </p:sp>
        <p:sp>
          <p:nvSpPr>
            <p:cNvPr id="499050" name="Rectangle 362"/>
            <p:cNvSpPr>
              <a:spLocks noChangeArrowheads="1"/>
            </p:cNvSpPr>
            <p:nvPr/>
          </p:nvSpPr>
          <p:spPr bwMode="auto">
            <a:xfrm>
              <a:off x="4128" y="3886"/>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9051" name="Rectangle 363"/>
            <p:cNvSpPr>
              <a:spLocks noChangeArrowheads="1"/>
            </p:cNvSpPr>
            <p:nvPr/>
          </p:nvSpPr>
          <p:spPr bwMode="auto">
            <a:xfrm>
              <a:off x="1961" y="2815"/>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9052" name="Rectangle 364"/>
            <p:cNvSpPr>
              <a:spLocks noChangeArrowheads="1"/>
            </p:cNvSpPr>
            <p:nvPr/>
          </p:nvSpPr>
          <p:spPr bwMode="auto">
            <a:xfrm>
              <a:off x="2017" y="2815"/>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a</a:t>
              </a:r>
              <a:endParaRPr lang="en-US" altLang="en-US"/>
            </a:p>
          </p:txBody>
        </p:sp>
        <p:sp>
          <p:nvSpPr>
            <p:cNvPr id="499053" name="Rectangle 365"/>
            <p:cNvSpPr>
              <a:spLocks noChangeArrowheads="1"/>
            </p:cNvSpPr>
            <p:nvPr/>
          </p:nvSpPr>
          <p:spPr bwMode="auto">
            <a:xfrm>
              <a:off x="2057" y="2815"/>
              <a:ext cx="107"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tap</a:t>
              </a:r>
              <a:endParaRPr lang="en-US" altLang="en-US"/>
            </a:p>
          </p:txBody>
        </p:sp>
        <p:sp>
          <p:nvSpPr>
            <p:cNvPr id="499054" name="Rectangle 366"/>
            <p:cNvSpPr>
              <a:spLocks noChangeArrowheads="1"/>
            </p:cNvSpPr>
            <p:nvPr/>
          </p:nvSpPr>
          <p:spPr bwMode="auto">
            <a:xfrm>
              <a:off x="2175" y="2815"/>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a</a:t>
              </a:r>
              <a:endParaRPr lang="en-US" altLang="en-US"/>
            </a:p>
          </p:txBody>
        </p:sp>
        <p:sp>
          <p:nvSpPr>
            <p:cNvPr id="499055" name="Rectangle 367"/>
            <p:cNvSpPr>
              <a:spLocks noChangeArrowheads="1"/>
            </p:cNvSpPr>
            <p:nvPr/>
          </p:nvSpPr>
          <p:spPr bwMode="auto">
            <a:xfrm>
              <a:off x="2215" y="2815"/>
              <a:ext cx="6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th</a:t>
              </a:r>
              <a:endParaRPr lang="en-US" altLang="en-US"/>
            </a:p>
          </p:txBody>
        </p:sp>
        <p:sp>
          <p:nvSpPr>
            <p:cNvPr id="499056" name="Rectangle 368"/>
            <p:cNvSpPr>
              <a:spLocks noChangeArrowheads="1"/>
            </p:cNvSpPr>
            <p:nvPr/>
          </p:nvSpPr>
          <p:spPr bwMode="auto">
            <a:xfrm>
              <a:off x="1459" y="3043"/>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9057" name="Rectangle 369"/>
            <p:cNvSpPr>
              <a:spLocks noChangeArrowheads="1"/>
            </p:cNvSpPr>
            <p:nvPr/>
          </p:nvSpPr>
          <p:spPr bwMode="auto">
            <a:xfrm>
              <a:off x="1516" y="3043"/>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9058" name="Rectangle 370"/>
            <p:cNvSpPr>
              <a:spLocks noChangeArrowheads="1"/>
            </p:cNvSpPr>
            <p:nvPr/>
          </p:nvSpPr>
          <p:spPr bwMode="auto">
            <a:xfrm>
              <a:off x="1542" y="3043"/>
              <a:ext cx="21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eg_clr</a:t>
              </a:r>
              <a:endParaRPr lang="en-US" altLang="en-US"/>
            </a:p>
          </p:txBody>
        </p:sp>
        <p:sp>
          <p:nvSpPr>
            <p:cNvPr id="499059" name="Rectangle 371"/>
            <p:cNvSpPr>
              <a:spLocks noChangeArrowheads="1"/>
            </p:cNvSpPr>
            <p:nvPr/>
          </p:nvSpPr>
          <p:spPr bwMode="auto">
            <a:xfrm>
              <a:off x="1480" y="3295"/>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9060" name="Rectangle 372"/>
            <p:cNvSpPr>
              <a:spLocks noChangeArrowheads="1"/>
            </p:cNvSpPr>
            <p:nvPr/>
          </p:nvSpPr>
          <p:spPr bwMode="auto">
            <a:xfrm>
              <a:off x="1537" y="3295"/>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9061" name="Rectangle 373"/>
            <p:cNvSpPr>
              <a:spLocks noChangeArrowheads="1"/>
            </p:cNvSpPr>
            <p:nvPr/>
          </p:nvSpPr>
          <p:spPr bwMode="auto">
            <a:xfrm>
              <a:off x="1576" y="3295"/>
              <a:ext cx="18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tr_clr</a:t>
              </a:r>
              <a:endParaRPr lang="en-US" altLang="en-US"/>
            </a:p>
          </p:txBody>
        </p:sp>
        <p:sp>
          <p:nvSpPr>
            <p:cNvPr id="499062" name="Rectangle 374"/>
            <p:cNvSpPr>
              <a:spLocks noChangeArrowheads="1"/>
            </p:cNvSpPr>
            <p:nvPr/>
          </p:nvSpPr>
          <p:spPr bwMode="auto">
            <a:xfrm>
              <a:off x="1453" y="3387"/>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9063" name="Rectangle 375"/>
            <p:cNvSpPr>
              <a:spLocks noChangeArrowheads="1"/>
            </p:cNvSpPr>
            <p:nvPr/>
          </p:nvSpPr>
          <p:spPr bwMode="auto">
            <a:xfrm>
              <a:off x="1510" y="3387"/>
              <a:ext cx="3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c</a:t>
              </a:r>
              <a:endParaRPr lang="en-US" altLang="en-US"/>
            </a:p>
          </p:txBody>
        </p:sp>
        <p:sp>
          <p:nvSpPr>
            <p:cNvPr id="499064" name="Rectangle 376"/>
            <p:cNvSpPr>
              <a:spLocks noChangeArrowheads="1"/>
            </p:cNvSpPr>
            <p:nvPr/>
          </p:nvSpPr>
          <p:spPr bwMode="auto">
            <a:xfrm>
              <a:off x="1550" y="3387"/>
              <a:ext cx="136"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tr_c</a:t>
              </a:r>
              <a:endParaRPr lang="en-US" altLang="en-US"/>
            </a:p>
          </p:txBody>
        </p:sp>
        <p:sp>
          <p:nvSpPr>
            <p:cNvPr id="499065" name="Rectangle 377"/>
            <p:cNvSpPr>
              <a:spLocks noChangeArrowheads="1"/>
            </p:cNvSpPr>
            <p:nvPr/>
          </p:nvSpPr>
          <p:spPr bwMode="auto">
            <a:xfrm>
              <a:off x="1686" y="3387"/>
              <a:ext cx="4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n</a:t>
              </a:r>
              <a:endParaRPr lang="en-US" altLang="en-US"/>
            </a:p>
          </p:txBody>
        </p:sp>
        <p:sp>
          <p:nvSpPr>
            <p:cNvPr id="499066" name="Rectangle 378"/>
            <p:cNvSpPr>
              <a:spLocks noChangeArrowheads="1"/>
            </p:cNvSpPr>
            <p:nvPr/>
          </p:nvSpPr>
          <p:spPr bwMode="auto">
            <a:xfrm>
              <a:off x="1732" y="3387"/>
              <a:ext cx="2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t</a:t>
              </a:r>
              <a:endParaRPr lang="en-US" altLang="en-US"/>
            </a:p>
          </p:txBody>
        </p:sp>
        <p:sp>
          <p:nvSpPr>
            <p:cNvPr id="499067" name="Rectangle 379"/>
            <p:cNvSpPr>
              <a:spLocks noChangeArrowheads="1"/>
            </p:cNvSpPr>
            <p:nvPr/>
          </p:nvSpPr>
          <p:spPr bwMode="auto">
            <a:xfrm>
              <a:off x="1477" y="3153"/>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
              </a:r>
              <a:endParaRPr lang="en-US" altLang="en-US"/>
            </a:p>
          </p:txBody>
        </p:sp>
        <p:sp>
          <p:nvSpPr>
            <p:cNvPr id="499068" name="Rectangle 380"/>
            <p:cNvSpPr>
              <a:spLocks noChangeArrowheads="1"/>
            </p:cNvSpPr>
            <p:nvPr/>
          </p:nvSpPr>
          <p:spPr bwMode="auto">
            <a:xfrm>
              <a:off x="1534" y="3153"/>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499069" name="Rectangle 381"/>
            <p:cNvSpPr>
              <a:spLocks noChangeArrowheads="1"/>
            </p:cNvSpPr>
            <p:nvPr/>
          </p:nvSpPr>
          <p:spPr bwMode="auto">
            <a:xfrm>
              <a:off x="1560" y="3153"/>
              <a:ext cx="195"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eg_ld</a:t>
              </a:r>
              <a:endParaRPr lang="en-US" altLang="en-US"/>
            </a:p>
          </p:txBody>
        </p:sp>
        <p:sp>
          <p:nvSpPr>
            <p:cNvPr id="499070" name="Freeform 382"/>
            <p:cNvSpPr>
              <a:spLocks/>
            </p:cNvSpPr>
            <p:nvPr/>
          </p:nvSpPr>
          <p:spPr bwMode="auto">
            <a:xfrm>
              <a:off x="1794" y="3089"/>
              <a:ext cx="1649" cy="230"/>
            </a:xfrm>
            <a:custGeom>
              <a:avLst/>
              <a:gdLst>
                <a:gd name="T0" fmla="*/ 1941 w 1941"/>
                <a:gd name="T1" fmla="*/ 322 h 322"/>
                <a:gd name="T2" fmla="*/ 1838 w 1941"/>
                <a:gd name="T3" fmla="*/ 322 h 322"/>
                <a:gd name="T4" fmla="*/ 1838 w 1941"/>
                <a:gd name="T5" fmla="*/ 0 h 322"/>
                <a:gd name="T6" fmla="*/ 0 w 1941"/>
                <a:gd name="T7" fmla="*/ 0 h 322"/>
              </a:gdLst>
              <a:ahLst/>
              <a:cxnLst>
                <a:cxn ang="0">
                  <a:pos x="T0" y="T1"/>
                </a:cxn>
                <a:cxn ang="0">
                  <a:pos x="T2" y="T3"/>
                </a:cxn>
                <a:cxn ang="0">
                  <a:pos x="T4" y="T5"/>
                </a:cxn>
                <a:cxn ang="0">
                  <a:pos x="T6" y="T7"/>
                </a:cxn>
              </a:cxnLst>
              <a:rect l="0" t="0" r="r" b="b"/>
              <a:pathLst>
                <a:path w="1941" h="322">
                  <a:moveTo>
                    <a:pt x="1941" y="322"/>
                  </a:moveTo>
                  <a:lnTo>
                    <a:pt x="1838" y="322"/>
                  </a:lnTo>
                  <a:lnTo>
                    <a:pt x="1838"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71" name="Freeform 383"/>
            <p:cNvSpPr>
              <a:spLocks/>
            </p:cNvSpPr>
            <p:nvPr/>
          </p:nvSpPr>
          <p:spPr bwMode="auto">
            <a:xfrm>
              <a:off x="1794" y="3196"/>
              <a:ext cx="1654" cy="230"/>
            </a:xfrm>
            <a:custGeom>
              <a:avLst/>
              <a:gdLst>
                <a:gd name="T0" fmla="*/ 1947 w 1947"/>
                <a:gd name="T1" fmla="*/ 322 h 322"/>
                <a:gd name="T2" fmla="*/ 1750 w 1947"/>
                <a:gd name="T3" fmla="*/ 322 h 322"/>
                <a:gd name="T4" fmla="*/ 1750 w 1947"/>
                <a:gd name="T5" fmla="*/ 0 h 322"/>
                <a:gd name="T6" fmla="*/ 0 w 1947"/>
                <a:gd name="T7" fmla="*/ 0 h 322"/>
              </a:gdLst>
              <a:ahLst/>
              <a:cxnLst>
                <a:cxn ang="0">
                  <a:pos x="T0" y="T1"/>
                </a:cxn>
                <a:cxn ang="0">
                  <a:pos x="T2" y="T3"/>
                </a:cxn>
                <a:cxn ang="0">
                  <a:pos x="T4" y="T5"/>
                </a:cxn>
                <a:cxn ang="0">
                  <a:pos x="T6" y="T7"/>
                </a:cxn>
              </a:cxnLst>
              <a:rect l="0" t="0" r="r" b="b"/>
              <a:pathLst>
                <a:path w="1947" h="322">
                  <a:moveTo>
                    <a:pt x="1947" y="322"/>
                  </a:moveTo>
                  <a:lnTo>
                    <a:pt x="1750" y="322"/>
                  </a:lnTo>
                  <a:lnTo>
                    <a:pt x="1750"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72" name="Line 384"/>
            <p:cNvSpPr>
              <a:spLocks noChangeShapeType="1"/>
            </p:cNvSpPr>
            <p:nvPr/>
          </p:nvSpPr>
          <p:spPr bwMode="auto">
            <a:xfrm flipH="1">
              <a:off x="1803" y="3319"/>
              <a:ext cx="17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073" name="Freeform 385"/>
            <p:cNvSpPr>
              <a:spLocks/>
            </p:cNvSpPr>
            <p:nvPr/>
          </p:nvSpPr>
          <p:spPr bwMode="auto">
            <a:xfrm>
              <a:off x="1961" y="3301"/>
              <a:ext cx="85" cy="36"/>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074" name="Line 386"/>
            <p:cNvSpPr>
              <a:spLocks noChangeShapeType="1"/>
            </p:cNvSpPr>
            <p:nvPr/>
          </p:nvSpPr>
          <p:spPr bwMode="auto">
            <a:xfrm flipH="1">
              <a:off x="1799" y="3426"/>
              <a:ext cx="18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075" name="Freeform 387"/>
            <p:cNvSpPr>
              <a:spLocks/>
            </p:cNvSpPr>
            <p:nvPr/>
          </p:nvSpPr>
          <p:spPr bwMode="auto">
            <a:xfrm>
              <a:off x="1967" y="3409"/>
              <a:ext cx="85" cy="3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076" name="Line 388"/>
            <p:cNvSpPr>
              <a:spLocks noChangeShapeType="1"/>
            </p:cNvSpPr>
            <p:nvPr/>
          </p:nvSpPr>
          <p:spPr bwMode="auto">
            <a:xfrm flipV="1">
              <a:off x="4064" y="3600"/>
              <a:ext cx="0" cy="310"/>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077" name="Line 389"/>
            <p:cNvSpPr>
              <a:spLocks noChangeShapeType="1"/>
            </p:cNvSpPr>
            <p:nvPr/>
          </p:nvSpPr>
          <p:spPr bwMode="auto">
            <a:xfrm flipH="1">
              <a:off x="4021" y="3757"/>
              <a:ext cx="86" cy="7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499078" name="Group 390"/>
            <p:cNvGrpSpPr>
              <a:grpSpLocks/>
            </p:cNvGrpSpPr>
            <p:nvPr/>
          </p:nvGrpSpPr>
          <p:grpSpPr bwMode="auto">
            <a:xfrm>
              <a:off x="1918" y="3538"/>
              <a:ext cx="1602" cy="268"/>
              <a:chOff x="2016" y="3232"/>
              <a:chExt cx="1966" cy="393"/>
            </a:xfrm>
          </p:grpSpPr>
          <p:sp>
            <p:nvSpPr>
              <p:cNvPr id="499079" name="Freeform 391"/>
              <p:cNvSpPr>
                <a:spLocks/>
              </p:cNvSpPr>
              <p:nvPr/>
            </p:nvSpPr>
            <p:spPr bwMode="auto">
              <a:xfrm>
                <a:off x="2016" y="3517"/>
                <a:ext cx="108" cy="108"/>
              </a:xfrm>
              <a:custGeom>
                <a:avLst/>
                <a:gdLst>
                  <a:gd name="T0" fmla="*/ 0 w 103"/>
                  <a:gd name="T1" fmla="*/ 104 h 104"/>
                  <a:gd name="T2" fmla="*/ 103 w 103"/>
                  <a:gd name="T3" fmla="*/ 50 h 104"/>
                  <a:gd name="T4" fmla="*/ 0 w 103"/>
                  <a:gd name="T5" fmla="*/ 0 h 104"/>
                </a:gdLst>
                <a:ahLst/>
                <a:cxnLst>
                  <a:cxn ang="0">
                    <a:pos x="T0" y="T1"/>
                  </a:cxn>
                  <a:cxn ang="0">
                    <a:pos x="T2" y="T3"/>
                  </a:cxn>
                  <a:cxn ang="0">
                    <a:pos x="T4" y="T5"/>
                  </a:cxn>
                </a:cxnLst>
                <a:rect l="0" t="0" r="r" b="b"/>
                <a:pathLst>
                  <a:path w="103" h="104">
                    <a:moveTo>
                      <a:pt x="0" y="104"/>
                    </a:moveTo>
                    <a:lnTo>
                      <a:pt x="103" y="5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80" name="Freeform 392"/>
              <p:cNvSpPr>
                <a:spLocks/>
              </p:cNvSpPr>
              <p:nvPr/>
            </p:nvSpPr>
            <p:spPr bwMode="auto">
              <a:xfrm>
                <a:off x="2024" y="3232"/>
                <a:ext cx="1958" cy="337"/>
              </a:xfrm>
              <a:custGeom>
                <a:avLst/>
                <a:gdLst>
                  <a:gd name="T0" fmla="*/ 1878 w 1878"/>
                  <a:gd name="T1" fmla="*/ 0 h 322"/>
                  <a:gd name="T2" fmla="*/ 1809 w 1878"/>
                  <a:gd name="T3" fmla="*/ 0 h 322"/>
                  <a:gd name="T4" fmla="*/ 1809 w 1878"/>
                  <a:gd name="T5" fmla="*/ 322 h 322"/>
                  <a:gd name="T6" fmla="*/ 0 w 1878"/>
                  <a:gd name="T7" fmla="*/ 322 h 322"/>
                </a:gdLst>
                <a:ahLst/>
                <a:cxnLst>
                  <a:cxn ang="0">
                    <a:pos x="T0" y="T1"/>
                  </a:cxn>
                  <a:cxn ang="0">
                    <a:pos x="T2" y="T3"/>
                  </a:cxn>
                  <a:cxn ang="0">
                    <a:pos x="T4" y="T5"/>
                  </a:cxn>
                  <a:cxn ang="0">
                    <a:pos x="T6" y="T7"/>
                  </a:cxn>
                </a:cxnLst>
                <a:rect l="0" t="0" r="r" b="b"/>
                <a:pathLst>
                  <a:path w="1878" h="322">
                    <a:moveTo>
                      <a:pt x="1878" y="0"/>
                    </a:moveTo>
                    <a:lnTo>
                      <a:pt x="1809" y="0"/>
                    </a:lnTo>
                    <a:lnTo>
                      <a:pt x="1809" y="322"/>
                    </a:lnTo>
                    <a:lnTo>
                      <a:pt x="0" y="3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81" name="Freeform 393"/>
              <p:cNvSpPr>
                <a:spLocks/>
              </p:cNvSpPr>
              <p:nvPr/>
            </p:nvSpPr>
            <p:spPr bwMode="auto">
              <a:xfrm>
                <a:off x="2134" y="3232"/>
                <a:ext cx="42" cy="337"/>
              </a:xfrm>
              <a:custGeom>
                <a:avLst/>
                <a:gdLst>
                  <a:gd name="T0" fmla="*/ 40 w 40"/>
                  <a:gd name="T1" fmla="*/ 0 h 322"/>
                  <a:gd name="T2" fmla="*/ 0 w 40"/>
                  <a:gd name="T3" fmla="*/ 0 h 322"/>
                  <a:gd name="T4" fmla="*/ 0 w 40"/>
                  <a:gd name="T5" fmla="*/ 322 h 322"/>
                </a:gdLst>
                <a:ahLst/>
                <a:cxnLst>
                  <a:cxn ang="0">
                    <a:pos x="T0" y="T1"/>
                  </a:cxn>
                  <a:cxn ang="0">
                    <a:pos x="T2" y="T3"/>
                  </a:cxn>
                  <a:cxn ang="0">
                    <a:pos x="T4" y="T5"/>
                  </a:cxn>
                </a:cxnLst>
                <a:rect l="0" t="0" r="r" b="b"/>
                <a:pathLst>
                  <a:path w="40" h="322">
                    <a:moveTo>
                      <a:pt x="40" y="0"/>
                    </a:moveTo>
                    <a:lnTo>
                      <a:pt x="0" y="0"/>
                    </a:lnTo>
                    <a:lnTo>
                      <a:pt x="0" y="322"/>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82" name="Oval 394"/>
              <p:cNvSpPr>
                <a:spLocks noChangeArrowheads="1"/>
              </p:cNvSpPr>
              <p:nvPr/>
            </p:nvSpPr>
            <p:spPr bwMode="auto">
              <a:xfrm>
                <a:off x="2108" y="3543"/>
                <a:ext cx="52" cy="52"/>
              </a:xfrm>
              <a:prstGeom prst="ellipse">
                <a:avLst/>
              </a:prstGeom>
              <a:solidFill>
                <a:srgbClr val="000000"/>
              </a:solidFill>
              <a:ln w="4763">
                <a:solidFill>
                  <a:srgbClr val="000000"/>
                </a:solidFill>
                <a:miter lim="800000"/>
                <a:headEnd/>
                <a:tailEnd/>
              </a:ln>
            </p:spPr>
            <p:txBody>
              <a:bodyPr/>
              <a:lstStyle/>
              <a:p>
                <a:endParaRPr lang="en-US"/>
              </a:p>
            </p:txBody>
          </p:sp>
        </p:grpSp>
        <p:sp>
          <p:nvSpPr>
            <p:cNvPr id="499083" name="Rectangle 395"/>
            <p:cNvSpPr>
              <a:spLocks noChangeArrowheads="1"/>
            </p:cNvSpPr>
            <p:nvPr/>
          </p:nvSpPr>
          <p:spPr bwMode="auto">
            <a:xfrm>
              <a:off x="3520" y="3274"/>
              <a:ext cx="1089" cy="32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499084" name="Group 396"/>
            <p:cNvGrpSpPr>
              <a:grpSpLocks/>
            </p:cNvGrpSpPr>
            <p:nvPr/>
          </p:nvGrpSpPr>
          <p:grpSpPr bwMode="auto">
            <a:xfrm>
              <a:off x="2601" y="2897"/>
              <a:ext cx="1692" cy="790"/>
              <a:chOff x="2854" y="2294"/>
              <a:chExt cx="2076" cy="1157"/>
            </a:xfrm>
          </p:grpSpPr>
          <p:sp>
            <p:nvSpPr>
              <p:cNvPr id="499085" name="Rectangle 397"/>
              <p:cNvSpPr>
                <a:spLocks noChangeArrowheads="1"/>
              </p:cNvSpPr>
              <p:nvPr/>
            </p:nvSpPr>
            <p:spPr bwMode="auto">
              <a:xfrm>
                <a:off x="4713" y="2614"/>
                <a:ext cx="108"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16</a:t>
                </a:r>
                <a:endParaRPr lang="en-US" altLang="en-US"/>
              </a:p>
            </p:txBody>
          </p:sp>
          <p:sp>
            <p:nvSpPr>
              <p:cNvPr id="499086" name="Freeform 398"/>
              <p:cNvSpPr>
                <a:spLocks/>
              </p:cNvSpPr>
              <p:nvPr/>
            </p:nvSpPr>
            <p:spPr bwMode="auto">
              <a:xfrm>
                <a:off x="4623" y="2735"/>
                <a:ext cx="53" cy="10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087" name="Line 399"/>
              <p:cNvSpPr>
                <a:spLocks noChangeShapeType="1"/>
              </p:cNvSpPr>
              <p:nvPr/>
            </p:nvSpPr>
            <p:spPr bwMode="auto">
              <a:xfrm flipV="1">
                <a:off x="4649" y="2598"/>
                <a:ext cx="1" cy="15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088" name="Freeform 400"/>
              <p:cNvSpPr>
                <a:spLocks/>
              </p:cNvSpPr>
              <p:nvPr/>
            </p:nvSpPr>
            <p:spPr bwMode="auto">
              <a:xfrm>
                <a:off x="4623" y="2369"/>
                <a:ext cx="53" cy="10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089" name="Freeform 401"/>
              <p:cNvSpPr>
                <a:spLocks/>
              </p:cNvSpPr>
              <p:nvPr/>
            </p:nvSpPr>
            <p:spPr bwMode="auto">
              <a:xfrm>
                <a:off x="2854" y="2294"/>
                <a:ext cx="1795" cy="1151"/>
              </a:xfrm>
              <a:custGeom>
                <a:avLst/>
                <a:gdLst>
                  <a:gd name="T0" fmla="*/ 1722 w 1722"/>
                  <a:gd name="T1" fmla="*/ 88 h 1101"/>
                  <a:gd name="T2" fmla="*/ 1722 w 1722"/>
                  <a:gd name="T3" fmla="*/ 0 h 1101"/>
                  <a:gd name="T4" fmla="*/ 710 w 1722"/>
                  <a:gd name="T5" fmla="*/ 0 h 1101"/>
                  <a:gd name="T6" fmla="*/ 710 w 1722"/>
                  <a:gd name="T7" fmla="*/ 1101 h 1101"/>
                  <a:gd name="T8" fmla="*/ 0 w 1722"/>
                  <a:gd name="T9" fmla="*/ 1101 h 1101"/>
                  <a:gd name="T10" fmla="*/ 0 w 1722"/>
                  <a:gd name="T11" fmla="*/ 979 h 1101"/>
                </a:gdLst>
                <a:ahLst/>
                <a:cxnLst>
                  <a:cxn ang="0">
                    <a:pos x="T0" y="T1"/>
                  </a:cxn>
                  <a:cxn ang="0">
                    <a:pos x="T2" y="T3"/>
                  </a:cxn>
                  <a:cxn ang="0">
                    <a:pos x="T4" y="T5"/>
                  </a:cxn>
                  <a:cxn ang="0">
                    <a:pos x="T6" y="T7"/>
                  </a:cxn>
                  <a:cxn ang="0">
                    <a:pos x="T8" y="T9"/>
                  </a:cxn>
                  <a:cxn ang="0">
                    <a:pos x="T10" y="T11"/>
                  </a:cxn>
                </a:cxnLst>
                <a:rect l="0" t="0" r="r" b="b"/>
                <a:pathLst>
                  <a:path w="1722" h="1101">
                    <a:moveTo>
                      <a:pt x="1722" y="88"/>
                    </a:moveTo>
                    <a:lnTo>
                      <a:pt x="1722" y="0"/>
                    </a:lnTo>
                    <a:lnTo>
                      <a:pt x="710" y="0"/>
                    </a:lnTo>
                    <a:lnTo>
                      <a:pt x="710" y="1101"/>
                    </a:lnTo>
                    <a:lnTo>
                      <a:pt x="0" y="1101"/>
                    </a:lnTo>
                    <a:lnTo>
                      <a:pt x="0" y="979"/>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90" name="Line 402"/>
              <p:cNvSpPr>
                <a:spLocks noChangeShapeType="1"/>
              </p:cNvSpPr>
              <p:nvPr/>
            </p:nvSpPr>
            <p:spPr bwMode="auto">
              <a:xfrm flipH="1">
                <a:off x="4597" y="2618"/>
                <a:ext cx="105" cy="10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091" name="Rectangle 403"/>
              <p:cNvSpPr>
                <a:spLocks noChangeArrowheads="1"/>
              </p:cNvSpPr>
              <p:nvPr/>
            </p:nvSpPr>
            <p:spPr bwMode="auto">
              <a:xfrm>
                <a:off x="3637" y="3296"/>
                <a:ext cx="10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16</a:t>
                </a:r>
                <a:endParaRPr lang="en-US" altLang="en-US"/>
              </a:p>
            </p:txBody>
          </p:sp>
          <p:sp>
            <p:nvSpPr>
              <p:cNvPr id="499092" name="Line 404"/>
              <p:cNvSpPr>
                <a:spLocks noChangeShapeType="1"/>
              </p:cNvSpPr>
              <p:nvPr/>
            </p:nvSpPr>
            <p:spPr bwMode="auto">
              <a:xfrm flipH="1">
                <a:off x="3542" y="3288"/>
                <a:ext cx="104" cy="10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093" name="Rectangle 405"/>
              <p:cNvSpPr>
                <a:spLocks noChangeArrowheads="1"/>
              </p:cNvSpPr>
              <p:nvPr/>
            </p:nvSpPr>
            <p:spPr bwMode="auto">
              <a:xfrm>
                <a:off x="4370" y="2477"/>
                <a:ext cx="560" cy="118"/>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094" name="Rectangle 406"/>
              <p:cNvSpPr>
                <a:spLocks noChangeArrowheads="1"/>
              </p:cNvSpPr>
              <p:nvPr/>
            </p:nvSpPr>
            <p:spPr bwMode="auto">
              <a:xfrm>
                <a:off x="4562" y="2469"/>
                <a:ext cx="177"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&gt;&gt;1</a:t>
                </a:r>
                <a:endParaRPr lang="en-US" altLang="en-US"/>
              </a:p>
            </p:txBody>
          </p:sp>
        </p:gr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Slide Number Placeholder 3"/>
          <p:cNvSpPr>
            <a:spLocks noGrp="1"/>
          </p:cNvSpPr>
          <p:nvPr>
            <p:ph type="sldNum" sz="quarter" idx="10"/>
          </p:nvPr>
        </p:nvSpPr>
        <p:spPr/>
        <p:txBody>
          <a:bodyPr/>
          <a:lstStyle/>
          <a:p>
            <a:fld id="{1C34ACF8-23AA-4DC8-8DB5-EB25A7317FE7}" type="slidenum">
              <a:rPr lang="en-US" altLang="en-US"/>
              <a:pPr/>
              <a:t>27</a:t>
            </a:fld>
            <a:endParaRPr lang="en-US" altLang="en-US"/>
          </a:p>
        </p:txBody>
      </p:sp>
      <p:sp>
        <p:nvSpPr>
          <p:cNvPr id="499714" name="Rectangle 2"/>
          <p:cNvSpPr>
            <a:spLocks noGrp="1" noChangeArrowheads="1"/>
          </p:cNvSpPr>
          <p:nvPr>
            <p:ph type="title"/>
          </p:nvPr>
        </p:nvSpPr>
        <p:spPr/>
        <p:txBody>
          <a:bodyPr/>
          <a:lstStyle/>
          <a:p>
            <a:r>
              <a:rPr lang="en-US" altLang="en-US" u="sng"/>
              <a:t>RTL Design Examples and Issues</a:t>
            </a:r>
          </a:p>
        </p:txBody>
      </p:sp>
      <p:sp>
        <p:nvSpPr>
          <p:cNvPr id="499715" name="Rectangle 3"/>
          <p:cNvSpPr>
            <a:spLocks noGrp="1" noChangeArrowheads="1"/>
          </p:cNvSpPr>
          <p:nvPr>
            <p:ph type="body" idx="1"/>
          </p:nvPr>
        </p:nvSpPr>
        <p:spPr>
          <a:xfrm>
            <a:off x="228600" y="1219200"/>
            <a:ext cx="4554538" cy="4876800"/>
          </a:xfrm>
        </p:spPr>
        <p:txBody>
          <a:bodyPr/>
          <a:lstStyle/>
          <a:p>
            <a:pPr>
              <a:lnSpc>
                <a:spcPct val="90000"/>
              </a:lnSpc>
            </a:pPr>
            <a:r>
              <a:rPr lang="en-US" altLang="en-US"/>
              <a:t>We’ll use several more examples to illustrate RTL design</a:t>
            </a:r>
          </a:p>
          <a:p>
            <a:pPr>
              <a:lnSpc>
                <a:spcPct val="90000"/>
              </a:lnSpc>
            </a:pPr>
            <a:r>
              <a:rPr lang="en-US" altLang="en-US"/>
              <a:t>Example: </a:t>
            </a:r>
            <a:r>
              <a:rPr lang="en-US" altLang="en-US" b="1"/>
              <a:t>Bus interface</a:t>
            </a:r>
          </a:p>
          <a:p>
            <a:pPr lvl="1">
              <a:lnSpc>
                <a:spcPct val="90000"/>
              </a:lnSpc>
            </a:pPr>
            <a:r>
              <a:rPr lang="en-US" altLang="en-US"/>
              <a:t>Master processor can read register from any peripheral</a:t>
            </a:r>
          </a:p>
          <a:p>
            <a:pPr lvl="2">
              <a:lnSpc>
                <a:spcPct val="90000"/>
              </a:lnSpc>
            </a:pPr>
            <a:r>
              <a:rPr lang="en-US" altLang="en-US"/>
              <a:t>Each register has unique 4-bit address </a:t>
            </a:r>
          </a:p>
          <a:p>
            <a:pPr lvl="2">
              <a:lnSpc>
                <a:spcPct val="90000"/>
              </a:lnSpc>
            </a:pPr>
            <a:r>
              <a:rPr lang="en-US" altLang="en-US"/>
              <a:t>Assume 1 register/periph.</a:t>
            </a:r>
          </a:p>
          <a:p>
            <a:pPr lvl="1">
              <a:lnSpc>
                <a:spcPct val="90000"/>
              </a:lnSpc>
            </a:pPr>
            <a:r>
              <a:rPr lang="en-US" altLang="en-US"/>
              <a:t>Sets </a:t>
            </a:r>
            <a:r>
              <a:rPr lang="en-US" altLang="en-US" i="1"/>
              <a:t>rd=1</a:t>
            </a:r>
            <a:r>
              <a:rPr lang="en-US" altLang="en-US"/>
              <a:t>, </a:t>
            </a:r>
            <a:r>
              <a:rPr lang="en-US" altLang="en-US" i="1"/>
              <a:t>A=address</a:t>
            </a:r>
          </a:p>
          <a:p>
            <a:pPr lvl="1">
              <a:lnSpc>
                <a:spcPct val="90000"/>
              </a:lnSpc>
            </a:pPr>
            <a:r>
              <a:rPr lang="en-US" altLang="en-US"/>
              <a:t>Appropriate peripheral places register data on 32-bit </a:t>
            </a:r>
            <a:r>
              <a:rPr lang="en-US" altLang="en-US" i="1"/>
              <a:t>D</a:t>
            </a:r>
            <a:r>
              <a:rPr lang="en-US" altLang="en-US"/>
              <a:t> lines</a:t>
            </a:r>
          </a:p>
          <a:p>
            <a:pPr lvl="2">
              <a:lnSpc>
                <a:spcPct val="90000"/>
              </a:lnSpc>
            </a:pPr>
            <a:r>
              <a:rPr lang="en-US" altLang="en-US"/>
              <a:t>Periph’s address provided on </a:t>
            </a:r>
            <a:r>
              <a:rPr lang="en-US" altLang="en-US" i="1"/>
              <a:t>Faddr</a:t>
            </a:r>
            <a:r>
              <a:rPr lang="en-US" altLang="en-US"/>
              <a:t> inputs (maybe from DIP switches, or another register)</a:t>
            </a:r>
          </a:p>
        </p:txBody>
      </p:sp>
      <p:sp>
        <p:nvSpPr>
          <p:cNvPr id="499716" name="Text Box 4"/>
          <p:cNvSpPr txBox="1">
            <a:spLocks noChangeArrowheads="1"/>
          </p:cNvSpPr>
          <p:nvPr/>
        </p:nvSpPr>
        <p:spPr bwMode="auto">
          <a:xfrm>
            <a:off x="8458200" y="152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5.3</a:t>
            </a:r>
          </a:p>
        </p:txBody>
      </p:sp>
      <p:grpSp>
        <p:nvGrpSpPr>
          <p:cNvPr id="499840" name="Group 128"/>
          <p:cNvGrpSpPr>
            <a:grpSpLocks/>
          </p:cNvGrpSpPr>
          <p:nvPr/>
        </p:nvGrpSpPr>
        <p:grpSpPr bwMode="auto">
          <a:xfrm>
            <a:off x="4976813" y="1204913"/>
            <a:ext cx="3408362" cy="2093912"/>
            <a:chOff x="3135" y="759"/>
            <a:chExt cx="2147" cy="1319"/>
          </a:xfrm>
        </p:grpSpPr>
        <p:sp>
          <p:nvSpPr>
            <p:cNvPr id="499717" name="Line 5"/>
            <p:cNvSpPr>
              <a:spLocks noChangeShapeType="1"/>
            </p:cNvSpPr>
            <p:nvPr/>
          </p:nvSpPr>
          <p:spPr bwMode="auto">
            <a:xfrm>
              <a:off x="3245" y="1281"/>
              <a:ext cx="1" cy="516"/>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18" name="Freeform 6"/>
            <p:cNvSpPr>
              <a:spLocks/>
            </p:cNvSpPr>
            <p:nvPr/>
          </p:nvSpPr>
          <p:spPr bwMode="auto">
            <a:xfrm>
              <a:off x="3220" y="175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19" name="Line 7"/>
            <p:cNvSpPr>
              <a:spLocks noChangeShapeType="1"/>
            </p:cNvSpPr>
            <p:nvPr/>
          </p:nvSpPr>
          <p:spPr bwMode="auto">
            <a:xfrm>
              <a:off x="3404" y="1615"/>
              <a:ext cx="1" cy="18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20" name="Freeform 8"/>
            <p:cNvSpPr>
              <a:spLocks/>
            </p:cNvSpPr>
            <p:nvPr/>
          </p:nvSpPr>
          <p:spPr bwMode="auto">
            <a:xfrm>
              <a:off x="3379" y="175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21" name="Line 9"/>
            <p:cNvSpPr>
              <a:spLocks noChangeShapeType="1"/>
            </p:cNvSpPr>
            <p:nvPr/>
          </p:nvSpPr>
          <p:spPr bwMode="auto">
            <a:xfrm flipV="1">
              <a:off x="3326" y="1518"/>
              <a:ext cx="1" cy="34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22" name="Freeform 10"/>
            <p:cNvSpPr>
              <a:spLocks/>
            </p:cNvSpPr>
            <p:nvPr/>
          </p:nvSpPr>
          <p:spPr bwMode="auto">
            <a:xfrm>
              <a:off x="3301" y="1456"/>
              <a:ext cx="47" cy="100"/>
            </a:xfrm>
            <a:custGeom>
              <a:avLst/>
              <a:gdLst>
                <a:gd name="T0" fmla="*/ 25 w 47"/>
                <a:gd name="T1" fmla="*/ 0 h 100"/>
                <a:gd name="T2" fmla="*/ 47 w 47"/>
                <a:gd name="T3" fmla="*/ 100 h 100"/>
                <a:gd name="T4" fmla="*/ 0 w 47"/>
                <a:gd name="T5" fmla="*/ 100 h 100"/>
                <a:gd name="T6" fmla="*/ 25 w 47"/>
                <a:gd name="T7" fmla="*/ 0 h 100"/>
              </a:gdLst>
              <a:ahLst/>
              <a:cxnLst>
                <a:cxn ang="0">
                  <a:pos x="T0" y="T1"/>
                </a:cxn>
                <a:cxn ang="0">
                  <a:pos x="T2" y="T3"/>
                </a:cxn>
                <a:cxn ang="0">
                  <a:pos x="T4" y="T5"/>
                </a:cxn>
                <a:cxn ang="0">
                  <a:pos x="T6" y="T7"/>
                </a:cxn>
              </a:cxnLst>
              <a:rect l="0" t="0" r="r" b="b"/>
              <a:pathLst>
                <a:path w="47" h="100">
                  <a:moveTo>
                    <a:pt x="25" y="0"/>
                  </a:moveTo>
                  <a:lnTo>
                    <a:pt x="47" y="100"/>
                  </a:lnTo>
                  <a:lnTo>
                    <a:pt x="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23" name="Oval 11"/>
            <p:cNvSpPr>
              <a:spLocks noChangeArrowheads="1"/>
            </p:cNvSpPr>
            <p:nvPr/>
          </p:nvSpPr>
          <p:spPr bwMode="auto">
            <a:xfrm>
              <a:off x="3220" y="1256"/>
              <a:ext cx="46" cy="47"/>
            </a:xfrm>
            <a:prstGeom prst="ellipse">
              <a:avLst/>
            </a:prstGeom>
            <a:solidFill>
              <a:srgbClr val="000000"/>
            </a:solidFill>
            <a:ln w="11113">
              <a:solidFill>
                <a:srgbClr val="000000"/>
              </a:solidFill>
              <a:miter lim="800000"/>
              <a:headEnd/>
              <a:tailEnd/>
            </a:ln>
          </p:spPr>
          <p:txBody>
            <a:bodyPr/>
            <a:lstStyle/>
            <a:p>
              <a:endParaRPr lang="en-US"/>
            </a:p>
          </p:txBody>
        </p:sp>
        <p:sp>
          <p:nvSpPr>
            <p:cNvPr id="499724" name="Oval 12"/>
            <p:cNvSpPr>
              <a:spLocks noChangeArrowheads="1"/>
            </p:cNvSpPr>
            <p:nvPr/>
          </p:nvSpPr>
          <p:spPr bwMode="auto">
            <a:xfrm>
              <a:off x="3379" y="1590"/>
              <a:ext cx="47" cy="47"/>
            </a:xfrm>
            <a:prstGeom prst="ellipse">
              <a:avLst/>
            </a:prstGeom>
            <a:solidFill>
              <a:srgbClr val="000000"/>
            </a:solidFill>
            <a:ln w="11113">
              <a:solidFill>
                <a:srgbClr val="000000"/>
              </a:solidFill>
              <a:miter lim="800000"/>
              <a:headEnd/>
              <a:tailEnd/>
            </a:ln>
          </p:spPr>
          <p:txBody>
            <a:bodyPr/>
            <a:lstStyle/>
            <a:p>
              <a:endParaRPr lang="en-US"/>
            </a:p>
          </p:txBody>
        </p:sp>
        <p:sp>
          <p:nvSpPr>
            <p:cNvPr id="499725" name="Oval 13"/>
            <p:cNvSpPr>
              <a:spLocks noChangeArrowheads="1"/>
            </p:cNvSpPr>
            <p:nvPr/>
          </p:nvSpPr>
          <p:spPr bwMode="auto">
            <a:xfrm>
              <a:off x="3710" y="1256"/>
              <a:ext cx="50" cy="47"/>
            </a:xfrm>
            <a:prstGeom prst="ellipse">
              <a:avLst/>
            </a:prstGeom>
            <a:solidFill>
              <a:srgbClr val="000000"/>
            </a:solidFill>
            <a:ln w="11113">
              <a:solidFill>
                <a:srgbClr val="000000"/>
              </a:solidFill>
              <a:miter lim="800000"/>
              <a:headEnd/>
              <a:tailEnd/>
            </a:ln>
          </p:spPr>
          <p:txBody>
            <a:bodyPr/>
            <a:lstStyle/>
            <a:p>
              <a:endParaRPr lang="en-US"/>
            </a:p>
          </p:txBody>
        </p:sp>
        <p:sp>
          <p:nvSpPr>
            <p:cNvPr id="499726" name="Oval 14"/>
            <p:cNvSpPr>
              <a:spLocks noChangeArrowheads="1"/>
            </p:cNvSpPr>
            <p:nvPr/>
          </p:nvSpPr>
          <p:spPr bwMode="auto">
            <a:xfrm>
              <a:off x="3870" y="1590"/>
              <a:ext cx="50" cy="47"/>
            </a:xfrm>
            <a:prstGeom prst="ellipse">
              <a:avLst/>
            </a:prstGeom>
            <a:solidFill>
              <a:srgbClr val="000000"/>
            </a:solidFill>
            <a:ln w="11113">
              <a:solidFill>
                <a:srgbClr val="000000"/>
              </a:solidFill>
              <a:miter lim="800000"/>
              <a:headEnd/>
              <a:tailEnd/>
            </a:ln>
          </p:spPr>
          <p:txBody>
            <a:bodyPr/>
            <a:lstStyle/>
            <a:p>
              <a:endParaRPr lang="en-US"/>
            </a:p>
          </p:txBody>
        </p:sp>
        <p:sp>
          <p:nvSpPr>
            <p:cNvPr id="499727" name="Oval 15"/>
            <p:cNvSpPr>
              <a:spLocks noChangeArrowheads="1"/>
            </p:cNvSpPr>
            <p:nvPr/>
          </p:nvSpPr>
          <p:spPr bwMode="auto">
            <a:xfrm>
              <a:off x="3954" y="1590"/>
              <a:ext cx="50" cy="47"/>
            </a:xfrm>
            <a:prstGeom prst="ellipse">
              <a:avLst/>
            </a:prstGeom>
            <a:solidFill>
              <a:srgbClr val="000000"/>
            </a:solidFill>
            <a:ln w="11113">
              <a:solidFill>
                <a:srgbClr val="000000"/>
              </a:solidFill>
              <a:miter lim="800000"/>
              <a:headEnd/>
              <a:tailEnd/>
            </a:ln>
          </p:spPr>
          <p:txBody>
            <a:bodyPr/>
            <a:lstStyle/>
            <a:p>
              <a:endParaRPr lang="en-US"/>
            </a:p>
          </p:txBody>
        </p:sp>
        <p:sp>
          <p:nvSpPr>
            <p:cNvPr id="499728" name="Oval 16"/>
            <p:cNvSpPr>
              <a:spLocks noChangeArrowheads="1"/>
            </p:cNvSpPr>
            <p:nvPr/>
          </p:nvSpPr>
          <p:spPr bwMode="auto">
            <a:xfrm>
              <a:off x="4023" y="1422"/>
              <a:ext cx="47" cy="50"/>
            </a:xfrm>
            <a:prstGeom prst="ellipse">
              <a:avLst/>
            </a:prstGeom>
            <a:solidFill>
              <a:srgbClr val="000000"/>
            </a:solidFill>
            <a:ln w="11113">
              <a:solidFill>
                <a:srgbClr val="000000"/>
              </a:solidFill>
              <a:miter lim="800000"/>
              <a:headEnd/>
              <a:tailEnd/>
            </a:ln>
          </p:spPr>
          <p:txBody>
            <a:bodyPr/>
            <a:lstStyle/>
            <a:p>
              <a:endParaRPr lang="en-US"/>
            </a:p>
          </p:txBody>
        </p:sp>
        <p:sp>
          <p:nvSpPr>
            <p:cNvPr id="499729" name="Oval 17"/>
            <p:cNvSpPr>
              <a:spLocks noChangeArrowheads="1"/>
            </p:cNvSpPr>
            <p:nvPr/>
          </p:nvSpPr>
          <p:spPr bwMode="auto">
            <a:xfrm>
              <a:off x="4091" y="1256"/>
              <a:ext cx="50" cy="50"/>
            </a:xfrm>
            <a:prstGeom prst="ellipse">
              <a:avLst/>
            </a:prstGeom>
            <a:solidFill>
              <a:srgbClr val="000000"/>
            </a:solidFill>
            <a:ln w="11113">
              <a:solidFill>
                <a:srgbClr val="000000"/>
              </a:solidFill>
              <a:miter lim="800000"/>
              <a:headEnd/>
              <a:tailEnd/>
            </a:ln>
          </p:spPr>
          <p:txBody>
            <a:bodyPr/>
            <a:lstStyle/>
            <a:p>
              <a:endParaRPr lang="en-US"/>
            </a:p>
          </p:txBody>
        </p:sp>
        <p:sp>
          <p:nvSpPr>
            <p:cNvPr id="499730" name="Oval 18"/>
            <p:cNvSpPr>
              <a:spLocks noChangeArrowheads="1"/>
            </p:cNvSpPr>
            <p:nvPr/>
          </p:nvSpPr>
          <p:spPr bwMode="auto">
            <a:xfrm>
              <a:off x="4795" y="1256"/>
              <a:ext cx="47" cy="50"/>
            </a:xfrm>
            <a:prstGeom prst="ellipse">
              <a:avLst/>
            </a:prstGeom>
            <a:solidFill>
              <a:srgbClr val="000000"/>
            </a:solidFill>
            <a:ln w="11113">
              <a:solidFill>
                <a:srgbClr val="000000"/>
              </a:solidFill>
              <a:miter lim="800000"/>
              <a:headEnd/>
              <a:tailEnd/>
            </a:ln>
          </p:spPr>
          <p:txBody>
            <a:bodyPr/>
            <a:lstStyle/>
            <a:p>
              <a:endParaRPr lang="en-US"/>
            </a:p>
          </p:txBody>
        </p:sp>
        <p:sp>
          <p:nvSpPr>
            <p:cNvPr id="499731" name="Oval 19"/>
            <p:cNvSpPr>
              <a:spLocks noChangeArrowheads="1"/>
            </p:cNvSpPr>
            <p:nvPr/>
          </p:nvSpPr>
          <p:spPr bwMode="auto">
            <a:xfrm>
              <a:off x="4954" y="1590"/>
              <a:ext cx="47" cy="50"/>
            </a:xfrm>
            <a:prstGeom prst="ellipse">
              <a:avLst/>
            </a:prstGeom>
            <a:solidFill>
              <a:srgbClr val="000000"/>
            </a:solidFill>
            <a:ln w="11113">
              <a:solidFill>
                <a:srgbClr val="000000"/>
              </a:solidFill>
              <a:miter lim="800000"/>
              <a:headEnd/>
              <a:tailEnd/>
            </a:ln>
          </p:spPr>
          <p:txBody>
            <a:bodyPr/>
            <a:lstStyle/>
            <a:p>
              <a:endParaRPr lang="en-US"/>
            </a:p>
          </p:txBody>
        </p:sp>
        <p:sp>
          <p:nvSpPr>
            <p:cNvPr id="499732" name="Freeform 20"/>
            <p:cNvSpPr>
              <a:spLocks/>
            </p:cNvSpPr>
            <p:nvPr/>
          </p:nvSpPr>
          <p:spPr bwMode="auto">
            <a:xfrm>
              <a:off x="4260" y="1406"/>
              <a:ext cx="81" cy="81"/>
            </a:xfrm>
            <a:custGeom>
              <a:avLst/>
              <a:gdLst>
                <a:gd name="T0" fmla="*/ 81 w 81"/>
                <a:gd name="T1" fmla="*/ 0 h 81"/>
                <a:gd name="T2" fmla="*/ 0 w 81"/>
                <a:gd name="T3" fmla="*/ 81 h 81"/>
                <a:gd name="T4" fmla="*/ 81 w 81"/>
                <a:gd name="T5" fmla="*/ 0 h 81"/>
              </a:gdLst>
              <a:ahLst/>
              <a:cxnLst>
                <a:cxn ang="0">
                  <a:pos x="T0" y="T1"/>
                </a:cxn>
                <a:cxn ang="0">
                  <a:pos x="T2" y="T3"/>
                </a:cxn>
                <a:cxn ang="0">
                  <a:pos x="T4" y="T5"/>
                </a:cxn>
              </a:cxnLst>
              <a:rect l="0" t="0" r="r" b="b"/>
              <a:pathLst>
                <a:path w="81" h="81">
                  <a:moveTo>
                    <a:pt x="81" y="0"/>
                  </a:moveTo>
                  <a:lnTo>
                    <a:pt x="0" y="81"/>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33" name="Line 21"/>
            <p:cNvSpPr>
              <a:spLocks noChangeShapeType="1"/>
            </p:cNvSpPr>
            <p:nvPr/>
          </p:nvSpPr>
          <p:spPr bwMode="auto">
            <a:xfrm flipH="1">
              <a:off x="4260" y="1406"/>
              <a:ext cx="81" cy="8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34" name="Freeform 22"/>
            <p:cNvSpPr>
              <a:spLocks/>
            </p:cNvSpPr>
            <p:nvPr/>
          </p:nvSpPr>
          <p:spPr bwMode="auto">
            <a:xfrm>
              <a:off x="4260" y="1572"/>
              <a:ext cx="81" cy="84"/>
            </a:xfrm>
            <a:custGeom>
              <a:avLst/>
              <a:gdLst>
                <a:gd name="T0" fmla="*/ 81 w 81"/>
                <a:gd name="T1" fmla="*/ 0 h 84"/>
                <a:gd name="T2" fmla="*/ 0 w 81"/>
                <a:gd name="T3" fmla="*/ 84 h 84"/>
                <a:gd name="T4" fmla="*/ 81 w 81"/>
                <a:gd name="T5" fmla="*/ 0 h 84"/>
              </a:gdLst>
              <a:ahLst/>
              <a:cxnLst>
                <a:cxn ang="0">
                  <a:pos x="T0" y="T1"/>
                </a:cxn>
                <a:cxn ang="0">
                  <a:pos x="T2" y="T3"/>
                </a:cxn>
                <a:cxn ang="0">
                  <a:pos x="T4" y="T5"/>
                </a:cxn>
              </a:cxnLst>
              <a:rect l="0" t="0" r="r" b="b"/>
              <a:pathLst>
                <a:path w="81" h="84">
                  <a:moveTo>
                    <a:pt x="81" y="0"/>
                  </a:moveTo>
                  <a:lnTo>
                    <a:pt x="0" y="84"/>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35" name="Line 23"/>
            <p:cNvSpPr>
              <a:spLocks noChangeShapeType="1"/>
            </p:cNvSpPr>
            <p:nvPr/>
          </p:nvSpPr>
          <p:spPr bwMode="auto">
            <a:xfrm flipH="1">
              <a:off x="4260" y="1572"/>
              <a:ext cx="81" cy="8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36" name="Line 24"/>
            <p:cNvSpPr>
              <a:spLocks noChangeShapeType="1"/>
            </p:cNvSpPr>
            <p:nvPr/>
          </p:nvSpPr>
          <p:spPr bwMode="auto">
            <a:xfrm>
              <a:off x="3735" y="1281"/>
              <a:ext cx="1" cy="516"/>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37" name="Freeform 25"/>
            <p:cNvSpPr>
              <a:spLocks/>
            </p:cNvSpPr>
            <p:nvPr/>
          </p:nvSpPr>
          <p:spPr bwMode="auto">
            <a:xfrm>
              <a:off x="3710" y="175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38" name="Line 26"/>
            <p:cNvSpPr>
              <a:spLocks noChangeShapeType="1"/>
            </p:cNvSpPr>
            <p:nvPr/>
          </p:nvSpPr>
          <p:spPr bwMode="auto">
            <a:xfrm>
              <a:off x="3895" y="1615"/>
              <a:ext cx="1" cy="18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39" name="Freeform 27"/>
            <p:cNvSpPr>
              <a:spLocks/>
            </p:cNvSpPr>
            <p:nvPr/>
          </p:nvSpPr>
          <p:spPr bwMode="auto">
            <a:xfrm>
              <a:off x="3870" y="175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40" name="Line 28"/>
            <p:cNvSpPr>
              <a:spLocks noChangeShapeType="1"/>
            </p:cNvSpPr>
            <p:nvPr/>
          </p:nvSpPr>
          <p:spPr bwMode="auto">
            <a:xfrm flipV="1">
              <a:off x="3810" y="1518"/>
              <a:ext cx="1" cy="34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41" name="Freeform 29"/>
            <p:cNvSpPr>
              <a:spLocks/>
            </p:cNvSpPr>
            <p:nvPr/>
          </p:nvSpPr>
          <p:spPr bwMode="auto">
            <a:xfrm>
              <a:off x="3785" y="1453"/>
              <a:ext cx="50" cy="100"/>
            </a:xfrm>
            <a:custGeom>
              <a:avLst/>
              <a:gdLst>
                <a:gd name="T0" fmla="*/ 25 w 50"/>
                <a:gd name="T1" fmla="*/ 0 h 100"/>
                <a:gd name="T2" fmla="*/ 50 w 50"/>
                <a:gd name="T3" fmla="*/ 100 h 100"/>
                <a:gd name="T4" fmla="*/ 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50" y="100"/>
                  </a:lnTo>
                  <a:lnTo>
                    <a:pt x="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42" name="Line 30"/>
            <p:cNvSpPr>
              <a:spLocks noChangeShapeType="1"/>
            </p:cNvSpPr>
            <p:nvPr/>
          </p:nvSpPr>
          <p:spPr bwMode="auto">
            <a:xfrm>
              <a:off x="4820" y="1281"/>
              <a:ext cx="1" cy="516"/>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43" name="Freeform 31"/>
            <p:cNvSpPr>
              <a:spLocks/>
            </p:cNvSpPr>
            <p:nvPr/>
          </p:nvSpPr>
          <p:spPr bwMode="auto">
            <a:xfrm>
              <a:off x="4795" y="175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44" name="Line 32"/>
            <p:cNvSpPr>
              <a:spLocks noChangeShapeType="1"/>
            </p:cNvSpPr>
            <p:nvPr/>
          </p:nvSpPr>
          <p:spPr bwMode="auto">
            <a:xfrm>
              <a:off x="4979" y="1615"/>
              <a:ext cx="1" cy="18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45" name="Freeform 33"/>
            <p:cNvSpPr>
              <a:spLocks/>
            </p:cNvSpPr>
            <p:nvPr/>
          </p:nvSpPr>
          <p:spPr bwMode="auto">
            <a:xfrm>
              <a:off x="4954" y="175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46" name="Line 34"/>
            <p:cNvSpPr>
              <a:spLocks noChangeShapeType="1"/>
            </p:cNvSpPr>
            <p:nvPr/>
          </p:nvSpPr>
          <p:spPr bwMode="auto">
            <a:xfrm flipV="1">
              <a:off x="4895" y="1518"/>
              <a:ext cx="1" cy="34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47" name="Freeform 35"/>
            <p:cNvSpPr>
              <a:spLocks/>
            </p:cNvSpPr>
            <p:nvPr/>
          </p:nvSpPr>
          <p:spPr bwMode="auto">
            <a:xfrm>
              <a:off x="4870" y="1456"/>
              <a:ext cx="50" cy="100"/>
            </a:xfrm>
            <a:custGeom>
              <a:avLst/>
              <a:gdLst>
                <a:gd name="T0" fmla="*/ 25 w 50"/>
                <a:gd name="T1" fmla="*/ 0 h 100"/>
                <a:gd name="T2" fmla="*/ 50 w 50"/>
                <a:gd name="T3" fmla="*/ 100 h 100"/>
                <a:gd name="T4" fmla="*/ 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50" y="100"/>
                  </a:lnTo>
                  <a:lnTo>
                    <a:pt x="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48" name="Line 36"/>
            <p:cNvSpPr>
              <a:spLocks noChangeShapeType="1"/>
            </p:cNvSpPr>
            <p:nvPr/>
          </p:nvSpPr>
          <p:spPr bwMode="auto">
            <a:xfrm>
              <a:off x="3135" y="1281"/>
              <a:ext cx="214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49" name="Line 37"/>
            <p:cNvSpPr>
              <a:spLocks noChangeShapeType="1"/>
            </p:cNvSpPr>
            <p:nvPr/>
          </p:nvSpPr>
          <p:spPr bwMode="auto">
            <a:xfrm>
              <a:off x="3135" y="1447"/>
              <a:ext cx="2147"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50" name="Line 38"/>
            <p:cNvSpPr>
              <a:spLocks noChangeShapeType="1"/>
            </p:cNvSpPr>
            <p:nvPr/>
          </p:nvSpPr>
          <p:spPr bwMode="auto">
            <a:xfrm>
              <a:off x="3135" y="1615"/>
              <a:ext cx="2147"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51" name="Rectangle 39"/>
            <p:cNvSpPr>
              <a:spLocks noChangeArrowheads="1"/>
            </p:cNvSpPr>
            <p:nvPr/>
          </p:nvSpPr>
          <p:spPr bwMode="auto">
            <a:xfrm>
              <a:off x="3810" y="759"/>
              <a:ext cx="907" cy="40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752" name="Line 40"/>
            <p:cNvSpPr>
              <a:spLocks noChangeShapeType="1"/>
            </p:cNvSpPr>
            <p:nvPr/>
          </p:nvSpPr>
          <p:spPr bwMode="auto">
            <a:xfrm>
              <a:off x="3979" y="1165"/>
              <a:ext cx="1" cy="453"/>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53" name="Line 41"/>
            <p:cNvSpPr>
              <a:spLocks noChangeShapeType="1"/>
            </p:cNvSpPr>
            <p:nvPr/>
          </p:nvSpPr>
          <p:spPr bwMode="auto">
            <a:xfrm>
              <a:off x="4048" y="1165"/>
              <a:ext cx="1" cy="28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54" name="Line 42"/>
            <p:cNvSpPr>
              <a:spLocks noChangeShapeType="1"/>
            </p:cNvSpPr>
            <p:nvPr/>
          </p:nvSpPr>
          <p:spPr bwMode="auto">
            <a:xfrm>
              <a:off x="4116" y="1165"/>
              <a:ext cx="1" cy="11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55" name="Rectangle 43"/>
            <p:cNvSpPr>
              <a:spLocks noChangeArrowheads="1"/>
            </p:cNvSpPr>
            <p:nvPr/>
          </p:nvSpPr>
          <p:spPr bwMode="auto">
            <a:xfrm>
              <a:off x="3191" y="1865"/>
              <a:ext cx="438" cy="21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756" name="Rectangle 44"/>
            <p:cNvSpPr>
              <a:spLocks noChangeArrowheads="1"/>
            </p:cNvSpPr>
            <p:nvPr/>
          </p:nvSpPr>
          <p:spPr bwMode="auto">
            <a:xfrm>
              <a:off x="3682" y="1865"/>
              <a:ext cx="438" cy="21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757" name="Rectangle 45"/>
            <p:cNvSpPr>
              <a:spLocks noChangeArrowheads="1"/>
            </p:cNvSpPr>
            <p:nvPr/>
          </p:nvSpPr>
          <p:spPr bwMode="auto">
            <a:xfrm>
              <a:off x="4767" y="1865"/>
              <a:ext cx="437" cy="21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758" name="Rectangle 46"/>
            <p:cNvSpPr>
              <a:spLocks noChangeArrowheads="1"/>
            </p:cNvSpPr>
            <p:nvPr/>
          </p:nvSpPr>
          <p:spPr bwMode="auto">
            <a:xfrm>
              <a:off x="4231" y="1477"/>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32</a:t>
              </a:r>
              <a:endParaRPr lang="en-US" altLang="en-US" sz="2400"/>
            </a:p>
          </p:txBody>
        </p:sp>
        <p:sp>
          <p:nvSpPr>
            <p:cNvPr id="499759" name="Rectangle 47"/>
            <p:cNvSpPr>
              <a:spLocks noChangeArrowheads="1"/>
            </p:cNvSpPr>
            <p:nvPr/>
          </p:nvSpPr>
          <p:spPr bwMode="auto">
            <a:xfrm>
              <a:off x="4260" y="165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4</a:t>
              </a:r>
              <a:endParaRPr lang="en-US" altLang="en-US" sz="2400"/>
            </a:p>
          </p:txBody>
        </p:sp>
        <p:sp>
          <p:nvSpPr>
            <p:cNvPr id="499760" name="Rectangle 48"/>
            <p:cNvSpPr>
              <a:spLocks noChangeArrowheads="1"/>
            </p:cNvSpPr>
            <p:nvPr/>
          </p:nvSpPr>
          <p:spPr bwMode="auto">
            <a:xfrm>
              <a:off x="4458" y="1632"/>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499761" name="Rectangle 49"/>
            <p:cNvSpPr>
              <a:spLocks noChangeArrowheads="1"/>
            </p:cNvSpPr>
            <p:nvPr/>
          </p:nvSpPr>
          <p:spPr bwMode="auto">
            <a:xfrm>
              <a:off x="4441" y="1293"/>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499762" name="Rectangle 50"/>
            <p:cNvSpPr>
              <a:spLocks noChangeArrowheads="1"/>
            </p:cNvSpPr>
            <p:nvPr/>
          </p:nvSpPr>
          <p:spPr bwMode="auto">
            <a:xfrm>
              <a:off x="4473" y="1293"/>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9763" name="Rectangle 51"/>
            <p:cNvSpPr>
              <a:spLocks noChangeArrowheads="1"/>
            </p:cNvSpPr>
            <p:nvPr/>
          </p:nvSpPr>
          <p:spPr bwMode="auto">
            <a:xfrm>
              <a:off x="4455" y="1449"/>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499764" name="Rectangle 52"/>
            <p:cNvSpPr>
              <a:spLocks noChangeArrowheads="1"/>
            </p:cNvSpPr>
            <p:nvPr/>
          </p:nvSpPr>
          <p:spPr bwMode="auto">
            <a:xfrm>
              <a:off x="3318" y="1910"/>
              <a:ext cx="22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Per0</a:t>
              </a:r>
              <a:endParaRPr lang="en-US" altLang="en-US" sz="2400"/>
            </a:p>
          </p:txBody>
        </p:sp>
        <p:sp>
          <p:nvSpPr>
            <p:cNvPr id="499766" name="Rectangle 54"/>
            <p:cNvSpPr>
              <a:spLocks noChangeArrowheads="1"/>
            </p:cNvSpPr>
            <p:nvPr/>
          </p:nvSpPr>
          <p:spPr bwMode="auto">
            <a:xfrm>
              <a:off x="3805" y="1910"/>
              <a:ext cx="22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Per1</a:t>
              </a:r>
              <a:endParaRPr lang="en-US" altLang="en-US" sz="2400"/>
            </a:p>
          </p:txBody>
        </p:sp>
        <p:sp>
          <p:nvSpPr>
            <p:cNvPr id="499768" name="Rectangle 56"/>
            <p:cNvSpPr>
              <a:spLocks noChangeArrowheads="1"/>
            </p:cNvSpPr>
            <p:nvPr/>
          </p:nvSpPr>
          <p:spPr bwMode="auto">
            <a:xfrm>
              <a:off x="4874" y="1910"/>
              <a:ext cx="27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Per15</a:t>
              </a:r>
              <a:endParaRPr lang="en-US" altLang="en-US" sz="2400"/>
            </a:p>
          </p:txBody>
        </p:sp>
        <p:sp>
          <p:nvSpPr>
            <p:cNvPr id="499770" name="Rectangle 58"/>
            <p:cNvSpPr>
              <a:spLocks noChangeArrowheads="1"/>
            </p:cNvSpPr>
            <p:nvPr/>
          </p:nvSpPr>
          <p:spPr bwMode="auto">
            <a:xfrm>
              <a:off x="4121" y="841"/>
              <a:ext cx="31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Master</a:t>
              </a:r>
              <a:endParaRPr lang="en-US" altLang="en-US" sz="2400"/>
            </a:p>
          </p:txBody>
        </p:sp>
        <p:sp>
          <p:nvSpPr>
            <p:cNvPr id="499774" name="Rectangle 62"/>
            <p:cNvSpPr>
              <a:spLocks noChangeArrowheads="1"/>
            </p:cNvSpPr>
            <p:nvPr/>
          </p:nvSpPr>
          <p:spPr bwMode="auto">
            <a:xfrm>
              <a:off x="4061" y="952"/>
              <a:ext cx="4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processor</a:t>
              </a:r>
              <a:endParaRPr lang="en-US" altLang="en-US" sz="2400"/>
            </a:p>
          </p:txBody>
        </p:sp>
      </p:grpSp>
      <p:grpSp>
        <p:nvGrpSpPr>
          <p:cNvPr id="499841" name="Group 129"/>
          <p:cNvGrpSpPr>
            <a:grpSpLocks/>
          </p:cNvGrpSpPr>
          <p:nvPr/>
        </p:nvGrpSpPr>
        <p:grpSpPr bwMode="auto">
          <a:xfrm>
            <a:off x="5364163" y="3490913"/>
            <a:ext cx="3422650" cy="2849562"/>
            <a:chOff x="3379" y="2199"/>
            <a:chExt cx="2156" cy="1795"/>
          </a:xfrm>
        </p:grpSpPr>
        <p:sp>
          <p:nvSpPr>
            <p:cNvPr id="499779" name="Rectangle 67"/>
            <p:cNvSpPr>
              <a:spLocks noChangeArrowheads="1"/>
            </p:cNvSpPr>
            <p:nvPr/>
          </p:nvSpPr>
          <p:spPr bwMode="auto">
            <a:xfrm>
              <a:off x="3379" y="2616"/>
              <a:ext cx="1814" cy="1378"/>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780" name="Line 68"/>
            <p:cNvSpPr>
              <a:spLocks noChangeShapeType="1"/>
            </p:cNvSpPr>
            <p:nvPr/>
          </p:nvSpPr>
          <p:spPr bwMode="auto">
            <a:xfrm>
              <a:off x="3930" y="2478"/>
              <a:ext cx="1" cy="30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81" name="Freeform 69"/>
            <p:cNvSpPr>
              <a:spLocks/>
            </p:cNvSpPr>
            <p:nvPr/>
          </p:nvSpPr>
          <p:spPr bwMode="auto">
            <a:xfrm>
              <a:off x="3898" y="2745"/>
              <a:ext cx="63" cy="111"/>
            </a:xfrm>
            <a:custGeom>
              <a:avLst/>
              <a:gdLst>
                <a:gd name="T0" fmla="*/ 25 w 50"/>
                <a:gd name="T1" fmla="*/ 100 h 100"/>
                <a:gd name="T2" fmla="*/ 0 w 50"/>
                <a:gd name="T3" fmla="*/ 0 h 100"/>
                <a:gd name="T4" fmla="*/ 5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0" y="0"/>
                  </a:lnTo>
                  <a:lnTo>
                    <a:pt x="5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82" name="Line 70"/>
            <p:cNvSpPr>
              <a:spLocks noChangeShapeType="1"/>
            </p:cNvSpPr>
            <p:nvPr/>
          </p:nvSpPr>
          <p:spPr bwMode="auto">
            <a:xfrm flipV="1">
              <a:off x="4288" y="3289"/>
              <a:ext cx="1" cy="17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83" name="Freeform 71"/>
            <p:cNvSpPr>
              <a:spLocks/>
            </p:cNvSpPr>
            <p:nvPr/>
          </p:nvSpPr>
          <p:spPr bwMode="auto">
            <a:xfrm>
              <a:off x="4257" y="3191"/>
              <a:ext cx="62" cy="111"/>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84" name="Line 72"/>
            <p:cNvSpPr>
              <a:spLocks noChangeShapeType="1"/>
            </p:cNvSpPr>
            <p:nvPr/>
          </p:nvSpPr>
          <p:spPr bwMode="auto">
            <a:xfrm flipV="1">
              <a:off x="4288" y="2575"/>
              <a:ext cx="1" cy="2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85" name="Freeform 73"/>
            <p:cNvSpPr>
              <a:spLocks/>
            </p:cNvSpPr>
            <p:nvPr/>
          </p:nvSpPr>
          <p:spPr bwMode="auto">
            <a:xfrm>
              <a:off x="4257" y="2482"/>
              <a:ext cx="62" cy="110"/>
            </a:xfrm>
            <a:custGeom>
              <a:avLst/>
              <a:gdLst>
                <a:gd name="T0" fmla="*/ 25 w 50"/>
                <a:gd name="T1" fmla="*/ 0 h 99"/>
                <a:gd name="T2" fmla="*/ 0 w 50"/>
                <a:gd name="T3" fmla="*/ 99 h 99"/>
                <a:gd name="T4" fmla="*/ 50 w 50"/>
                <a:gd name="T5" fmla="*/ 99 h 99"/>
                <a:gd name="T6" fmla="*/ 25 w 50"/>
                <a:gd name="T7" fmla="*/ 0 h 99"/>
              </a:gdLst>
              <a:ahLst/>
              <a:cxnLst>
                <a:cxn ang="0">
                  <a:pos x="T0" y="T1"/>
                </a:cxn>
                <a:cxn ang="0">
                  <a:pos x="T2" y="T3"/>
                </a:cxn>
                <a:cxn ang="0">
                  <a:pos x="T4" y="T5"/>
                </a:cxn>
                <a:cxn ang="0">
                  <a:pos x="T6" y="T7"/>
                </a:cxn>
              </a:cxnLst>
              <a:rect l="0" t="0" r="r" b="b"/>
              <a:pathLst>
                <a:path w="50" h="99">
                  <a:moveTo>
                    <a:pt x="25" y="0"/>
                  </a:moveTo>
                  <a:lnTo>
                    <a:pt x="0" y="99"/>
                  </a:lnTo>
                  <a:lnTo>
                    <a:pt x="50" y="99"/>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86" name="Line 74"/>
            <p:cNvSpPr>
              <a:spLocks noChangeShapeType="1"/>
            </p:cNvSpPr>
            <p:nvPr/>
          </p:nvSpPr>
          <p:spPr bwMode="auto">
            <a:xfrm flipH="1">
              <a:off x="5127" y="3028"/>
              <a:ext cx="325" cy="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87" name="Freeform 75"/>
            <p:cNvSpPr>
              <a:spLocks/>
            </p:cNvSpPr>
            <p:nvPr/>
          </p:nvSpPr>
          <p:spPr bwMode="auto">
            <a:xfrm>
              <a:off x="5022" y="3001"/>
              <a:ext cx="125" cy="55"/>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88" name="Line 76"/>
            <p:cNvSpPr>
              <a:spLocks noChangeShapeType="1"/>
            </p:cNvSpPr>
            <p:nvPr/>
          </p:nvSpPr>
          <p:spPr bwMode="auto">
            <a:xfrm>
              <a:off x="4651" y="2478"/>
              <a:ext cx="2" cy="29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89" name="Freeform 77"/>
            <p:cNvSpPr>
              <a:spLocks/>
            </p:cNvSpPr>
            <p:nvPr/>
          </p:nvSpPr>
          <p:spPr bwMode="auto">
            <a:xfrm>
              <a:off x="4620" y="2745"/>
              <a:ext cx="63" cy="111"/>
            </a:xfrm>
            <a:custGeom>
              <a:avLst/>
              <a:gdLst>
                <a:gd name="T0" fmla="*/ 25 w 50"/>
                <a:gd name="T1" fmla="*/ 100 h 100"/>
                <a:gd name="T2" fmla="*/ 0 w 50"/>
                <a:gd name="T3" fmla="*/ 0 h 100"/>
                <a:gd name="T4" fmla="*/ 5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0" y="0"/>
                  </a:lnTo>
                  <a:lnTo>
                    <a:pt x="5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90" name="Freeform 78"/>
            <p:cNvSpPr>
              <a:spLocks/>
            </p:cNvSpPr>
            <p:nvPr/>
          </p:nvSpPr>
          <p:spPr bwMode="auto">
            <a:xfrm>
              <a:off x="4238" y="3326"/>
              <a:ext cx="101" cy="93"/>
            </a:xfrm>
            <a:custGeom>
              <a:avLst/>
              <a:gdLst>
                <a:gd name="T0" fmla="*/ 81 w 81"/>
                <a:gd name="T1" fmla="*/ 0 h 84"/>
                <a:gd name="T2" fmla="*/ 0 w 81"/>
                <a:gd name="T3" fmla="*/ 84 h 84"/>
                <a:gd name="T4" fmla="*/ 81 w 81"/>
                <a:gd name="T5" fmla="*/ 0 h 84"/>
              </a:gdLst>
              <a:ahLst/>
              <a:cxnLst>
                <a:cxn ang="0">
                  <a:pos x="T0" y="T1"/>
                </a:cxn>
                <a:cxn ang="0">
                  <a:pos x="T2" y="T3"/>
                </a:cxn>
                <a:cxn ang="0">
                  <a:pos x="T4" y="T5"/>
                </a:cxn>
              </a:cxnLst>
              <a:rect l="0" t="0" r="r" b="b"/>
              <a:pathLst>
                <a:path w="81" h="84">
                  <a:moveTo>
                    <a:pt x="81" y="0"/>
                  </a:moveTo>
                  <a:lnTo>
                    <a:pt x="0" y="84"/>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91" name="Line 79"/>
            <p:cNvSpPr>
              <a:spLocks noChangeShapeType="1"/>
            </p:cNvSpPr>
            <p:nvPr/>
          </p:nvSpPr>
          <p:spPr bwMode="auto">
            <a:xfrm flipH="1">
              <a:off x="4238" y="3326"/>
              <a:ext cx="101" cy="9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92" name="Freeform 80"/>
            <p:cNvSpPr>
              <a:spLocks/>
            </p:cNvSpPr>
            <p:nvPr/>
          </p:nvSpPr>
          <p:spPr bwMode="auto">
            <a:xfrm>
              <a:off x="4238" y="2652"/>
              <a:ext cx="101" cy="93"/>
            </a:xfrm>
            <a:custGeom>
              <a:avLst/>
              <a:gdLst>
                <a:gd name="T0" fmla="*/ 81 w 81"/>
                <a:gd name="T1" fmla="*/ 0 h 84"/>
                <a:gd name="T2" fmla="*/ 0 w 81"/>
                <a:gd name="T3" fmla="*/ 84 h 84"/>
                <a:gd name="T4" fmla="*/ 81 w 81"/>
                <a:gd name="T5" fmla="*/ 0 h 84"/>
              </a:gdLst>
              <a:ahLst/>
              <a:cxnLst>
                <a:cxn ang="0">
                  <a:pos x="T0" y="T1"/>
                </a:cxn>
                <a:cxn ang="0">
                  <a:pos x="T2" y="T3"/>
                </a:cxn>
                <a:cxn ang="0">
                  <a:pos x="T4" y="T5"/>
                </a:cxn>
              </a:cxnLst>
              <a:rect l="0" t="0" r="r" b="b"/>
              <a:pathLst>
                <a:path w="81" h="84">
                  <a:moveTo>
                    <a:pt x="81" y="0"/>
                  </a:moveTo>
                  <a:lnTo>
                    <a:pt x="0" y="84"/>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93" name="Line 81"/>
            <p:cNvSpPr>
              <a:spLocks noChangeShapeType="1"/>
            </p:cNvSpPr>
            <p:nvPr/>
          </p:nvSpPr>
          <p:spPr bwMode="auto">
            <a:xfrm flipH="1">
              <a:off x="4238" y="2652"/>
              <a:ext cx="101" cy="9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94" name="Freeform 82"/>
            <p:cNvSpPr>
              <a:spLocks/>
            </p:cNvSpPr>
            <p:nvPr/>
          </p:nvSpPr>
          <p:spPr bwMode="auto">
            <a:xfrm>
              <a:off x="5237" y="2984"/>
              <a:ext cx="105" cy="93"/>
            </a:xfrm>
            <a:custGeom>
              <a:avLst/>
              <a:gdLst>
                <a:gd name="T0" fmla="*/ 84 w 84"/>
                <a:gd name="T1" fmla="*/ 0 h 84"/>
                <a:gd name="T2" fmla="*/ 0 w 84"/>
                <a:gd name="T3" fmla="*/ 84 h 84"/>
                <a:gd name="T4" fmla="*/ 84 w 84"/>
                <a:gd name="T5" fmla="*/ 0 h 84"/>
              </a:gdLst>
              <a:ahLst/>
              <a:cxnLst>
                <a:cxn ang="0">
                  <a:pos x="T0" y="T1"/>
                </a:cxn>
                <a:cxn ang="0">
                  <a:pos x="T2" y="T3"/>
                </a:cxn>
                <a:cxn ang="0">
                  <a:pos x="T4" y="T5"/>
                </a:cxn>
              </a:cxnLst>
              <a:rect l="0" t="0" r="r" b="b"/>
              <a:pathLst>
                <a:path w="84" h="84">
                  <a:moveTo>
                    <a:pt x="84" y="0"/>
                  </a:moveTo>
                  <a:lnTo>
                    <a:pt x="0" y="84"/>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95" name="Line 83"/>
            <p:cNvSpPr>
              <a:spLocks noChangeShapeType="1"/>
            </p:cNvSpPr>
            <p:nvPr/>
          </p:nvSpPr>
          <p:spPr bwMode="auto">
            <a:xfrm flipH="1">
              <a:off x="5237" y="2984"/>
              <a:ext cx="105" cy="93"/>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96" name="Freeform 84"/>
            <p:cNvSpPr>
              <a:spLocks/>
            </p:cNvSpPr>
            <p:nvPr/>
          </p:nvSpPr>
          <p:spPr bwMode="auto">
            <a:xfrm>
              <a:off x="4600" y="2641"/>
              <a:ext cx="106" cy="90"/>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99797" name="Line 85"/>
            <p:cNvSpPr>
              <a:spLocks noChangeShapeType="1"/>
            </p:cNvSpPr>
            <p:nvPr/>
          </p:nvSpPr>
          <p:spPr bwMode="auto">
            <a:xfrm flipH="1">
              <a:off x="4600" y="2641"/>
              <a:ext cx="106" cy="9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499798" name="Rectangle 86"/>
            <p:cNvSpPr>
              <a:spLocks noChangeArrowheads="1"/>
            </p:cNvSpPr>
            <p:nvPr/>
          </p:nvSpPr>
          <p:spPr bwMode="auto">
            <a:xfrm>
              <a:off x="3566" y="2866"/>
              <a:ext cx="1449" cy="32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799" name="Rectangle 87"/>
            <p:cNvSpPr>
              <a:spLocks noChangeArrowheads="1"/>
            </p:cNvSpPr>
            <p:nvPr/>
          </p:nvSpPr>
          <p:spPr bwMode="auto">
            <a:xfrm>
              <a:off x="3566" y="3465"/>
              <a:ext cx="1449" cy="32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499800" name="Rectangle 88"/>
            <p:cNvSpPr>
              <a:spLocks noChangeArrowheads="1"/>
            </p:cNvSpPr>
            <p:nvPr/>
          </p:nvSpPr>
          <p:spPr bwMode="auto">
            <a:xfrm>
              <a:off x="5221" y="2836"/>
              <a:ext cx="31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Faddr</a:t>
              </a:r>
              <a:endParaRPr lang="en-US" altLang="en-US" sz="2800"/>
            </a:p>
          </p:txBody>
        </p:sp>
        <p:sp>
          <p:nvSpPr>
            <p:cNvPr id="499802" name="Rectangle 90"/>
            <p:cNvSpPr>
              <a:spLocks noChangeArrowheads="1"/>
            </p:cNvSpPr>
            <p:nvPr/>
          </p:nvSpPr>
          <p:spPr bwMode="auto">
            <a:xfrm>
              <a:off x="5272" y="3082"/>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4</a:t>
              </a:r>
              <a:endParaRPr lang="en-US" altLang="en-US" sz="2800"/>
            </a:p>
          </p:txBody>
        </p:sp>
        <p:sp>
          <p:nvSpPr>
            <p:cNvPr id="499803" name="Rectangle 91"/>
            <p:cNvSpPr>
              <a:spLocks noChangeArrowheads="1"/>
            </p:cNvSpPr>
            <p:nvPr/>
          </p:nvSpPr>
          <p:spPr bwMode="auto">
            <a:xfrm>
              <a:off x="4613" y="2350"/>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a:t>
              </a:r>
              <a:endParaRPr lang="en-US" altLang="en-US" sz="2800"/>
            </a:p>
          </p:txBody>
        </p:sp>
        <p:sp>
          <p:nvSpPr>
            <p:cNvPr id="499804" name="Rectangle 92"/>
            <p:cNvSpPr>
              <a:spLocks noChangeArrowheads="1"/>
            </p:cNvSpPr>
            <p:nvPr/>
          </p:nvSpPr>
          <p:spPr bwMode="auto">
            <a:xfrm>
              <a:off x="4251" y="2350"/>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
              </a:r>
              <a:endParaRPr lang="en-US" altLang="en-US" sz="2800"/>
            </a:p>
          </p:txBody>
        </p:sp>
        <p:sp>
          <p:nvSpPr>
            <p:cNvPr id="499805" name="Rectangle 93"/>
            <p:cNvSpPr>
              <a:spLocks noChangeArrowheads="1"/>
            </p:cNvSpPr>
            <p:nvPr/>
          </p:nvSpPr>
          <p:spPr bwMode="auto">
            <a:xfrm>
              <a:off x="3875" y="2350"/>
              <a:ext cx="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t>
              </a:r>
              <a:endParaRPr lang="en-US" altLang="en-US" sz="2800"/>
            </a:p>
          </p:txBody>
        </p:sp>
        <p:sp>
          <p:nvSpPr>
            <p:cNvPr id="499806" name="Rectangle 94"/>
            <p:cNvSpPr>
              <a:spLocks noChangeArrowheads="1"/>
            </p:cNvSpPr>
            <p:nvPr/>
          </p:nvSpPr>
          <p:spPr bwMode="auto">
            <a:xfrm>
              <a:off x="3915" y="2350"/>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
              </a:r>
              <a:endParaRPr lang="en-US" altLang="en-US" sz="2800"/>
            </a:p>
          </p:txBody>
        </p:sp>
        <p:sp>
          <p:nvSpPr>
            <p:cNvPr id="499807" name="Rectangle 95"/>
            <p:cNvSpPr>
              <a:spLocks noChangeArrowheads="1"/>
            </p:cNvSpPr>
            <p:nvPr/>
          </p:nvSpPr>
          <p:spPr bwMode="auto">
            <a:xfrm>
              <a:off x="3952" y="2967"/>
              <a:ext cx="7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Bus interface</a:t>
              </a:r>
              <a:endParaRPr lang="en-US" altLang="en-US" sz="2800"/>
            </a:p>
          </p:txBody>
        </p:sp>
        <p:sp>
          <p:nvSpPr>
            <p:cNvPr id="499815" name="Rectangle 103"/>
            <p:cNvSpPr>
              <a:spLocks noChangeArrowheads="1"/>
            </p:cNvSpPr>
            <p:nvPr/>
          </p:nvSpPr>
          <p:spPr bwMode="auto">
            <a:xfrm>
              <a:off x="4037" y="3568"/>
              <a:ext cx="5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Main part</a:t>
              </a:r>
              <a:endParaRPr lang="en-US" altLang="en-US" sz="2800"/>
            </a:p>
          </p:txBody>
        </p:sp>
        <p:sp>
          <p:nvSpPr>
            <p:cNvPr id="499819" name="Rectangle 107"/>
            <p:cNvSpPr>
              <a:spLocks noChangeArrowheads="1"/>
            </p:cNvSpPr>
            <p:nvPr/>
          </p:nvSpPr>
          <p:spPr bwMode="auto">
            <a:xfrm>
              <a:off x="4023" y="3829"/>
              <a:ext cx="54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Peripheral</a:t>
              </a:r>
              <a:endParaRPr lang="en-US" altLang="en-US" sz="2800"/>
            </a:p>
          </p:txBody>
        </p:sp>
        <p:sp>
          <p:nvSpPr>
            <p:cNvPr id="499825" name="Rectangle 113"/>
            <p:cNvSpPr>
              <a:spLocks noChangeArrowheads="1"/>
            </p:cNvSpPr>
            <p:nvPr/>
          </p:nvSpPr>
          <p:spPr bwMode="auto">
            <a:xfrm>
              <a:off x="4138" y="3190"/>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a:t>
              </a:r>
              <a:endParaRPr lang="en-US" altLang="en-US" sz="2800"/>
            </a:p>
          </p:txBody>
        </p:sp>
        <p:sp>
          <p:nvSpPr>
            <p:cNvPr id="499826" name="Rectangle 114"/>
            <p:cNvSpPr>
              <a:spLocks noChangeArrowheads="1"/>
            </p:cNvSpPr>
            <p:nvPr/>
          </p:nvSpPr>
          <p:spPr bwMode="auto">
            <a:xfrm>
              <a:off x="4360" y="3311"/>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sp>
          <p:nvSpPr>
            <p:cNvPr id="499827" name="Rectangle 115"/>
            <p:cNvSpPr>
              <a:spLocks noChangeArrowheads="1"/>
            </p:cNvSpPr>
            <p:nvPr/>
          </p:nvSpPr>
          <p:spPr bwMode="auto">
            <a:xfrm>
              <a:off x="3715" y="2199"/>
              <a:ext cx="116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to/from processor bus</a:t>
              </a:r>
              <a:endParaRPr lang="en-US" altLang="en-US" sz="2800"/>
            </a:p>
          </p:txBody>
        </p:sp>
        <p:sp>
          <p:nvSpPr>
            <p:cNvPr id="499835" name="Rectangle 123"/>
            <p:cNvSpPr>
              <a:spLocks noChangeArrowheads="1"/>
            </p:cNvSpPr>
            <p:nvPr/>
          </p:nvSpPr>
          <p:spPr bwMode="auto">
            <a:xfrm>
              <a:off x="4373" y="2635"/>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sp>
          <p:nvSpPr>
            <p:cNvPr id="499836" name="Rectangle 124"/>
            <p:cNvSpPr>
              <a:spLocks noChangeArrowheads="1"/>
            </p:cNvSpPr>
            <p:nvPr/>
          </p:nvSpPr>
          <p:spPr bwMode="auto">
            <a:xfrm>
              <a:off x="4725" y="2611"/>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4</a:t>
              </a:r>
              <a:endParaRPr lang="en-US" altLang="en-US" sz="2800"/>
            </a:p>
          </p:txBody>
        </p:sp>
      </p:grpSp>
      <p:sp>
        <p:nvSpPr>
          <p:cNvPr id="499839" name="Line 127"/>
          <p:cNvSpPr>
            <a:spLocks noChangeShapeType="1"/>
          </p:cNvSpPr>
          <p:nvPr/>
        </p:nvSpPr>
        <p:spPr bwMode="auto">
          <a:xfrm>
            <a:off x="5210175" y="3208338"/>
            <a:ext cx="431800" cy="110490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lide Number Placeholder 3"/>
          <p:cNvSpPr>
            <a:spLocks noGrp="1"/>
          </p:cNvSpPr>
          <p:nvPr>
            <p:ph type="sldNum" sz="quarter" idx="10"/>
          </p:nvPr>
        </p:nvSpPr>
        <p:spPr/>
        <p:txBody>
          <a:bodyPr/>
          <a:lstStyle/>
          <a:p>
            <a:fld id="{CC810DE4-361D-4C79-989F-12B424AA4189}" type="slidenum">
              <a:rPr lang="en-US" altLang="en-US"/>
              <a:pPr/>
              <a:t>28</a:t>
            </a:fld>
            <a:endParaRPr lang="en-US" altLang="en-US"/>
          </a:p>
        </p:txBody>
      </p:sp>
      <p:sp>
        <p:nvSpPr>
          <p:cNvPr id="500738" name="Rectangle 2"/>
          <p:cNvSpPr>
            <a:spLocks noGrp="1" noChangeArrowheads="1"/>
          </p:cNvSpPr>
          <p:nvPr>
            <p:ph type="title"/>
          </p:nvPr>
        </p:nvSpPr>
        <p:spPr/>
        <p:txBody>
          <a:bodyPr/>
          <a:lstStyle/>
          <a:p>
            <a:r>
              <a:rPr lang="en-US" altLang="en-US"/>
              <a:t>RTL Example: Bus Interface</a:t>
            </a:r>
          </a:p>
        </p:txBody>
      </p:sp>
      <p:sp>
        <p:nvSpPr>
          <p:cNvPr id="500739" name="Rectangle 3"/>
          <p:cNvSpPr>
            <a:spLocks noGrp="1" noChangeArrowheads="1"/>
          </p:cNvSpPr>
          <p:nvPr>
            <p:ph type="body" idx="1"/>
          </p:nvPr>
        </p:nvSpPr>
        <p:spPr>
          <a:xfrm>
            <a:off x="228600" y="3584575"/>
            <a:ext cx="8696325" cy="2511425"/>
          </a:xfrm>
        </p:spPr>
        <p:txBody>
          <a:bodyPr/>
          <a:lstStyle/>
          <a:p>
            <a:pPr>
              <a:lnSpc>
                <a:spcPct val="90000"/>
              </a:lnSpc>
            </a:pPr>
            <a:r>
              <a:rPr lang="en-US" altLang="en-US"/>
              <a:t>Step 1: Create high-level state machine</a:t>
            </a:r>
          </a:p>
          <a:p>
            <a:pPr lvl="1">
              <a:lnSpc>
                <a:spcPct val="90000"/>
              </a:lnSpc>
            </a:pPr>
            <a:r>
              <a:rPr lang="en-US" altLang="en-US"/>
              <a:t>State </a:t>
            </a:r>
            <a:r>
              <a:rPr lang="en-US" altLang="en-US" b="1"/>
              <a:t>WaitMyAddress</a:t>
            </a:r>
          </a:p>
          <a:p>
            <a:pPr lvl="2">
              <a:lnSpc>
                <a:spcPct val="90000"/>
              </a:lnSpc>
            </a:pPr>
            <a:r>
              <a:rPr lang="en-US" altLang="en-US"/>
              <a:t>Output “nothing” (“Z”) on </a:t>
            </a:r>
            <a:r>
              <a:rPr lang="en-US" altLang="en-US" i="1"/>
              <a:t>D</a:t>
            </a:r>
            <a:r>
              <a:rPr lang="en-US" altLang="en-US"/>
              <a:t>, store peripheral’s register value </a:t>
            </a:r>
            <a:r>
              <a:rPr lang="en-US" altLang="en-US" i="1"/>
              <a:t>Q</a:t>
            </a:r>
            <a:r>
              <a:rPr lang="en-US" altLang="en-US"/>
              <a:t> into local register </a:t>
            </a:r>
            <a:r>
              <a:rPr lang="en-US" altLang="en-US" i="1"/>
              <a:t>Q1</a:t>
            </a:r>
          </a:p>
          <a:p>
            <a:pPr lvl="2">
              <a:lnSpc>
                <a:spcPct val="90000"/>
              </a:lnSpc>
            </a:pPr>
            <a:r>
              <a:rPr lang="en-US" altLang="en-US"/>
              <a:t>Wait until this peripheral’s address is seen (</a:t>
            </a:r>
            <a:r>
              <a:rPr lang="en-US" altLang="en-US" i="1"/>
              <a:t>A=Faddr</a:t>
            </a:r>
            <a:r>
              <a:rPr lang="en-US" altLang="en-US"/>
              <a:t>) and </a:t>
            </a:r>
            <a:r>
              <a:rPr lang="en-US" altLang="en-US" i="1"/>
              <a:t>rd=1</a:t>
            </a:r>
            <a:r>
              <a:rPr lang="en-US" altLang="en-US"/>
              <a:t> </a:t>
            </a:r>
          </a:p>
          <a:p>
            <a:pPr lvl="1">
              <a:lnSpc>
                <a:spcPct val="90000"/>
              </a:lnSpc>
            </a:pPr>
            <a:r>
              <a:rPr lang="en-US" altLang="en-US"/>
              <a:t>State </a:t>
            </a:r>
            <a:r>
              <a:rPr lang="en-US" altLang="en-US" b="1"/>
              <a:t>SendData</a:t>
            </a:r>
          </a:p>
          <a:p>
            <a:pPr lvl="2">
              <a:lnSpc>
                <a:spcPct val="90000"/>
              </a:lnSpc>
            </a:pPr>
            <a:r>
              <a:rPr lang="en-US" altLang="en-US"/>
              <a:t>Output </a:t>
            </a:r>
            <a:r>
              <a:rPr lang="en-US" altLang="en-US" i="1"/>
              <a:t>Q1</a:t>
            </a:r>
            <a:r>
              <a:rPr lang="en-US" altLang="en-US"/>
              <a:t> onto </a:t>
            </a:r>
            <a:r>
              <a:rPr lang="en-US" altLang="en-US" i="1"/>
              <a:t>D</a:t>
            </a:r>
            <a:r>
              <a:rPr lang="en-US" altLang="en-US"/>
              <a:t>, wait for </a:t>
            </a:r>
            <a:r>
              <a:rPr lang="en-US" altLang="en-US" i="1"/>
              <a:t>rd=0</a:t>
            </a:r>
            <a:r>
              <a:rPr lang="en-US" altLang="en-US"/>
              <a:t> (meaning main processor is done reading the </a:t>
            </a:r>
            <a:r>
              <a:rPr lang="en-US" altLang="en-US" i="1"/>
              <a:t>D</a:t>
            </a:r>
            <a:r>
              <a:rPr lang="en-US" altLang="en-US"/>
              <a:t> lines)</a:t>
            </a:r>
          </a:p>
        </p:txBody>
      </p:sp>
      <p:grpSp>
        <p:nvGrpSpPr>
          <p:cNvPr id="500811" name="Group 75"/>
          <p:cNvGrpSpPr>
            <a:grpSpLocks/>
          </p:cNvGrpSpPr>
          <p:nvPr/>
        </p:nvGrpSpPr>
        <p:grpSpPr bwMode="auto">
          <a:xfrm>
            <a:off x="1333500" y="1179513"/>
            <a:ext cx="6665913" cy="2352675"/>
            <a:chOff x="840" y="715"/>
            <a:chExt cx="4199" cy="1482"/>
          </a:xfrm>
        </p:grpSpPr>
        <p:sp>
          <p:nvSpPr>
            <p:cNvPr id="500740" name="Line 4"/>
            <p:cNvSpPr>
              <a:spLocks noChangeShapeType="1"/>
            </p:cNvSpPr>
            <p:nvPr/>
          </p:nvSpPr>
          <p:spPr bwMode="auto">
            <a:xfrm>
              <a:off x="2619" y="1641"/>
              <a:ext cx="75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0741" name="Freeform 5"/>
            <p:cNvSpPr>
              <a:spLocks/>
            </p:cNvSpPr>
            <p:nvPr/>
          </p:nvSpPr>
          <p:spPr bwMode="auto">
            <a:xfrm>
              <a:off x="3349" y="1617"/>
              <a:ext cx="155" cy="4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0742" name="Line 6"/>
            <p:cNvSpPr>
              <a:spLocks noChangeShapeType="1"/>
            </p:cNvSpPr>
            <p:nvPr/>
          </p:nvSpPr>
          <p:spPr bwMode="auto">
            <a:xfrm>
              <a:off x="1224" y="1338"/>
              <a:ext cx="78" cy="9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0743" name="Freeform 7"/>
            <p:cNvSpPr>
              <a:spLocks/>
            </p:cNvSpPr>
            <p:nvPr/>
          </p:nvSpPr>
          <p:spPr bwMode="auto">
            <a:xfrm>
              <a:off x="1254" y="1407"/>
              <a:ext cx="107" cy="98"/>
            </a:xfrm>
            <a:custGeom>
              <a:avLst/>
              <a:gdLst>
                <a:gd name="T0" fmla="*/ 69 w 69"/>
                <a:gd name="T1" fmla="*/ 100 h 100"/>
                <a:gd name="T2" fmla="*/ 47 w 69"/>
                <a:gd name="T3" fmla="*/ 0 h 100"/>
                <a:gd name="T4" fmla="*/ 0 w 69"/>
                <a:gd name="T5" fmla="*/ 22 h 100"/>
                <a:gd name="T6" fmla="*/ 69 w 69"/>
                <a:gd name="T7" fmla="*/ 100 h 100"/>
              </a:gdLst>
              <a:ahLst/>
              <a:cxnLst>
                <a:cxn ang="0">
                  <a:pos x="T0" y="T1"/>
                </a:cxn>
                <a:cxn ang="0">
                  <a:pos x="T2" y="T3"/>
                </a:cxn>
                <a:cxn ang="0">
                  <a:pos x="T4" y="T5"/>
                </a:cxn>
                <a:cxn ang="0">
                  <a:pos x="T6" y="T7"/>
                </a:cxn>
              </a:cxnLst>
              <a:rect l="0" t="0" r="r" b="b"/>
              <a:pathLst>
                <a:path w="69" h="100">
                  <a:moveTo>
                    <a:pt x="69" y="100"/>
                  </a:moveTo>
                  <a:lnTo>
                    <a:pt x="47" y="0"/>
                  </a:lnTo>
                  <a:lnTo>
                    <a:pt x="0" y="22"/>
                  </a:lnTo>
                  <a:lnTo>
                    <a:pt x="69"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0744" name="Freeform 8"/>
            <p:cNvSpPr>
              <a:spLocks/>
            </p:cNvSpPr>
            <p:nvPr/>
          </p:nvSpPr>
          <p:spPr bwMode="auto">
            <a:xfrm>
              <a:off x="1730" y="1432"/>
              <a:ext cx="150" cy="73"/>
            </a:xfrm>
            <a:custGeom>
              <a:avLst/>
              <a:gdLst>
                <a:gd name="T0" fmla="*/ 0 w 97"/>
                <a:gd name="T1" fmla="*/ 75 h 75"/>
                <a:gd name="T2" fmla="*/ 97 w 97"/>
                <a:gd name="T3" fmla="*/ 41 h 75"/>
                <a:gd name="T4" fmla="*/ 69 w 97"/>
                <a:gd name="T5" fmla="*/ 0 h 75"/>
                <a:gd name="T6" fmla="*/ 0 w 97"/>
                <a:gd name="T7" fmla="*/ 75 h 75"/>
              </a:gdLst>
              <a:ahLst/>
              <a:cxnLst>
                <a:cxn ang="0">
                  <a:pos x="T0" y="T1"/>
                </a:cxn>
                <a:cxn ang="0">
                  <a:pos x="T2" y="T3"/>
                </a:cxn>
                <a:cxn ang="0">
                  <a:pos x="T4" y="T5"/>
                </a:cxn>
                <a:cxn ang="0">
                  <a:pos x="T6" y="T7"/>
                </a:cxn>
              </a:cxnLst>
              <a:rect l="0" t="0" r="r" b="b"/>
              <a:pathLst>
                <a:path w="97" h="75">
                  <a:moveTo>
                    <a:pt x="0" y="75"/>
                  </a:moveTo>
                  <a:lnTo>
                    <a:pt x="97" y="41"/>
                  </a:lnTo>
                  <a:lnTo>
                    <a:pt x="69"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0745" name="Freeform 9"/>
            <p:cNvSpPr>
              <a:spLocks/>
            </p:cNvSpPr>
            <p:nvPr/>
          </p:nvSpPr>
          <p:spPr bwMode="auto">
            <a:xfrm>
              <a:off x="2269" y="1447"/>
              <a:ext cx="137" cy="85"/>
            </a:xfrm>
            <a:custGeom>
              <a:avLst/>
              <a:gdLst>
                <a:gd name="T0" fmla="*/ 0 w 88"/>
                <a:gd name="T1" fmla="*/ 87 h 87"/>
                <a:gd name="T2" fmla="*/ 88 w 88"/>
                <a:gd name="T3" fmla="*/ 37 h 87"/>
                <a:gd name="T4" fmla="*/ 53 w 88"/>
                <a:gd name="T5" fmla="*/ 0 h 87"/>
                <a:gd name="T6" fmla="*/ 0 w 88"/>
                <a:gd name="T7" fmla="*/ 87 h 87"/>
              </a:gdLst>
              <a:ahLst/>
              <a:cxnLst>
                <a:cxn ang="0">
                  <a:pos x="T0" y="T1"/>
                </a:cxn>
                <a:cxn ang="0">
                  <a:pos x="T2" y="T3"/>
                </a:cxn>
                <a:cxn ang="0">
                  <a:pos x="T4" y="T5"/>
                </a:cxn>
                <a:cxn ang="0">
                  <a:pos x="T6" y="T7"/>
                </a:cxn>
              </a:cxnLst>
              <a:rect l="0" t="0" r="r" b="b"/>
              <a:pathLst>
                <a:path w="88" h="87">
                  <a:moveTo>
                    <a:pt x="0" y="87"/>
                  </a:moveTo>
                  <a:lnTo>
                    <a:pt x="88" y="37"/>
                  </a:lnTo>
                  <a:lnTo>
                    <a:pt x="53" y="0"/>
                  </a:lnTo>
                  <a:lnTo>
                    <a:pt x="0"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0746" name="Freeform 10"/>
            <p:cNvSpPr>
              <a:spLocks/>
            </p:cNvSpPr>
            <p:nvPr/>
          </p:nvSpPr>
          <p:spPr bwMode="auto">
            <a:xfrm>
              <a:off x="4485" y="1472"/>
              <a:ext cx="73" cy="97"/>
            </a:xfrm>
            <a:custGeom>
              <a:avLst/>
              <a:gdLst>
                <a:gd name="T0" fmla="*/ 41 w 47"/>
                <a:gd name="T1" fmla="*/ 100 h 100"/>
                <a:gd name="T2" fmla="*/ 47 w 47"/>
                <a:gd name="T3" fmla="*/ 0 h 100"/>
                <a:gd name="T4" fmla="*/ 0 w 47"/>
                <a:gd name="T5" fmla="*/ 6 h 100"/>
                <a:gd name="T6" fmla="*/ 41 w 47"/>
                <a:gd name="T7" fmla="*/ 100 h 100"/>
              </a:gdLst>
              <a:ahLst/>
              <a:cxnLst>
                <a:cxn ang="0">
                  <a:pos x="T0" y="T1"/>
                </a:cxn>
                <a:cxn ang="0">
                  <a:pos x="T2" y="T3"/>
                </a:cxn>
                <a:cxn ang="0">
                  <a:pos x="T4" y="T5"/>
                </a:cxn>
                <a:cxn ang="0">
                  <a:pos x="T6" y="T7"/>
                </a:cxn>
              </a:cxnLst>
              <a:rect l="0" t="0" r="r" b="b"/>
              <a:pathLst>
                <a:path w="47" h="100">
                  <a:moveTo>
                    <a:pt x="41" y="100"/>
                  </a:moveTo>
                  <a:lnTo>
                    <a:pt x="47" y="0"/>
                  </a:lnTo>
                  <a:lnTo>
                    <a:pt x="0" y="6"/>
                  </a:lnTo>
                  <a:lnTo>
                    <a:pt x="41"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0747" name="Rectangle 11"/>
            <p:cNvSpPr>
              <a:spLocks noChangeArrowheads="1"/>
            </p:cNvSpPr>
            <p:nvPr/>
          </p:nvSpPr>
          <p:spPr bwMode="auto">
            <a:xfrm>
              <a:off x="840" y="715"/>
              <a:ext cx="4176" cy="148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0748" name="Rectangle 12"/>
            <p:cNvSpPr>
              <a:spLocks noChangeArrowheads="1"/>
            </p:cNvSpPr>
            <p:nvPr/>
          </p:nvSpPr>
          <p:spPr bwMode="auto">
            <a:xfrm>
              <a:off x="1295" y="1564"/>
              <a:ext cx="95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WaitMyAddress</a:t>
              </a:r>
              <a:endParaRPr lang="en-US" altLang="en-US" sz="3200"/>
            </a:p>
          </p:txBody>
        </p:sp>
        <p:sp>
          <p:nvSpPr>
            <p:cNvPr id="500756" name="Rectangle 20"/>
            <p:cNvSpPr>
              <a:spLocks noChangeArrowheads="1"/>
            </p:cNvSpPr>
            <p:nvPr/>
          </p:nvSpPr>
          <p:spPr bwMode="auto">
            <a:xfrm>
              <a:off x="952" y="728"/>
              <a:ext cx="260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rd (bit); Q (32 bits); A, Faddr (4 bits)</a:t>
              </a:r>
              <a:endParaRPr lang="en-US" altLang="en-US" sz="3200"/>
            </a:p>
          </p:txBody>
        </p:sp>
        <p:sp>
          <p:nvSpPr>
            <p:cNvPr id="500763" name="Rectangle 27"/>
            <p:cNvSpPr>
              <a:spLocks noChangeArrowheads="1"/>
            </p:cNvSpPr>
            <p:nvPr/>
          </p:nvSpPr>
          <p:spPr bwMode="auto">
            <a:xfrm>
              <a:off x="952" y="870"/>
              <a:ext cx="118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D (32 bits)</a:t>
              </a:r>
              <a:endParaRPr lang="en-US" altLang="en-US" sz="3200"/>
            </a:p>
          </p:txBody>
        </p:sp>
        <p:sp>
          <p:nvSpPr>
            <p:cNvPr id="500766" name="Rectangle 30"/>
            <p:cNvSpPr>
              <a:spLocks noChangeArrowheads="1"/>
            </p:cNvSpPr>
            <p:nvPr/>
          </p:nvSpPr>
          <p:spPr bwMode="auto">
            <a:xfrm>
              <a:off x="952" y="1003"/>
              <a:ext cx="160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Local register: Q1 (32 bits)</a:t>
              </a:r>
              <a:endParaRPr lang="en-US" altLang="en-US" sz="3200"/>
            </a:p>
          </p:txBody>
        </p:sp>
        <p:sp>
          <p:nvSpPr>
            <p:cNvPr id="500775" name="Freeform 39"/>
            <p:cNvSpPr>
              <a:spLocks/>
            </p:cNvSpPr>
            <p:nvPr/>
          </p:nvSpPr>
          <p:spPr bwMode="auto">
            <a:xfrm>
              <a:off x="2299" y="1362"/>
              <a:ext cx="427" cy="248"/>
            </a:xfrm>
            <a:custGeom>
              <a:avLst/>
              <a:gdLst>
                <a:gd name="T0" fmla="*/ 60 w 88"/>
                <a:gd name="T1" fmla="*/ 82 h 82"/>
                <a:gd name="T2" fmla="*/ 70 w 88"/>
                <a:gd name="T3" fmla="*/ 31 h 82"/>
                <a:gd name="T4" fmla="*/ 0 w 88"/>
                <a:gd name="T5" fmla="*/ 50 h 82"/>
              </a:gdLst>
              <a:ahLst/>
              <a:cxnLst>
                <a:cxn ang="0">
                  <a:pos x="T0" y="T1"/>
                </a:cxn>
                <a:cxn ang="0">
                  <a:pos x="T2" y="T3"/>
                </a:cxn>
                <a:cxn ang="0">
                  <a:pos x="T4" y="T5"/>
                </a:cxn>
              </a:cxnLst>
              <a:rect l="0" t="0" r="r" b="b"/>
              <a:pathLst>
                <a:path w="88" h="82">
                  <a:moveTo>
                    <a:pt x="60" y="82"/>
                  </a:moveTo>
                  <a:cubicBezTo>
                    <a:pt x="60" y="82"/>
                    <a:pt x="88" y="56"/>
                    <a:pt x="70" y="31"/>
                  </a:cubicBezTo>
                  <a:cubicBezTo>
                    <a:pt x="70" y="31"/>
                    <a:pt x="42" y="0"/>
                    <a:pt x="0" y="5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0776" name="Freeform 40"/>
            <p:cNvSpPr>
              <a:spLocks/>
            </p:cNvSpPr>
            <p:nvPr/>
          </p:nvSpPr>
          <p:spPr bwMode="auto">
            <a:xfrm>
              <a:off x="1812" y="885"/>
              <a:ext cx="2216" cy="638"/>
            </a:xfrm>
            <a:custGeom>
              <a:avLst/>
              <a:gdLst>
                <a:gd name="T0" fmla="*/ 456 w 456"/>
                <a:gd name="T1" fmla="*/ 210 h 210"/>
                <a:gd name="T2" fmla="*/ 0 w 456"/>
                <a:gd name="T3" fmla="*/ 192 h 210"/>
              </a:gdLst>
              <a:ahLst/>
              <a:cxnLst>
                <a:cxn ang="0">
                  <a:pos x="T0" y="T1"/>
                </a:cxn>
                <a:cxn ang="0">
                  <a:pos x="T2" y="T3"/>
                </a:cxn>
              </a:cxnLst>
              <a:rect l="0" t="0" r="r" b="b"/>
              <a:pathLst>
                <a:path w="456" h="210">
                  <a:moveTo>
                    <a:pt x="456" y="210"/>
                  </a:moveTo>
                  <a:cubicBezTo>
                    <a:pt x="456" y="210"/>
                    <a:pt x="280" y="0"/>
                    <a:pt x="0" y="19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0777" name="Rectangle 41"/>
            <p:cNvSpPr>
              <a:spLocks noChangeArrowheads="1"/>
            </p:cNvSpPr>
            <p:nvPr/>
          </p:nvSpPr>
          <p:spPr bwMode="auto">
            <a:xfrm>
              <a:off x="3377" y="1109"/>
              <a:ext cx="15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rd’</a:t>
              </a:r>
              <a:endParaRPr lang="en-US" altLang="en-US" sz="3200"/>
            </a:p>
          </p:txBody>
        </p:sp>
        <p:sp>
          <p:nvSpPr>
            <p:cNvPr id="500780" name="Rectangle 44"/>
            <p:cNvSpPr>
              <a:spLocks noChangeArrowheads="1"/>
            </p:cNvSpPr>
            <p:nvPr/>
          </p:nvSpPr>
          <p:spPr bwMode="auto">
            <a:xfrm>
              <a:off x="4620" y="1153"/>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rd</a:t>
              </a:r>
              <a:endParaRPr lang="en-US" altLang="en-US" sz="3200"/>
            </a:p>
          </p:txBody>
        </p:sp>
        <p:sp>
          <p:nvSpPr>
            <p:cNvPr id="500782" name="Freeform 46"/>
            <p:cNvSpPr>
              <a:spLocks/>
            </p:cNvSpPr>
            <p:nvPr/>
          </p:nvSpPr>
          <p:spPr bwMode="auto">
            <a:xfrm>
              <a:off x="4467" y="1198"/>
              <a:ext cx="572" cy="404"/>
            </a:xfrm>
            <a:custGeom>
              <a:avLst/>
              <a:gdLst>
                <a:gd name="T0" fmla="*/ 33 w 118"/>
                <a:gd name="T1" fmla="*/ 133 h 133"/>
                <a:gd name="T2" fmla="*/ 61 w 118"/>
                <a:gd name="T3" fmla="*/ 40 h 133"/>
                <a:gd name="T4" fmla="*/ 12 w 118"/>
                <a:gd name="T5" fmla="*/ 97 h 133"/>
              </a:gdLst>
              <a:ahLst/>
              <a:cxnLst>
                <a:cxn ang="0">
                  <a:pos x="T0" y="T1"/>
                </a:cxn>
                <a:cxn ang="0">
                  <a:pos x="T2" y="T3"/>
                </a:cxn>
                <a:cxn ang="0">
                  <a:pos x="T4" y="T5"/>
                </a:cxn>
              </a:cxnLst>
              <a:rect l="0" t="0" r="r" b="b"/>
              <a:pathLst>
                <a:path w="118" h="133">
                  <a:moveTo>
                    <a:pt x="33" y="133"/>
                  </a:moveTo>
                  <a:cubicBezTo>
                    <a:pt x="33" y="133"/>
                    <a:pt x="118" y="84"/>
                    <a:pt x="61" y="40"/>
                  </a:cubicBezTo>
                  <a:cubicBezTo>
                    <a:pt x="61" y="40"/>
                    <a:pt x="0" y="0"/>
                    <a:pt x="12" y="97"/>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0783" name="Rectangle 47"/>
            <p:cNvSpPr>
              <a:spLocks noChangeArrowheads="1"/>
            </p:cNvSpPr>
            <p:nvPr/>
          </p:nvSpPr>
          <p:spPr bwMode="auto">
            <a:xfrm>
              <a:off x="3772" y="1582"/>
              <a:ext cx="6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SendData</a:t>
              </a:r>
              <a:endParaRPr lang="en-US" altLang="en-US" sz="3200"/>
            </a:p>
          </p:txBody>
        </p:sp>
        <p:sp>
          <p:nvSpPr>
            <p:cNvPr id="500787" name="Rectangle 51"/>
            <p:cNvSpPr>
              <a:spLocks noChangeArrowheads="1"/>
            </p:cNvSpPr>
            <p:nvPr/>
          </p:nvSpPr>
          <p:spPr bwMode="auto">
            <a:xfrm>
              <a:off x="1992" y="1753"/>
              <a:ext cx="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3200"/>
            </a:p>
          </p:txBody>
        </p:sp>
        <p:sp>
          <p:nvSpPr>
            <p:cNvPr id="500788" name="Rectangle 52"/>
            <p:cNvSpPr>
              <a:spLocks noChangeArrowheads="1"/>
            </p:cNvSpPr>
            <p:nvPr/>
          </p:nvSpPr>
          <p:spPr bwMode="auto">
            <a:xfrm>
              <a:off x="1880" y="1753"/>
              <a:ext cx="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3200"/>
            </a:p>
          </p:txBody>
        </p:sp>
        <p:sp>
          <p:nvSpPr>
            <p:cNvPr id="500789" name="Rectangle 53"/>
            <p:cNvSpPr>
              <a:spLocks noChangeArrowheads="1"/>
            </p:cNvSpPr>
            <p:nvPr/>
          </p:nvSpPr>
          <p:spPr bwMode="auto">
            <a:xfrm>
              <a:off x="1579" y="1823"/>
              <a:ext cx="46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“Z”</a:t>
              </a:r>
              <a:endParaRPr lang="en-US" altLang="en-US" sz="3200"/>
            </a:p>
          </p:txBody>
        </p:sp>
        <p:sp>
          <p:nvSpPr>
            <p:cNvPr id="500790" name="Rectangle 54"/>
            <p:cNvSpPr>
              <a:spLocks noChangeArrowheads="1"/>
            </p:cNvSpPr>
            <p:nvPr/>
          </p:nvSpPr>
          <p:spPr bwMode="auto">
            <a:xfrm>
              <a:off x="1543" y="1934"/>
              <a:ext cx="44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Q1 = Q</a:t>
              </a:r>
              <a:endParaRPr lang="en-US" altLang="en-US" sz="3200"/>
            </a:p>
          </p:txBody>
        </p:sp>
        <p:sp>
          <p:nvSpPr>
            <p:cNvPr id="500791" name="Rectangle 55"/>
            <p:cNvSpPr>
              <a:spLocks noChangeArrowheads="1"/>
            </p:cNvSpPr>
            <p:nvPr/>
          </p:nvSpPr>
          <p:spPr bwMode="auto">
            <a:xfrm>
              <a:off x="2681" y="1700"/>
              <a:ext cx="69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 = Faddr)</a:t>
              </a:r>
              <a:endParaRPr lang="en-US" altLang="en-US" sz="3200"/>
            </a:p>
          </p:txBody>
        </p:sp>
        <p:sp>
          <p:nvSpPr>
            <p:cNvPr id="500795" name="Rectangle 59"/>
            <p:cNvSpPr>
              <a:spLocks noChangeArrowheads="1"/>
            </p:cNvSpPr>
            <p:nvPr/>
          </p:nvSpPr>
          <p:spPr bwMode="auto">
            <a:xfrm>
              <a:off x="2828" y="1808"/>
              <a:ext cx="38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and rd</a:t>
              </a:r>
              <a:endParaRPr lang="en-US" altLang="en-US" sz="3200"/>
            </a:p>
          </p:txBody>
        </p:sp>
        <p:sp>
          <p:nvSpPr>
            <p:cNvPr id="500798" name="Rectangle 62"/>
            <p:cNvSpPr>
              <a:spLocks noChangeArrowheads="1"/>
            </p:cNvSpPr>
            <p:nvPr/>
          </p:nvSpPr>
          <p:spPr bwMode="auto">
            <a:xfrm>
              <a:off x="2650" y="1301"/>
              <a:ext cx="7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 = Faddr)</a:t>
              </a:r>
              <a:endParaRPr lang="en-US" altLang="en-US" sz="3200"/>
            </a:p>
          </p:txBody>
        </p:sp>
        <p:sp>
          <p:nvSpPr>
            <p:cNvPr id="500803" name="Rectangle 67"/>
            <p:cNvSpPr>
              <a:spLocks noChangeArrowheads="1"/>
            </p:cNvSpPr>
            <p:nvPr/>
          </p:nvSpPr>
          <p:spPr bwMode="auto">
            <a:xfrm>
              <a:off x="2776" y="1435"/>
              <a:ext cx="46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and rd’)</a:t>
              </a:r>
              <a:endParaRPr lang="en-US" altLang="en-US" sz="3200"/>
            </a:p>
          </p:txBody>
        </p:sp>
        <p:sp>
          <p:nvSpPr>
            <p:cNvPr id="500807" name="Rectangle 71"/>
            <p:cNvSpPr>
              <a:spLocks noChangeArrowheads="1"/>
            </p:cNvSpPr>
            <p:nvPr/>
          </p:nvSpPr>
          <p:spPr bwMode="auto">
            <a:xfrm>
              <a:off x="3862" y="1777"/>
              <a:ext cx="43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Q1</a:t>
              </a:r>
              <a:endParaRPr lang="en-US" altLang="en-US" sz="3200"/>
            </a:p>
          </p:txBody>
        </p:sp>
        <p:sp>
          <p:nvSpPr>
            <p:cNvPr id="500808" name="Oval 72"/>
            <p:cNvSpPr>
              <a:spLocks noChangeArrowheads="1"/>
            </p:cNvSpPr>
            <p:nvPr/>
          </p:nvSpPr>
          <p:spPr bwMode="auto">
            <a:xfrm>
              <a:off x="918" y="1507"/>
              <a:ext cx="1701" cy="277"/>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0809" name="Oval 73"/>
            <p:cNvSpPr>
              <a:spLocks noChangeArrowheads="1"/>
            </p:cNvSpPr>
            <p:nvPr/>
          </p:nvSpPr>
          <p:spPr bwMode="auto">
            <a:xfrm>
              <a:off x="3518" y="1523"/>
              <a:ext cx="1137" cy="240"/>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3"/>
          <p:cNvSpPr>
            <a:spLocks noGrp="1"/>
          </p:cNvSpPr>
          <p:nvPr>
            <p:ph type="sldNum" sz="quarter" idx="10"/>
          </p:nvPr>
        </p:nvSpPr>
        <p:spPr/>
        <p:txBody>
          <a:bodyPr/>
          <a:lstStyle/>
          <a:p>
            <a:fld id="{467D1EA0-6BA5-4B88-B36E-C26E777C3C5D}" type="slidenum">
              <a:rPr lang="en-US" altLang="en-US"/>
              <a:pPr/>
              <a:t>29</a:t>
            </a:fld>
            <a:endParaRPr lang="en-US" altLang="en-US"/>
          </a:p>
        </p:txBody>
      </p:sp>
      <p:sp>
        <p:nvSpPr>
          <p:cNvPr id="501762" name="Rectangle 2"/>
          <p:cNvSpPr>
            <a:spLocks noGrp="1" noChangeArrowheads="1"/>
          </p:cNvSpPr>
          <p:nvPr>
            <p:ph type="title"/>
          </p:nvPr>
        </p:nvSpPr>
        <p:spPr/>
        <p:txBody>
          <a:bodyPr/>
          <a:lstStyle/>
          <a:p>
            <a:r>
              <a:rPr lang="en-US" altLang="en-US"/>
              <a:t>RTL Example: Bus Interface</a:t>
            </a:r>
          </a:p>
        </p:txBody>
      </p:sp>
      <p:sp>
        <p:nvSpPr>
          <p:cNvPr id="501835" name="Rectangle 75"/>
          <p:cNvSpPr>
            <a:spLocks noGrp="1" noChangeArrowheads="1"/>
          </p:cNvSpPr>
          <p:nvPr>
            <p:ph type="body" idx="1"/>
          </p:nvPr>
        </p:nvSpPr>
        <p:spPr>
          <a:xfrm>
            <a:off x="228600" y="5791200"/>
            <a:ext cx="8610600" cy="304800"/>
          </a:xfrm>
        </p:spPr>
        <p:txBody>
          <a:bodyPr/>
          <a:lstStyle/>
          <a:p>
            <a:pPr>
              <a:lnSpc>
                <a:spcPct val="90000"/>
              </a:lnSpc>
            </a:pPr>
            <a:endParaRPr lang="en-US" altLang="en-US" sz="2000"/>
          </a:p>
        </p:txBody>
      </p:sp>
      <p:pic>
        <p:nvPicPr>
          <p:cNvPr id="501836" name="Picture 7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8363" y="3692525"/>
            <a:ext cx="5186362" cy="230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01878" name="Group 118"/>
          <p:cNvGrpSpPr>
            <a:grpSpLocks/>
          </p:cNvGrpSpPr>
          <p:nvPr/>
        </p:nvGrpSpPr>
        <p:grpSpPr bwMode="auto">
          <a:xfrm>
            <a:off x="1333500" y="1179513"/>
            <a:ext cx="6665913" cy="2352675"/>
            <a:chOff x="840" y="715"/>
            <a:chExt cx="4199" cy="1482"/>
          </a:xfrm>
        </p:grpSpPr>
        <p:sp>
          <p:nvSpPr>
            <p:cNvPr id="501879" name="Line 119"/>
            <p:cNvSpPr>
              <a:spLocks noChangeShapeType="1"/>
            </p:cNvSpPr>
            <p:nvPr/>
          </p:nvSpPr>
          <p:spPr bwMode="auto">
            <a:xfrm>
              <a:off x="2619" y="1641"/>
              <a:ext cx="75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1880" name="Freeform 120"/>
            <p:cNvSpPr>
              <a:spLocks/>
            </p:cNvSpPr>
            <p:nvPr/>
          </p:nvSpPr>
          <p:spPr bwMode="auto">
            <a:xfrm>
              <a:off x="3349" y="1617"/>
              <a:ext cx="155" cy="4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1881" name="Line 121"/>
            <p:cNvSpPr>
              <a:spLocks noChangeShapeType="1"/>
            </p:cNvSpPr>
            <p:nvPr/>
          </p:nvSpPr>
          <p:spPr bwMode="auto">
            <a:xfrm>
              <a:off x="1224" y="1338"/>
              <a:ext cx="78" cy="9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1882" name="Freeform 122"/>
            <p:cNvSpPr>
              <a:spLocks/>
            </p:cNvSpPr>
            <p:nvPr/>
          </p:nvSpPr>
          <p:spPr bwMode="auto">
            <a:xfrm>
              <a:off x="1254" y="1407"/>
              <a:ext cx="107" cy="98"/>
            </a:xfrm>
            <a:custGeom>
              <a:avLst/>
              <a:gdLst>
                <a:gd name="T0" fmla="*/ 69 w 69"/>
                <a:gd name="T1" fmla="*/ 100 h 100"/>
                <a:gd name="T2" fmla="*/ 47 w 69"/>
                <a:gd name="T3" fmla="*/ 0 h 100"/>
                <a:gd name="T4" fmla="*/ 0 w 69"/>
                <a:gd name="T5" fmla="*/ 22 h 100"/>
                <a:gd name="T6" fmla="*/ 69 w 69"/>
                <a:gd name="T7" fmla="*/ 100 h 100"/>
              </a:gdLst>
              <a:ahLst/>
              <a:cxnLst>
                <a:cxn ang="0">
                  <a:pos x="T0" y="T1"/>
                </a:cxn>
                <a:cxn ang="0">
                  <a:pos x="T2" y="T3"/>
                </a:cxn>
                <a:cxn ang="0">
                  <a:pos x="T4" y="T5"/>
                </a:cxn>
                <a:cxn ang="0">
                  <a:pos x="T6" y="T7"/>
                </a:cxn>
              </a:cxnLst>
              <a:rect l="0" t="0" r="r" b="b"/>
              <a:pathLst>
                <a:path w="69" h="100">
                  <a:moveTo>
                    <a:pt x="69" y="100"/>
                  </a:moveTo>
                  <a:lnTo>
                    <a:pt x="47" y="0"/>
                  </a:lnTo>
                  <a:lnTo>
                    <a:pt x="0" y="22"/>
                  </a:lnTo>
                  <a:lnTo>
                    <a:pt x="69"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1883" name="Freeform 123"/>
            <p:cNvSpPr>
              <a:spLocks/>
            </p:cNvSpPr>
            <p:nvPr/>
          </p:nvSpPr>
          <p:spPr bwMode="auto">
            <a:xfrm>
              <a:off x="1730" y="1432"/>
              <a:ext cx="150" cy="73"/>
            </a:xfrm>
            <a:custGeom>
              <a:avLst/>
              <a:gdLst>
                <a:gd name="T0" fmla="*/ 0 w 97"/>
                <a:gd name="T1" fmla="*/ 75 h 75"/>
                <a:gd name="T2" fmla="*/ 97 w 97"/>
                <a:gd name="T3" fmla="*/ 41 h 75"/>
                <a:gd name="T4" fmla="*/ 69 w 97"/>
                <a:gd name="T5" fmla="*/ 0 h 75"/>
                <a:gd name="T6" fmla="*/ 0 w 97"/>
                <a:gd name="T7" fmla="*/ 75 h 75"/>
              </a:gdLst>
              <a:ahLst/>
              <a:cxnLst>
                <a:cxn ang="0">
                  <a:pos x="T0" y="T1"/>
                </a:cxn>
                <a:cxn ang="0">
                  <a:pos x="T2" y="T3"/>
                </a:cxn>
                <a:cxn ang="0">
                  <a:pos x="T4" y="T5"/>
                </a:cxn>
                <a:cxn ang="0">
                  <a:pos x="T6" y="T7"/>
                </a:cxn>
              </a:cxnLst>
              <a:rect l="0" t="0" r="r" b="b"/>
              <a:pathLst>
                <a:path w="97" h="75">
                  <a:moveTo>
                    <a:pt x="0" y="75"/>
                  </a:moveTo>
                  <a:lnTo>
                    <a:pt x="97" y="41"/>
                  </a:lnTo>
                  <a:lnTo>
                    <a:pt x="69"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1884" name="Freeform 124"/>
            <p:cNvSpPr>
              <a:spLocks/>
            </p:cNvSpPr>
            <p:nvPr/>
          </p:nvSpPr>
          <p:spPr bwMode="auto">
            <a:xfrm>
              <a:off x="2269" y="1447"/>
              <a:ext cx="137" cy="85"/>
            </a:xfrm>
            <a:custGeom>
              <a:avLst/>
              <a:gdLst>
                <a:gd name="T0" fmla="*/ 0 w 88"/>
                <a:gd name="T1" fmla="*/ 87 h 87"/>
                <a:gd name="T2" fmla="*/ 88 w 88"/>
                <a:gd name="T3" fmla="*/ 37 h 87"/>
                <a:gd name="T4" fmla="*/ 53 w 88"/>
                <a:gd name="T5" fmla="*/ 0 h 87"/>
                <a:gd name="T6" fmla="*/ 0 w 88"/>
                <a:gd name="T7" fmla="*/ 87 h 87"/>
              </a:gdLst>
              <a:ahLst/>
              <a:cxnLst>
                <a:cxn ang="0">
                  <a:pos x="T0" y="T1"/>
                </a:cxn>
                <a:cxn ang="0">
                  <a:pos x="T2" y="T3"/>
                </a:cxn>
                <a:cxn ang="0">
                  <a:pos x="T4" y="T5"/>
                </a:cxn>
                <a:cxn ang="0">
                  <a:pos x="T6" y="T7"/>
                </a:cxn>
              </a:cxnLst>
              <a:rect l="0" t="0" r="r" b="b"/>
              <a:pathLst>
                <a:path w="88" h="87">
                  <a:moveTo>
                    <a:pt x="0" y="87"/>
                  </a:moveTo>
                  <a:lnTo>
                    <a:pt x="88" y="37"/>
                  </a:lnTo>
                  <a:lnTo>
                    <a:pt x="53" y="0"/>
                  </a:lnTo>
                  <a:lnTo>
                    <a:pt x="0"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1885" name="Freeform 125"/>
            <p:cNvSpPr>
              <a:spLocks/>
            </p:cNvSpPr>
            <p:nvPr/>
          </p:nvSpPr>
          <p:spPr bwMode="auto">
            <a:xfrm>
              <a:off x="4485" y="1472"/>
              <a:ext cx="73" cy="97"/>
            </a:xfrm>
            <a:custGeom>
              <a:avLst/>
              <a:gdLst>
                <a:gd name="T0" fmla="*/ 41 w 47"/>
                <a:gd name="T1" fmla="*/ 100 h 100"/>
                <a:gd name="T2" fmla="*/ 47 w 47"/>
                <a:gd name="T3" fmla="*/ 0 h 100"/>
                <a:gd name="T4" fmla="*/ 0 w 47"/>
                <a:gd name="T5" fmla="*/ 6 h 100"/>
                <a:gd name="T6" fmla="*/ 41 w 47"/>
                <a:gd name="T7" fmla="*/ 100 h 100"/>
              </a:gdLst>
              <a:ahLst/>
              <a:cxnLst>
                <a:cxn ang="0">
                  <a:pos x="T0" y="T1"/>
                </a:cxn>
                <a:cxn ang="0">
                  <a:pos x="T2" y="T3"/>
                </a:cxn>
                <a:cxn ang="0">
                  <a:pos x="T4" y="T5"/>
                </a:cxn>
                <a:cxn ang="0">
                  <a:pos x="T6" y="T7"/>
                </a:cxn>
              </a:cxnLst>
              <a:rect l="0" t="0" r="r" b="b"/>
              <a:pathLst>
                <a:path w="47" h="100">
                  <a:moveTo>
                    <a:pt x="41" y="100"/>
                  </a:moveTo>
                  <a:lnTo>
                    <a:pt x="47" y="0"/>
                  </a:lnTo>
                  <a:lnTo>
                    <a:pt x="0" y="6"/>
                  </a:lnTo>
                  <a:lnTo>
                    <a:pt x="41"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1886" name="Rectangle 126"/>
            <p:cNvSpPr>
              <a:spLocks noChangeArrowheads="1"/>
            </p:cNvSpPr>
            <p:nvPr/>
          </p:nvSpPr>
          <p:spPr bwMode="auto">
            <a:xfrm>
              <a:off x="840" y="715"/>
              <a:ext cx="4176" cy="148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887" name="Rectangle 127"/>
            <p:cNvSpPr>
              <a:spLocks noChangeArrowheads="1"/>
            </p:cNvSpPr>
            <p:nvPr/>
          </p:nvSpPr>
          <p:spPr bwMode="auto">
            <a:xfrm>
              <a:off x="1295" y="1564"/>
              <a:ext cx="95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WaitMyAddress</a:t>
              </a:r>
              <a:endParaRPr lang="en-US" altLang="en-US" sz="3200"/>
            </a:p>
          </p:txBody>
        </p:sp>
        <p:sp>
          <p:nvSpPr>
            <p:cNvPr id="501888" name="Rectangle 128"/>
            <p:cNvSpPr>
              <a:spLocks noChangeArrowheads="1"/>
            </p:cNvSpPr>
            <p:nvPr/>
          </p:nvSpPr>
          <p:spPr bwMode="auto">
            <a:xfrm>
              <a:off x="952" y="728"/>
              <a:ext cx="260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rd (bit); Q (32 bits); A, Faddr (4 bits)</a:t>
              </a:r>
              <a:endParaRPr lang="en-US" altLang="en-US" sz="3200"/>
            </a:p>
          </p:txBody>
        </p:sp>
        <p:sp>
          <p:nvSpPr>
            <p:cNvPr id="501889" name="Rectangle 129"/>
            <p:cNvSpPr>
              <a:spLocks noChangeArrowheads="1"/>
            </p:cNvSpPr>
            <p:nvPr/>
          </p:nvSpPr>
          <p:spPr bwMode="auto">
            <a:xfrm>
              <a:off x="952" y="870"/>
              <a:ext cx="118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D (32 bits)</a:t>
              </a:r>
              <a:endParaRPr lang="en-US" altLang="en-US" sz="3200"/>
            </a:p>
          </p:txBody>
        </p:sp>
        <p:sp>
          <p:nvSpPr>
            <p:cNvPr id="501890" name="Rectangle 130"/>
            <p:cNvSpPr>
              <a:spLocks noChangeArrowheads="1"/>
            </p:cNvSpPr>
            <p:nvPr/>
          </p:nvSpPr>
          <p:spPr bwMode="auto">
            <a:xfrm>
              <a:off x="952" y="1003"/>
              <a:ext cx="160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Local register: Q1 (32 bits)</a:t>
              </a:r>
              <a:endParaRPr lang="en-US" altLang="en-US" sz="3200"/>
            </a:p>
          </p:txBody>
        </p:sp>
        <p:sp>
          <p:nvSpPr>
            <p:cNvPr id="501891" name="Freeform 131"/>
            <p:cNvSpPr>
              <a:spLocks/>
            </p:cNvSpPr>
            <p:nvPr/>
          </p:nvSpPr>
          <p:spPr bwMode="auto">
            <a:xfrm>
              <a:off x="2299" y="1362"/>
              <a:ext cx="427" cy="248"/>
            </a:xfrm>
            <a:custGeom>
              <a:avLst/>
              <a:gdLst>
                <a:gd name="T0" fmla="*/ 60 w 88"/>
                <a:gd name="T1" fmla="*/ 82 h 82"/>
                <a:gd name="T2" fmla="*/ 70 w 88"/>
                <a:gd name="T3" fmla="*/ 31 h 82"/>
                <a:gd name="T4" fmla="*/ 0 w 88"/>
                <a:gd name="T5" fmla="*/ 50 h 82"/>
              </a:gdLst>
              <a:ahLst/>
              <a:cxnLst>
                <a:cxn ang="0">
                  <a:pos x="T0" y="T1"/>
                </a:cxn>
                <a:cxn ang="0">
                  <a:pos x="T2" y="T3"/>
                </a:cxn>
                <a:cxn ang="0">
                  <a:pos x="T4" y="T5"/>
                </a:cxn>
              </a:cxnLst>
              <a:rect l="0" t="0" r="r" b="b"/>
              <a:pathLst>
                <a:path w="88" h="82">
                  <a:moveTo>
                    <a:pt x="60" y="82"/>
                  </a:moveTo>
                  <a:cubicBezTo>
                    <a:pt x="60" y="82"/>
                    <a:pt x="88" y="56"/>
                    <a:pt x="70" y="31"/>
                  </a:cubicBezTo>
                  <a:cubicBezTo>
                    <a:pt x="70" y="31"/>
                    <a:pt x="42" y="0"/>
                    <a:pt x="0" y="5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892" name="Freeform 132"/>
            <p:cNvSpPr>
              <a:spLocks/>
            </p:cNvSpPr>
            <p:nvPr/>
          </p:nvSpPr>
          <p:spPr bwMode="auto">
            <a:xfrm>
              <a:off x="1812" y="885"/>
              <a:ext cx="2216" cy="638"/>
            </a:xfrm>
            <a:custGeom>
              <a:avLst/>
              <a:gdLst>
                <a:gd name="T0" fmla="*/ 456 w 456"/>
                <a:gd name="T1" fmla="*/ 210 h 210"/>
                <a:gd name="T2" fmla="*/ 0 w 456"/>
                <a:gd name="T3" fmla="*/ 192 h 210"/>
              </a:gdLst>
              <a:ahLst/>
              <a:cxnLst>
                <a:cxn ang="0">
                  <a:pos x="T0" y="T1"/>
                </a:cxn>
                <a:cxn ang="0">
                  <a:pos x="T2" y="T3"/>
                </a:cxn>
              </a:cxnLst>
              <a:rect l="0" t="0" r="r" b="b"/>
              <a:pathLst>
                <a:path w="456" h="210">
                  <a:moveTo>
                    <a:pt x="456" y="210"/>
                  </a:moveTo>
                  <a:cubicBezTo>
                    <a:pt x="456" y="210"/>
                    <a:pt x="280" y="0"/>
                    <a:pt x="0" y="19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893" name="Rectangle 133"/>
            <p:cNvSpPr>
              <a:spLocks noChangeArrowheads="1"/>
            </p:cNvSpPr>
            <p:nvPr/>
          </p:nvSpPr>
          <p:spPr bwMode="auto">
            <a:xfrm>
              <a:off x="3377" y="1109"/>
              <a:ext cx="15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rd’</a:t>
              </a:r>
              <a:endParaRPr lang="en-US" altLang="en-US" sz="3200"/>
            </a:p>
          </p:txBody>
        </p:sp>
        <p:sp>
          <p:nvSpPr>
            <p:cNvPr id="501894" name="Rectangle 134"/>
            <p:cNvSpPr>
              <a:spLocks noChangeArrowheads="1"/>
            </p:cNvSpPr>
            <p:nvPr/>
          </p:nvSpPr>
          <p:spPr bwMode="auto">
            <a:xfrm>
              <a:off x="4620" y="1153"/>
              <a:ext cx="1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rd</a:t>
              </a:r>
              <a:endParaRPr lang="en-US" altLang="en-US" sz="3200"/>
            </a:p>
          </p:txBody>
        </p:sp>
        <p:sp>
          <p:nvSpPr>
            <p:cNvPr id="501895" name="Freeform 135"/>
            <p:cNvSpPr>
              <a:spLocks/>
            </p:cNvSpPr>
            <p:nvPr/>
          </p:nvSpPr>
          <p:spPr bwMode="auto">
            <a:xfrm>
              <a:off x="4467" y="1198"/>
              <a:ext cx="572" cy="404"/>
            </a:xfrm>
            <a:custGeom>
              <a:avLst/>
              <a:gdLst>
                <a:gd name="T0" fmla="*/ 33 w 118"/>
                <a:gd name="T1" fmla="*/ 133 h 133"/>
                <a:gd name="T2" fmla="*/ 61 w 118"/>
                <a:gd name="T3" fmla="*/ 40 h 133"/>
                <a:gd name="T4" fmla="*/ 12 w 118"/>
                <a:gd name="T5" fmla="*/ 97 h 133"/>
              </a:gdLst>
              <a:ahLst/>
              <a:cxnLst>
                <a:cxn ang="0">
                  <a:pos x="T0" y="T1"/>
                </a:cxn>
                <a:cxn ang="0">
                  <a:pos x="T2" y="T3"/>
                </a:cxn>
                <a:cxn ang="0">
                  <a:pos x="T4" y="T5"/>
                </a:cxn>
              </a:cxnLst>
              <a:rect l="0" t="0" r="r" b="b"/>
              <a:pathLst>
                <a:path w="118" h="133">
                  <a:moveTo>
                    <a:pt x="33" y="133"/>
                  </a:moveTo>
                  <a:cubicBezTo>
                    <a:pt x="33" y="133"/>
                    <a:pt x="118" y="84"/>
                    <a:pt x="61" y="40"/>
                  </a:cubicBezTo>
                  <a:cubicBezTo>
                    <a:pt x="61" y="40"/>
                    <a:pt x="0" y="0"/>
                    <a:pt x="12" y="97"/>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896" name="Rectangle 136"/>
            <p:cNvSpPr>
              <a:spLocks noChangeArrowheads="1"/>
            </p:cNvSpPr>
            <p:nvPr/>
          </p:nvSpPr>
          <p:spPr bwMode="auto">
            <a:xfrm>
              <a:off x="3772" y="1582"/>
              <a:ext cx="6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SendData</a:t>
              </a:r>
              <a:endParaRPr lang="en-US" altLang="en-US" sz="3200"/>
            </a:p>
          </p:txBody>
        </p:sp>
        <p:sp>
          <p:nvSpPr>
            <p:cNvPr id="501897" name="Rectangle 137"/>
            <p:cNvSpPr>
              <a:spLocks noChangeArrowheads="1"/>
            </p:cNvSpPr>
            <p:nvPr/>
          </p:nvSpPr>
          <p:spPr bwMode="auto">
            <a:xfrm>
              <a:off x="1992" y="1753"/>
              <a:ext cx="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3200"/>
            </a:p>
          </p:txBody>
        </p:sp>
        <p:sp>
          <p:nvSpPr>
            <p:cNvPr id="501898" name="Rectangle 138"/>
            <p:cNvSpPr>
              <a:spLocks noChangeArrowheads="1"/>
            </p:cNvSpPr>
            <p:nvPr/>
          </p:nvSpPr>
          <p:spPr bwMode="auto">
            <a:xfrm>
              <a:off x="1880" y="1753"/>
              <a:ext cx="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3200"/>
            </a:p>
          </p:txBody>
        </p:sp>
        <p:sp>
          <p:nvSpPr>
            <p:cNvPr id="501899" name="Rectangle 139"/>
            <p:cNvSpPr>
              <a:spLocks noChangeArrowheads="1"/>
            </p:cNvSpPr>
            <p:nvPr/>
          </p:nvSpPr>
          <p:spPr bwMode="auto">
            <a:xfrm>
              <a:off x="1579" y="1823"/>
              <a:ext cx="46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“Z”</a:t>
              </a:r>
              <a:endParaRPr lang="en-US" altLang="en-US" sz="3200"/>
            </a:p>
          </p:txBody>
        </p:sp>
        <p:sp>
          <p:nvSpPr>
            <p:cNvPr id="501900" name="Rectangle 140"/>
            <p:cNvSpPr>
              <a:spLocks noChangeArrowheads="1"/>
            </p:cNvSpPr>
            <p:nvPr/>
          </p:nvSpPr>
          <p:spPr bwMode="auto">
            <a:xfrm>
              <a:off x="1543" y="1934"/>
              <a:ext cx="44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Q1 = Q</a:t>
              </a:r>
              <a:endParaRPr lang="en-US" altLang="en-US" sz="3200"/>
            </a:p>
          </p:txBody>
        </p:sp>
        <p:sp>
          <p:nvSpPr>
            <p:cNvPr id="501901" name="Rectangle 141"/>
            <p:cNvSpPr>
              <a:spLocks noChangeArrowheads="1"/>
            </p:cNvSpPr>
            <p:nvPr/>
          </p:nvSpPr>
          <p:spPr bwMode="auto">
            <a:xfrm>
              <a:off x="2681" y="1700"/>
              <a:ext cx="69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 = Faddr)</a:t>
              </a:r>
              <a:endParaRPr lang="en-US" altLang="en-US" sz="3200"/>
            </a:p>
          </p:txBody>
        </p:sp>
        <p:sp>
          <p:nvSpPr>
            <p:cNvPr id="501902" name="Rectangle 142"/>
            <p:cNvSpPr>
              <a:spLocks noChangeArrowheads="1"/>
            </p:cNvSpPr>
            <p:nvPr/>
          </p:nvSpPr>
          <p:spPr bwMode="auto">
            <a:xfrm>
              <a:off x="2828" y="1808"/>
              <a:ext cx="38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and rd</a:t>
              </a:r>
              <a:endParaRPr lang="en-US" altLang="en-US" sz="3200"/>
            </a:p>
          </p:txBody>
        </p:sp>
        <p:sp>
          <p:nvSpPr>
            <p:cNvPr id="501903" name="Rectangle 143"/>
            <p:cNvSpPr>
              <a:spLocks noChangeArrowheads="1"/>
            </p:cNvSpPr>
            <p:nvPr/>
          </p:nvSpPr>
          <p:spPr bwMode="auto">
            <a:xfrm>
              <a:off x="2650" y="1301"/>
              <a:ext cx="7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 = Faddr)</a:t>
              </a:r>
              <a:endParaRPr lang="en-US" altLang="en-US" sz="3200"/>
            </a:p>
          </p:txBody>
        </p:sp>
        <p:sp>
          <p:nvSpPr>
            <p:cNvPr id="501904" name="Rectangle 144"/>
            <p:cNvSpPr>
              <a:spLocks noChangeArrowheads="1"/>
            </p:cNvSpPr>
            <p:nvPr/>
          </p:nvSpPr>
          <p:spPr bwMode="auto">
            <a:xfrm>
              <a:off x="2776" y="1435"/>
              <a:ext cx="46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and rd’)</a:t>
              </a:r>
              <a:endParaRPr lang="en-US" altLang="en-US" sz="3200"/>
            </a:p>
          </p:txBody>
        </p:sp>
        <p:sp>
          <p:nvSpPr>
            <p:cNvPr id="501905" name="Rectangle 145"/>
            <p:cNvSpPr>
              <a:spLocks noChangeArrowheads="1"/>
            </p:cNvSpPr>
            <p:nvPr/>
          </p:nvSpPr>
          <p:spPr bwMode="auto">
            <a:xfrm>
              <a:off x="3862" y="1777"/>
              <a:ext cx="43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 = Q1</a:t>
              </a:r>
              <a:endParaRPr lang="en-US" altLang="en-US" sz="3200"/>
            </a:p>
          </p:txBody>
        </p:sp>
        <p:sp>
          <p:nvSpPr>
            <p:cNvPr id="501906" name="Oval 146"/>
            <p:cNvSpPr>
              <a:spLocks noChangeArrowheads="1"/>
            </p:cNvSpPr>
            <p:nvPr/>
          </p:nvSpPr>
          <p:spPr bwMode="auto">
            <a:xfrm>
              <a:off x="918" y="1507"/>
              <a:ext cx="1701" cy="277"/>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1907" name="Oval 147"/>
            <p:cNvSpPr>
              <a:spLocks noChangeArrowheads="1"/>
            </p:cNvSpPr>
            <p:nvPr/>
          </p:nvSpPr>
          <p:spPr bwMode="auto">
            <a:xfrm>
              <a:off x="3518" y="1523"/>
              <a:ext cx="1137" cy="240"/>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Slide Number Placeholder 3"/>
          <p:cNvSpPr>
            <a:spLocks noGrp="1"/>
          </p:cNvSpPr>
          <p:nvPr>
            <p:ph type="sldNum" sz="quarter" idx="10"/>
          </p:nvPr>
        </p:nvSpPr>
        <p:spPr/>
        <p:txBody>
          <a:bodyPr/>
          <a:lstStyle/>
          <a:p>
            <a:fld id="{23E5F599-C785-45E6-B051-38E2E0AF49C7}" type="slidenum">
              <a:rPr lang="en-US" altLang="en-US"/>
              <a:pPr/>
              <a:t>30</a:t>
            </a:fld>
            <a:endParaRPr lang="en-US" altLang="en-US"/>
          </a:p>
        </p:txBody>
      </p:sp>
      <p:sp>
        <p:nvSpPr>
          <p:cNvPr id="502786" name="Rectangle 2"/>
          <p:cNvSpPr>
            <a:spLocks noGrp="1" noChangeArrowheads="1"/>
          </p:cNvSpPr>
          <p:nvPr>
            <p:ph type="title"/>
          </p:nvPr>
        </p:nvSpPr>
        <p:spPr/>
        <p:txBody>
          <a:bodyPr/>
          <a:lstStyle/>
          <a:p>
            <a:r>
              <a:rPr lang="en-US" altLang="en-US"/>
              <a:t>RTL Example: Bus Interface</a:t>
            </a:r>
          </a:p>
        </p:txBody>
      </p:sp>
      <p:grpSp>
        <p:nvGrpSpPr>
          <p:cNvPr id="503031" name="Group 247"/>
          <p:cNvGrpSpPr>
            <a:grpSpLocks/>
          </p:cNvGrpSpPr>
          <p:nvPr/>
        </p:nvGrpSpPr>
        <p:grpSpPr bwMode="auto">
          <a:xfrm>
            <a:off x="125413" y="1652588"/>
            <a:ext cx="5232400" cy="2352675"/>
            <a:chOff x="79" y="1041"/>
            <a:chExt cx="3296" cy="1482"/>
          </a:xfrm>
        </p:grpSpPr>
        <p:sp>
          <p:nvSpPr>
            <p:cNvPr id="502788" name="Line 4"/>
            <p:cNvSpPr>
              <a:spLocks noChangeShapeType="1"/>
            </p:cNvSpPr>
            <p:nvPr/>
          </p:nvSpPr>
          <p:spPr bwMode="auto">
            <a:xfrm>
              <a:off x="1476" y="1967"/>
              <a:ext cx="595"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789" name="Freeform 5"/>
            <p:cNvSpPr>
              <a:spLocks/>
            </p:cNvSpPr>
            <p:nvPr/>
          </p:nvSpPr>
          <p:spPr bwMode="auto">
            <a:xfrm>
              <a:off x="2048" y="1943"/>
              <a:ext cx="122" cy="4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790" name="Line 6"/>
            <p:cNvSpPr>
              <a:spLocks noChangeShapeType="1"/>
            </p:cNvSpPr>
            <p:nvPr/>
          </p:nvSpPr>
          <p:spPr bwMode="auto">
            <a:xfrm>
              <a:off x="381" y="1664"/>
              <a:ext cx="61" cy="9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791" name="Freeform 7"/>
            <p:cNvSpPr>
              <a:spLocks/>
            </p:cNvSpPr>
            <p:nvPr/>
          </p:nvSpPr>
          <p:spPr bwMode="auto">
            <a:xfrm>
              <a:off x="404" y="1733"/>
              <a:ext cx="84" cy="98"/>
            </a:xfrm>
            <a:custGeom>
              <a:avLst/>
              <a:gdLst>
                <a:gd name="T0" fmla="*/ 69 w 69"/>
                <a:gd name="T1" fmla="*/ 100 h 100"/>
                <a:gd name="T2" fmla="*/ 47 w 69"/>
                <a:gd name="T3" fmla="*/ 0 h 100"/>
                <a:gd name="T4" fmla="*/ 0 w 69"/>
                <a:gd name="T5" fmla="*/ 22 h 100"/>
                <a:gd name="T6" fmla="*/ 69 w 69"/>
                <a:gd name="T7" fmla="*/ 100 h 100"/>
              </a:gdLst>
              <a:ahLst/>
              <a:cxnLst>
                <a:cxn ang="0">
                  <a:pos x="T0" y="T1"/>
                </a:cxn>
                <a:cxn ang="0">
                  <a:pos x="T2" y="T3"/>
                </a:cxn>
                <a:cxn ang="0">
                  <a:pos x="T4" y="T5"/>
                </a:cxn>
                <a:cxn ang="0">
                  <a:pos x="T6" y="T7"/>
                </a:cxn>
              </a:cxnLst>
              <a:rect l="0" t="0" r="r" b="b"/>
              <a:pathLst>
                <a:path w="69" h="100">
                  <a:moveTo>
                    <a:pt x="69" y="100"/>
                  </a:moveTo>
                  <a:lnTo>
                    <a:pt x="47" y="0"/>
                  </a:lnTo>
                  <a:lnTo>
                    <a:pt x="0" y="22"/>
                  </a:lnTo>
                  <a:lnTo>
                    <a:pt x="69"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792" name="Freeform 8"/>
            <p:cNvSpPr>
              <a:spLocks/>
            </p:cNvSpPr>
            <p:nvPr/>
          </p:nvSpPr>
          <p:spPr bwMode="auto">
            <a:xfrm>
              <a:off x="777" y="1758"/>
              <a:ext cx="119" cy="73"/>
            </a:xfrm>
            <a:custGeom>
              <a:avLst/>
              <a:gdLst>
                <a:gd name="T0" fmla="*/ 0 w 97"/>
                <a:gd name="T1" fmla="*/ 75 h 75"/>
                <a:gd name="T2" fmla="*/ 97 w 97"/>
                <a:gd name="T3" fmla="*/ 41 h 75"/>
                <a:gd name="T4" fmla="*/ 69 w 97"/>
                <a:gd name="T5" fmla="*/ 0 h 75"/>
                <a:gd name="T6" fmla="*/ 0 w 97"/>
                <a:gd name="T7" fmla="*/ 75 h 75"/>
              </a:gdLst>
              <a:ahLst/>
              <a:cxnLst>
                <a:cxn ang="0">
                  <a:pos x="T0" y="T1"/>
                </a:cxn>
                <a:cxn ang="0">
                  <a:pos x="T2" y="T3"/>
                </a:cxn>
                <a:cxn ang="0">
                  <a:pos x="T4" y="T5"/>
                </a:cxn>
                <a:cxn ang="0">
                  <a:pos x="T6" y="T7"/>
                </a:cxn>
              </a:cxnLst>
              <a:rect l="0" t="0" r="r" b="b"/>
              <a:pathLst>
                <a:path w="97" h="75">
                  <a:moveTo>
                    <a:pt x="0" y="75"/>
                  </a:moveTo>
                  <a:lnTo>
                    <a:pt x="97" y="41"/>
                  </a:lnTo>
                  <a:lnTo>
                    <a:pt x="69"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793" name="Freeform 9"/>
            <p:cNvSpPr>
              <a:spLocks/>
            </p:cNvSpPr>
            <p:nvPr/>
          </p:nvSpPr>
          <p:spPr bwMode="auto">
            <a:xfrm>
              <a:off x="1201" y="1773"/>
              <a:ext cx="107" cy="85"/>
            </a:xfrm>
            <a:custGeom>
              <a:avLst/>
              <a:gdLst>
                <a:gd name="T0" fmla="*/ 0 w 88"/>
                <a:gd name="T1" fmla="*/ 87 h 87"/>
                <a:gd name="T2" fmla="*/ 88 w 88"/>
                <a:gd name="T3" fmla="*/ 37 h 87"/>
                <a:gd name="T4" fmla="*/ 53 w 88"/>
                <a:gd name="T5" fmla="*/ 0 h 87"/>
                <a:gd name="T6" fmla="*/ 0 w 88"/>
                <a:gd name="T7" fmla="*/ 87 h 87"/>
              </a:gdLst>
              <a:ahLst/>
              <a:cxnLst>
                <a:cxn ang="0">
                  <a:pos x="T0" y="T1"/>
                </a:cxn>
                <a:cxn ang="0">
                  <a:pos x="T2" y="T3"/>
                </a:cxn>
                <a:cxn ang="0">
                  <a:pos x="T4" y="T5"/>
                </a:cxn>
                <a:cxn ang="0">
                  <a:pos x="T6" y="T7"/>
                </a:cxn>
              </a:cxnLst>
              <a:rect l="0" t="0" r="r" b="b"/>
              <a:pathLst>
                <a:path w="88" h="87">
                  <a:moveTo>
                    <a:pt x="0" y="87"/>
                  </a:moveTo>
                  <a:lnTo>
                    <a:pt x="88" y="37"/>
                  </a:lnTo>
                  <a:lnTo>
                    <a:pt x="53" y="0"/>
                  </a:lnTo>
                  <a:lnTo>
                    <a:pt x="0"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794" name="Freeform 10"/>
            <p:cNvSpPr>
              <a:spLocks/>
            </p:cNvSpPr>
            <p:nvPr/>
          </p:nvSpPr>
          <p:spPr bwMode="auto">
            <a:xfrm>
              <a:off x="2940" y="1798"/>
              <a:ext cx="58" cy="97"/>
            </a:xfrm>
            <a:custGeom>
              <a:avLst/>
              <a:gdLst>
                <a:gd name="T0" fmla="*/ 41 w 47"/>
                <a:gd name="T1" fmla="*/ 100 h 100"/>
                <a:gd name="T2" fmla="*/ 47 w 47"/>
                <a:gd name="T3" fmla="*/ 0 h 100"/>
                <a:gd name="T4" fmla="*/ 0 w 47"/>
                <a:gd name="T5" fmla="*/ 6 h 100"/>
                <a:gd name="T6" fmla="*/ 41 w 47"/>
                <a:gd name="T7" fmla="*/ 100 h 100"/>
              </a:gdLst>
              <a:ahLst/>
              <a:cxnLst>
                <a:cxn ang="0">
                  <a:pos x="T0" y="T1"/>
                </a:cxn>
                <a:cxn ang="0">
                  <a:pos x="T2" y="T3"/>
                </a:cxn>
                <a:cxn ang="0">
                  <a:pos x="T4" y="T5"/>
                </a:cxn>
                <a:cxn ang="0">
                  <a:pos x="T6" y="T7"/>
                </a:cxn>
              </a:cxnLst>
              <a:rect l="0" t="0" r="r" b="b"/>
              <a:pathLst>
                <a:path w="47" h="100">
                  <a:moveTo>
                    <a:pt x="41" y="100"/>
                  </a:moveTo>
                  <a:lnTo>
                    <a:pt x="47" y="0"/>
                  </a:lnTo>
                  <a:lnTo>
                    <a:pt x="0" y="6"/>
                  </a:lnTo>
                  <a:lnTo>
                    <a:pt x="41"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795" name="Rectangle 11"/>
            <p:cNvSpPr>
              <a:spLocks noChangeArrowheads="1"/>
            </p:cNvSpPr>
            <p:nvPr/>
          </p:nvSpPr>
          <p:spPr bwMode="auto">
            <a:xfrm>
              <a:off x="79" y="1041"/>
              <a:ext cx="3278" cy="148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2796" name="Rectangle 12"/>
            <p:cNvSpPr>
              <a:spLocks noChangeArrowheads="1"/>
            </p:cNvSpPr>
            <p:nvPr/>
          </p:nvSpPr>
          <p:spPr bwMode="auto">
            <a:xfrm>
              <a:off x="412" y="1916"/>
              <a:ext cx="84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WaitMyAddress</a:t>
              </a:r>
              <a:endParaRPr lang="en-US" altLang="en-US" sz="2800"/>
            </a:p>
          </p:txBody>
        </p:sp>
        <p:sp>
          <p:nvSpPr>
            <p:cNvPr id="502804" name="Rectangle 20"/>
            <p:cNvSpPr>
              <a:spLocks noChangeArrowheads="1"/>
            </p:cNvSpPr>
            <p:nvPr/>
          </p:nvSpPr>
          <p:spPr bwMode="auto">
            <a:xfrm>
              <a:off x="167" y="1062"/>
              <a:ext cx="22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Inputs: rd (bit); Q (32 bits); A, Faddr (4 bits)</a:t>
              </a:r>
              <a:endParaRPr lang="en-US" altLang="en-US" sz="2800"/>
            </a:p>
          </p:txBody>
        </p:sp>
        <p:sp>
          <p:nvSpPr>
            <p:cNvPr id="502811" name="Rectangle 27"/>
            <p:cNvSpPr>
              <a:spLocks noChangeArrowheads="1"/>
            </p:cNvSpPr>
            <p:nvPr/>
          </p:nvSpPr>
          <p:spPr bwMode="auto">
            <a:xfrm>
              <a:off x="167" y="1184"/>
              <a:ext cx="10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Outputs: D (32 bits)</a:t>
              </a:r>
              <a:endParaRPr lang="en-US" altLang="en-US" sz="2800"/>
            </a:p>
          </p:txBody>
        </p:sp>
        <p:sp>
          <p:nvSpPr>
            <p:cNvPr id="502814" name="Rectangle 30"/>
            <p:cNvSpPr>
              <a:spLocks noChangeArrowheads="1"/>
            </p:cNvSpPr>
            <p:nvPr/>
          </p:nvSpPr>
          <p:spPr bwMode="auto">
            <a:xfrm>
              <a:off x="167" y="1293"/>
              <a:ext cx="141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Local register: Q1 (32 bits)</a:t>
              </a:r>
              <a:endParaRPr lang="en-US" altLang="en-US" sz="2800"/>
            </a:p>
          </p:txBody>
        </p:sp>
        <p:sp>
          <p:nvSpPr>
            <p:cNvPr id="502823" name="Freeform 39"/>
            <p:cNvSpPr>
              <a:spLocks/>
            </p:cNvSpPr>
            <p:nvPr/>
          </p:nvSpPr>
          <p:spPr bwMode="auto">
            <a:xfrm>
              <a:off x="1224" y="1688"/>
              <a:ext cx="336" cy="248"/>
            </a:xfrm>
            <a:custGeom>
              <a:avLst/>
              <a:gdLst>
                <a:gd name="T0" fmla="*/ 60 w 88"/>
                <a:gd name="T1" fmla="*/ 82 h 82"/>
                <a:gd name="T2" fmla="*/ 70 w 88"/>
                <a:gd name="T3" fmla="*/ 31 h 82"/>
                <a:gd name="T4" fmla="*/ 0 w 88"/>
                <a:gd name="T5" fmla="*/ 50 h 82"/>
              </a:gdLst>
              <a:ahLst/>
              <a:cxnLst>
                <a:cxn ang="0">
                  <a:pos x="T0" y="T1"/>
                </a:cxn>
                <a:cxn ang="0">
                  <a:pos x="T2" y="T3"/>
                </a:cxn>
                <a:cxn ang="0">
                  <a:pos x="T4" y="T5"/>
                </a:cxn>
              </a:cxnLst>
              <a:rect l="0" t="0" r="r" b="b"/>
              <a:pathLst>
                <a:path w="88" h="82">
                  <a:moveTo>
                    <a:pt x="60" y="82"/>
                  </a:moveTo>
                  <a:cubicBezTo>
                    <a:pt x="60" y="82"/>
                    <a:pt x="88" y="56"/>
                    <a:pt x="70" y="31"/>
                  </a:cubicBezTo>
                  <a:cubicBezTo>
                    <a:pt x="70" y="31"/>
                    <a:pt x="42" y="0"/>
                    <a:pt x="0" y="5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2824" name="Freeform 40"/>
            <p:cNvSpPr>
              <a:spLocks/>
            </p:cNvSpPr>
            <p:nvPr/>
          </p:nvSpPr>
          <p:spPr bwMode="auto">
            <a:xfrm>
              <a:off x="842" y="1211"/>
              <a:ext cx="1740" cy="638"/>
            </a:xfrm>
            <a:custGeom>
              <a:avLst/>
              <a:gdLst>
                <a:gd name="T0" fmla="*/ 456 w 456"/>
                <a:gd name="T1" fmla="*/ 210 h 210"/>
                <a:gd name="T2" fmla="*/ 0 w 456"/>
                <a:gd name="T3" fmla="*/ 192 h 210"/>
              </a:gdLst>
              <a:ahLst/>
              <a:cxnLst>
                <a:cxn ang="0">
                  <a:pos x="T0" y="T1"/>
                </a:cxn>
                <a:cxn ang="0">
                  <a:pos x="T2" y="T3"/>
                </a:cxn>
              </a:cxnLst>
              <a:rect l="0" t="0" r="r" b="b"/>
              <a:pathLst>
                <a:path w="456" h="210">
                  <a:moveTo>
                    <a:pt x="456" y="210"/>
                  </a:moveTo>
                  <a:cubicBezTo>
                    <a:pt x="456" y="210"/>
                    <a:pt x="280" y="0"/>
                    <a:pt x="0" y="19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2825" name="Rectangle 41"/>
            <p:cNvSpPr>
              <a:spLocks noChangeArrowheads="1"/>
            </p:cNvSpPr>
            <p:nvPr/>
          </p:nvSpPr>
          <p:spPr bwMode="auto">
            <a:xfrm>
              <a:off x="2070" y="1451"/>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rd’</a:t>
              </a:r>
              <a:endParaRPr lang="en-US" altLang="en-US" sz="2800"/>
            </a:p>
          </p:txBody>
        </p:sp>
        <p:sp>
          <p:nvSpPr>
            <p:cNvPr id="502828" name="Rectangle 44"/>
            <p:cNvSpPr>
              <a:spLocks noChangeArrowheads="1"/>
            </p:cNvSpPr>
            <p:nvPr/>
          </p:nvSpPr>
          <p:spPr bwMode="auto">
            <a:xfrm>
              <a:off x="3055" y="1487"/>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rd</a:t>
              </a:r>
              <a:endParaRPr lang="en-US" altLang="en-US" sz="2800"/>
            </a:p>
          </p:txBody>
        </p:sp>
        <p:sp>
          <p:nvSpPr>
            <p:cNvPr id="502830" name="Freeform 46"/>
            <p:cNvSpPr>
              <a:spLocks/>
            </p:cNvSpPr>
            <p:nvPr/>
          </p:nvSpPr>
          <p:spPr bwMode="auto">
            <a:xfrm>
              <a:off x="2926" y="1524"/>
              <a:ext cx="449" cy="404"/>
            </a:xfrm>
            <a:custGeom>
              <a:avLst/>
              <a:gdLst>
                <a:gd name="T0" fmla="*/ 33 w 118"/>
                <a:gd name="T1" fmla="*/ 133 h 133"/>
                <a:gd name="T2" fmla="*/ 61 w 118"/>
                <a:gd name="T3" fmla="*/ 40 h 133"/>
                <a:gd name="T4" fmla="*/ 12 w 118"/>
                <a:gd name="T5" fmla="*/ 97 h 133"/>
              </a:gdLst>
              <a:ahLst/>
              <a:cxnLst>
                <a:cxn ang="0">
                  <a:pos x="T0" y="T1"/>
                </a:cxn>
                <a:cxn ang="0">
                  <a:pos x="T2" y="T3"/>
                </a:cxn>
                <a:cxn ang="0">
                  <a:pos x="T4" y="T5"/>
                </a:cxn>
              </a:cxnLst>
              <a:rect l="0" t="0" r="r" b="b"/>
              <a:pathLst>
                <a:path w="118" h="133">
                  <a:moveTo>
                    <a:pt x="33" y="133"/>
                  </a:moveTo>
                  <a:cubicBezTo>
                    <a:pt x="33" y="133"/>
                    <a:pt x="118" y="84"/>
                    <a:pt x="61" y="40"/>
                  </a:cubicBezTo>
                  <a:cubicBezTo>
                    <a:pt x="61" y="40"/>
                    <a:pt x="0" y="0"/>
                    <a:pt x="12" y="97"/>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2831" name="Rectangle 47"/>
            <p:cNvSpPr>
              <a:spLocks noChangeArrowheads="1"/>
            </p:cNvSpPr>
            <p:nvPr/>
          </p:nvSpPr>
          <p:spPr bwMode="auto">
            <a:xfrm>
              <a:off x="2380" y="1908"/>
              <a:ext cx="53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SendData</a:t>
              </a:r>
              <a:endParaRPr lang="en-US" altLang="en-US" sz="2800"/>
            </a:p>
          </p:txBody>
        </p:sp>
        <p:sp>
          <p:nvSpPr>
            <p:cNvPr id="502835" name="Rectangle 51"/>
            <p:cNvSpPr>
              <a:spLocks noChangeArrowheads="1"/>
            </p:cNvSpPr>
            <p:nvPr/>
          </p:nvSpPr>
          <p:spPr bwMode="auto">
            <a:xfrm>
              <a:off x="984" y="2079"/>
              <a:ext cx="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2800"/>
            </a:p>
          </p:txBody>
        </p:sp>
        <p:sp>
          <p:nvSpPr>
            <p:cNvPr id="502836" name="Rectangle 52"/>
            <p:cNvSpPr>
              <a:spLocks noChangeArrowheads="1"/>
            </p:cNvSpPr>
            <p:nvPr/>
          </p:nvSpPr>
          <p:spPr bwMode="auto">
            <a:xfrm>
              <a:off x="896" y="2079"/>
              <a:ext cx="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2800"/>
            </a:p>
          </p:txBody>
        </p:sp>
        <p:sp>
          <p:nvSpPr>
            <p:cNvPr id="502837" name="Rectangle 53"/>
            <p:cNvSpPr>
              <a:spLocks noChangeArrowheads="1"/>
            </p:cNvSpPr>
            <p:nvPr/>
          </p:nvSpPr>
          <p:spPr bwMode="auto">
            <a:xfrm>
              <a:off x="659" y="2149"/>
              <a:ext cx="40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“Z”</a:t>
              </a:r>
              <a:endParaRPr lang="en-US" altLang="en-US" sz="2800"/>
            </a:p>
          </p:txBody>
        </p:sp>
        <p:sp>
          <p:nvSpPr>
            <p:cNvPr id="502838" name="Rectangle 54"/>
            <p:cNvSpPr>
              <a:spLocks noChangeArrowheads="1"/>
            </p:cNvSpPr>
            <p:nvPr/>
          </p:nvSpPr>
          <p:spPr bwMode="auto">
            <a:xfrm>
              <a:off x="631" y="2260"/>
              <a:ext cx="38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Q1 = Q</a:t>
              </a:r>
              <a:endParaRPr lang="en-US" altLang="en-US" sz="2800"/>
            </a:p>
          </p:txBody>
        </p:sp>
        <p:sp>
          <p:nvSpPr>
            <p:cNvPr id="502839" name="Rectangle 55"/>
            <p:cNvSpPr>
              <a:spLocks noChangeArrowheads="1"/>
            </p:cNvSpPr>
            <p:nvPr/>
          </p:nvSpPr>
          <p:spPr bwMode="auto">
            <a:xfrm>
              <a:off x="1524" y="2026"/>
              <a:ext cx="61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 = Faddr)</a:t>
              </a:r>
              <a:endParaRPr lang="en-US" altLang="en-US" sz="2800"/>
            </a:p>
          </p:txBody>
        </p:sp>
        <p:sp>
          <p:nvSpPr>
            <p:cNvPr id="502843" name="Rectangle 59"/>
            <p:cNvSpPr>
              <a:spLocks noChangeArrowheads="1"/>
            </p:cNvSpPr>
            <p:nvPr/>
          </p:nvSpPr>
          <p:spPr bwMode="auto">
            <a:xfrm>
              <a:off x="1639" y="2134"/>
              <a:ext cx="34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and rd</a:t>
              </a:r>
              <a:endParaRPr lang="en-US" altLang="en-US" sz="2800"/>
            </a:p>
          </p:txBody>
        </p:sp>
        <p:sp>
          <p:nvSpPr>
            <p:cNvPr id="502846" name="Rectangle 62"/>
            <p:cNvSpPr>
              <a:spLocks noChangeArrowheads="1"/>
            </p:cNvSpPr>
            <p:nvPr/>
          </p:nvSpPr>
          <p:spPr bwMode="auto">
            <a:xfrm>
              <a:off x="1500" y="1627"/>
              <a:ext cx="65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 = Faddr)</a:t>
              </a:r>
              <a:endParaRPr lang="en-US" altLang="en-US" sz="2800"/>
            </a:p>
          </p:txBody>
        </p:sp>
        <p:sp>
          <p:nvSpPr>
            <p:cNvPr id="502851" name="Rectangle 67"/>
            <p:cNvSpPr>
              <a:spLocks noChangeArrowheads="1"/>
            </p:cNvSpPr>
            <p:nvPr/>
          </p:nvSpPr>
          <p:spPr bwMode="auto">
            <a:xfrm>
              <a:off x="1599" y="1737"/>
              <a:ext cx="4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and rd)’</a:t>
              </a:r>
              <a:endParaRPr lang="en-US" altLang="en-US" sz="2800"/>
            </a:p>
          </p:txBody>
        </p:sp>
        <p:sp>
          <p:nvSpPr>
            <p:cNvPr id="502854" name="Rectangle 70"/>
            <p:cNvSpPr>
              <a:spLocks noChangeArrowheads="1"/>
            </p:cNvSpPr>
            <p:nvPr/>
          </p:nvSpPr>
          <p:spPr bwMode="auto">
            <a:xfrm>
              <a:off x="1963" y="1728"/>
              <a:ext cx="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1500">
                <a:solidFill>
                  <a:srgbClr val="000000"/>
                </a:solidFill>
              </a:endParaRPr>
            </a:p>
          </p:txBody>
        </p:sp>
        <p:sp>
          <p:nvSpPr>
            <p:cNvPr id="502855" name="Rectangle 71"/>
            <p:cNvSpPr>
              <a:spLocks noChangeArrowheads="1"/>
            </p:cNvSpPr>
            <p:nvPr/>
          </p:nvSpPr>
          <p:spPr bwMode="auto">
            <a:xfrm>
              <a:off x="2451" y="2103"/>
              <a:ext cx="38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Q1</a:t>
              </a:r>
              <a:endParaRPr lang="en-US" altLang="en-US" sz="2800"/>
            </a:p>
          </p:txBody>
        </p:sp>
        <p:sp>
          <p:nvSpPr>
            <p:cNvPr id="502856" name="Oval 72"/>
            <p:cNvSpPr>
              <a:spLocks noChangeArrowheads="1"/>
            </p:cNvSpPr>
            <p:nvPr/>
          </p:nvSpPr>
          <p:spPr bwMode="auto">
            <a:xfrm>
              <a:off x="140" y="1833"/>
              <a:ext cx="1336" cy="277"/>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2857" name="Oval 73"/>
            <p:cNvSpPr>
              <a:spLocks noChangeArrowheads="1"/>
            </p:cNvSpPr>
            <p:nvPr/>
          </p:nvSpPr>
          <p:spPr bwMode="auto">
            <a:xfrm>
              <a:off x="2181" y="1849"/>
              <a:ext cx="892" cy="240"/>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02858" name="Rectangle 74"/>
          <p:cNvSpPr>
            <a:spLocks noGrp="1" noChangeArrowheads="1"/>
          </p:cNvSpPr>
          <p:nvPr>
            <p:ph type="body" idx="1"/>
          </p:nvPr>
        </p:nvSpPr>
        <p:spPr>
          <a:xfrm>
            <a:off x="228600" y="4462463"/>
            <a:ext cx="5056188" cy="1633537"/>
          </a:xfrm>
        </p:spPr>
        <p:txBody>
          <a:bodyPr/>
          <a:lstStyle/>
          <a:p>
            <a:r>
              <a:rPr lang="en-US" altLang="en-US"/>
              <a:t>Step 2: Create a datapath</a:t>
            </a:r>
          </a:p>
          <a:p>
            <a:pPr lvl="1">
              <a:buFontTx/>
              <a:buNone/>
            </a:pPr>
            <a:r>
              <a:rPr lang="en-US" altLang="en-US" sz="1600">
                <a:solidFill>
                  <a:schemeClr val="accent2"/>
                </a:solidFill>
              </a:rPr>
              <a:t>(a) Datapath inputs/outputs</a:t>
            </a:r>
          </a:p>
          <a:p>
            <a:pPr lvl="1">
              <a:buFontTx/>
              <a:buNone/>
            </a:pPr>
            <a:r>
              <a:rPr lang="en-US" altLang="en-US" sz="1600">
                <a:solidFill>
                  <a:srgbClr val="00FF00"/>
                </a:solidFill>
              </a:rPr>
              <a:t>(b) Instantiate declared registers</a:t>
            </a:r>
          </a:p>
          <a:p>
            <a:pPr lvl="1">
              <a:buFontTx/>
              <a:buNone/>
            </a:pPr>
            <a:r>
              <a:rPr lang="en-US" altLang="en-US" sz="1600">
                <a:solidFill>
                  <a:schemeClr val="hlink"/>
                </a:solidFill>
              </a:rPr>
              <a:t>(c) Instantiate datapath components and connections</a:t>
            </a:r>
          </a:p>
          <a:p>
            <a:pPr>
              <a:buFontTx/>
              <a:buNone/>
            </a:pPr>
            <a:endParaRPr lang="en-US" altLang="en-US" sz="1800">
              <a:solidFill>
                <a:schemeClr val="hlink"/>
              </a:solidFill>
            </a:endParaRPr>
          </a:p>
          <a:p>
            <a:pPr lvl="1"/>
            <a:endParaRPr lang="en-US" altLang="en-US"/>
          </a:p>
        </p:txBody>
      </p:sp>
      <p:grpSp>
        <p:nvGrpSpPr>
          <p:cNvPr id="503032" name="Group 248"/>
          <p:cNvGrpSpPr>
            <a:grpSpLocks/>
          </p:cNvGrpSpPr>
          <p:nvPr/>
        </p:nvGrpSpPr>
        <p:grpSpPr bwMode="auto">
          <a:xfrm>
            <a:off x="5484813" y="2441575"/>
            <a:ext cx="2827337" cy="2827338"/>
            <a:chOff x="3455" y="1538"/>
            <a:chExt cx="1781" cy="1781"/>
          </a:xfrm>
        </p:grpSpPr>
        <p:sp>
          <p:nvSpPr>
            <p:cNvPr id="502868" name="Rectangle 84"/>
            <p:cNvSpPr>
              <a:spLocks noChangeArrowheads="1"/>
            </p:cNvSpPr>
            <p:nvPr/>
          </p:nvSpPr>
          <p:spPr bwMode="auto">
            <a:xfrm>
              <a:off x="4131" y="1538"/>
              <a:ext cx="1105" cy="160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2948" name="Rectangle 164"/>
            <p:cNvSpPr>
              <a:spLocks noChangeArrowheads="1"/>
            </p:cNvSpPr>
            <p:nvPr/>
          </p:nvSpPr>
          <p:spPr bwMode="auto">
            <a:xfrm>
              <a:off x="4191" y="2991"/>
              <a:ext cx="48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Datapath</a:t>
              </a:r>
              <a:endParaRPr lang="en-US" altLang="en-US" sz="2800"/>
            </a:p>
          </p:txBody>
        </p:sp>
        <p:sp>
          <p:nvSpPr>
            <p:cNvPr id="502953" name="Rectangle 169"/>
            <p:cNvSpPr>
              <a:spLocks noChangeArrowheads="1"/>
            </p:cNvSpPr>
            <p:nvPr/>
          </p:nvSpPr>
          <p:spPr bwMode="auto">
            <a:xfrm>
              <a:off x="3455" y="3175"/>
              <a:ext cx="70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Bus interface</a:t>
              </a:r>
              <a:endParaRPr lang="en-US" altLang="en-US" sz="2800"/>
            </a:p>
          </p:txBody>
        </p:sp>
      </p:grpSp>
      <p:grpSp>
        <p:nvGrpSpPr>
          <p:cNvPr id="503003" name="Group 219"/>
          <p:cNvGrpSpPr>
            <a:grpSpLocks/>
          </p:cNvGrpSpPr>
          <p:nvPr/>
        </p:nvGrpSpPr>
        <p:grpSpPr bwMode="auto">
          <a:xfrm>
            <a:off x="2363788" y="2033588"/>
            <a:ext cx="5865812" cy="1200150"/>
            <a:chOff x="1489" y="1281"/>
            <a:chExt cx="3695" cy="756"/>
          </a:xfrm>
        </p:grpSpPr>
        <p:grpSp>
          <p:nvGrpSpPr>
            <p:cNvPr id="503001" name="Group 217"/>
            <p:cNvGrpSpPr>
              <a:grpSpLocks/>
            </p:cNvGrpSpPr>
            <p:nvPr/>
          </p:nvGrpSpPr>
          <p:grpSpPr bwMode="auto">
            <a:xfrm>
              <a:off x="3413" y="1723"/>
              <a:ext cx="1771" cy="314"/>
              <a:chOff x="3413" y="1723"/>
              <a:chExt cx="1771" cy="314"/>
            </a:xfrm>
          </p:grpSpPr>
          <p:sp>
            <p:nvSpPr>
              <p:cNvPr id="502930" name="Line 146"/>
              <p:cNvSpPr>
                <a:spLocks noChangeShapeType="1"/>
              </p:cNvSpPr>
              <p:nvPr/>
            </p:nvSpPr>
            <p:spPr bwMode="auto">
              <a:xfrm>
                <a:off x="3413" y="1888"/>
                <a:ext cx="1218"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31" name="Freeform 147"/>
              <p:cNvSpPr>
                <a:spLocks/>
              </p:cNvSpPr>
              <p:nvPr/>
            </p:nvSpPr>
            <p:spPr bwMode="auto">
              <a:xfrm>
                <a:off x="4617" y="1859"/>
                <a:ext cx="116" cy="5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65" name="Rectangle 181"/>
              <p:cNvSpPr>
                <a:spLocks noChangeArrowheads="1"/>
              </p:cNvSpPr>
              <p:nvPr/>
            </p:nvSpPr>
            <p:spPr bwMode="auto">
              <a:xfrm>
                <a:off x="3625" y="1723"/>
                <a:ext cx="30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Q1_ld</a:t>
                </a:r>
                <a:endParaRPr lang="en-US" altLang="en-US" sz="2800"/>
              </a:p>
            </p:txBody>
          </p:sp>
          <p:sp>
            <p:nvSpPr>
              <p:cNvPr id="502966" name="Rectangle 182"/>
              <p:cNvSpPr>
                <a:spLocks noChangeArrowheads="1"/>
              </p:cNvSpPr>
              <p:nvPr/>
            </p:nvSpPr>
            <p:spPr bwMode="auto">
              <a:xfrm>
                <a:off x="4752" y="1819"/>
                <a:ext cx="93"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ld</a:t>
                </a:r>
                <a:endParaRPr lang="en-US" altLang="en-US" sz="2800"/>
              </a:p>
            </p:txBody>
          </p:sp>
          <p:sp>
            <p:nvSpPr>
              <p:cNvPr id="502969" name="Rectangle 185"/>
              <p:cNvSpPr>
                <a:spLocks noChangeArrowheads="1"/>
              </p:cNvSpPr>
              <p:nvPr/>
            </p:nvSpPr>
            <p:spPr bwMode="auto">
              <a:xfrm>
                <a:off x="4906" y="1877"/>
                <a:ext cx="14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Q1</a:t>
                </a:r>
                <a:endParaRPr lang="en-US" altLang="en-US" sz="2800"/>
              </a:p>
            </p:txBody>
          </p:sp>
          <p:sp>
            <p:nvSpPr>
              <p:cNvPr id="502970" name="Freeform 186"/>
              <p:cNvSpPr>
                <a:spLocks/>
              </p:cNvSpPr>
              <p:nvPr/>
            </p:nvSpPr>
            <p:spPr bwMode="auto">
              <a:xfrm>
                <a:off x="4740" y="1946"/>
                <a:ext cx="91" cy="91"/>
              </a:xfrm>
              <a:custGeom>
                <a:avLst/>
                <a:gdLst>
                  <a:gd name="T0" fmla="*/ 0 w 78"/>
                  <a:gd name="T1" fmla="*/ 78 h 78"/>
                  <a:gd name="T2" fmla="*/ 78 w 78"/>
                  <a:gd name="T3" fmla="*/ 38 h 78"/>
                  <a:gd name="T4" fmla="*/ 0 w 78"/>
                  <a:gd name="T5" fmla="*/ 0 h 78"/>
                </a:gdLst>
                <a:ahLst/>
                <a:cxnLst>
                  <a:cxn ang="0">
                    <a:pos x="T0" y="T1"/>
                  </a:cxn>
                  <a:cxn ang="0">
                    <a:pos x="T2" y="T3"/>
                  </a:cxn>
                  <a:cxn ang="0">
                    <a:pos x="T4" y="T5"/>
                  </a:cxn>
                </a:cxnLst>
                <a:rect l="0" t="0" r="r" b="b"/>
                <a:pathLst>
                  <a:path w="78" h="78">
                    <a:moveTo>
                      <a:pt x="0" y="78"/>
                    </a:moveTo>
                    <a:lnTo>
                      <a:pt x="78" y="38"/>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2989" name="Rectangle 205"/>
              <p:cNvSpPr>
                <a:spLocks noChangeArrowheads="1"/>
              </p:cNvSpPr>
              <p:nvPr/>
            </p:nvSpPr>
            <p:spPr bwMode="auto">
              <a:xfrm>
                <a:off x="4717" y="1750"/>
                <a:ext cx="467" cy="282"/>
              </a:xfrm>
              <a:prstGeom prst="rect">
                <a:avLst/>
              </a:prstGeom>
              <a:noFill/>
              <a:ln w="9525">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02990" name="Freeform 206"/>
            <p:cNvSpPr>
              <a:spLocks/>
            </p:cNvSpPr>
            <p:nvPr/>
          </p:nvSpPr>
          <p:spPr bwMode="auto">
            <a:xfrm>
              <a:off x="1489" y="1281"/>
              <a:ext cx="3336" cy="480"/>
            </a:xfrm>
            <a:custGeom>
              <a:avLst/>
              <a:gdLst>
                <a:gd name="T0" fmla="*/ 0 w 3336"/>
                <a:gd name="T1" fmla="*/ 77 h 480"/>
                <a:gd name="T2" fmla="*/ 2206 w 3336"/>
                <a:gd name="T3" fmla="*/ 67 h 480"/>
                <a:gd name="T4" fmla="*/ 3336 w 3336"/>
                <a:gd name="T5" fmla="*/ 480 h 480"/>
              </a:gdLst>
              <a:ahLst/>
              <a:cxnLst>
                <a:cxn ang="0">
                  <a:pos x="T0" y="T1"/>
                </a:cxn>
                <a:cxn ang="0">
                  <a:pos x="T2" y="T3"/>
                </a:cxn>
                <a:cxn ang="0">
                  <a:pos x="T4" y="T5"/>
                </a:cxn>
              </a:cxnLst>
              <a:rect l="0" t="0" r="r" b="b"/>
              <a:pathLst>
                <a:path w="3336" h="480">
                  <a:moveTo>
                    <a:pt x="0" y="77"/>
                  </a:moveTo>
                  <a:cubicBezTo>
                    <a:pt x="825" y="38"/>
                    <a:pt x="1650" y="0"/>
                    <a:pt x="2206" y="67"/>
                  </a:cubicBezTo>
                  <a:cubicBezTo>
                    <a:pt x="2762" y="134"/>
                    <a:pt x="3049" y="307"/>
                    <a:pt x="3336" y="480"/>
                  </a:cubicBezTo>
                </a:path>
              </a:pathLst>
            </a:custGeom>
            <a:noFill/>
            <a:ln w="9525">
              <a:solidFill>
                <a:srgbClr val="00FF00"/>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03028" name="Group 244"/>
          <p:cNvGrpSpPr>
            <a:grpSpLocks/>
          </p:cNvGrpSpPr>
          <p:nvPr/>
        </p:nvGrpSpPr>
        <p:grpSpPr bwMode="auto">
          <a:xfrm>
            <a:off x="1398588" y="1495425"/>
            <a:ext cx="6792912" cy="1870075"/>
            <a:chOff x="881" y="942"/>
            <a:chExt cx="4279" cy="1178"/>
          </a:xfrm>
        </p:grpSpPr>
        <p:grpSp>
          <p:nvGrpSpPr>
            <p:cNvPr id="503027" name="Group 243"/>
            <p:cNvGrpSpPr>
              <a:grpSpLocks/>
            </p:cNvGrpSpPr>
            <p:nvPr/>
          </p:nvGrpSpPr>
          <p:grpSpPr bwMode="auto">
            <a:xfrm>
              <a:off x="4137" y="1277"/>
              <a:ext cx="1023" cy="843"/>
              <a:chOff x="4137" y="1277"/>
              <a:chExt cx="1023" cy="843"/>
            </a:xfrm>
          </p:grpSpPr>
          <p:sp>
            <p:nvSpPr>
              <p:cNvPr id="502985" name="Rectangle 201"/>
              <p:cNvSpPr>
                <a:spLocks noChangeArrowheads="1"/>
              </p:cNvSpPr>
              <p:nvPr/>
            </p:nvSpPr>
            <p:spPr bwMode="auto">
              <a:xfrm>
                <a:off x="4560" y="129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a:t>
                </a:r>
                <a:endParaRPr lang="en-US" altLang="en-US" sz="2800"/>
              </a:p>
            </p:txBody>
          </p:sp>
          <p:sp>
            <p:nvSpPr>
              <p:cNvPr id="502987" name="Rectangle 203"/>
              <p:cNvSpPr>
                <a:spLocks noChangeArrowheads="1"/>
              </p:cNvSpPr>
              <p:nvPr/>
            </p:nvSpPr>
            <p:spPr bwMode="auto">
              <a:xfrm>
                <a:off x="5014" y="1294"/>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a:t>
                </a:r>
                <a:endParaRPr lang="en-US" altLang="en-US" sz="2800"/>
              </a:p>
            </p:txBody>
          </p:sp>
          <p:sp>
            <p:nvSpPr>
              <p:cNvPr id="502986" name="Rectangle 202"/>
              <p:cNvSpPr>
                <a:spLocks noChangeArrowheads="1"/>
              </p:cNvSpPr>
              <p:nvPr/>
            </p:nvSpPr>
            <p:spPr bwMode="auto">
              <a:xfrm>
                <a:off x="4611" y="1294"/>
                <a:ext cx="21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addr</a:t>
                </a:r>
                <a:endParaRPr lang="en-US" altLang="en-US" sz="2800"/>
              </a:p>
            </p:txBody>
          </p:sp>
          <p:sp>
            <p:nvSpPr>
              <p:cNvPr id="502925" name="Line 141"/>
              <p:cNvSpPr>
                <a:spLocks noChangeShapeType="1"/>
              </p:cNvSpPr>
              <p:nvPr/>
            </p:nvSpPr>
            <p:spPr bwMode="auto">
              <a:xfrm>
                <a:off x="4262" y="1280"/>
                <a:ext cx="1" cy="76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26" name="Freeform 142"/>
              <p:cNvSpPr>
                <a:spLocks/>
              </p:cNvSpPr>
              <p:nvPr/>
            </p:nvSpPr>
            <p:spPr bwMode="auto">
              <a:xfrm>
                <a:off x="4233" y="2004"/>
                <a:ext cx="58" cy="116"/>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27" name="Line 143"/>
              <p:cNvSpPr>
                <a:spLocks noChangeShapeType="1"/>
              </p:cNvSpPr>
              <p:nvPr/>
            </p:nvSpPr>
            <p:spPr bwMode="auto">
              <a:xfrm>
                <a:off x="4521" y="1280"/>
                <a:ext cx="1" cy="76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28" name="Freeform 144"/>
              <p:cNvSpPr>
                <a:spLocks/>
              </p:cNvSpPr>
              <p:nvPr/>
            </p:nvSpPr>
            <p:spPr bwMode="auto">
              <a:xfrm>
                <a:off x="4492" y="2004"/>
                <a:ext cx="58" cy="116"/>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29" name="Line 145"/>
              <p:cNvSpPr>
                <a:spLocks noChangeShapeType="1"/>
              </p:cNvSpPr>
              <p:nvPr/>
            </p:nvSpPr>
            <p:spPr bwMode="auto">
              <a:xfrm>
                <a:off x="4970" y="1277"/>
                <a:ext cx="1" cy="41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36" name="Freeform 152"/>
              <p:cNvSpPr>
                <a:spLocks/>
              </p:cNvSpPr>
              <p:nvPr/>
            </p:nvSpPr>
            <p:spPr bwMode="auto">
              <a:xfrm>
                <a:off x="4215" y="1570"/>
                <a:ext cx="98" cy="94"/>
              </a:xfrm>
              <a:custGeom>
                <a:avLst/>
                <a:gdLst>
                  <a:gd name="T0" fmla="*/ 84 w 84"/>
                  <a:gd name="T1" fmla="*/ 0 h 81"/>
                  <a:gd name="T2" fmla="*/ 0 w 84"/>
                  <a:gd name="T3" fmla="*/ 81 h 81"/>
                  <a:gd name="T4" fmla="*/ 84 w 84"/>
                  <a:gd name="T5" fmla="*/ 0 h 81"/>
                </a:gdLst>
                <a:ahLst/>
                <a:cxnLst>
                  <a:cxn ang="0">
                    <a:pos x="T0" y="T1"/>
                  </a:cxn>
                  <a:cxn ang="0">
                    <a:pos x="T2" y="T3"/>
                  </a:cxn>
                  <a:cxn ang="0">
                    <a:pos x="T4" y="T5"/>
                  </a:cxn>
                </a:cxnLst>
                <a:rect l="0" t="0" r="r" b="b"/>
                <a:pathLst>
                  <a:path w="84" h="81">
                    <a:moveTo>
                      <a:pt x="84" y="0"/>
                    </a:moveTo>
                    <a:lnTo>
                      <a:pt x="0" y="81"/>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37" name="Line 153"/>
              <p:cNvSpPr>
                <a:spLocks noChangeShapeType="1"/>
              </p:cNvSpPr>
              <p:nvPr/>
            </p:nvSpPr>
            <p:spPr bwMode="auto">
              <a:xfrm flipH="1">
                <a:off x="4215" y="1570"/>
                <a:ext cx="98" cy="9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38" name="Freeform 154"/>
              <p:cNvSpPr>
                <a:spLocks/>
              </p:cNvSpPr>
              <p:nvPr/>
            </p:nvSpPr>
            <p:spPr bwMode="auto">
              <a:xfrm>
                <a:off x="4474" y="1570"/>
                <a:ext cx="95" cy="94"/>
              </a:xfrm>
              <a:custGeom>
                <a:avLst/>
                <a:gdLst>
                  <a:gd name="T0" fmla="*/ 81 w 81"/>
                  <a:gd name="T1" fmla="*/ 0 h 81"/>
                  <a:gd name="T2" fmla="*/ 0 w 81"/>
                  <a:gd name="T3" fmla="*/ 81 h 81"/>
                  <a:gd name="T4" fmla="*/ 81 w 81"/>
                  <a:gd name="T5" fmla="*/ 0 h 81"/>
                </a:gdLst>
                <a:ahLst/>
                <a:cxnLst>
                  <a:cxn ang="0">
                    <a:pos x="T0" y="T1"/>
                  </a:cxn>
                  <a:cxn ang="0">
                    <a:pos x="T2" y="T3"/>
                  </a:cxn>
                  <a:cxn ang="0">
                    <a:pos x="T4" y="T5"/>
                  </a:cxn>
                </a:cxnLst>
                <a:rect l="0" t="0" r="r" b="b"/>
                <a:pathLst>
                  <a:path w="81" h="81">
                    <a:moveTo>
                      <a:pt x="81" y="0"/>
                    </a:moveTo>
                    <a:lnTo>
                      <a:pt x="0" y="81"/>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39" name="Line 155"/>
              <p:cNvSpPr>
                <a:spLocks noChangeShapeType="1"/>
              </p:cNvSpPr>
              <p:nvPr/>
            </p:nvSpPr>
            <p:spPr bwMode="auto">
              <a:xfrm flipH="1">
                <a:off x="4474" y="1570"/>
                <a:ext cx="95" cy="9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40" name="Freeform 156"/>
              <p:cNvSpPr>
                <a:spLocks/>
              </p:cNvSpPr>
              <p:nvPr/>
            </p:nvSpPr>
            <p:spPr bwMode="auto">
              <a:xfrm>
                <a:off x="4926" y="1566"/>
                <a:ext cx="94" cy="98"/>
              </a:xfrm>
              <a:custGeom>
                <a:avLst/>
                <a:gdLst>
                  <a:gd name="T0" fmla="*/ 81 w 81"/>
                  <a:gd name="T1" fmla="*/ 0 h 84"/>
                  <a:gd name="T2" fmla="*/ 0 w 81"/>
                  <a:gd name="T3" fmla="*/ 84 h 84"/>
                  <a:gd name="T4" fmla="*/ 81 w 81"/>
                  <a:gd name="T5" fmla="*/ 0 h 84"/>
                </a:gdLst>
                <a:ahLst/>
                <a:cxnLst>
                  <a:cxn ang="0">
                    <a:pos x="T0" y="T1"/>
                  </a:cxn>
                  <a:cxn ang="0">
                    <a:pos x="T2" y="T3"/>
                  </a:cxn>
                  <a:cxn ang="0">
                    <a:pos x="T4" y="T5"/>
                  </a:cxn>
                </a:cxnLst>
                <a:rect l="0" t="0" r="r" b="b"/>
                <a:pathLst>
                  <a:path w="81" h="84">
                    <a:moveTo>
                      <a:pt x="81" y="0"/>
                    </a:moveTo>
                    <a:lnTo>
                      <a:pt x="0" y="84"/>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41" name="Line 157"/>
              <p:cNvSpPr>
                <a:spLocks noChangeShapeType="1"/>
              </p:cNvSpPr>
              <p:nvPr/>
            </p:nvSpPr>
            <p:spPr bwMode="auto">
              <a:xfrm flipH="1">
                <a:off x="4926" y="1566"/>
                <a:ext cx="94" cy="9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71" name="Rectangle 187"/>
              <p:cNvSpPr>
                <a:spLocks noChangeArrowheads="1"/>
              </p:cNvSpPr>
              <p:nvPr/>
            </p:nvSpPr>
            <p:spPr bwMode="auto">
              <a:xfrm>
                <a:off x="4305" y="156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4</a:t>
                </a:r>
                <a:endParaRPr lang="en-US" altLang="en-US" sz="2800"/>
              </a:p>
            </p:txBody>
          </p:sp>
          <p:sp>
            <p:nvSpPr>
              <p:cNvPr id="502972" name="Rectangle 188"/>
              <p:cNvSpPr>
                <a:spLocks noChangeArrowheads="1"/>
              </p:cNvSpPr>
              <p:nvPr/>
            </p:nvSpPr>
            <p:spPr bwMode="auto">
              <a:xfrm>
                <a:off x="4576" y="156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4</a:t>
                </a:r>
                <a:endParaRPr lang="en-US" altLang="en-US" sz="2800"/>
              </a:p>
            </p:txBody>
          </p:sp>
          <p:sp>
            <p:nvSpPr>
              <p:cNvPr id="502973" name="Rectangle 189"/>
              <p:cNvSpPr>
                <a:spLocks noChangeArrowheads="1"/>
              </p:cNvSpPr>
              <p:nvPr/>
            </p:nvSpPr>
            <p:spPr bwMode="auto">
              <a:xfrm>
                <a:off x="5040" y="1564"/>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sp>
            <p:nvSpPr>
              <p:cNvPr id="502984" name="Rectangle 200"/>
              <p:cNvSpPr>
                <a:spLocks noChangeArrowheads="1"/>
              </p:cNvSpPr>
              <p:nvPr/>
            </p:nvSpPr>
            <p:spPr bwMode="auto">
              <a:xfrm>
                <a:off x="4137" y="1294"/>
                <a:ext cx="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a:t>
                </a:r>
                <a:endParaRPr lang="en-US" altLang="en-US" sz="2800"/>
              </a:p>
            </p:txBody>
          </p:sp>
        </p:grpSp>
        <p:grpSp>
          <p:nvGrpSpPr>
            <p:cNvPr id="502994" name="Group 210"/>
            <p:cNvGrpSpPr>
              <a:grpSpLocks/>
            </p:cNvGrpSpPr>
            <p:nvPr/>
          </p:nvGrpSpPr>
          <p:grpSpPr bwMode="auto">
            <a:xfrm>
              <a:off x="881" y="942"/>
              <a:ext cx="4194" cy="427"/>
              <a:chOff x="881" y="942"/>
              <a:chExt cx="4194" cy="427"/>
            </a:xfrm>
          </p:grpSpPr>
          <p:sp>
            <p:nvSpPr>
              <p:cNvPr id="502991" name="Freeform 207"/>
              <p:cNvSpPr>
                <a:spLocks/>
              </p:cNvSpPr>
              <p:nvPr/>
            </p:nvSpPr>
            <p:spPr bwMode="auto">
              <a:xfrm>
                <a:off x="2402" y="942"/>
                <a:ext cx="2141" cy="264"/>
              </a:xfrm>
              <a:custGeom>
                <a:avLst/>
                <a:gdLst>
                  <a:gd name="T0" fmla="*/ 0 w 2228"/>
                  <a:gd name="T1" fmla="*/ 177 h 264"/>
                  <a:gd name="T2" fmla="*/ 1391 w 2228"/>
                  <a:gd name="T3" fmla="*/ 14 h 264"/>
                  <a:gd name="T4" fmla="*/ 2228 w 2228"/>
                  <a:gd name="T5" fmla="*/ 264 h 264"/>
                </a:gdLst>
                <a:ahLst/>
                <a:cxnLst>
                  <a:cxn ang="0">
                    <a:pos x="T0" y="T1"/>
                  </a:cxn>
                  <a:cxn ang="0">
                    <a:pos x="T2" y="T3"/>
                  </a:cxn>
                  <a:cxn ang="0">
                    <a:pos x="T4" y="T5"/>
                  </a:cxn>
                </a:cxnLst>
                <a:rect l="0" t="0" r="r" b="b"/>
                <a:pathLst>
                  <a:path w="2228" h="264">
                    <a:moveTo>
                      <a:pt x="0" y="177"/>
                    </a:moveTo>
                    <a:cubicBezTo>
                      <a:pt x="510" y="88"/>
                      <a:pt x="1020" y="0"/>
                      <a:pt x="1391" y="14"/>
                    </a:cubicBezTo>
                    <a:cubicBezTo>
                      <a:pt x="1762" y="28"/>
                      <a:pt x="1995" y="146"/>
                      <a:pt x="2228" y="264"/>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2992" name="Oval 208"/>
              <p:cNvSpPr>
                <a:spLocks noChangeArrowheads="1"/>
              </p:cNvSpPr>
              <p:nvPr/>
            </p:nvSpPr>
            <p:spPr bwMode="auto">
              <a:xfrm>
                <a:off x="4184" y="1163"/>
                <a:ext cx="891" cy="206"/>
              </a:xfrm>
              <a:prstGeom prst="ellipse">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2993" name="Oval 209"/>
              <p:cNvSpPr>
                <a:spLocks noChangeArrowheads="1"/>
              </p:cNvSpPr>
              <p:nvPr/>
            </p:nvSpPr>
            <p:spPr bwMode="auto">
              <a:xfrm>
                <a:off x="881" y="1021"/>
                <a:ext cx="1544" cy="206"/>
              </a:xfrm>
              <a:prstGeom prst="ellipse">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grpSp>
        <p:nvGrpSpPr>
          <p:cNvPr id="503017" name="Group 233"/>
          <p:cNvGrpSpPr>
            <a:grpSpLocks/>
          </p:cNvGrpSpPr>
          <p:nvPr/>
        </p:nvGrpSpPr>
        <p:grpSpPr bwMode="auto">
          <a:xfrm>
            <a:off x="1743075" y="3536950"/>
            <a:ext cx="6332538" cy="1123950"/>
            <a:chOff x="1098" y="2228"/>
            <a:chExt cx="3989" cy="708"/>
          </a:xfrm>
        </p:grpSpPr>
        <p:grpSp>
          <p:nvGrpSpPr>
            <p:cNvPr id="503016" name="Group 232"/>
            <p:cNvGrpSpPr>
              <a:grpSpLocks/>
            </p:cNvGrpSpPr>
            <p:nvPr/>
          </p:nvGrpSpPr>
          <p:grpSpPr bwMode="auto">
            <a:xfrm>
              <a:off x="3416" y="2453"/>
              <a:ext cx="1671" cy="297"/>
              <a:chOff x="3416" y="2453"/>
              <a:chExt cx="1671" cy="297"/>
            </a:xfrm>
          </p:grpSpPr>
          <p:sp>
            <p:nvSpPr>
              <p:cNvPr id="502932" name="Line 148"/>
              <p:cNvSpPr>
                <a:spLocks noChangeShapeType="1"/>
              </p:cNvSpPr>
              <p:nvPr/>
            </p:nvSpPr>
            <p:spPr bwMode="auto">
              <a:xfrm>
                <a:off x="3416" y="2573"/>
                <a:ext cx="141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33" name="Freeform 149"/>
              <p:cNvSpPr>
                <a:spLocks/>
              </p:cNvSpPr>
              <p:nvPr/>
            </p:nvSpPr>
            <p:spPr bwMode="auto">
              <a:xfrm>
                <a:off x="4813" y="2547"/>
                <a:ext cx="116" cy="5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64" name="Rectangle 180"/>
              <p:cNvSpPr>
                <a:spLocks noChangeArrowheads="1"/>
              </p:cNvSpPr>
              <p:nvPr/>
            </p:nvSpPr>
            <p:spPr bwMode="auto">
              <a:xfrm>
                <a:off x="3642" y="2606"/>
                <a:ext cx="2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D_en</a:t>
                </a:r>
                <a:endParaRPr lang="en-US" altLang="en-US" sz="2800"/>
              </a:p>
            </p:txBody>
          </p:sp>
          <p:sp>
            <p:nvSpPr>
              <p:cNvPr id="502983" name="Freeform 199"/>
              <p:cNvSpPr>
                <a:spLocks/>
              </p:cNvSpPr>
              <p:nvPr/>
            </p:nvSpPr>
            <p:spPr bwMode="auto">
              <a:xfrm>
                <a:off x="4860" y="2453"/>
                <a:ext cx="227" cy="178"/>
              </a:xfrm>
              <a:custGeom>
                <a:avLst/>
                <a:gdLst>
                  <a:gd name="T0" fmla="*/ 0 w 194"/>
                  <a:gd name="T1" fmla="*/ 0 h 153"/>
                  <a:gd name="T2" fmla="*/ 97 w 194"/>
                  <a:gd name="T3" fmla="*/ 153 h 153"/>
                  <a:gd name="T4" fmla="*/ 194 w 194"/>
                  <a:gd name="T5" fmla="*/ 0 h 153"/>
                  <a:gd name="T6" fmla="*/ 0 w 194"/>
                  <a:gd name="T7" fmla="*/ 0 h 153"/>
                </a:gdLst>
                <a:ahLst/>
                <a:cxnLst>
                  <a:cxn ang="0">
                    <a:pos x="T0" y="T1"/>
                  </a:cxn>
                  <a:cxn ang="0">
                    <a:pos x="T2" y="T3"/>
                  </a:cxn>
                  <a:cxn ang="0">
                    <a:pos x="T4" y="T5"/>
                  </a:cxn>
                  <a:cxn ang="0">
                    <a:pos x="T6" y="T7"/>
                  </a:cxn>
                </a:cxnLst>
                <a:rect l="0" t="0" r="r" b="b"/>
                <a:pathLst>
                  <a:path w="194" h="153">
                    <a:moveTo>
                      <a:pt x="0" y="0"/>
                    </a:moveTo>
                    <a:lnTo>
                      <a:pt x="97" y="153"/>
                    </a:lnTo>
                    <a:lnTo>
                      <a:pt x="194" y="0"/>
                    </a:lnTo>
                    <a:lnTo>
                      <a:pt x="0" y="0"/>
                    </a:lnTo>
                    <a:close/>
                  </a:path>
                </a:pathLst>
              </a:custGeom>
              <a:solidFill>
                <a:srgbClr val="FFFFFF"/>
              </a:solidFill>
              <a:ln w="15875" cap="flat">
                <a:solidFill>
                  <a:srgbClr val="0078C1"/>
                </a:solidFill>
                <a:prstDash val="solid"/>
                <a:miter lim="800000"/>
                <a:headEnd/>
                <a:tailEnd/>
              </a:ln>
            </p:spPr>
            <p:txBody>
              <a:bodyPr/>
              <a:lstStyle/>
              <a:p>
                <a:endParaRPr lang="en-US"/>
              </a:p>
            </p:txBody>
          </p:sp>
        </p:grpSp>
        <p:sp>
          <p:nvSpPr>
            <p:cNvPr id="503004" name="Freeform 220"/>
            <p:cNvSpPr>
              <a:spLocks/>
            </p:cNvSpPr>
            <p:nvPr/>
          </p:nvSpPr>
          <p:spPr bwMode="auto">
            <a:xfrm>
              <a:off x="1098" y="2228"/>
              <a:ext cx="3814" cy="708"/>
            </a:xfrm>
            <a:custGeom>
              <a:avLst/>
              <a:gdLst>
                <a:gd name="T0" fmla="*/ 0 w 3814"/>
                <a:gd name="T1" fmla="*/ 0 h 708"/>
                <a:gd name="T2" fmla="*/ 2880 w 3814"/>
                <a:gd name="T3" fmla="*/ 641 h 708"/>
                <a:gd name="T4" fmla="*/ 3814 w 3814"/>
                <a:gd name="T5" fmla="*/ 402 h 708"/>
              </a:gdLst>
              <a:ahLst/>
              <a:cxnLst>
                <a:cxn ang="0">
                  <a:pos x="T0" y="T1"/>
                </a:cxn>
                <a:cxn ang="0">
                  <a:pos x="T2" y="T3"/>
                </a:cxn>
                <a:cxn ang="0">
                  <a:pos x="T4" y="T5"/>
                </a:cxn>
              </a:cxnLst>
              <a:rect l="0" t="0" r="r" b="b"/>
              <a:pathLst>
                <a:path w="3814" h="708">
                  <a:moveTo>
                    <a:pt x="0" y="0"/>
                  </a:moveTo>
                  <a:cubicBezTo>
                    <a:pt x="1122" y="287"/>
                    <a:pt x="2244" y="574"/>
                    <a:pt x="2880" y="641"/>
                  </a:cubicBezTo>
                  <a:cubicBezTo>
                    <a:pt x="3516" y="708"/>
                    <a:pt x="3665" y="555"/>
                    <a:pt x="3814" y="402"/>
                  </a:cubicBezTo>
                </a:path>
              </a:pathLst>
            </a:custGeom>
            <a:noFill/>
            <a:ln w="9525">
              <a:solidFill>
                <a:schemeClr val="hlink"/>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03009" name="Group 225"/>
          <p:cNvGrpSpPr>
            <a:grpSpLocks/>
          </p:cNvGrpSpPr>
          <p:nvPr/>
        </p:nvGrpSpPr>
        <p:grpSpPr bwMode="auto">
          <a:xfrm>
            <a:off x="1655763" y="2413000"/>
            <a:ext cx="7126287" cy="2420938"/>
            <a:chOff x="1043" y="1520"/>
            <a:chExt cx="4489" cy="1525"/>
          </a:xfrm>
        </p:grpSpPr>
        <p:sp>
          <p:nvSpPr>
            <p:cNvPr id="503007" name="Freeform 223"/>
            <p:cNvSpPr>
              <a:spLocks/>
            </p:cNvSpPr>
            <p:nvPr/>
          </p:nvSpPr>
          <p:spPr bwMode="auto">
            <a:xfrm>
              <a:off x="1043" y="1520"/>
              <a:ext cx="4489" cy="1525"/>
            </a:xfrm>
            <a:custGeom>
              <a:avLst/>
              <a:gdLst>
                <a:gd name="T0" fmla="*/ 0 w 4489"/>
                <a:gd name="T1" fmla="*/ 827 h 1525"/>
                <a:gd name="T2" fmla="*/ 2880 w 4489"/>
                <a:gd name="T3" fmla="*/ 1469 h 1525"/>
                <a:gd name="T4" fmla="*/ 4261 w 4489"/>
                <a:gd name="T5" fmla="*/ 1164 h 1525"/>
                <a:gd name="T6" fmla="*/ 4250 w 4489"/>
                <a:gd name="T7" fmla="*/ 165 h 1525"/>
                <a:gd name="T8" fmla="*/ 3989 w 4489"/>
                <a:gd name="T9" fmla="*/ 175 h 1525"/>
              </a:gdLst>
              <a:ahLst/>
              <a:cxnLst>
                <a:cxn ang="0">
                  <a:pos x="T0" y="T1"/>
                </a:cxn>
                <a:cxn ang="0">
                  <a:pos x="T2" y="T3"/>
                </a:cxn>
                <a:cxn ang="0">
                  <a:pos x="T4" y="T5"/>
                </a:cxn>
                <a:cxn ang="0">
                  <a:pos x="T6" y="T7"/>
                </a:cxn>
                <a:cxn ang="0">
                  <a:pos x="T8" y="T9"/>
                </a:cxn>
              </a:cxnLst>
              <a:rect l="0" t="0" r="r" b="b"/>
              <a:pathLst>
                <a:path w="4489" h="1525">
                  <a:moveTo>
                    <a:pt x="0" y="827"/>
                  </a:moveTo>
                  <a:cubicBezTo>
                    <a:pt x="1085" y="1120"/>
                    <a:pt x="2170" y="1413"/>
                    <a:pt x="2880" y="1469"/>
                  </a:cubicBezTo>
                  <a:cubicBezTo>
                    <a:pt x="3590" y="1525"/>
                    <a:pt x="4033" y="1381"/>
                    <a:pt x="4261" y="1164"/>
                  </a:cubicBezTo>
                  <a:cubicBezTo>
                    <a:pt x="4489" y="947"/>
                    <a:pt x="4295" y="330"/>
                    <a:pt x="4250" y="165"/>
                  </a:cubicBezTo>
                  <a:cubicBezTo>
                    <a:pt x="4205" y="0"/>
                    <a:pt x="4097" y="87"/>
                    <a:pt x="3989" y="175"/>
                  </a:cubicBezTo>
                </a:path>
              </a:pathLst>
            </a:custGeom>
            <a:noFill/>
            <a:ln w="9525">
              <a:solidFill>
                <a:schemeClr val="hlink"/>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3008" name="Line 224"/>
            <p:cNvSpPr>
              <a:spLocks noChangeShapeType="1"/>
            </p:cNvSpPr>
            <p:nvPr/>
          </p:nvSpPr>
          <p:spPr bwMode="auto">
            <a:xfrm>
              <a:off x="4967" y="1674"/>
              <a:ext cx="11" cy="7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03014" name="Group 230"/>
          <p:cNvGrpSpPr>
            <a:grpSpLocks/>
          </p:cNvGrpSpPr>
          <p:nvPr/>
        </p:nvGrpSpPr>
        <p:grpSpPr bwMode="auto">
          <a:xfrm>
            <a:off x="3036888" y="3381375"/>
            <a:ext cx="4314825" cy="554038"/>
            <a:chOff x="1913" y="2130"/>
            <a:chExt cx="2718" cy="349"/>
          </a:xfrm>
        </p:grpSpPr>
        <p:grpSp>
          <p:nvGrpSpPr>
            <p:cNvPr id="503013" name="Group 229"/>
            <p:cNvGrpSpPr>
              <a:grpSpLocks/>
            </p:cNvGrpSpPr>
            <p:nvPr/>
          </p:nvGrpSpPr>
          <p:grpSpPr bwMode="auto">
            <a:xfrm>
              <a:off x="3477" y="2130"/>
              <a:ext cx="1154" cy="349"/>
              <a:chOff x="3477" y="2130"/>
              <a:chExt cx="1154" cy="349"/>
            </a:xfrm>
          </p:grpSpPr>
          <p:sp>
            <p:nvSpPr>
              <p:cNvPr id="502923" name="Freeform 139"/>
              <p:cNvSpPr>
                <a:spLocks/>
              </p:cNvSpPr>
              <p:nvPr/>
            </p:nvSpPr>
            <p:spPr bwMode="auto">
              <a:xfrm>
                <a:off x="3523" y="2312"/>
                <a:ext cx="885" cy="167"/>
              </a:xfrm>
              <a:custGeom>
                <a:avLst/>
                <a:gdLst>
                  <a:gd name="T0" fmla="*/ 0 w 759"/>
                  <a:gd name="T1" fmla="*/ 144 h 144"/>
                  <a:gd name="T2" fmla="*/ 759 w 759"/>
                  <a:gd name="T3" fmla="*/ 144 h 144"/>
                  <a:gd name="T4" fmla="*/ 759 w 759"/>
                  <a:gd name="T5" fmla="*/ 0 h 144"/>
                </a:gdLst>
                <a:ahLst/>
                <a:cxnLst>
                  <a:cxn ang="0">
                    <a:pos x="T0" y="T1"/>
                  </a:cxn>
                  <a:cxn ang="0">
                    <a:pos x="T2" y="T3"/>
                  </a:cxn>
                  <a:cxn ang="0">
                    <a:pos x="T4" y="T5"/>
                  </a:cxn>
                </a:cxnLst>
                <a:rect l="0" t="0" r="r" b="b"/>
                <a:pathLst>
                  <a:path w="759" h="144">
                    <a:moveTo>
                      <a:pt x="0" y="144"/>
                    </a:moveTo>
                    <a:lnTo>
                      <a:pt x="759" y="144"/>
                    </a:lnTo>
                    <a:lnTo>
                      <a:pt x="759"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2961" name="Rectangle 177"/>
              <p:cNvSpPr>
                <a:spLocks noChangeArrowheads="1"/>
              </p:cNvSpPr>
              <p:nvPr/>
            </p:nvSpPr>
            <p:spPr bwMode="auto">
              <a:xfrm>
                <a:off x="3477" y="2311"/>
                <a:ext cx="32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A_eq_</a:t>
                </a:r>
                <a:endParaRPr lang="en-US" altLang="en-US" sz="2800"/>
              </a:p>
            </p:txBody>
          </p:sp>
          <p:sp>
            <p:nvSpPr>
              <p:cNvPr id="502962" name="Rectangle 178"/>
              <p:cNvSpPr>
                <a:spLocks noChangeArrowheads="1"/>
              </p:cNvSpPr>
              <p:nvPr/>
            </p:nvSpPr>
            <p:spPr bwMode="auto">
              <a:xfrm>
                <a:off x="3789" y="2311"/>
                <a:ext cx="67"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a:t>
                </a:r>
                <a:endParaRPr lang="en-US" altLang="en-US" sz="2800"/>
              </a:p>
            </p:txBody>
          </p:sp>
          <p:sp>
            <p:nvSpPr>
              <p:cNvPr id="502963" name="Rectangle 179"/>
              <p:cNvSpPr>
                <a:spLocks noChangeArrowheads="1"/>
              </p:cNvSpPr>
              <p:nvPr/>
            </p:nvSpPr>
            <p:spPr bwMode="auto">
              <a:xfrm>
                <a:off x="3841" y="2311"/>
                <a:ext cx="213"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addr</a:t>
                </a:r>
                <a:endParaRPr lang="en-US" altLang="en-US" sz="2800"/>
              </a:p>
            </p:txBody>
          </p:sp>
          <p:sp>
            <p:nvSpPr>
              <p:cNvPr id="502967" name="Rectangle 183"/>
              <p:cNvSpPr>
                <a:spLocks noChangeArrowheads="1"/>
              </p:cNvSpPr>
              <p:nvPr/>
            </p:nvSpPr>
            <p:spPr bwMode="auto">
              <a:xfrm>
                <a:off x="4215" y="2150"/>
                <a:ext cx="404"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 (4-bit)</a:t>
                </a:r>
                <a:endParaRPr lang="en-US" altLang="en-US" sz="2800"/>
              </a:p>
            </p:txBody>
          </p:sp>
          <p:sp>
            <p:nvSpPr>
              <p:cNvPr id="502968" name="Rectangle 184"/>
              <p:cNvSpPr>
                <a:spLocks noChangeArrowheads="1"/>
              </p:cNvSpPr>
              <p:nvPr/>
            </p:nvSpPr>
            <p:spPr bwMode="auto">
              <a:xfrm>
                <a:off x="4175" y="2130"/>
                <a:ext cx="456" cy="179"/>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03012" name="Freeform 228"/>
            <p:cNvSpPr>
              <a:spLocks/>
            </p:cNvSpPr>
            <p:nvPr/>
          </p:nvSpPr>
          <p:spPr bwMode="auto">
            <a:xfrm>
              <a:off x="1913" y="2141"/>
              <a:ext cx="2260" cy="301"/>
            </a:xfrm>
            <a:custGeom>
              <a:avLst/>
              <a:gdLst>
                <a:gd name="T0" fmla="*/ 0 w 2260"/>
                <a:gd name="T1" fmla="*/ 0 h 301"/>
                <a:gd name="T2" fmla="*/ 1097 w 2260"/>
                <a:gd name="T3" fmla="*/ 283 h 301"/>
                <a:gd name="T4" fmla="*/ 2260 w 2260"/>
                <a:gd name="T5" fmla="*/ 109 h 301"/>
              </a:gdLst>
              <a:ahLst/>
              <a:cxnLst>
                <a:cxn ang="0">
                  <a:pos x="T0" y="T1"/>
                </a:cxn>
                <a:cxn ang="0">
                  <a:pos x="T2" y="T3"/>
                </a:cxn>
                <a:cxn ang="0">
                  <a:pos x="T4" y="T5"/>
                </a:cxn>
              </a:cxnLst>
              <a:rect l="0" t="0" r="r" b="b"/>
              <a:pathLst>
                <a:path w="2260" h="301">
                  <a:moveTo>
                    <a:pt x="0" y="0"/>
                  </a:moveTo>
                  <a:cubicBezTo>
                    <a:pt x="360" y="132"/>
                    <a:pt x="720" y="265"/>
                    <a:pt x="1097" y="283"/>
                  </a:cubicBezTo>
                  <a:cubicBezTo>
                    <a:pt x="1474" y="301"/>
                    <a:pt x="1867" y="205"/>
                    <a:pt x="2260" y="109"/>
                  </a:cubicBezTo>
                </a:path>
              </a:pathLst>
            </a:custGeom>
            <a:noFill/>
            <a:ln w="9525">
              <a:solidFill>
                <a:schemeClr val="hlink"/>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503015" name="Freeform 231"/>
          <p:cNvSpPr>
            <a:spLocks/>
          </p:cNvSpPr>
          <p:nvPr/>
        </p:nvSpPr>
        <p:spPr bwMode="auto">
          <a:xfrm>
            <a:off x="3036888" y="2725738"/>
            <a:ext cx="500062" cy="863600"/>
          </a:xfrm>
          <a:custGeom>
            <a:avLst/>
            <a:gdLst>
              <a:gd name="T0" fmla="*/ 0 w 228"/>
              <a:gd name="T1" fmla="*/ 0 h 544"/>
              <a:gd name="T2" fmla="*/ 228 w 228"/>
              <a:gd name="T3" fmla="*/ 544 h 544"/>
            </a:gdLst>
            <a:ahLst/>
            <a:cxnLst>
              <a:cxn ang="0">
                <a:pos x="T0" y="T1"/>
              </a:cxn>
              <a:cxn ang="0">
                <a:pos x="T2" y="T3"/>
              </a:cxn>
            </a:cxnLst>
            <a:rect l="0" t="0" r="r" b="b"/>
            <a:pathLst>
              <a:path w="228" h="544">
                <a:moveTo>
                  <a:pt x="0" y="0"/>
                </a:moveTo>
                <a:cubicBezTo>
                  <a:pt x="0" y="0"/>
                  <a:pt x="114" y="272"/>
                  <a:pt x="228" y="544"/>
                </a:cubicBezTo>
              </a:path>
            </a:pathLst>
          </a:custGeom>
          <a:noFill/>
          <a:ln w="9525">
            <a:solidFill>
              <a:schemeClr val="hlink"/>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03024" name="Group 240"/>
          <p:cNvGrpSpPr>
            <a:grpSpLocks/>
          </p:cNvGrpSpPr>
          <p:nvPr/>
        </p:nvGrpSpPr>
        <p:grpSpPr bwMode="auto">
          <a:xfrm>
            <a:off x="4468813" y="3251200"/>
            <a:ext cx="3722687" cy="931863"/>
            <a:chOff x="2815" y="2048"/>
            <a:chExt cx="2345" cy="587"/>
          </a:xfrm>
        </p:grpSpPr>
        <p:grpSp>
          <p:nvGrpSpPr>
            <p:cNvPr id="503023" name="Group 239"/>
            <p:cNvGrpSpPr>
              <a:grpSpLocks/>
            </p:cNvGrpSpPr>
            <p:nvPr/>
          </p:nvGrpSpPr>
          <p:grpSpPr bwMode="auto">
            <a:xfrm>
              <a:off x="4926" y="2048"/>
              <a:ext cx="234" cy="385"/>
              <a:chOff x="4926" y="2048"/>
              <a:chExt cx="234" cy="385"/>
            </a:xfrm>
          </p:grpSpPr>
          <p:sp>
            <p:nvSpPr>
              <p:cNvPr id="502974" name="Line 190"/>
              <p:cNvSpPr>
                <a:spLocks noChangeShapeType="1"/>
              </p:cNvSpPr>
              <p:nvPr/>
            </p:nvSpPr>
            <p:spPr bwMode="auto">
              <a:xfrm flipH="1">
                <a:off x="4960" y="2048"/>
                <a:ext cx="9" cy="385"/>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79" name="Freeform 195"/>
              <p:cNvSpPr>
                <a:spLocks/>
              </p:cNvSpPr>
              <p:nvPr/>
            </p:nvSpPr>
            <p:spPr bwMode="auto">
              <a:xfrm>
                <a:off x="4926" y="2214"/>
                <a:ext cx="94" cy="98"/>
              </a:xfrm>
              <a:custGeom>
                <a:avLst/>
                <a:gdLst>
                  <a:gd name="T0" fmla="*/ 81 w 81"/>
                  <a:gd name="T1" fmla="*/ 0 h 85"/>
                  <a:gd name="T2" fmla="*/ 0 w 81"/>
                  <a:gd name="T3" fmla="*/ 85 h 85"/>
                  <a:gd name="T4" fmla="*/ 81 w 81"/>
                  <a:gd name="T5" fmla="*/ 0 h 85"/>
                </a:gdLst>
                <a:ahLst/>
                <a:cxnLst>
                  <a:cxn ang="0">
                    <a:pos x="T0" y="T1"/>
                  </a:cxn>
                  <a:cxn ang="0">
                    <a:pos x="T2" y="T3"/>
                  </a:cxn>
                  <a:cxn ang="0">
                    <a:pos x="T4" y="T5"/>
                  </a:cxn>
                </a:cxnLst>
                <a:rect l="0" t="0" r="r" b="b"/>
                <a:pathLst>
                  <a:path w="81" h="85">
                    <a:moveTo>
                      <a:pt x="81" y="0"/>
                    </a:moveTo>
                    <a:lnTo>
                      <a:pt x="0" y="85"/>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80" name="Line 196"/>
              <p:cNvSpPr>
                <a:spLocks noChangeShapeType="1"/>
              </p:cNvSpPr>
              <p:nvPr/>
            </p:nvSpPr>
            <p:spPr bwMode="auto">
              <a:xfrm flipH="1">
                <a:off x="4926" y="2214"/>
                <a:ext cx="94" cy="9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81" name="Rectangle 197"/>
              <p:cNvSpPr>
                <a:spLocks noChangeArrowheads="1"/>
              </p:cNvSpPr>
              <p:nvPr/>
            </p:nvSpPr>
            <p:spPr bwMode="auto">
              <a:xfrm>
                <a:off x="5040" y="2208"/>
                <a:ext cx="12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grpSp>
        <p:sp>
          <p:nvSpPr>
            <p:cNvPr id="503018" name="Freeform 234"/>
            <p:cNvSpPr>
              <a:spLocks/>
            </p:cNvSpPr>
            <p:nvPr/>
          </p:nvSpPr>
          <p:spPr bwMode="auto">
            <a:xfrm>
              <a:off x="2815" y="2206"/>
              <a:ext cx="2141" cy="429"/>
            </a:xfrm>
            <a:custGeom>
              <a:avLst/>
              <a:gdLst>
                <a:gd name="T0" fmla="*/ 0 w 2141"/>
                <a:gd name="T1" fmla="*/ 0 h 429"/>
                <a:gd name="T2" fmla="*/ 1315 w 2141"/>
                <a:gd name="T3" fmla="*/ 424 h 429"/>
                <a:gd name="T4" fmla="*/ 2141 w 2141"/>
                <a:gd name="T5" fmla="*/ 33 h 429"/>
              </a:gdLst>
              <a:ahLst/>
              <a:cxnLst>
                <a:cxn ang="0">
                  <a:pos x="T0" y="T1"/>
                </a:cxn>
                <a:cxn ang="0">
                  <a:pos x="T2" y="T3"/>
                </a:cxn>
                <a:cxn ang="0">
                  <a:pos x="T4" y="T5"/>
                </a:cxn>
              </a:cxnLst>
              <a:rect l="0" t="0" r="r" b="b"/>
              <a:pathLst>
                <a:path w="2141" h="429">
                  <a:moveTo>
                    <a:pt x="0" y="0"/>
                  </a:moveTo>
                  <a:cubicBezTo>
                    <a:pt x="219" y="71"/>
                    <a:pt x="958" y="419"/>
                    <a:pt x="1315" y="424"/>
                  </a:cubicBezTo>
                  <a:cubicBezTo>
                    <a:pt x="1672" y="429"/>
                    <a:pt x="1969" y="115"/>
                    <a:pt x="2141" y="33"/>
                  </a:cubicBezTo>
                </a:path>
              </a:pathLst>
            </a:custGeom>
            <a:noFill/>
            <a:ln w="9525">
              <a:solidFill>
                <a:schemeClr val="hlink"/>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03022" name="Group 238"/>
          <p:cNvGrpSpPr>
            <a:grpSpLocks/>
          </p:cNvGrpSpPr>
          <p:nvPr/>
        </p:nvGrpSpPr>
        <p:grpSpPr bwMode="auto">
          <a:xfrm>
            <a:off x="1931988" y="1785938"/>
            <a:ext cx="6259512" cy="3781425"/>
            <a:chOff x="1217" y="1125"/>
            <a:chExt cx="3943" cy="2382"/>
          </a:xfrm>
        </p:grpSpPr>
        <p:sp>
          <p:nvSpPr>
            <p:cNvPr id="502998" name="Freeform 214"/>
            <p:cNvSpPr>
              <a:spLocks/>
            </p:cNvSpPr>
            <p:nvPr/>
          </p:nvSpPr>
          <p:spPr bwMode="auto">
            <a:xfrm>
              <a:off x="1217" y="1125"/>
              <a:ext cx="3684" cy="2255"/>
            </a:xfrm>
            <a:custGeom>
              <a:avLst/>
              <a:gdLst>
                <a:gd name="T0" fmla="*/ 0 w 3684"/>
                <a:gd name="T1" fmla="*/ 125 h 2255"/>
                <a:gd name="T2" fmla="*/ 2076 w 3684"/>
                <a:gd name="T3" fmla="*/ 277 h 2255"/>
                <a:gd name="T4" fmla="*/ 2022 w 3684"/>
                <a:gd name="T5" fmla="*/ 1788 h 2255"/>
                <a:gd name="T6" fmla="*/ 3684 w 3684"/>
                <a:gd name="T7" fmla="*/ 2255 h 2255"/>
              </a:gdLst>
              <a:ahLst/>
              <a:cxnLst>
                <a:cxn ang="0">
                  <a:pos x="T0" y="T1"/>
                </a:cxn>
                <a:cxn ang="0">
                  <a:pos x="T2" y="T3"/>
                </a:cxn>
                <a:cxn ang="0">
                  <a:pos x="T4" y="T5"/>
                </a:cxn>
                <a:cxn ang="0">
                  <a:pos x="T6" y="T7"/>
                </a:cxn>
              </a:cxnLst>
              <a:rect l="0" t="0" r="r" b="b"/>
              <a:pathLst>
                <a:path w="3684" h="2255">
                  <a:moveTo>
                    <a:pt x="0" y="125"/>
                  </a:moveTo>
                  <a:cubicBezTo>
                    <a:pt x="346" y="150"/>
                    <a:pt x="1739" y="0"/>
                    <a:pt x="2076" y="277"/>
                  </a:cubicBezTo>
                  <a:cubicBezTo>
                    <a:pt x="2413" y="554"/>
                    <a:pt x="1754" y="1458"/>
                    <a:pt x="2022" y="1788"/>
                  </a:cubicBezTo>
                  <a:cubicBezTo>
                    <a:pt x="2290" y="2118"/>
                    <a:pt x="3338" y="2158"/>
                    <a:pt x="3684" y="2255"/>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03020" name="Group 236"/>
            <p:cNvGrpSpPr>
              <a:grpSpLocks/>
            </p:cNvGrpSpPr>
            <p:nvPr/>
          </p:nvGrpSpPr>
          <p:grpSpPr bwMode="auto">
            <a:xfrm>
              <a:off x="4922" y="2635"/>
              <a:ext cx="238" cy="872"/>
              <a:chOff x="4922" y="2635"/>
              <a:chExt cx="238" cy="872"/>
            </a:xfrm>
          </p:grpSpPr>
          <p:sp>
            <p:nvSpPr>
              <p:cNvPr id="502975" name="Freeform 191"/>
              <p:cNvSpPr>
                <a:spLocks/>
              </p:cNvSpPr>
              <p:nvPr/>
            </p:nvSpPr>
            <p:spPr bwMode="auto">
              <a:xfrm>
                <a:off x="4941" y="3380"/>
                <a:ext cx="58" cy="11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76" name="Freeform 192"/>
              <p:cNvSpPr>
                <a:spLocks/>
              </p:cNvSpPr>
              <p:nvPr/>
            </p:nvSpPr>
            <p:spPr bwMode="auto">
              <a:xfrm>
                <a:off x="4922" y="2688"/>
                <a:ext cx="98" cy="98"/>
              </a:xfrm>
              <a:custGeom>
                <a:avLst/>
                <a:gdLst>
                  <a:gd name="T0" fmla="*/ 84 w 84"/>
                  <a:gd name="T1" fmla="*/ 0 h 84"/>
                  <a:gd name="T2" fmla="*/ 0 w 84"/>
                  <a:gd name="T3" fmla="*/ 84 h 84"/>
                  <a:gd name="T4" fmla="*/ 84 w 84"/>
                  <a:gd name="T5" fmla="*/ 0 h 84"/>
                </a:gdLst>
                <a:ahLst/>
                <a:cxnLst>
                  <a:cxn ang="0">
                    <a:pos x="T0" y="T1"/>
                  </a:cxn>
                  <a:cxn ang="0">
                    <a:pos x="T2" y="T3"/>
                  </a:cxn>
                  <a:cxn ang="0">
                    <a:pos x="T4" y="T5"/>
                  </a:cxn>
                </a:cxnLst>
                <a:rect l="0" t="0" r="r" b="b"/>
                <a:pathLst>
                  <a:path w="84" h="84">
                    <a:moveTo>
                      <a:pt x="84" y="0"/>
                    </a:moveTo>
                    <a:lnTo>
                      <a:pt x="0" y="84"/>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2977" name="Line 193"/>
              <p:cNvSpPr>
                <a:spLocks noChangeShapeType="1"/>
              </p:cNvSpPr>
              <p:nvPr/>
            </p:nvSpPr>
            <p:spPr bwMode="auto">
              <a:xfrm flipH="1">
                <a:off x="4922" y="2688"/>
                <a:ext cx="98" cy="9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2978" name="Rectangle 194"/>
              <p:cNvSpPr>
                <a:spLocks noChangeArrowheads="1"/>
              </p:cNvSpPr>
              <p:nvPr/>
            </p:nvSpPr>
            <p:spPr bwMode="auto">
              <a:xfrm>
                <a:off x="5040" y="2680"/>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sp>
            <p:nvSpPr>
              <p:cNvPr id="502982" name="Rectangle 198"/>
              <p:cNvSpPr>
                <a:spLocks noChangeArrowheads="1"/>
              </p:cNvSpPr>
              <p:nvPr/>
            </p:nvSpPr>
            <p:spPr bwMode="auto">
              <a:xfrm>
                <a:off x="5031" y="3362"/>
                <a:ext cx="87"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
                </a:r>
                <a:endParaRPr lang="en-US" altLang="en-US" sz="2800"/>
              </a:p>
            </p:txBody>
          </p:sp>
          <p:sp>
            <p:nvSpPr>
              <p:cNvPr id="503019" name="Line 235"/>
              <p:cNvSpPr>
                <a:spLocks noChangeShapeType="1"/>
              </p:cNvSpPr>
              <p:nvPr/>
            </p:nvSpPr>
            <p:spPr bwMode="auto">
              <a:xfrm flipH="1">
                <a:off x="4971" y="2635"/>
                <a:ext cx="9" cy="77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503030" name="Text Box 246"/>
          <p:cNvSpPr txBox="1">
            <a:spLocks noChangeArrowheads="1"/>
          </p:cNvSpPr>
          <p:nvPr/>
        </p:nvSpPr>
        <p:spPr bwMode="auto">
          <a:xfrm>
            <a:off x="8759825" y="440055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0302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030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0300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0301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0300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0301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50301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503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Slide Number Placeholder 3"/>
          <p:cNvSpPr>
            <a:spLocks noGrp="1"/>
          </p:cNvSpPr>
          <p:nvPr>
            <p:ph type="sldNum" sz="quarter" idx="10"/>
          </p:nvPr>
        </p:nvSpPr>
        <p:spPr/>
        <p:txBody>
          <a:bodyPr/>
          <a:lstStyle/>
          <a:p>
            <a:fld id="{F87262BB-5B5F-4F46-B662-0434CFEB6A0F}" type="slidenum">
              <a:rPr lang="en-US" altLang="en-US"/>
              <a:pPr/>
              <a:t>31</a:t>
            </a:fld>
            <a:endParaRPr lang="en-US" altLang="en-US"/>
          </a:p>
        </p:txBody>
      </p:sp>
      <p:sp>
        <p:nvSpPr>
          <p:cNvPr id="504834" name="Rectangle 2"/>
          <p:cNvSpPr>
            <a:spLocks noGrp="1" noChangeArrowheads="1"/>
          </p:cNvSpPr>
          <p:nvPr>
            <p:ph type="title"/>
          </p:nvPr>
        </p:nvSpPr>
        <p:spPr/>
        <p:txBody>
          <a:bodyPr/>
          <a:lstStyle/>
          <a:p>
            <a:r>
              <a:rPr lang="en-US" altLang="en-US"/>
              <a:t>RTL Example: Bus Interface</a:t>
            </a:r>
          </a:p>
        </p:txBody>
      </p:sp>
      <p:sp>
        <p:nvSpPr>
          <p:cNvPr id="504883" name="Rectangle 51"/>
          <p:cNvSpPr>
            <a:spLocks noChangeArrowheads="1"/>
          </p:cNvSpPr>
          <p:nvPr/>
        </p:nvSpPr>
        <p:spPr bwMode="auto">
          <a:xfrm>
            <a:off x="1562100" y="3300413"/>
            <a:ext cx="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2800"/>
          </a:p>
        </p:txBody>
      </p:sp>
      <p:sp>
        <p:nvSpPr>
          <p:cNvPr id="504884" name="Rectangle 52"/>
          <p:cNvSpPr>
            <a:spLocks noChangeArrowheads="1"/>
          </p:cNvSpPr>
          <p:nvPr/>
        </p:nvSpPr>
        <p:spPr bwMode="auto">
          <a:xfrm>
            <a:off x="1422400" y="3300413"/>
            <a:ext cx="0"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2800"/>
          </a:p>
        </p:txBody>
      </p:sp>
      <p:sp>
        <p:nvSpPr>
          <p:cNvPr id="504902" name="Rectangle 70"/>
          <p:cNvSpPr>
            <a:spLocks noChangeArrowheads="1"/>
          </p:cNvSpPr>
          <p:nvPr/>
        </p:nvSpPr>
        <p:spPr bwMode="auto">
          <a:xfrm>
            <a:off x="3116263" y="2743200"/>
            <a:ext cx="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1500">
              <a:solidFill>
                <a:srgbClr val="000000"/>
              </a:solidFill>
            </a:endParaRPr>
          </a:p>
        </p:txBody>
      </p:sp>
      <p:sp>
        <p:nvSpPr>
          <p:cNvPr id="504906" name="Rectangle 74"/>
          <p:cNvSpPr>
            <a:spLocks noGrp="1" noChangeArrowheads="1"/>
          </p:cNvSpPr>
          <p:nvPr>
            <p:ph type="body" idx="1"/>
          </p:nvPr>
        </p:nvSpPr>
        <p:spPr>
          <a:xfrm>
            <a:off x="228600" y="4979988"/>
            <a:ext cx="6126163" cy="1116012"/>
          </a:xfrm>
        </p:spPr>
        <p:txBody>
          <a:bodyPr/>
          <a:lstStyle/>
          <a:p>
            <a:r>
              <a:rPr lang="en-US" altLang="en-US"/>
              <a:t>Step 3: Connect datapath to controller</a:t>
            </a:r>
          </a:p>
          <a:p>
            <a:r>
              <a:rPr lang="en-US" altLang="en-US"/>
              <a:t>Step 4: Derive controller’s FSM</a:t>
            </a:r>
          </a:p>
          <a:p>
            <a:pPr lvl="1"/>
            <a:endParaRPr lang="en-US" altLang="en-US"/>
          </a:p>
        </p:txBody>
      </p:sp>
      <p:sp>
        <p:nvSpPr>
          <p:cNvPr id="505059" name="Freeform 227"/>
          <p:cNvSpPr>
            <a:spLocks/>
          </p:cNvSpPr>
          <p:nvPr/>
        </p:nvSpPr>
        <p:spPr bwMode="auto">
          <a:xfrm>
            <a:off x="860425" y="2874963"/>
            <a:ext cx="173038" cy="9366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073" name="Text Box 241"/>
          <p:cNvSpPr txBox="1">
            <a:spLocks noChangeArrowheads="1"/>
          </p:cNvSpPr>
          <p:nvPr/>
        </p:nvSpPr>
        <p:spPr bwMode="auto">
          <a:xfrm>
            <a:off x="358775" y="408940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505123" name="Group 291"/>
          <p:cNvGrpSpPr>
            <a:grpSpLocks/>
          </p:cNvGrpSpPr>
          <p:nvPr/>
        </p:nvGrpSpPr>
        <p:grpSpPr bwMode="auto">
          <a:xfrm>
            <a:off x="279400" y="1206500"/>
            <a:ext cx="5232400" cy="2352675"/>
            <a:chOff x="79" y="1041"/>
            <a:chExt cx="3296" cy="1482"/>
          </a:xfrm>
        </p:grpSpPr>
        <p:sp>
          <p:nvSpPr>
            <p:cNvPr id="505124" name="Line 292"/>
            <p:cNvSpPr>
              <a:spLocks noChangeShapeType="1"/>
            </p:cNvSpPr>
            <p:nvPr/>
          </p:nvSpPr>
          <p:spPr bwMode="auto">
            <a:xfrm>
              <a:off x="1476" y="1967"/>
              <a:ext cx="595"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5125" name="Freeform 293"/>
            <p:cNvSpPr>
              <a:spLocks/>
            </p:cNvSpPr>
            <p:nvPr/>
          </p:nvSpPr>
          <p:spPr bwMode="auto">
            <a:xfrm>
              <a:off x="2048" y="1943"/>
              <a:ext cx="122" cy="4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26" name="Line 294"/>
            <p:cNvSpPr>
              <a:spLocks noChangeShapeType="1"/>
            </p:cNvSpPr>
            <p:nvPr/>
          </p:nvSpPr>
          <p:spPr bwMode="auto">
            <a:xfrm>
              <a:off x="381" y="1664"/>
              <a:ext cx="61" cy="9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5127" name="Freeform 295"/>
            <p:cNvSpPr>
              <a:spLocks/>
            </p:cNvSpPr>
            <p:nvPr/>
          </p:nvSpPr>
          <p:spPr bwMode="auto">
            <a:xfrm>
              <a:off x="404" y="1733"/>
              <a:ext cx="84" cy="98"/>
            </a:xfrm>
            <a:custGeom>
              <a:avLst/>
              <a:gdLst>
                <a:gd name="T0" fmla="*/ 69 w 69"/>
                <a:gd name="T1" fmla="*/ 100 h 100"/>
                <a:gd name="T2" fmla="*/ 47 w 69"/>
                <a:gd name="T3" fmla="*/ 0 h 100"/>
                <a:gd name="T4" fmla="*/ 0 w 69"/>
                <a:gd name="T5" fmla="*/ 22 h 100"/>
                <a:gd name="T6" fmla="*/ 69 w 69"/>
                <a:gd name="T7" fmla="*/ 100 h 100"/>
              </a:gdLst>
              <a:ahLst/>
              <a:cxnLst>
                <a:cxn ang="0">
                  <a:pos x="T0" y="T1"/>
                </a:cxn>
                <a:cxn ang="0">
                  <a:pos x="T2" y="T3"/>
                </a:cxn>
                <a:cxn ang="0">
                  <a:pos x="T4" y="T5"/>
                </a:cxn>
                <a:cxn ang="0">
                  <a:pos x="T6" y="T7"/>
                </a:cxn>
              </a:cxnLst>
              <a:rect l="0" t="0" r="r" b="b"/>
              <a:pathLst>
                <a:path w="69" h="100">
                  <a:moveTo>
                    <a:pt x="69" y="100"/>
                  </a:moveTo>
                  <a:lnTo>
                    <a:pt x="47" y="0"/>
                  </a:lnTo>
                  <a:lnTo>
                    <a:pt x="0" y="22"/>
                  </a:lnTo>
                  <a:lnTo>
                    <a:pt x="69"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28" name="Freeform 296"/>
            <p:cNvSpPr>
              <a:spLocks/>
            </p:cNvSpPr>
            <p:nvPr/>
          </p:nvSpPr>
          <p:spPr bwMode="auto">
            <a:xfrm>
              <a:off x="777" y="1758"/>
              <a:ext cx="119" cy="73"/>
            </a:xfrm>
            <a:custGeom>
              <a:avLst/>
              <a:gdLst>
                <a:gd name="T0" fmla="*/ 0 w 97"/>
                <a:gd name="T1" fmla="*/ 75 h 75"/>
                <a:gd name="T2" fmla="*/ 97 w 97"/>
                <a:gd name="T3" fmla="*/ 41 h 75"/>
                <a:gd name="T4" fmla="*/ 69 w 97"/>
                <a:gd name="T5" fmla="*/ 0 h 75"/>
                <a:gd name="T6" fmla="*/ 0 w 97"/>
                <a:gd name="T7" fmla="*/ 75 h 75"/>
              </a:gdLst>
              <a:ahLst/>
              <a:cxnLst>
                <a:cxn ang="0">
                  <a:pos x="T0" y="T1"/>
                </a:cxn>
                <a:cxn ang="0">
                  <a:pos x="T2" y="T3"/>
                </a:cxn>
                <a:cxn ang="0">
                  <a:pos x="T4" y="T5"/>
                </a:cxn>
                <a:cxn ang="0">
                  <a:pos x="T6" y="T7"/>
                </a:cxn>
              </a:cxnLst>
              <a:rect l="0" t="0" r="r" b="b"/>
              <a:pathLst>
                <a:path w="97" h="75">
                  <a:moveTo>
                    <a:pt x="0" y="75"/>
                  </a:moveTo>
                  <a:lnTo>
                    <a:pt x="97" y="41"/>
                  </a:lnTo>
                  <a:lnTo>
                    <a:pt x="69"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29" name="Freeform 297"/>
            <p:cNvSpPr>
              <a:spLocks/>
            </p:cNvSpPr>
            <p:nvPr/>
          </p:nvSpPr>
          <p:spPr bwMode="auto">
            <a:xfrm>
              <a:off x="1201" y="1773"/>
              <a:ext cx="107" cy="85"/>
            </a:xfrm>
            <a:custGeom>
              <a:avLst/>
              <a:gdLst>
                <a:gd name="T0" fmla="*/ 0 w 88"/>
                <a:gd name="T1" fmla="*/ 87 h 87"/>
                <a:gd name="T2" fmla="*/ 88 w 88"/>
                <a:gd name="T3" fmla="*/ 37 h 87"/>
                <a:gd name="T4" fmla="*/ 53 w 88"/>
                <a:gd name="T5" fmla="*/ 0 h 87"/>
                <a:gd name="T6" fmla="*/ 0 w 88"/>
                <a:gd name="T7" fmla="*/ 87 h 87"/>
              </a:gdLst>
              <a:ahLst/>
              <a:cxnLst>
                <a:cxn ang="0">
                  <a:pos x="T0" y="T1"/>
                </a:cxn>
                <a:cxn ang="0">
                  <a:pos x="T2" y="T3"/>
                </a:cxn>
                <a:cxn ang="0">
                  <a:pos x="T4" y="T5"/>
                </a:cxn>
                <a:cxn ang="0">
                  <a:pos x="T6" y="T7"/>
                </a:cxn>
              </a:cxnLst>
              <a:rect l="0" t="0" r="r" b="b"/>
              <a:pathLst>
                <a:path w="88" h="87">
                  <a:moveTo>
                    <a:pt x="0" y="87"/>
                  </a:moveTo>
                  <a:lnTo>
                    <a:pt x="88" y="37"/>
                  </a:lnTo>
                  <a:lnTo>
                    <a:pt x="53" y="0"/>
                  </a:lnTo>
                  <a:lnTo>
                    <a:pt x="0"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30" name="Freeform 298"/>
            <p:cNvSpPr>
              <a:spLocks/>
            </p:cNvSpPr>
            <p:nvPr/>
          </p:nvSpPr>
          <p:spPr bwMode="auto">
            <a:xfrm>
              <a:off x="2940" y="1798"/>
              <a:ext cx="58" cy="97"/>
            </a:xfrm>
            <a:custGeom>
              <a:avLst/>
              <a:gdLst>
                <a:gd name="T0" fmla="*/ 41 w 47"/>
                <a:gd name="T1" fmla="*/ 100 h 100"/>
                <a:gd name="T2" fmla="*/ 47 w 47"/>
                <a:gd name="T3" fmla="*/ 0 h 100"/>
                <a:gd name="T4" fmla="*/ 0 w 47"/>
                <a:gd name="T5" fmla="*/ 6 h 100"/>
                <a:gd name="T6" fmla="*/ 41 w 47"/>
                <a:gd name="T7" fmla="*/ 100 h 100"/>
              </a:gdLst>
              <a:ahLst/>
              <a:cxnLst>
                <a:cxn ang="0">
                  <a:pos x="T0" y="T1"/>
                </a:cxn>
                <a:cxn ang="0">
                  <a:pos x="T2" y="T3"/>
                </a:cxn>
                <a:cxn ang="0">
                  <a:pos x="T4" y="T5"/>
                </a:cxn>
                <a:cxn ang="0">
                  <a:pos x="T6" y="T7"/>
                </a:cxn>
              </a:cxnLst>
              <a:rect l="0" t="0" r="r" b="b"/>
              <a:pathLst>
                <a:path w="47" h="100">
                  <a:moveTo>
                    <a:pt x="41" y="100"/>
                  </a:moveTo>
                  <a:lnTo>
                    <a:pt x="47" y="0"/>
                  </a:lnTo>
                  <a:lnTo>
                    <a:pt x="0" y="6"/>
                  </a:lnTo>
                  <a:lnTo>
                    <a:pt x="41"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31" name="Rectangle 299"/>
            <p:cNvSpPr>
              <a:spLocks noChangeArrowheads="1"/>
            </p:cNvSpPr>
            <p:nvPr/>
          </p:nvSpPr>
          <p:spPr bwMode="auto">
            <a:xfrm>
              <a:off x="79" y="1041"/>
              <a:ext cx="3278" cy="148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32" name="Rectangle 300"/>
            <p:cNvSpPr>
              <a:spLocks noChangeArrowheads="1"/>
            </p:cNvSpPr>
            <p:nvPr/>
          </p:nvSpPr>
          <p:spPr bwMode="auto">
            <a:xfrm>
              <a:off x="412" y="1916"/>
              <a:ext cx="84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WaitMyAddress</a:t>
              </a:r>
              <a:endParaRPr lang="en-US" altLang="en-US" sz="2800"/>
            </a:p>
          </p:txBody>
        </p:sp>
        <p:sp>
          <p:nvSpPr>
            <p:cNvPr id="505133" name="Rectangle 301"/>
            <p:cNvSpPr>
              <a:spLocks noChangeArrowheads="1"/>
            </p:cNvSpPr>
            <p:nvPr/>
          </p:nvSpPr>
          <p:spPr bwMode="auto">
            <a:xfrm>
              <a:off x="167" y="1062"/>
              <a:ext cx="229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Inputs: rd (bit); Q (32 bits); A, Faddr (4 bits)</a:t>
              </a:r>
              <a:endParaRPr lang="en-US" altLang="en-US" sz="2800"/>
            </a:p>
          </p:txBody>
        </p:sp>
        <p:sp>
          <p:nvSpPr>
            <p:cNvPr id="505134" name="Rectangle 302"/>
            <p:cNvSpPr>
              <a:spLocks noChangeArrowheads="1"/>
            </p:cNvSpPr>
            <p:nvPr/>
          </p:nvSpPr>
          <p:spPr bwMode="auto">
            <a:xfrm>
              <a:off x="167" y="1184"/>
              <a:ext cx="104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Outputs: D (32 bits)</a:t>
              </a:r>
              <a:endParaRPr lang="en-US" altLang="en-US" sz="2800"/>
            </a:p>
          </p:txBody>
        </p:sp>
        <p:sp>
          <p:nvSpPr>
            <p:cNvPr id="505135" name="Rectangle 303"/>
            <p:cNvSpPr>
              <a:spLocks noChangeArrowheads="1"/>
            </p:cNvSpPr>
            <p:nvPr/>
          </p:nvSpPr>
          <p:spPr bwMode="auto">
            <a:xfrm>
              <a:off x="167" y="1293"/>
              <a:ext cx="141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Local register: Q1 (32 bits)</a:t>
              </a:r>
              <a:endParaRPr lang="en-US" altLang="en-US" sz="2800"/>
            </a:p>
          </p:txBody>
        </p:sp>
        <p:sp>
          <p:nvSpPr>
            <p:cNvPr id="505136" name="Freeform 304"/>
            <p:cNvSpPr>
              <a:spLocks/>
            </p:cNvSpPr>
            <p:nvPr/>
          </p:nvSpPr>
          <p:spPr bwMode="auto">
            <a:xfrm>
              <a:off x="1224" y="1688"/>
              <a:ext cx="336" cy="248"/>
            </a:xfrm>
            <a:custGeom>
              <a:avLst/>
              <a:gdLst>
                <a:gd name="T0" fmla="*/ 60 w 88"/>
                <a:gd name="T1" fmla="*/ 82 h 82"/>
                <a:gd name="T2" fmla="*/ 70 w 88"/>
                <a:gd name="T3" fmla="*/ 31 h 82"/>
                <a:gd name="T4" fmla="*/ 0 w 88"/>
                <a:gd name="T5" fmla="*/ 50 h 82"/>
              </a:gdLst>
              <a:ahLst/>
              <a:cxnLst>
                <a:cxn ang="0">
                  <a:pos x="T0" y="T1"/>
                </a:cxn>
                <a:cxn ang="0">
                  <a:pos x="T2" y="T3"/>
                </a:cxn>
                <a:cxn ang="0">
                  <a:pos x="T4" y="T5"/>
                </a:cxn>
              </a:cxnLst>
              <a:rect l="0" t="0" r="r" b="b"/>
              <a:pathLst>
                <a:path w="88" h="82">
                  <a:moveTo>
                    <a:pt x="60" y="82"/>
                  </a:moveTo>
                  <a:cubicBezTo>
                    <a:pt x="60" y="82"/>
                    <a:pt x="88" y="56"/>
                    <a:pt x="70" y="31"/>
                  </a:cubicBezTo>
                  <a:cubicBezTo>
                    <a:pt x="70" y="31"/>
                    <a:pt x="42" y="0"/>
                    <a:pt x="0" y="5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37" name="Freeform 305"/>
            <p:cNvSpPr>
              <a:spLocks/>
            </p:cNvSpPr>
            <p:nvPr/>
          </p:nvSpPr>
          <p:spPr bwMode="auto">
            <a:xfrm>
              <a:off x="842" y="1211"/>
              <a:ext cx="1740" cy="638"/>
            </a:xfrm>
            <a:custGeom>
              <a:avLst/>
              <a:gdLst>
                <a:gd name="T0" fmla="*/ 456 w 456"/>
                <a:gd name="T1" fmla="*/ 210 h 210"/>
                <a:gd name="T2" fmla="*/ 0 w 456"/>
                <a:gd name="T3" fmla="*/ 192 h 210"/>
              </a:gdLst>
              <a:ahLst/>
              <a:cxnLst>
                <a:cxn ang="0">
                  <a:pos x="T0" y="T1"/>
                </a:cxn>
                <a:cxn ang="0">
                  <a:pos x="T2" y="T3"/>
                </a:cxn>
              </a:cxnLst>
              <a:rect l="0" t="0" r="r" b="b"/>
              <a:pathLst>
                <a:path w="456" h="210">
                  <a:moveTo>
                    <a:pt x="456" y="210"/>
                  </a:moveTo>
                  <a:cubicBezTo>
                    <a:pt x="456" y="210"/>
                    <a:pt x="280" y="0"/>
                    <a:pt x="0" y="19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38" name="Rectangle 306"/>
            <p:cNvSpPr>
              <a:spLocks noChangeArrowheads="1"/>
            </p:cNvSpPr>
            <p:nvPr/>
          </p:nvSpPr>
          <p:spPr bwMode="auto">
            <a:xfrm>
              <a:off x="2070" y="1451"/>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rd’</a:t>
              </a:r>
              <a:endParaRPr lang="en-US" altLang="en-US" sz="2800"/>
            </a:p>
          </p:txBody>
        </p:sp>
        <p:sp>
          <p:nvSpPr>
            <p:cNvPr id="505139" name="Rectangle 307"/>
            <p:cNvSpPr>
              <a:spLocks noChangeArrowheads="1"/>
            </p:cNvSpPr>
            <p:nvPr/>
          </p:nvSpPr>
          <p:spPr bwMode="auto">
            <a:xfrm>
              <a:off x="3055" y="1487"/>
              <a:ext cx="10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rd</a:t>
              </a:r>
              <a:endParaRPr lang="en-US" altLang="en-US" sz="2800"/>
            </a:p>
          </p:txBody>
        </p:sp>
        <p:sp>
          <p:nvSpPr>
            <p:cNvPr id="505140" name="Freeform 308"/>
            <p:cNvSpPr>
              <a:spLocks/>
            </p:cNvSpPr>
            <p:nvPr/>
          </p:nvSpPr>
          <p:spPr bwMode="auto">
            <a:xfrm>
              <a:off x="2926" y="1524"/>
              <a:ext cx="449" cy="404"/>
            </a:xfrm>
            <a:custGeom>
              <a:avLst/>
              <a:gdLst>
                <a:gd name="T0" fmla="*/ 33 w 118"/>
                <a:gd name="T1" fmla="*/ 133 h 133"/>
                <a:gd name="T2" fmla="*/ 61 w 118"/>
                <a:gd name="T3" fmla="*/ 40 h 133"/>
                <a:gd name="T4" fmla="*/ 12 w 118"/>
                <a:gd name="T5" fmla="*/ 97 h 133"/>
              </a:gdLst>
              <a:ahLst/>
              <a:cxnLst>
                <a:cxn ang="0">
                  <a:pos x="T0" y="T1"/>
                </a:cxn>
                <a:cxn ang="0">
                  <a:pos x="T2" y="T3"/>
                </a:cxn>
                <a:cxn ang="0">
                  <a:pos x="T4" y="T5"/>
                </a:cxn>
              </a:cxnLst>
              <a:rect l="0" t="0" r="r" b="b"/>
              <a:pathLst>
                <a:path w="118" h="133">
                  <a:moveTo>
                    <a:pt x="33" y="133"/>
                  </a:moveTo>
                  <a:cubicBezTo>
                    <a:pt x="33" y="133"/>
                    <a:pt x="118" y="84"/>
                    <a:pt x="61" y="40"/>
                  </a:cubicBezTo>
                  <a:cubicBezTo>
                    <a:pt x="61" y="40"/>
                    <a:pt x="0" y="0"/>
                    <a:pt x="12" y="97"/>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41" name="Rectangle 309"/>
            <p:cNvSpPr>
              <a:spLocks noChangeArrowheads="1"/>
            </p:cNvSpPr>
            <p:nvPr/>
          </p:nvSpPr>
          <p:spPr bwMode="auto">
            <a:xfrm>
              <a:off x="2380" y="1908"/>
              <a:ext cx="53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SendData</a:t>
              </a:r>
              <a:endParaRPr lang="en-US" altLang="en-US" sz="2800"/>
            </a:p>
          </p:txBody>
        </p:sp>
        <p:sp>
          <p:nvSpPr>
            <p:cNvPr id="505142" name="Rectangle 310"/>
            <p:cNvSpPr>
              <a:spLocks noChangeArrowheads="1"/>
            </p:cNvSpPr>
            <p:nvPr/>
          </p:nvSpPr>
          <p:spPr bwMode="auto">
            <a:xfrm>
              <a:off x="984" y="2079"/>
              <a:ext cx="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2800"/>
            </a:p>
          </p:txBody>
        </p:sp>
        <p:sp>
          <p:nvSpPr>
            <p:cNvPr id="505143" name="Rectangle 311"/>
            <p:cNvSpPr>
              <a:spLocks noChangeArrowheads="1"/>
            </p:cNvSpPr>
            <p:nvPr/>
          </p:nvSpPr>
          <p:spPr bwMode="auto">
            <a:xfrm>
              <a:off x="896" y="2079"/>
              <a:ext cx="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2800"/>
            </a:p>
          </p:txBody>
        </p:sp>
        <p:sp>
          <p:nvSpPr>
            <p:cNvPr id="505144" name="Rectangle 312"/>
            <p:cNvSpPr>
              <a:spLocks noChangeArrowheads="1"/>
            </p:cNvSpPr>
            <p:nvPr/>
          </p:nvSpPr>
          <p:spPr bwMode="auto">
            <a:xfrm>
              <a:off x="659" y="2149"/>
              <a:ext cx="40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“Z”</a:t>
              </a:r>
              <a:endParaRPr lang="en-US" altLang="en-US" sz="2800"/>
            </a:p>
          </p:txBody>
        </p:sp>
        <p:sp>
          <p:nvSpPr>
            <p:cNvPr id="505145" name="Rectangle 313"/>
            <p:cNvSpPr>
              <a:spLocks noChangeArrowheads="1"/>
            </p:cNvSpPr>
            <p:nvPr/>
          </p:nvSpPr>
          <p:spPr bwMode="auto">
            <a:xfrm>
              <a:off x="631" y="2260"/>
              <a:ext cx="38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Q1 = Q</a:t>
              </a:r>
              <a:endParaRPr lang="en-US" altLang="en-US" sz="2800"/>
            </a:p>
          </p:txBody>
        </p:sp>
        <p:sp>
          <p:nvSpPr>
            <p:cNvPr id="505146" name="Rectangle 314"/>
            <p:cNvSpPr>
              <a:spLocks noChangeArrowheads="1"/>
            </p:cNvSpPr>
            <p:nvPr/>
          </p:nvSpPr>
          <p:spPr bwMode="auto">
            <a:xfrm>
              <a:off x="1524" y="2026"/>
              <a:ext cx="61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 = Faddr)</a:t>
              </a:r>
              <a:endParaRPr lang="en-US" altLang="en-US" sz="2800"/>
            </a:p>
          </p:txBody>
        </p:sp>
        <p:sp>
          <p:nvSpPr>
            <p:cNvPr id="505147" name="Rectangle 315"/>
            <p:cNvSpPr>
              <a:spLocks noChangeArrowheads="1"/>
            </p:cNvSpPr>
            <p:nvPr/>
          </p:nvSpPr>
          <p:spPr bwMode="auto">
            <a:xfrm>
              <a:off x="1639" y="2134"/>
              <a:ext cx="34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and rd</a:t>
              </a:r>
              <a:endParaRPr lang="en-US" altLang="en-US" sz="2800"/>
            </a:p>
          </p:txBody>
        </p:sp>
        <p:sp>
          <p:nvSpPr>
            <p:cNvPr id="505148" name="Rectangle 316"/>
            <p:cNvSpPr>
              <a:spLocks noChangeArrowheads="1"/>
            </p:cNvSpPr>
            <p:nvPr/>
          </p:nvSpPr>
          <p:spPr bwMode="auto">
            <a:xfrm>
              <a:off x="1500" y="1627"/>
              <a:ext cx="65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 = Faddr)</a:t>
              </a:r>
              <a:endParaRPr lang="en-US" altLang="en-US" sz="2800"/>
            </a:p>
          </p:txBody>
        </p:sp>
        <p:sp>
          <p:nvSpPr>
            <p:cNvPr id="505149" name="Rectangle 317"/>
            <p:cNvSpPr>
              <a:spLocks noChangeArrowheads="1"/>
            </p:cNvSpPr>
            <p:nvPr/>
          </p:nvSpPr>
          <p:spPr bwMode="auto">
            <a:xfrm>
              <a:off x="1599" y="1737"/>
              <a:ext cx="4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and rd)’</a:t>
              </a:r>
              <a:endParaRPr lang="en-US" altLang="en-US" sz="2800"/>
            </a:p>
          </p:txBody>
        </p:sp>
        <p:sp>
          <p:nvSpPr>
            <p:cNvPr id="505150" name="Rectangle 318"/>
            <p:cNvSpPr>
              <a:spLocks noChangeArrowheads="1"/>
            </p:cNvSpPr>
            <p:nvPr/>
          </p:nvSpPr>
          <p:spPr bwMode="auto">
            <a:xfrm>
              <a:off x="1963" y="1728"/>
              <a:ext cx="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en-US" altLang="en-US" sz="1500">
                <a:solidFill>
                  <a:srgbClr val="000000"/>
                </a:solidFill>
              </a:endParaRPr>
            </a:p>
          </p:txBody>
        </p:sp>
        <p:sp>
          <p:nvSpPr>
            <p:cNvPr id="505151" name="Rectangle 319"/>
            <p:cNvSpPr>
              <a:spLocks noChangeArrowheads="1"/>
            </p:cNvSpPr>
            <p:nvPr/>
          </p:nvSpPr>
          <p:spPr bwMode="auto">
            <a:xfrm>
              <a:off x="2451" y="2103"/>
              <a:ext cx="38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 = Q1</a:t>
              </a:r>
              <a:endParaRPr lang="en-US" altLang="en-US" sz="2800"/>
            </a:p>
          </p:txBody>
        </p:sp>
        <p:sp>
          <p:nvSpPr>
            <p:cNvPr id="505152" name="Oval 320"/>
            <p:cNvSpPr>
              <a:spLocks noChangeArrowheads="1"/>
            </p:cNvSpPr>
            <p:nvPr/>
          </p:nvSpPr>
          <p:spPr bwMode="auto">
            <a:xfrm>
              <a:off x="140" y="1833"/>
              <a:ext cx="1336" cy="277"/>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53" name="Oval 321"/>
            <p:cNvSpPr>
              <a:spLocks noChangeArrowheads="1"/>
            </p:cNvSpPr>
            <p:nvPr/>
          </p:nvSpPr>
          <p:spPr bwMode="auto">
            <a:xfrm>
              <a:off x="2181" y="1849"/>
              <a:ext cx="892" cy="240"/>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05162" name="Group 330"/>
          <p:cNvGrpSpPr>
            <a:grpSpLocks/>
          </p:cNvGrpSpPr>
          <p:nvPr/>
        </p:nvGrpSpPr>
        <p:grpSpPr bwMode="auto">
          <a:xfrm>
            <a:off x="207963" y="1173163"/>
            <a:ext cx="5468937" cy="3462337"/>
            <a:chOff x="131" y="739"/>
            <a:chExt cx="3445" cy="2181"/>
          </a:xfrm>
        </p:grpSpPr>
        <p:sp>
          <p:nvSpPr>
            <p:cNvPr id="505163" name="Rectangle 331"/>
            <p:cNvSpPr>
              <a:spLocks noChangeArrowheads="1"/>
            </p:cNvSpPr>
            <p:nvPr/>
          </p:nvSpPr>
          <p:spPr bwMode="auto">
            <a:xfrm>
              <a:off x="131" y="739"/>
              <a:ext cx="3445" cy="176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5164" name="Freeform 332"/>
            <p:cNvSpPr>
              <a:spLocks/>
            </p:cNvSpPr>
            <p:nvPr/>
          </p:nvSpPr>
          <p:spPr bwMode="auto">
            <a:xfrm>
              <a:off x="542" y="1811"/>
              <a:ext cx="109" cy="5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65" name="Rectangle 333"/>
            <p:cNvSpPr>
              <a:spLocks noChangeArrowheads="1"/>
            </p:cNvSpPr>
            <p:nvPr/>
          </p:nvSpPr>
          <p:spPr bwMode="auto">
            <a:xfrm>
              <a:off x="655" y="1273"/>
              <a:ext cx="2882" cy="164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66" name="Rectangle 334"/>
            <p:cNvSpPr>
              <a:spLocks noChangeArrowheads="1"/>
            </p:cNvSpPr>
            <p:nvPr/>
          </p:nvSpPr>
          <p:spPr bwMode="auto">
            <a:xfrm>
              <a:off x="264" y="1669"/>
              <a:ext cx="9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rd</a:t>
              </a:r>
              <a:endParaRPr lang="en-US" altLang="en-US" sz="2400"/>
            </a:p>
          </p:txBody>
        </p:sp>
        <p:sp>
          <p:nvSpPr>
            <p:cNvPr id="505167" name="Line 335"/>
            <p:cNvSpPr>
              <a:spLocks noChangeShapeType="1"/>
            </p:cNvSpPr>
            <p:nvPr/>
          </p:nvSpPr>
          <p:spPr bwMode="auto">
            <a:xfrm>
              <a:off x="239" y="1840"/>
              <a:ext cx="32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5168" name="Rectangle 336"/>
            <p:cNvSpPr>
              <a:spLocks noChangeArrowheads="1"/>
            </p:cNvSpPr>
            <p:nvPr/>
          </p:nvSpPr>
          <p:spPr bwMode="auto">
            <a:xfrm>
              <a:off x="732" y="1313"/>
              <a:ext cx="127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Inputs: rd, A_eq_Faddr (bit)</a:t>
              </a:r>
              <a:endParaRPr lang="en-US" altLang="en-US" sz="2400"/>
            </a:p>
          </p:txBody>
        </p:sp>
        <p:sp>
          <p:nvSpPr>
            <p:cNvPr id="505169" name="Rectangle 337"/>
            <p:cNvSpPr>
              <a:spLocks noChangeArrowheads="1"/>
            </p:cNvSpPr>
            <p:nvPr/>
          </p:nvSpPr>
          <p:spPr bwMode="auto">
            <a:xfrm>
              <a:off x="732" y="1446"/>
              <a:ext cx="121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Outputs: Q1_ld, D_en (bit)</a:t>
              </a:r>
              <a:endParaRPr lang="en-US" altLang="en-US" sz="2400"/>
            </a:p>
          </p:txBody>
        </p:sp>
      </p:grpSp>
      <p:grpSp>
        <p:nvGrpSpPr>
          <p:cNvPr id="505170" name="Group 338"/>
          <p:cNvGrpSpPr>
            <a:grpSpLocks/>
          </p:cNvGrpSpPr>
          <p:nvPr/>
        </p:nvGrpSpPr>
        <p:grpSpPr bwMode="auto">
          <a:xfrm>
            <a:off x="1120775" y="2090738"/>
            <a:ext cx="4597400" cy="2205037"/>
            <a:chOff x="706" y="1317"/>
            <a:chExt cx="2896" cy="1389"/>
          </a:xfrm>
        </p:grpSpPr>
        <p:sp>
          <p:nvSpPr>
            <p:cNvPr id="505171" name="Line 339"/>
            <p:cNvSpPr>
              <a:spLocks noChangeShapeType="1"/>
            </p:cNvSpPr>
            <p:nvPr/>
          </p:nvSpPr>
          <p:spPr bwMode="auto">
            <a:xfrm>
              <a:off x="1903" y="2241"/>
              <a:ext cx="52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5172" name="Freeform 340"/>
            <p:cNvSpPr>
              <a:spLocks/>
            </p:cNvSpPr>
            <p:nvPr/>
          </p:nvSpPr>
          <p:spPr bwMode="auto">
            <a:xfrm>
              <a:off x="2415" y="2212"/>
              <a:ext cx="109" cy="5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73" name="Line 341"/>
            <p:cNvSpPr>
              <a:spLocks noChangeShapeType="1"/>
            </p:cNvSpPr>
            <p:nvPr/>
          </p:nvSpPr>
          <p:spPr bwMode="auto">
            <a:xfrm>
              <a:off x="924" y="1870"/>
              <a:ext cx="55" cy="11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5174" name="Freeform 342"/>
            <p:cNvSpPr>
              <a:spLocks/>
            </p:cNvSpPr>
            <p:nvPr/>
          </p:nvSpPr>
          <p:spPr bwMode="auto">
            <a:xfrm>
              <a:off x="945" y="1955"/>
              <a:ext cx="75" cy="119"/>
            </a:xfrm>
            <a:custGeom>
              <a:avLst/>
              <a:gdLst>
                <a:gd name="T0" fmla="*/ 69 w 69"/>
                <a:gd name="T1" fmla="*/ 100 h 100"/>
                <a:gd name="T2" fmla="*/ 44 w 69"/>
                <a:gd name="T3" fmla="*/ 0 h 100"/>
                <a:gd name="T4" fmla="*/ 0 w 69"/>
                <a:gd name="T5" fmla="*/ 22 h 100"/>
                <a:gd name="T6" fmla="*/ 69 w 69"/>
                <a:gd name="T7" fmla="*/ 100 h 100"/>
              </a:gdLst>
              <a:ahLst/>
              <a:cxnLst>
                <a:cxn ang="0">
                  <a:pos x="T0" y="T1"/>
                </a:cxn>
                <a:cxn ang="0">
                  <a:pos x="T2" y="T3"/>
                </a:cxn>
                <a:cxn ang="0">
                  <a:pos x="T4" y="T5"/>
                </a:cxn>
                <a:cxn ang="0">
                  <a:pos x="T6" y="T7"/>
                </a:cxn>
              </a:cxnLst>
              <a:rect l="0" t="0" r="r" b="b"/>
              <a:pathLst>
                <a:path w="69" h="100">
                  <a:moveTo>
                    <a:pt x="69" y="100"/>
                  </a:moveTo>
                  <a:lnTo>
                    <a:pt x="44" y="0"/>
                  </a:lnTo>
                  <a:lnTo>
                    <a:pt x="0" y="22"/>
                  </a:lnTo>
                  <a:lnTo>
                    <a:pt x="69"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75" name="Freeform 343"/>
            <p:cNvSpPr>
              <a:spLocks/>
            </p:cNvSpPr>
            <p:nvPr/>
          </p:nvSpPr>
          <p:spPr bwMode="auto">
            <a:xfrm>
              <a:off x="1279" y="1985"/>
              <a:ext cx="106" cy="89"/>
            </a:xfrm>
            <a:custGeom>
              <a:avLst/>
              <a:gdLst>
                <a:gd name="T0" fmla="*/ 0 w 97"/>
                <a:gd name="T1" fmla="*/ 75 h 75"/>
                <a:gd name="T2" fmla="*/ 97 w 97"/>
                <a:gd name="T3" fmla="*/ 41 h 75"/>
                <a:gd name="T4" fmla="*/ 69 w 97"/>
                <a:gd name="T5" fmla="*/ 0 h 75"/>
                <a:gd name="T6" fmla="*/ 0 w 97"/>
                <a:gd name="T7" fmla="*/ 75 h 75"/>
              </a:gdLst>
              <a:ahLst/>
              <a:cxnLst>
                <a:cxn ang="0">
                  <a:pos x="T0" y="T1"/>
                </a:cxn>
                <a:cxn ang="0">
                  <a:pos x="T2" y="T3"/>
                </a:cxn>
                <a:cxn ang="0">
                  <a:pos x="T4" y="T5"/>
                </a:cxn>
                <a:cxn ang="0">
                  <a:pos x="T6" y="T7"/>
                </a:cxn>
              </a:cxnLst>
              <a:rect l="0" t="0" r="r" b="b"/>
              <a:pathLst>
                <a:path w="97" h="75">
                  <a:moveTo>
                    <a:pt x="0" y="75"/>
                  </a:moveTo>
                  <a:lnTo>
                    <a:pt x="97" y="41"/>
                  </a:lnTo>
                  <a:lnTo>
                    <a:pt x="69" y="0"/>
                  </a:lnTo>
                  <a:lnTo>
                    <a:pt x="0"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76" name="Freeform 344"/>
            <p:cNvSpPr>
              <a:spLocks/>
            </p:cNvSpPr>
            <p:nvPr/>
          </p:nvSpPr>
          <p:spPr bwMode="auto">
            <a:xfrm>
              <a:off x="1654" y="2004"/>
              <a:ext cx="100" cy="103"/>
            </a:xfrm>
            <a:custGeom>
              <a:avLst/>
              <a:gdLst>
                <a:gd name="T0" fmla="*/ 0 w 91"/>
                <a:gd name="T1" fmla="*/ 87 h 87"/>
                <a:gd name="T2" fmla="*/ 91 w 91"/>
                <a:gd name="T3" fmla="*/ 37 h 87"/>
                <a:gd name="T4" fmla="*/ 56 w 91"/>
                <a:gd name="T5" fmla="*/ 0 h 87"/>
                <a:gd name="T6" fmla="*/ 0 w 91"/>
                <a:gd name="T7" fmla="*/ 87 h 87"/>
              </a:gdLst>
              <a:ahLst/>
              <a:cxnLst>
                <a:cxn ang="0">
                  <a:pos x="T0" y="T1"/>
                </a:cxn>
                <a:cxn ang="0">
                  <a:pos x="T2" y="T3"/>
                </a:cxn>
                <a:cxn ang="0">
                  <a:pos x="T4" y="T5"/>
                </a:cxn>
                <a:cxn ang="0">
                  <a:pos x="T6" y="T7"/>
                </a:cxn>
              </a:cxnLst>
              <a:rect l="0" t="0" r="r" b="b"/>
              <a:pathLst>
                <a:path w="91" h="87">
                  <a:moveTo>
                    <a:pt x="0" y="87"/>
                  </a:moveTo>
                  <a:lnTo>
                    <a:pt x="91" y="37"/>
                  </a:lnTo>
                  <a:lnTo>
                    <a:pt x="56" y="0"/>
                  </a:lnTo>
                  <a:lnTo>
                    <a:pt x="0" y="8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77" name="Freeform 345"/>
            <p:cNvSpPr>
              <a:spLocks/>
            </p:cNvSpPr>
            <p:nvPr/>
          </p:nvSpPr>
          <p:spPr bwMode="auto">
            <a:xfrm>
              <a:off x="3209" y="2034"/>
              <a:ext cx="55" cy="118"/>
            </a:xfrm>
            <a:custGeom>
              <a:avLst/>
              <a:gdLst>
                <a:gd name="T0" fmla="*/ 44 w 50"/>
                <a:gd name="T1" fmla="*/ 100 h 100"/>
                <a:gd name="T2" fmla="*/ 50 w 50"/>
                <a:gd name="T3" fmla="*/ 0 h 100"/>
                <a:gd name="T4" fmla="*/ 0 w 50"/>
                <a:gd name="T5" fmla="*/ 6 h 100"/>
                <a:gd name="T6" fmla="*/ 44 w 50"/>
                <a:gd name="T7" fmla="*/ 100 h 100"/>
              </a:gdLst>
              <a:ahLst/>
              <a:cxnLst>
                <a:cxn ang="0">
                  <a:pos x="T0" y="T1"/>
                </a:cxn>
                <a:cxn ang="0">
                  <a:pos x="T2" y="T3"/>
                </a:cxn>
                <a:cxn ang="0">
                  <a:pos x="T4" y="T5"/>
                </a:cxn>
                <a:cxn ang="0">
                  <a:pos x="T6" y="T7"/>
                </a:cxn>
              </a:cxnLst>
              <a:rect l="0" t="0" r="r" b="b"/>
              <a:pathLst>
                <a:path w="50" h="100">
                  <a:moveTo>
                    <a:pt x="44" y="100"/>
                  </a:moveTo>
                  <a:lnTo>
                    <a:pt x="50" y="0"/>
                  </a:lnTo>
                  <a:lnTo>
                    <a:pt x="0" y="6"/>
                  </a:lnTo>
                  <a:lnTo>
                    <a:pt x="44"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178" name="Rectangle 346"/>
            <p:cNvSpPr>
              <a:spLocks noChangeArrowheads="1"/>
            </p:cNvSpPr>
            <p:nvPr/>
          </p:nvSpPr>
          <p:spPr bwMode="auto">
            <a:xfrm>
              <a:off x="952" y="2178"/>
              <a:ext cx="9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a:t>
              </a:r>
              <a:endParaRPr lang="en-US" altLang="en-US" sz="2400"/>
            </a:p>
          </p:txBody>
        </p:sp>
        <p:sp>
          <p:nvSpPr>
            <p:cNvPr id="505179" name="Rectangle 347"/>
            <p:cNvSpPr>
              <a:spLocks noChangeArrowheads="1"/>
            </p:cNvSpPr>
            <p:nvPr/>
          </p:nvSpPr>
          <p:spPr bwMode="auto">
            <a:xfrm>
              <a:off x="1041" y="2178"/>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ait</a:t>
              </a:r>
              <a:endParaRPr lang="en-US" altLang="en-US" sz="2400"/>
            </a:p>
          </p:txBody>
        </p:sp>
        <p:sp>
          <p:nvSpPr>
            <p:cNvPr id="505180" name="Rectangle 348"/>
            <p:cNvSpPr>
              <a:spLocks noChangeArrowheads="1"/>
            </p:cNvSpPr>
            <p:nvPr/>
          </p:nvSpPr>
          <p:spPr bwMode="auto">
            <a:xfrm>
              <a:off x="1154" y="2178"/>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M</a:t>
              </a:r>
              <a:endParaRPr lang="en-US" altLang="en-US" sz="2400"/>
            </a:p>
          </p:txBody>
        </p:sp>
        <p:sp>
          <p:nvSpPr>
            <p:cNvPr id="505181" name="Rectangle 349"/>
            <p:cNvSpPr>
              <a:spLocks noChangeArrowheads="1"/>
            </p:cNvSpPr>
            <p:nvPr/>
          </p:nvSpPr>
          <p:spPr bwMode="auto">
            <a:xfrm>
              <a:off x="1243" y="2178"/>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y</a:t>
              </a:r>
              <a:endParaRPr lang="en-US" altLang="en-US" sz="2400"/>
            </a:p>
          </p:txBody>
        </p:sp>
        <p:sp>
          <p:nvSpPr>
            <p:cNvPr id="505182" name="Rectangle 350"/>
            <p:cNvSpPr>
              <a:spLocks noChangeArrowheads="1"/>
            </p:cNvSpPr>
            <p:nvPr/>
          </p:nvSpPr>
          <p:spPr bwMode="auto">
            <a:xfrm>
              <a:off x="1294" y="2178"/>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505183" name="Rectangle 351"/>
            <p:cNvSpPr>
              <a:spLocks noChangeArrowheads="1"/>
            </p:cNvSpPr>
            <p:nvPr/>
          </p:nvSpPr>
          <p:spPr bwMode="auto">
            <a:xfrm>
              <a:off x="1360" y="2178"/>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dd</a:t>
              </a:r>
              <a:endParaRPr lang="en-US" altLang="en-US" sz="2400"/>
            </a:p>
          </p:txBody>
        </p:sp>
        <p:sp>
          <p:nvSpPr>
            <p:cNvPr id="505184" name="Rectangle 352"/>
            <p:cNvSpPr>
              <a:spLocks noChangeArrowheads="1"/>
            </p:cNvSpPr>
            <p:nvPr/>
          </p:nvSpPr>
          <p:spPr bwMode="auto">
            <a:xfrm>
              <a:off x="1483" y="2178"/>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505185" name="Rectangle 353"/>
            <p:cNvSpPr>
              <a:spLocks noChangeArrowheads="1"/>
            </p:cNvSpPr>
            <p:nvPr/>
          </p:nvSpPr>
          <p:spPr bwMode="auto">
            <a:xfrm>
              <a:off x="1518" y="2178"/>
              <a:ext cx="1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ess</a:t>
              </a:r>
              <a:endParaRPr lang="en-US" altLang="en-US" sz="2400"/>
            </a:p>
          </p:txBody>
        </p:sp>
        <p:sp>
          <p:nvSpPr>
            <p:cNvPr id="505186" name="Freeform 354"/>
            <p:cNvSpPr>
              <a:spLocks/>
            </p:cNvSpPr>
            <p:nvPr/>
          </p:nvSpPr>
          <p:spPr bwMode="auto">
            <a:xfrm>
              <a:off x="1678" y="1900"/>
              <a:ext cx="300" cy="303"/>
            </a:xfrm>
            <a:custGeom>
              <a:avLst/>
              <a:gdLst>
                <a:gd name="T0" fmla="*/ 60 w 88"/>
                <a:gd name="T1" fmla="*/ 82 h 82"/>
                <a:gd name="T2" fmla="*/ 69 w 88"/>
                <a:gd name="T3" fmla="*/ 31 h 82"/>
                <a:gd name="T4" fmla="*/ 0 w 88"/>
                <a:gd name="T5" fmla="*/ 50 h 82"/>
              </a:gdLst>
              <a:ahLst/>
              <a:cxnLst>
                <a:cxn ang="0">
                  <a:pos x="T0" y="T1"/>
                </a:cxn>
                <a:cxn ang="0">
                  <a:pos x="T2" y="T3"/>
                </a:cxn>
                <a:cxn ang="0">
                  <a:pos x="T4" y="T5"/>
                </a:cxn>
              </a:cxnLst>
              <a:rect l="0" t="0" r="r" b="b"/>
              <a:pathLst>
                <a:path w="88" h="82">
                  <a:moveTo>
                    <a:pt x="60" y="82"/>
                  </a:moveTo>
                  <a:cubicBezTo>
                    <a:pt x="60" y="82"/>
                    <a:pt x="88" y="56"/>
                    <a:pt x="69" y="31"/>
                  </a:cubicBezTo>
                  <a:cubicBezTo>
                    <a:pt x="69" y="31"/>
                    <a:pt x="41" y="0"/>
                    <a:pt x="0" y="50"/>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87" name="Freeform 355"/>
            <p:cNvSpPr>
              <a:spLocks/>
            </p:cNvSpPr>
            <p:nvPr/>
          </p:nvSpPr>
          <p:spPr bwMode="auto">
            <a:xfrm>
              <a:off x="1337" y="1317"/>
              <a:ext cx="1556" cy="780"/>
            </a:xfrm>
            <a:custGeom>
              <a:avLst/>
              <a:gdLst>
                <a:gd name="T0" fmla="*/ 456 w 456"/>
                <a:gd name="T1" fmla="*/ 210 h 210"/>
                <a:gd name="T2" fmla="*/ 0 w 456"/>
                <a:gd name="T3" fmla="*/ 192 h 210"/>
              </a:gdLst>
              <a:ahLst/>
              <a:cxnLst>
                <a:cxn ang="0">
                  <a:pos x="T0" y="T1"/>
                </a:cxn>
                <a:cxn ang="0">
                  <a:pos x="T2" y="T3"/>
                </a:cxn>
              </a:cxnLst>
              <a:rect l="0" t="0" r="r" b="b"/>
              <a:pathLst>
                <a:path w="456" h="210">
                  <a:moveTo>
                    <a:pt x="456" y="210"/>
                  </a:moveTo>
                  <a:cubicBezTo>
                    <a:pt x="456" y="210"/>
                    <a:pt x="280" y="0"/>
                    <a:pt x="0" y="192"/>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88" name="Rectangle 356"/>
            <p:cNvSpPr>
              <a:spLocks noChangeArrowheads="1"/>
            </p:cNvSpPr>
            <p:nvPr/>
          </p:nvSpPr>
          <p:spPr bwMode="auto">
            <a:xfrm>
              <a:off x="2433" y="1640"/>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505189" name="Rectangle 357"/>
            <p:cNvSpPr>
              <a:spLocks noChangeArrowheads="1"/>
            </p:cNvSpPr>
            <p:nvPr/>
          </p:nvSpPr>
          <p:spPr bwMode="auto">
            <a:xfrm>
              <a:off x="2467" y="1640"/>
              <a:ext cx="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505190" name="Rectangle 358"/>
            <p:cNvSpPr>
              <a:spLocks noChangeArrowheads="1"/>
            </p:cNvSpPr>
            <p:nvPr/>
          </p:nvSpPr>
          <p:spPr bwMode="auto">
            <a:xfrm>
              <a:off x="2529" y="1629"/>
              <a:ext cx="2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Tahoma" panose="020B0604030504040204" pitchFamily="34" charset="0"/>
                </a:rPr>
                <a:t>‘</a:t>
              </a:r>
            </a:p>
          </p:txBody>
        </p:sp>
        <p:sp>
          <p:nvSpPr>
            <p:cNvPr id="505191" name="Rectangle 359"/>
            <p:cNvSpPr>
              <a:spLocks noChangeArrowheads="1"/>
            </p:cNvSpPr>
            <p:nvPr/>
          </p:nvSpPr>
          <p:spPr bwMode="auto">
            <a:xfrm>
              <a:off x="3304" y="1679"/>
              <a:ext cx="3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505192" name="Rectangle 360"/>
            <p:cNvSpPr>
              <a:spLocks noChangeArrowheads="1"/>
            </p:cNvSpPr>
            <p:nvPr/>
          </p:nvSpPr>
          <p:spPr bwMode="auto">
            <a:xfrm>
              <a:off x="3338" y="1679"/>
              <a:ext cx="52"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505193" name="Freeform 361"/>
            <p:cNvSpPr>
              <a:spLocks/>
            </p:cNvSpPr>
            <p:nvPr/>
          </p:nvSpPr>
          <p:spPr bwMode="auto">
            <a:xfrm>
              <a:off x="3196" y="1699"/>
              <a:ext cx="406" cy="494"/>
            </a:xfrm>
            <a:custGeom>
              <a:avLst/>
              <a:gdLst>
                <a:gd name="T0" fmla="*/ 34 w 119"/>
                <a:gd name="T1" fmla="*/ 133 h 133"/>
                <a:gd name="T2" fmla="*/ 62 w 119"/>
                <a:gd name="T3" fmla="*/ 40 h 133"/>
                <a:gd name="T4" fmla="*/ 12 w 119"/>
                <a:gd name="T5" fmla="*/ 97 h 133"/>
              </a:gdLst>
              <a:ahLst/>
              <a:cxnLst>
                <a:cxn ang="0">
                  <a:pos x="T0" y="T1"/>
                </a:cxn>
                <a:cxn ang="0">
                  <a:pos x="T2" y="T3"/>
                </a:cxn>
                <a:cxn ang="0">
                  <a:pos x="T4" y="T5"/>
                </a:cxn>
              </a:cxnLst>
              <a:rect l="0" t="0" r="r" b="b"/>
              <a:pathLst>
                <a:path w="119" h="133">
                  <a:moveTo>
                    <a:pt x="34" y="133"/>
                  </a:moveTo>
                  <a:cubicBezTo>
                    <a:pt x="34" y="133"/>
                    <a:pt x="119" y="84"/>
                    <a:pt x="62" y="40"/>
                  </a:cubicBezTo>
                  <a:cubicBezTo>
                    <a:pt x="62" y="40"/>
                    <a:pt x="0" y="0"/>
                    <a:pt x="12" y="97"/>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194" name="Rectangle 362"/>
            <p:cNvSpPr>
              <a:spLocks noChangeArrowheads="1"/>
            </p:cNvSpPr>
            <p:nvPr/>
          </p:nvSpPr>
          <p:spPr bwMode="auto">
            <a:xfrm>
              <a:off x="2711" y="2169"/>
              <a:ext cx="58"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505195" name="Rectangle 363"/>
            <p:cNvSpPr>
              <a:spLocks noChangeArrowheads="1"/>
            </p:cNvSpPr>
            <p:nvPr/>
          </p:nvSpPr>
          <p:spPr bwMode="auto">
            <a:xfrm>
              <a:off x="2765" y="2169"/>
              <a:ext cx="22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endD</a:t>
              </a:r>
              <a:endParaRPr lang="en-US" altLang="en-US" sz="2400"/>
            </a:p>
          </p:txBody>
        </p:sp>
        <p:sp>
          <p:nvSpPr>
            <p:cNvPr id="505196" name="Rectangle 364"/>
            <p:cNvSpPr>
              <a:spLocks noChangeArrowheads="1"/>
            </p:cNvSpPr>
            <p:nvPr/>
          </p:nvSpPr>
          <p:spPr bwMode="auto">
            <a:xfrm>
              <a:off x="3015" y="2169"/>
              <a:ext cx="46"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505197" name="Rectangle 365"/>
            <p:cNvSpPr>
              <a:spLocks noChangeArrowheads="1"/>
            </p:cNvSpPr>
            <p:nvPr/>
          </p:nvSpPr>
          <p:spPr bwMode="auto">
            <a:xfrm>
              <a:off x="3067" y="2169"/>
              <a:ext cx="75"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a:t>
              </a:r>
              <a:endParaRPr lang="en-US" altLang="en-US" sz="2400"/>
            </a:p>
          </p:txBody>
        </p:sp>
        <p:sp>
          <p:nvSpPr>
            <p:cNvPr id="505198" name="Rectangle 366"/>
            <p:cNvSpPr>
              <a:spLocks noChangeArrowheads="1"/>
            </p:cNvSpPr>
            <p:nvPr/>
          </p:nvSpPr>
          <p:spPr bwMode="auto">
            <a:xfrm>
              <a:off x="1030" y="2448"/>
              <a:ext cx="387"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D_en = 0</a:t>
              </a:r>
              <a:endParaRPr lang="en-US" altLang="en-US" sz="2400"/>
            </a:p>
          </p:txBody>
        </p:sp>
        <p:sp>
          <p:nvSpPr>
            <p:cNvPr id="505199" name="Rectangle 367"/>
            <p:cNvSpPr>
              <a:spLocks noChangeArrowheads="1"/>
            </p:cNvSpPr>
            <p:nvPr/>
          </p:nvSpPr>
          <p:spPr bwMode="auto">
            <a:xfrm>
              <a:off x="1026" y="2582"/>
              <a:ext cx="423"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Q1_ld = 1</a:t>
              </a:r>
              <a:endParaRPr lang="en-US" altLang="en-US" sz="2400"/>
            </a:p>
          </p:txBody>
        </p:sp>
        <p:sp>
          <p:nvSpPr>
            <p:cNvPr id="505200" name="Rectangle 368"/>
            <p:cNvSpPr>
              <a:spLocks noChangeArrowheads="1"/>
            </p:cNvSpPr>
            <p:nvPr/>
          </p:nvSpPr>
          <p:spPr bwMode="auto">
            <a:xfrm>
              <a:off x="2757" y="2448"/>
              <a:ext cx="38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D_en = 1</a:t>
              </a:r>
              <a:endParaRPr lang="en-US" altLang="en-US" sz="2400"/>
            </a:p>
          </p:txBody>
        </p:sp>
        <p:sp>
          <p:nvSpPr>
            <p:cNvPr id="505201" name="Rectangle 369"/>
            <p:cNvSpPr>
              <a:spLocks noChangeArrowheads="1"/>
            </p:cNvSpPr>
            <p:nvPr/>
          </p:nvSpPr>
          <p:spPr bwMode="auto">
            <a:xfrm>
              <a:off x="2754" y="2582"/>
              <a:ext cx="424" cy="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Q1_ld = 0</a:t>
              </a:r>
              <a:endParaRPr lang="en-US" altLang="en-US" sz="2400"/>
            </a:p>
          </p:txBody>
        </p:sp>
        <p:sp>
          <p:nvSpPr>
            <p:cNvPr id="505202" name="Rectangle 370"/>
            <p:cNvSpPr>
              <a:spLocks noChangeArrowheads="1"/>
            </p:cNvSpPr>
            <p:nvPr/>
          </p:nvSpPr>
          <p:spPr bwMode="auto">
            <a:xfrm>
              <a:off x="1947" y="2286"/>
              <a:ext cx="2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A_eq_</a:t>
              </a:r>
              <a:endParaRPr lang="en-US" altLang="en-US" sz="2400"/>
            </a:p>
          </p:txBody>
        </p:sp>
        <p:sp>
          <p:nvSpPr>
            <p:cNvPr id="505203" name="Rectangle 371"/>
            <p:cNvSpPr>
              <a:spLocks noChangeArrowheads="1"/>
            </p:cNvSpPr>
            <p:nvPr/>
          </p:nvSpPr>
          <p:spPr bwMode="auto">
            <a:xfrm>
              <a:off x="2239" y="2286"/>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a:t>
              </a:r>
              <a:endParaRPr lang="en-US" altLang="en-US" sz="2400"/>
            </a:p>
          </p:txBody>
        </p:sp>
        <p:sp>
          <p:nvSpPr>
            <p:cNvPr id="505204" name="Rectangle 372"/>
            <p:cNvSpPr>
              <a:spLocks noChangeArrowheads="1"/>
            </p:cNvSpPr>
            <p:nvPr/>
          </p:nvSpPr>
          <p:spPr bwMode="auto">
            <a:xfrm>
              <a:off x="2287" y="2286"/>
              <a:ext cx="18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a:t>
              </a:r>
              <a:endParaRPr lang="en-US" altLang="en-US" sz="2400"/>
            </a:p>
          </p:txBody>
        </p:sp>
        <p:sp>
          <p:nvSpPr>
            <p:cNvPr id="505205" name="Rectangle 373"/>
            <p:cNvSpPr>
              <a:spLocks noChangeArrowheads="1"/>
            </p:cNvSpPr>
            <p:nvPr/>
          </p:nvSpPr>
          <p:spPr bwMode="auto">
            <a:xfrm>
              <a:off x="2075" y="2419"/>
              <a:ext cx="15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and</a:t>
              </a:r>
              <a:endParaRPr lang="en-US" altLang="en-US" sz="2400"/>
            </a:p>
          </p:txBody>
        </p:sp>
        <p:sp>
          <p:nvSpPr>
            <p:cNvPr id="505206" name="Rectangle 374"/>
            <p:cNvSpPr>
              <a:spLocks noChangeArrowheads="1"/>
            </p:cNvSpPr>
            <p:nvPr/>
          </p:nvSpPr>
          <p:spPr bwMode="auto">
            <a:xfrm>
              <a:off x="2274" y="2419"/>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505207" name="Rectangle 375"/>
            <p:cNvSpPr>
              <a:spLocks noChangeArrowheads="1"/>
            </p:cNvSpPr>
            <p:nvPr/>
          </p:nvSpPr>
          <p:spPr bwMode="auto">
            <a:xfrm>
              <a:off x="2308" y="241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505208" name="Rectangle 376"/>
            <p:cNvSpPr>
              <a:spLocks noChangeArrowheads="1"/>
            </p:cNvSpPr>
            <p:nvPr/>
          </p:nvSpPr>
          <p:spPr bwMode="auto">
            <a:xfrm>
              <a:off x="1895" y="1821"/>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t>
              </a:r>
              <a:endParaRPr lang="en-US" altLang="en-US" sz="2400"/>
            </a:p>
          </p:txBody>
        </p:sp>
        <p:sp>
          <p:nvSpPr>
            <p:cNvPr id="505209" name="Rectangle 377"/>
            <p:cNvSpPr>
              <a:spLocks noChangeArrowheads="1"/>
            </p:cNvSpPr>
            <p:nvPr/>
          </p:nvSpPr>
          <p:spPr bwMode="auto">
            <a:xfrm>
              <a:off x="1925" y="1821"/>
              <a:ext cx="2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A_eq_</a:t>
              </a:r>
              <a:endParaRPr lang="en-US" altLang="en-US" sz="2400"/>
            </a:p>
          </p:txBody>
        </p:sp>
        <p:sp>
          <p:nvSpPr>
            <p:cNvPr id="505210" name="Rectangle 378"/>
            <p:cNvSpPr>
              <a:spLocks noChangeArrowheads="1"/>
            </p:cNvSpPr>
            <p:nvPr/>
          </p:nvSpPr>
          <p:spPr bwMode="auto">
            <a:xfrm>
              <a:off x="2217" y="182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a:t>
              </a:r>
              <a:endParaRPr lang="en-US" altLang="en-US" sz="2400"/>
            </a:p>
          </p:txBody>
        </p:sp>
        <p:sp>
          <p:nvSpPr>
            <p:cNvPr id="505211" name="Rectangle 379"/>
            <p:cNvSpPr>
              <a:spLocks noChangeArrowheads="1"/>
            </p:cNvSpPr>
            <p:nvPr/>
          </p:nvSpPr>
          <p:spPr bwMode="auto">
            <a:xfrm>
              <a:off x="2265" y="1821"/>
              <a:ext cx="18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a:t>
              </a:r>
              <a:endParaRPr lang="en-US" altLang="en-US" sz="2400"/>
            </a:p>
          </p:txBody>
        </p:sp>
        <p:sp>
          <p:nvSpPr>
            <p:cNvPr id="505212" name="Rectangle 380"/>
            <p:cNvSpPr>
              <a:spLocks noChangeArrowheads="1"/>
            </p:cNvSpPr>
            <p:nvPr/>
          </p:nvSpPr>
          <p:spPr bwMode="auto">
            <a:xfrm>
              <a:off x="2010" y="1956"/>
              <a:ext cx="14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and</a:t>
              </a:r>
              <a:endParaRPr lang="en-US" altLang="en-US" sz="2400"/>
            </a:p>
          </p:txBody>
        </p:sp>
        <p:sp>
          <p:nvSpPr>
            <p:cNvPr id="505213" name="Rectangle 381"/>
            <p:cNvSpPr>
              <a:spLocks noChangeArrowheads="1"/>
            </p:cNvSpPr>
            <p:nvPr/>
          </p:nvSpPr>
          <p:spPr bwMode="auto">
            <a:xfrm>
              <a:off x="2209" y="1956"/>
              <a:ext cx="3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505214" name="Rectangle 382"/>
            <p:cNvSpPr>
              <a:spLocks noChangeArrowheads="1"/>
            </p:cNvSpPr>
            <p:nvPr/>
          </p:nvSpPr>
          <p:spPr bwMode="auto">
            <a:xfrm>
              <a:off x="2242" y="1956"/>
              <a:ext cx="8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sz="2400"/>
            </a:p>
          </p:txBody>
        </p:sp>
        <p:sp>
          <p:nvSpPr>
            <p:cNvPr id="505215" name="Rectangle 383"/>
            <p:cNvSpPr>
              <a:spLocks noChangeArrowheads="1"/>
            </p:cNvSpPr>
            <p:nvPr/>
          </p:nvSpPr>
          <p:spPr bwMode="auto">
            <a:xfrm>
              <a:off x="2335" y="1945"/>
              <a:ext cx="2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Tahoma" panose="020B0604030504040204" pitchFamily="34" charset="0"/>
                </a:rPr>
                <a:t>‘</a:t>
              </a:r>
            </a:p>
          </p:txBody>
        </p:sp>
        <p:sp>
          <p:nvSpPr>
            <p:cNvPr id="505216" name="Oval 384"/>
            <p:cNvSpPr>
              <a:spLocks noChangeArrowheads="1"/>
            </p:cNvSpPr>
            <p:nvPr/>
          </p:nvSpPr>
          <p:spPr bwMode="auto">
            <a:xfrm>
              <a:off x="706" y="2078"/>
              <a:ext cx="1197" cy="338"/>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217" name="Oval 385"/>
            <p:cNvSpPr>
              <a:spLocks noChangeArrowheads="1"/>
            </p:cNvSpPr>
            <p:nvPr/>
          </p:nvSpPr>
          <p:spPr bwMode="auto">
            <a:xfrm>
              <a:off x="2534" y="2097"/>
              <a:ext cx="798" cy="293"/>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04907" name="Rectangle 75"/>
          <p:cNvSpPr>
            <a:spLocks noChangeArrowheads="1"/>
          </p:cNvSpPr>
          <p:nvPr/>
        </p:nvSpPr>
        <p:spPr bwMode="auto">
          <a:xfrm>
            <a:off x="6713538" y="2233613"/>
            <a:ext cx="1754187" cy="25511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4908" name="Rectangle 76"/>
          <p:cNvSpPr>
            <a:spLocks noChangeArrowheads="1"/>
          </p:cNvSpPr>
          <p:nvPr/>
        </p:nvSpPr>
        <p:spPr bwMode="auto">
          <a:xfrm>
            <a:off x="6808788" y="4540250"/>
            <a:ext cx="815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b="1">
                <a:solidFill>
                  <a:srgbClr val="000000"/>
                </a:solidFill>
                <a:latin typeface="Myriad Roman" charset="0"/>
              </a:rPr>
              <a:t>Datapath</a:t>
            </a:r>
            <a:endParaRPr lang="en-US" altLang="en-US" sz="2800" b="1"/>
          </a:p>
        </p:txBody>
      </p:sp>
      <p:sp>
        <p:nvSpPr>
          <p:cNvPr id="504913" name="Rectangle 81"/>
          <p:cNvSpPr>
            <a:spLocks noChangeArrowheads="1"/>
          </p:cNvSpPr>
          <p:nvPr/>
        </p:nvSpPr>
        <p:spPr bwMode="auto">
          <a:xfrm>
            <a:off x="5513388" y="4679950"/>
            <a:ext cx="11128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Bus interface</a:t>
            </a:r>
            <a:endParaRPr lang="en-US" altLang="en-US" sz="2800"/>
          </a:p>
        </p:txBody>
      </p:sp>
      <p:sp>
        <p:nvSpPr>
          <p:cNvPr id="504923" name="Line 91"/>
          <p:cNvSpPr>
            <a:spLocks noChangeShapeType="1"/>
          </p:cNvSpPr>
          <p:nvPr/>
        </p:nvSpPr>
        <p:spPr bwMode="auto">
          <a:xfrm>
            <a:off x="5629275" y="2789238"/>
            <a:ext cx="1878013"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24" name="Freeform 92"/>
          <p:cNvSpPr>
            <a:spLocks/>
          </p:cNvSpPr>
          <p:nvPr/>
        </p:nvSpPr>
        <p:spPr bwMode="auto">
          <a:xfrm>
            <a:off x="7485063" y="2743200"/>
            <a:ext cx="184150" cy="920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25" name="Rectangle 93"/>
          <p:cNvSpPr>
            <a:spLocks noChangeArrowheads="1"/>
          </p:cNvSpPr>
          <p:nvPr/>
        </p:nvSpPr>
        <p:spPr bwMode="auto">
          <a:xfrm>
            <a:off x="5910263" y="2527300"/>
            <a:ext cx="476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Q1_ld</a:t>
            </a:r>
            <a:endParaRPr lang="en-US" altLang="en-US" sz="2800"/>
          </a:p>
        </p:txBody>
      </p:sp>
      <p:sp>
        <p:nvSpPr>
          <p:cNvPr id="504926" name="Rectangle 94"/>
          <p:cNvSpPr>
            <a:spLocks noChangeArrowheads="1"/>
          </p:cNvSpPr>
          <p:nvPr/>
        </p:nvSpPr>
        <p:spPr bwMode="auto">
          <a:xfrm>
            <a:off x="7673975" y="2660650"/>
            <a:ext cx="147638"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ld</a:t>
            </a:r>
            <a:endParaRPr lang="en-US" altLang="en-US" sz="2800"/>
          </a:p>
        </p:txBody>
      </p:sp>
      <p:sp>
        <p:nvSpPr>
          <p:cNvPr id="504927" name="Rectangle 95"/>
          <p:cNvSpPr>
            <a:spLocks noChangeArrowheads="1"/>
          </p:cNvSpPr>
          <p:nvPr/>
        </p:nvSpPr>
        <p:spPr bwMode="auto">
          <a:xfrm>
            <a:off x="7943850" y="2771775"/>
            <a:ext cx="233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Q1</a:t>
            </a:r>
            <a:endParaRPr lang="en-US" altLang="en-US" sz="2800"/>
          </a:p>
        </p:txBody>
      </p:sp>
      <p:sp>
        <p:nvSpPr>
          <p:cNvPr id="504928" name="Freeform 96"/>
          <p:cNvSpPr>
            <a:spLocks/>
          </p:cNvSpPr>
          <p:nvPr/>
        </p:nvSpPr>
        <p:spPr bwMode="auto">
          <a:xfrm>
            <a:off x="7654925" y="2862263"/>
            <a:ext cx="144463" cy="144462"/>
          </a:xfrm>
          <a:custGeom>
            <a:avLst/>
            <a:gdLst>
              <a:gd name="T0" fmla="*/ 0 w 78"/>
              <a:gd name="T1" fmla="*/ 78 h 78"/>
              <a:gd name="T2" fmla="*/ 78 w 78"/>
              <a:gd name="T3" fmla="*/ 38 h 78"/>
              <a:gd name="T4" fmla="*/ 0 w 78"/>
              <a:gd name="T5" fmla="*/ 0 h 78"/>
            </a:gdLst>
            <a:ahLst/>
            <a:cxnLst>
              <a:cxn ang="0">
                <a:pos x="T0" y="T1"/>
              </a:cxn>
              <a:cxn ang="0">
                <a:pos x="T2" y="T3"/>
              </a:cxn>
              <a:cxn ang="0">
                <a:pos x="T4" y="T5"/>
              </a:cxn>
            </a:cxnLst>
            <a:rect l="0" t="0" r="r" b="b"/>
            <a:pathLst>
              <a:path w="78" h="78">
                <a:moveTo>
                  <a:pt x="0" y="78"/>
                </a:moveTo>
                <a:lnTo>
                  <a:pt x="78" y="38"/>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4929" name="Rectangle 97"/>
          <p:cNvSpPr>
            <a:spLocks noChangeArrowheads="1"/>
          </p:cNvSpPr>
          <p:nvPr/>
        </p:nvSpPr>
        <p:spPr bwMode="auto">
          <a:xfrm>
            <a:off x="7643813" y="2570163"/>
            <a:ext cx="741362" cy="447675"/>
          </a:xfrm>
          <a:prstGeom prst="rect">
            <a:avLst/>
          </a:prstGeom>
          <a:noFill/>
          <a:ln w="9525">
            <a:solidFill>
              <a:srgbClr val="3399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4933" name="Rectangle 101"/>
          <p:cNvSpPr>
            <a:spLocks noChangeArrowheads="1"/>
          </p:cNvSpPr>
          <p:nvPr/>
        </p:nvSpPr>
        <p:spPr bwMode="auto">
          <a:xfrm>
            <a:off x="7394575" y="1846263"/>
            <a:ext cx="4984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Faddr</a:t>
            </a:r>
            <a:endParaRPr lang="en-US" altLang="en-US" sz="2800"/>
          </a:p>
        </p:txBody>
      </p:sp>
      <p:sp>
        <p:nvSpPr>
          <p:cNvPr id="504934" name="Rectangle 102"/>
          <p:cNvSpPr>
            <a:spLocks noChangeArrowheads="1"/>
          </p:cNvSpPr>
          <p:nvPr/>
        </p:nvSpPr>
        <p:spPr bwMode="auto">
          <a:xfrm>
            <a:off x="8115300" y="1846263"/>
            <a:ext cx="1381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Q</a:t>
            </a:r>
            <a:endParaRPr lang="en-US" altLang="en-US" sz="2800"/>
          </a:p>
        </p:txBody>
      </p:sp>
      <p:sp>
        <p:nvSpPr>
          <p:cNvPr id="504936" name="Line 104"/>
          <p:cNvSpPr>
            <a:spLocks noChangeShapeType="1"/>
          </p:cNvSpPr>
          <p:nvPr/>
        </p:nvSpPr>
        <p:spPr bwMode="auto">
          <a:xfrm>
            <a:off x="6921500" y="1824038"/>
            <a:ext cx="1588" cy="1219200"/>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37" name="Freeform 105"/>
          <p:cNvSpPr>
            <a:spLocks/>
          </p:cNvSpPr>
          <p:nvPr/>
        </p:nvSpPr>
        <p:spPr bwMode="auto">
          <a:xfrm>
            <a:off x="6875463" y="2973388"/>
            <a:ext cx="92075" cy="1841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38" name="Line 106"/>
          <p:cNvSpPr>
            <a:spLocks noChangeShapeType="1"/>
          </p:cNvSpPr>
          <p:nvPr/>
        </p:nvSpPr>
        <p:spPr bwMode="auto">
          <a:xfrm>
            <a:off x="7332663" y="1824038"/>
            <a:ext cx="1587" cy="1219200"/>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39" name="Freeform 107"/>
          <p:cNvSpPr>
            <a:spLocks/>
          </p:cNvSpPr>
          <p:nvPr/>
        </p:nvSpPr>
        <p:spPr bwMode="auto">
          <a:xfrm>
            <a:off x="7286625" y="2973388"/>
            <a:ext cx="92075" cy="1841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40" name="Line 108"/>
          <p:cNvSpPr>
            <a:spLocks noChangeShapeType="1"/>
          </p:cNvSpPr>
          <p:nvPr/>
        </p:nvSpPr>
        <p:spPr bwMode="auto">
          <a:xfrm>
            <a:off x="8045450" y="1819275"/>
            <a:ext cx="1588" cy="6619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41" name="Freeform 109"/>
          <p:cNvSpPr>
            <a:spLocks/>
          </p:cNvSpPr>
          <p:nvPr/>
        </p:nvSpPr>
        <p:spPr bwMode="auto">
          <a:xfrm>
            <a:off x="6846888" y="2284413"/>
            <a:ext cx="155575" cy="149225"/>
          </a:xfrm>
          <a:custGeom>
            <a:avLst/>
            <a:gdLst>
              <a:gd name="T0" fmla="*/ 84 w 84"/>
              <a:gd name="T1" fmla="*/ 0 h 81"/>
              <a:gd name="T2" fmla="*/ 0 w 84"/>
              <a:gd name="T3" fmla="*/ 81 h 81"/>
              <a:gd name="T4" fmla="*/ 84 w 84"/>
              <a:gd name="T5" fmla="*/ 0 h 81"/>
            </a:gdLst>
            <a:ahLst/>
            <a:cxnLst>
              <a:cxn ang="0">
                <a:pos x="T0" y="T1"/>
              </a:cxn>
              <a:cxn ang="0">
                <a:pos x="T2" y="T3"/>
              </a:cxn>
              <a:cxn ang="0">
                <a:pos x="T4" y="T5"/>
              </a:cxn>
            </a:cxnLst>
            <a:rect l="0" t="0" r="r" b="b"/>
            <a:pathLst>
              <a:path w="84" h="81">
                <a:moveTo>
                  <a:pt x="84" y="0"/>
                </a:moveTo>
                <a:lnTo>
                  <a:pt x="0" y="81"/>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42" name="Line 110"/>
          <p:cNvSpPr>
            <a:spLocks noChangeShapeType="1"/>
          </p:cNvSpPr>
          <p:nvPr/>
        </p:nvSpPr>
        <p:spPr bwMode="auto">
          <a:xfrm flipH="1">
            <a:off x="6846888" y="2284413"/>
            <a:ext cx="155575" cy="14922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43" name="Freeform 111"/>
          <p:cNvSpPr>
            <a:spLocks/>
          </p:cNvSpPr>
          <p:nvPr/>
        </p:nvSpPr>
        <p:spPr bwMode="auto">
          <a:xfrm>
            <a:off x="7258050" y="2284413"/>
            <a:ext cx="150813" cy="149225"/>
          </a:xfrm>
          <a:custGeom>
            <a:avLst/>
            <a:gdLst>
              <a:gd name="T0" fmla="*/ 81 w 81"/>
              <a:gd name="T1" fmla="*/ 0 h 81"/>
              <a:gd name="T2" fmla="*/ 0 w 81"/>
              <a:gd name="T3" fmla="*/ 81 h 81"/>
              <a:gd name="T4" fmla="*/ 81 w 81"/>
              <a:gd name="T5" fmla="*/ 0 h 81"/>
            </a:gdLst>
            <a:ahLst/>
            <a:cxnLst>
              <a:cxn ang="0">
                <a:pos x="T0" y="T1"/>
              </a:cxn>
              <a:cxn ang="0">
                <a:pos x="T2" y="T3"/>
              </a:cxn>
              <a:cxn ang="0">
                <a:pos x="T4" y="T5"/>
              </a:cxn>
            </a:cxnLst>
            <a:rect l="0" t="0" r="r" b="b"/>
            <a:pathLst>
              <a:path w="81" h="81">
                <a:moveTo>
                  <a:pt x="81" y="0"/>
                </a:moveTo>
                <a:lnTo>
                  <a:pt x="0" y="81"/>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44" name="Line 112"/>
          <p:cNvSpPr>
            <a:spLocks noChangeShapeType="1"/>
          </p:cNvSpPr>
          <p:nvPr/>
        </p:nvSpPr>
        <p:spPr bwMode="auto">
          <a:xfrm flipH="1">
            <a:off x="7258050" y="2284413"/>
            <a:ext cx="150813" cy="14922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45" name="Freeform 113"/>
          <p:cNvSpPr>
            <a:spLocks/>
          </p:cNvSpPr>
          <p:nvPr/>
        </p:nvSpPr>
        <p:spPr bwMode="auto">
          <a:xfrm>
            <a:off x="7975600" y="2278063"/>
            <a:ext cx="149225" cy="155575"/>
          </a:xfrm>
          <a:custGeom>
            <a:avLst/>
            <a:gdLst>
              <a:gd name="T0" fmla="*/ 81 w 81"/>
              <a:gd name="T1" fmla="*/ 0 h 84"/>
              <a:gd name="T2" fmla="*/ 0 w 81"/>
              <a:gd name="T3" fmla="*/ 84 h 84"/>
              <a:gd name="T4" fmla="*/ 81 w 81"/>
              <a:gd name="T5" fmla="*/ 0 h 84"/>
            </a:gdLst>
            <a:ahLst/>
            <a:cxnLst>
              <a:cxn ang="0">
                <a:pos x="T0" y="T1"/>
              </a:cxn>
              <a:cxn ang="0">
                <a:pos x="T2" y="T3"/>
              </a:cxn>
              <a:cxn ang="0">
                <a:pos x="T4" y="T5"/>
              </a:cxn>
            </a:cxnLst>
            <a:rect l="0" t="0" r="r" b="b"/>
            <a:pathLst>
              <a:path w="81" h="84">
                <a:moveTo>
                  <a:pt x="81" y="0"/>
                </a:moveTo>
                <a:lnTo>
                  <a:pt x="0" y="84"/>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46" name="Line 114"/>
          <p:cNvSpPr>
            <a:spLocks noChangeShapeType="1"/>
          </p:cNvSpPr>
          <p:nvPr/>
        </p:nvSpPr>
        <p:spPr bwMode="auto">
          <a:xfrm flipH="1">
            <a:off x="7975600" y="2278063"/>
            <a:ext cx="149225" cy="1555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47" name="Rectangle 115"/>
          <p:cNvSpPr>
            <a:spLocks noChangeArrowheads="1"/>
          </p:cNvSpPr>
          <p:nvPr/>
        </p:nvSpPr>
        <p:spPr bwMode="auto">
          <a:xfrm>
            <a:off x="6989763" y="2274888"/>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4</a:t>
            </a:r>
            <a:endParaRPr lang="en-US" altLang="en-US" sz="2800"/>
          </a:p>
        </p:txBody>
      </p:sp>
      <p:sp>
        <p:nvSpPr>
          <p:cNvPr id="504948" name="Rectangle 116"/>
          <p:cNvSpPr>
            <a:spLocks noChangeArrowheads="1"/>
          </p:cNvSpPr>
          <p:nvPr/>
        </p:nvSpPr>
        <p:spPr bwMode="auto">
          <a:xfrm>
            <a:off x="7419975" y="2274888"/>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4</a:t>
            </a:r>
            <a:endParaRPr lang="en-US" altLang="en-US" sz="2800"/>
          </a:p>
        </p:txBody>
      </p:sp>
      <p:sp>
        <p:nvSpPr>
          <p:cNvPr id="504949" name="Rectangle 117"/>
          <p:cNvSpPr>
            <a:spLocks noChangeArrowheads="1"/>
          </p:cNvSpPr>
          <p:nvPr/>
        </p:nvSpPr>
        <p:spPr bwMode="auto">
          <a:xfrm>
            <a:off x="8156575" y="2274888"/>
            <a:ext cx="190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sp>
        <p:nvSpPr>
          <p:cNvPr id="504950" name="Rectangle 118"/>
          <p:cNvSpPr>
            <a:spLocks noChangeArrowheads="1"/>
          </p:cNvSpPr>
          <p:nvPr/>
        </p:nvSpPr>
        <p:spPr bwMode="auto">
          <a:xfrm>
            <a:off x="6723063" y="1846263"/>
            <a:ext cx="1381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a:t>
            </a:r>
            <a:endParaRPr lang="en-US" altLang="en-US" sz="2800"/>
          </a:p>
        </p:txBody>
      </p:sp>
      <p:sp>
        <p:nvSpPr>
          <p:cNvPr id="504957" name="Line 125"/>
          <p:cNvSpPr>
            <a:spLocks noChangeShapeType="1"/>
          </p:cNvSpPr>
          <p:nvPr/>
        </p:nvSpPr>
        <p:spPr bwMode="auto">
          <a:xfrm>
            <a:off x="5613400" y="3876675"/>
            <a:ext cx="2217738"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58" name="Freeform 126"/>
          <p:cNvSpPr>
            <a:spLocks/>
          </p:cNvSpPr>
          <p:nvPr/>
        </p:nvSpPr>
        <p:spPr bwMode="auto">
          <a:xfrm>
            <a:off x="7796213" y="3835400"/>
            <a:ext cx="184150" cy="920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59" name="Rectangle 127"/>
          <p:cNvSpPr>
            <a:spLocks noChangeArrowheads="1"/>
          </p:cNvSpPr>
          <p:nvPr/>
        </p:nvSpPr>
        <p:spPr bwMode="auto">
          <a:xfrm>
            <a:off x="5937250" y="3929063"/>
            <a:ext cx="412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D_en</a:t>
            </a:r>
            <a:endParaRPr lang="en-US" altLang="en-US" sz="2800"/>
          </a:p>
        </p:txBody>
      </p:sp>
      <p:sp>
        <p:nvSpPr>
          <p:cNvPr id="504960" name="Freeform 128"/>
          <p:cNvSpPr>
            <a:spLocks/>
          </p:cNvSpPr>
          <p:nvPr/>
        </p:nvSpPr>
        <p:spPr bwMode="auto">
          <a:xfrm>
            <a:off x="7870825" y="3686175"/>
            <a:ext cx="360363" cy="282575"/>
          </a:xfrm>
          <a:custGeom>
            <a:avLst/>
            <a:gdLst>
              <a:gd name="T0" fmla="*/ 0 w 194"/>
              <a:gd name="T1" fmla="*/ 0 h 153"/>
              <a:gd name="T2" fmla="*/ 97 w 194"/>
              <a:gd name="T3" fmla="*/ 153 h 153"/>
              <a:gd name="T4" fmla="*/ 194 w 194"/>
              <a:gd name="T5" fmla="*/ 0 h 153"/>
              <a:gd name="T6" fmla="*/ 0 w 194"/>
              <a:gd name="T7" fmla="*/ 0 h 153"/>
            </a:gdLst>
            <a:ahLst/>
            <a:cxnLst>
              <a:cxn ang="0">
                <a:pos x="T0" y="T1"/>
              </a:cxn>
              <a:cxn ang="0">
                <a:pos x="T2" y="T3"/>
              </a:cxn>
              <a:cxn ang="0">
                <a:pos x="T4" y="T5"/>
              </a:cxn>
              <a:cxn ang="0">
                <a:pos x="T6" y="T7"/>
              </a:cxn>
            </a:cxnLst>
            <a:rect l="0" t="0" r="r" b="b"/>
            <a:pathLst>
              <a:path w="194" h="153">
                <a:moveTo>
                  <a:pt x="0" y="0"/>
                </a:moveTo>
                <a:lnTo>
                  <a:pt x="97" y="153"/>
                </a:lnTo>
                <a:lnTo>
                  <a:pt x="194" y="0"/>
                </a:lnTo>
                <a:lnTo>
                  <a:pt x="0" y="0"/>
                </a:lnTo>
                <a:close/>
              </a:path>
            </a:pathLst>
          </a:custGeom>
          <a:solidFill>
            <a:srgbClr val="FFFFFF"/>
          </a:solidFill>
          <a:ln w="15875" cap="flat">
            <a:solidFill>
              <a:srgbClr val="0078C1"/>
            </a:solidFill>
            <a:prstDash val="solid"/>
            <a:miter lim="800000"/>
            <a:headEnd/>
            <a:tailEnd/>
          </a:ln>
        </p:spPr>
        <p:txBody>
          <a:bodyPr/>
          <a:lstStyle/>
          <a:p>
            <a:endParaRPr lang="en-US"/>
          </a:p>
        </p:txBody>
      </p:sp>
      <p:sp>
        <p:nvSpPr>
          <p:cNvPr id="504964" name="Line 132"/>
          <p:cNvSpPr>
            <a:spLocks noChangeShapeType="1"/>
          </p:cNvSpPr>
          <p:nvPr/>
        </p:nvSpPr>
        <p:spPr bwMode="auto">
          <a:xfrm>
            <a:off x="8040688" y="2449513"/>
            <a:ext cx="17462" cy="1206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05078" name="Group 246"/>
          <p:cNvGrpSpPr>
            <a:grpSpLocks/>
          </p:cNvGrpSpPr>
          <p:nvPr/>
        </p:nvGrpSpPr>
        <p:grpSpPr bwMode="auto">
          <a:xfrm>
            <a:off x="5637213" y="3173413"/>
            <a:ext cx="1870075" cy="554037"/>
            <a:chOff x="3551" y="1999"/>
            <a:chExt cx="1178" cy="349"/>
          </a:xfrm>
        </p:grpSpPr>
        <p:sp>
          <p:nvSpPr>
            <p:cNvPr id="504967" name="Freeform 135"/>
            <p:cNvSpPr>
              <a:spLocks/>
            </p:cNvSpPr>
            <p:nvPr/>
          </p:nvSpPr>
          <p:spPr bwMode="auto">
            <a:xfrm>
              <a:off x="3621" y="2181"/>
              <a:ext cx="885" cy="167"/>
            </a:xfrm>
            <a:custGeom>
              <a:avLst/>
              <a:gdLst>
                <a:gd name="T0" fmla="*/ 0 w 759"/>
                <a:gd name="T1" fmla="*/ 144 h 144"/>
                <a:gd name="T2" fmla="*/ 759 w 759"/>
                <a:gd name="T3" fmla="*/ 144 h 144"/>
                <a:gd name="T4" fmla="*/ 759 w 759"/>
                <a:gd name="T5" fmla="*/ 0 h 144"/>
              </a:gdLst>
              <a:ahLst/>
              <a:cxnLst>
                <a:cxn ang="0">
                  <a:pos x="T0" y="T1"/>
                </a:cxn>
                <a:cxn ang="0">
                  <a:pos x="T2" y="T3"/>
                </a:cxn>
                <a:cxn ang="0">
                  <a:pos x="T4" y="T5"/>
                </a:cxn>
              </a:cxnLst>
              <a:rect l="0" t="0" r="r" b="b"/>
              <a:pathLst>
                <a:path w="759" h="144">
                  <a:moveTo>
                    <a:pt x="0" y="144"/>
                  </a:moveTo>
                  <a:lnTo>
                    <a:pt x="759" y="144"/>
                  </a:lnTo>
                  <a:lnTo>
                    <a:pt x="759"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4968" name="Rectangle 136"/>
            <p:cNvSpPr>
              <a:spLocks noChangeArrowheads="1"/>
            </p:cNvSpPr>
            <p:nvPr/>
          </p:nvSpPr>
          <p:spPr bwMode="auto">
            <a:xfrm>
              <a:off x="3551" y="2176"/>
              <a:ext cx="66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A_eq_Faddr</a:t>
              </a:r>
              <a:endParaRPr lang="en-US" altLang="en-US" sz="2800"/>
            </a:p>
          </p:txBody>
        </p:sp>
        <p:sp>
          <p:nvSpPr>
            <p:cNvPr id="504971" name="Rectangle 139"/>
            <p:cNvSpPr>
              <a:spLocks noChangeArrowheads="1"/>
            </p:cNvSpPr>
            <p:nvPr/>
          </p:nvSpPr>
          <p:spPr bwMode="auto">
            <a:xfrm>
              <a:off x="4313" y="2019"/>
              <a:ext cx="404"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 (4-bit)</a:t>
              </a:r>
              <a:endParaRPr lang="en-US" altLang="en-US" sz="2800"/>
            </a:p>
          </p:txBody>
        </p:sp>
        <p:sp>
          <p:nvSpPr>
            <p:cNvPr id="504972" name="Rectangle 140"/>
            <p:cNvSpPr>
              <a:spLocks noChangeArrowheads="1"/>
            </p:cNvSpPr>
            <p:nvPr/>
          </p:nvSpPr>
          <p:spPr bwMode="auto">
            <a:xfrm>
              <a:off x="4273" y="1999"/>
              <a:ext cx="456" cy="179"/>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05091" name="Group 259"/>
          <p:cNvGrpSpPr>
            <a:grpSpLocks/>
          </p:cNvGrpSpPr>
          <p:nvPr/>
        </p:nvGrpSpPr>
        <p:grpSpPr bwMode="auto">
          <a:xfrm>
            <a:off x="7975600" y="3043238"/>
            <a:ext cx="371475" cy="611187"/>
            <a:chOff x="5024" y="1917"/>
            <a:chExt cx="234" cy="385"/>
          </a:xfrm>
        </p:grpSpPr>
        <p:sp>
          <p:nvSpPr>
            <p:cNvPr id="504977" name="Line 145"/>
            <p:cNvSpPr>
              <a:spLocks noChangeShapeType="1"/>
            </p:cNvSpPr>
            <p:nvPr/>
          </p:nvSpPr>
          <p:spPr bwMode="auto">
            <a:xfrm flipH="1">
              <a:off x="5058" y="1917"/>
              <a:ext cx="9" cy="385"/>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78" name="Freeform 146"/>
            <p:cNvSpPr>
              <a:spLocks/>
            </p:cNvSpPr>
            <p:nvPr/>
          </p:nvSpPr>
          <p:spPr bwMode="auto">
            <a:xfrm>
              <a:off x="5024" y="2083"/>
              <a:ext cx="94" cy="98"/>
            </a:xfrm>
            <a:custGeom>
              <a:avLst/>
              <a:gdLst>
                <a:gd name="T0" fmla="*/ 81 w 81"/>
                <a:gd name="T1" fmla="*/ 0 h 85"/>
                <a:gd name="T2" fmla="*/ 0 w 81"/>
                <a:gd name="T3" fmla="*/ 85 h 85"/>
                <a:gd name="T4" fmla="*/ 81 w 81"/>
                <a:gd name="T5" fmla="*/ 0 h 85"/>
              </a:gdLst>
              <a:ahLst/>
              <a:cxnLst>
                <a:cxn ang="0">
                  <a:pos x="T0" y="T1"/>
                </a:cxn>
                <a:cxn ang="0">
                  <a:pos x="T2" y="T3"/>
                </a:cxn>
                <a:cxn ang="0">
                  <a:pos x="T4" y="T5"/>
                </a:cxn>
              </a:cxnLst>
              <a:rect l="0" t="0" r="r" b="b"/>
              <a:pathLst>
                <a:path w="81" h="85">
                  <a:moveTo>
                    <a:pt x="81" y="0"/>
                  </a:moveTo>
                  <a:lnTo>
                    <a:pt x="0" y="85"/>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79" name="Line 147"/>
            <p:cNvSpPr>
              <a:spLocks noChangeShapeType="1"/>
            </p:cNvSpPr>
            <p:nvPr/>
          </p:nvSpPr>
          <p:spPr bwMode="auto">
            <a:xfrm flipH="1">
              <a:off x="5024" y="2083"/>
              <a:ext cx="94" cy="9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80" name="Rectangle 148"/>
            <p:cNvSpPr>
              <a:spLocks noChangeArrowheads="1"/>
            </p:cNvSpPr>
            <p:nvPr/>
          </p:nvSpPr>
          <p:spPr bwMode="auto">
            <a:xfrm>
              <a:off x="5138" y="2077"/>
              <a:ext cx="120"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grpSp>
      <p:grpSp>
        <p:nvGrpSpPr>
          <p:cNvPr id="505090" name="Group 258"/>
          <p:cNvGrpSpPr>
            <a:grpSpLocks/>
          </p:cNvGrpSpPr>
          <p:nvPr/>
        </p:nvGrpSpPr>
        <p:grpSpPr bwMode="auto">
          <a:xfrm>
            <a:off x="7969250" y="3975100"/>
            <a:ext cx="377825" cy="1384300"/>
            <a:chOff x="5020" y="2504"/>
            <a:chExt cx="238" cy="872"/>
          </a:xfrm>
        </p:grpSpPr>
        <p:sp>
          <p:nvSpPr>
            <p:cNvPr id="504985" name="Freeform 153"/>
            <p:cNvSpPr>
              <a:spLocks/>
            </p:cNvSpPr>
            <p:nvPr/>
          </p:nvSpPr>
          <p:spPr bwMode="auto">
            <a:xfrm>
              <a:off x="5039" y="3249"/>
              <a:ext cx="58" cy="115"/>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86" name="Freeform 154"/>
            <p:cNvSpPr>
              <a:spLocks/>
            </p:cNvSpPr>
            <p:nvPr/>
          </p:nvSpPr>
          <p:spPr bwMode="auto">
            <a:xfrm>
              <a:off x="5020" y="2557"/>
              <a:ext cx="98" cy="98"/>
            </a:xfrm>
            <a:custGeom>
              <a:avLst/>
              <a:gdLst>
                <a:gd name="T0" fmla="*/ 84 w 84"/>
                <a:gd name="T1" fmla="*/ 0 h 84"/>
                <a:gd name="T2" fmla="*/ 0 w 84"/>
                <a:gd name="T3" fmla="*/ 84 h 84"/>
                <a:gd name="T4" fmla="*/ 84 w 84"/>
                <a:gd name="T5" fmla="*/ 0 h 84"/>
              </a:gdLst>
              <a:ahLst/>
              <a:cxnLst>
                <a:cxn ang="0">
                  <a:pos x="T0" y="T1"/>
                </a:cxn>
                <a:cxn ang="0">
                  <a:pos x="T2" y="T3"/>
                </a:cxn>
                <a:cxn ang="0">
                  <a:pos x="T4" y="T5"/>
                </a:cxn>
              </a:cxnLst>
              <a:rect l="0" t="0" r="r" b="b"/>
              <a:pathLst>
                <a:path w="84" h="84">
                  <a:moveTo>
                    <a:pt x="84" y="0"/>
                  </a:moveTo>
                  <a:lnTo>
                    <a:pt x="0" y="84"/>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4987" name="Line 155"/>
            <p:cNvSpPr>
              <a:spLocks noChangeShapeType="1"/>
            </p:cNvSpPr>
            <p:nvPr/>
          </p:nvSpPr>
          <p:spPr bwMode="auto">
            <a:xfrm flipH="1">
              <a:off x="5020" y="2557"/>
              <a:ext cx="98" cy="98"/>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4988" name="Rectangle 156"/>
            <p:cNvSpPr>
              <a:spLocks noChangeArrowheads="1"/>
            </p:cNvSpPr>
            <p:nvPr/>
          </p:nvSpPr>
          <p:spPr bwMode="auto">
            <a:xfrm>
              <a:off x="5138" y="2549"/>
              <a:ext cx="1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sp>
          <p:nvSpPr>
            <p:cNvPr id="504989" name="Rectangle 157"/>
            <p:cNvSpPr>
              <a:spLocks noChangeArrowheads="1"/>
            </p:cNvSpPr>
            <p:nvPr/>
          </p:nvSpPr>
          <p:spPr bwMode="auto">
            <a:xfrm>
              <a:off x="5129" y="3231"/>
              <a:ext cx="87"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
              </a:r>
              <a:endParaRPr lang="en-US" altLang="en-US" sz="2800"/>
            </a:p>
          </p:txBody>
        </p:sp>
        <p:sp>
          <p:nvSpPr>
            <p:cNvPr id="504990" name="Line 158"/>
            <p:cNvSpPr>
              <a:spLocks noChangeShapeType="1"/>
            </p:cNvSpPr>
            <p:nvPr/>
          </p:nvSpPr>
          <p:spPr bwMode="auto">
            <a:xfrm flipH="1">
              <a:off x="5069" y="2504"/>
              <a:ext cx="9" cy="77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505057" name="Freeform 225"/>
          <p:cNvSpPr>
            <a:spLocks/>
          </p:cNvSpPr>
          <p:nvPr/>
        </p:nvSpPr>
        <p:spPr bwMode="auto">
          <a:xfrm>
            <a:off x="5608638" y="3690938"/>
            <a:ext cx="158750" cy="79375"/>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05162"/>
                                        </p:tgtEl>
                                        <p:attrNameLst>
                                          <p:attrName>style.visibility</p:attrName>
                                        </p:attrNameLst>
                                      </p:cBhvr>
                                      <p:to>
                                        <p:strVal val="visible"/>
                                      </p:to>
                                    </p:set>
                                    <p:animEffect transition="in" filter="dissolve">
                                      <p:cBhvr>
                                        <p:cTn id="7" dur="500"/>
                                        <p:tgtEl>
                                          <p:spTgt spid="5051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05170"/>
                                        </p:tgtEl>
                                        <p:attrNameLst>
                                          <p:attrName>style.visibility</p:attrName>
                                        </p:attrNameLst>
                                      </p:cBhvr>
                                      <p:to>
                                        <p:strVal val="visible"/>
                                      </p:to>
                                    </p:set>
                                    <p:animEffect transition="in" filter="dissolve">
                                      <p:cBhvr>
                                        <p:cTn id="12" dur="500"/>
                                        <p:tgtEl>
                                          <p:spTgt spid="505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lide Number Placeholder 3"/>
          <p:cNvSpPr>
            <a:spLocks noGrp="1"/>
          </p:cNvSpPr>
          <p:nvPr>
            <p:ph type="sldNum" sz="quarter" idx="10"/>
          </p:nvPr>
        </p:nvSpPr>
        <p:spPr/>
        <p:txBody>
          <a:bodyPr/>
          <a:lstStyle/>
          <a:p>
            <a:fld id="{C74CECDD-FCDF-4342-8981-56DABC1AF4E7}" type="slidenum">
              <a:rPr lang="en-US" altLang="en-US"/>
              <a:pPr/>
              <a:t>32</a:t>
            </a:fld>
            <a:endParaRPr lang="en-US" altLang="en-US"/>
          </a:p>
        </p:txBody>
      </p:sp>
      <p:sp>
        <p:nvSpPr>
          <p:cNvPr id="505858" name="Rectangle 2"/>
          <p:cNvSpPr>
            <a:spLocks noGrp="1" noChangeArrowheads="1"/>
          </p:cNvSpPr>
          <p:nvPr>
            <p:ph type="title"/>
          </p:nvPr>
        </p:nvSpPr>
        <p:spPr/>
        <p:txBody>
          <a:bodyPr/>
          <a:lstStyle/>
          <a:p>
            <a:r>
              <a:rPr lang="en-US" altLang="en-US"/>
              <a:t>RTL Example: </a:t>
            </a:r>
            <a:r>
              <a:rPr lang="en-US" altLang="en-US" sz="3200"/>
              <a:t>Video Compression – Sum of Absolute Differences</a:t>
            </a:r>
          </a:p>
        </p:txBody>
      </p:sp>
      <p:sp>
        <p:nvSpPr>
          <p:cNvPr id="505859" name="Rectangle 3"/>
          <p:cNvSpPr>
            <a:spLocks noGrp="1" noChangeArrowheads="1"/>
          </p:cNvSpPr>
          <p:nvPr>
            <p:ph type="body" idx="1"/>
          </p:nvPr>
        </p:nvSpPr>
        <p:spPr>
          <a:xfrm>
            <a:off x="228600" y="4719638"/>
            <a:ext cx="8507413" cy="1376362"/>
          </a:xfrm>
        </p:spPr>
        <p:txBody>
          <a:bodyPr/>
          <a:lstStyle/>
          <a:p>
            <a:r>
              <a:rPr lang="en-US" altLang="en-US"/>
              <a:t>Video is a series of frames (e.g., 30 per second)</a:t>
            </a:r>
          </a:p>
          <a:p>
            <a:r>
              <a:rPr lang="en-US" altLang="en-US"/>
              <a:t>Most frames similar to previous frame</a:t>
            </a:r>
          </a:p>
          <a:p>
            <a:pPr lvl="1"/>
            <a:r>
              <a:rPr lang="en-US" altLang="en-US"/>
              <a:t>Compression idea: just send difference from previous frame</a:t>
            </a:r>
          </a:p>
        </p:txBody>
      </p:sp>
      <p:grpSp>
        <p:nvGrpSpPr>
          <p:cNvPr id="505999" name="Group 143"/>
          <p:cNvGrpSpPr>
            <a:grpSpLocks/>
          </p:cNvGrpSpPr>
          <p:nvPr/>
        </p:nvGrpSpPr>
        <p:grpSpPr bwMode="auto">
          <a:xfrm>
            <a:off x="2263775" y="1433513"/>
            <a:ext cx="1679575" cy="3135312"/>
            <a:chOff x="1426" y="903"/>
            <a:chExt cx="1058" cy="1975"/>
          </a:xfrm>
        </p:grpSpPr>
        <p:sp>
          <p:nvSpPr>
            <p:cNvPr id="505873" name="Rectangle 17"/>
            <p:cNvSpPr>
              <a:spLocks noChangeArrowheads="1"/>
            </p:cNvSpPr>
            <p:nvPr/>
          </p:nvSpPr>
          <p:spPr bwMode="auto">
            <a:xfrm>
              <a:off x="1695" y="1932"/>
              <a:ext cx="48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Digitized</a:t>
              </a:r>
              <a:endParaRPr lang="en-US" altLang="en-US" sz="3200"/>
            </a:p>
          </p:txBody>
        </p:sp>
        <p:sp>
          <p:nvSpPr>
            <p:cNvPr id="505878" name="Rectangle 22"/>
            <p:cNvSpPr>
              <a:spLocks noChangeArrowheads="1"/>
            </p:cNvSpPr>
            <p:nvPr/>
          </p:nvSpPr>
          <p:spPr bwMode="auto">
            <a:xfrm>
              <a:off x="1717" y="2052"/>
              <a:ext cx="46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2</a:t>
              </a:r>
              <a:endParaRPr lang="en-US" altLang="en-US" sz="3200"/>
            </a:p>
          </p:txBody>
        </p:sp>
        <p:sp>
          <p:nvSpPr>
            <p:cNvPr id="505886" name="Rectangle 30"/>
            <p:cNvSpPr>
              <a:spLocks noChangeArrowheads="1"/>
            </p:cNvSpPr>
            <p:nvPr/>
          </p:nvSpPr>
          <p:spPr bwMode="auto">
            <a:xfrm>
              <a:off x="1721" y="2715"/>
              <a:ext cx="48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1 Mbyte</a:t>
              </a:r>
              <a:endParaRPr lang="en-US" altLang="en-US" sz="3200"/>
            </a:p>
          </p:txBody>
        </p:sp>
        <p:sp>
          <p:nvSpPr>
            <p:cNvPr id="505896" name="Rectangle 40"/>
            <p:cNvSpPr>
              <a:spLocks noChangeArrowheads="1"/>
            </p:cNvSpPr>
            <p:nvPr/>
          </p:nvSpPr>
          <p:spPr bwMode="auto">
            <a:xfrm>
              <a:off x="1720" y="903"/>
              <a:ext cx="5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2</a:t>
              </a:r>
              <a:endParaRPr lang="en-US" altLang="en-US" sz="3200"/>
            </a:p>
          </p:txBody>
        </p:sp>
        <p:sp>
          <p:nvSpPr>
            <p:cNvPr id="505899" name="Freeform 43"/>
            <p:cNvSpPr>
              <a:spLocks/>
            </p:cNvSpPr>
            <p:nvPr/>
          </p:nvSpPr>
          <p:spPr bwMode="auto">
            <a:xfrm>
              <a:off x="1426" y="1121"/>
              <a:ext cx="1058" cy="471"/>
            </a:xfrm>
            <a:custGeom>
              <a:avLst/>
              <a:gdLst>
                <a:gd name="T0" fmla="*/ 0 w 728"/>
                <a:gd name="T1" fmla="*/ 437 h 437"/>
                <a:gd name="T2" fmla="*/ 175 w 728"/>
                <a:gd name="T3" fmla="*/ 62 h 437"/>
                <a:gd name="T4" fmla="*/ 275 w 728"/>
                <a:gd name="T5" fmla="*/ 200 h 437"/>
                <a:gd name="T6" fmla="*/ 403 w 728"/>
                <a:gd name="T7" fmla="*/ 0 h 437"/>
                <a:gd name="T8" fmla="*/ 728 w 728"/>
                <a:gd name="T9" fmla="*/ 400 h 437"/>
              </a:gdLst>
              <a:ahLst/>
              <a:cxnLst>
                <a:cxn ang="0">
                  <a:pos x="T0" y="T1"/>
                </a:cxn>
                <a:cxn ang="0">
                  <a:pos x="T2" y="T3"/>
                </a:cxn>
                <a:cxn ang="0">
                  <a:pos x="T4" y="T5"/>
                </a:cxn>
                <a:cxn ang="0">
                  <a:pos x="T6" y="T7"/>
                </a:cxn>
                <a:cxn ang="0">
                  <a:pos x="T8" y="T9"/>
                </a:cxn>
              </a:cxnLst>
              <a:rect l="0" t="0" r="r" b="b"/>
              <a:pathLst>
                <a:path w="728" h="437">
                  <a:moveTo>
                    <a:pt x="0" y="437"/>
                  </a:moveTo>
                  <a:lnTo>
                    <a:pt x="175" y="62"/>
                  </a:lnTo>
                  <a:lnTo>
                    <a:pt x="275" y="200"/>
                  </a:lnTo>
                  <a:lnTo>
                    <a:pt x="403" y="0"/>
                  </a:lnTo>
                  <a:lnTo>
                    <a:pt x="728" y="40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0" name="Freeform 44"/>
            <p:cNvSpPr>
              <a:spLocks/>
            </p:cNvSpPr>
            <p:nvPr/>
          </p:nvSpPr>
          <p:spPr bwMode="auto">
            <a:xfrm>
              <a:off x="2171" y="1154"/>
              <a:ext cx="308" cy="108"/>
            </a:xfrm>
            <a:custGeom>
              <a:avLst/>
              <a:gdLst>
                <a:gd name="T0" fmla="*/ 0 w 212"/>
                <a:gd name="T1" fmla="*/ 100 h 100"/>
                <a:gd name="T2" fmla="*/ 131 w 212"/>
                <a:gd name="T3" fmla="*/ 0 h 100"/>
                <a:gd name="T4" fmla="*/ 212 w 212"/>
                <a:gd name="T5" fmla="*/ 50 h 100"/>
              </a:gdLst>
              <a:ahLst/>
              <a:cxnLst>
                <a:cxn ang="0">
                  <a:pos x="T0" y="T1"/>
                </a:cxn>
                <a:cxn ang="0">
                  <a:pos x="T2" y="T3"/>
                </a:cxn>
                <a:cxn ang="0">
                  <a:pos x="T4" y="T5"/>
                </a:cxn>
              </a:cxnLst>
              <a:rect l="0" t="0" r="r" b="b"/>
              <a:pathLst>
                <a:path w="212" h="100">
                  <a:moveTo>
                    <a:pt x="0" y="100"/>
                  </a:moveTo>
                  <a:lnTo>
                    <a:pt x="131" y="0"/>
                  </a:lnTo>
                  <a:lnTo>
                    <a:pt x="212" y="5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1" name="Freeform 45"/>
            <p:cNvSpPr>
              <a:spLocks/>
            </p:cNvSpPr>
            <p:nvPr/>
          </p:nvSpPr>
          <p:spPr bwMode="auto">
            <a:xfrm>
              <a:off x="1426" y="1571"/>
              <a:ext cx="1058" cy="179"/>
            </a:xfrm>
            <a:custGeom>
              <a:avLst/>
              <a:gdLst>
                <a:gd name="T0" fmla="*/ 0 w 233"/>
                <a:gd name="T1" fmla="*/ 37 h 53"/>
                <a:gd name="T2" fmla="*/ 112 w 233"/>
                <a:gd name="T3" fmla="*/ 25 h 53"/>
                <a:gd name="T4" fmla="*/ 233 w 233"/>
                <a:gd name="T5" fmla="*/ 47 h 53"/>
              </a:gdLst>
              <a:ahLst/>
              <a:cxnLst>
                <a:cxn ang="0">
                  <a:pos x="T0" y="T1"/>
                </a:cxn>
                <a:cxn ang="0">
                  <a:pos x="T2" y="T3"/>
                </a:cxn>
                <a:cxn ang="0">
                  <a:pos x="T4" y="T5"/>
                </a:cxn>
              </a:cxnLst>
              <a:rect l="0" t="0" r="r" b="b"/>
              <a:pathLst>
                <a:path w="233" h="53">
                  <a:moveTo>
                    <a:pt x="0" y="37"/>
                  </a:moveTo>
                  <a:cubicBezTo>
                    <a:pt x="0" y="37"/>
                    <a:pt x="16" y="53"/>
                    <a:pt x="112" y="25"/>
                  </a:cubicBezTo>
                  <a:cubicBezTo>
                    <a:pt x="112" y="25"/>
                    <a:pt x="186" y="0"/>
                    <a:pt x="233" y="47"/>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2" name="Oval 46"/>
            <p:cNvSpPr>
              <a:spLocks noChangeArrowheads="1"/>
            </p:cNvSpPr>
            <p:nvPr/>
          </p:nvSpPr>
          <p:spPr bwMode="auto">
            <a:xfrm>
              <a:off x="1749" y="1379"/>
              <a:ext cx="90" cy="68"/>
            </a:xfrm>
            <a:prstGeom prst="ellipse">
              <a:avLst/>
            </a:prstGeom>
            <a:solidFill>
              <a:srgbClr val="000000"/>
            </a:solidFill>
            <a:ln w="15875">
              <a:solidFill>
                <a:srgbClr val="000000"/>
              </a:solidFill>
              <a:miter lim="800000"/>
              <a:headEnd/>
              <a:tailEnd/>
            </a:ln>
          </p:spPr>
          <p:txBody>
            <a:bodyPr/>
            <a:lstStyle/>
            <a:p>
              <a:endParaRPr lang="en-US"/>
            </a:p>
          </p:txBody>
        </p:sp>
        <p:sp>
          <p:nvSpPr>
            <p:cNvPr id="505903" name="Rectangle 47"/>
            <p:cNvSpPr>
              <a:spLocks noChangeArrowheads="1"/>
            </p:cNvSpPr>
            <p:nvPr/>
          </p:nvSpPr>
          <p:spPr bwMode="auto">
            <a:xfrm>
              <a:off x="1426" y="1049"/>
              <a:ext cx="1058" cy="79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4" name="Freeform 48"/>
            <p:cNvSpPr>
              <a:spLocks/>
            </p:cNvSpPr>
            <p:nvPr/>
          </p:nvSpPr>
          <p:spPr bwMode="auto">
            <a:xfrm>
              <a:off x="1757" y="2211"/>
              <a:ext cx="387" cy="196"/>
            </a:xfrm>
            <a:custGeom>
              <a:avLst/>
              <a:gdLst>
                <a:gd name="T0" fmla="*/ 0 w 85"/>
                <a:gd name="T1" fmla="*/ 30 h 58"/>
                <a:gd name="T2" fmla="*/ 39 w 85"/>
                <a:gd name="T3" fmla="*/ 23 h 58"/>
                <a:gd name="T4" fmla="*/ 85 w 85"/>
                <a:gd name="T5" fmla="*/ 25 h 58"/>
              </a:gdLst>
              <a:ahLst/>
              <a:cxnLst>
                <a:cxn ang="0">
                  <a:pos x="T0" y="T1"/>
                </a:cxn>
                <a:cxn ang="0">
                  <a:pos x="T2" y="T3"/>
                </a:cxn>
                <a:cxn ang="0">
                  <a:pos x="T4" y="T5"/>
                </a:cxn>
              </a:cxnLst>
              <a:rect l="0" t="0" r="r" b="b"/>
              <a:pathLst>
                <a:path w="85" h="58">
                  <a:moveTo>
                    <a:pt x="0" y="30"/>
                  </a:moveTo>
                  <a:cubicBezTo>
                    <a:pt x="0" y="30"/>
                    <a:pt x="15" y="0"/>
                    <a:pt x="39" y="23"/>
                  </a:cubicBezTo>
                  <a:cubicBezTo>
                    <a:pt x="39" y="23"/>
                    <a:pt x="66" y="58"/>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5" name="Freeform 49"/>
            <p:cNvSpPr>
              <a:spLocks/>
            </p:cNvSpPr>
            <p:nvPr/>
          </p:nvSpPr>
          <p:spPr bwMode="auto">
            <a:xfrm>
              <a:off x="1757" y="2276"/>
              <a:ext cx="387" cy="192"/>
            </a:xfrm>
            <a:custGeom>
              <a:avLst/>
              <a:gdLst>
                <a:gd name="T0" fmla="*/ 0 w 85"/>
                <a:gd name="T1" fmla="*/ 30 h 57"/>
                <a:gd name="T2" fmla="*/ 39 w 85"/>
                <a:gd name="T3" fmla="*/ 23 h 57"/>
                <a:gd name="T4" fmla="*/ 85 w 85"/>
                <a:gd name="T5" fmla="*/ 25 h 57"/>
              </a:gdLst>
              <a:ahLst/>
              <a:cxnLst>
                <a:cxn ang="0">
                  <a:pos x="T0" y="T1"/>
                </a:cxn>
                <a:cxn ang="0">
                  <a:pos x="T2" y="T3"/>
                </a:cxn>
                <a:cxn ang="0">
                  <a:pos x="T4" y="T5"/>
                </a:cxn>
              </a:cxnLst>
              <a:rect l="0" t="0" r="r" b="b"/>
              <a:pathLst>
                <a:path w="85" h="57">
                  <a:moveTo>
                    <a:pt x="0" y="30"/>
                  </a:moveTo>
                  <a:cubicBezTo>
                    <a:pt x="0" y="30"/>
                    <a:pt x="15" y="0"/>
                    <a:pt x="39" y="23"/>
                  </a:cubicBezTo>
                  <a:cubicBezTo>
                    <a:pt x="39" y="23"/>
                    <a:pt x="66" y="57"/>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6" name="Freeform 50"/>
            <p:cNvSpPr>
              <a:spLocks/>
            </p:cNvSpPr>
            <p:nvPr/>
          </p:nvSpPr>
          <p:spPr bwMode="auto">
            <a:xfrm>
              <a:off x="1757" y="2340"/>
              <a:ext cx="387" cy="192"/>
            </a:xfrm>
            <a:custGeom>
              <a:avLst/>
              <a:gdLst>
                <a:gd name="T0" fmla="*/ 0 w 85"/>
                <a:gd name="T1" fmla="*/ 30 h 57"/>
                <a:gd name="T2" fmla="*/ 39 w 85"/>
                <a:gd name="T3" fmla="*/ 23 h 57"/>
                <a:gd name="T4" fmla="*/ 85 w 85"/>
                <a:gd name="T5" fmla="*/ 25 h 57"/>
              </a:gdLst>
              <a:ahLst/>
              <a:cxnLst>
                <a:cxn ang="0">
                  <a:pos x="T0" y="T1"/>
                </a:cxn>
                <a:cxn ang="0">
                  <a:pos x="T2" y="T3"/>
                </a:cxn>
                <a:cxn ang="0">
                  <a:pos x="T4" y="T5"/>
                </a:cxn>
              </a:cxnLst>
              <a:rect l="0" t="0" r="r" b="b"/>
              <a:pathLst>
                <a:path w="85" h="57">
                  <a:moveTo>
                    <a:pt x="0" y="30"/>
                  </a:moveTo>
                  <a:cubicBezTo>
                    <a:pt x="0" y="30"/>
                    <a:pt x="15" y="0"/>
                    <a:pt x="39" y="23"/>
                  </a:cubicBezTo>
                  <a:cubicBezTo>
                    <a:pt x="39" y="23"/>
                    <a:pt x="66" y="57"/>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7" name="Freeform 51"/>
            <p:cNvSpPr>
              <a:spLocks/>
            </p:cNvSpPr>
            <p:nvPr/>
          </p:nvSpPr>
          <p:spPr bwMode="auto">
            <a:xfrm>
              <a:off x="1757" y="2403"/>
              <a:ext cx="387" cy="192"/>
            </a:xfrm>
            <a:custGeom>
              <a:avLst/>
              <a:gdLst>
                <a:gd name="T0" fmla="*/ 0 w 85"/>
                <a:gd name="T1" fmla="*/ 30 h 57"/>
                <a:gd name="T2" fmla="*/ 39 w 85"/>
                <a:gd name="T3" fmla="*/ 22 h 57"/>
                <a:gd name="T4" fmla="*/ 85 w 85"/>
                <a:gd name="T5" fmla="*/ 24 h 57"/>
              </a:gdLst>
              <a:ahLst/>
              <a:cxnLst>
                <a:cxn ang="0">
                  <a:pos x="T0" y="T1"/>
                </a:cxn>
                <a:cxn ang="0">
                  <a:pos x="T2" y="T3"/>
                </a:cxn>
                <a:cxn ang="0">
                  <a:pos x="T4" y="T5"/>
                </a:cxn>
              </a:cxnLst>
              <a:rect l="0" t="0" r="r" b="b"/>
              <a:pathLst>
                <a:path w="85" h="57">
                  <a:moveTo>
                    <a:pt x="0" y="30"/>
                  </a:moveTo>
                  <a:cubicBezTo>
                    <a:pt x="0" y="30"/>
                    <a:pt x="15" y="0"/>
                    <a:pt x="39" y="22"/>
                  </a:cubicBezTo>
                  <a:cubicBezTo>
                    <a:pt x="39" y="22"/>
                    <a:pt x="66" y="57"/>
                    <a:pt x="85" y="24"/>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8" name="Freeform 52"/>
            <p:cNvSpPr>
              <a:spLocks/>
            </p:cNvSpPr>
            <p:nvPr/>
          </p:nvSpPr>
          <p:spPr bwMode="auto">
            <a:xfrm>
              <a:off x="1757" y="2468"/>
              <a:ext cx="387" cy="192"/>
            </a:xfrm>
            <a:custGeom>
              <a:avLst/>
              <a:gdLst>
                <a:gd name="T0" fmla="*/ 0 w 85"/>
                <a:gd name="T1" fmla="*/ 30 h 57"/>
                <a:gd name="T2" fmla="*/ 39 w 85"/>
                <a:gd name="T3" fmla="*/ 22 h 57"/>
                <a:gd name="T4" fmla="*/ 85 w 85"/>
                <a:gd name="T5" fmla="*/ 24 h 57"/>
              </a:gdLst>
              <a:ahLst/>
              <a:cxnLst>
                <a:cxn ang="0">
                  <a:pos x="T0" y="T1"/>
                </a:cxn>
                <a:cxn ang="0">
                  <a:pos x="T2" y="T3"/>
                </a:cxn>
                <a:cxn ang="0">
                  <a:pos x="T4" y="T5"/>
                </a:cxn>
              </a:cxnLst>
              <a:rect l="0" t="0" r="r" b="b"/>
              <a:pathLst>
                <a:path w="85" h="57">
                  <a:moveTo>
                    <a:pt x="0" y="30"/>
                  </a:moveTo>
                  <a:cubicBezTo>
                    <a:pt x="0" y="30"/>
                    <a:pt x="15" y="0"/>
                    <a:pt x="39" y="22"/>
                  </a:cubicBezTo>
                  <a:cubicBezTo>
                    <a:pt x="39" y="22"/>
                    <a:pt x="66" y="57"/>
                    <a:pt x="85" y="24"/>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09" name="Freeform 53"/>
            <p:cNvSpPr>
              <a:spLocks/>
            </p:cNvSpPr>
            <p:nvPr/>
          </p:nvSpPr>
          <p:spPr bwMode="auto">
            <a:xfrm>
              <a:off x="1757" y="2528"/>
              <a:ext cx="387" cy="195"/>
            </a:xfrm>
            <a:custGeom>
              <a:avLst/>
              <a:gdLst>
                <a:gd name="T0" fmla="*/ 0 w 85"/>
                <a:gd name="T1" fmla="*/ 30 h 58"/>
                <a:gd name="T2" fmla="*/ 39 w 85"/>
                <a:gd name="T3" fmla="*/ 23 h 58"/>
                <a:gd name="T4" fmla="*/ 85 w 85"/>
                <a:gd name="T5" fmla="*/ 25 h 58"/>
              </a:gdLst>
              <a:ahLst/>
              <a:cxnLst>
                <a:cxn ang="0">
                  <a:pos x="T0" y="T1"/>
                </a:cxn>
                <a:cxn ang="0">
                  <a:pos x="T2" y="T3"/>
                </a:cxn>
                <a:cxn ang="0">
                  <a:pos x="T4" y="T5"/>
                </a:cxn>
              </a:cxnLst>
              <a:rect l="0" t="0" r="r" b="b"/>
              <a:pathLst>
                <a:path w="85" h="58">
                  <a:moveTo>
                    <a:pt x="0" y="30"/>
                  </a:moveTo>
                  <a:cubicBezTo>
                    <a:pt x="0" y="30"/>
                    <a:pt x="15" y="0"/>
                    <a:pt x="39" y="23"/>
                  </a:cubicBezTo>
                  <a:cubicBezTo>
                    <a:pt x="39" y="23"/>
                    <a:pt x="66" y="58"/>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0" name="Rectangle 54"/>
            <p:cNvSpPr>
              <a:spLocks noChangeArrowheads="1"/>
            </p:cNvSpPr>
            <p:nvPr/>
          </p:nvSpPr>
          <p:spPr bwMode="auto">
            <a:xfrm>
              <a:off x="1717" y="2205"/>
              <a:ext cx="472" cy="49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05998" name="Group 142"/>
          <p:cNvGrpSpPr>
            <a:grpSpLocks/>
          </p:cNvGrpSpPr>
          <p:nvPr/>
        </p:nvGrpSpPr>
        <p:grpSpPr bwMode="auto">
          <a:xfrm>
            <a:off x="504825" y="1433513"/>
            <a:ext cx="1844675" cy="3340100"/>
            <a:chOff x="318" y="903"/>
            <a:chExt cx="1162" cy="2104"/>
          </a:xfrm>
        </p:grpSpPr>
        <p:sp>
          <p:nvSpPr>
            <p:cNvPr id="505862" name="Rectangle 6"/>
            <p:cNvSpPr>
              <a:spLocks noChangeArrowheads="1"/>
            </p:cNvSpPr>
            <p:nvPr/>
          </p:nvSpPr>
          <p:spPr bwMode="auto">
            <a:xfrm>
              <a:off x="581" y="1932"/>
              <a:ext cx="48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Digitized</a:t>
              </a:r>
              <a:endParaRPr lang="en-US" altLang="en-US" sz="3200"/>
            </a:p>
          </p:txBody>
        </p:sp>
        <p:sp>
          <p:nvSpPr>
            <p:cNvPr id="505867" name="Rectangle 11"/>
            <p:cNvSpPr>
              <a:spLocks noChangeArrowheads="1"/>
            </p:cNvSpPr>
            <p:nvPr/>
          </p:nvSpPr>
          <p:spPr bwMode="auto">
            <a:xfrm>
              <a:off x="603" y="2052"/>
              <a:ext cx="46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1</a:t>
              </a:r>
              <a:endParaRPr lang="en-US" altLang="en-US" sz="3200"/>
            </a:p>
          </p:txBody>
        </p:sp>
        <p:sp>
          <p:nvSpPr>
            <p:cNvPr id="505870" name="Rectangle 14"/>
            <p:cNvSpPr>
              <a:spLocks noChangeArrowheads="1"/>
            </p:cNvSpPr>
            <p:nvPr/>
          </p:nvSpPr>
          <p:spPr bwMode="auto">
            <a:xfrm>
              <a:off x="611" y="903"/>
              <a:ext cx="5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1</a:t>
              </a:r>
              <a:endParaRPr lang="en-US" altLang="en-US" sz="3200"/>
            </a:p>
          </p:txBody>
        </p:sp>
        <p:sp>
          <p:nvSpPr>
            <p:cNvPr id="505881" name="Rectangle 25"/>
            <p:cNvSpPr>
              <a:spLocks noChangeArrowheads="1"/>
            </p:cNvSpPr>
            <p:nvPr/>
          </p:nvSpPr>
          <p:spPr bwMode="auto">
            <a:xfrm>
              <a:off x="607" y="2715"/>
              <a:ext cx="48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1 Mbyte</a:t>
              </a:r>
              <a:endParaRPr lang="en-US" altLang="en-US" sz="3200"/>
            </a:p>
          </p:txBody>
        </p:sp>
        <p:sp>
          <p:nvSpPr>
            <p:cNvPr id="505891" name="Freeform 35"/>
            <p:cNvSpPr>
              <a:spLocks/>
            </p:cNvSpPr>
            <p:nvPr/>
          </p:nvSpPr>
          <p:spPr bwMode="auto">
            <a:xfrm>
              <a:off x="318" y="1121"/>
              <a:ext cx="1059" cy="471"/>
            </a:xfrm>
            <a:custGeom>
              <a:avLst/>
              <a:gdLst>
                <a:gd name="T0" fmla="*/ 0 w 729"/>
                <a:gd name="T1" fmla="*/ 437 h 437"/>
                <a:gd name="T2" fmla="*/ 175 w 729"/>
                <a:gd name="T3" fmla="*/ 62 h 437"/>
                <a:gd name="T4" fmla="*/ 275 w 729"/>
                <a:gd name="T5" fmla="*/ 200 h 437"/>
                <a:gd name="T6" fmla="*/ 404 w 729"/>
                <a:gd name="T7" fmla="*/ 0 h 437"/>
                <a:gd name="T8" fmla="*/ 729 w 729"/>
                <a:gd name="T9" fmla="*/ 400 h 437"/>
              </a:gdLst>
              <a:ahLst/>
              <a:cxnLst>
                <a:cxn ang="0">
                  <a:pos x="T0" y="T1"/>
                </a:cxn>
                <a:cxn ang="0">
                  <a:pos x="T2" y="T3"/>
                </a:cxn>
                <a:cxn ang="0">
                  <a:pos x="T4" y="T5"/>
                </a:cxn>
                <a:cxn ang="0">
                  <a:pos x="T6" y="T7"/>
                </a:cxn>
                <a:cxn ang="0">
                  <a:pos x="T8" y="T9"/>
                </a:cxn>
              </a:cxnLst>
              <a:rect l="0" t="0" r="r" b="b"/>
              <a:pathLst>
                <a:path w="729" h="437">
                  <a:moveTo>
                    <a:pt x="0" y="437"/>
                  </a:moveTo>
                  <a:lnTo>
                    <a:pt x="175" y="62"/>
                  </a:lnTo>
                  <a:lnTo>
                    <a:pt x="275" y="200"/>
                  </a:lnTo>
                  <a:lnTo>
                    <a:pt x="404" y="0"/>
                  </a:lnTo>
                  <a:lnTo>
                    <a:pt x="729" y="40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892" name="Freeform 36"/>
            <p:cNvSpPr>
              <a:spLocks/>
            </p:cNvSpPr>
            <p:nvPr/>
          </p:nvSpPr>
          <p:spPr bwMode="auto">
            <a:xfrm>
              <a:off x="1063" y="1154"/>
              <a:ext cx="308" cy="108"/>
            </a:xfrm>
            <a:custGeom>
              <a:avLst/>
              <a:gdLst>
                <a:gd name="T0" fmla="*/ 0 w 212"/>
                <a:gd name="T1" fmla="*/ 100 h 100"/>
                <a:gd name="T2" fmla="*/ 131 w 212"/>
                <a:gd name="T3" fmla="*/ 0 h 100"/>
                <a:gd name="T4" fmla="*/ 212 w 212"/>
                <a:gd name="T5" fmla="*/ 50 h 100"/>
              </a:gdLst>
              <a:ahLst/>
              <a:cxnLst>
                <a:cxn ang="0">
                  <a:pos x="T0" y="T1"/>
                </a:cxn>
                <a:cxn ang="0">
                  <a:pos x="T2" y="T3"/>
                </a:cxn>
                <a:cxn ang="0">
                  <a:pos x="T4" y="T5"/>
                </a:cxn>
              </a:cxnLst>
              <a:rect l="0" t="0" r="r" b="b"/>
              <a:pathLst>
                <a:path w="212" h="100">
                  <a:moveTo>
                    <a:pt x="0" y="100"/>
                  </a:moveTo>
                  <a:lnTo>
                    <a:pt x="131" y="0"/>
                  </a:lnTo>
                  <a:lnTo>
                    <a:pt x="212" y="5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893" name="Freeform 37"/>
            <p:cNvSpPr>
              <a:spLocks/>
            </p:cNvSpPr>
            <p:nvPr/>
          </p:nvSpPr>
          <p:spPr bwMode="auto">
            <a:xfrm>
              <a:off x="318" y="1571"/>
              <a:ext cx="1059" cy="179"/>
            </a:xfrm>
            <a:custGeom>
              <a:avLst/>
              <a:gdLst>
                <a:gd name="T0" fmla="*/ 0 w 233"/>
                <a:gd name="T1" fmla="*/ 37 h 53"/>
                <a:gd name="T2" fmla="*/ 112 w 233"/>
                <a:gd name="T3" fmla="*/ 25 h 53"/>
                <a:gd name="T4" fmla="*/ 233 w 233"/>
                <a:gd name="T5" fmla="*/ 47 h 53"/>
              </a:gdLst>
              <a:ahLst/>
              <a:cxnLst>
                <a:cxn ang="0">
                  <a:pos x="T0" y="T1"/>
                </a:cxn>
                <a:cxn ang="0">
                  <a:pos x="T2" y="T3"/>
                </a:cxn>
                <a:cxn ang="0">
                  <a:pos x="T4" y="T5"/>
                </a:cxn>
              </a:cxnLst>
              <a:rect l="0" t="0" r="r" b="b"/>
              <a:pathLst>
                <a:path w="233" h="53">
                  <a:moveTo>
                    <a:pt x="0" y="37"/>
                  </a:moveTo>
                  <a:cubicBezTo>
                    <a:pt x="0" y="37"/>
                    <a:pt x="16" y="53"/>
                    <a:pt x="112" y="25"/>
                  </a:cubicBezTo>
                  <a:cubicBezTo>
                    <a:pt x="112" y="25"/>
                    <a:pt x="186" y="0"/>
                    <a:pt x="233" y="47"/>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894" name="Oval 38"/>
            <p:cNvSpPr>
              <a:spLocks noChangeArrowheads="1"/>
            </p:cNvSpPr>
            <p:nvPr/>
          </p:nvSpPr>
          <p:spPr bwMode="auto">
            <a:xfrm>
              <a:off x="346" y="1457"/>
              <a:ext cx="95" cy="71"/>
            </a:xfrm>
            <a:prstGeom prst="ellipse">
              <a:avLst/>
            </a:prstGeom>
            <a:solidFill>
              <a:srgbClr val="000000"/>
            </a:solidFill>
            <a:ln w="15875">
              <a:solidFill>
                <a:srgbClr val="000000"/>
              </a:solidFill>
              <a:miter lim="800000"/>
              <a:headEnd/>
              <a:tailEnd/>
            </a:ln>
          </p:spPr>
          <p:txBody>
            <a:bodyPr/>
            <a:lstStyle/>
            <a:p>
              <a:endParaRPr lang="en-US"/>
            </a:p>
          </p:txBody>
        </p:sp>
        <p:sp>
          <p:nvSpPr>
            <p:cNvPr id="505895" name="Rectangle 39"/>
            <p:cNvSpPr>
              <a:spLocks noChangeArrowheads="1"/>
            </p:cNvSpPr>
            <p:nvPr/>
          </p:nvSpPr>
          <p:spPr bwMode="auto">
            <a:xfrm>
              <a:off x="318" y="1049"/>
              <a:ext cx="1059" cy="79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1" name="Freeform 55"/>
            <p:cNvSpPr>
              <a:spLocks/>
            </p:cNvSpPr>
            <p:nvPr/>
          </p:nvSpPr>
          <p:spPr bwMode="auto">
            <a:xfrm>
              <a:off x="649" y="2211"/>
              <a:ext cx="387" cy="196"/>
            </a:xfrm>
            <a:custGeom>
              <a:avLst/>
              <a:gdLst>
                <a:gd name="T0" fmla="*/ 0 w 85"/>
                <a:gd name="T1" fmla="*/ 30 h 58"/>
                <a:gd name="T2" fmla="*/ 39 w 85"/>
                <a:gd name="T3" fmla="*/ 23 h 58"/>
                <a:gd name="T4" fmla="*/ 85 w 85"/>
                <a:gd name="T5" fmla="*/ 25 h 58"/>
              </a:gdLst>
              <a:ahLst/>
              <a:cxnLst>
                <a:cxn ang="0">
                  <a:pos x="T0" y="T1"/>
                </a:cxn>
                <a:cxn ang="0">
                  <a:pos x="T2" y="T3"/>
                </a:cxn>
                <a:cxn ang="0">
                  <a:pos x="T4" y="T5"/>
                </a:cxn>
              </a:cxnLst>
              <a:rect l="0" t="0" r="r" b="b"/>
              <a:pathLst>
                <a:path w="85" h="58">
                  <a:moveTo>
                    <a:pt x="0" y="30"/>
                  </a:moveTo>
                  <a:cubicBezTo>
                    <a:pt x="0" y="30"/>
                    <a:pt x="15" y="0"/>
                    <a:pt x="39" y="23"/>
                  </a:cubicBezTo>
                  <a:cubicBezTo>
                    <a:pt x="39" y="23"/>
                    <a:pt x="66" y="58"/>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2" name="Freeform 56"/>
            <p:cNvSpPr>
              <a:spLocks/>
            </p:cNvSpPr>
            <p:nvPr/>
          </p:nvSpPr>
          <p:spPr bwMode="auto">
            <a:xfrm>
              <a:off x="649" y="2276"/>
              <a:ext cx="387" cy="192"/>
            </a:xfrm>
            <a:custGeom>
              <a:avLst/>
              <a:gdLst>
                <a:gd name="T0" fmla="*/ 0 w 85"/>
                <a:gd name="T1" fmla="*/ 30 h 57"/>
                <a:gd name="T2" fmla="*/ 39 w 85"/>
                <a:gd name="T3" fmla="*/ 23 h 57"/>
                <a:gd name="T4" fmla="*/ 85 w 85"/>
                <a:gd name="T5" fmla="*/ 25 h 57"/>
              </a:gdLst>
              <a:ahLst/>
              <a:cxnLst>
                <a:cxn ang="0">
                  <a:pos x="T0" y="T1"/>
                </a:cxn>
                <a:cxn ang="0">
                  <a:pos x="T2" y="T3"/>
                </a:cxn>
                <a:cxn ang="0">
                  <a:pos x="T4" y="T5"/>
                </a:cxn>
              </a:cxnLst>
              <a:rect l="0" t="0" r="r" b="b"/>
              <a:pathLst>
                <a:path w="85" h="57">
                  <a:moveTo>
                    <a:pt x="0" y="30"/>
                  </a:moveTo>
                  <a:cubicBezTo>
                    <a:pt x="0" y="30"/>
                    <a:pt x="15" y="0"/>
                    <a:pt x="39" y="23"/>
                  </a:cubicBezTo>
                  <a:cubicBezTo>
                    <a:pt x="39" y="23"/>
                    <a:pt x="66" y="57"/>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3" name="Freeform 57"/>
            <p:cNvSpPr>
              <a:spLocks/>
            </p:cNvSpPr>
            <p:nvPr/>
          </p:nvSpPr>
          <p:spPr bwMode="auto">
            <a:xfrm>
              <a:off x="649" y="2340"/>
              <a:ext cx="387" cy="192"/>
            </a:xfrm>
            <a:custGeom>
              <a:avLst/>
              <a:gdLst>
                <a:gd name="T0" fmla="*/ 0 w 85"/>
                <a:gd name="T1" fmla="*/ 30 h 57"/>
                <a:gd name="T2" fmla="*/ 39 w 85"/>
                <a:gd name="T3" fmla="*/ 23 h 57"/>
                <a:gd name="T4" fmla="*/ 85 w 85"/>
                <a:gd name="T5" fmla="*/ 25 h 57"/>
              </a:gdLst>
              <a:ahLst/>
              <a:cxnLst>
                <a:cxn ang="0">
                  <a:pos x="T0" y="T1"/>
                </a:cxn>
                <a:cxn ang="0">
                  <a:pos x="T2" y="T3"/>
                </a:cxn>
                <a:cxn ang="0">
                  <a:pos x="T4" y="T5"/>
                </a:cxn>
              </a:cxnLst>
              <a:rect l="0" t="0" r="r" b="b"/>
              <a:pathLst>
                <a:path w="85" h="57">
                  <a:moveTo>
                    <a:pt x="0" y="30"/>
                  </a:moveTo>
                  <a:cubicBezTo>
                    <a:pt x="0" y="30"/>
                    <a:pt x="15" y="0"/>
                    <a:pt x="39" y="23"/>
                  </a:cubicBezTo>
                  <a:cubicBezTo>
                    <a:pt x="39" y="23"/>
                    <a:pt x="66" y="57"/>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4" name="Freeform 58"/>
            <p:cNvSpPr>
              <a:spLocks/>
            </p:cNvSpPr>
            <p:nvPr/>
          </p:nvSpPr>
          <p:spPr bwMode="auto">
            <a:xfrm>
              <a:off x="649" y="2403"/>
              <a:ext cx="387" cy="192"/>
            </a:xfrm>
            <a:custGeom>
              <a:avLst/>
              <a:gdLst>
                <a:gd name="T0" fmla="*/ 0 w 85"/>
                <a:gd name="T1" fmla="*/ 30 h 57"/>
                <a:gd name="T2" fmla="*/ 39 w 85"/>
                <a:gd name="T3" fmla="*/ 22 h 57"/>
                <a:gd name="T4" fmla="*/ 85 w 85"/>
                <a:gd name="T5" fmla="*/ 24 h 57"/>
              </a:gdLst>
              <a:ahLst/>
              <a:cxnLst>
                <a:cxn ang="0">
                  <a:pos x="T0" y="T1"/>
                </a:cxn>
                <a:cxn ang="0">
                  <a:pos x="T2" y="T3"/>
                </a:cxn>
                <a:cxn ang="0">
                  <a:pos x="T4" y="T5"/>
                </a:cxn>
              </a:cxnLst>
              <a:rect l="0" t="0" r="r" b="b"/>
              <a:pathLst>
                <a:path w="85" h="57">
                  <a:moveTo>
                    <a:pt x="0" y="30"/>
                  </a:moveTo>
                  <a:cubicBezTo>
                    <a:pt x="0" y="30"/>
                    <a:pt x="15" y="0"/>
                    <a:pt x="39" y="22"/>
                  </a:cubicBezTo>
                  <a:cubicBezTo>
                    <a:pt x="39" y="22"/>
                    <a:pt x="66" y="57"/>
                    <a:pt x="85" y="24"/>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5" name="Freeform 59"/>
            <p:cNvSpPr>
              <a:spLocks/>
            </p:cNvSpPr>
            <p:nvPr/>
          </p:nvSpPr>
          <p:spPr bwMode="auto">
            <a:xfrm>
              <a:off x="649" y="2468"/>
              <a:ext cx="387" cy="192"/>
            </a:xfrm>
            <a:custGeom>
              <a:avLst/>
              <a:gdLst>
                <a:gd name="T0" fmla="*/ 0 w 85"/>
                <a:gd name="T1" fmla="*/ 30 h 57"/>
                <a:gd name="T2" fmla="*/ 39 w 85"/>
                <a:gd name="T3" fmla="*/ 22 h 57"/>
                <a:gd name="T4" fmla="*/ 85 w 85"/>
                <a:gd name="T5" fmla="*/ 24 h 57"/>
              </a:gdLst>
              <a:ahLst/>
              <a:cxnLst>
                <a:cxn ang="0">
                  <a:pos x="T0" y="T1"/>
                </a:cxn>
                <a:cxn ang="0">
                  <a:pos x="T2" y="T3"/>
                </a:cxn>
                <a:cxn ang="0">
                  <a:pos x="T4" y="T5"/>
                </a:cxn>
              </a:cxnLst>
              <a:rect l="0" t="0" r="r" b="b"/>
              <a:pathLst>
                <a:path w="85" h="57">
                  <a:moveTo>
                    <a:pt x="0" y="30"/>
                  </a:moveTo>
                  <a:cubicBezTo>
                    <a:pt x="0" y="30"/>
                    <a:pt x="15" y="0"/>
                    <a:pt x="39" y="22"/>
                  </a:cubicBezTo>
                  <a:cubicBezTo>
                    <a:pt x="39" y="22"/>
                    <a:pt x="66" y="57"/>
                    <a:pt x="85" y="24"/>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6" name="Freeform 60"/>
            <p:cNvSpPr>
              <a:spLocks/>
            </p:cNvSpPr>
            <p:nvPr/>
          </p:nvSpPr>
          <p:spPr bwMode="auto">
            <a:xfrm>
              <a:off x="649" y="2528"/>
              <a:ext cx="387" cy="195"/>
            </a:xfrm>
            <a:custGeom>
              <a:avLst/>
              <a:gdLst>
                <a:gd name="T0" fmla="*/ 0 w 85"/>
                <a:gd name="T1" fmla="*/ 30 h 58"/>
                <a:gd name="T2" fmla="*/ 39 w 85"/>
                <a:gd name="T3" fmla="*/ 23 h 58"/>
                <a:gd name="T4" fmla="*/ 85 w 85"/>
                <a:gd name="T5" fmla="*/ 25 h 58"/>
              </a:gdLst>
              <a:ahLst/>
              <a:cxnLst>
                <a:cxn ang="0">
                  <a:pos x="T0" y="T1"/>
                </a:cxn>
                <a:cxn ang="0">
                  <a:pos x="T2" y="T3"/>
                </a:cxn>
                <a:cxn ang="0">
                  <a:pos x="T4" y="T5"/>
                </a:cxn>
              </a:cxnLst>
              <a:rect l="0" t="0" r="r" b="b"/>
              <a:pathLst>
                <a:path w="85" h="58">
                  <a:moveTo>
                    <a:pt x="0" y="30"/>
                  </a:moveTo>
                  <a:cubicBezTo>
                    <a:pt x="0" y="30"/>
                    <a:pt x="15" y="0"/>
                    <a:pt x="39" y="23"/>
                  </a:cubicBezTo>
                  <a:cubicBezTo>
                    <a:pt x="39" y="23"/>
                    <a:pt x="66" y="58"/>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7" name="Rectangle 61"/>
            <p:cNvSpPr>
              <a:spLocks noChangeArrowheads="1"/>
            </p:cNvSpPr>
            <p:nvPr/>
          </p:nvSpPr>
          <p:spPr bwMode="auto">
            <a:xfrm>
              <a:off x="609" y="2205"/>
              <a:ext cx="472" cy="49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18" name="Rectangle 62"/>
            <p:cNvSpPr>
              <a:spLocks noChangeArrowheads="1"/>
            </p:cNvSpPr>
            <p:nvPr/>
          </p:nvSpPr>
          <p:spPr bwMode="auto">
            <a:xfrm>
              <a:off x="1325" y="2844"/>
              <a:ext cx="4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sp>
          <p:nvSpPr>
            <p:cNvPr id="505919" name="Rectangle 63"/>
            <p:cNvSpPr>
              <a:spLocks noChangeArrowheads="1"/>
            </p:cNvSpPr>
            <p:nvPr/>
          </p:nvSpPr>
          <p:spPr bwMode="auto">
            <a:xfrm>
              <a:off x="1365" y="2844"/>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a:t>
              </a:r>
              <a:endParaRPr lang="en-US" altLang="en-US" sz="3200"/>
            </a:p>
          </p:txBody>
        </p:sp>
        <p:sp>
          <p:nvSpPr>
            <p:cNvPr id="505920" name="Rectangle 64"/>
            <p:cNvSpPr>
              <a:spLocks noChangeArrowheads="1"/>
            </p:cNvSpPr>
            <p:nvPr/>
          </p:nvSpPr>
          <p:spPr bwMode="auto">
            <a:xfrm>
              <a:off x="1435" y="2844"/>
              <a:ext cx="4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grpSp>
      <p:grpSp>
        <p:nvGrpSpPr>
          <p:cNvPr id="506001" name="Group 145"/>
          <p:cNvGrpSpPr>
            <a:grpSpLocks/>
          </p:cNvGrpSpPr>
          <p:nvPr/>
        </p:nvGrpSpPr>
        <p:grpSpPr bwMode="auto">
          <a:xfrm>
            <a:off x="4714875" y="1433513"/>
            <a:ext cx="1854200" cy="3340100"/>
            <a:chOff x="2970" y="903"/>
            <a:chExt cx="1168" cy="2104"/>
          </a:xfrm>
        </p:grpSpPr>
        <p:sp>
          <p:nvSpPr>
            <p:cNvPr id="505921" name="Rectangle 65"/>
            <p:cNvSpPr>
              <a:spLocks noChangeArrowheads="1"/>
            </p:cNvSpPr>
            <p:nvPr/>
          </p:nvSpPr>
          <p:spPr bwMode="auto">
            <a:xfrm>
              <a:off x="3249" y="1932"/>
              <a:ext cx="48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Digitized</a:t>
              </a:r>
              <a:endParaRPr lang="en-US" altLang="en-US" sz="3200"/>
            </a:p>
          </p:txBody>
        </p:sp>
        <p:sp>
          <p:nvSpPr>
            <p:cNvPr id="505926" name="Rectangle 70"/>
            <p:cNvSpPr>
              <a:spLocks noChangeArrowheads="1"/>
            </p:cNvSpPr>
            <p:nvPr/>
          </p:nvSpPr>
          <p:spPr bwMode="auto">
            <a:xfrm>
              <a:off x="3275" y="2052"/>
              <a:ext cx="46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1</a:t>
              </a:r>
              <a:endParaRPr lang="en-US" altLang="en-US" sz="3200"/>
            </a:p>
          </p:txBody>
        </p:sp>
        <p:sp>
          <p:nvSpPr>
            <p:cNvPr id="505929" name="Rectangle 73"/>
            <p:cNvSpPr>
              <a:spLocks noChangeArrowheads="1"/>
            </p:cNvSpPr>
            <p:nvPr/>
          </p:nvSpPr>
          <p:spPr bwMode="auto">
            <a:xfrm>
              <a:off x="3262" y="903"/>
              <a:ext cx="5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1</a:t>
              </a:r>
              <a:endParaRPr lang="en-US" altLang="en-US" sz="3200"/>
            </a:p>
          </p:txBody>
        </p:sp>
        <p:sp>
          <p:nvSpPr>
            <p:cNvPr id="505942" name="Rectangle 86"/>
            <p:cNvSpPr>
              <a:spLocks noChangeArrowheads="1"/>
            </p:cNvSpPr>
            <p:nvPr/>
          </p:nvSpPr>
          <p:spPr bwMode="auto">
            <a:xfrm>
              <a:off x="3258" y="2715"/>
              <a:ext cx="48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1 Mbyte</a:t>
              </a:r>
              <a:endParaRPr lang="en-US" altLang="en-US" sz="3200"/>
            </a:p>
          </p:txBody>
        </p:sp>
        <p:sp>
          <p:nvSpPr>
            <p:cNvPr id="505952" name="Freeform 96"/>
            <p:cNvSpPr>
              <a:spLocks/>
            </p:cNvSpPr>
            <p:nvPr/>
          </p:nvSpPr>
          <p:spPr bwMode="auto">
            <a:xfrm>
              <a:off x="2970" y="1121"/>
              <a:ext cx="1058" cy="471"/>
            </a:xfrm>
            <a:custGeom>
              <a:avLst/>
              <a:gdLst>
                <a:gd name="T0" fmla="*/ 0 w 728"/>
                <a:gd name="T1" fmla="*/ 437 h 437"/>
                <a:gd name="T2" fmla="*/ 175 w 728"/>
                <a:gd name="T3" fmla="*/ 62 h 437"/>
                <a:gd name="T4" fmla="*/ 275 w 728"/>
                <a:gd name="T5" fmla="*/ 200 h 437"/>
                <a:gd name="T6" fmla="*/ 403 w 728"/>
                <a:gd name="T7" fmla="*/ 0 h 437"/>
                <a:gd name="T8" fmla="*/ 728 w 728"/>
                <a:gd name="T9" fmla="*/ 400 h 437"/>
              </a:gdLst>
              <a:ahLst/>
              <a:cxnLst>
                <a:cxn ang="0">
                  <a:pos x="T0" y="T1"/>
                </a:cxn>
                <a:cxn ang="0">
                  <a:pos x="T2" y="T3"/>
                </a:cxn>
                <a:cxn ang="0">
                  <a:pos x="T4" y="T5"/>
                </a:cxn>
                <a:cxn ang="0">
                  <a:pos x="T6" y="T7"/>
                </a:cxn>
                <a:cxn ang="0">
                  <a:pos x="T8" y="T9"/>
                </a:cxn>
              </a:cxnLst>
              <a:rect l="0" t="0" r="r" b="b"/>
              <a:pathLst>
                <a:path w="728" h="437">
                  <a:moveTo>
                    <a:pt x="0" y="437"/>
                  </a:moveTo>
                  <a:lnTo>
                    <a:pt x="175" y="62"/>
                  </a:lnTo>
                  <a:lnTo>
                    <a:pt x="275" y="200"/>
                  </a:lnTo>
                  <a:lnTo>
                    <a:pt x="403" y="0"/>
                  </a:lnTo>
                  <a:lnTo>
                    <a:pt x="728" y="40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53" name="Freeform 97"/>
            <p:cNvSpPr>
              <a:spLocks/>
            </p:cNvSpPr>
            <p:nvPr/>
          </p:nvSpPr>
          <p:spPr bwMode="auto">
            <a:xfrm>
              <a:off x="3714" y="1154"/>
              <a:ext cx="309" cy="108"/>
            </a:xfrm>
            <a:custGeom>
              <a:avLst/>
              <a:gdLst>
                <a:gd name="T0" fmla="*/ 0 w 213"/>
                <a:gd name="T1" fmla="*/ 100 h 100"/>
                <a:gd name="T2" fmla="*/ 132 w 213"/>
                <a:gd name="T3" fmla="*/ 0 h 100"/>
                <a:gd name="T4" fmla="*/ 213 w 213"/>
                <a:gd name="T5" fmla="*/ 50 h 100"/>
              </a:gdLst>
              <a:ahLst/>
              <a:cxnLst>
                <a:cxn ang="0">
                  <a:pos x="T0" y="T1"/>
                </a:cxn>
                <a:cxn ang="0">
                  <a:pos x="T2" y="T3"/>
                </a:cxn>
                <a:cxn ang="0">
                  <a:pos x="T4" y="T5"/>
                </a:cxn>
              </a:cxnLst>
              <a:rect l="0" t="0" r="r" b="b"/>
              <a:pathLst>
                <a:path w="213" h="100">
                  <a:moveTo>
                    <a:pt x="0" y="100"/>
                  </a:moveTo>
                  <a:lnTo>
                    <a:pt x="132" y="0"/>
                  </a:lnTo>
                  <a:lnTo>
                    <a:pt x="213" y="5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54" name="Freeform 98"/>
            <p:cNvSpPr>
              <a:spLocks/>
            </p:cNvSpPr>
            <p:nvPr/>
          </p:nvSpPr>
          <p:spPr bwMode="auto">
            <a:xfrm>
              <a:off x="2970" y="1571"/>
              <a:ext cx="1058" cy="179"/>
            </a:xfrm>
            <a:custGeom>
              <a:avLst/>
              <a:gdLst>
                <a:gd name="T0" fmla="*/ 0 w 233"/>
                <a:gd name="T1" fmla="*/ 37 h 53"/>
                <a:gd name="T2" fmla="*/ 112 w 233"/>
                <a:gd name="T3" fmla="*/ 25 h 53"/>
                <a:gd name="T4" fmla="*/ 233 w 233"/>
                <a:gd name="T5" fmla="*/ 47 h 53"/>
              </a:gdLst>
              <a:ahLst/>
              <a:cxnLst>
                <a:cxn ang="0">
                  <a:pos x="T0" y="T1"/>
                </a:cxn>
                <a:cxn ang="0">
                  <a:pos x="T2" y="T3"/>
                </a:cxn>
                <a:cxn ang="0">
                  <a:pos x="T4" y="T5"/>
                </a:cxn>
              </a:cxnLst>
              <a:rect l="0" t="0" r="r" b="b"/>
              <a:pathLst>
                <a:path w="233" h="53">
                  <a:moveTo>
                    <a:pt x="0" y="37"/>
                  </a:moveTo>
                  <a:cubicBezTo>
                    <a:pt x="0" y="37"/>
                    <a:pt x="16" y="53"/>
                    <a:pt x="112" y="25"/>
                  </a:cubicBezTo>
                  <a:cubicBezTo>
                    <a:pt x="112" y="25"/>
                    <a:pt x="186" y="0"/>
                    <a:pt x="233" y="47"/>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55" name="Oval 99"/>
            <p:cNvSpPr>
              <a:spLocks noChangeArrowheads="1"/>
            </p:cNvSpPr>
            <p:nvPr/>
          </p:nvSpPr>
          <p:spPr bwMode="auto">
            <a:xfrm>
              <a:off x="2996" y="1457"/>
              <a:ext cx="96" cy="71"/>
            </a:xfrm>
            <a:prstGeom prst="ellipse">
              <a:avLst/>
            </a:prstGeom>
            <a:solidFill>
              <a:srgbClr val="000000"/>
            </a:solidFill>
            <a:ln w="15875">
              <a:solidFill>
                <a:srgbClr val="000000"/>
              </a:solidFill>
              <a:miter lim="800000"/>
              <a:headEnd/>
              <a:tailEnd/>
            </a:ln>
          </p:spPr>
          <p:txBody>
            <a:bodyPr/>
            <a:lstStyle/>
            <a:p>
              <a:endParaRPr lang="en-US"/>
            </a:p>
          </p:txBody>
        </p:sp>
        <p:sp>
          <p:nvSpPr>
            <p:cNvPr id="505956" name="Rectangle 100"/>
            <p:cNvSpPr>
              <a:spLocks noChangeArrowheads="1"/>
            </p:cNvSpPr>
            <p:nvPr/>
          </p:nvSpPr>
          <p:spPr bwMode="auto">
            <a:xfrm>
              <a:off x="2970" y="1049"/>
              <a:ext cx="1058" cy="79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63" name="Freeform 107"/>
            <p:cNvSpPr>
              <a:spLocks/>
            </p:cNvSpPr>
            <p:nvPr/>
          </p:nvSpPr>
          <p:spPr bwMode="auto">
            <a:xfrm>
              <a:off x="3301" y="2211"/>
              <a:ext cx="387" cy="196"/>
            </a:xfrm>
            <a:custGeom>
              <a:avLst/>
              <a:gdLst>
                <a:gd name="T0" fmla="*/ 0 w 85"/>
                <a:gd name="T1" fmla="*/ 30 h 58"/>
                <a:gd name="T2" fmla="*/ 39 w 85"/>
                <a:gd name="T3" fmla="*/ 23 h 58"/>
                <a:gd name="T4" fmla="*/ 85 w 85"/>
                <a:gd name="T5" fmla="*/ 25 h 58"/>
              </a:gdLst>
              <a:ahLst/>
              <a:cxnLst>
                <a:cxn ang="0">
                  <a:pos x="T0" y="T1"/>
                </a:cxn>
                <a:cxn ang="0">
                  <a:pos x="T2" y="T3"/>
                </a:cxn>
                <a:cxn ang="0">
                  <a:pos x="T4" y="T5"/>
                </a:cxn>
              </a:cxnLst>
              <a:rect l="0" t="0" r="r" b="b"/>
              <a:pathLst>
                <a:path w="85" h="58">
                  <a:moveTo>
                    <a:pt x="0" y="30"/>
                  </a:moveTo>
                  <a:cubicBezTo>
                    <a:pt x="0" y="30"/>
                    <a:pt x="15" y="0"/>
                    <a:pt x="39" y="23"/>
                  </a:cubicBezTo>
                  <a:cubicBezTo>
                    <a:pt x="39" y="23"/>
                    <a:pt x="66" y="58"/>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64" name="Freeform 108"/>
            <p:cNvSpPr>
              <a:spLocks/>
            </p:cNvSpPr>
            <p:nvPr/>
          </p:nvSpPr>
          <p:spPr bwMode="auto">
            <a:xfrm>
              <a:off x="3301" y="2276"/>
              <a:ext cx="387" cy="192"/>
            </a:xfrm>
            <a:custGeom>
              <a:avLst/>
              <a:gdLst>
                <a:gd name="T0" fmla="*/ 0 w 85"/>
                <a:gd name="T1" fmla="*/ 30 h 57"/>
                <a:gd name="T2" fmla="*/ 39 w 85"/>
                <a:gd name="T3" fmla="*/ 23 h 57"/>
                <a:gd name="T4" fmla="*/ 85 w 85"/>
                <a:gd name="T5" fmla="*/ 25 h 57"/>
              </a:gdLst>
              <a:ahLst/>
              <a:cxnLst>
                <a:cxn ang="0">
                  <a:pos x="T0" y="T1"/>
                </a:cxn>
                <a:cxn ang="0">
                  <a:pos x="T2" y="T3"/>
                </a:cxn>
                <a:cxn ang="0">
                  <a:pos x="T4" y="T5"/>
                </a:cxn>
              </a:cxnLst>
              <a:rect l="0" t="0" r="r" b="b"/>
              <a:pathLst>
                <a:path w="85" h="57">
                  <a:moveTo>
                    <a:pt x="0" y="30"/>
                  </a:moveTo>
                  <a:cubicBezTo>
                    <a:pt x="0" y="30"/>
                    <a:pt x="15" y="0"/>
                    <a:pt x="39" y="23"/>
                  </a:cubicBezTo>
                  <a:cubicBezTo>
                    <a:pt x="39" y="23"/>
                    <a:pt x="66" y="57"/>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65" name="Freeform 109"/>
            <p:cNvSpPr>
              <a:spLocks/>
            </p:cNvSpPr>
            <p:nvPr/>
          </p:nvSpPr>
          <p:spPr bwMode="auto">
            <a:xfrm>
              <a:off x="3301" y="2340"/>
              <a:ext cx="387" cy="192"/>
            </a:xfrm>
            <a:custGeom>
              <a:avLst/>
              <a:gdLst>
                <a:gd name="T0" fmla="*/ 0 w 85"/>
                <a:gd name="T1" fmla="*/ 30 h 57"/>
                <a:gd name="T2" fmla="*/ 39 w 85"/>
                <a:gd name="T3" fmla="*/ 23 h 57"/>
                <a:gd name="T4" fmla="*/ 85 w 85"/>
                <a:gd name="T5" fmla="*/ 25 h 57"/>
              </a:gdLst>
              <a:ahLst/>
              <a:cxnLst>
                <a:cxn ang="0">
                  <a:pos x="T0" y="T1"/>
                </a:cxn>
                <a:cxn ang="0">
                  <a:pos x="T2" y="T3"/>
                </a:cxn>
                <a:cxn ang="0">
                  <a:pos x="T4" y="T5"/>
                </a:cxn>
              </a:cxnLst>
              <a:rect l="0" t="0" r="r" b="b"/>
              <a:pathLst>
                <a:path w="85" h="57">
                  <a:moveTo>
                    <a:pt x="0" y="30"/>
                  </a:moveTo>
                  <a:cubicBezTo>
                    <a:pt x="0" y="30"/>
                    <a:pt x="15" y="0"/>
                    <a:pt x="39" y="23"/>
                  </a:cubicBezTo>
                  <a:cubicBezTo>
                    <a:pt x="39" y="23"/>
                    <a:pt x="66" y="57"/>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66" name="Freeform 110"/>
            <p:cNvSpPr>
              <a:spLocks/>
            </p:cNvSpPr>
            <p:nvPr/>
          </p:nvSpPr>
          <p:spPr bwMode="auto">
            <a:xfrm>
              <a:off x="3301" y="2403"/>
              <a:ext cx="387" cy="192"/>
            </a:xfrm>
            <a:custGeom>
              <a:avLst/>
              <a:gdLst>
                <a:gd name="T0" fmla="*/ 0 w 85"/>
                <a:gd name="T1" fmla="*/ 30 h 57"/>
                <a:gd name="T2" fmla="*/ 39 w 85"/>
                <a:gd name="T3" fmla="*/ 22 h 57"/>
                <a:gd name="T4" fmla="*/ 85 w 85"/>
                <a:gd name="T5" fmla="*/ 24 h 57"/>
              </a:gdLst>
              <a:ahLst/>
              <a:cxnLst>
                <a:cxn ang="0">
                  <a:pos x="T0" y="T1"/>
                </a:cxn>
                <a:cxn ang="0">
                  <a:pos x="T2" y="T3"/>
                </a:cxn>
                <a:cxn ang="0">
                  <a:pos x="T4" y="T5"/>
                </a:cxn>
              </a:cxnLst>
              <a:rect l="0" t="0" r="r" b="b"/>
              <a:pathLst>
                <a:path w="85" h="57">
                  <a:moveTo>
                    <a:pt x="0" y="30"/>
                  </a:moveTo>
                  <a:cubicBezTo>
                    <a:pt x="0" y="30"/>
                    <a:pt x="15" y="0"/>
                    <a:pt x="39" y="22"/>
                  </a:cubicBezTo>
                  <a:cubicBezTo>
                    <a:pt x="39" y="22"/>
                    <a:pt x="66" y="57"/>
                    <a:pt x="85" y="24"/>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67" name="Freeform 111"/>
            <p:cNvSpPr>
              <a:spLocks/>
            </p:cNvSpPr>
            <p:nvPr/>
          </p:nvSpPr>
          <p:spPr bwMode="auto">
            <a:xfrm>
              <a:off x="3301" y="2468"/>
              <a:ext cx="387" cy="192"/>
            </a:xfrm>
            <a:custGeom>
              <a:avLst/>
              <a:gdLst>
                <a:gd name="T0" fmla="*/ 0 w 85"/>
                <a:gd name="T1" fmla="*/ 30 h 57"/>
                <a:gd name="T2" fmla="*/ 39 w 85"/>
                <a:gd name="T3" fmla="*/ 22 h 57"/>
                <a:gd name="T4" fmla="*/ 85 w 85"/>
                <a:gd name="T5" fmla="*/ 24 h 57"/>
              </a:gdLst>
              <a:ahLst/>
              <a:cxnLst>
                <a:cxn ang="0">
                  <a:pos x="T0" y="T1"/>
                </a:cxn>
                <a:cxn ang="0">
                  <a:pos x="T2" y="T3"/>
                </a:cxn>
                <a:cxn ang="0">
                  <a:pos x="T4" y="T5"/>
                </a:cxn>
              </a:cxnLst>
              <a:rect l="0" t="0" r="r" b="b"/>
              <a:pathLst>
                <a:path w="85" h="57">
                  <a:moveTo>
                    <a:pt x="0" y="30"/>
                  </a:moveTo>
                  <a:cubicBezTo>
                    <a:pt x="0" y="30"/>
                    <a:pt x="15" y="0"/>
                    <a:pt x="39" y="22"/>
                  </a:cubicBezTo>
                  <a:cubicBezTo>
                    <a:pt x="39" y="22"/>
                    <a:pt x="66" y="57"/>
                    <a:pt x="85" y="24"/>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68" name="Freeform 112"/>
            <p:cNvSpPr>
              <a:spLocks/>
            </p:cNvSpPr>
            <p:nvPr/>
          </p:nvSpPr>
          <p:spPr bwMode="auto">
            <a:xfrm>
              <a:off x="3301" y="2528"/>
              <a:ext cx="387" cy="195"/>
            </a:xfrm>
            <a:custGeom>
              <a:avLst/>
              <a:gdLst>
                <a:gd name="T0" fmla="*/ 0 w 85"/>
                <a:gd name="T1" fmla="*/ 30 h 58"/>
                <a:gd name="T2" fmla="*/ 39 w 85"/>
                <a:gd name="T3" fmla="*/ 23 h 58"/>
                <a:gd name="T4" fmla="*/ 85 w 85"/>
                <a:gd name="T5" fmla="*/ 25 h 58"/>
              </a:gdLst>
              <a:ahLst/>
              <a:cxnLst>
                <a:cxn ang="0">
                  <a:pos x="T0" y="T1"/>
                </a:cxn>
                <a:cxn ang="0">
                  <a:pos x="T2" y="T3"/>
                </a:cxn>
                <a:cxn ang="0">
                  <a:pos x="T4" y="T5"/>
                </a:cxn>
              </a:cxnLst>
              <a:rect l="0" t="0" r="r" b="b"/>
              <a:pathLst>
                <a:path w="85" h="58">
                  <a:moveTo>
                    <a:pt x="0" y="30"/>
                  </a:moveTo>
                  <a:cubicBezTo>
                    <a:pt x="0" y="30"/>
                    <a:pt x="15" y="0"/>
                    <a:pt x="39" y="23"/>
                  </a:cubicBezTo>
                  <a:cubicBezTo>
                    <a:pt x="39" y="23"/>
                    <a:pt x="66" y="58"/>
                    <a:pt x="85" y="25"/>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69" name="Rectangle 113"/>
            <p:cNvSpPr>
              <a:spLocks noChangeArrowheads="1"/>
            </p:cNvSpPr>
            <p:nvPr/>
          </p:nvSpPr>
          <p:spPr bwMode="auto">
            <a:xfrm>
              <a:off x="3261" y="2205"/>
              <a:ext cx="472" cy="49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73" name="Rectangle 117"/>
            <p:cNvSpPr>
              <a:spLocks noChangeArrowheads="1"/>
            </p:cNvSpPr>
            <p:nvPr/>
          </p:nvSpPr>
          <p:spPr bwMode="auto">
            <a:xfrm>
              <a:off x="3970" y="2844"/>
              <a:ext cx="4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sp>
          <p:nvSpPr>
            <p:cNvPr id="505974" name="Rectangle 118"/>
            <p:cNvSpPr>
              <a:spLocks noChangeArrowheads="1"/>
            </p:cNvSpPr>
            <p:nvPr/>
          </p:nvSpPr>
          <p:spPr bwMode="auto">
            <a:xfrm>
              <a:off x="4010" y="2844"/>
              <a:ext cx="7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505975" name="Rectangle 119"/>
            <p:cNvSpPr>
              <a:spLocks noChangeArrowheads="1"/>
            </p:cNvSpPr>
            <p:nvPr/>
          </p:nvSpPr>
          <p:spPr bwMode="auto">
            <a:xfrm>
              <a:off x="4093" y="2844"/>
              <a:ext cx="4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grpSp>
      <p:grpSp>
        <p:nvGrpSpPr>
          <p:cNvPr id="505997" name="Group 141"/>
          <p:cNvGrpSpPr>
            <a:grpSpLocks/>
          </p:cNvGrpSpPr>
          <p:nvPr/>
        </p:nvGrpSpPr>
        <p:grpSpPr bwMode="auto">
          <a:xfrm>
            <a:off x="327025" y="1068388"/>
            <a:ext cx="3236913" cy="1484312"/>
            <a:chOff x="206" y="673"/>
            <a:chExt cx="2039" cy="935"/>
          </a:xfrm>
        </p:grpSpPr>
        <p:sp>
          <p:nvSpPr>
            <p:cNvPr id="505984" name="Oval 128"/>
            <p:cNvSpPr>
              <a:spLocks noChangeArrowheads="1"/>
            </p:cNvSpPr>
            <p:nvPr/>
          </p:nvSpPr>
          <p:spPr bwMode="auto">
            <a:xfrm>
              <a:off x="206" y="1337"/>
              <a:ext cx="359" cy="271"/>
            </a:xfrm>
            <a:prstGeom prst="ellipse">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5985" name="Oval 129"/>
            <p:cNvSpPr>
              <a:spLocks noChangeArrowheads="1"/>
            </p:cNvSpPr>
            <p:nvPr/>
          </p:nvSpPr>
          <p:spPr bwMode="auto">
            <a:xfrm>
              <a:off x="1586" y="1261"/>
              <a:ext cx="359" cy="271"/>
            </a:xfrm>
            <a:prstGeom prst="ellipse">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5986" name="Line 130"/>
            <p:cNvSpPr>
              <a:spLocks noChangeShapeType="1"/>
            </p:cNvSpPr>
            <p:nvPr/>
          </p:nvSpPr>
          <p:spPr bwMode="auto">
            <a:xfrm flipV="1">
              <a:off x="359" y="859"/>
              <a:ext cx="739" cy="499"/>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5987" name="Line 131"/>
            <p:cNvSpPr>
              <a:spLocks noChangeShapeType="1"/>
            </p:cNvSpPr>
            <p:nvPr/>
          </p:nvSpPr>
          <p:spPr bwMode="auto">
            <a:xfrm flipH="1" flipV="1">
              <a:off x="1098" y="848"/>
              <a:ext cx="565" cy="424"/>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5988" name="Text Box 132"/>
            <p:cNvSpPr txBox="1">
              <a:spLocks noChangeArrowheads="1"/>
            </p:cNvSpPr>
            <p:nvPr/>
          </p:nvSpPr>
          <p:spPr bwMode="auto">
            <a:xfrm>
              <a:off x="453" y="673"/>
              <a:ext cx="17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chemeClr val="accent2"/>
                  </a:solidFill>
                </a:rPr>
                <a:t>Only difference: ball moving</a:t>
              </a:r>
            </a:p>
          </p:txBody>
        </p:sp>
      </p:grpSp>
      <p:sp>
        <p:nvSpPr>
          <p:cNvPr id="505979" name="Text Box 123"/>
          <p:cNvSpPr txBox="1">
            <a:spLocks noChangeArrowheads="1"/>
          </p:cNvSpPr>
          <p:nvPr/>
        </p:nvSpPr>
        <p:spPr bwMode="auto">
          <a:xfrm>
            <a:off x="8682038" y="3182938"/>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506000" name="Group 144"/>
          <p:cNvGrpSpPr>
            <a:grpSpLocks/>
          </p:cNvGrpSpPr>
          <p:nvPr/>
        </p:nvGrpSpPr>
        <p:grpSpPr bwMode="auto">
          <a:xfrm>
            <a:off x="6280150" y="1433513"/>
            <a:ext cx="2582863" cy="3857625"/>
            <a:chOff x="3956" y="903"/>
            <a:chExt cx="1627" cy="2430"/>
          </a:xfrm>
        </p:grpSpPr>
        <p:sp>
          <p:nvSpPr>
            <p:cNvPr id="505860" name="Line 4"/>
            <p:cNvSpPr>
              <a:spLocks noChangeShapeType="1"/>
            </p:cNvSpPr>
            <p:nvPr/>
          </p:nvSpPr>
          <p:spPr bwMode="auto">
            <a:xfrm flipV="1">
              <a:off x="4228" y="1436"/>
              <a:ext cx="113" cy="24"/>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05861" name="Freeform 5"/>
            <p:cNvSpPr>
              <a:spLocks/>
            </p:cNvSpPr>
            <p:nvPr/>
          </p:nvSpPr>
          <p:spPr bwMode="auto">
            <a:xfrm>
              <a:off x="4323" y="1417"/>
              <a:ext cx="109" cy="40"/>
            </a:xfrm>
            <a:custGeom>
              <a:avLst/>
              <a:gdLst>
                <a:gd name="T0" fmla="*/ 75 w 75"/>
                <a:gd name="T1" fmla="*/ 0 h 37"/>
                <a:gd name="T2" fmla="*/ 0 w 75"/>
                <a:gd name="T3" fmla="*/ 3 h 37"/>
                <a:gd name="T4" fmla="*/ 10 w 75"/>
                <a:gd name="T5" fmla="*/ 37 h 37"/>
                <a:gd name="T6" fmla="*/ 75 w 75"/>
                <a:gd name="T7" fmla="*/ 0 h 37"/>
              </a:gdLst>
              <a:ahLst/>
              <a:cxnLst>
                <a:cxn ang="0">
                  <a:pos x="T0" y="T1"/>
                </a:cxn>
                <a:cxn ang="0">
                  <a:pos x="T2" y="T3"/>
                </a:cxn>
                <a:cxn ang="0">
                  <a:pos x="T4" y="T5"/>
                </a:cxn>
                <a:cxn ang="0">
                  <a:pos x="T6" y="T7"/>
                </a:cxn>
              </a:cxnLst>
              <a:rect l="0" t="0" r="r" b="b"/>
              <a:pathLst>
                <a:path w="75" h="37">
                  <a:moveTo>
                    <a:pt x="75" y="0"/>
                  </a:moveTo>
                  <a:lnTo>
                    <a:pt x="0" y="3"/>
                  </a:lnTo>
                  <a:lnTo>
                    <a:pt x="10" y="37"/>
                  </a:lnTo>
                  <a:lnTo>
                    <a:pt x="7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05932" name="Rectangle 76"/>
            <p:cNvSpPr>
              <a:spLocks noChangeArrowheads="1"/>
            </p:cNvSpPr>
            <p:nvPr/>
          </p:nvSpPr>
          <p:spPr bwMode="auto">
            <a:xfrm>
              <a:off x="4246" y="1932"/>
              <a:ext cx="72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Difference of</a:t>
              </a:r>
              <a:endParaRPr lang="en-US" altLang="en-US" sz="3200"/>
            </a:p>
          </p:txBody>
        </p:sp>
        <p:sp>
          <p:nvSpPr>
            <p:cNvPr id="505939" name="Rectangle 83"/>
            <p:cNvSpPr>
              <a:spLocks noChangeArrowheads="1"/>
            </p:cNvSpPr>
            <p:nvPr/>
          </p:nvSpPr>
          <p:spPr bwMode="auto">
            <a:xfrm>
              <a:off x="4368" y="2052"/>
              <a:ext cx="50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2 from 1</a:t>
              </a:r>
              <a:endParaRPr lang="en-US" altLang="en-US" sz="3200"/>
            </a:p>
          </p:txBody>
        </p:sp>
        <p:sp>
          <p:nvSpPr>
            <p:cNvPr id="505947" name="Rectangle 91"/>
            <p:cNvSpPr>
              <a:spLocks noChangeArrowheads="1"/>
            </p:cNvSpPr>
            <p:nvPr/>
          </p:nvSpPr>
          <p:spPr bwMode="auto">
            <a:xfrm>
              <a:off x="4282" y="2715"/>
              <a:ext cx="67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0.01 Mbyte</a:t>
              </a:r>
              <a:endParaRPr lang="en-US" altLang="en-US" sz="3200"/>
            </a:p>
          </p:txBody>
        </p:sp>
        <p:sp>
          <p:nvSpPr>
            <p:cNvPr id="505957" name="Rectangle 101"/>
            <p:cNvSpPr>
              <a:spLocks noChangeArrowheads="1"/>
            </p:cNvSpPr>
            <p:nvPr/>
          </p:nvSpPr>
          <p:spPr bwMode="auto">
            <a:xfrm>
              <a:off x="4371" y="903"/>
              <a:ext cx="50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2</a:t>
              </a:r>
              <a:endParaRPr lang="en-US" altLang="en-US" sz="3200"/>
            </a:p>
          </p:txBody>
        </p:sp>
        <p:sp>
          <p:nvSpPr>
            <p:cNvPr id="505960" name="Oval 104"/>
            <p:cNvSpPr>
              <a:spLocks noChangeArrowheads="1"/>
            </p:cNvSpPr>
            <p:nvPr/>
          </p:nvSpPr>
          <p:spPr bwMode="auto">
            <a:xfrm>
              <a:off x="4436" y="1363"/>
              <a:ext cx="91" cy="70"/>
            </a:xfrm>
            <a:prstGeom prst="ellipse">
              <a:avLst/>
            </a:prstGeom>
            <a:solidFill>
              <a:srgbClr val="000000"/>
            </a:solidFill>
            <a:ln w="15875">
              <a:solidFill>
                <a:srgbClr val="000000"/>
              </a:solidFill>
              <a:miter lim="800000"/>
              <a:headEnd/>
              <a:tailEnd/>
            </a:ln>
          </p:spPr>
          <p:txBody>
            <a:bodyPr/>
            <a:lstStyle/>
            <a:p>
              <a:endParaRPr lang="en-US"/>
            </a:p>
          </p:txBody>
        </p:sp>
        <p:sp>
          <p:nvSpPr>
            <p:cNvPr id="505961" name="Oval 105"/>
            <p:cNvSpPr>
              <a:spLocks noChangeArrowheads="1"/>
            </p:cNvSpPr>
            <p:nvPr/>
          </p:nvSpPr>
          <p:spPr bwMode="auto">
            <a:xfrm>
              <a:off x="4100" y="1441"/>
              <a:ext cx="96" cy="67"/>
            </a:xfrm>
            <a:prstGeom prst="ellipse">
              <a:avLst/>
            </a:prstGeom>
            <a:solidFill>
              <a:srgbClr val="000000"/>
            </a:solidFill>
            <a:ln w="15875">
              <a:solidFill>
                <a:srgbClr val="000000"/>
              </a:solidFill>
              <a:miter lim="800000"/>
              <a:headEnd/>
              <a:tailEnd/>
            </a:ln>
          </p:spPr>
          <p:txBody>
            <a:bodyPr/>
            <a:lstStyle/>
            <a:p>
              <a:endParaRPr lang="en-US"/>
            </a:p>
          </p:txBody>
        </p:sp>
        <p:sp>
          <p:nvSpPr>
            <p:cNvPr id="505962" name="Rectangle 106"/>
            <p:cNvSpPr>
              <a:spLocks noChangeArrowheads="1"/>
            </p:cNvSpPr>
            <p:nvPr/>
          </p:nvSpPr>
          <p:spPr bwMode="auto">
            <a:xfrm>
              <a:off x="4077" y="1049"/>
              <a:ext cx="1059" cy="796"/>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70" name="Freeform 114"/>
            <p:cNvSpPr>
              <a:spLocks/>
            </p:cNvSpPr>
            <p:nvPr/>
          </p:nvSpPr>
          <p:spPr bwMode="auto">
            <a:xfrm>
              <a:off x="4418" y="2222"/>
              <a:ext cx="191" cy="97"/>
            </a:xfrm>
            <a:custGeom>
              <a:avLst/>
              <a:gdLst>
                <a:gd name="T0" fmla="*/ 0 w 42"/>
                <a:gd name="T1" fmla="*/ 15 h 29"/>
                <a:gd name="T2" fmla="*/ 19 w 42"/>
                <a:gd name="T3" fmla="*/ 11 h 29"/>
                <a:gd name="T4" fmla="*/ 42 w 42"/>
                <a:gd name="T5" fmla="*/ 12 h 29"/>
              </a:gdLst>
              <a:ahLst/>
              <a:cxnLst>
                <a:cxn ang="0">
                  <a:pos x="T0" y="T1"/>
                </a:cxn>
                <a:cxn ang="0">
                  <a:pos x="T2" y="T3"/>
                </a:cxn>
                <a:cxn ang="0">
                  <a:pos x="T4" y="T5"/>
                </a:cxn>
              </a:cxnLst>
              <a:rect l="0" t="0" r="r" b="b"/>
              <a:pathLst>
                <a:path w="42" h="29">
                  <a:moveTo>
                    <a:pt x="0" y="15"/>
                  </a:moveTo>
                  <a:cubicBezTo>
                    <a:pt x="0" y="15"/>
                    <a:pt x="7" y="0"/>
                    <a:pt x="19" y="11"/>
                  </a:cubicBezTo>
                  <a:cubicBezTo>
                    <a:pt x="19" y="11"/>
                    <a:pt x="33" y="29"/>
                    <a:pt x="42" y="12"/>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71" name="Freeform 115"/>
            <p:cNvSpPr>
              <a:spLocks/>
            </p:cNvSpPr>
            <p:nvPr/>
          </p:nvSpPr>
          <p:spPr bwMode="auto">
            <a:xfrm>
              <a:off x="4418" y="2256"/>
              <a:ext cx="191" cy="93"/>
            </a:xfrm>
            <a:custGeom>
              <a:avLst/>
              <a:gdLst>
                <a:gd name="T0" fmla="*/ 0 w 42"/>
                <a:gd name="T1" fmla="*/ 15 h 28"/>
                <a:gd name="T2" fmla="*/ 19 w 42"/>
                <a:gd name="T3" fmla="*/ 11 h 28"/>
                <a:gd name="T4" fmla="*/ 42 w 42"/>
                <a:gd name="T5" fmla="*/ 12 h 28"/>
              </a:gdLst>
              <a:ahLst/>
              <a:cxnLst>
                <a:cxn ang="0">
                  <a:pos x="T0" y="T1"/>
                </a:cxn>
                <a:cxn ang="0">
                  <a:pos x="T2" y="T3"/>
                </a:cxn>
                <a:cxn ang="0">
                  <a:pos x="T4" y="T5"/>
                </a:cxn>
              </a:cxnLst>
              <a:rect l="0" t="0" r="r" b="b"/>
              <a:pathLst>
                <a:path w="42" h="28">
                  <a:moveTo>
                    <a:pt x="0" y="15"/>
                  </a:moveTo>
                  <a:cubicBezTo>
                    <a:pt x="0" y="15"/>
                    <a:pt x="7" y="0"/>
                    <a:pt x="19" y="11"/>
                  </a:cubicBezTo>
                  <a:cubicBezTo>
                    <a:pt x="19" y="11"/>
                    <a:pt x="33" y="28"/>
                    <a:pt x="42" y="12"/>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72" name="Rectangle 116"/>
            <p:cNvSpPr>
              <a:spLocks noChangeArrowheads="1"/>
            </p:cNvSpPr>
            <p:nvPr/>
          </p:nvSpPr>
          <p:spPr bwMode="auto">
            <a:xfrm>
              <a:off x="4363" y="2205"/>
              <a:ext cx="478" cy="49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05990" name="Oval 134"/>
            <p:cNvSpPr>
              <a:spLocks noChangeArrowheads="1"/>
            </p:cNvSpPr>
            <p:nvPr/>
          </p:nvSpPr>
          <p:spPr bwMode="auto">
            <a:xfrm>
              <a:off x="3956" y="1803"/>
              <a:ext cx="1293" cy="1131"/>
            </a:xfrm>
            <a:prstGeom prst="ellipse">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05991" name="Text Box 135"/>
            <p:cNvSpPr txBox="1">
              <a:spLocks noChangeArrowheads="1"/>
            </p:cNvSpPr>
            <p:nvPr/>
          </p:nvSpPr>
          <p:spPr bwMode="auto">
            <a:xfrm>
              <a:off x="4855" y="2929"/>
              <a:ext cx="728"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solidFill>
                    <a:schemeClr val="accent2"/>
                  </a:solidFill>
                </a:rPr>
                <a:t>Just send difference</a:t>
              </a:r>
            </a:p>
          </p:txBody>
        </p:sp>
        <p:sp>
          <p:nvSpPr>
            <p:cNvPr id="505992" name="Line 136"/>
            <p:cNvSpPr>
              <a:spLocks noChangeShapeType="1"/>
            </p:cNvSpPr>
            <p:nvPr/>
          </p:nvSpPr>
          <p:spPr bwMode="auto">
            <a:xfrm>
              <a:off x="5151" y="2674"/>
              <a:ext cx="44" cy="304"/>
            </a:xfrm>
            <a:prstGeom prst="line">
              <a:avLst/>
            </a:prstGeom>
            <a:noFill/>
            <a:ln w="952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59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1" fill="hold" nodeType="clickEffect">
                                  <p:stCondLst>
                                    <p:cond delay="0"/>
                                  </p:stCondLst>
                                  <p:childTnLst>
                                    <p:set>
                                      <p:cBhvr>
                                        <p:cTn id="10" dur="1" fill="hold">
                                          <p:stCondLst>
                                            <p:cond delay="0"/>
                                          </p:stCondLst>
                                        </p:cTn>
                                        <p:tgtEl>
                                          <p:spTgt spid="505997"/>
                                        </p:tgtEl>
                                        <p:attrNameLst>
                                          <p:attrName>style.visibility</p:attrName>
                                        </p:attrNameLst>
                                      </p:cBhvr>
                                      <p:to>
                                        <p:strVal val="visible"/>
                                      </p:to>
                                    </p:set>
                                    <p:anim calcmode="lin" valueType="num">
                                      <p:cBhvr additive="base">
                                        <p:cTn id="11" dur="500" fill="hold"/>
                                        <p:tgtEl>
                                          <p:spTgt spid="505997"/>
                                        </p:tgtEl>
                                        <p:attrNameLst>
                                          <p:attrName>ppt_x</p:attrName>
                                        </p:attrNameLst>
                                      </p:cBhvr>
                                      <p:tavLst>
                                        <p:tav tm="0">
                                          <p:val>
                                            <p:strVal val="#ppt_x"/>
                                          </p:val>
                                        </p:tav>
                                        <p:tav tm="100000">
                                          <p:val>
                                            <p:strVal val="#ppt_x"/>
                                          </p:val>
                                        </p:tav>
                                      </p:tavLst>
                                    </p:anim>
                                    <p:anim calcmode="lin" valueType="num">
                                      <p:cBhvr additive="base">
                                        <p:cTn id="12" dur="500" fill="hold"/>
                                        <p:tgtEl>
                                          <p:spTgt spid="505997"/>
                                        </p:tgtEl>
                                        <p:attrNameLst>
                                          <p:attrName>ppt_y</p:attrName>
                                        </p:attrNameLst>
                                      </p:cBhvr>
                                      <p:tavLst>
                                        <p:tav tm="0">
                                          <p:val>
                                            <p:strVal val="0-#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50600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5060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Slide Number Placeholder 3"/>
          <p:cNvSpPr>
            <a:spLocks noGrp="1"/>
          </p:cNvSpPr>
          <p:nvPr>
            <p:ph type="sldNum" sz="quarter" idx="10"/>
          </p:nvPr>
        </p:nvSpPr>
        <p:spPr/>
        <p:txBody>
          <a:bodyPr/>
          <a:lstStyle/>
          <a:p>
            <a:fld id="{0FB20816-C029-4492-BB05-7AAE03C29E39}" type="slidenum">
              <a:rPr lang="en-US" altLang="en-US"/>
              <a:pPr/>
              <a:t>33</a:t>
            </a:fld>
            <a:endParaRPr lang="en-US" altLang="en-US"/>
          </a:p>
        </p:txBody>
      </p:sp>
      <p:sp>
        <p:nvSpPr>
          <p:cNvPr id="533506" name="Rectangle 2"/>
          <p:cNvSpPr>
            <a:spLocks noGrp="1" noChangeArrowheads="1"/>
          </p:cNvSpPr>
          <p:nvPr>
            <p:ph type="title"/>
          </p:nvPr>
        </p:nvSpPr>
        <p:spPr/>
        <p:txBody>
          <a:bodyPr/>
          <a:lstStyle/>
          <a:p>
            <a:r>
              <a:rPr lang="en-US" altLang="en-US"/>
              <a:t>RTL Example: </a:t>
            </a:r>
            <a:r>
              <a:rPr lang="en-US" altLang="en-US" sz="3200"/>
              <a:t>Video Compression – Sum of Absolute Differences</a:t>
            </a:r>
          </a:p>
        </p:txBody>
      </p:sp>
      <p:sp>
        <p:nvSpPr>
          <p:cNvPr id="533507" name="Rectangle 3"/>
          <p:cNvSpPr>
            <a:spLocks noGrp="1" noChangeArrowheads="1"/>
          </p:cNvSpPr>
          <p:nvPr>
            <p:ph type="body" idx="1"/>
          </p:nvPr>
        </p:nvSpPr>
        <p:spPr>
          <a:xfrm>
            <a:off x="228600" y="3201988"/>
            <a:ext cx="8507413" cy="2894012"/>
          </a:xfrm>
        </p:spPr>
        <p:txBody>
          <a:bodyPr/>
          <a:lstStyle/>
          <a:p>
            <a:r>
              <a:rPr lang="en-US" altLang="en-US"/>
              <a:t>Need to quickly determine whether two frames are similar enough to just send difference for second frame</a:t>
            </a:r>
          </a:p>
          <a:p>
            <a:pPr lvl="1"/>
            <a:r>
              <a:rPr lang="en-US" altLang="en-US"/>
              <a:t>Compare corresponding 16x16 “blocks”</a:t>
            </a:r>
          </a:p>
          <a:p>
            <a:pPr lvl="2"/>
            <a:r>
              <a:rPr lang="en-US" altLang="en-US"/>
              <a:t>Treat 16x16 block as 256-byte array</a:t>
            </a:r>
          </a:p>
          <a:p>
            <a:pPr lvl="1"/>
            <a:r>
              <a:rPr lang="en-US" altLang="en-US"/>
              <a:t>Compute the absolute value of the difference of each array item</a:t>
            </a:r>
          </a:p>
          <a:p>
            <a:pPr lvl="1"/>
            <a:r>
              <a:rPr lang="en-US" altLang="en-US"/>
              <a:t>Sum those differences – if above a threshold, send complete frame for second frame; if below, can use difference method (using another technique, not described)</a:t>
            </a:r>
          </a:p>
        </p:txBody>
      </p:sp>
      <p:sp>
        <p:nvSpPr>
          <p:cNvPr id="533522" name="Rectangle 18"/>
          <p:cNvSpPr>
            <a:spLocks noChangeArrowheads="1"/>
          </p:cNvSpPr>
          <p:nvPr/>
        </p:nvSpPr>
        <p:spPr bwMode="auto">
          <a:xfrm>
            <a:off x="2730500" y="1433513"/>
            <a:ext cx="8048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2</a:t>
            </a:r>
            <a:endParaRPr lang="en-US" altLang="en-US" sz="3200"/>
          </a:p>
        </p:txBody>
      </p:sp>
      <p:sp>
        <p:nvSpPr>
          <p:cNvPr id="533525" name="Freeform 21"/>
          <p:cNvSpPr>
            <a:spLocks/>
          </p:cNvSpPr>
          <p:nvPr/>
        </p:nvSpPr>
        <p:spPr bwMode="auto">
          <a:xfrm>
            <a:off x="2263775" y="1779588"/>
            <a:ext cx="1679575" cy="747712"/>
          </a:xfrm>
          <a:custGeom>
            <a:avLst/>
            <a:gdLst>
              <a:gd name="T0" fmla="*/ 0 w 728"/>
              <a:gd name="T1" fmla="*/ 437 h 437"/>
              <a:gd name="T2" fmla="*/ 175 w 728"/>
              <a:gd name="T3" fmla="*/ 62 h 437"/>
              <a:gd name="T4" fmla="*/ 275 w 728"/>
              <a:gd name="T5" fmla="*/ 200 h 437"/>
              <a:gd name="T6" fmla="*/ 403 w 728"/>
              <a:gd name="T7" fmla="*/ 0 h 437"/>
              <a:gd name="T8" fmla="*/ 728 w 728"/>
              <a:gd name="T9" fmla="*/ 400 h 437"/>
            </a:gdLst>
            <a:ahLst/>
            <a:cxnLst>
              <a:cxn ang="0">
                <a:pos x="T0" y="T1"/>
              </a:cxn>
              <a:cxn ang="0">
                <a:pos x="T2" y="T3"/>
              </a:cxn>
              <a:cxn ang="0">
                <a:pos x="T4" y="T5"/>
              </a:cxn>
              <a:cxn ang="0">
                <a:pos x="T6" y="T7"/>
              </a:cxn>
              <a:cxn ang="0">
                <a:pos x="T8" y="T9"/>
              </a:cxn>
            </a:cxnLst>
            <a:rect l="0" t="0" r="r" b="b"/>
            <a:pathLst>
              <a:path w="728" h="437">
                <a:moveTo>
                  <a:pt x="0" y="437"/>
                </a:moveTo>
                <a:lnTo>
                  <a:pt x="175" y="62"/>
                </a:lnTo>
                <a:lnTo>
                  <a:pt x="275" y="200"/>
                </a:lnTo>
                <a:lnTo>
                  <a:pt x="403" y="0"/>
                </a:lnTo>
                <a:lnTo>
                  <a:pt x="728" y="40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526" name="Freeform 22"/>
          <p:cNvSpPr>
            <a:spLocks/>
          </p:cNvSpPr>
          <p:nvPr/>
        </p:nvSpPr>
        <p:spPr bwMode="auto">
          <a:xfrm>
            <a:off x="3446463" y="1831975"/>
            <a:ext cx="488950" cy="171450"/>
          </a:xfrm>
          <a:custGeom>
            <a:avLst/>
            <a:gdLst>
              <a:gd name="T0" fmla="*/ 0 w 212"/>
              <a:gd name="T1" fmla="*/ 100 h 100"/>
              <a:gd name="T2" fmla="*/ 131 w 212"/>
              <a:gd name="T3" fmla="*/ 0 h 100"/>
              <a:gd name="T4" fmla="*/ 212 w 212"/>
              <a:gd name="T5" fmla="*/ 50 h 100"/>
            </a:gdLst>
            <a:ahLst/>
            <a:cxnLst>
              <a:cxn ang="0">
                <a:pos x="T0" y="T1"/>
              </a:cxn>
              <a:cxn ang="0">
                <a:pos x="T2" y="T3"/>
              </a:cxn>
              <a:cxn ang="0">
                <a:pos x="T4" y="T5"/>
              </a:cxn>
            </a:cxnLst>
            <a:rect l="0" t="0" r="r" b="b"/>
            <a:pathLst>
              <a:path w="212" h="100">
                <a:moveTo>
                  <a:pt x="0" y="100"/>
                </a:moveTo>
                <a:lnTo>
                  <a:pt x="131" y="0"/>
                </a:lnTo>
                <a:lnTo>
                  <a:pt x="212" y="5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527" name="Freeform 23"/>
          <p:cNvSpPr>
            <a:spLocks/>
          </p:cNvSpPr>
          <p:nvPr/>
        </p:nvSpPr>
        <p:spPr bwMode="auto">
          <a:xfrm>
            <a:off x="2263775" y="2493963"/>
            <a:ext cx="1679575" cy="284162"/>
          </a:xfrm>
          <a:custGeom>
            <a:avLst/>
            <a:gdLst>
              <a:gd name="T0" fmla="*/ 0 w 233"/>
              <a:gd name="T1" fmla="*/ 37 h 53"/>
              <a:gd name="T2" fmla="*/ 112 w 233"/>
              <a:gd name="T3" fmla="*/ 25 h 53"/>
              <a:gd name="T4" fmla="*/ 233 w 233"/>
              <a:gd name="T5" fmla="*/ 47 h 53"/>
            </a:gdLst>
            <a:ahLst/>
            <a:cxnLst>
              <a:cxn ang="0">
                <a:pos x="T0" y="T1"/>
              </a:cxn>
              <a:cxn ang="0">
                <a:pos x="T2" y="T3"/>
              </a:cxn>
              <a:cxn ang="0">
                <a:pos x="T4" y="T5"/>
              </a:cxn>
            </a:cxnLst>
            <a:rect l="0" t="0" r="r" b="b"/>
            <a:pathLst>
              <a:path w="233" h="53">
                <a:moveTo>
                  <a:pt x="0" y="37"/>
                </a:moveTo>
                <a:cubicBezTo>
                  <a:pt x="0" y="37"/>
                  <a:pt x="16" y="53"/>
                  <a:pt x="112" y="25"/>
                </a:cubicBezTo>
                <a:cubicBezTo>
                  <a:pt x="112" y="25"/>
                  <a:pt x="186" y="0"/>
                  <a:pt x="233" y="47"/>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528" name="Oval 24"/>
          <p:cNvSpPr>
            <a:spLocks noChangeArrowheads="1"/>
          </p:cNvSpPr>
          <p:nvPr/>
        </p:nvSpPr>
        <p:spPr bwMode="auto">
          <a:xfrm>
            <a:off x="2776538" y="2189163"/>
            <a:ext cx="142875" cy="107950"/>
          </a:xfrm>
          <a:prstGeom prst="ellipse">
            <a:avLst/>
          </a:prstGeom>
          <a:solidFill>
            <a:srgbClr val="000000"/>
          </a:solidFill>
          <a:ln w="15875">
            <a:solidFill>
              <a:srgbClr val="000000"/>
            </a:solidFill>
            <a:miter lim="800000"/>
            <a:headEnd/>
            <a:tailEnd/>
          </a:ln>
        </p:spPr>
        <p:txBody>
          <a:bodyPr/>
          <a:lstStyle/>
          <a:p>
            <a:endParaRPr lang="en-US"/>
          </a:p>
        </p:txBody>
      </p:sp>
      <p:sp>
        <p:nvSpPr>
          <p:cNvPr id="533529" name="Rectangle 25"/>
          <p:cNvSpPr>
            <a:spLocks noChangeArrowheads="1"/>
          </p:cNvSpPr>
          <p:nvPr/>
        </p:nvSpPr>
        <p:spPr bwMode="auto">
          <a:xfrm>
            <a:off x="2263775" y="1665288"/>
            <a:ext cx="1679575" cy="12636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546" name="Rectangle 42"/>
          <p:cNvSpPr>
            <a:spLocks noChangeArrowheads="1"/>
          </p:cNvSpPr>
          <p:nvPr/>
        </p:nvSpPr>
        <p:spPr bwMode="auto">
          <a:xfrm>
            <a:off x="969963" y="1433513"/>
            <a:ext cx="80486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Frame 1</a:t>
            </a:r>
            <a:endParaRPr lang="en-US" altLang="en-US" sz="3200"/>
          </a:p>
        </p:txBody>
      </p:sp>
      <p:sp>
        <p:nvSpPr>
          <p:cNvPr id="533554" name="Freeform 50"/>
          <p:cNvSpPr>
            <a:spLocks/>
          </p:cNvSpPr>
          <p:nvPr/>
        </p:nvSpPr>
        <p:spPr bwMode="auto">
          <a:xfrm>
            <a:off x="504825" y="1779588"/>
            <a:ext cx="1681163" cy="747712"/>
          </a:xfrm>
          <a:custGeom>
            <a:avLst/>
            <a:gdLst>
              <a:gd name="T0" fmla="*/ 0 w 729"/>
              <a:gd name="T1" fmla="*/ 437 h 437"/>
              <a:gd name="T2" fmla="*/ 175 w 729"/>
              <a:gd name="T3" fmla="*/ 62 h 437"/>
              <a:gd name="T4" fmla="*/ 275 w 729"/>
              <a:gd name="T5" fmla="*/ 200 h 437"/>
              <a:gd name="T6" fmla="*/ 404 w 729"/>
              <a:gd name="T7" fmla="*/ 0 h 437"/>
              <a:gd name="T8" fmla="*/ 729 w 729"/>
              <a:gd name="T9" fmla="*/ 400 h 437"/>
            </a:gdLst>
            <a:ahLst/>
            <a:cxnLst>
              <a:cxn ang="0">
                <a:pos x="T0" y="T1"/>
              </a:cxn>
              <a:cxn ang="0">
                <a:pos x="T2" y="T3"/>
              </a:cxn>
              <a:cxn ang="0">
                <a:pos x="T4" y="T5"/>
              </a:cxn>
              <a:cxn ang="0">
                <a:pos x="T6" y="T7"/>
              </a:cxn>
              <a:cxn ang="0">
                <a:pos x="T8" y="T9"/>
              </a:cxn>
            </a:cxnLst>
            <a:rect l="0" t="0" r="r" b="b"/>
            <a:pathLst>
              <a:path w="729" h="437">
                <a:moveTo>
                  <a:pt x="0" y="437"/>
                </a:moveTo>
                <a:lnTo>
                  <a:pt x="175" y="62"/>
                </a:lnTo>
                <a:lnTo>
                  <a:pt x="275" y="200"/>
                </a:lnTo>
                <a:lnTo>
                  <a:pt x="404" y="0"/>
                </a:lnTo>
                <a:lnTo>
                  <a:pt x="729" y="40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555" name="Freeform 51"/>
          <p:cNvSpPr>
            <a:spLocks/>
          </p:cNvSpPr>
          <p:nvPr/>
        </p:nvSpPr>
        <p:spPr bwMode="auto">
          <a:xfrm>
            <a:off x="1687513" y="1831975"/>
            <a:ext cx="488950" cy="171450"/>
          </a:xfrm>
          <a:custGeom>
            <a:avLst/>
            <a:gdLst>
              <a:gd name="T0" fmla="*/ 0 w 212"/>
              <a:gd name="T1" fmla="*/ 100 h 100"/>
              <a:gd name="T2" fmla="*/ 131 w 212"/>
              <a:gd name="T3" fmla="*/ 0 h 100"/>
              <a:gd name="T4" fmla="*/ 212 w 212"/>
              <a:gd name="T5" fmla="*/ 50 h 100"/>
            </a:gdLst>
            <a:ahLst/>
            <a:cxnLst>
              <a:cxn ang="0">
                <a:pos x="T0" y="T1"/>
              </a:cxn>
              <a:cxn ang="0">
                <a:pos x="T2" y="T3"/>
              </a:cxn>
              <a:cxn ang="0">
                <a:pos x="T4" y="T5"/>
              </a:cxn>
            </a:cxnLst>
            <a:rect l="0" t="0" r="r" b="b"/>
            <a:pathLst>
              <a:path w="212" h="100">
                <a:moveTo>
                  <a:pt x="0" y="100"/>
                </a:moveTo>
                <a:lnTo>
                  <a:pt x="131" y="0"/>
                </a:lnTo>
                <a:lnTo>
                  <a:pt x="212" y="50"/>
                </a:ln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556" name="Freeform 52"/>
          <p:cNvSpPr>
            <a:spLocks/>
          </p:cNvSpPr>
          <p:nvPr/>
        </p:nvSpPr>
        <p:spPr bwMode="auto">
          <a:xfrm>
            <a:off x="504825" y="2493963"/>
            <a:ext cx="1681163" cy="284162"/>
          </a:xfrm>
          <a:custGeom>
            <a:avLst/>
            <a:gdLst>
              <a:gd name="T0" fmla="*/ 0 w 233"/>
              <a:gd name="T1" fmla="*/ 37 h 53"/>
              <a:gd name="T2" fmla="*/ 112 w 233"/>
              <a:gd name="T3" fmla="*/ 25 h 53"/>
              <a:gd name="T4" fmla="*/ 233 w 233"/>
              <a:gd name="T5" fmla="*/ 47 h 53"/>
            </a:gdLst>
            <a:ahLst/>
            <a:cxnLst>
              <a:cxn ang="0">
                <a:pos x="T0" y="T1"/>
              </a:cxn>
              <a:cxn ang="0">
                <a:pos x="T2" y="T3"/>
              </a:cxn>
              <a:cxn ang="0">
                <a:pos x="T4" y="T5"/>
              </a:cxn>
            </a:cxnLst>
            <a:rect l="0" t="0" r="r" b="b"/>
            <a:pathLst>
              <a:path w="233" h="53">
                <a:moveTo>
                  <a:pt x="0" y="37"/>
                </a:moveTo>
                <a:cubicBezTo>
                  <a:pt x="0" y="37"/>
                  <a:pt x="16" y="53"/>
                  <a:pt x="112" y="25"/>
                </a:cubicBezTo>
                <a:cubicBezTo>
                  <a:pt x="112" y="25"/>
                  <a:pt x="186" y="0"/>
                  <a:pt x="233" y="47"/>
                </a:cubicBezTo>
              </a:path>
            </a:pathLst>
          </a:custGeom>
          <a:noFill/>
          <a:ln w="15875" cap="flat">
            <a:solidFill>
              <a:srgbClr val="629FD6"/>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557" name="Oval 53"/>
          <p:cNvSpPr>
            <a:spLocks noChangeArrowheads="1"/>
          </p:cNvSpPr>
          <p:nvPr/>
        </p:nvSpPr>
        <p:spPr bwMode="auto">
          <a:xfrm>
            <a:off x="549275" y="2312988"/>
            <a:ext cx="150813" cy="112712"/>
          </a:xfrm>
          <a:prstGeom prst="ellipse">
            <a:avLst/>
          </a:prstGeom>
          <a:solidFill>
            <a:srgbClr val="000000"/>
          </a:solidFill>
          <a:ln w="15875">
            <a:solidFill>
              <a:srgbClr val="000000"/>
            </a:solidFill>
            <a:miter lim="800000"/>
            <a:headEnd/>
            <a:tailEnd/>
          </a:ln>
        </p:spPr>
        <p:txBody>
          <a:bodyPr/>
          <a:lstStyle/>
          <a:p>
            <a:endParaRPr lang="en-US"/>
          </a:p>
        </p:txBody>
      </p:sp>
      <p:sp>
        <p:nvSpPr>
          <p:cNvPr id="533558" name="Rectangle 54"/>
          <p:cNvSpPr>
            <a:spLocks noChangeArrowheads="1"/>
          </p:cNvSpPr>
          <p:nvPr/>
        </p:nvSpPr>
        <p:spPr bwMode="auto">
          <a:xfrm>
            <a:off x="504825" y="1665288"/>
            <a:ext cx="1681163" cy="12636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3639" name="Rectangle 135"/>
          <p:cNvSpPr>
            <a:spLocks noChangeArrowheads="1"/>
          </p:cNvSpPr>
          <p:nvPr/>
        </p:nvSpPr>
        <p:spPr bwMode="auto">
          <a:xfrm>
            <a:off x="506413" y="1692275"/>
            <a:ext cx="504825" cy="388938"/>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40" name="Rectangle 136"/>
          <p:cNvSpPr>
            <a:spLocks noChangeArrowheads="1"/>
          </p:cNvSpPr>
          <p:nvPr/>
        </p:nvSpPr>
        <p:spPr bwMode="auto">
          <a:xfrm>
            <a:off x="2257425" y="1673225"/>
            <a:ext cx="504825" cy="388938"/>
          </a:xfrm>
          <a:prstGeom prst="rect">
            <a:avLst/>
          </a:prstGeom>
          <a:solidFill>
            <a:schemeClr val="accent1">
              <a:alpha val="50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44" name="Freeform 140"/>
          <p:cNvSpPr>
            <a:spLocks/>
          </p:cNvSpPr>
          <p:nvPr/>
        </p:nvSpPr>
        <p:spPr bwMode="auto">
          <a:xfrm>
            <a:off x="700088" y="1374775"/>
            <a:ext cx="1809750" cy="493713"/>
          </a:xfrm>
          <a:custGeom>
            <a:avLst/>
            <a:gdLst>
              <a:gd name="T0" fmla="*/ 0 w 1140"/>
              <a:gd name="T1" fmla="*/ 311 h 311"/>
              <a:gd name="T2" fmla="*/ 625 w 1140"/>
              <a:gd name="T3" fmla="*/ 4 h 311"/>
              <a:gd name="T4" fmla="*/ 1140 w 1140"/>
              <a:gd name="T5" fmla="*/ 286 h 311"/>
            </a:gdLst>
            <a:ahLst/>
            <a:cxnLst>
              <a:cxn ang="0">
                <a:pos x="T0" y="T1"/>
              </a:cxn>
              <a:cxn ang="0">
                <a:pos x="T2" y="T3"/>
              </a:cxn>
              <a:cxn ang="0">
                <a:pos x="T4" y="T5"/>
              </a:cxn>
            </a:cxnLst>
            <a:rect l="0" t="0" r="r" b="b"/>
            <a:pathLst>
              <a:path w="1140" h="311">
                <a:moveTo>
                  <a:pt x="0" y="311"/>
                </a:moveTo>
                <a:cubicBezTo>
                  <a:pt x="104" y="260"/>
                  <a:pt x="435" y="8"/>
                  <a:pt x="625" y="4"/>
                </a:cubicBezTo>
                <a:cubicBezTo>
                  <a:pt x="815" y="0"/>
                  <a:pt x="1033" y="227"/>
                  <a:pt x="1140" y="286"/>
                </a:cubicBezTo>
              </a:path>
            </a:pathLst>
          </a:cu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45" name="Text Box 141"/>
          <p:cNvSpPr txBox="1">
            <a:spLocks noChangeArrowheads="1"/>
          </p:cNvSpPr>
          <p:nvPr/>
        </p:nvSpPr>
        <p:spPr bwMode="auto">
          <a:xfrm>
            <a:off x="1211263" y="1090613"/>
            <a:ext cx="10572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chemeClr val="accent2"/>
                </a:solidFill>
              </a:rPr>
              <a:t>compare</a:t>
            </a:r>
          </a:p>
        </p:txBody>
      </p:sp>
      <p:grpSp>
        <p:nvGrpSpPr>
          <p:cNvPr id="533778" name="Group 274"/>
          <p:cNvGrpSpPr>
            <a:grpSpLocks/>
          </p:cNvGrpSpPr>
          <p:nvPr/>
        </p:nvGrpSpPr>
        <p:grpSpPr bwMode="auto">
          <a:xfrm>
            <a:off x="4338638" y="1358900"/>
            <a:ext cx="1712912" cy="1770063"/>
            <a:chOff x="2941" y="894"/>
            <a:chExt cx="2035" cy="2218"/>
          </a:xfrm>
        </p:grpSpPr>
        <p:grpSp>
          <p:nvGrpSpPr>
            <p:cNvPr id="533678" name="Group 174"/>
            <p:cNvGrpSpPr>
              <a:grpSpLocks/>
            </p:cNvGrpSpPr>
            <p:nvPr/>
          </p:nvGrpSpPr>
          <p:grpSpPr bwMode="auto">
            <a:xfrm>
              <a:off x="2941" y="894"/>
              <a:ext cx="2035" cy="553"/>
              <a:chOff x="2966" y="894"/>
              <a:chExt cx="2035" cy="553"/>
            </a:xfrm>
          </p:grpSpPr>
          <p:grpSp>
            <p:nvGrpSpPr>
              <p:cNvPr id="533653" name="Group 149"/>
              <p:cNvGrpSpPr>
                <a:grpSpLocks/>
              </p:cNvGrpSpPr>
              <p:nvPr/>
            </p:nvGrpSpPr>
            <p:grpSpPr bwMode="auto">
              <a:xfrm>
                <a:off x="2966" y="894"/>
                <a:ext cx="514" cy="552"/>
                <a:chOff x="2868" y="1078"/>
                <a:chExt cx="514" cy="552"/>
              </a:xfrm>
            </p:grpSpPr>
            <p:sp>
              <p:nvSpPr>
                <p:cNvPr id="533646" name="Rectangle 142"/>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47" name="Line 143"/>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48" name="Line 144"/>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49" name="Line 145"/>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50" name="Line 146"/>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51" name="Line 147"/>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52" name="Line 148"/>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654" name="Group 150"/>
              <p:cNvGrpSpPr>
                <a:grpSpLocks/>
              </p:cNvGrpSpPr>
              <p:nvPr/>
            </p:nvGrpSpPr>
            <p:grpSpPr bwMode="auto">
              <a:xfrm>
                <a:off x="3481" y="894"/>
                <a:ext cx="514" cy="552"/>
                <a:chOff x="2868" y="1078"/>
                <a:chExt cx="514" cy="552"/>
              </a:xfrm>
            </p:grpSpPr>
            <p:sp>
              <p:nvSpPr>
                <p:cNvPr id="533655" name="Rectangle 151"/>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56" name="Line 152"/>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57" name="Line 153"/>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58" name="Line 154"/>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59" name="Line 155"/>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60" name="Line 156"/>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61" name="Line 157"/>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662" name="Group 158"/>
              <p:cNvGrpSpPr>
                <a:grpSpLocks/>
              </p:cNvGrpSpPr>
              <p:nvPr/>
            </p:nvGrpSpPr>
            <p:grpSpPr bwMode="auto">
              <a:xfrm>
                <a:off x="3984" y="895"/>
                <a:ext cx="514" cy="552"/>
                <a:chOff x="2868" y="1078"/>
                <a:chExt cx="514" cy="552"/>
              </a:xfrm>
            </p:grpSpPr>
            <p:sp>
              <p:nvSpPr>
                <p:cNvPr id="533663" name="Rectangle 159"/>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64" name="Line 160"/>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65" name="Line 161"/>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66" name="Line 162"/>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67" name="Line 163"/>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68" name="Line 164"/>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69" name="Line 165"/>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670" name="Group 166"/>
              <p:cNvGrpSpPr>
                <a:grpSpLocks/>
              </p:cNvGrpSpPr>
              <p:nvPr/>
            </p:nvGrpSpPr>
            <p:grpSpPr bwMode="auto">
              <a:xfrm>
                <a:off x="4487" y="895"/>
                <a:ext cx="514" cy="552"/>
                <a:chOff x="2868" y="1078"/>
                <a:chExt cx="514" cy="552"/>
              </a:xfrm>
            </p:grpSpPr>
            <p:sp>
              <p:nvSpPr>
                <p:cNvPr id="533671" name="Rectangle 167"/>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72" name="Line 168"/>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73" name="Line 169"/>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74" name="Line 170"/>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75" name="Line 171"/>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76" name="Line 172"/>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77" name="Line 173"/>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533679" name="Group 175"/>
            <p:cNvGrpSpPr>
              <a:grpSpLocks/>
            </p:cNvGrpSpPr>
            <p:nvPr/>
          </p:nvGrpSpPr>
          <p:grpSpPr bwMode="auto">
            <a:xfrm>
              <a:off x="2941" y="1457"/>
              <a:ext cx="2035" cy="553"/>
              <a:chOff x="2966" y="894"/>
              <a:chExt cx="2035" cy="553"/>
            </a:xfrm>
          </p:grpSpPr>
          <p:grpSp>
            <p:nvGrpSpPr>
              <p:cNvPr id="533680" name="Group 176"/>
              <p:cNvGrpSpPr>
                <a:grpSpLocks/>
              </p:cNvGrpSpPr>
              <p:nvPr/>
            </p:nvGrpSpPr>
            <p:grpSpPr bwMode="auto">
              <a:xfrm>
                <a:off x="2966" y="894"/>
                <a:ext cx="514" cy="552"/>
                <a:chOff x="2868" y="1078"/>
                <a:chExt cx="514" cy="552"/>
              </a:xfrm>
            </p:grpSpPr>
            <p:sp>
              <p:nvSpPr>
                <p:cNvPr id="533681" name="Rectangle 177"/>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82" name="Line 178"/>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83" name="Line 179"/>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84" name="Line 180"/>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85" name="Line 181"/>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86" name="Line 182"/>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87" name="Line 183"/>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688" name="Group 184"/>
              <p:cNvGrpSpPr>
                <a:grpSpLocks/>
              </p:cNvGrpSpPr>
              <p:nvPr/>
            </p:nvGrpSpPr>
            <p:grpSpPr bwMode="auto">
              <a:xfrm>
                <a:off x="3481" y="894"/>
                <a:ext cx="514" cy="552"/>
                <a:chOff x="2868" y="1078"/>
                <a:chExt cx="514" cy="552"/>
              </a:xfrm>
            </p:grpSpPr>
            <p:sp>
              <p:nvSpPr>
                <p:cNvPr id="533689" name="Rectangle 185"/>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90" name="Line 186"/>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91" name="Line 187"/>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92" name="Line 188"/>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93" name="Line 189"/>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94" name="Line 190"/>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95" name="Line 191"/>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696" name="Group 192"/>
              <p:cNvGrpSpPr>
                <a:grpSpLocks/>
              </p:cNvGrpSpPr>
              <p:nvPr/>
            </p:nvGrpSpPr>
            <p:grpSpPr bwMode="auto">
              <a:xfrm>
                <a:off x="3984" y="895"/>
                <a:ext cx="514" cy="552"/>
                <a:chOff x="2868" y="1078"/>
                <a:chExt cx="514" cy="552"/>
              </a:xfrm>
            </p:grpSpPr>
            <p:sp>
              <p:nvSpPr>
                <p:cNvPr id="533697" name="Rectangle 193"/>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698" name="Line 194"/>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699" name="Line 195"/>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00" name="Line 196"/>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01" name="Line 197"/>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02" name="Line 198"/>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03" name="Line 199"/>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704" name="Group 200"/>
              <p:cNvGrpSpPr>
                <a:grpSpLocks/>
              </p:cNvGrpSpPr>
              <p:nvPr/>
            </p:nvGrpSpPr>
            <p:grpSpPr bwMode="auto">
              <a:xfrm>
                <a:off x="4487" y="895"/>
                <a:ext cx="514" cy="552"/>
                <a:chOff x="2868" y="1078"/>
                <a:chExt cx="514" cy="552"/>
              </a:xfrm>
            </p:grpSpPr>
            <p:sp>
              <p:nvSpPr>
                <p:cNvPr id="533705" name="Rectangle 201"/>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06" name="Line 202"/>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07" name="Line 203"/>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08" name="Line 204"/>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09" name="Line 205"/>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10" name="Line 206"/>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11" name="Line 207"/>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533712" name="Group 208"/>
            <p:cNvGrpSpPr>
              <a:grpSpLocks/>
            </p:cNvGrpSpPr>
            <p:nvPr/>
          </p:nvGrpSpPr>
          <p:grpSpPr bwMode="auto">
            <a:xfrm>
              <a:off x="2941" y="2008"/>
              <a:ext cx="2035" cy="553"/>
              <a:chOff x="2966" y="894"/>
              <a:chExt cx="2035" cy="553"/>
            </a:xfrm>
          </p:grpSpPr>
          <p:grpSp>
            <p:nvGrpSpPr>
              <p:cNvPr id="533713" name="Group 209"/>
              <p:cNvGrpSpPr>
                <a:grpSpLocks/>
              </p:cNvGrpSpPr>
              <p:nvPr/>
            </p:nvGrpSpPr>
            <p:grpSpPr bwMode="auto">
              <a:xfrm>
                <a:off x="2966" y="894"/>
                <a:ext cx="514" cy="552"/>
                <a:chOff x="2868" y="1078"/>
                <a:chExt cx="514" cy="552"/>
              </a:xfrm>
            </p:grpSpPr>
            <p:sp>
              <p:nvSpPr>
                <p:cNvPr id="533714" name="Rectangle 210"/>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15" name="Line 211"/>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16" name="Line 212"/>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17" name="Line 213"/>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18" name="Line 214"/>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19" name="Line 215"/>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20" name="Line 216"/>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721" name="Group 217"/>
              <p:cNvGrpSpPr>
                <a:grpSpLocks/>
              </p:cNvGrpSpPr>
              <p:nvPr/>
            </p:nvGrpSpPr>
            <p:grpSpPr bwMode="auto">
              <a:xfrm>
                <a:off x="3481" y="894"/>
                <a:ext cx="514" cy="552"/>
                <a:chOff x="2868" y="1078"/>
                <a:chExt cx="514" cy="552"/>
              </a:xfrm>
            </p:grpSpPr>
            <p:sp>
              <p:nvSpPr>
                <p:cNvPr id="533722" name="Rectangle 218"/>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23" name="Line 219"/>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24" name="Line 220"/>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25" name="Line 221"/>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26" name="Line 222"/>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27" name="Line 223"/>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28" name="Line 224"/>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729" name="Group 225"/>
              <p:cNvGrpSpPr>
                <a:grpSpLocks/>
              </p:cNvGrpSpPr>
              <p:nvPr/>
            </p:nvGrpSpPr>
            <p:grpSpPr bwMode="auto">
              <a:xfrm>
                <a:off x="3984" y="895"/>
                <a:ext cx="514" cy="552"/>
                <a:chOff x="2868" y="1078"/>
                <a:chExt cx="514" cy="552"/>
              </a:xfrm>
            </p:grpSpPr>
            <p:sp>
              <p:nvSpPr>
                <p:cNvPr id="533730" name="Rectangle 226"/>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31" name="Line 227"/>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32" name="Line 228"/>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33" name="Line 229"/>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34" name="Line 230"/>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35" name="Line 231"/>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36" name="Line 232"/>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737" name="Group 233"/>
              <p:cNvGrpSpPr>
                <a:grpSpLocks/>
              </p:cNvGrpSpPr>
              <p:nvPr/>
            </p:nvGrpSpPr>
            <p:grpSpPr bwMode="auto">
              <a:xfrm>
                <a:off x="4487" y="895"/>
                <a:ext cx="514" cy="552"/>
                <a:chOff x="2868" y="1078"/>
                <a:chExt cx="514" cy="552"/>
              </a:xfrm>
            </p:grpSpPr>
            <p:sp>
              <p:nvSpPr>
                <p:cNvPr id="533738" name="Rectangle 234"/>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39" name="Line 235"/>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40" name="Line 236"/>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41" name="Line 237"/>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42" name="Line 238"/>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43" name="Line 239"/>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44" name="Line 240"/>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nvGrpSpPr>
            <p:cNvPr id="533745" name="Group 241"/>
            <p:cNvGrpSpPr>
              <a:grpSpLocks/>
            </p:cNvGrpSpPr>
            <p:nvPr/>
          </p:nvGrpSpPr>
          <p:grpSpPr bwMode="auto">
            <a:xfrm>
              <a:off x="2941" y="2559"/>
              <a:ext cx="2035" cy="553"/>
              <a:chOff x="2966" y="894"/>
              <a:chExt cx="2035" cy="553"/>
            </a:xfrm>
          </p:grpSpPr>
          <p:grpSp>
            <p:nvGrpSpPr>
              <p:cNvPr id="533746" name="Group 242"/>
              <p:cNvGrpSpPr>
                <a:grpSpLocks/>
              </p:cNvGrpSpPr>
              <p:nvPr/>
            </p:nvGrpSpPr>
            <p:grpSpPr bwMode="auto">
              <a:xfrm>
                <a:off x="2966" y="894"/>
                <a:ext cx="514" cy="552"/>
                <a:chOff x="2868" y="1078"/>
                <a:chExt cx="514" cy="552"/>
              </a:xfrm>
            </p:grpSpPr>
            <p:sp>
              <p:nvSpPr>
                <p:cNvPr id="533747" name="Rectangle 243"/>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48" name="Line 244"/>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49" name="Line 245"/>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50" name="Line 246"/>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51" name="Line 247"/>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52" name="Line 248"/>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53" name="Line 249"/>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754" name="Group 250"/>
              <p:cNvGrpSpPr>
                <a:grpSpLocks/>
              </p:cNvGrpSpPr>
              <p:nvPr/>
            </p:nvGrpSpPr>
            <p:grpSpPr bwMode="auto">
              <a:xfrm>
                <a:off x="3481" y="894"/>
                <a:ext cx="514" cy="552"/>
                <a:chOff x="2868" y="1078"/>
                <a:chExt cx="514" cy="552"/>
              </a:xfrm>
            </p:grpSpPr>
            <p:sp>
              <p:nvSpPr>
                <p:cNvPr id="533755" name="Rectangle 251"/>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56" name="Line 252"/>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57" name="Line 253"/>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58" name="Line 254"/>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59" name="Line 255"/>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60" name="Line 256"/>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61" name="Line 257"/>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762" name="Group 258"/>
              <p:cNvGrpSpPr>
                <a:grpSpLocks/>
              </p:cNvGrpSpPr>
              <p:nvPr/>
            </p:nvGrpSpPr>
            <p:grpSpPr bwMode="auto">
              <a:xfrm>
                <a:off x="3984" y="895"/>
                <a:ext cx="514" cy="552"/>
                <a:chOff x="2868" y="1078"/>
                <a:chExt cx="514" cy="552"/>
              </a:xfrm>
            </p:grpSpPr>
            <p:sp>
              <p:nvSpPr>
                <p:cNvPr id="533763" name="Rectangle 259"/>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64" name="Line 260"/>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65" name="Line 261"/>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66" name="Line 262"/>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67" name="Line 263"/>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68" name="Line 264"/>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69" name="Line 265"/>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33770" name="Group 266"/>
              <p:cNvGrpSpPr>
                <a:grpSpLocks/>
              </p:cNvGrpSpPr>
              <p:nvPr/>
            </p:nvGrpSpPr>
            <p:grpSpPr bwMode="auto">
              <a:xfrm>
                <a:off x="4487" y="895"/>
                <a:ext cx="514" cy="552"/>
                <a:chOff x="2868" y="1078"/>
                <a:chExt cx="514" cy="552"/>
              </a:xfrm>
            </p:grpSpPr>
            <p:sp>
              <p:nvSpPr>
                <p:cNvPr id="533771" name="Rectangle 267"/>
                <p:cNvSpPr>
                  <a:spLocks noChangeArrowheads="1"/>
                </p:cNvSpPr>
                <p:nvPr/>
              </p:nvSpPr>
              <p:spPr bwMode="auto">
                <a:xfrm>
                  <a:off x="2868" y="1078"/>
                  <a:ext cx="502" cy="55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3772" name="Line 268"/>
                <p:cNvSpPr>
                  <a:spLocks noChangeShapeType="1"/>
                </p:cNvSpPr>
                <p:nvPr/>
              </p:nvSpPr>
              <p:spPr bwMode="auto">
                <a:xfrm>
                  <a:off x="2978"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73" name="Line 269"/>
                <p:cNvSpPr>
                  <a:spLocks noChangeShapeType="1"/>
                </p:cNvSpPr>
                <p:nvPr/>
              </p:nvSpPr>
              <p:spPr bwMode="auto">
                <a:xfrm>
                  <a:off x="3113" y="1078"/>
                  <a:ext cx="0" cy="5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74" name="Line 270"/>
                <p:cNvSpPr>
                  <a:spLocks noChangeShapeType="1"/>
                </p:cNvSpPr>
                <p:nvPr/>
              </p:nvSpPr>
              <p:spPr bwMode="auto">
                <a:xfrm>
                  <a:off x="3248" y="1090"/>
                  <a:ext cx="0" cy="5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75" name="Line 271"/>
                <p:cNvSpPr>
                  <a:spLocks noChangeShapeType="1"/>
                </p:cNvSpPr>
                <p:nvPr/>
              </p:nvSpPr>
              <p:spPr bwMode="auto">
                <a:xfrm>
                  <a:off x="2868" y="1360"/>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76" name="Line 272"/>
                <p:cNvSpPr>
                  <a:spLocks noChangeShapeType="1"/>
                </p:cNvSpPr>
                <p:nvPr/>
              </p:nvSpPr>
              <p:spPr bwMode="auto">
                <a:xfrm>
                  <a:off x="2880" y="1225"/>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77" name="Line 273"/>
                <p:cNvSpPr>
                  <a:spLocks noChangeShapeType="1"/>
                </p:cNvSpPr>
                <p:nvPr/>
              </p:nvSpPr>
              <p:spPr bwMode="auto">
                <a:xfrm>
                  <a:off x="2868" y="1494"/>
                  <a:ext cx="5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533779" name="Freeform 275"/>
          <p:cNvSpPr>
            <a:spLocks/>
          </p:cNvSpPr>
          <p:nvPr/>
        </p:nvSpPr>
        <p:spPr bwMode="auto">
          <a:xfrm>
            <a:off x="2684463" y="1457325"/>
            <a:ext cx="1633537" cy="371475"/>
          </a:xfrm>
          <a:custGeom>
            <a:avLst/>
            <a:gdLst>
              <a:gd name="T0" fmla="*/ 0 w 1201"/>
              <a:gd name="T1" fmla="*/ 234 h 234"/>
              <a:gd name="T2" fmla="*/ 858 w 1201"/>
              <a:gd name="T3" fmla="*/ 26 h 234"/>
              <a:gd name="T4" fmla="*/ 1201 w 1201"/>
              <a:gd name="T5" fmla="*/ 75 h 234"/>
            </a:gdLst>
            <a:ahLst/>
            <a:cxnLst>
              <a:cxn ang="0">
                <a:pos x="T0" y="T1"/>
              </a:cxn>
              <a:cxn ang="0">
                <a:pos x="T2" y="T3"/>
              </a:cxn>
              <a:cxn ang="0">
                <a:pos x="T4" y="T5"/>
              </a:cxn>
            </a:cxnLst>
            <a:rect l="0" t="0" r="r" b="b"/>
            <a:pathLst>
              <a:path w="1201" h="234">
                <a:moveTo>
                  <a:pt x="0" y="234"/>
                </a:moveTo>
                <a:cubicBezTo>
                  <a:pt x="329" y="143"/>
                  <a:pt x="658" y="52"/>
                  <a:pt x="858" y="26"/>
                </a:cubicBezTo>
                <a:cubicBezTo>
                  <a:pt x="1058" y="0"/>
                  <a:pt x="1129" y="37"/>
                  <a:pt x="1201" y="75"/>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3780" name="Text Box 276"/>
          <p:cNvSpPr txBox="1">
            <a:spLocks noChangeArrowheads="1"/>
          </p:cNvSpPr>
          <p:nvPr/>
        </p:nvSpPr>
        <p:spPr bwMode="auto">
          <a:xfrm>
            <a:off x="6329363" y="1228725"/>
            <a:ext cx="2428875"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t>Each is a pixel, assume represented as 1 byte</a:t>
            </a:r>
          </a:p>
          <a:p>
            <a:r>
              <a:rPr lang="en-US" altLang="en-US" sz="1800"/>
              <a:t>(actually, a color picture might have 3 bytes per pixel, for intensity of red, green, and blue components of pixel)</a:t>
            </a:r>
          </a:p>
        </p:txBody>
      </p:sp>
      <p:sp>
        <p:nvSpPr>
          <p:cNvPr id="533781" name="Freeform 277"/>
          <p:cNvSpPr>
            <a:spLocks/>
          </p:cNvSpPr>
          <p:nvPr/>
        </p:nvSpPr>
        <p:spPr bwMode="auto">
          <a:xfrm>
            <a:off x="5991225" y="1219200"/>
            <a:ext cx="701675" cy="201613"/>
          </a:xfrm>
          <a:custGeom>
            <a:avLst/>
            <a:gdLst>
              <a:gd name="T0" fmla="*/ 0 w 442"/>
              <a:gd name="T1" fmla="*/ 127 h 127"/>
              <a:gd name="T2" fmla="*/ 344 w 442"/>
              <a:gd name="T3" fmla="*/ 4 h 127"/>
              <a:gd name="T4" fmla="*/ 442 w 442"/>
              <a:gd name="T5" fmla="*/ 102 h 127"/>
            </a:gdLst>
            <a:ahLst/>
            <a:cxnLst>
              <a:cxn ang="0">
                <a:pos x="T0" y="T1"/>
              </a:cxn>
              <a:cxn ang="0">
                <a:pos x="T2" y="T3"/>
              </a:cxn>
              <a:cxn ang="0">
                <a:pos x="T4" y="T5"/>
              </a:cxn>
            </a:cxnLst>
            <a:rect l="0" t="0" r="r" b="b"/>
            <a:pathLst>
              <a:path w="442" h="127">
                <a:moveTo>
                  <a:pt x="0" y="127"/>
                </a:moveTo>
                <a:cubicBezTo>
                  <a:pt x="135" y="67"/>
                  <a:pt x="270" y="8"/>
                  <a:pt x="344" y="4"/>
                </a:cubicBezTo>
                <a:cubicBezTo>
                  <a:pt x="418" y="0"/>
                  <a:pt x="430" y="51"/>
                  <a:pt x="442" y="102"/>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Slide Number Placeholder 3"/>
          <p:cNvSpPr>
            <a:spLocks noGrp="1"/>
          </p:cNvSpPr>
          <p:nvPr>
            <p:ph type="sldNum" sz="quarter" idx="10"/>
          </p:nvPr>
        </p:nvSpPr>
        <p:spPr/>
        <p:txBody>
          <a:bodyPr/>
          <a:lstStyle/>
          <a:p>
            <a:fld id="{40C8EEEC-03AC-43BD-B3D1-BA08FAEE3E1C}" type="slidenum">
              <a:rPr lang="en-US" altLang="en-US"/>
              <a:pPr/>
              <a:t>34</a:t>
            </a:fld>
            <a:endParaRPr lang="en-US" altLang="en-US"/>
          </a:p>
        </p:txBody>
      </p:sp>
      <p:sp>
        <p:nvSpPr>
          <p:cNvPr id="536578" name="Rectangle 2"/>
          <p:cNvSpPr>
            <a:spLocks noGrp="1" noChangeArrowheads="1"/>
          </p:cNvSpPr>
          <p:nvPr>
            <p:ph type="title"/>
          </p:nvPr>
        </p:nvSpPr>
        <p:spPr/>
        <p:txBody>
          <a:bodyPr/>
          <a:lstStyle/>
          <a:p>
            <a:r>
              <a:rPr lang="en-US" altLang="en-US"/>
              <a:t>RTL Example: </a:t>
            </a:r>
            <a:r>
              <a:rPr lang="en-US" altLang="en-US" sz="3200"/>
              <a:t>Video Compression – Sum of Absolute Differences</a:t>
            </a:r>
          </a:p>
        </p:txBody>
      </p:sp>
      <p:sp>
        <p:nvSpPr>
          <p:cNvPr id="536579" name="Rectangle 3"/>
          <p:cNvSpPr>
            <a:spLocks noGrp="1" noChangeArrowheads="1"/>
          </p:cNvSpPr>
          <p:nvPr>
            <p:ph type="body" idx="1"/>
          </p:nvPr>
        </p:nvSpPr>
        <p:spPr>
          <a:xfrm>
            <a:off x="323850" y="4486275"/>
            <a:ext cx="8507413" cy="1512888"/>
          </a:xfrm>
        </p:spPr>
        <p:txBody>
          <a:bodyPr/>
          <a:lstStyle/>
          <a:p>
            <a:r>
              <a:rPr lang="en-US" altLang="en-US"/>
              <a:t>Want fast sum-of-absolute-differences (SAD) component</a:t>
            </a:r>
          </a:p>
          <a:p>
            <a:pPr lvl="1"/>
            <a:r>
              <a:rPr lang="en-US" altLang="en-US"/>
              <a:t>When </a:t>
            </a:r>
            <a:r>
              <a:rPr lang="en-US" altLang="en-US" i="1"/>
              <a:t>go=1</a:t>
            </a:r>
            <a:r>
              <a:rPr lang="en-US" altLang="en-US"/>
              <a:t>, sums the differences of element pairs in arrays </a:t>
            </a:r>
            <a:r>
              <a:rPr lang="en-US" altLang="en-US" i="1"/>
              <a:t>A</a:t>
            </a:r>
            <a:r>
              <a:rPr lang="en-US" altLang="en-US"/>
              <a:t> and </a:t>
            </a:r>
            <a:r>
              <a:rPr lang="en-US" altLang="en-US" i="1"/>
              <a:t>B</a:t>
            </a:r>
            <a:r>
              <a:rPr lang="en-US" altLang="en-US"/>
              <a:t>, outputs that sum</a:t>
            </a:r>
          </a:p>
        </p:txBody>
      </p:sp>
      <p:sp>
        <p:nvSpPr>
          <p:cNvPr id="536743" name="Line 167"/>
          <p:cNvSpPr>
            <a:spLocks noChangeShapeType="1"/>
          </p:cNvSpPr>
          <p:nvPr/>
        </p:nvSpPr>
        <p:spPr bwMode="auto">
          <a:xfrm>
            <a:off x="5532438" y="2971800"/>
            <a:ext cx="400050"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6744" name="Freeform 168"/>
          <p:cNvSpPr>
            <a:spLocks/>
          </p:cNvSpPr>
          <p:nvPr/>
        </p:nvSpPr>
        <p:spPr bwMode="auto">
          <a:xfrm>
            <a:off x="5897563" y="2922588"/>
            <a:ext cx="184150" cy="9683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45" name="Line 169"/>
          <p:cNvSpPr>
            <a:spLocks noChangeShapeType="1"/>
          </p:cNvSpPr>
          <p:nvPr/>
        </p:nvSpPr>
        <p:spPr bwMode="auto">
          <a:xfrm>
            <a:off x="3797300" y="3505200"/>
            <a:ext cx="19367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6746" name="Freeform 170"/>
          <p:cNvSpPr>
            <a:spLocks/>
          </p:cNvSpPr>
          <p:nvPr/>
        </p:nvSpPr>
        <p:spPr bwMode="auto">
          <a:xfrm>
            <a:off x="3954463" y="3457575"/>
            <a:ext cx="185737" cy="9683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55" name="Freeform 179"/>
          <p:cNvSpPr>
            <a:spLocks/>
          </p:cNvSpPr>
          <p:nvPr/>
        </p:nvSpPr>
        <p:spPr bwMode="auto">
          <a:xfrm>
            <a:off x="3475038" y="2093913"/>
            <a:ext cx="184150" cy="96837"/>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56" name="Line 180"/>
          <p:cNvSpPr>
            <a:spLocks noChangeShapeType="1"/>
          </p:cNvSpPr>
          <p:nvPr/>
        </p:nvSpPr>
        <p:spPr bwMode="auto">
          <a:xfrm>
            <a:off x="3632200" y="2143125"/>
            <a:ext cx="350838"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6757" name="Freeform 181"/>
          <p:cNvSpPr>
            <a:spLocks/>
          </p:cNvSpPr>
          <p:nvPr/>
        </p:nvSpPr>
        <p:spPr bwMode="auto">
          <a:xfrm>
            <a:off x="3949700" y="2093913"/>
            <a:ext cx="184150" cy="9683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58" name="Freeform 182"/>
          <p:cNvSpPr>
            <a:spLocks/>
          </p:cNvSpPr>
          <p:nvPr/>
        </p:nvSpPr>
        <p:spPr bwMode="auto">
          <a:xfrm>
            <a:off x="4162425" y="3675063"/>
            <a:ext cx="190500" cy="198437"/>
          </a:xfrm>
          <a:custGeom>
            <a:avLst/>
            <a:gdLst>
              <a:gd name="T0" fmla="*/ 0 w 103"/>
              <a:gd name="T1" fmla="*/ 103 h 103"/>
              <a:gd name="T2" fmla="*/ 103 w 103"/>
              <a:gd name="T3" fmla="*/ 50 h 103"/>
              <a:gd name="T4" fmla="*/ 0 w 103"/>
              <a:gd name="T5" fmla="*/ 0 h 103"/>
            </a:gdLst>
            <a:ahLst/>
            <a:cxnLst>
              <a:cxn ang="0">
                <a:pos x="T0" y="T1"/>
              </a:cxn>
              <a:cxn ang="0">
                <a:pos x="T2" y="T3"/>
              </a:cxn>
              <a:cxn ang="0">
                <a:pos x="T4" y="T5"/>
              </a:cxn>
            </a:cxnLst>
            <a:rect l="0" t="0" r="r" b="b"/>
            <a:pathLst>
              <a:path w="103" h="103">
                <a:moveTo>
                  <a:pt x="0" y="103"/>
                </a:moveTo>
                <a:lnTo>
                  <a:pt x="103" y="5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6759" name="Rectangle 183"/>
          <p:cNvSpPr>
            <a:spLocks noChangeArrowheads="1"/>
          </p:cNvSpPr>
          <p:nvPr/>
        </p:nvSpPr>
        <p:spPr bwMode="auto">
          <a:xfrm>
            <a:off x="3224213" y="2857500"/>
            <a:ext cx="127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sz="2800"/>
          </a:p>
        </p:txBody>
      </p:sp>
      <p:sp>
        <p:nvSpPr>
          <p:cNvPr id="536760" name="Rectangle 184"/>
          <p:cNvSpPr>
            <a:spLocks noChangeArrowheads="1"/>
          </p:cNvSpPr>
          <p:nvPr/>
        </p:nvSpPr>
        <p:spPr bwMode="auto">
          <a:xfrm>
            <a:off x="3217863" y="2025650"/>
            <a:ext cx="1381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a:t>
            </a:r>
            <a:endParaRPr lang="en-US" altLang="en-US" sz="2800"/>
          </a:p>
        </p:txBody>
      </p:sp>
      <p:sp>
        <p:nvSpPr>
          <p:cNvPr id="536761" name="Freeform 185"/>
          <p:cNvSpPr>
            <a:spLocks/>
          </p:cNvSpPr>
          <p:nvPr/>
        </p:nvSpPr>
        <p:spPr bwMode="auto">
          <a:xfrm>
            <a:off x="5630863" y="2898775"/>
            <a:ext cx="149225" cy="157163"/>
          </a:xfrm>
          <a:custGeom>
            <a:avLst/>
            <a:gdLst>
              <a:gd name="T0" fmla="*/ 81 w 81"/>
              <a:gd name="T1" fmla="*/ 0 h 82"/>
              <a:gd name="T2" fmla="*/ 0 w 81"/>
              <a:gd name="T3" fmla="*/ 82 h 82"/>
              <a:gd name="T4" fmla="*/ 81 w 81"/>
              <a:gd name="T5" fmla="*/ 0 h 82"/>
            </a:gdLst>
            <a:ahLst/>
            <a:cxnLst>
              <a:cxn ang="0">
                <a:pos x="T0" y="T1"/>
              </a:cxn>
              <a:cxn ang="0">
                <a:pos x="T2" y="T3"/>
              </a:cxn>
              <a:cxn ang="0">
                <a:pos x="T4" y="T5"/>
              </a:cxn>
            </a:cxnLst>
            <a:rect l="0" t="0" r="r" b="b"/>
            <a:pathLst>
              <a:path w="81" h="82">
                <a:moveTo>
                  <a:pt x="81" y="0"/>
                </a:moveTo>
                <a:lnTo>
                  <a:pt x="0" y="82"/>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62" name="Line 186"/>
          <p:cNvSpPr>
            <a:spLocks noChangeShapeType="1"/>
          </p:cNvSpPr>
          <p:nvPr/>
        </p:nvSpPr>
        <p:spPr bwMode="auto">
          <a:xfrm flipH="1">
            <a:off x="5630863" y="2898775"/>
            <a:ext cx="149225" cy="15716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6763" name="Freeform 187"/>
          <p:cNvSpPr>
            <a:spLocks/>
          </p:cNvSpPr>
          <p:nvPr/>
        </p:nvSpPr>
        <p:spPr bwMode="auto">
          <a:xfrm>
            <a:off x="3724275" y="2063750"/>
            <a:ext cx="155575" cy="155575"/>
          </a:xfrm>
          <a:custGeom>
            <a:avLst/>
            <a:gdLst>
              <a:gd name="T0" fmla="*/ 84 w 84"/>
              <a:gd name="T1" fmla="*/ 0 h 81"/>
              <a:gd name="T2" fmla="*/ 0 w 84"/>
              <a:gd name="T3" fmla="*/ 81 h 81"/>
              <a:gd name="T4" fmla="*/ 84 w 84"/>
              <a:gd name="T5" fmla="*/ 0 h 81"/>
            </a:gdLst>
            <a:ahLst/>
            <a:cxnLst>
              <a:cxn ang="0">
                <a:pos x="T0" y="T1"/>
              </a:cxn>
              <a:cxn ang="0">
                <a:pos x="T2" y="T3"/>
              </a:cxn>
              <a:cxn ang="0">
                <a:pos x="T4" y="T5"/>
              </a:cxn>
            </a:cxnLst>
            <a:rect l="0" t="0" r="r" b="b"/>
            <a:pathLst>
              <a:path w="84" h="81">
                <a:moveTo>
                  <a:pt x="84" y="0"/>
                </a:moveTo>
                <a:lnTo>
                  <a:pt x="0" y="81"/>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64" name="Line 188"/>
          <p:cNvSpPr>
            <a:spLocks noChangeShapeType="1"/>
          </p:cNvSpPr>
          <p:nvPr/>
        </p:nvSpPr>
        <p:spPr bwMode="auto">
          <a:xfrm flipH="1">
            <a:off x="3724275" y="2063750"/>
            <a:ext cx="155575" cy="1555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6765" name="Freeform 189"/>
          <p:cNvSpPr>
            <a:spLocks/>
          </p:cNvSpPr>
          <p:nvPr/>
        </p:nvSpPr>
        <p:spPr bwMode="auto">
          <a:xfrm>
            <a:off x="3475038" y="2917825"/>
            <a:ext cx="184150" cy="952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66" name="Line 190"/>
          <p:cNvSpPr>
            <a:spLocks noChangeShapeType="1"/>
          </p:cNvSpPr>
          <p:nvPr/>
        </p:nvSpPr>
        <p:spPr bwMode="auto">
          <a:xfrm>
            <a:off x="3632200" y="2965450"/>
            <a:ext cx="350838"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6767" name="Freeform 191"/>
          <p:cNvSpPr>
            <a:spLocks/>
          </p:cNvSpPr>
          <p:nvPr/>
        </p:nvSpPr>
        <p:spPr bwMode="auto">
          <a:xfrm>
            <a:off x="3949700" y="2917825"/>
            <a:ext cx="184150" cy="952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68" name="Freeform 192"/>
          <p:cNvSpPr>
            <a:spLocks/>
          </p:cNvSpPr>
          <p:nvPr/>
        </p:nvSpPr>
        <p:spPr bwMode="auto">
          <a:xfrm>
            <a:off x="3724275" y="2886075"/>
            <a:ext cx="155575" cy="155575"/>
          </a:xfrm>
          <a:custGeom>
            <a:avLst/>
            <a:gdLst>
              <a:gd name="T0" fmla="*/ 84 w 84"/>
              <a:gd name="T1" fmla="*/ 0 h 81"/>
              <a:gd name="T2" fmla="*/ 0 w 84"/>
              <a:gd name="T3" fmla="*/ 81 h 81"/>
              <a:gd name="T4" fmla="*/ 84 w 84"/>
              <a:gd name="T5" fmla="*/ 0 h 81"/>
            </a:gdLst>
            <a:ahLst/>
            <a:cxnLst>
              <a:cxn ang="0">
                <a:pos x="T0" y="T1"/>
              </a:cxn>
              <a:cxn ang="0">
                <a:pos x="T2" y="T3"/>
              </a:cxn>
              <a:cxn ang="0">
                <a:pos x="T4" y="T5"/>
              </a:cxn>
            </a:cxnLst>
            <a:rect l="0" t="0" r="r" b="b"/>
            <a:pathLst>
              <a:path w="84" h="81">
                <a:moveTo>
                  <a:pt x="84" y="0"/>
                </a:moveTo>
                <a:lnTo>
                  <a:pt x="0" y="81"/>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6769" name="Line 193"/>
          <p:cNvSpPr>
            <a:spLocks noChangeShapeType="1"/>
          </p:cNvSpPr>
          <p:nvPr/>
        </p:nvSpPr>
        <p:spPr bwMode="auto">
          <a:xfrm flipH="1">
            <a:off x="3724275" y="2886075"/>
            <a:ext cx="155575" cy="1555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6818" name="Rectangle 242"/>
          <p:cNvSpPr>
            <a:spLocks noChangeArrowheads="1"/>
          </p:cNvSpPr>
          <p:nvPr/>
        </p:nvSpPr>
        <p:spPr bwMode="auto">
          <a:xfrm>
            <a:off x="3581400" y="3378200"/>
            <a:ext cx="190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go</a:t>
            </a:r>
            <a:endParaRPr lang="en-US" altLang="en-US" sz="2800"/>
          </a:p>
        </p:txBody>
      </p:sp>
      <p:sp>
        <p:nvSpPr>
          <p:cNvPr id="536819" name="Rectangle 243"/>
          <p:cNvSpPr>
            <a:spLocks noChangeArrowheads="1"/>
          </p:cNvSpPr>
          <p:nvPr/>
        </p:nvSpPr>
        <p:spPr bwMode="auto">
          <a:xfrm>
            <a:off x="4645025" y="1954213"/>
            <a:ext cx="382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a:t>
            </a:r>
            <a:endParaRPr lang="en-US" altLang="en-US" sz="2800"/>
          </a:p>
        </p:txBody>
      </p:sp>
      <p:sp>
        <p:nvSpPr>
          <p:cNvPr id="536820" name="Rectangle 244"/>
          <p:cNvSpPr>
            <a:spLocks noChangeArrowheads="1"/>
          </p:cNvSpPr>
          <p:nvPr/>
        </p:nvSpPr>
        <p:spPr bwMode="auto">
          <a:xfrm>
            <a:off x="5195888" y="2855913"/>
            <a:ext cx="307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a:t>
            </a:r>
            <a:endParaRPr lang="en-US" altLang="en-US" sz="2800"/>
          </a:p>
        </p:txBody>
      </p:sp>
      <p:sp>
        <p:nvSpPr>
          <p:cNvPr id="536821" name="Rectangle 245"/>
          <p:cNvSpPr>
            <a:spLocks noChangeArrowheads="1"/>
          </p:cNvSpPr>
          <p:nvPr/>
        </p:nvSpPr>
        <p:spPr bwMode="auto">
          <a:xfrm>
            <a:off x="3063875" y="2754313"/>
            <a:ext cx="417513" cy="43180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6822" name="Rectangle 246"/>
          <p:cNvSpPr>
            <a:spLocks noChangeArrowheads="1"/>
          </p:cNvSpPr>
          <p:nvPr/>
        </p:nvSpPr>
        <p:spPr bwMode="auto">
          <a:xfrm>
            <a:off x="3063875" y="1919288"/>
            <a:ext cx="417513" cy="43338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6828" name="Rectangle 252"/>
          <p:cNvSpPr>
            <a:spLocks noChangeArrowheads="1"/>
          </p:cNvSpPr>
          <p:nvPr/>
        </p:nvSpPr>
        <p:spPr bwMode="auto">
          <a:xfrm>
            <a:off x="4151313" y="1919288"/>
            <a:ext cx="1376362" cy="209232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6831" name="Text Box 255"/>
          <p:cNvSpPr txBox="1">
            <a:spLocks noChangeArrowheads="1"/>
          </p:cNvSpPr>
          <p:nvPr/>
        </p:nvSpPr>
        <p:spPr bwMode="auto">
          <a:xfrm>
            <a:off x="1417638" y="2025650"/>
            <a:ext cx="1670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256-byte array</a:t>
            </a:r>
          </a:p>
        </p:txBody>
      </p:sp>
      <p:sp>
        <p:nvSpPr>
          <p:cNvPr id="536832" name="Text Box 256"/>
          <p:cNvSpPr txBox="1">
            <a:spLocks noChangeArrowheads="1"/>
          </p:cNvSpPr>
          <p:nvPr/>
        </p:nvSpPr>
        <p:spPr bwMode="auto">
          <a:xfrm>
            <a:off x="1438275" y="2863850"/>
            <a:ext cx="1670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256-byte array</a:t>
            </a:r>
          </a:p>
        </p:txBody>
      </p:sp>
      <p:sp>
        <p:nvSpPr>
          <p:cNvPr id="536833" name="Text Box 257"/>
          <p:cNvSpPr txBox="1">
            <a:spLocks noChangeArrowheads="1"/>
          </p:cNvSpPr>
          <p:nvPr/>
        </p:nvSpPr>
        <p:spPr bwMode="auto">
          <a:xfrm>
            <a:off x="6059488" y="2574925"/>
            <a:ext cx="10048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t>integer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lide Number Placeholder 3"/>
          <p:cNvSpPr>
            <a:spLocks noGrp="1"/>
          </p:cNvSpPr>
          <p:nvPr>
            <p:ph type="sldNum" sz="quarter" idx="10"/>
          </p:nvPr>
        </p:nvSpPr>
        <p:spPr/>
        <p:txBody>
          <a:bodyPr/>
          <a:lstStyle/>
          <a:p>
            <a:fld id="{727A3A17-DD52-4C16-803E-7F19C87A2F7D}" type="slidenum">
              <a:rPr lang="en-US" altLang="en-US"/>
              <a:pPr/>
              <a:t>35</a:t>
            </a:fld>
            <a:endParaRPr lang="en-US" altLang="en-US"/>
          </a:p>
        </p:txBody>
      </p:sp>
      <p:sp>
        <p:nvSpPr>
          <p:cNvPr id="538626" name="Rectangle 2"/>
          <p:cNvSpPr>
            <a:spLocks noGrp="1" noChangeArrowheads="1"/>
          </p:cNvSpPr>
          <p:nvPr>
            <p:ph type="title"/>
          </p:nvPr>
        </p:nvSpPr>
        <p:spPr/>
        <p:txBody>
          <a:bodyPr/>
          <a:lstStyle/>
          <a:p>
            <a:r>
              <a:rPr lang="en-US" altLang="en-US"/>
              <a:t>RTL Example: </a:t>
            </a:r>
            <a:r>
              <a:rPr lang="en-US" altLang="en-US" sz="3200"/>
              <a:t>Video Compression – Sum of Absolute Differences</a:t>
            </a:r>
          </a:p>
        </p:txBody>
      </p:sp>
      <p:sp>
        <p:nvSpPr>
          <p:cNvPr id="538627" name="Rectangle 3"/>
          <p:cNvSpPr>
            <a:spLocks noGrp="1" noChangeArrowheads="1"/>
          </p:cNvSpPr>
          <p:nvPr>
            <p:ph type="body" idx="1"/>
          </p:nvPr>
        </p:nvSpPr>
        <p:spPr>
          <a:xfrm>
            <a:off x="187325" y="2935288"/>
            <a:ext cx="4402138" cy="2640012"/>
          </a:xfrm>
        </p:spPr>
        <p:txBody>
          <a:bodyPr/>
          <a:lstStyle/>
          <a:p>
            <a:r>
              <a:rPr lang="en-US" altLang="en-US" b="1" dirty="0"/>
              <a:t>S0</a:t>
            </a:r>
            <a:r>
              <a:rPr lang="en-US" altLang="en-US" dirty="0"/>
              <a:t>: wait for </a:t>
            </a:r>
            <a:r>
              <a:rPr lang="en-US" altLang="en-US" i="1" dirty="0"/>
              <a:t>go</a:t>
            </a:r>
          </a:p>
          <a:p>
            <a:r>
              <a:rPr lang="en-US" altLang="en-US" b="1" dirty="0"/>
              <a:t>S1</a:t>
            </a:r>
            <a:r>
              <a:rPr lang="en-US" altLang="en-US" dirty="0"/>
              <a:t>: initialize </a:t>
            </a:r>
            <a:r>
              <a:rPr lang="en-US" altLang="en-US" i="1" dirty="0"/>
              <a:t>sum</a:t>
            </a:r>
            <a:r>
              <a:rPr lang="en-US" altLang="en-US" dirty="0"/>
              <a:t> and </a:t>
            </a:r>
            <a:r>
              <a:rPr lang="en-US" altLang="en-US" i="1" dirty="0"/>
              <a:t>index</a:t>
            </a:r>
            <a:r>
              <a:rPr lang="en-US" altLang="en-US" dirty="0"/>
              <a:t> </a:t>
            </a:r>
          </a:p>
          <a:p>
            <a:r>
              <a:rPr lang="en-US" altLang="en-US" b="1" dirty="0"/>
              <a:t>S2</a:t>
            </a:r>
            <a:r>
              <a:rPr lang="en-US" altLang="en-US" dirty="0"/>
              <a:t>: check if done (</a:t>
            </a:r>
            <a:r>
              <a:rPr lang="en-US" altLang="en-US" i="1" dirty="0" err="1"/>
              <a:t>i</a:t>
            </a:r>
            <a:r>
              <a:rPr lang="en-US" altLang="en-US" i="1" dirty="0"/>
              <a:t>&gt;=256</a:t>
            </a:r>
            <a:r>
              <a:rPr lang="en-US" altLang="en-US" dirty="0"/>
              <a:t>)</a:t>
            </a:r>
          </a:p>
          <a:p>
            <a:r>
              <a:rPr lang="en-US" altLang="en-US" b="1" dirty="0"/>
              <a:t>S3</a:t>
            </a:r>
            <a:r>
              <a:rPr lang="en-US" altLang="en-US" dirty="0"/>
              <a:t>: add difference to </a:t>
            </a:r>
            <a:r>
              <a:rPr lang="en-US" altLang="en-US" i="1" dirty="0"/>
              <a:t>sum</a:t>
            </a:r>
            <a:r>
              <a:rPr lang="en-US" altLang="en-US" dirty="0"/>
              <a:t>, increment index</a:t>
            </a:r>
          </a:p>
          <a:p>
            <a:r>
              <a:rPr lang="en-US" altLang="en-US" b="1" dirty="0"/>
              <a:t>S4</a:t>
            </a:r>
            <a:r>
              <a:rPr lang="en-US" altLang="en-US" dirty="0"/>
              <a:t>: done, write to output </a:t>
            </a:r>
            <a:r>
              <a:rPr lang="en-US" altLang="en-US" i="1" dirty="0" err="1"/>
              <a:t>sad_reg</a:t>
            </a:r>
            <a:endParaRPr lang="en-US" altLang="en-US" i="1" dirty="0"/>
          </a:p>
        </p:txBody>
      </p:sp>
      <p:grpSp>
        <p:nvGrpSpPr>
          <p:cNvPr id="538658" name="Group 34"/>
          <p:cNvGrpSpPr>
            <a:grpSpLocks/>
          </p:cNvGrpSpPr>
          <p:nvPr/>
        </p:nvGrpSpPr>
        <p:grpSpPr bwMode="auto">
          <a:xfrm>
            <a:off x="1100138" y="1268413"/>
            <a:ext cx="2306637" cy="1663700"/>
            <a:chOff x="288" y="1197"/>
            <a:chExt cx="1453" cy="1048"/>
          </a:xfrm>
        </p:grpSpPr>
        <p:sp>
          <p:nvSpPr>
            <p:cNvPr id="538629" name="Line 5"/>
            <p:cNvSpPr>
              <a:spLocks noChangeShapeType="1"/>
            </p:cNvSpPr>
            <p:nvPr/>
          </p:nvSpPr>
          <p:spPr bwMode="auto">
            <a:xfrm>
              <a:off x="1476" y="1724"/>
              <a:ext cx="193"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30" name="Freeform 6"/>
            <p:cNvSpPr>
              <a:spLocks/>
            </p:cNvSpPr>
            <p:nvPr/>
          </p:nvSpPr>
          <p:spPr bwMode="auto">
            <a:xfrm>
              <a:off x="1652" y="1700"/>
              <a:ext cx="89" cy="4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31" name="Line 7"/>
            <p:cNvSpPr>
              <a:spLocks noChangeShapeType="1"/>
            </p:cNvSpPr>
            <p:nvPr/>
          </p:nvSpPr>
          <p:spPr bwMode="auto">
            <a:xfrm>
              <a:off x="641" y="1991"/>
              <a:ext cx="9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32" name="Freeform 8"/>
            <p:cNvSpPr>
              <a:spLocks/>
            </p:cNvSpPr>
            <p:nvPr/>
          </p:nvSpPr>
          <p:spPr bwMode="auto">
            <a:xfrm>
              <a:off x="717" y="1967"/>
              <a:ext cx="89" cy="4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33" name="Freeform 9"/>
            <p:cNvSpPr>
              <a:spLocks/>
            </p:cNvSpPr>
            <p:nvPr/>
          </p:nvSpPr>
          <p:spPr bwMode="auto">
            <a:xfrm>
              <a:off x="486" y="1284"/>
              <a:ext cx="89" cy="49"/>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34" name="Line 10"/>
            <p:cNvSpPr>
              <a:spLocks noChangeShapeType="1"/>
            </p:cNvSpPr>
            <p:nvPr/>
          </p:nvSpPr>
          <p:spPr bwMode="auto">
            <a:xfrm>
              <a:off x="562" y="1309"/>
              <a:ext cx="16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35" name="Freeform 11"/>
            <p:cNvSpPr>
              <a:spLocks/>
            </p:cNvSpPr>
            <p:nvPr/>
          </p:nvSpPr>
          <p:spPr bwMode="auto">
            <a:xfrm>
              <a:off x="714" y="1284"/>
              <a:ext cx="89" cy="49"/>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36" name="Freeform 12"/>
            <p:cNvSpPr>
              <a:spLocks/>
            </p:cNvSpPr>
            <p:nvPr/>
          </p:nvSpPr>
          <p:spPr bwMode="auto">
            <a:xfrm>
              <a:off x="817" y="2076"/>
              <a:ext cx="92" cy="100"/>
            </a:xfrm>
            <a:custGeom>
              <a:avLst/>
              <a:gdLst>
                <a:gd name="T0" fmla="*/ 0 w 103"/>
                <a:gd name="T1" fmla="*/ 103 h 103"/>
                <a:gd name="T2" fmla="*/ 103 w 103"/>
                <a:gd name="T3" fmla="*/ 50 h 103"/>
                <a:gd name="T4" fmla="*/ 0 w 103"/>
                <a:gd name="T5" fmla="*/ 0 h 103"/>
              </a:gdLst>
              <a:ahLst/>
              <a:cxnLst>
                <a:cxn ang="0">
                  <a:pos x="T0" y="T1"/>
                </a:cxn>
                <a:cxn ang="0">
                  <a:pos x="T2" y="T3"/>
                </a:cxn>
                <a:cxn ang="0">
                  <a:pos x="T4" y="T5"/>
                </a:cxn>
              </a:cxnLst>
              <a:rect l="0" t="0" r="r" b="b"/>
              <a:pathLst>
                <a:path w="103" h="103">
                  <a:moveTo>
                    <a:pt x="0" y="103"/>
                  </a:moveTo>
                  <a:lnTo>
                    <a:pt x="103" y="5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8637" name="Rectangle 13"/>
            <p:cNvSpPr>
              <a:spLocks noChangeArrowheads="1"/>
            </p:cNvSpPr>
            <p:nvPr/>
          </p:nvSpPr>
          <p:spPr bwMode="auto">
            <a:xfrm>
              <a:off x="365" y="1667"/>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a:t>
              </a:r>
              <a:endParaRPr lang="en-US" altLang="en-US" sz="2400"/>
            </a:p>
          </p:txBody>
        </p:sp>
        <p:sp>
          <p:nvSpPr>
            <p:cNvPr id="538638" name="Rectangle 14"/>
            <p:cNvSpPr>
              <a:spLocks noChangeArrowheads="1"/>
            </p:cNvSpPr>
            <p:nvPr/>
          </p:nvSpPr>
          <p:spPr bwMode="auto">
            <a:xfrm>
              <a:off x="362" y="1250"/>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538639" name="Freeform 15"/>
            <p:cNvSpPr>
              <a:spLocks/>
            </p:cNvSpPr>
            <p:nvPr/>
          </p:nvSpPr>
          <p:spPr bwMode="auto">
            <a:xfrm>
              <a:off x="1524" y="1688"/>
              <a:ext cx="72" cy="78"/>
            </a:xfrm>
            <a:custGeom>
              <a:avLst/>
              <a:gdLst>
                <a:gd name="T0" fmla="*/ 81 w 81"/>
                <a:gd name="T1" fmla="*/ 0 h 82"/>
                <a:gd name="T2" fmla="*/ 0 w 81"/>
                <a:gd name="T3" fmla="*/ 82 h 82"/>
                <a:gd name="T4" fmla="*/ 81 w 81"/>
                <a:gd name="T5" fmla="*/ 0 h 82"/>
              </a:gdLst>
              <a:ahLst/>
              <a:cxnLst>
                <a:cxn ang="0">
                  <a:pos x="T0" y="T1"/>
                </a:cxn>
                <a:cxn ang="0">
                  <a:pos x="T2" y="T3"/>
                </a:cxn>
                <a:cxn ang="0">
                  <a:pos x="T4" y="T5"/>
                </a:cxn>
              </a:cxnLst>
              <a:rect l="0" t="0" r="r" b="b"/>
              <a:pathLst>
                <a:path w="81" h="82">
                  <a:moveTo>
                    <a:pt x="81" y="0"/>
                  </a:moveTo>
                  <a:lnTo>
                    <a:pt x="0" y="82"/>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40" name="Line 16"/>
            <p:cNvSpPr>
              <a:spLocks noChangeShapeType="1"/>
            </p:cNvSpPr>
            <p:nvPr/>
          </p:nvSpPr>
          <p:spPr bwMode="auto">
            <a:xfrm flipH="1">
              <a:off x="1524" y="1688"/>
              <a:ext cx="72" cy="7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41" name="Freeform 17"/>
            <p:cNvSpPr>
              <a:spLocks/>
            </p:cNvSpPr>
            <p:nvPr/>
          </p:nvSpPr>
          <p:spPr bwMode="auto">
            <a:xfrm>
              <a:off x="606" y="1269"/>
              <a:ext cx="75" cy="78"/>
            </a:xfrm>
            <a:custGeom>
              <a:avLst/>
              <a:gdLst>
                <a:gd name="T0" fmla="*/ 84 w 84"/>
                <a:gd name="T1" fmla="*/ 0 h 81"/>
                <a:gd name="T2" fmla="*/ 0 w 84"/>
                <a:gd name="T3" fmla="*/ 81 h 81"/>
                <a:gd name="T4" fmla="*/ 84 w 84"/>
                <a:gd name="T5" fmla="*/ 0 h 81"/>
              </a:gdLst>
              <a:ahLst/>
              <a:cxnLst>
                <a:cxn ang="0">
                  <a:pos x="T0" y="T1"/>
                </a:cxn>
                <a:cxn ang="0">
                  <a:pos x="T2" y="T3"/>
                </a:cxn>
                <a:cxn ang="0">
                  <a:pos x="T4" y="T5"/>
                </a:cxn>
              </a:cxnLst>
              <a:rect l="0" t="0" r="r" b="b"/>
              <a:pathLst>
                <a:path w="84" h="81">
                  <a:moveTo>
                    <a:pt x="84" y="0"/>
                  </a:moveTo>
                  <a:lnTo>
                    <a:pt x="0" y="81"/>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42" name="Line 18"/>
            <p:cNvSpPr>
              <a:spLocks noChangeShapeType="1"/>
            </p:cNvSpPr>
            <p:nvPr/>
          </p:nvSpPr>
          <p:spPr bwMode="auto">
            <a:xfrm flipH="1">
              <a:off x="606" y="1269"/>
              <a:ext cx="75" cy="7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43" name="Freeform 19"/>
            <p:cNvSpPr>
              <a:spLocks/>
            </p:cNvSpPr>
            <p:nvPr/>
          </p:nvSpPr>
          <p:spPr bwMode="auto">
            <a:xfrm>
              <a:off x="486" y="1697"/>
              <a:ext cx="89" cy="48"/>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44" name="Line 20"/>
            <p:cNvSpPr>
              <a:spLocks noChangeShapeType="1"/>
            </p:cNvSpPr>
            <p:nvPr/>
          </p:nvSpPr>
          <p:spPr bwMode="auto">
            <a:xfrm>
              <a:off x="562" y="1721"/>
              <a:ext cx="16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45" name="Freeform 21"/>
            <p:cNvSpPr>
              <a:spLocks/>
            </p:cNvSpPr>
            <p:nvPr/>
          </p:nvSpPr>
          <p:spPr bwMode="auto">
            <a:xfrm>
              <a:off x="714" y="1697"/>
              <a:ext cx="89" cy="4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46" name="Freeform 22"/>
            <p:cNvSpPr>
              <a:spLocks/>
            </p:cNvSpPr>
            <p:nvPr/>
          </p:nvSpPr>
          <p:spPr bwMode="auto">
            <a:xfrm>
              <a:off x="606" y="1681"/>
              <a:ext cx="75" cy="78"/>
            </a:xfrm>
            <a:custGeom>
              <a:avLst/>
              <a:gdLst>
                <a:gd name="T0" fmla="*/ 84 w 84"/>
                <a:gd name="T1" fmla="*/ 0 h 81"/>
                <a:gd name="T2" fmla="*/ 0 w 84"/>
                <a:gd name="T3" fmla="*/ 81 h 81"/>
                <a:gd name="T4" fmla="*/ 84 w 84"/>
                <a:gd name="T5" fmla="*/ 0 h 81"/>
              </a:gdLst>
              <a:ahLst/>
              <a:cxnLst>
                <a:cxn ang="0">
                  <a:pos x="T0" y="T1"/>
                </a:cxn>
                <a:cxn ang="0">
                  <a:pos x="T2" y="T3"/>
                </a:cxn>
                <a:cxn ang="0">
                  <a:pos x="T4" y="T5"/>
                </a:cxn>
              </a:cxnLst>
              <a:rect l="0" t="0" r="r" b="b"/>
              <a:pathLst>
                <a:path w="84" h="81">
                  <a:moveTo>
                    <a:pt x="84" y="0"/>
                  </a:moveTo>
                  <a:lnTo>
                    <a:pt x="0" y="81"/>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47" name="Line 23"/>
            <p:cNvSpPr>
              <a:spLocks noChangeShapeType="1"/>
            </p:cNvSpPr>
            <p:nvPr/>
          </p:nvSpPr>
          <p:spPr bwMode="auto">
            <a:xfrm flipH="1">
              <a:off x="606" y="1681"/>
              <a:ext cx="75" cy="7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48" name="Rectangle 24"/>
            <p:cNvSpPr>
              <a:spLocks noChangeArrowheads="1"/>
            </p:cNvSpPr>
            <p:nvPr/>
          </p:nvSpPr>
          <p:spPr bwMode="auto">
            <a:xfrm>
              <a:off x="538" y="1928"/>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go</a:t>
              </a:r>
              <a:endParaRPr lang="en-US" altLang="en-US" sz="2400"/>
            </a:p>
          </p:txBody>
        </p:sp>
        <p:sp>
          <p:nvSpPr>
            <p:cNvPr id="538649" name="Rectangle 25"/>
            <p:cNvSpPr>
              <a:spLocks noChangeArrowheads="1"/>
            </p:cNvSpPr>
            <p:nvPr/>
          </p:nvSpPr>
          <p:spPr bwMode="auto">
            <a:xfrm>
              <a:off x="1048" y="1214"/>
              <a:ext cx="21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SAD</a:t>
              </a:r>
              <a:endParaRPr lang="en-US" altLang="en-US" sz="2400"/>
            </a:p>
          </p:txBody>
        </p:sp>
        <p:sp>
          <p:nvSpPr>
            <p:cNvPr id="538650" name="Rectangle 26"/>
            <p:cNvSpPr>
              <a:spLocks noChangeArrowheads="1"/>
            </p:cNvSpPr>
            <p:nvPr/>
          </p:nvSpPr>
          <p:spPr bwMode="auto">
            <a:xfrm>
              <a:off x="1327" y="1666"/>
              <a:ext cx="16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sad</a:t>
              </a:r>
              <a:endParaRPr lang="en-US" altLang="en-US" sz="2400"/>
            </a:p>
          </p:txBody>
        </p:sp>
        <p:sp>
          <p:nvSpPr>
            <p:cNvPr id="538651" name="Rectangle 27"/>
            <p:cNvSpPr>
              <a:spLocks noChangeArrowheads="1"/>
            </p:cNvSpPr>
            <p:nvPr/>
          </p:nvSpPr>
          <p:spPr bwMode="auto">
            <a:xfrm>
              <a:off x="288" y="1615"/>
              <a:ext cx="201" cy="21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8652" name="Rectangle 28"/>
            <p:cNvSpPr>
              <a:spLocks noChangeArrowheads="1"/>
            </p:cNvSpPr>
            <p:nvPr/>
          </p:nvSpPr>
          <p:spPr bwMode="auto">
            <a:xfrm>
              <a:off x="288" y="1197"/>
              <a:ext cx="201" cy="21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8653" name="Rectangle 29"/>
            <p:cNvSpPr>
              <a:spLocks noChangeArrowheads="1"/>
            </p:cNvSpPr>
            <p:nvPr/>
          </p:nvSpPr>
          <p:spPr bwMode="auto">
            <a:xfrm>
              <a:off x="811" y="1197"/>
              <a:ext cx="663" cy="1048"/>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38696" name="Rectangle 72"/>
          <p:cNvSpPr>
            <a:spLocks noChangeArrowheads="1"/>
          </p:cNvSpPr>
          <p:nvPr/>
        </p:nvSpPr>
        <p:spPr bwMode="auto">
          <a:xfrm>
            <a:off x="3816350" y="1443038"/>
            <a:ext cx="37893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A, B (256 byte memory); go (bit)</a:t>
            </a:r>
            <a:endParaRPr lang="en-US" altLang="en-US" sz="3200"/>
          </a:p>
        </p:txBody>
      </p:sp>
      <p:sp>
        <p:nvSpPr>
          <p:cNvPr id="538705" name="Rectangle 81"/>
          <p:cNvSpPr>
            <a:spLocks noChangeArrowheads="1"/>
          </p:cNvSpPr>
          <p:nvPr/>
        </p:nvSpPr>
        <p:spPr bwMode="auto">
          <a:xfrm>
            <a:off x="3816350" y="1674813"/>
            <a:ext cx="20701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sad (32 bits)</a:t>
            </a:r>
            <a:endParaRPr lang="en-US" altLang="en-US" sz="3200"/>
          </a:p>
        </p:txBody>
      </p:sp>
      <p:sp>
        <p:nvSpPr>
          <p:cNvPr id="538708" name="Rectangle 84"/>
          <p:cNvSpPr>
            <a:spLocks noChangeArrowheads="1"/>
          </p:cNvSpPr>
          <p:nvPr/>
        </p:nvSpPr>
        <p:spPr bwMode="auto">
          <a:xfrm>
            <a:off x="3816350" y="1912938"/>
            <a:ext cx="45688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Local registers: sum, sad_reg (32 bits); i (9 bits)</a:t>
            </a:r>
            <a:endParaRPr lang="en-US" altLang="en-US" sz="3200"/>
          </a:p>
        </p:txBody>
      </p:sp>
      <p:grpSp>
        <p:nvGrpSpPr>
          <p:cNvPr id="538726" name="Group 102"/>
          <p:cNvGrpSpPr>
            <a:grpSpLocks/>
          </p:cNvGrpSpPr>
          <p:nvPr/>
        </p:nvGrpSpPr>
        <p:grpSpPr bwMode="auto">
          <a:xfrm>
            <a:off x="5184775" y="2311400"/>
            <a:ext cx="2058988" cy="904875"/>
            <a:chOff x="3214" y="1456"/>
            <a:chExt cx="1297" cy="570"/>
          </a:xfrm>
        </p:grpSpPr>
        <p:sp>
          <p:nvSpPr>
            <p:cNvPr id="538660" name="Line 36"/>
            <p:cNvSpPr>
              <a:spLocks noChangeShapeType="1"/>
            </p:cNvSpPr>
            <p:nvPr/>
          </p:nvSpPr>
          <p:spPr bwMode="auto">
            <a:xfrm>
              <a:off x="3741" y="1796"/>
              <a:ext cx="1" cy="149"/>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61" name="Freeform 37"/>
            <p:cNvSpPr>
              <a:spLocks/>
            </p:cNvSpPr>
            <p:nvPr/>
          </p:nvSpPr>
          <p:spPr bwMode="auto">
            <a:xfrm>
              <a:off x="3702" y="1895"/>
              <a:ext cx="76" cy="131"/>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68" name="Line 44"/>
            <p:cNvSpPr>
              <a:spLocks noChangeShapeType="1"/>
            </p:cNvSpPr>
            <p:nvPr/>
          </p:nvSpPr>
          <p:spPr bwMode="auto">
            <a:xfrm>
              <a:off x="3214" y="1456"/>
              <a:ext cx="136" cy="8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69" name="Freeform 45"/>
            <p:cNvSpPr>
              <a:spLocks/>
            </p:cNvSpPr>
            <p:nvPr/>
          </p:nvSpPr>
          <p:spPr bwMode="auto">
            <a:xfrm>
              <a:off x="3304" y="1505"/>
              <a:ext cx="143" cy="103"/>
            </a:xfrm>
            <a:custGeom>
              <a:avLst/>
              <a:gdLst>
                <a:gd name="T0" fmla="*/ 96 w 96"/>
                <a:gd name="T1" fmla="*/ 78 h 78"/>
                <a:gd name="T2" fmla="*/ 31 w 96"/>
                <a:gd name="T3" fmla="*/ 0 h 78"/>
                <a:gd name="T4" fmla="*/ 0 w 96"/>
                <a:gd name="T5" fmla="*/ 41 h 78"/>
                <a:gd name="T6" fmla="*/ 96 w 96"/>
                <a:gd name="T7" fmla="*/ 78 h 78"/>
              </a:gdLst>
              <a:ahLst/>
              <a:cxnLst>
                <a:cxn ang="0">
                  <a:pos x="T0" y="T1"/>
                </a:cxn>
                <a:cxn ang="0">
                  <a:pos x="T2" y="T3"/>
                </a:cxn>
                <a:cxn ang="0">
                  <a:pos x="T4" y="T5"/>
                </a:cxn>
                <a:cxn ang="0">
                  <a:pos x="T6" y="T7"/>
                </a:cxn>
              </a:cxnLst>
              <a:rect l="0" t="0" r="r" b="b"/>
              <a:pathLst>
                <a:path w="96" h="78">
                  <a:moveTo>
                    <a:pt x="96" y="78"/>
                  </a:moveTo>
                  <a:lnTo>
                    <a:pt x="31" y="0"/>
                  </a:lnTo>
                  <a:lnTo>
                    <a:pt x="0" y="41"/>
                  </a:lnTo>
                  <a:lnTo>
                    <a:pt x="9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70" name="Freeform 46"/>
            <p:cNvSpPr>
              <a:spLocks/>
            </p:cNvSpPr>
            <p:nvPr/>
          </p:nvSpPr>
          <p:spPr bwMode="auto">
            <a:xfrm>
              <a:off x="4011" y="1505"/>
              <a:ext cx="149" cy="90"/>
            </a:xfrm>
            <a:custGeom>
              <a:avLst/>
              <a:gdLst>
                <a:gd name="T0" fmla="*/ 0 w 100"/>
                <a:gd name="T1" fmla="*/ 69 h 69"/>
                <a:gd name="T2" fmla="*/ 100 w 100"/>
                <a:gd name="T3" fmla="*/ 44 h 69"/>
                <a:gd name="T4" fmla="*/ 78 w 100"/>
                <a:gd name="T5" fmla="*/ 0 h 69"/>
                <a:gd name="T6" fmla="*/ 0 w 100"/>
                <a:gd name="T7" fmla="*/ 69 h 69"/>
              </a:gdLst>
              <a:ahLst/>
              <a:cxnLst>
                <a:cxn ang="0">
                  <a:pos x="T0" y="T1"/>
                </a:cxn>
                <a:cxn ang="0">
                  <a:pos x="T2" y="T3"/>
                </a:cxn>
                <a:cxn ang="0">
                  <a:pos x="T4" y="T5"/>
                </a:cxn>
                <a:cxn ang="0">
                  <a:pos x="T6" y="T7"/>
                </a:cxn>
              </a:cxnLst>
              <a:rect l="0" t="0" r="r" b="b"/>
              <a:pathLst>
                <a:path w="100" h="69">
                  <a:moveTo>
                    <a:pt x="0" y="69"/>
                  </a:moveTo>
                  <a:lnTo>
                    <a:pt x="100" y="44"/>
                  </a:lnTo>
                  <a:lnTo>
                    <a:pt x="78" y="0"/>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75" name="Freeform 51"/>
            <p:cNvSpPr>
              <a:spLocks/>
            </p:cNvSpPr>
            <p:nvPr/>
          </p:nvSpPr>
          <p:spPr bwMode="auto">
            <a:xfrm>
              <a:off x="4011" y="1530"/>
              <a:ext cx="279" cy="312"/>
            </a:xfrm>
            <a:custGeom>
              <a:avLst/>
              <a:gdLst>
                <a:gd name="T0" fmla="*/ 16 w 60"/>
                <a:gd name="T1" fmla="*/ 3 h 76"/>
                <a:gd name="T2" fmla="*/ 32 w 60"/>
                <a:gd name="T3" fmla="*/ 0 h 76"/>
                <a:gd name="T4" fmla="*/ 60 w 60"/>
                <a:gd name="T5" fmla="*/ 38 h 76"/>
                <a:gd name="T6" fmla="*/ 32 w 60"/>
                <a:gd name="T7" fmla="*/ 76 h 76"/>
                <a:gd name="T8" fmla="*/ 0 w 60"/>
                <a:gd name="T9" fmla="*/ 59 h 76"/>
              </a:gdLst>
              <a:ahLst/>
              <a:cxnLst>
                <a:cxn ang="0">
                  <a:pos x="T0" y="T1"/>
                </a:cxn>
                <a:cxn ang="0">
                  <a:pos x="T2" y="T3"/>
                </a:cxn>
                <a:cxn ang="0">
                  <a:pos x="T4" y="T5"/>
                </a:cxn>
                <a:cxn ang="0">
                  <a:pos x="T6" y="T7"/>
                </a:cxn>
                <a:cxn ang="0">
                  <a:pos x="T8" y="T9"/>
                </a:cxn>
              </a:cxnLst>
              <a:rect l="0" t="0" r="r" b="b"/>
              <a:pathLst>
                <a:path w="60" h="76">
                  <a:moveTo>
                    <a:pt x="16" y="3"/>
                  </a:moveTo>
                  <a:cubicBezTo>
                    <a:pt x="21" y="1"/>
                    <a:pt x="26" y="0"/>
                    <a:pt x="32" y="0"/>
                  </a:cubicBezTo>
                  <a:cubicBezTo>
                    <a:pt x="53" y="0"/>
                    <a:pt x="60" y="17"/>
                    <a:pt x="60" y="38"/>
                  </a:cubicBezTo>
                  <a:cubicBezTo>
                    <a:pt x="60" y="59"/>
                    <a:pt x="53" y="76"/>
                    <a:pt x="32" y="76"/>
                  </a:cubicBezTo>
                  <a:cubicBezTo>
                    <a:pt x="19" y="76"/>
                    <a:pt x="7" y="70"/>
                    <a:pt x="0" y="59"/>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8676" name="Rectangle 52"/>
            <p:cNvSpPr>
              <a:spLocks noChangeArrowheads="1"/>
            </p:cNvSpPr>
            <p:nvPr/>
          </p:nvSpPr>
          <p:spPr bwMode="auto">
            <a:xfrm>
              <a:off x="4321" y="1611"/>
              <a:ext cx="190"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!go</a:t>
              </a:r>
              <a:endParaRPr lang="en-US" altLang="en-US" sz="3200"/>
            </a:p>
          </p:txBody>
        </p:sp>
        <p:sp>
          <p:nvSpPr>
            <p:cNvPr id="538677" name="Rectangle 53"/>
            <p:cNvSpPr>
              <a:spLocks noChangeArrowheads="1"/>
            </p:cNvSpPr>
            <p:nvPr/>
          </p:nvSpPr>
          <p:spPr bwMode="auto">
            <a:xfrm>
              <a:off x="3670" y="1619"/>
              <a:ext cx="1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S0</a:t>
              </a:r>
              <a:endParaRPr lang="en-US" altLang="en-US" sz="3200"/>
            </a:p>
          </p:txBody>
        </p:sp>
        <p:sp>
          <p:nvSpPr>
            <p:cNvPr id="538682" name="Rectangle 58"/>
            <p:cNvSpPr>
              <a:spLocks noChangeArrowheads="1"/>
            </p:cNvSpPr>
            <p:nvPr/>
          </p:nvSpPr>
          <p:spPr bwMode="auto">
            <a:xfrm>
              <a:off x="3829" y="1822"/>
              <a:ext cx="15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go</a:t>
              </a:r>
              <a:endParaRPr lang="en-US" altLang="en-US" sz="3200"/>
            </a:p>
          </p:txBody>
        </p:sp>
        <p:sp>
          <p:nvSpPr>
            <p:cNvPr id="538719" name="Freeform 95"/>
            <p:cNvSpPr>
              <a:spLocks/>
            </p:cNvSpPr>
            <p:nvPr/>
          </p:nvSpPr>
          <p:spPr bwMode="auto">
            <a:xfrm>
              <a:off x="3424" y="1584"/>
              <a:ext cx="633" cy="205"/>
            </a:xfrm>
            <a:custGeom>
              <a:avLst/>
              <a:gdLst>
                <a:gd name="T0" fmla="*/ 25 w 136"/>
                <a:gd name="T1" fmla="*/ 50 h 50"/>
                <a:gd name="T2" fmla="*/ 0 w 136"/>
                <a:gd name="T3" fmla="*/ 25 h 50"/>
                <a:gd name="T4" fmla="*/ 25 w 136"/>
                <a:gd name="T5" fmla="*/ 0 h 50"/>
                <a:gd name="T6" fmla="*/ 111 w 136"/>
                <a:gd name="T7" fmla="*/ 0 h 50"/>
                <a:gd name="T8" fmla="*/ 136 w 136"/>
                <a:gd name="T9" fmla="*/ 25 h 50"/>
                <a:gd name="T10" fmla="*/ 111 w 136"/>
                <a:gd name="T11" fmla="*/ 50 h 50"/>
                <a:gd name="T12" fmla="*/ 25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25" y="50"/>
                  </a:move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lnTo>
                    <a:pt x="25" y="50"/>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38727" name="Group 103"/>
          <p:cNvGrpSpPr>
            <a:grpSpLocks/>
          </p:cNvGrpSpPr>
          <p:nvPr/>
        </p:nvGrpSpPr>
        <p:grpSpPr bwMode="auto">
          <a:xfrm>
            <a:off x="5518150" y="3149600"/>
            <a:ext cx="1866900" cy="766763"/>
            <a:chOff x="3424" y="1984"/>
            <a:chExt cx="1176" cy="483"/>
          </a:xfrm>
        </p:grpSpPr>
        <p:sp>
          <p:nvSpPr>
            <p:cNvPr id="538662" name="Line 38"/>
            <p:cNvSpPr>
              <a:spLocks noChangeShapeType="1"/>
            </p:cNvSpPr>
            <p:nvPr/>
          </p:nvSpPr>
          <p:spPr bwMode="auto">
            <a:xfrm>
              <a:off x="3741" y="2241"/>
              <a:ext cx="1" cy="144"/>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63" name="Freeform 39"/>
            <p:cNvSpPr>
              <a:spLocks/>
            </p:cNvSpPr>
            <p:nvPr/>
          </p:nvSpPr>
          <p:spPr bwMode="auto">
            <a:xfrm>
              <a:off x="3702" y="2336"/>
              <a:ext cx="76" cy="131"/>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78" name="Rectangle 54"/>
            <p:cNvSpPr>
              <a:spLocks noChangeArrowheads="1"/>
            </p:cNvSpPr>
            <p:nvPr/>
          </p:nvSpPr>
          <p:spPr bwMode="auto">
            <a:xfrm>
              <a:off x="3670" y="2060"/>
              <a:ext cx="1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S1</a:t>
              </a:r>
              <a:endParaRPr lang="en-US" altLang="en-US" sz="3200"/>
            </a:p>
          </p:txBody>
        </p:sp>
        <p:sp>
          <p:nvSpPr>
            <p:cNvPr id="538683" name="Rectangle 59"/>
            <p:cNvSpPr>
              <a:spLocks noChangeArrowheads="1"/>
            </p:cNvSpPr>
            <p:nvPr/>
          </p:nvSpPr>
          <p:spPr bwMode="auto">
            <a:xfrm>
              <a:off x="4112" y="1984"/>
              <a:ext cx="48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sum = 0</a:t>
              </a:r>
              <a:endParaRPr lang="en-US" altLang="en-US" sz="3200"/>
            </a:p>
          </p:txBody>
        </p:sp>
        <p:sp>
          <p:nvSpPr>
            <p:cNvPr id="538684" name="Rectangle 60"/>
            <p:cNvSpPr>
              <a:spLocks noChangeArrowheads="1"/>
            </p:cNvSpPr>
            <p:nvPr/>
          </p:nvSpPr>
          <p:spPr bwMode="auto">
            <a:xfrm>
              <a:off x="4112" y="2130"/>
              <a:ext cx="26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 = 0</a:t>
              </a:r>
              <a:endParaRPr lang="en-US" altLang="en-US" sz="3200"/>
            </a:p>
          </p:txBody>
        </p:sp>
        <p:sp>
          <p:nvSpPr>
            <p:cNvPr id="538720" name="Freeform 96"/>
            <p:cNvSpPr>
              <a:spLocks/>
            </p:cNvSpPr>
            <p:nvPr/>
          </p:nvSpPr>
          <p:spPr bwMode="auto">
            <a:xfrm>
              <a:off x="3424" y="2031"/>
              <a:ext cx="633" cy="206"/>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38732" name="Group 108"/>
          <p:cNvGrpSpPr>
            <a:grpSpLocks/>
          </p:cNvGrpSpPr>
          <p:nvPr/>
        </p:nvGrpSpPr>
        <p:grpSpPr bwMode="auto">
          <a:xfrm>
            <a:off x="5327650" y="4224338"/>
            <a:ext cx="3532188" cy="989012"/>
            <a:chOff x="3304" y="2661"/>
            <a:chExt cx="2225" cy="623"/>
          </a:xfrm>
        </p:grpSpPr>
        <p:sp>
          <p:nvSpPr>
            <p:cNvPr id="538666" name="Freeform 42"/>
            <p:cNvSpPr>
              <a:spLocks/>
            </p:cNvSpPr>
            <p:nvPr/>
          </p:nvSpPr>
          <p:spPr bwMode="auto">
            <a:xfrm>
              <a:off x="3304" y="2697"/>
              <a:ext cx="437" cy="587"/>
            </a:xfrm>
            <a:custGeom>
              <a:avLst/>
              <a:gdLst>
                <a:gd name="T0" fmla="*/ 293 w 293"/>
                <a:gd name="T1" fmla="*/ 334 h 447"/>
                <a:gd name="T2" fmla="*/ 293 w 293"/>
                <a:gd name="T3" fmla="*/ 447 h 447"/>
                <a:gd name="T4" fmla="*/ 0 w 293"/>
                <a:gd name="T5" fmla="*/ 447 h 447"/>
                <a:gd name="T6" fmla="*/ 0 w 293"/>
                <a:gd name="T7" fmla="*/ 62 h 447"/>
                <a:gd name="T8" fmla="*/ 65 w 293"/>
                <a:gd name="T9" fmla="*/ 0 h 447"/>
              </a:gdLst>
              <a:ahLst/>
              <a:cxnLst>
                <a:cxn ang="0">
                  <a:pos x="T0" y="T1"/>
                </a:cxn>
                <a:cxn ang="0">
                  <a:pos x="T2" y="T3"/>
                </a:cxn>
                <a:cxn ang="0">
                  <a:pos x="T4" y="T5"/>
                </a:cxn>
                <a:cxn ang="0">
                  <a:pos x="T6" y="T7"/>
                </a:cxn>
                <a:cxn ang="0">
                  <a:pos x="T8" y="T9"/>
                </a:cxn>
              </a:cxnLst>
              <a:rect l="0" t="0" r="r" b="b"/>
              <a:pathLst>
                <a:path w="293" h="447">
                  <a:moveTo>
                    <a:pt x="293" y="334"/>
                  </a:moveTo>
                  <a:lnTo>
                    <a:pt x="293" y="447"/>
                  </a:lnTo>
                  <a:lnTo>
                    <a:pt x="0" y="447"/>
                  </a:lnTo>
                  <a:lnTo>
                    <a:pt x="0" y="62"/>
                  </a:lnTo>
                  <a:lnTo>
                    <a:pt x="65"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8667" name="Freeform 43"/>
            <p:cNvSpPr>
              <a:spLocks/>
            </p:cNvSpPr>
            <p:nvPr/>
          </p:nvSpPr>
          <p:spPr bwMode="auto">
            <a:xfrm>
              <a:off x="3318" y="2661"/>
              <a:ext cx="139" cy="110"/>
            </a:xfrm>
            <a:custGeom>
              <a:avLst/>
              <a:gdLst>
                <a:gd name="T0" fmla="*/ 94 w 94"/>
                <a:gd name="T1" fmla="*/ 0 h 84"/>
                <a:gd name="T2" fmla="*/ 0 w 94"/>
                <a:gd name="T3" fmla="*/ 47 h 84"/>
                <a:gd name="T4" fmla="*/ 34 w 94"/>
                <a:gd name="T5" fmla="*/ 84 h 84"/>
                <a:gd name="T6" fmla="*/ 94 w 94"/>
                <a:gd name="T7" fmla="*/ 0 h 84"/>
              </a:gdLst>
              <a:ahLst/>
              <a:cxnLst>
                <a:cxn ang="0">
                  <a:pos x="T0" y="T1"/>
                </a:cxn>
                <a:cxn ang="0">
                  <a:pos x="T2" y="T3"/>
                </a:cxn>
                <a:cxn ang="0">
                  <a:pos x="T4" y="T5"/>
                </a:cxn>
                <a:cxn ang="0">
                  <a:pos x="T6" y="T7"/>
                </a:cxn>
              </a:cxnLst>
              <a:rect l="0" t="0" r="r" b="b"/>
              <a:pathLst>
                <a:path w="94" h="84">
                  <a:moveTo>
                    <a:pt x="94" y="0"/>
                  </a:moveTo>
                  <a:lnTo>
                    <a:pt x="0" y="47"/>
                  </a:lnTo>
                  <a:lnTo>
                    <a:pt x="34" y="84"/>
                  </a:lnTo>
                  <a:lnTo>
                    <a:pt x="9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80" name="Rectangle 56"/>
            <p:cNvSpPr>
              <a:spLocks noChangeArrowheads="1"/>
            </p:cNvSpPr>
            <p:nvPr/>
          </p:nvSpPr>
          <p:spPr bwMode="auto">
            <a:xfrm>
              <a:off x="3670" y="2947"/>
              <a:ext cx="1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S3</a:t>
              </a:r>
              <a:endParaRPr lang="en-US" altLang="en-US" sz="3200"/>
            </a:p>
          </p:txBody>
        </p:sp>
        <p:sp>
          <p:nvSpPr>
            <p:cNvPr id="538686" name="Rectangle 62"/>
            <p:cNvSpPr>
              <a:spLocks noChangeArrowheads="1"/>
            </p:cNvSpPr>
            <p:nvPr/>
          </p:nvSpPr>
          <p:spPr bwMode="auto">
            <a:xfrm>
              <a:off x="4108" y="2877"/>
              <a:ext cx="1421"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sum=sum+abs(A[i]-B[i])</a:t>
              </a:r>
              <a:endParaRPr lang="en-US" altLang="en-US" sz="3200"/>
            </a:p>
          </p:txBody>
        </p:sp>
        <p:sp>
          <p:nvSpPr>
            <p:cNvPr id="538689" name="Rectangle 65"/>
            <p:cNvSpPr>
              <a:spLocks noChangeArrowheads="1"/>
            </p:cNvSpPr>
            <p:nvPr/>
          </p:nvSpPr>
          <p:spPr bwMode="auto">
            <a:xfrm>
              <a:off x="4108" y="3027"/>
              <a:ext cx="29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i=i+1</a:t>
              </a:r>
              <a:endParaRPr lang="en-US" altLang="en-US" sz="3200"/>
            </a:p>
          </p:txBody>
        </p:sp>
        <p:sp>
          <p:nvSpPr>
            <p:cNvPr id="538722" name="Freeform 98"/>
            <p:cNvSpPr>
              <a:spLocks/>
            </p:cNvSpPr>
            <p:nvPr/>
          </p:nvSpPr>
          <p:spPr bwMode="auto">
            <a:xfrm>
              <a:off x="3424" y="2927"/>
              <a:ext cx="633" cy="205"/>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38730" name="Group 106"/>
          <p:cNvGrpSpPr>
            <a:grpSpLocks/>
          </p:cNvGrpSpPr>
          <p:nvPr/>
        </p:nvGrpSpPr>
        <p:grpSpPr bwMode="auto">
          <a:xfrm>
            <a:off x="4638675" y="2630488"/>
            <a:ext cx="3395663" cy="3287712"/>
            <a:chOff x="2870" y="1657"/>
            <a:chExt cx="2139" cy="2071"/>
          </a:xfrm>
        </p:grpSpPr>
        <p:sp>
          <p:nvSpPr>
            <p:cNvPr id="538671" name="Freeform 47"/>
            <p:cNvSpPr>
              <a:spLocks/>
            </p:cNvSpPr>
            <p:nvPr/>
          </p:nvSpPr>
          <p:spPr bwMode="auto">
            <a:xfrm>
              <a:off x="2870" y="1690"/>
              <a:ext cx="874" cy="2038"/>
            </a:xfrm>
            <a:custGeom>
              <a:avLst/>
              <a:gdLst>
                <a:gd name="T0" fmla="*/ 281 w 587"/>
                <a:gd name="T1" fmla="*/ 0 h 1550"/>
                <a:gd name="T2" fmla="*/ 0 w 587"/>
                <a:gd name="T3" fmla="*/ 0 h 1550"/>
                <a:gd name="T4" fmla="*/ 0 w 587"/>
                <a:gd name="T5" fmla="*/ 1550 h 1550"/>
                <a:gd name="T6" fmla="*/ 587 w 587"/>
                <a:gd name="T7" fmla="*/ 1550 h 1550"/>
                <a:gd name="T8" fmla="*/ 587 w 587"/>
                <a:gd name="T9" fmla="*/ 1441 h 1550"/>
              </a:gdLst>
              <a:ahLst/>
              <a:cxnLst>
                <a:cxn ang="0">
                  <a:pos x="T0" y="T1"/>
                </a:cxn>
                <a:cxn ang="0">
                  <a:pos x="T2" y="T3"/>
                </a:cxn>
                <a:cxn ang="0">
                  <a:pos x="T4" y="T5"/>
                </a:cxn>
                <a:cxn ang="0">
                  <a:pos x="T6" y="T7"/>
                </a:cxn>
                <a:cxn ang="0">
                  <a:pos x="T8" y="T9"/>
                </a:cxn>
              </a:cxnLst>
              <a:rect l="0" t="0" r="r" b="b"/>
              <a:pathLst>
                <a:path w="587" h="1550">
                  <a:moveTo>
                    <a:pt x="281" y="0"/>
                  </a:moveTo>
                  <a:lnTo>
                    <a:pt x="0" y="0"/>
                  </a:lnTo>
                  <a:lnTo>
                    <a:pt x="0" y="1550"/>
                  </a:lnTo>
                  <a:lnTo>
                    <a:pt x="587" y="1550"/>
                  </a:lnTo>
                  <a:lnTo>
                    <a:pt x="587" y="1441"/>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8672" name="Freeform 48"/>
            <p:cNvSpPr>
              <a:spLocks/>
            </p:cNvSpPr>
            <p:nvPr/>
          </p:nvSpPr>
          <p:spPr bwMode="auto">
            <a:xfrm>
              <a:off x="3260" y="1657"/>
              <a:ext cx="150" cy="6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81" name="Rectangle 57"/>
            <p:cNvSpPr>
              <a:spLocks noChangeArrowheads="1"/>
            </p:cNvSpPr>
            <p:nvPr/>
          </p:nvSpPr>
          <p:spPr bwMode="auto">
            <a:xfrm>
              <a:off x="3670" y="3407"/>
              <a:ext cx="1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S4</a:t>
              </a:r>
              <a:endParaRPr lang="en-US" altLang="en-US" sz="3200"/>
            </a:p>
          </p:txBody>
        </p:sp>
        <p:sp>
          <p:nvSpPr>
            <p:cNvPr id="538690" name="Rectangle 66"/>
            <p:cNvSpPr>
              <a:spLocks noChangeArrowheads="1"/>
            </p:cNvSpPr>
            <p:nvPr/>
          </p:nvSpPr>
          <p:spPr bwMode="auto">
            <a:xfrm>
              <a:off x="4108" y="3397"/>
              <a:ext cx="296"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sad_</a:t>
              </a:r>
              <a:endParaRPr lang="en-US" altLang="en-US" sz="3200"/>
            </a:p>
          </p:txBody>
        </p:sp>
        <p:sp>
          <p:nvSpPr>
            <p:cNvPr id="538691" name="Rectangle 67"/>
            <p:cNvSpPr>
              <a:spLocks noChangeArrowheads="1"/>
            </p:cNvSpPr>
            <p:nvPr/>
          </p:nvSpPr>
          <p:spPr bwMode="auto">
            <a:xfrm>
              <a:off x="4399" y="3397"/>
              <a:ext cx="45"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r</a:t>
              </a:r>
              <a:endParaRPr lang="en-US" altLang="en-US" sz="3200"/>
            </a:p>
          </p:txBody>
        </p:sp>
        <p:sp>
          <p:nvSpPr>
            <p:cNvPr id="538692" name="Rectangle 68"/>
            <p:cNvSpPr>
              <a:spLocks noChangeArrowheads="1"/>
            </p:cNvSpPr>
            <p:nvPr/>
          </p:nvSpPr>
          <p:spPr bwMode="auto">
            <a:xfrm>
              <a:off x="4445" y="3397"/>
              <a:ext cx="56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eg = sum</a:t>
              </a:r>
              <a:endParaRPr lang="en-US" altLang="en-US" sz="3200"/>
            </a:p>
          </p:txBody>
        </p:sp>
        <p:sp>
          <p:nvSpPr>
            <p:cNvPr id="538723" name="Freeform 99"/>
            <p:cNvSpPr>
              <a:spLocks/>
            </p:cNvSpPr>
            <p:nvPr/>
          </p:nvSpPr>
          <p:spPr bwMode="auto">
            <a:xfrm>
              <a:off x="3424" y="3376"/>
              <a:ext cx="633" cy="205"/>
            </a:xfrm>
            <a:custGeom>
              <a:avLst/>
              <a:gdLst>
                <a:gd name="T0" fmla="*/ 25 w 136"/>
                <a:gd name="T1" fmla="*/ 50 h 50"/>
                <a:gd name="T2" fmla="*/ 0 w 136"/>
                <a:gd name="T3" fmla="*/ 25 h 50"/>
                <a:gd name="T4" fmla="*/ 25 w 136"/>
                <a:gd name="T5" fmla="*/ 0 h 50"/>
                <a:gd name="T6" fmla="*/ 111 w 136"/>
                <a:gd name="T7" fmla="*/ 0 h 50"/>
                <a:gd name="T8" fmla="*/ 136 w 136"/>
                <a:gd name="T9" fmla="*/ 25 h 50"/>
                <a:gd name="T10" fmla="*/ 111 w 136"/>
                <a:gd name="T11" fmla="*/ 50 h 50"/>
                <a:gd name="T12" fmla="*/ 25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25" y="50"/>
                  </a:move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lnTo>
                    <a:pt x="25" y="50"/>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38728" name="Group 104"/>
          <p:cNvGrpSpPr>
            <a:grpSpLocks/>
          </p:cNvGrpSpPr>
          <p:nvPr/>
        </p:nvGrpSpPr>
        <p:grpSpPr bwMode="auto">
          <a:xfrm>
            <a:off x="4902200" y="3830638"/>
            <a:ext cx="1808163" cy="1736725"/>
            <a:chOff x="3036" y="2413"/>
            <a:chExt cx="1139" cy="1094"/>
          </a:xfrm>
        </p:grpSpPr>
        <p:sp>
          <p:nvSpPr>
            <p:cNvPr id="538664" name="Line 40"/>
            <p:cNvSpPr>
              <a:spLocks noChangeShapeType="1"/>
            </p:cNvSpPr>
            <p:nvPr/>
          </p:nvSpPr>
          <p:spPr bwMode="auto">
            <a:xfrm>
              <a:off x="3741" y="2690"/>
              <a:ext cx="1" cy="14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38665" name="Freeform 41"/>
            <p:cNvSpPr>
              <a:spLocks/>
            </p:cNvSpPr>
            <p:nvPr/>
          </p:nvSpPr>
          <p:spPr bwMode="auto">
            <a:xfrm>
              <a:off x="3702" y="2788"/>
              <a:ext cx="76" cy="13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73" name="Freeform 49"/>
            <p:cNvSpPr>
              <a:spLocks/>
            </p:cNvSpPr>
            <p:nvPr/>
          </p:nvSpPr>
          <p:spPr bwMode="auto">
            <a:xfrm>
              <a:off x="3126" y="2581"/>
              <a:ext cx="298" cy="893"/>
            </a:xfrm>
            <a:custGeom>
              <a:avLst/>
              <a:gdLst>
                <a:gd name="T0" fmla="*/ 109 w 200"/>
                <a:gd name="T1" fmla="*/ 679 h 679"/>
                <a:gd name="T2" fmla="*/ 0 w 200"/>
                <a:gd name="T3" fmla="*/ 679 h 679"/>
                <a:gd name="T4" fmla="*/ 0 w 200"/>
                <a:gd name="T5" fmla="*/ 0 h 679"/>
                <a:gd name="T6" fmla="*/ 200 w 200"/>
                <a:gd name="T7" fmla="*/ 0 h 679"/>
              </a:gdLst>
              <a:ahLst/>
              <a:cxnLst>
                <a:cxn ang="0">
                  <a:pos x="T0" y="T1"/>
                </a:cxn>
                <a:cxn ang="0">
                  <a:pos x="T2" y="T3"/>
                </a:cxn>
                <a:cxn ang="0">
                  <a:pos x="T4" y="T5"/>
                </a:cxn>
                <a:cxn ang="0">
                  <a:pos x="T6" y="T7"/>
                </a:cxn>
              </a:cxnLst>
              <a:rect l="0" t="0" r="r" b="b"/>
              <a:pathLst>
                <a:path w="200" h="679">
                  <a:moveTo>
                    <a:pt x="109" y="679"/>
                  </a:moveTo>
                  <a:lnTo>
                    <a:pt x="0" y="679"/>
                  </a:lnTo>
                  <a:lnTo>
                    <a:pt x="0" y="0"/>
                  </a:lnTo>
                  <a:lnTo>
                    <a:pt x="20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8674" name="Freeform 50"/>
            <p:cNvSpPr>
              <a:spLocks/>
            </p:cNvSpPr>
            <p:nvPr/>
          </p:nvSpPr>
          <p:spPr bwMode="auto">
            <a:xfrm>
              <a:off x="3260" y="3442"/>
              <a:ext cx="150" cy="6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38679" name="Rectangle 55"/>
            <p:cNvSpPr>
              <a:spLocks noChangeArrowheads="1"/>
            </p:cNvSpPr>
            <p:nvPr/>
          </p:nvSpPr>
          <p:spPr bwMode="auto">
            <a:xfrm>
              <a:off x="3670" y="2505"/>
              <a:ext cx="1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S2</a:t>
              </a:r>
              <a:endParaRPr lang="en-US" altLang="en-US" sz="3200"/>
            </a:p>
          </p:txBody>
        </p:sp>
        <p:sp>
          <p:nvSpPr>
            <p:cNvPr id="538685" name="Rectangle 61"/>
            <p:cNvSpPr>
              <a:spLocks noChangeArrowheads="1"/>
            </p:cNvSpPr>
            <p:nvPr/>
          </p:nvSpPr>
          <p:spPr bwMode="auto">
            <a:xfrm>
              <a:off x="3838" y="2740"/>
              <a:ext cx="33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i&lt;256</a:t>
              </a:r>
              <a:endParaRPr lang="en-US" altLang="en-US" sz="3200"/>
            </a:p>
          </p:txBody>
        </p:sp>
        <p:sp>
          <p:nvSpPr>
            <p:cNvPr id="538721" name="Freeform 97"/>
            <p:cNvSpPr>
              <a:spLocks/>
            </p:cNvSpPr>
            <p:nvPr/>
          </p:nvSpPr>
          <p:spPr bwMode="auto">
            <a:xfrm>
              <a:off x="3424" y="2478"/>
              <a:ext cx="633" cy="207"/>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38725" name="Rectangle 101"/>
            <p:cNvSpPr>
              <a:spLocks noChangeArrowheads="1"/>
            </p:cNvSpPr>
            <p:nvPr/>
          </p:nvSpPr>
          <p:spPr bwMode="auto">
            <a:xfrm>
              <a:off x="3036" y="2413"/>
              <a:ext cx="43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en-US" sz="1500">
                  <a:solidFill>
                    <a:srgbClr val="000000"/>
                  </a:solidFill>
                  <a:latin typeface="Myriad Roman" charset="0"/>
                </a:rPr>
                <a:t>(i&lt;256)’</a:t>
              </a:r>
              <a:endParaRPr lang="en-US" altLang="en-US" sz="2800"/>
            </a:p>
          </p:txBody>
        </p:sp>
      </p:grpSp>
      <p:sp>
        <p:nvSpPr>
          <p:cNvPr id="538731" name="Text Box 107"/>
          <p:cNvSpPr txBox="1">
            <a:spLocks noChangeArrowheads="1"/>
          </p:cNvSpPr>
          <p:nvPr/>
        </p:nvSpPr>
        <p:spPr bwMode="auto">
          <a:xfrm>
            <a:off x="8764588" y="3182938"/>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387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387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3872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3873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387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Slide Number Placeholder 3"/>
          <p:cNvSpPr>
            <a:spLocks noGrp="1"/>
          </p:cNvSpPr>
          <p:nvPr>
            <p:ph type="sldNum" sz="quarter" idx="10"/>
          </p:nvPr>
        </p:nvSpPr>
        <p:spPr/>
        <p:txBody>
          <a:bodyPr/>
          <a:lstStyle/>
          <a:p>
            <a:fld id="{77748697-536C-4685-A363-99344EDC30AC}" type="slidenum">
              <a:rPr lang="en-US" altLang="en-US"/>
              <a:pPr/>
              <a:t>36</a:t>
            </a:fld>
            <a:endParaRPr lang="en-US" altLang="en-US"/>
          </a:p>
        </p:txBody>
      </p:sp>
      <p:sp>
        <p:nvSpPr>
          <p:cNvPr id="540674" name="Rectangle 2"/>
          <p:cNvSpPr>
            <a:spLocks noGrp="1" noChangeArrowheads="1"/>
          </p:cNvSpPr>
          <p:nvPr>
            <p:ph type="title"/>
          </p:nvPr>
        </p:nvSpPr>
        <p:spPr/>
        <p:txBody>
          <a:bodyPr/>
          <a:lstStyle/>
          <a:p>
            <a:r>
              <a:rPr lang="en-US" altLang="en-US"/>
              <a:t>RTL Example: </a:t>
            </a:r>
            <a:r>
              <a:rPr lang="en-US" altLang="en-US" sz="3200"/>
              <a:t>Video Compression – Sum of Absolute Differences</a:t>
            </a:r>
          </a:p>
        </p:txBody>
      </p:sp>
      <p:sp>
        <p:nvSpPr>
          <p:cNvPr id="540675" name="Rectangle 3"/>
          <p:cNvSpPr>
            <a:spLocks noGrp="1" noChangeArrowheads="1"/>
          </p:cNvSpPr>
          <p:nvPr>
            <p:ph type="body" idx="1"/>
          </p:nvPr>
        </p:nvSpPr>
        <p:spPr>
          <a:xfrm>
            <a:off x="1997075" y="5634038"/>
            <a:ext cx="6892925" cy="558800"/>
          </a:xfrm>
        </p:spPr>
        <p:txBody>
          <a:bodyPr/>
          <a:lstStyle/>
          <a:p>
            <a:r>
              <a:rPr lang="en-US" altLang="en-US"/>
              <a:t>Step 2: Create datapath</a:t>
            </a:r>
          </a:p>
        </p:txBody>
      </p:sp>
      <p:sp>
        <p:nvSpPr>
          <p:cNvPr id="540772" name="Rectangle 100"/>
          <p:cNvSpPr>
            <a:spLocks noChangeArrowheads="1"/>
          </p:cNvSpPr>
          <p:nvPr/>
        </p:nvSpPr>
        <p:spPr bwMode="auto">
          <a:xfrm>
            <a:off x="4832350" y="1816100"/>
            <a:ext cx="3917950" cy="3592513"/>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773" name="Oval 101"/>
          <p:cNvSpPr>
            <a:spLocks noChangeArrowheads="1"/>
          </p:cNvSpPr>
          <p:nvPr/>
        </p:nvSpPr>
        <p:spPr bwMode="auto">
          <a:xfrm>
            <a:off x="6686550" y="2087563"/>
            <a:ext cx="90488" cy="90487"/>
          </a:xfrm>
          <a:prstGeom prst="ellipse">
            <a:avLst/>
          </a:prstGeom>
          <a:solidFill>
            <a:srgbClr val="000000"/>
          </a:solidFill>
          <a:ln w="11113">
            <a:solidFill>
              <a:srgbClr val="000000"/>
            </a:solidFill>
            <a:miter lim="800000"/>
            <a:headEnd/>
            <a:tailEnd/>
          </a:ln>
        </p:spPr>
        <p:txBody>
          <a:bodyPr/>
          <a:lstStyle/>
          <a:p>
            <a:endParaRPr lang="en-US"/>
          </a:p>
        </p:txBody>
      </p:sp>
      <p:sp>
        <p:nvSpPr>
          <p:cNvPr id="540774" name="Oval 102"/>
          <p:cNvSpPr>
            <a:spLocks noChangeArrowheads="1"/>
          </p:cNvSpPr>
          <p:nvPr/>
        </p:nvSpPr>
        <p:spPr bwMode="auto">
          <a:xfrm>
            <a:off x="6546850" y="4025900"/>
            <a:ext cx="90488" cy="90488"/>
          </a:xfrm>
          <a:prstGeom prst="ellipse">
            <a:avLst/>
          </a:prstGeom>
          <a:solidFill>
            <a:srgbClr val="000000"/>
          </a:solidFill>
          <a:ln w="11113">
            <a:solidFill>
              <a:srgbClr val="000000"/>
            </a:solidFill>
            <a:miter lim="800000"/>
            <a:headEnd/>
            <a:tailEnd/>
          </a:ln>
        </p:spPr>
        <p:txBody>
          <a:bodyPr/>
          <a:lstStyle/>
          <a:p>
            <a:endParaRPr lang="en-US"/>
          </a:p>
        </p:txBody>
      </p:sp>
      <p:sp>
        <p:nvSpPr>
          <p:cNvPr id="540784" name="Line 112"/>
          <p:cNvSpPr>
            <a:spLocks noChangeShapeType="1"/>
          </p:cNvSpPr>
          <p:nvPr/>
        </p:nvSpPr>
        <p:spPr bwMode="auto">
          <a:xfrm flipV="1">
            <a:off x="6727825" y="1816100"/>
            <a:ext cx="1588" cy="700088"/>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785" name="Freeform 113"/>
          <p:cNvSpPr>
            <a:spLocks/>
          </p:cNvSpPr>
          <p:nvPr/>
        </p:nvSpPr>
        <p:spPr bwMode="auto">
          <a:xfrm>
            <a:off x="6686550" y="1658938"/>
            <a:ext cx="95250" cy="193675"/>
          </a:xfrm>
          <a:custGeom>
            <a:avLst/>
            <a:gdLst>
              <a:gd name="T0" fmla="*/ 30 w 60"/>
              <a:gd name="T1" fmla="*/ 0 h 122"/>
              <a:gd name="T2" fmla="*/ 0 w 60"/>
              <a:gd name="T3" fmla="*/ 122 h 122"/>
              <a:gd name="T4" fmla="*/ 60 w 60"/>
              <a:gd name="T5" fmla="*/ 122 h 122"/>
              <a:gd name="T6" fmla="*/ 30 w 60"/>
              <a:gd name="T7" fmla="*/ 0 h 122"/>
            </a:gdLst>
            <a:ahLst/>
            <a:cxnLst>
              <a:cxn ang="0">
                <a:pos x="T0" y="T1"/>
              </a:cxn>
              <a:cxn ang="0">
                <a:pos x="T2" y="T3"/>
              </a:cxn>
              <a:cxn ang="0">
                <a:pos x="T4" y="T5"/>
              </a:cxn>
              <a:cxn ang="0">
                <a:pos x="T6" y="T7"/>
              </a:cxn>
            </a:cxnLst>
            <a:rect l="0" t="0" r="r" b="b"/>
            <a:pathLst>
              <a:path w="60" h="122">
                <a:moveTo>
                  <a:pt x="30" y="0"/>
                </a:moveTo>
                <a:lnTo>
                  <a:pt x="0" y="122"/>
                </a:lnTo>
                <a:lnTo>
                  <a:pt x="60" y="122"/>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786" name="Line 114"/>
          <p:cNvSpPr>
            <a:spLocks noChangeShapeType="1"/>
          </p:cNvSpPr>
          <p:nvPr/>
        </p:nvSpPr>
        <p:spPr bwMode="auto">
          <a:xfrm>
            <a:off x="7929563" y="1616075"/>
            <a:ext cx="1587" cy="742950"/>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787" name="Freeform 115"/>
          <p:cNvSpPr>
            <a:spLocks/>
          </p:cNvSpPr>
          <p:nvPr/>
        </p:nvSpPr>
        <p:spPr bwMode="auto">
          <a:xfrm>
            <a:off x="7881938" y="2322513"/>
            <a:ext cx="95250" cy="193675"/>
          </a:xfrm>
          <a:custGeom>
            <a:avLst/>
            <a:gdLst>
              <a:gd name="T0" fmla="*/ 30 w 60"/>
              <a:gd name="T1" fmla="*/ 122 h 122"/>
              <a:gd name="T2" fmla="*/ 0 w 60"/>
              <a:gd name="T3" fmla="*/ 0 h 122"/>
              <a:gd name="T4" fmla="*/ 60 w 60"/>
              <a:gd name="T5" fmla="*/ 0 h 122"/>
              <a:gd name="T6" fmla="*/ 30 w 60"/>
              <a:gd name="T7" fmla="*/ 122 h 122"/>
            </a:gdLst>
            <a:ahLst/>
            <a:cxnLst>
              <a:cxn ang="0">
                <a:pos x="T0" y="T1"/>
              </a:cxn>
              <a:cxn ang="0">
                <a:pos x="T2" y="T3"/>
              </a:cxn>
              <a:cxn ang="0">
                <a:pos x="T4" y="T5"/>
              </a:cxn>
              <a:cxn ang="0">
                <a:pos x="T6" y="T7"/>
              </a:cxn>
            </a:cxnLst>
            <a:rect l="0" t="0" r="r" b="b"/>
            <a:pathLst>
              <a:path w="60" h="122">
                <a:moveTo>
                  <a:pt x="30" y="122"/>
                </a:moveTo>
                <a:lnTo>
                  <a:pt x="0" y="0"/>
                </a:lnTo>
                <a:lnTo>
                  <a:pt x="60" y="0"/>
                </a:lnTo>
                <a:lnTo>
                  <a:pt x="30"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788" name="Line 116"/>
          <p:cNvSpPr>
            <a:spLocks noChangeShapeType="1"/>
          </p:cNvSpPr>
          <p:nvPr/>
        </p:nvSpPr>
        <p:spPr bwMode="auto">
          <a:xfrm>
            <a:off x="7929563" y="3935413"/>
            <a:ext cx="1587" cy="415925"/>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789" name="Freeform 117"/>
          <p:cNvSpPr>
            <a:spLocks/>
          </p:cNvSpPr>
          <p:nvPr/>
        </p:nvSpPr>
        <p:spPr bwMode="auto">
          <a:xfrm>
            <a:off x="7881938" y="4316413"/>
            <a:ext cx="95250" cy="192087"/>
          </a:xfrm>
          <a:custGeom>
            <a:avLst/>
            <a:gdLst>
              <a:gd name="T0" fmla="*/ 30 w 60"/>
              <a:gd name="T1" fmla="*/ 121 h 121"/>
              <a:gd name="T2" fmla="*/ 0 w 60"/>
              <a:gd name="T3" fmla="*/ 0 h 121"/>
              <a:gd name="T4" fmla="*/ 60 w 60"/>
              <a:gd name="T5" fmla="*/ 0 h 121"/>
              <a:gd name="T6" fmla="*/ 30 w 60"/>
              <a:gd name="T7" fmla="*/ 121 h 121"/>
            </a:gdLst>
            <a:ahLst/>
            <a:cxnLst>
              <a:cxn ang="0">
                <a:pos x="T0" y="T1"/>
              </a:cxn>
              <a:cxn ang="0">
                <a:pos x="T2" y="T3"/>
              </a:cxn>
              <a:cxn ang="0">
                <a:pos x="T4" y="T5"/>
              </a:cxn>
              <a:cxn ang="0">
                <a:pos x="T6" y="T7"/>
              </a:cxn>
            </a:cxnLst>
            <a:rect l="0" t="0" r="r" b="b"/>
            <a:pathLst>
              <a:path w="60" h="121">
                <a:moveTo>
                  <a:pt x="30" y="121"/>
                </a:moveTo>
                <a:lnTo>
                  <a:pt x="0" y="0"/>
                </a:lnTo>
                <a:lnTo>
                  <a:pt x="60" y="0"/>
                </a:lnTo>
                <a:lnTo>
                  <a:pt x="30"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790" name="Freeform 118"/>
          <p:cNvSpPr>
            <a:spLocks/>
          </p:cNvSpPr>
          <p:nvPr/>
        </p:nvSpPr>
        <p:spPr bwMode="auto">
          <a:xfrm>
            <a:off x="6594475" y="4073525"/>
            <a:ext cx="990600" cy="260350"/>
          </a:xfrm>
          <a:custGeom>
            <a:avLst/>
            <a:gdLst>
              <a:gd name="T0" fmla="*/ 624 w 624"/>
              <a:gd name="T1" fmla="*/ 164 h 164"/>
              <a:gd name="T2" fmla="*/ 624 w 624"/>
              <a:gd name="T3" fmla="*/ 0 h 164"/>
              <a:gd name="T4" fmla="*/ 0 w 624"/>
              <a:gd name="T5" fmla="*/ 0 h 164"/>
            </a:gdLst>
            <a:ahLst/>
            <a:cxnLst>
              <a:cxn ang="0">
                <a:pos x="T0" y="T1"/>
              </a:cxn>
              <a:cxn ang="0">
                <a:pos x="T2" y="T3"/>
              </a:cxn>
              <a:cxn ang="0">
                <a:pos x="T4" y="T5"/>
              </a:cxn>
            </a:cxnLst>
            <a:rect l="0" t="0" r="r" b="b"/>
            <a:pathLst>
              <a:path w="624" h="164">
                <a:moveTo>
                  <a:pt x="624" y="164"/>
                </a:moveTo>
                <a:lnTo>
                  <a:pt x="624" y="0"/>
                </a:lnTo>
                <a:lnTo>
                  <a:pt x="0" y="0"/>
                </a:lnTo>
              </a:path>
            </a:pathLst>
          </a:custGeom>
          <a:noFill/>
          <a:ln w="349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791" name="Freeform 119"/>
          <p:cNvSpPr>
            <a:spLocks/>
          </p:cNvSpPr>
          <p:nvPr/>
        </p:nvSpPr>
        <p:spPr bwMode="auto">
          <a:xfrm>
            <a:off x="7537450" y="4297363"/>
            <a:ext cx="96838" cy="193675"/>
          </a:xfrm>
          <a:custGeom>
            <a:avLst/>
            <a:gdLst>
              <a:gd name="T0" fmla="*/ 30 w 61"/>
              <a:gd name="T1" fmla="*/ 122 h 122"/>
              <a:gd name="T2" fmla="*/ 0 w 61"/>
              <a:gd name="T3" fmla="*/ 0 h 122"/>
              <a:gd name="T4" fmla="*/ 61 w 61"/>
              <a:gd name="T5" fmla="*/ 0 h 122"/>
              <a:gd name="T6" fmla="*/ 30 w 61"/>
              <a:gd name="T7" fmla="*/ 122 h 122"/>
            </a:gdLst>
            <a:ahLst/>
            <a:cxnLst>
              <a:cxn ang="0">
                <a:pos x="T0" y="T1"/>
              </a:cxn>
              <a:cxn ang="0">
                <a:pos x="T2" y="T3"/>
              </a:cxn>
              <a:cxn ang="0">
                <a:pos x="T4" y="T5"/>
              </a:cxn>
              <a:cxn ang="0">
                <a:pos x="T6" y="T7"/>
              </a:cxn>
            </a:cxnLst>
            <a:rect l="0" t="0" r="r" b="b"/>
            <a:pathLst>
              <a:path w="61" h="122">
                <a:moveTo>
                  <a:pt x="30" y="122"/>
                </a:moveTo>
                <a:lnTo>
                  <a:pt x="0" y="0"/>
                </a:lnTo>
                <a:lnTo>
                  <a:pt x="61" y="0"/>
                </a:lnTo>
                <a:lnTo>
                  <a:pt x="30"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792" name="Line 120"/>
          <p:cNvSpPr>
            <a:spLocks noChangeShapeType="1"/>
          </p:cNvSpPr>
          <p:nvPr/>
        </p:nvSpPr>
        <p:spPr bwMode="auto">
          <a:xfrm>
            <a:off x="8358188" y="1616075"/>
            <a:ext cx="1587" cy="742950"/>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793" name="Freeform 121"/>
          <p:cNvSpPr>
            <a:spLocks/>
          </p:cNvSpPr>
          <p:nvPr/>
        </p:nvSpPr>
        <p:spPr bwMode="auto">
          <a:xfrm>
            <a:off x="8310563" y="2322513"/>
            <a:ext cx="95250" cy="193675"/>
          </a:xfrm>
          <a:custGeom>
            <a:avLst/>
            <a:gdLst>
              <a:gd name="T0" fmla="*/ 30 w 60"/>
              <a:gd name="T1" fmla="*/ 122 h 122"/>
              <a:gd name="T2" fmla="*/ 0 w 60"/>
              <a:gd name="T3" fmla="*/ 0 h 122"/>
              <a:gd name="T4" fmla="*/ 60 w 60"/>
              <a:gd name="T5" fmla="*/ 0 h 122"/>
              <a:gd name="T6" fmla="*/ 30 w 60"/>
              <a:gd name="T7" fmla="*/ 122 h 122"/>
            </a:gdLst>
            <a:ahLst/>
            <a:cxnLst>
              <a:cxn ang="0">
                <a:pos x="T0" y="T1"/>
              </a:cxn>
              <a:cxn ang="0">
                <a:pos x="T2" y="T3"/>
              </a:cxn>
              <a:cxn ang="0">
                <a:pos x="T4" y="T5"/>
              </a:cxn>
              <a:cxn ang="0">
                <a:pos x="T6" y="T7"/>
              </a:cxn>
            </a:cxnLst>
            <a:rect l="0" t="0" r="r" b="b"/>
            <a:pathLst>
              <a:path w="60" h="122">
                <a:moveTo>
                  <a:pt x="30" y="122"/>
                </a:moveTo>
                <a:lnTo>
                  <a:pt x="0" y="0"/>
                </a:lnTo>
                <a:lnTo>
                  <a:pt x="60" y="0"/>
                </a:lnTo>
                <a:lnTo>
                  <a:pt x="30" y="1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794" name="Line 122"/>
          <p:cNvSpPr>
            <a:spLocks noChangeShapeType="1"/>
          </p:cNvSpPr>
          <p:nvPr/>
        </p:nvSpPr>
        <p:spPr bwMode="auto">
          <a:xfrm>
            <a:off x="8140700" y="3028950"/>
            <a:ext cx="1588" cy="242888"/>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795" name="Freeform 123"/>
          <p:cNvSpPr>
            <a:spLocks/>
          </p:cNvSpPr>
          <p:nvPr/>
        </p:nvSpPr>
        <p:spPr bwMode="auto">
          <a:xfrm>
            <a:off x="8093075" y="3235325"/>
            <a:ext cx="96838" cy="192088"/>
          </a:xfrm>
          <a:custGeom>
            <a:avLst/>
            <a:gdLst>
              <a:gd name="T0" fmla="*/ 30 w 61"/>
              <a:gd name="T1" fmla="*/ 121 h 121"/>
              <a:gd name="T2" fmla="*/ 0 w 61"/>
              <a:gd name="T3" fmla="*/ 0 h 121"/>
              <a:gd name="T4" fmla="*/ 61 w 61"/>
              <a:gd name="T5" fmla="*/ 0 h 121"/>
              <a:gd name="T6" fmla="*/ 30 w 61"/>
              <a:gd name="T7" fmla="*/ 121 h 121"/>
            </a:gdLst>
            <a:ahLst/>
            <a:cxnLst>
              <a:cxn ang="0">
                <a:pos x="T0" y="T1"/>
              </a:cxn>
              <a:cxn ang="0">
                <a:pos x="T2" y="T3"/>
              </a:cxn>
              <a:cxn ang="0">
                <a:pos x="T4" y="T5"/>
              </a:cxn>
              <a:cxn ang="0">
                <a:pos x="T6" y="T7"/>
              </a:cxn>
            </a:cxnLst>
            <a:rect l="0" t="0" r="r" b="b"/>
            <a:pathLst>
              <a:path w="61" h="121">
                <a:moveTo>
                  <a:pt x="30" y="121"/>
                </a:moveTo>
                <a:lnTo>
                  <a:pt x="0" y="0"/>
                </a:lnTo>
                <a:lnTo>
                  <a:pt x="61" y="0"/>
                </a:lnTo>
                <a:lnTo>
                  <a:pt x="30"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796" name="Line 124"/>
          <p:cNvSpPr>
            <a:spLocks noChangeShapeType="1"/>
          </p:cNvSpPr>
          <p:nvPr/>
        </p:nvSpPr>
        <p:spPr bwMode="auto">
          <a:xfrm flipH="1">
            <a:off x="6516688" y="2130425"/>
            <a:ext cx="217487" cy="1588"/>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797" name="Freeform 125"/>
          <p:cNvSpPr>
            <a:spLocks/>
          </p:cNvSpPr>
          <p:nvPr/>
        </p:nvSpPr>
        <p:spPr bwMode="auto">
          <a:xfrm>
            <a:off x="6359525" y="2074863"/>
            <a:ext cx="193675" cy="96837"/>
          </a:xfrm>
          <a:custGeom>
            <a:avLst/>
            <a:gdLst>
              <a:gd name="T0" fmla="*/ 0 w 122"/>
              <a:gd name="T1" fmla="*/ 31 h 61"/>
              <a:gd name="T2" fmla="*/ 122 w 122"/>
              <a:gd name="T3" fmla="*/ 61 h 61"/>
              <a:gd name="T4" fmla="*/ 122 w 122"/>
              <a:gd name="T5" fmla="*/ 0 h 61"/>
              <a:gd name="T6" fmla="*/ 0 w 122"/>
              <a:gd name="T7" fmla="*/ 31 h 61"/>
            </a:gdLst>
            <a:ahLst/>
            <a:cxnLst>
              <a:cxn ang="0">
                <a:pos x="T0" y="T1"/>
              </a:cxn>
              <a:cxn ang="0">
                <a:pos x="T2" y="T3"/>
              </a:cxn>
              <a:cxn ang="0">
                <a:pos x="T4" y="T5"/>
              </a:cxn>
              <a:cxn ang="0">
                <a:pos x="T6" y="T7"/>
              </a:cxn>
            </a:cxnLst>
            <a:rect l="0" t="0" r="r" b="b"/>
            <a:pathLst>
              <a:path w="122" h="61">
                <a:moveTo>
                  <a:pt x="0" y="31"/>
                </a:moveTo>
                <a:lnTo>
                  <a:pt x="122" y="61"/>
                </a:lnTo>
                <a:lnTo>
                  <a:pt x="122" y="0"/>
                </a:lnTo>
                <a:lnTo>
                  <a:pt x="0"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01" name="Freeform 129"/>
          <p:cNvSpPr>
            <a:spLocks/>
          </p:cNvSpPr>
          <p:nvPr/>
        </p:nvSpPr>
        <p:spPr bwMode="auto">
          <a:xfrm>
            <a:off x="6064250" y="2854325"/>
            <a:ext cx="144463" cy="150813"/>
          </a:xfrm>
          <a:custGeom>
            <a:avLst/>
            <a:gdLst>
              <a:gd name="T0" fmla="*/ 0 w 91"/>
              <a:gd name="T1" fmla="*/ 95 h 95"/>
              <a:gd name="T2" fmla="*/ 91 w 91"/>
              <a:gd name="T3" fmla="*/ 50 h 95"/>
              <a:gd name="T4" fmla="*/ 0 w 91"/>
              <a:gd name="T5" fmla="*/ 0 h 95"/>
            </a:gdLst>
            <a:ahLst/>
            <a:cxnLst>
              <a:cxn ang="0">
                <a:pos x="T0" y="T1"/>
              </a:cxn>
              <a:cxn ang="0">
                <a:pos x="T2" y="T3"/>
              </a:cxn>
              <a:cxn ang="0">
                <a:pos x="T4" y="T5"/>
              </a:cxn>
            </a:cxnLst>
            <a:rect l="0" t="0" r="r" b="b"/>
            <a:pathLst>
              <a:path w="91" h="95">
                <a:moveTo>
                  <a:pt x="0" y="95"/>
                </a:moveTo>
                <a:lnTo>
                  <a:pt x="91" y="5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02" name="Freeform 130"/>
          <p:cNvSpPr>
            <a:spLocks/>
          </p:cNvSpPr>
          <p:nvPr/>
        </p:nvSpPr>
        <p:spPr bwMode="auto">
          <a:xfrm>
            <a:off x="6064250" y="3778250"/>
            <a:ext cx="144463" cy="150813"/>
          </a:xfrm>
          <a:custGeom>
            <a:avLst/>
            <a:gdLst>
              <a:gd name="T0" fmla="*/ 0 w 91"/>
              <a:gd name="T1" fmla="*/ 95 h 95"/>
              <a:gd name="T2" fmla="*/ 91 w 91"/>
              <a:gd name="T3" fmla="*/ 46 h 95"/>
              <a:gd name="T4" fmla="*/ 0 w 91"/>
              <a:gd name="T5" fmla="*/ 0 h 95"/>
            </a:gdLst>
            <a:ahLst/>
            <a:cxnLst>
              <a:cxn ang="0">
                <a:pos x="T0" y="T1"/>
              </a:cxn>
              <a:cxn ang="0">
                <a:pos x="T2" y="T3"/>
              </a:cxn>
              <a:cxn ang="0">
                <a:pos x="T4" y="T5"/>
              </a:cxn>
            </a:cxnLst>
            <a:rect l="0" t="0" r="r" b="b"/>
            <a:pathLst>
              <a:path w="91" h="95">
                <a:moveTo>
                  <a:pt x="0" y="95"/>
                </a:moveTo>
                <a:lnTo>
                  <a:pt x="91" y="46"/>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03" name="Freeform 131"/>
          <p:cNvSpPr>
            <a:spLocks/>
          </p:cNvSpPr>
          <p:nvPr/>
        </p:nvSpPr>
        <p:spPr bwMode="auto">
          <a:xfrm>
            <a:off x="6064250" y="4835525"/>
            <a:ext cx="144463" cy="150813"/>
          </a:xfrm>
          <a:custGeom>
            <a:avLst/>
            <a:gdLst>
              <a:gd name="T0" fmla="*/ 0 w 91"/>
              <a:gd name="T1" fmla="*/ 95 h 95"/>
              <a:gd name="T2" fmla="*/ 91 w 91"/>
              <a:gd name="T3" fmla="*/ 49 h 95"/>
              <a:gd name="T4" fmla="*/ 0 w 91"/>
              <a:gd name="T5" fmla="*/ 0 h 95"/>
            </a:gdLst>
            <a:ahLst/>
            <a:cxnLst>
              <a:cxn ang="0">
                <a:pos x="T0" y="T1"/>
              </a:cxn>
              <a:cxn ang="0">
                <a:pos x="T2" y="T3"/>
              </a:cxn>
              <a:cxn ang="0">
                <a:pos x="T4" y="T5"/>
              </a:cxn>
            </a:cxnLst>
            <a:rect l="0" t="0" r="r" b="b"/>
            <a:pathLst>
              <a:path w="91" h="95">
                <a:moveTo>
                  <a:pt x="0" y="95"/>
                </a:moveTo>
                <a:lnTo>
                  <a:pt x="91" y="49"/>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04" name="Freeform 132"/>
          <p:cNvSpPr>
            <a:spLocks/>
          </p:cNvSpPr>
          <p:nvPr/>
        </p:nvSpPr>
        <p:spPr bwMode="auto">
          <a:xfrm>
            <a:off x="6650038" y="2255838"/>
            <a:ext cx="161925" cy="157162"/>
          </a:xfrm>
          <a:custGeom>
            <a:avLst/>
            <a:gdLst>
              <a:gd name="T0" fmla="*/ 102 w 102"/>
              <a:gd name="T1" fmla="*/ 0 h 99"/>
              <a:gd name="T2" fmla="*/ 0 w 102"/>
              <a:gd name="T3" fmla="*/ 99 h 99"/>
              <a:gd name="T4" fmla="*/ 102 w 102"/>
              <a:gd name="T5" fmla="*/ 0 h 99"/>
            </a:gdLst>
            <a:ahLst/>
            <a:cxnLst>
              <a:cxn ang="0">
                <a:pos x="T0" y="T1"/>
              </a:cxn>
              <a:cxn ang="0">
                <a:pos x="T2" y="T3"/>
              </a:cxn>
              <a:cxn ang="0">
                <a:pos x="T4" y="T5"/>
              </a:cxn>
            </a:cxnLst>
            <a:rect l="0" t="0" r="r" b="b"/>
            <a:pathLst>
              <a:path w="102" h="99">
                <a:moveTo>
                  <a:pt x="102" y="0"/>
                </a:moveTo>
                <a:lnTo>
                  <a:pt x="0" y="99"/>
                </a:lnTo>
                <a:lnTo>
                  <a:pt x="10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05" name="Line 133"/>
          <p:cNvSpPr>
            <a:spLocks noChangeShapeType="1"/>
          </p:cNvSpPr>
          <p:nvPr/>
        </p:nvSpPr>
        <p:spPr bwMode="auto">
          <a:xfrm flipH="1">
            <a:off x="6650038" y="2255838"/>
            <a:ext cx="161925" cy="1571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64" name="Rectangle 192"/>
          <p:cNvSpPr>
            <a:spLocks noChangeArrowheads="1"/>
          </p:cNvSpPr>
          <p:nvPr/>
        </p:nvSpPr>
        <p:spPr bwMode="auto">
          <a:xfrm>
            <a:off x="6064250" y="2528888"/>
            <a:ext cx="1050925" cy="495300"/>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65" name="Rectangle 193"/>
          <p:cNvSpPr>
            <a:spLocks noChangeArrowheads="1"/>
          </p:cNvSpPr>
          <p:nvPr/>
        </p:nvSpPr>
        <p:spPr bwMode="auto">
          <a:xfrm>
            <a:off x="7718425" y="2528888"/>
            <a:ext cx="844550" cy="495300"/>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66" name="Rectangle 194"/>
          <p:cNvSpPr>
            <a:spLocks noChangeArrowheads="1"/>
          </p:cNvSpPr>
          <p:nvPr/>
        </p:nvSpPr>
        <p:spPr bwMode="auto">
          <a:xfrm>
            <a:off x="7718425" y="3440113"/>
            <a:ext cx="844550" cy="495300"/>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67" name="Rectangle 195"/>
          <p:cNvSpPr>
            <a:spLocks noChangeArrowheads="1"/>
          </p:cNvSpPr>
          <p:nvPr/>
        </p:nvSpPr>
        <p:spPr bwMode="auto">
          <a:xfrm>
            <a:off x="7416800" y="4508500"/>
            <a:ext cx="844550" cy="495300"/>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68" name="Rectangle 196"/>
          <p:cNvSpPr>
            <a:spLocks noChangeArrowheads="1"/>
          </p:cNvSpPr>
          <p:nvPr/>
        </p:nvSpPr>
        <p:spPr bwMode="auto">
          <a:xfrm>
            <a:off x="6064250" y="3452813"/>
            <a:ext cx="1050925" cy="500062"/>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69" name="Rectangle 197"/>
          <p:cNvSpPr>
            <a:spLocks noChangeArrowheads="1"/>
          </p:cNvSpPr>
          <p:nvPr/>
        </p:nvSpPr>
        <p:spPr bwMode="auto">
          <a:xfrm>
            <a:off x="6064250" y="4508500"/>
            <a:ext cx="1050925" cy="495300"/>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70" name="Line 198"/>
          <p:cNvSpPr>
            <a:spLocks noChangeShapeType="1"/>
          </p:cNvSpPr>
          <p:nvPr/>
        </p:nvSpPr>
        <p:spPr bwMode="auto">
          <a:xfrm>
            <a:off x="4578350" y="2625725"/>
            <a:ext cx="1316038" cy="1588"/>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71" name="Freeform 199"/>
          <p:cNvSpPr>
            <a:spLocks/>
          </p:cNvSpPr>
          <p:nvPr/>
        </p:nvSpPr>
        <p:spPr bwMode="auto">
          <a:xfrm>
            <a:off x="5857875" y="2582863"/>
            <a:ext cx="193675" cy="96837"/>
          </a:xfrm>
          <a:custGeom>
            <a:avLst/>
            <a:gdLst>
              <a:gd name="T0" fmla="*/ 122 w 122"/>
              <a:gd name="T1" fmla="*/ 30 h 61"/>
              <a:gd name="T2" fmla="*/ 0 w 122"/>
              <a:gd name="T3" fmla="*/ 0 h 61"/>
              <a:gd name="T4" fmla="*/ 0 w 122"/>
              <a:gd name="T5" fmla="*/ 61 h 61"/>
              <a:gd name="T6" fmla="*/ 122 w 122"/>
              <a:gd name="T7" fmla="*/ 30 h 61"/>
            </a:gdLst>
            <a:ahLst/>
            <a:cxnLst>
              <a:cxn ang="0">
                <a:pos x="T0" y="T1"/>
              </a:cxn>
              <a:cxn ang="0">
                <a:pos x="T2" y="T3"/>
              </a:cxn>
              <a:cxn ang="0">
                <a:pos x="T4" y="T5"/>
              </a:cxn>
              <a:cxn ang="0">
                <a:pos x="T6" y="T7"/>
              </a:cxn>
            </a:cxnLst>
            <a:rect l="0" t="0" r="r" b="b"/>
            <a:pathLst>
              <a:path w="122" h="61">
                <a:moveTo>
                  <a:pt x="122" y="30"/>
                </a:moveTo>
                <a:lnTo>
                  <a:pt x="0" y="0"/>
                </a:lnTo>
                <a:lnTo>
                  <a:pt x="0" y="61"/>
                </a:lnTo>
                <a:lnTo>
                  <a:pt x="122"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72" name="Line 200"/>
          <p:cNvSpPr>
            <a:spLocks noChangeShapeType="1"/>
          </p:cNvSpPr>
          <p:nvPr/>
        </p:nvSpPr>
        <p:spPr bwMode="auto">
          <a:xfrm>
            <a:off x="4578350" y="2770188"/>
            <a:ext cx="1316038" cy="1587"/>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73" name="Freeform 201"/>
          <p:cNvSpPr>
            <a:spLocks/>
          </p:cNvSpPr>
          <p:nvPr/>
        </p:nvSpPr>
        <p:spPr bwMode="auto">
          <a:xfrm>
            <a:off x="5857875" y="2727325"/>
            <a:ext cx="193675" cy="96838"/>
          </a:xfrm>
          <a:custGeom>
            <a:avLst/>
            <a:gdLst>
              <a:gd name="T0" fmla="*/ 122 w 122"/>
              <a:gd name="T1" fmla="*/ 31 h 61"/>
              <a:gd name="T2" fmla="*/ 0 w 122"/>
              <a:gd name="T3" fmla="*/ 0 h 61"/>
              <a:gd name="T4" fmla="*/ 0 w 122"/>
              <a:gd name="T5" fmla="*/ 61 h 61"/>
              <a:gd name="T6" fmla="*/ 122 w 122"/>
              <a:gd name="T7" fmla="*/ 31 h 61"/>
            </a:gdLst>
            <a:ahLst/>
            <a:cxnLst>
              <a:cxn ang="0">
                <a:pos x="T0" y="T1"/>
              </a:cxn>
              <a:cxn ang="0">
                <a:pos x="T2" y="T3"/>
              </a:cxn>
              <a:cxn ang="0">
                <a:pos x="T4" y="T5"/>
              </a:cxn>
              <a:cxn ang="0">
                <a:pos x="T6" y="T7"/>
              </a:cxn>
            </a:cxnLst>
            <a:rect l="0" t="0" r="r" b="b"/>
            <a:pathLst>
              <a:path w="122" h="61">
                <a:moveTo>
                  <a:pt x="122" y="31"/>
                </a:moveTo>
                <a:lnTo>
                  <a:pt x="0" y="0"/>
                </a:lnTo>
                <a:lnTo>
                  <a:pt x="0" y="61"/>
                </a:lnTo>
                <a:lnTo>
                  <a:pt x="122"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74" name="Line 202"/>
          <p:cNvSpPr>
            <a:spLocks noChangeShapeType="1"/>
          </p:cNvSpPr>
          <p:nvPr/>
        </p:nvSpPr>
        <p:spPr bwMode="auto">
          <a:xfrm>
            <a:off x="4578350" y="3548063"/>
            <a:ext cx="1316038" cy="1587"/>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75" name="Freeform 203"/>
          <p:cNvSpPr>
            <a:spLocks/>
          </p:cNvSpPr>
          <p:nvPr/>
        </p:nvSpPr>
        <p:spPr bwMode="auto">
          <a:xfrm>
            <a:off x="5857875" y="3506788"/>
            <a:ext cx="193675" cy="96837"/>
          </a:xfrm>
          <a:custGeom>
            <a:avLst/>
            <a:gdLst>
              <a:gd name="T0" fmla="*/ 122 w 122"/>
              <a:gd name="T1" fmla="*/ 30 h 61"/>
              <a:gd name="T2" fmla="*/ 0 w 122"/>
              <a:gd name="T3" fmla="*/ 0 h 61"/>
              <a:gd name="T4" fmla="*/ 0 w 122"/>
              <a:gd name="T5" fmla="*/ 61 h 61"/>
              <a:gd name="T6" fmla="*/ 122 w 122"/>
              <a:gd name="T7" fmla="*/ 30 h 61"/>
            </a:gdLst>
            <a:ahLst/>
            <a:cxnLst>
              <a:cxn ang="0">
                <a:pos x="T0" y="T1"/>
              </a:cxn>
              <a:cxn ang="0">
                <a:pos x="T2" y="T3"/>
              </a:cxn>
              <a:cxn ang="0">
                <a:pos x="T4" y="T5"/>
              </a:cxn>
              <a:cxn ang="0">
                <a:pos x="T6" y="T7"/>
              </a:cxn>
            </a:cxnLst>
            <a:rect l="0" t="0" r="r" b="b"/>
            <a:pathLst>
              <a:path w="122" h="61">
                <a:moveTo>
                  <a:pt x="122" y="30"/>
                </a:moveTo>
                <a:lnTo>
                  <a:pt x="0" y="0"/>
                </a:lnTo>
                <a:lnTo>
                  <a:pt x="0" y="61"/>
                </a:lnTo>
                <a:lnTo>
                  <a:pt x="122"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76" name="Line 204"/>
          <p:cNvSpPr>
            <a:spLocks noChangeShapeType="1"/>
          </p:cNvSpPr>
          <p:nvPr/>
        </p:nvSpPr>
        <p:spPr bwMode="auto">
          <a:xfrm>
            <a:off x="4578350" y="3694113"/>
            <a:ext cx="1316038" cy="1587"/>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77" name="Freeform 205"/>
          <p:cNvSpPr>
            <a:spLocks/>
          </p:cNvSpPr>
          <p:nvPr/>
        </p:nvSpPr>
        <p:spPr bwMode="auto">
          <a:xfrm>
            <a:off x="5857875" y="3651250"/>
            <a:ext cx="193675" cy="96838"/>
          </a:xfrm>
          <a:custGeom>
            <a:avLst/>
            <a:gdLst>
              <a:gd name="T0" fmla="*/ 122 w 122"/>
              <a:gd name="T1" fmla="*/ 31 h 61"/>
              <a:gd name="T2" fmla="*/ 0 w 122"/>
              <a:gd name="T3" fmla="*/ 0 h 61"/>
              <a:gd name="T4" fmla="*/ 0 w 122"/>
              <a:gd name="T5" fmla="*/ 61 h 61"/>
              <a:gd name="T6" fmla="*/ 122 w 122"/>
              <a:gd name="T7" fmla="*/ 31 h 61"/>
            </a:gdLst>
            <a:ahLst/>
            <a:cxnLst>
              <a:cxn ang="0">
                <a:pos x="T0" y="T1"/>
              </a:cxn>
              <a:cxn ang="0">
                <a:pos x="T2" y="T3"/>
              </a:cxn>
              <a:cxn ang="0">
                <a:pos x="T4" y="T5"/>
              </a:cxn>
              <a:cxn ang="0">
                <a:pos x="T6" y="T7"/>
              </a:cxn>
            </a:cxnLst>
            <a:rect l="0" t="0" r="r" b="b"/>
            <a:pathLst>
              <a:path w="122" h="61">
                <a:moveTo>
                  <a:pt x="122" y="31"/>
                </a:moveTo>
                <a:lnTo>
                  <a:pt x="0" y="0"/>
                </a:lnTo>
                <a:lnTo>
                  <a:pt x="0" y="61"/>
                </a:lnTo>
                <a:lnTo>
                  <a:pt x="122" y="3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78" name="Line 206"/>
          <p:cNvSpPr>
            <a:spLocks noChangeShapeType="1"/>
          </p:cNvSpPr>
          <p:nvPr/>
        </p:nvSpPr>
        <p:spPr bwMode="auto">
          <a:xfrm>
            <a:off x="4578350" y="4598988"/>
            <a:ext cx="1316038" cy="1587"/>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79" name="Freeform 207"/>
          <p:cNvSpPr>
            <a:spLocks/>
          </p:cNvSpPr>
          <p:nvPr/>
        </p:nvSpPr>
        <p:spPr bwMode="auto">
          <a:xfrm>
            <a:off x="5857875" y="4557713"/>
            <a:ext cx="193675" cy="96837"/>
          </a:xfrm>
          <a:custGeom>
            <a:avLst/>
            <a:gdLst>
              <a:gd name="T0" fmla="*/ 122 w 122"/>
              <a:gd name="T1" fmla="*/ 30 h 61"/>
              <a:gd name="T2" fmla="*/ 0 w 122"/>
              <a:gd name="T3" fmla="*/ 0 h 61"/>
              <a:gd name="T4" fmla="*/ 0 w 122"/>
              <a:gd name="T5" fmla="*/ 61 h 61"/>
              <a:gd name="T6" fmla="*/ 122 w 122"/>
              <a:gd name="T7" fmla="*/ 30 h 61"/>
            </a:gdLst>
            <a:ahLst/>
            <a:cxnLst>
              <a:cxn ang="0">
                <a:pos x="T0" y="T1"/>
              </a:cxn>
              <a:cxn ang="0">
                <a:pos x="T2" y="T3"/>
              </a:cxn>
              <a:cxn ang="0">
                <a:pos x="T4" y="T5"/>
              </a:cxn>
              <a:cxn ang="0">
                <a:pos x="T6" y="T7"/>
              </a:cxn>
            </a:cxnLst>
            <a:rect l="0" t="0" r="r" b="b"/>
            <a:pathLst>
              <a:path w="122" h="61">
                <a:moveTo>
                  <a:pt x="122" y="30"/>
                </a:moveTo>
                <a:lnTo>
                  <a:pt x="0" y="0"/>
                </a:lnTo>
                <a:lnTo>
                  <a:pt x="0" y="61"/>
                </a:lnTo>
                <a:lnTo>
                  <a:pt x="122"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80" name="Line 208"/>
          <p:cNvSpPr>
            <a:spLocks noChangeShapeType="1"/>
          </p:cNvSpPr>
          <p:nvPr/>
        </p:nvSpPr>
        <p:spPr bwMode="auto">
          <a:xfrm flipH="1">
            <a:off x="4735513" y="2130425"/>
            <a:ext cx="971550" cy="1588"/>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82" name="Freeform 210"/>
          <p:cNvSpPr>
            <a:spLocks/>
          </p:cNvSpPr>
          <p:nvPr/>
        </p:nvSpPr>
        <p:spPr bwMode="auto">
          <a:xfrm>
            <a:off x="6594475" y="3108325"/>
            <a:ext cx="1244600" cy="2022475"/>
          </a:xfrm>
          <a:custGeom>
            <a:avLst/>
            <a:gdLst>
              <a:gd name="T0" fmla="*/ 0 w 784"/>
              <a:gd name="T1" fmla="*/ 106 h 1274"/>
              <a:gd name="T2" fmla="*/ 0 w 784"/>
              <a:gd name="T3" fmla="*/ 0 h 1274"/>
              <a:gd name="T4" fmla="*/ 434 w 784"/>
              <a:gd name="T5" fmla="*/ 0 h 1274"/>
              <a:gd name="T6" fmla="*/ 434 w 784"/>
              <a:gd name="T7" fmla="*/ 1274 h 1274"/>
              <a:gd name="T8" fmla="*/ 784 w 784"/>
              <a:gd name="T9" fmla="*/ 1274 h 1274"/>
              <a:gd name="T10" fmla="*/ 784 w 784"/>
              <a:gd name="T11" fmla="*/ 1198 h 1274"/>
            </a:gdLst>
            <a:ahLst/>
            <a:cxnLst>
              <a:cxn ang="0">
                <a:pos x="T0" y="T1"/>
              </a:cxn>
              <a:cxn ang="0">
                <a:pos x="T2" y="T3"/>
              </a:cxn>
              <a:cxn ang="0">
                <a:pos x="T4" y="T5"/>
              </a:cxn>
              <a:cxn ang="0">
                <a:pos x="T6" y="T7"/>
              </a:cxn>
              <a:cxn ang="0">
                <a:pos x="T8" y="T9"/>
              </a:cxn>
              <a:cxn ang="0">
                <a:pos x="T10" y="T11"/>
              </a:cxn>
            </a:cxnLst>
            <a:rect l="0" t="0" r="r" b="b"/>
            <a:pathLst>
              <a:path w="784" h="1274">
                <a:moveTo>
                  <a:pt x="0" y="106"/>
                </a:moveTo>
                <a:lnTo>
                  <a:pt x="0" y="0"/>
                </a:lnTo>
                <a:lnTo>
                  <a:pt x="434" y="0"/>
                </a:lnTo>
                <a:lnTo>
                  <a:pt x="434" y="1274"/>
                </a:lnTo>
                <a:lnTo>
                  <a:pt x="784" y="1274"/>
                </a:lnTo>
                <a:lnTo>
                  <a:pt x="784" y="1198"/>
                </a:lnTo>
              </a:path>
            </a:pathLst>
          </a:custGeom>
          <a:noFill/>
          <a:ln w="349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883" name="Freeform 211"/>
          <p:cNvSpPr>
            <a:spLocks/>
          </p:cNvSpPr>
          <p:nvPr/>
        </p:nvSpPr>
        <p:spPr bwMode="auto">
          <a:xfrm>
            <a:off x="6540500" y="3241675"/>
            <a:ext cx="96838" cy="192088"/>
          </a:xfrm>
          <a:custGeom>
            <a:avLst/>
            <a:gdLst>
              <a:gd name="T0" fmla="*/ 31 w 61"/>
              <a:gd name="T1" fmla="*/ 121 h 121"/>
              <a:gd name="T2" fmla="*/ 61 w 61"/>
              <a:gd name="T3" fmla="*/ 0 h 121"/>
              <a:gd name="T4" fmla="*/ 0 w 61"/>
              <a:gd name="T5" fmla="*/ 0 h 121"/>
              <a:gd name="T6" fmla="*/ 31 w 61"/>
              <a:gd name="T7" fmla="*/ 121 h 121"/>
            </a:gdLst>
            <a:ahLst/>
            <a:cxnLst>
              <a:cxn ang="0">
                <a:pos x="T0" y="T1"/>
              </a:cxn>
              <a:cxn ang="0">
                <a:pos x="T2" y="T3"/>
              </a:cxn>
              <a:cxn ang="0">
                <a:pos x="T4" y="T5"/>
              </a:cxn>
              <a:cxn ang="0">
                <a:pos x="T6" y="T7"/>
              </a:cxn>
            </a:cxnLst>
            <a:rect l="0" t="0" r="r" b="b"/>
            <a:pathLst>
              <a:path w="61" h="121">
                <a:moveTo>
                  <a:pt x="31" y="121"/>
                </a:moveTo>
                <a:lnTo>
                  <a:pt x="61" y="0"/>
                </a:lnTo>
                <a:lnTo>
                  <a:pt x="0" y="0"/>
                </a:lnTo>
                <a:lnTo>
                  <a:pt x="3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84" name="Line 212"/>
          <p:cNvSpPr>
            <a:spLocks noChangeShapeType="1"/>
          </p:cNvSpPr>
          <p:nvPr/>
        </p:nvSpPr>
        <p:spPr bwMode="auto">
          <a:xfrm flipV="1">
            <a:off x="6594475" y="3959225"/>
            <a:ext cx="1588" cy="387350"/>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85" name="Freeform 213"/>
          <p:cNvSpPr>
            <a:spLocks/>
          </p:cNvSpPr>
          <p:nvPr/>
        </p:nvSpPr>
        <p:spPr bwMode="auto">
          <a:xfrm>
            <a:off x="6540500" y="4310063"/>
            <a:ext cx="96838" cy="192087"/>
          </a:xfrm>
          <a:custGeom>
            <a:avLst/>
            <a:gdLst>
              <a:gd name="T0" fmla="*/ 31 w 61"/>
              <a:gd name="T1" fmla="*/ 121 h 121"/>
              <a:gd name="T2" fmla="*/ 61 w 61"/>
              <a:gd name="T3" fmla="*/ 0 h 121"/>
              <a:gd name="T4" fmla="*/ 0 w 61"/>
              <a:gd name="T5" fmla="*/ 0 h 121"/>
              <a:gd name="T6" fmla="*/ 31 w 61"/>
              <a:gd name="T7" fmla="*/ 121 h 121"/>
            </a:gdLst>
            <a:ahLst/>
            <a:cxnLst>
              <a:cxn ang="0">
                <a:pos x="T0" y="T1"/>
              </a:cxn>
              <a:cxn ang="0">
                <a:pos x="T2" y="T3"/>
              </a:cxn>
              <a:cxn ang="0">
                <a:pos x="T4" y="T5"/>
              </a:cxn>
              <a:cxn ang="0">
                <a:pos x="T6" y="T7"/>
              </a:cxn>
            </a:cxnLst>
            <a:rect l="0" t="0" r="r" b="b"/>
            <a:pathLst>
              <a:path w="61" h="121">
                <a:moveTo>
                  <a:pt x="31" y="121"/>
                </a:moveTo>
                <a:lnTo>
                  <a:pt x="61" y="0"/>
                </a:lnTo>
                <a:lnTo>
                  <a:pt x="0" y="0"/>
                </a:lnTo>
                <a:lnTo>
                  <a:pt x="3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86" name="Line 214"/>
          <p:cNvSpPr>
            <a:spLocks noChangeShapeType="1"/>
          </p:cNvSpPr>
          <p:nvPr/>
        </p:nvSpPr>
        <p:spPr bwMode="auto">
          <a:xfrm flipV="1">
            <a:off x="6594475" y="5010150"/>
            <a:ext cx="1588" cy="385763"/>
          </a:xfrm>
          <a:prstGeom prst="line">
            <a:avLst/>
          </a:prstGeom>
          <a:noFill/>
          <a:ln w="349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887" name="Freeform 215"/>
          <p:cNvSpPr>
            <a:spLocks/>
          </p:cNvSpPr>
          <p:nvPr/>
        </p:nvSpPr>
        <p:spPr bwMode="auto">
          <a:xfrm>
            <a:off x="6540500" y="5360988"/>
            <a:ext cx="96838" cy="192087"/>
          </a:xfrm>
          <a:custGeom>
            <a:avLst/>
            <a:gdLst>
              <a:gd name="T0" fmla="*/ 31 w 61"/>
              <a:gd name="T1" fmla="*/ 121 h 121"/>
              <a:gd name="T2" fmla="*/ 61 w 61"/>
              <a:gd name="T3" fmla="*/ 0 h 121"/>
              <a:gd name="T4" fmla="*/ 0 w 61"/>
              <a:gd name="T5" fmla="*/ 0 h 121"/>
              <a:gd name="T6" fmla="*/ 31 w 61"/>
              <a:gd name="T7" fmla="*/ 121 h 121"/>
            </a:gdLst>
            <a:ahLst/>
            <a:cxnLst>
              <a:cxn ang="0">
                <a:pos x="T0" y="T1"/>
              </a:cxn>
              <a:cxn ang="0">
                <a:pos x="T2" y="T3"/>
              </a:cxn>
              <a:cxn ang="0">
                <a:pos x="T4" y="T5"/>
              </a:cxn>
              <a:cxn ang="0">
                <a:pos x="T6" y="T7"/>
              </a:cxn>
            </a:cxnLst>
            <a:rect l="0" t="0" r="r" b="b"/>
            <a:pathLst>
              <a:path w="61" h="121">
                <a:moveTo>
                  <a:pt x="31" y="121"/>
                </a:moveTo>
                <a:lnTo>
                  <a:pt x="61" y="0"/>
                </a:lnTo>
                <a:lnTo>
                  <a:pt x="0" y="0"/>
                </a:lnTo>
                <a:lnTo>
                  <a:pt x="3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888" name="Rectangle 216"/>
          <p:cNvSpPr>
            <a:spLocks noChangeArrowheads="1"/>
          </p:cNvSpPr>
          <p:nvPr/>
        </p:nvSpPr>
        <p:spPr bwMode="auto">
          <a:xfrm>
            <a:off x="4879975" y="1868488"/>
            <a:ext cx="6334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i_lt_256</a:t>
            </a:r>
            <a:endParaRPr lang="en-US" altLang="en-US"/>
          </a:p>
        </p:txBody>
      </p:sp>
      <p:sp>
        <p:nvSpPr>
          <p:cNvPr id="540889" name="Rectangle 217"/>
          <p:cNvSpPr>
            <a:spLocks noChangeArrowheads="1"/>
          </p:cNvSpPr>
          <p:nvPr/>
        </p:nvSpPr>
        <p:spPr bwMode="auto">
          <a:xfrm>
            <a:off x="4879975" y="2384425"/>
            <a:ext cx="51435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i_inc</a:t>
            </a:r>
            <a:endParaRPr lang="en-US" altLang="en-US"/>
          </a:p>
        </p:txBody>
      </p:sp>
      <p:sp>
        <p:nvSpPr>
          <p:cNvPr id="540890" name="Rectangle 218"/>
          <p:cNvSpPr>
            <a:spLocks noChangeArrowheads="1"/>
          </p:cNvSpPr>
          <p:nvPr/>
        </p:nvSpPr>
        <p:spPr bwMode="auto">
          <a:xfrm>
            <a:off x="4892675" y="2792413"/>
            <a:ext cx="3476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i_clr</a:t>
            </a:r>
            <a:endParaRPr lang="en-US" altLang="en-US"/>
          </a:p>
        </p:txBody>
      </p:sp>
      <p:sp>
        <p:nvSpPr>
          <p:cNvPr id="540891" name="Rectangle 219"/>
          <p:cNvSpPr>
            <a:spLocks noChangeArrowheads="1"/>
          </p:cNvSpPr>
          <p:nvPr/>
        </p:nvSpPr>
        <p:spPr bwMode="auto">
          <a:xfrm>
            <a:off x="4892675" y="3281363"/>
            <a:ext cx="754063"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sum_ld</a:t>
            </a:r>
            <a:endParaRPr lang="en-US" altLang="en-US"/>
          </a:p>
        </p:txBody>
      </p:sp>
      <p:sp>
        <p:nvSpPr>
          <p:cNvPr id="540892" name="Rectangle 220"/>
          <p:cNvSpPr>
            <a:spLocks noChangeArrowheads="1"/>
          </p:cNvSpPr>
          <p:nvPr/>
        </p:nvSpPr>
        <p:spPr bwMode="auto">
          <a:xfrm>
            <a:off x="4892675" y="3730625"/>
            <a:ext cx="6127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sum_clr</a:t>
            </a:r>
            <a:endParaRPr lang="en-US" altLang="en-US"/>
          </a:p>
        </p:txBody>
      </p:sp>
      <p:sp>
        <p:nvSpPr>
          <p:cNvPr id="540893" name="Rectangle 221"/>
          <p:cNvSpPr>
            <a:spLocks noChangeArrowheads="1"/>
          </p:cNvSpPr>
          <p:nvPr/>
        </p:nvSpPr>
        <p:spPr bwMode="auto">
          <a:xfrm>
            <a:off x="4892675" y="4332288"/>
            <a:ext cx="9461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sad_reg_ld</a:t>
            </a:r>
            <a:endParaRPr lang="en-US" altLang="en-US"/>
          </a:p>
        </p:txBody>
      </p:sp>
      <p:sp>
        <p:nvSpPr>
          <p:cNvPr id="540896" name="Rectangle 224"/>
          <p:cNvSpPr>
            <a:spLocks noChangeArrowheads="1"/>
          </p:cNvSpPr>
          <p:nvPr/>
        </p:nvSpPr>
        <p:spPr bwMode="auto">
          <a:xfrm>
            <a:off x="4892675" y="5156200"/>
            <a:ext cx="774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Datapath</a:t>
            </a:r>
            <a:endParaRPr lang="en-US" altLang="en-US"/>
          </a:p>
        </p:txBody>
      </p:sp>
      <p:sp>
        <p:nvSpPr>
          <p:cNvPr id="540901" name="Rectangle 229"/>
          <p:cNvSpPr>
            <a:spLocks noChangeArrowheads="1"/>
          </p:cNvSpPr>
          <p:nvPr/>
        </p:nvSpPr>
        <p:spPr bwMode="auto">
          <a:xfrm>
            <a:off x="6416675" y="3579813"/>
            <a:ext cx="47783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a:t>
            </a:r>
            <a:endParaRPr lang="en-US" altLang="en-US"/>
          </a:p>
        </p:txBody>
      </p:sp>
      <p:sp>
        <p:nvSpPr>
          <p:cNvPr id="540902" name="Rectangle 230"/>
          <p:cNvSpPr>
            <a:spLocks noChangeArrowheads="1"/>
          </p:cNvSpPr>
          <p:nvPr/>
        </p:nvSpPr>
        <p:spPr bwMode="auto">
          <a:xfrm>
            <a:off x="6269038" y="4630738"/>
            <a:ext cx="6905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sad_reg</a:t>
            </a:r>
            <a:endParaRPr lang="en-US" altLang="en-US"/>
          </a:p>
        </p:txBody>
      </p:sp>
      <p:sp>
        <p:nvSpPr>
          <p:cNvPr id="540905" name="Rectangle 233"/>
          <p:cNvSpPr>
            <a:spLocks noChangeArrowheads="1"/>
          </p:cNvSpPr>
          <p:nvPr/>
        </p:nvSpPr>
        <p:spPr bwMode="auto">
          <a:xfrm>
            <a:off x="6450013" y="5518150"/>
            <a:ext cx="4222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a:t>
            </a:r>
            <a:endParaRPr lang="en-US" altLang="en-US"/>
          </a:p>
        </p:txBody>
      </p:sp>
      <p:sp>
        <p:nvSpPr>
          <p:cNvPr id="540906" name="Rectangle 234"/>
          <p:cNvSpPr>
            <a:spLocks noChangeArrowheads="1"/>
          </p:cNvSpPr>
          <p:nvPr/>
        </p:nvSpPr>
        <p:spPr bwMode="auto">
          <a:xfrm>
            <a:off x="6386513" y="1379538"/>
            <a:ext cx="698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AB_addr</a:t>
            </a:r>
            <a:endParaRPr lang="en-US" altLang="en-US"/>
          </a:p>
        </p:txBody>
      </p:sp>
      <p:sp>
        <p:nvSpPr>
          <p:cNvPr id="540907" name="Rectangle 235"/>
          <p:cNvSpPr>
            <a:spLocks noChangeArrowheads="1"/>
          </p:cNvSpPr>
          <p:nvPr/>
        </p:nvSpPr>
        <p:spPr bwMode="auto">
          <a:xfrm>
            <a:off x="7416800" y="1379538"/>
            <a:ext cx="6048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A_data</a:t>
            </a:r>
            <a:endParaRPr lang="en-US" altLang="en-US"/>
          </a:p>
        </p:txBody>
      </p:sp>
      <p:sp>
        <p:nvSpPr>
          <p:cNvPr id="540910" name="Rectangle 238"/>
          <p:cNvSpPr>
            <a:spLocks noChangeArrowheads="1"/>
          </p:cNvSpPr>
          <p:nvPr/>
        </p:nvSpPr>
        <p:spPr bwMode="auto">
          <a:xfrm>
            <a:off x="8201025" y="1379538"/>
            <a:ext cx="6048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B_data</a:t>
            </a:r>
            <a:endParaRPr lang="en-US" altLang="en-US"/>
          </a:p>
        </p:txBody>
      </p:sp>
      <p:sp>
        <p:nvSpPr>
          <p:cNvPr id="540913" name="Rectangle 241"/>
          <p:cNvSpPr>
            <a:spLocks noChangeArrowheads="1"/>
          </p:cNvSpPr>
          <p:nvPr/>
        </p:nvSpPr>
        <p:spPr bwMode="auto">
          <a:xfrm>
            <a:off x="5811838" y="2001838"/>
            <a:ext cx="55562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&lt;256</a:t>
            </a:r>
            <a:endParaRPr lang="en-US" altLang="en-US"/>
          </a:p>
        </p:txBody>
      </p:sp>
      <p:sp>
        <p:nvSpPr>
          <p:cNvPr id="540914" name="Rectangle 242"/>
          <p:cNvSpPr>
            <a:spLocks noChangeArrowheads="1"/>
          </p:cNvSpPr>
          <p:nvPr/>
        </p:nvSpPr>
        <p:spPr bwMode="auto">
          <a:xfrm>
            <a:off x="5707063" y="1949450"/>
            <a:ext cx="646112" cy="349250"/>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915" name="Rectangle 243"/>
          <p:cNvSpPr>
            <a:spLocks noChangeArrowheads="1"/>
          </p:cNvSpPr>
          <p:nvPr/>
        </p:nvSpPr>
        <p:spPr bwMode="auto">
          <a:xfrm>
            <a:off x="6838950" y="2220913"/>
            <a:ext cx="2047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9</a:t>
            </a:r>
            <a:endParaRPr lang="en-US" altLang="en-US"/>
          </a:p>
        </p:txBody>
      </p:sp>
      <p:sp>
        <p:nvSpPr>
          <p:cNvPr id="540916" name="Freeform 244"/>
          <p:cNvSpPr>
            <a:spLocks/>
          </p:cNvSpPr>
          <p:nvPr/>
        </p:nvSpPr>
        <p:spPr bwMode="auto">
          <a:xfrm>
            <a:off x="7210425" y="3554413"/>
            <a:ext cx="157163" cy="157162"/>
          </a:xfrm>
          <a:custGeom>
            <a:avLst/>
            <a:gdLst>
              <a:gd name="T0" fmla="*/ 99 w 99"/>
              <a:gd name="T1" fmla="*/ 0 h 99"/>
              <a:gd name="T2" fmla="*/ 0 w 99"/>
              <a:gd name="T3" fmla="*/ 99 h 99"/>
              <a:gd name="T4" fmla="*/ 99 w 99"/>
              <a:gd name="T5" fmla="*/ 0 h 99"/>
            </a:gdLst>
            <a:ahLst/>
            <a:cxnLst>
              <a:cxn ang="0">
                <a:pos x="T0" y="T1"/>
              </a:cxn>
              <a:cxn ang="0">
                <a:pos x="T2" y="T3"/>
              </a:cxn>
              <a:cxn ang="0">
                <a:pos x="T4" y="T5"/>
              </a:cxn>
            </a:cxnLst>
            <a:rect l="0" t="0" r="r" b="b"/>
            <a:pathLst>
              <a:path w="99" h="99">
                <a:moveTo>
                  <a:pt x="99" y="0"/>
                </a:moveTo>
                <a:lnTo>
                  <a:pt x="0" y="99"/>
                </a:lnTo>
                <a:lnTo>
                  <a:pt x="9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17" name="Line 245"/>
          <p:cNvSpPr>
            <a:spLocks noChangeShapeType="1"/>
          </p:cNvSpPr>
          <p:nvPr/>
        </p:nvSpPr>
        <p:spPr bwMode="auto">
          <a:xfrm flipH="1">
            <a:off x="7210425" y="3554413"/>
            <a:ext cx="157163" cy="1571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18" name="Freeform 246"/>
          <p:cNvSpPr>
            <a:spLocks/>
          </p:cNvSpPr>
          <p:nvPr/>
        </p:nvSpPr>
        <p:spPr bwMode="auto">
          <a:xfrm>
            <a:off x="7018338" y="3995738"/>
            <a:ext cx="157162" cy="157162"/>
          </a:xfrm>
          <a:custGeom>
            <a:avLst/>
            <a:gdLst>
              <a:gd name="T0" fmla="*/ 99 w 99"/>
              <a:gd name="T1" fmla="*/ 0 h 99"/>
              <a:gd name="T2" fmla="*/ 0 w 99"/>
              <a:gd name="T3" fmla="*/ 99 h 99"/>
              <a:gd name="T4" fmla="*/ 99 w 99"/>
              <a:gd name="T5" fmla="*/ 0 h 99"/>
            </a:gdLst>
            <a:ahLst/>
            <a:cxnLst>
              <a:cxn ang="0">
                <a:pos x="T0" y="T1"/>
              </a:cxn>
              <a:cxn ang="0">
                <a:pos x="T2" y="T3"/>
              </a:cxn>
              <a:cxn ang="0">
                <a:pos x="T4" y="T5"/>
              </a:cxn>
            </a:cxnLst>
            <a:rect l="0" t="0" r="r" b="b"/>
            <a:pathLst>
              <a:path w="99" h="99">
                <a:moveTo>
                  <a:pt x="99" y="0"/>
                </a:moveTo>
                <a:lnTo>
                  <a:pt x="0" y="99"/>
                </a:lnTo>
                <a:lnTo>
                  <a:pt x="9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19" name="Line 247"/>
          <p:cNvSpPr>
            <a:spLocks noChangeShapeType="1"/>
          </p:cNvSpPr>
          <p:nvPr/>
        </p:nvSpPr>
        <p:spPr bwMode="auto">
          <a:xfrm flipH="1">
            <a:off x="7018338" y="3995738"/>
            <a:ext cx="157162" cy="1571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20" name="Freeform 248"/>
          <p:cNvSpPr>
            <a:spLocks/>
          </p:cNvSpPr>
          <p:nvPr/>
        </p:nvSpPr>
        <p:spPr bwMode="auto">
          <a:xfrm>
            <a:off x="6516688" y="4129088"/>
            <a:ext cx="163512" cy="157162"/>
          </a:xfrm>
          <a:custGeom>
            <a:avLst/>
            <a:gdLst>
              <a:gd name="T0" fmla="*/ 103 w 103"/>
              <a:gd name="T1" fmla="*/ 0 h 99"/>
              <a:gd name="T2" fmla="*/ 0 w 103"/>
              <a:gd name="T3" fmla="*/ 99 h 99"/>
              <a:gd name="T4" fmla="*/ 103 w 103"/>
              <a:gd name="T5" fmla="*/ 0 h 99"/>
            </a:gdLst>
            <a:ahLst/>
            <a:cxnLst>
              <a:cxn ang="0">
                <a:pos x="T0" y="T1"/>
              </a:cxn>
              <a:cxn ang="0">
                <a:pos x="T2" y="T3"/>
              </a:cxn>
              <a:cxn ang="0">
                <a:pos x="T4" y="T5"/>
              </a:cxn>
            </a:cxnLst>
            <a:rect l="0" t="0" r="r" b="b"/>
            <a:pathLst>
              <a:path w="103" h="99">
                <a:moveTo>
                  <a:pt x="103" y="0"/>
                </a:moveTo>
                <a:lnTo>
                  <a:pt x="0" y="99"/>
                </a:lnTo>
                <a:lnTo>
                  <a:pt x="10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21" name="Line 249"/>
          <p:cNvSpPr>
            <a:spLocks noChangeShapeType="1"/>
          </p:cNvSpPr>
          <p:nvPr/>
        </p:nvSpPr>
        <p:spPr bwMode="auto">
          <a:xfrm flipH="1">
            <a:off x="6516688" y="4129088"/>
            <a:ext cx="163512" cy="1571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22" name="Rectangle 250"/>
          <p:cNvSpPr>
            <a:spLocks noChangeArrowheads="1"/>
          </p:cNvSpPr>
          <p:nvPr/>
        </p:nvSpPr>
        <p:spPr bwMode="auto">
          <a:xfrm>
            <a:off x="7397750" y="3519488"/>
            <a:ext cx="3206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a:p>
        </p:txBody>
      </p:sp>
      <p:sp>
        <p:nvSpPr>
          <p:cNvPr id="540923" name="Freeform 251"/>
          <p:cNvSpPr>
            <a:spLocks/>
          </p:cNvSpPr>
          <p:nvPr/>
        </p:nvSpPr>
        <p:spPr bwMode="auto">
          <a:xfrm>
            <a:off x="7851775" y="4068763"/>
            <a:ext cx="155575" cy="157162"/>
          </a:xfrm>
          <a:custGeom>
            <a:avLst/>
            <a:gdLst>
              <a:gd name="T0" fmla="*/ 98 w 98"/>
              <a:gd name="T1" fmla="*/ 0 h 99"/>
              <a:gd name="T2" fmla="*/ 0 w 98"/>
              <a:gd name="T3" fmla="*/ 99 h 99"/>
              <a:gd name="T4" fmla="*/ 98 w 98"/>
              <a:gd name="T5" fmla="*/ 0 h 99"/>
            </a:gdLst>
            <a:ahLst/>
            <a:cxnLst>
              <a:cxn ang="0">
                <a:pos x="T0" y="T1"/>
              </a:cxn>
              <a:cxn ang="0">
                <a:pos x="T2" y="T3"/>
              </a:cxn>
              <a:cxn ang="0">
                <a:pos x="T4" y="T5"/>
              </a:cxn>
            </a:cxnLst>
            <a:rect l="0" t="0" r="r" b="b"/>
            <a:pathLst>
              <a:path w="98" h="99">
                <a:moveTo>
                  <a:pt x="98" y="0"/>
                </a:moveTo>
                <a:lnTo>
                  <a:pt x="0" y="99"/>
                </a:lnTo>
                <a:lnTo>
                  <a:pt x="9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24" name="Line 252"/>
          <p:cNvSpPr>
            <a:spLocks noChangeShapeType="1"/>
          </p:cNvSpPr>
          <p:nvPr/>
        </p:nvSpPr>
        <p:spPr bwMode="auto">
          <a:xfrm flipH="1">
            <a:off x="7851775" y="4068763"/>
            <a:ext cx="155575" cy="1571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25" name="Rectangle 253"/>
          <p:cNvSpPr>
            <a:spLocks noChangeArrowheads="1"/>
          </p:cNvSpPr>
          <p:nvPr/>
        </p:nvSpPr>
        <p:spPr bwMode="auto">
          <a:xfrm>
            <a:off x="8037513" y="4032250"/>
            <a:ext cx="2063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8</a:t>
            </a:r>
            <a:endParaRPr lang="en-US" altLang="en-US"/>
          </a:p>
        </p:txBody>
      </p:sp>
      <p:sp>
        <p:nvSpPr>
          <p:cNvPr id="540926" name="Freeform 254"/>
          <p:cNvSpPr>
            <a:spLocks/>
          </p:cNvSpPr>
          <p:nvPr/>
        </p:nvSpPr>
        <p:spPr bwMode="auto">
          <a:xfrm>
            <a:off x="8062913" y="3071813"/>
            <a:ext cx="161925" cy="163512"/>
          </a:xfrm>
          <a:custGeom>
            <a:avLst/>
            <a:gdLst>
              <a:gd name="T0" fmla="*/ 102 w 102"/>
              <a:gd name="T1" fmla="*/ 0 h 103"/>
              <a:gd name="T2" fmla="*/ 0 w 102"/>
              <a:gd name="T3" fmla="*/ 103 h 103"/>
              <a:gd name="T4" fmla="*/ 102 w 102"/>
              <a:gd name="T5" fmla="*/ 0 h 103"/>
            </a:gdLst>
            <a:ahLst/>
            <a:cxnLst>
              <a:cxn ang="0">
                <a:pos x="T0" y="T1"/>
              </a:cxn>
              <a:cxn ang="0">
                <a:pos x="T2" y="T3"/>
              </a:cxn>
              <a:cxn ang="0">
                <a:pos x="T4" y="T5"/>
              </a:cxn>
            </a:cxnLst>
            <a:rect l="0" t="0" r="r" b="b"/>
            <a:pathLst>
              <a:path w="102" h="103">
                <a:moveTo>
                  <a:pt x="102" y="0"/>
                </a:moveTo>
                <a:lnTo>
                  <a:pt x="0" y="103"/>
                </a:lnTo>
                <a:lnTo>
                  <a:pt x="10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27" name="Line 255"/>
          <p:cNvSpPr>
            <a:spLocks noChangeShapeType="1"/>
          </p:cNvSpPr>
          <p:nvPr/>
        </p:nvSpPr>
        <p:spPr bwMode="auto">
          <a:xfrm flipH="1">
            <a:off x="8062913" y="3071813"/>
            <a:ext cx="161925" cy="16351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28" name="Rectangle 256"/>
          <p:cNvSpPr>
            <a:spLocks noChangeArrowheads="1"/>
          </p:cNvSpPr>
          <p:nvPr/>
        </p:nvSpPr>
        <p:spPr bwMode="auto">
          <a:xfrm>
            <a:off x="8251825" y="3040063"/>
            <a:ext cx="2047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8</a:t>
            </a:r>
            <a:endParaRPr lang="en-US" altLang="en-US"/>
          </a:p>
        </p:txBody>
      </p:sp>
      <p:sp>
        <p:nvSpPr>
          <p:cNvPr id="540929" name="Freeform 257"/>
          <p:cNvSpPr>
            <a:spLocks/>
          </p:cNvSpPr>
          <p:nvPr/>
        </p:nvSpPr>
        <p:spPr bwMode="auto">
          <a:xfrm>
            <a:off x="7851775" y="2100263"/>
            <a:ext cx="155575" cy="155575"/>
          </a:xfrm>
          <a:custGeom>
            <a:avLst/>
            <a:gdLst>
              <a:gd name="T0" fmla="*/ 98 w 98"/>
              <a:gd name="T1" fmla="*/ 0 h 98"/>
              <a:gd name="T2" fmla="*/ 0 w 98"/>
              <a:gd name="T3" fmla="*/ 98 h 98"/>
              <a:gd name="T4" fmla="*/ 98 w 98"/>
              <a:gd name="T5" fmla="*/ 0 h 98"/>
            </a:gdLst>
            <a:ahLst/>
            <a:cxnLst>
              <a:cxn ang="0">
                <a:pos x="T0" y="T1"/>
              </a:cxn>
              <a:cxn ang="0">
                <a:pos x="T2" y="T3"/>
              </a:cxn>
              <a:cxn ang="0">
                <a:pos x="T4" y="T5"/>
              </a:cxn>
            </a:cxnLst>
            <a:rect l="0" t="0" r="r" b="b"/>
            <a:pathLst>
              <a:path w="98" h="98">
                <a:moveTo>
                  <a:pt x="98" y="0"/>
                </a:moveTo>
                <a:lnTo>
                  <a:pt x="0" y="98"/>
                </a:lnTo>
                <a:lnTo>
                  <a:pt x="9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30" name="Line 258"/>
          <p:cNvSpPr>
            <a:spLocks noChangeShapeType="1"/>
          </p:cNvSpPr>
          <p:nvPr/>
        </p:nvSpPr>
        <p:spPr bwMode="auto">
          <a:xfrm flipH="1">
            <a:off x="7851775" y="2100263"/>
            <a:ext cx="155575" cy="1555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31" name="Rectangle 259"/>
          <p:cNvSpPr>
            <a:spLocks noChangeArrowheads="1"/>
          </p:cNvSpPr>
          <p:nvPr/>
        </p:nvSpPr>
        <p:spPr bwMode="auto">
          <a:xfrm>
            <a:off x="8037513" y="2063750"/>
            <a:ext cx="2063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8</a:t>
            </a:r>
            <a:endParaRPr lang="en-US" altLang="en-US"/>
          </a:p>
        </p:txBody>
      </p:sp>
      <p:sp>
        <p:nvSpPr>
          <p:cNvPr id="540932" name="Freeform 260"/>
          <p:cNvSpPr>
            <a:spLocks/>
          </p:cNvSpPr>
          <p:nvPr/>
        </p:nvSpPr>
        <p:spPr bwMode="auto">
          <a:xfrm>
            <a:off x="8274050" y="2100263"/>
            <a:ext cx="161925" cy="155575"/>
          </a:xfrm>
          <a:custGeom>
            <a:avLst/>
            <a:gdLst>
              <a:gd name="T0" fmla="*/ 102 w 102"/>
              <a:gd name="T1" fmla="*/ 0 h 98"/>
              <a:gd name="T2" fmla="*/ 0 w 102"/>
              <a:gd name="T3" fmla="*/ 98 h 98"/>
              <a:gd name="T4" fmla="*/ 102 w 102"/>
              <a:gd name="T5" fmla="*/ 0 h 98"/>
            </a:gdLst>
            <a:ahLst/>
            <a:cxnLst>
              <a:cxn ang="0">
                <a:pos x="T0" y="T1"/>
              </a:cxn>
              <a:cxn ang="0">
                <a:pos x="T2" y="T3"/>
              </a:cxn>
              <a:cxn ang="0">
                <a:pos x="T4" y="T5"/>
              </a:cxn>
            </a:cxnLst>
            <a:rect l="0" t="0" r="r" b="b"/>
            <a:pathLst>
              <a:path w="102" h="98">
                <a:moveTo>
                  <a:pt x="102" y="0"/>
                </a:moveTo>
                <a:lnTo>
                  <a:pt x="0" y="98"/>
                </a:lnTo>
                <a:lnTo>
                  <a:pt x="10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33" name="Line 261"/>
          <p:cNvSpPr>
            <a:spLocks noChangeShapeType="1"/>
          </p:cNvSpPr>
          <p:nvPr/>
        </p:nvSpPr>
        <p:spPr bwMode="auto">
          <a:xfrm flipH="1">
            <a:off x="8274050" y="2100263"/>
            <a:ext cx="161925" cy="155575"/>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34" name="Rectangle 262"/>
          <p:cNvSpPr>
            <a:spLocks noChangeArrowheads="1"/>
          </p:cNvSpPr>
          <p:nvPr/>
        </p:nvSpPr>
        <p:spPr bwMode="auto">
          <a:xfrm>
            <a:off x="8464550" y="2063750"/>
            <a:ext cx="2063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8</a:t>
            </a:r>
            <a:endParaRPr lang="en-US" altLang="en-US"/>
          </a:p>
        </p:txBody>
      </p:sp>
      <p:sp>
        <p:nvSpPr>
          <p:cNvPr id="540935" name="Rectangle 263"/>
          <p:cNvSpPr>
            <a:spLocks noChangeArrowheads="1"/>
          </p:cNvSpPr>
          <p:nvPr/>
        </p:nvSpPr>
        <p:spPr bwMode="auto">
          <a:xfrm>
            <a:off x="7015163" y="4119563"/>
            <a:ext cx="3206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a:p>
        </p:txBody>
      </p:sp>
      <p:sp>
        <p:nvSpPr>
          <p:cNvPr id="540936" name="Rectangle 264"/>
          <p:cNvSpPr>
            <a:spLocks noChangeArrowheads="1"/>
          </p:cNvSpPr>
          <p:nvPr/>
        </p:nvSpPr>
        <p:spPr bwMode="auto">
          <a:xfrm>
            <a:off x="6677025" y="4111625"/>
            <a:ext cx="320675"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a:p>
        </p:txBody>
      </p:sp>
      <p:sp>
        <p:nvSpPr>
          <p:cNvPr id="540937" name="Freeform 265"/>
          <p:cNvSpPr>
            <a:spLocks/>
          </p:cNvSpPr>
          <p:nvPr/>
        </p:nvSpPr>
        <p:spPr bwMode="auto">
          <a:xfrm>
            <a:off x="6516688" y="5100638"/>
            <a:ext cx="163512" cy="163512"/>
          </a:xfrm>
          <a:custGeom>
            <a:avLst/>
            <a:gdLst>
              <a:gd name="T0" fmla="*/ 103 w 103"/>
              <a:gd name="T1" fmla="*/ 0 h 103"/>
              <a:gd name="T2" fmla="*/ 0 w 103"/>
              <a:gd name="T3" fmla="*/ 103 h 103"/>
              <a:gd name="T4" fmla="*/ 103 w 103"/>
              <a:gd name="T5" fmla="*/ 0 h 103"/>
            </a:gdLst>
            <a:ahLst/>
            <a:cxnLst>
              <a:cxn ang="0">
                <a:pos x="T0" y="T1"/>
              </a:cxn>
              <a:cxn ang="0">
                <a:pos x="T2" y="T3"/>
              </a:cxn>
              <a:cxn ang="0">
                <a:pos x="T4" y="T5"/>
              </a:cxn>
            </a:cxnLst>
            <a:rect l="0" t="0" r="r" b="b"/>
            <a:pathLst>
              <a:path w="103" h="103">
                <a:moveTo>
                  <a:pt x="103" y="0"/>
                </a:moveTo>
                <a:lnTo>
                  <a:pt x="0" y="103"/>
                </a:lnTo>
                <a:lnTo>
                  <a:pt x="10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38" name="Line 266"/>
          <p:cNvSpPr>
            <a:spLocks noChangeShapeType="1"/>
          </p:cNvSpPr>
          <p:nvPr/>
        </p:nvSpPr>
        <p:spPr bwMode="auto">
          <a:xfrm flipH="1">
            <a:off x="6516688" y="5100638"/>
            <a:ext cx="163512" cy="16351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39" name="Rectangle 267"/>
          <p:cNvSpPr>
            <a:spLocks noChangeArrowheads="1"/>
          </p:cNvSpPr>
          <p:nvPr/>
        </p:nvSpPr>
        <p:spPr bwMode="auto">
          <a:xfrm>
            <a:off x="6677025" y="5084763"/>
            <a:ext cx="3206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a:p>
        </p:txBody>
      </p:sp>
      <p:sp>
        <p:nvSpPr>
          <p:cNvPr id="540940" name="Rectangle 268"/>
          <p:cNvSpPr>
            <a:spLocks noChangeArrowheads="1"/>
          </p:cNvSpPr>
          <p:nvPr/>
        </p:nvSpPr>
        <p:spPr bwMode="auto">
          <a:xfrm>
            <a:off x="6565900" y="2635250"/>
            <a:ext cx="139700"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a:t>
            </a:r>
            <a:endParaRPr lang="en-US" altLang="en-US"/>
          </a:p>
        </p:txBody>
      </p:sp>
      <p:sp>
        <p:nvSpPr>
          <p:cNvPr id="540941" name="Rectangle 269"/>
          <p:cNvSpPr>
            <a:spLocks noChangeArrowheads="1"/>
          </p:cNvSpPr>
          <p:nvPr/>
        </p:nvSpPr>
        <p:spPr bwMode="auto">
          <a:xfrm>
            <a:off x="8072438" y="2603500"/>
            <a:ext cx="26035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100">
                <a:solidFill>
                  <a:srgbClr val="000000"/>
                </a:solidFill>
                <a:latin typeface="Myriad Roman" charset="0"/>
              </a:rPr>
              <a:t>–</a:t>
            </a:r>
            <a:endParaRPr lang="en-US" altLang="en-US"/>
          </a:p>
        </p:txBody>
      </p:sp>
      <p:sp>
        <p:nvSpPr>
          <p:cNvPr id="540942" name="Rectangle 270"/>
          <p:cNvSpPr>
            <a:spLocks noChangeArrowheads="1"/>
          </p:cNvSpPr>
          <p:nvPr/>
        </p:nvSpPr>
        <p:spPr bwMode="auto">
          <a:xfrm>
            <a:off x="7761288" y="4572000"/>
            <a:ext cx="271462"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100">
                <a:solidFill>
                  <a:srgbClr val="000000"/>
                </a:solidFill>
                <a:latin typeface="Myriad Roman" charset="0"/>
              </a:rPr>
              <a:t>+</a:t>
            </a:r>
            <a:endParaRPr lang="en-US" altLang="en-US"/>
          </a:p>
        </p:txBody>
      </p:sp>
      <p:sp>
        <p:nvSpPr>
          <p:cNvPr id="540943" name="Rectangle 271"/>
          <p:cNvSpPr>
            <a:spLocks noChangeArrowheads="1"/>
          </p:cNvSpPr>
          <p:nvPr/>
        </p:nvSpPr>
        <p:spPr bwMode="auto">
          <a:xfrm>
            <a:off x="7999413" y="3573463"/>
            <a:ext cx="422275"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abs</a:t>
            </a:r>
            <a:endParaRPr lang="en-US" altLang="en-US"/>
          </a:p>
        </p:txBody>
      </p:sp>
      <p:sp>
        <p:nvSpPr>
          <p:cNvPr id="540944" name="Rectangle 272"/>
          <p:cNvSpPr>
            <a:spLocks noChangeArrowheads="1"/>
          </p:cNvSpPr>
          <p:nvPr/>
        </p:nvSpPr>
        <p:spPr bwMode="auto">
          <a:xfrm>
            <a:off x="158750" y="1404938"/>
            <a:ext cx="33337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Inputs: A, B (256 byte memory); go (bit)</a:t>
            </a:r>
            <a:endParaRPr lang="en-US" altLang="en-US" sz="2800"/>
          </a:p>
        </p:txBody>
      </p:sp>
      <p:sp>
        <p:nvSpPr>
          <p:cNvPr id="540953" name="Rectangle 281"/>
          <p:cNvSpPr>
            <a:spLocks noChangeArrowheads="1"/>
          </p:cNvSpPr>
          <p:nvPr/>
        </p:nvSpPr>
        <p:spPr bwMode="auto">
          <a:xfrm>
            <a:off x="158750" y="1616075"/>
            <a:ext cx="18208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Outputs: sad (32 bits)</a:t>
            </a:r>
            <a:endParaRPr lang="en-US" altLang="en-US" sz="2800"/>
          </a:p>
        </p:txBody>
      </p:sp>
      <p:sp>
        <p:nvSpPr>
          <p:cNvPr id="540956" name="Rectangle 284"/>
          <p:cNvSpPr>
            <a:spLocks noChangeArrowheads="1"/>
          </p:cNvSpPr>
          <p:nvPr/>
        </p:nvSpPr>
        <p:spPr bwMode="auto">
          <a:xfrm>
            <a:off x="158750" y="1831975"/>
            <a:ext cx="40259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Local registers: sum, sad_reg (32 bits); i (9 bits)</a:t>
            </a:r>
            <a:endParaRPr lang="en-US" altLang="en-US" sz="2800"/>
          </a:p>
        </p:txBody>
      </p:sp>
      <p:sp>
        <p:nvSpPr>
          <p:cNvPr id="540968" name="Line 296"/>
          <p:cNvSpPr>
            <a:spLocks noChangeShapeType="1"/>
          </p:cNvSpPr>
          <p:nvPr/>
        </p:nvSpPr>
        <p:spPr bwMode="auto">
          <a:xfrm>
            <a:off x="2052638" y="2684463"/>
            <a:ext cx="1587" cy="21431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69" name="Freeform 297"/>
          <p:cNvSpPr>
            <a:spLocks/>
          </p:cNvSpPr>
          <p:nvPr/>
        </p:nvSpPr>
        <p:spPr bwMode="auto">
          <a:xfrm>
            <a:off x="1997075" y="2827338"/>
            <a:ext cx="107950" cy="1889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70" name="Line 298"/>
          <p:cNvSpPr>
            <a:spLocks noChangeShapeType="1"/>
          </p:cNvSpPr>
          <p:nvPr/>
        </p:nvSpPr>
        <p:spPr bwMode="auto">
          <a:xfrm>
            <a:off x="1306513" y="2193925"/>
            <a:ext cx="192087" cy="12223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71" name="Freeform 299"/>
          <p:cNvSpPr>
            <a:spLocks/>
          </p:cNvSpPr>
          <p:nvPr/>
        </p:nvSpPr>
        <p:spPr bwMode="auto">
          <a:xfrm>
            <a:off x="1433513" y="2265363"/>
            <a:ext cx="203200" cy="147637"/>
          </a:xfrm>
          <a:custGeom>
            <a:avLst/>
            <a:gdLst>
              <a:gd name="T0" fmla="*/ 96 w 96"/>
              <a:gd name="T1" fmla="*/ 78 h 78"/>
              <a:gd name="T2" fmla="*/ 31 w 96"/>
              <a:gd name="T3" fmla="*/ 0 h 78"/>
              <a:gd name="T4" fmla="*/ 0 w 96"/>
              <a:gd name="T5" fmla="*/ 41 h 78"/>
              <a:gd name="T6" fmla="*/ 96 w 96"/>
              <a:gd name="T7" fmla="*/ 78 h 78"/>
            </a:gdLst>
            <a:ahLst/>
            <a:cxnLst>
              <a:cxn ang="0">
                <a:pos x="T0" y="T1"/>
              </a:cxn>
              <a:cxn ang="0">
                <a:pos x="T2" y="T3"/>
              </a:cxn>
              <a:cxn ang="0">
                <a:pos x="T4" y="T5"/>
              </a:cxn>
              <a:cxn ang="0">
                <a:pos x="T6" y="T7"/>
              </a:cxn>
            </a:cxnLst>
            <a:rect l="0" t="0" r="r" b="b"/>
            <a:pathLst>
              <a:path w="96" h="78">
                <a:moveTo>
                  <a:pt x="96" y="78"/>
                </a:moveTo>
                <a:lnTo>
                  <a:pt x="31" y="0"/>
                </a:lnTo>
                <a:lnTo>
                  <a:pt x="0" y="41"/>
                </a:lnTo>
                <a:lnTo>
                  <a:pt x="9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72" name="Freeform 300"/>
          <p:cNvSpPr>
            <a:spLocks/>
          </p:cNvSpPr>
          <p:nvPr/>
        </p:nvSpPr>
        <p:spPr bwMode="auto">
          <a:xfrm>
            <a:off x="2435225" y="2265363"/>
            <a:ext cx="211138" cy="128587"/>
          </a:xfrm>
          <a:custGeom>
            <a:avLst/>
            <a:gdLst>
              <a:gd name="T0" fmla="*/ 0 w 100"/>
              <a:gd name="T1" fmla="*/ 69 h 69"/>
              <a:gd name="T2" fmla="*/ 100 w 100"/>
              <a:gd name="T3" fmla="*/ 44 h 69"/>
              <a:gd name="T4" fmla="*/ 78 w 100"/>
              <a:gd name="T5" fmla="*/ 0 h 69"/>
              <a:gd name="T6" fmla="*/ 0 w 100"/>
              <a:gd name="T7" fmla="*/ 69 h 69"/>
            </a:gdLst>
            <a:ahLst/>
            <a:cxnLst>
              <a:cxn ang="0">
                <a:pos x="T0" y="T1"/>
              </a:cxn>
              <a:cxn ang="0">
                <a:pos x="T2" y="T3"/>
              </a:cxn>
              <a:cxn ang="0">
                <a:pos x="T4" y="T5"/>
              </a:cxn>
              <a:cxn ang="0">
                <a:pos x="T6" y="T7"/>
              </a:cxn>
            </a:cxnLst>
            <a:rect l="0" t="0" r="r" b="b"/>
            <a:pathLst>
              <a:path w="100" h="69">
                <a:moveTo>
                  <a:pt x="0" y="69"/>
                </a:moveTo>
                <a:lnTo>
                  <a:pt x="100" y="44"/>
                </a:lnTo>
                <a:lnTo>
                  <a:pt x="78" y="0"/>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73" name="Freeform 301"/>
          <p:cNvSpPr>
            <a:spLocks/>
          </p:cNvSpPr>
          <p:nvPr/>
        </p:nvSpPr>
        <p:spPr bwMode="auto">
          <a:xfrm>
            <a:off x="2435225" y="2300288"/>
            <a:ext cx="395288" cy="450850"/>
          </a:xfrm>
          <a:custGeom>
            <a:avLst/>
            <a:gdLst>
              <a:gd name="T0" fmla="*/ 16 w 60"/>
              <a:gd name="T1" fmla="*/ 3 h 76"/>
              <a:gd name="T2" fmla="*/ 32 w 60"/>
              <a:gd name="T3" fmla="*/ 0 h 76"/>
              <a:gd name="T4" fmla="*/ 60 w 60"/>
              <a:gd name="T5" fmla="*/ 38 h 76"/>
              <a:gd name="T6" fmla="*/ 32 w 60"/>
              <a:gd name="T7" fmla="*/ 76 h 76"/>
              <a:gd name="T8" fmla="*/ 0 w 60"/>
              <a:gd name="T9" fmla="*/ 59 h 76"/>
            </a:gdLst>
            <a:ahLst/>
            <a:cxnLst>
              <a:cxn ang="0">
                <a:pos x="T0" y="T1"/>
              </a:cxn>
              <a:cxn ang="0">
                <a:pos x="T2" y="T3"/>
              </a:cxn>
              <a:cxn ang="0">
                <a:pos x="T4" y="T5"/>
              </a:cxn>
              <a:cxn ang="0">
                <a:pos x="T6" y="T7"/>
              </a:cxn>
              <a:cxn ang="0">
                <a:pos x="T8" y="T9"/>
              </a:cxn>
            </a:cxnLst>
            <a:rect l="0" t="0" r="r" b="b"/>
            <a:pathLst>
              <a:path w="60" h="76">
                <a:moveTo>
                  <a:pt x="16" y="3"/>
                </a:moveTo>
                <a:cubicBezTo>
                  <a:pt x="21" y="1"/>
                  <a:pt x="26" y="0"/>
                  <a:pt x="32" y="0"/>
                </a:cubicBezTo>
                <a:cubicBezTo>
                  <a:pt x="53" y="0"/>
                  <a:pt x="60" y="17"/>
                  <a:pt x="60" y="38"/>
                </a:cubicBezTo>
                <a:cubicBezTo>
                  <a:pt x="60" y="59"/>
                  <a:pt x="53" y="76"/>
                  <a:pt x="32" y="76"/>
                </a:cubicBezTo>
                <a:cubicBezTo>
                  <a:pt x="19" y="76"/>
                  <a:pt x="7" y="70"/>
                  <a:pt x="0" y="59"/>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974" name="Rectangle 302"/>
          <p:cNvSpPr>
            <a:spLocks noChangeArrowheads="1"/>
          </p:cNvSpPr>
          <p:nvPr/>
        </p:nvSpPr>
        <p:spPr bwMode="auto">
          <a:xfrm>
            <a:off x="2874963" y="2417763"/>
            <a:ext cx="254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!go</a:t>
            </a:r>
            <a:endParaRPr lang="en-US" altLang="en-US" sz="2800"/>
          </a:p>
        </p:txBody>
      </p:sp>
      <p:sp>
        <p:nvSpPr>
          <p:cNvPr id="540975" name="Rectangle 303"/>
          <p:cNvSpPr>
            <a:spLocks noChangeArrowheads="1"/>
          </p:cNvSpPr>
          <p:nvPr/>
        </p:nvSpPr>
        <p:spPr bwMode="auto">
          <a:xfrm>
            <a:off x="1951038" y="2428875"/>
            <a:ext cx="2016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S0</a:t>
            </a:r>
            <a:endParaRPr lang="en-US" altLang="en-US" sz="2800"/>
          </a:p>
        </p:txBody>
      </p:sp>
      <p:sp>
        <p:nvSpPr>
          <p:cNvPr id="540976" name="Rectangle 304"/>
          <p:cNvSpPr>
            <a:spLocks noChangeArrowheads="1"/>
          </p:cNvSpPr>
          <p:nvPr/>
        </p:nvSpPr>
        <p:spPr bwMode="auto">
          <a:xfrm>
            <a:off x="2176463" y="2724150"/>
            <a:ext cx="190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go</a:t>
            </a:r>
            <a:endParaRPr lang="en-US" altLang="en-US" sz="2800"/>
          </a:p>
        </p:txBody>
      </p:sp>
      <p:sp>
        <p:nvSpPr>
          <p:cNvPr id="540977" name="Freeform 305"/>
          <p:cNvSpPr>
            <a:spLocks/>
          </p:cNvSpPr>
          <p:nvPr/>
        </p:nvSpPr>
        <p:spPr bwMode="auto">
          <a:xfrm>
            <a:off x="1603375" y="2378075"/>
            <a:ext cx="896938" cy="296863"/>
          </a:xfrm>
          <a:custGeom>
            <a:avLst/>
            <a:gdLst>
              <a:gd name="T0" fmla="*/ 25 w 136"/>
              <a:gd name="T1" fmla="*/ 50 h 50"/>
              <a:gd name="T2" fmla="*/ 0 w 136"/>
              <a:gd name="T3" fmla="*/ 25 h 50"/>
              <a:gd name="T4" fmla="*/ 25 w 136"/>
              <a:gd name="T5" fmla="*/ 0 h 50"/>
              <a:gd name="T6" fmla="*/ 111 w 136"/>
              <a:gd name="T7" fmla="*/ 0 h 50"/>
              <a:gd name="T8" fmla="*/ 136 w 136"/>
              <a:gd name="T9" fmla="*/ 25 h 50"/>
              <a:gd name="T10" fmla="*/ 111 w 136"/>
              <a:gd name="T11" fmla="*/ 50 h 50"/>
              <a:gd name="T12" fmla="*/ 25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25" y="50"/>
                </a:move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lnTo>
                  <a:pt x="25" y="50"/>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979" name="Line 307"/>
          <p:cNvSpPr>
            <a:spLocks noChangeShapeType="1"/>
          </p:cNvSpPr>
          <p:nvPr/>
        </p:nvSpPr>
        <p:spPr bwMode="auto">
          <a:xfrm>
            <a:off x="2052638" y="3325813"/>
            <a:ext cx="1587" cy="20796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0980" name="Freeform 308"/>
          <p:cNvSpPr>
            <a:spLocks/>
          </p:cNvSpPr>
          <p:nvPr/>
        </p:nvSpPr>
        <p:spPr bwMode="auto">
          <a:xfrm>
            <a:off x="1997075" y="3462338"/>
            <a:ext cx="107950" cy="1889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81" name="Rectangle 309"/>
          <p:cNvSpPr>
            <a:spLocks noChangeArrowheads="1"/>
          </p:cNvSpPr>
          <p:nvPr/>
        </p:nvSpPr>
        <p:spPr bwMode="auto">
          <a:xfrm>
            <a:off x="1952625" y="3065463"/>
            <a:ext cx="2016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S1</a:t>
            </a:r>
            <a:endParaRPr lang="en-US" altLang="en-US" sz="2800"/>
          </a:p>
        </p:txBody>
      </p:sp>
      <p:sp>
        <p:nvSpPr>
          <p:cNvPr id="540982" name="Rectangle 310"/>
          <p:cNvSpPr>
            <a:spLocks noChangeArrowheads="1"/>
          </p:cNvSpPr>
          <p:nvPr/>
        </p:nvSpPr>
        <p:spPr bwMode="auto">
          <a:xfrm>
            <a:off x="2579688" y="2955925"/>
            <a:ext cx="615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 = 0</a:t>
            </a:r>
            <a:endParaRPr lang="en-US" altLang="en-US" sz="2800"/>
          </a:p>
        </p:txBody>
      </p:sp>
      <p:sp>
        <p:nvSpPr>
          <p:cNvPr id="540983" name="Rectangle 311"/>
          <p:cNvSpPr>
            <a:spLocks noChangeArrowheads="1"/>
          </p:cNvSpPr>
          <p:nvPr/>
        </p:nvSpPr>
        <p:spPr bwMode="auto">
          <a:xfrm>
            <a:off x="2579688" y="3165475"/>
            <a:ext cx="3508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 = 0</a:t>
            </a:r>
            <a:endParaRPr lang="en-US" altLang="en-US" sz="2800"/>
          </a:p>
        </p:txBody>
      </p:sp>
      <p:sp>
        <p:nvSpPr>
          <p:cNvPr id="540984" name="Freeform 312"/>
          <p:cNvSpPr>
            <a:spLocks/>
          </p:cNvSpPr>
          <p:nvPr/>
        </p:nvSpPr>
        <p:spPr bwMode="auto">
          <a:xfrm>
            <a:off x="1603375" y="3024188"/>
            <a:ext cx="896938" cy="295275"/>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986" name="Freeform 314"/>
          <p:cNvSpPr>
            <a:spLocks/>
          </p:cNvSpPr>
          <p:nvPr/>
        </p:nvSpPr>
        <p:spPr bwMode="auto">
          <a:xfrm>
            <a:off x="1433513" y="3984625"/>
            <a:ext cx="619125" cy="846138"/>
          </a:xfrm>
          <a:custGeom>
            <a:avLst/>
            <a:gdLst>
              <a:gd name="T0" fmla="*/ 293 w 293"/>
              <a:gd name="T1" fmla="*/ 334 h 447"/>
              <a:gd name="T2" fmla="*/ 293 w 293"/>
              <a:gd name="T3" fmla="*/ 447 h 447"/>
              <a:gd name="T4" fmla="*/ 0 w 293"/>
              <a:gd name="T5" fmla="*/ 447 h 447"/>
              <a:gd name="T6" fmla="*/ 0 w 293"/>
              <a:gd name="T7" fmla="*/ 62 h 447"/>
              <a:gd name="T8" fmla="*/ 65 w 293"/>
              <a:gd name="T9" fmla="*/ 0 h 447"/>
            </a:gdLst>
            <a:ahLst/>
            <a:cxnLst>
              <a:cxn ang="0">
                <a:pos x="T0" y="T1"/>
              </a:cxn>
              <a:cxn ang="0">
                <a:pos x="T2" y="T3"/>
              </a:cxn>
              <a:cxn ang="0">
                <a:pos x="T4" y="T5"/>
              </a:cxn>
              <a:cxn ang="0">
                <a:pos x="T6" y="T7"/>
              </a:cxn>
              <a:cxn ang="0">
                <a:pos x="T8" y="T9"/>
              </a:cxn>
            </a:cxnLst>
            <a:rect l="0" t="0" r="r" b="b"/>
            <a:pathLst>
              <a:path w="293" h="447">
                <a:moveTo>
                  <a:pt x="293" y="334"/>
                </a:moveTo>
                <a:lnTo>
                  <a:pt x="293" y="447"/>
                </a:lnTo>
                <a:lnTo>
                  <a:pt x="0" y="447"/>
                </a:lnTo>
                <a:lnTo>
                  <a:pt x="0" y="62"/>
                </a:lnTo>
                <a:lnTo>
                  <a:pt x="65"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987" name="Freeform 315"/>
          <p:cNvSpPr>
            <a:spLocks/>
          </p:cNvSpPr>
          <p:nvPr/>
        </p:nvSpPr>
        <p:spPr bwMode="auto">
          <a:xfrm>
            <a:off x="1452563" y="3932238"/>
            <a:ext cx="198437" cy="158750"/>
          </a:xfrm>
          <a:custGeom>
            <a:avLst/>
            <a:gdLst>
              <a:gd name="T0" fmla="*/ 94 w 94"/>
              <a:gd name="T1" fmla="*/ 0 h 84"/>
              <a:gd name="T2" fmla="*/ 0 w 94"/>
              <a:gd name="T3" fmla="*/ 47 h 84"/>
              <a:gd name="T4" fmla="*/ 34 w 94"/>
              <a:gd name="T5" fmla="*/ 84 h 84"/>
              <a:gd name="T6" fmla="*/ 94 w 94"/>
              <a:gd name="T7" fmla="*/ 0 h 84"/>
            </a:gdLst>
            <a:ahLst/>
            <a:cxnLst>
              <a:cxn ang="0">
                <a:pos x="T0" y="T1"/>
              </a:cxn>
              <a:cxn ang="0">
                <a:pos x="T2" y="T3"/>
              </a:cxn>
              <a:cxn ang="0">
                <a:pos x="T4" y="T5"/>
              </a:cxn>
              <a:cxn ang="0">
                <a:pos x="T6" y="T7"/>
              </a:cxn>
            </a:cxnLst>
            <a:rect l="0" t="0" r="r" b="b"/>
            <a:pathLst>
              <a:path w="94" h="84">
                <a:moveTo>
                  <a:pt x="94" y="0"/>
                </a:moveTo>
                <a:lnTo>
                  <a:pt x="0" y="47"/>
                </a:lnTo>
                <a:lnTo>
                  <a:pt x="34" y="84"/>
                </a:lnTo>
                <a:lnTo>
                  <a:pt x="9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88" name="Rectangle 316"/>
          <p:cNvSpPr>
            <a:spLocks noChangeArrowheads="1"/>
          </p:cNvSpPr>
          <p:nvPr/>
        </p:nvSpPr>
        <p:spPr bwMode="auto">
          <a:xfrm>
            <a:off x="1954213" y="4346575"/>
            <a:ext cx="2016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S3</a:t>
            </a:r>
            <a:endParaRPr lang="en-US" altLang="en-US" sz="2800"/>
          </a:p>
        </p:txBody>
      </p:sp>
      <p:sp>
        <p:nvSpPr>
          <p:cNvPr id="540989" name="Rectangle 317"/>
          <p:cNvSpPr>
            <a:spLocks noChangeArrowheads="1"/>
          </p:cNvSpPr>
          <p:nvPr/>
        </p:nvSpPr>
        <p:spPr bwMode="auto">
          <a:xfrm>
            <a:off x="2573338" y="4244975"/>
            <a:ext cx="1990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sum=sum+abs(A[i]-B[i])</a:t>
            </a:r>
            <a:endParaRPr lang="en-US" altLang="en-US" sz="2800"/>
          </a:p>
        </p:txBody>
      </p:sp>
      <p:sp>
        <p:nvSpPr>
          <p:cNvPr id="540992" name="Rectangle 320"/>
          <p:cNvSpPr>
            <a:spLocks noChangeArrowheads="1"/>
          </p:cNvSpPr>
          <p:nvPr/>
        </p:nvSpPr>
        <p:spPr bwMode="auto">
          <a:xfrm>
            <a:off x="2573338" y="4460875"/>
            <a:ext cx="4159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i=i+1</a:t>
            </a:r>
            <a:endParaRPr lang="en-US" altLang="en-US" sz="2800"/>
          </a:p>
        </p:txBody>
      </p:sp>
      <p:sp>
        <p:nvSpPr>
          <p:cNvPr id="540993" name="Freeform 321"/>
          <p:cNvSpPr>
            <a:spLocks/>
          </p:cNvSpPr>
          <p:nvPr/>
        </p:nvSpPr>
        <p:spPr bwMode="auto">
          <a:xfrm>
            <a:off x="1603375" y="4316413"/>
            <a:ext cx="896938" cy="295275"/>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995" name="Freeform 323"/>
          <p:cNvSpPr>
            <a:spLocks/>
          </p:cNvSpPr>
          <p:nvPr/>
        </p:nvSpPr>
        <p:spPr bwMode="auto">
          <a:xfrm>
            <a:off x="819150" y="2532063"/>
            <a:ext cx="1238250" cy="2938462"/>
          </a:xfrm>
          <a:custGeom>
            <a:avLst/>
            <a:gdLst>
              <a:gd name="T0" fmla="*/ 281 w 587"/>
              <a:gd name="T1" fmla="*/ 0 h 1550"/>
              <a:gd name="T2" fmla="*/ 0 w 587"/>
              <a:gd name="T3" fmla="*/ 0 h 1550"/>
              <a:gd name="T4" fmla="*/ 0 w 587"/>
              <a:gd name="T5" fmla="*/ 1550 h 1550"/>
              <a:gd name="T6" fmla="*/ 587 w 587"/>
              <a:gd name="T7" fmla="*/ 1550 h 1550"/>
              <a:gd name="T8" fmla="*/ 587 w 587"/>
              <a:gd name="T9" fmla="*/ 1441 h 1550"/>
            </a:gdLst>
            <a:ahLst/>
            <a:cxnLst>
              <a:cxn ang="0">
                <a:pos x="T0" y="T1"/>
              </a:cxn>
              <a:cxn ang="0">
                <a:pos x="T2" y="T3"/>
              </a:cxn>
              <a:cxn ang="0">
                <a:pos x="T4" y="T5"/>
              </a:cxn>
              <a:cxn ang="0">
                <a:pos x="T6" y="T7"/>
              </a:cxn>
              <a:cxn ang="0">
                <a:pos x="T8" y="T9"/>
              </a:cxn>
            </a:cxnLst>
            <a:rect l="0" t="0" r="r" b="b"/>
            <a:pathLst>
              <a:path w="587" h="1550">
                <a:moveTo>
                  <a:pt x="281" y="0"/>
                </a:moveTo>
                <a:lnTo>
                  <a:pt x="0" y="0"/>
                </a:lnTo>
                <a:lnTo>
                  <a:pt x="0" y="1550"/>
                </a:lnTo>
                <a:lnTo>
                  <a:pt x="587" y="1550"/>
                </a:lnTo>
                <a:lnTo>
                  <a:pt x="587" y="1441"/>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0996" name="Freeform 324"/>
          <p:cNvSpPr>
            <a:spLocks/>
          </p:cNvSpPr>
          <p:nvPr/>
        </p:nvSpPr>
        <p:spPr bwMode="auto">
          <a:xfrm>
            <a:off x="1371600" y="2484438"/>
            <a:ext cx="212725" cy="9366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0997" name="Rectangle 325"/>
          <p:cNvSpPr>
            <a:spLocks noChangeArrowheads="1"/>
          </p:cNvSpPr>
          <p:nvPr/>
        </p:nvSpPr>
        <p:spPr bwMode="auto">
          <a:xfrm>
            <a:off x="1954213" y="5006975"/>
            <a:ext cx="2016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S4</a:t>
            </a:r>
            <a:endParaRPr lang="en-US" altLang="en-US" sz="2800"/>
          </a:p>
        </p:txBody>
      </p:sp>
      <p:sp>
        <p:nvSpPr>
          <p:cNvPr id="540998" name="Rectangle 326"/>
          <p:cNvSpPr>
            <a:spLocks noChangeArrowheads="1"/>
          </p:cNvSpPr>
          <p:nvPr/>
        </p:nvSpPr>
        <p:spPr bwMode="auto">
          <a:xfrm>
            <a:off x="2573338" y="4992688"/>
            <a:ext cx="349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sad_</a:t>
            </a:r>
            <a:endParaRPr lang="en-US" altLang="en-US" sz="2800"/>
          </a:p>
        </p:txBody>
      </p:sp>
      <p:sp>
        <p:nvSpPr>
          <p:cNvPr id="540999" name="Rectangle 327"/>
          <p:cNvSpPr>
            <a:spLocks noChangeArrowheads="1"/>
          </p:cNvSpPr>
          <p:nvPr/>
        </p:nvSpPr>
        <p:spPr bwMode="auto">
          <a:xfrm>
            <a:off x="2984500" y="4992688"/>
            <a:ext cx="7477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dirty="0" err="1">
                <a:solidFill>
                  <a:srgbClr val="000000"/>
                </a:solidFill>
                <a:latin typeface="Myriad Roman" charset="0"/>
              </a:rPr>
              <a:t>reg</a:t>
            </a:r>
            <a:r>
              <a:rPr lang="en-US" altLang="en-US" sz="1500" dirty="0">
                <a:solidFill>
                  <a:srgbClr val="000000"/>
                </a:solidFill>
                <a:latin typeface="Myriad Roman" charset="0"/>
              </a:rPr>
              <a:t>=sum</a:t>
            </a:r>
            <a:endParaRPr lang="en-US" altLang="en-US" sz="2800" dirty="0"/>
          </a:p>
        </p:txBody>
      </p:sp>
      <p:sp>
        <p:nvSpPr>
          <p:cNvPr id="541001" name="Freeform 329"/>
          <p:cNvSpPr>
            <a:spLocks/>
          </p:cNvSpPr>
          <p:nvPr/>
        </p:nvSpPr>
        <p:spPr bwMode="auto">
          <a:xfrm>
            <a:off x="1603375" y="4962525"/>
            <a:ext cx="896938" cy="295275"/>
          </a:xfrm>
          <a:custGeom>
            <a:avLst/>
            <a:gdLst>
              <a:gd name="T0" fmla="*/ 25 w 136"/>
              <a:gd name="T1" fmla="*/ 50 h 50"/>
              <a:gd name="T2" fmla="*/ 0 w 136"/>
              <a:gd name="T3" fmla="*/ 25 h 50"/>
              <a:gd name="T4" fmla="*/ 25 w 136"/>
              <a:gd name="T5" fmla="*/ 0 h 50"/>
              <a:gd name="T6" fmla="*/ 111 w 136"/>
              <a:gd name="T7" fmla="*/ 0 h 50"/>
              <a:gd name="T8" fmla="*/ 136 w 136"/>
              <a:gd name="T9" fmla="*/ 25 h 50"/>
              <a:gd name="T10" fmla="*/ 111 w 136"/>
              <a:gd name="T11" fmla="*/ 50 h 50"/>
              <a:gd name="T12" fmla="*/ 25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25" y="50"/>
                </a:move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lnTo>
                  <a:pt x="25" y="50"/>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1003" name="Line 331"/>
          <p:cNvSpPr>
            <a:spLocks noChangeShapeType="1"/>
          </p:cNvSpPr>
          <p:nvPr/>
        </p:nvSpPr>
        <p:spPr bwMode="auto">
          <a:xfrm>
            <a:off x="2052638" y="3973513"/>
            <a:ext cx="1587" cy="2047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1004" name="Freeform 332"/>
          <p:cNvSpPr>
            <a:spLocks/>
          </p:cNvSpPr>
          <p:nvPr/>
        </p:nvSpPr>
        <p:spPr bwMode="auto">
          <a:xfrm>
            <a:off x="1997075" y="4114800"/>
            <a:ext cx="107950" cy="1905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1005" name="Freeform 333"/>
          <p:cNvSpPr>
            <a:spLocks/>
          </p:cNvSpPr>
          <p:nvPr/>
        </p:nvSpPr>
        <p:spPr bwMode="auto">
          <a:xfrm>
            <a:off x="1181100" y="3816350"/>
            <a:ext cx="422275" cy="1287463"/>
          </a:xfrm>
          <a:custGeom>
            <a:avLst/>
            <a:gdLst>
              <a:gd name="T0" fmla="*/ 109 w 200"/>
              <a:gd name="T1" fmla="*/ 679 h 679"/>
              <a:gd name="T2" fmla="*/ 0 w 200"/>
              <a:gd name="T3" fmla="*/ 679 h 679"/>
              <a:gd name="T4" fmla="*/ 0 w 200"/>
              <a:gd name="T5" fmla="*/ 0 h 679"/>
              <a:gd name="T6" fmla="*/ 200 w 200"/>
              <a:gd name="T7" fmla="*/ 0 h 679"/>
            </a:gdLst>
            <a:ahLst/>
            <a:cxnLst>
              <a:cxn ang="0">
                <a:pos x="T0" y="T1"/>
              </a:cxn>
              <a:cxn ang="0">
                <a:pos x="T2" y="T3"/>
              </a:cxn>
              <a:cxn ang="0">
                <a:pos x="T4" y="T5"/>
              </a:cxn>
              <a:cxn ang="0">
                <a:pos x="T6" y="T7"/>
              </a:cxn>
            </a:cxnLst>
            <a:rect l="0" t="0" r="r" b="b"/>
            <a:pathLst>
              <a:path w="200" h="679">
                <a:moveTo>
                  <a:pt x="109" y="679"/>
                </a:moveTo>
                <a:lnTo>
                  <a:pt x="0" y="679"/>
                </a:lnTo>
                <a:lnTo>
                  <a:pt x="0" y="0"/>
                </a:lnTo>
                <a:lnTo>
                  <a:pt x="20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1006" name="Freeform 334"/>
          <p:cNvSpPr>
            <a:spLocks/>
          </p:cNvSpPr>
          <p:nvPr/>
        </p:nvSpPr>
        <p:spPr bwMode="auto">
          <a:xfrm>
            <a:off x="1371600" y="5057775"/>
            <a:ext cx="212725" cy="9366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1007" name="Rectangle 335"/>
          <p:cNvSpPr>
            <a:spLocks noChangeArrowheads="1"/>
          </p:cNvSpPr>
          <p:nvPr/>
        </p:nvSpPr>
        <p:spPr bwMode="auto">
          <a:xfrm>
            <a:off x="1954213" y="3706813"/>
            <a:ext cx="2016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S2</a:t>
            </a:r>
            <a:endParaRPr lang="en-US" altLang="en-US" sz="2800"/>
          </a:p>
        </p:txBody>
      </p:sp>
      <p:sp>
        <p:nvSpPr>
          <p:cNvPr id="541008" name="Rectangle 336"/>
          <p:cNvSpPr>
            <a:spLocks noChangeArrowheads="1"/>
          </p:cNvSpPr>
          <p:nvPr/>
        </p:nvSpPr>
        <p:spPr bwMode="auto">
          <a:xfrm>
            <a:off x="2190750" y="4044950"/>
            <a:ext cx="4460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i&lt;256</a:t>
            </a:r>
            <a:endParaRPr lang="en-US" altLang="en-US" sz="2800"/>
          </a:p>
        </p:txBody>
      </p:sp>
      <p:sp>
        <p:nvSpPr>
          <p:cNvPr id="541009" name="Freeform 337"/>
          <p:cNvSpPr>
            <a:spLocks/>
          </p:cNvSpPr>
          <p:nvPr/>
        </p:nvSpPr>
        <p:spPr bwMode="auto">
          <a:xfrm>
            <a:off x="1603375" y="3667125"/>
            <a:ext cx="896938" cy="298450"/>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1010" name="Rectangle 338"/>
          <p:cNvSpPr>
            <a:spLocks noChangeArrowheads="1"/>
          </p:cNvSpPr>
          <p:nvPr/>
        </p:nvSpPr>
        <p:spPr bwMode="auto">
          <a:xfrm>
            <a:off x="1054100" y="3573463"/>
            <a:ext cx="6191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en-US" sz="1300">
                <a:solidFill>
                  <a:srgbClr val="000000"/>
                </a:solidFill>
                <a:latin typeface="Myriad Roman" charset="0"/>
              </a:rPr>
              <a:t>(i&lt;256)’</a:t>
            </a:r>
            <a:endParaRPr lang="en-US" altLang="en-US" sz="2400"/>
          </a:p>
        </p:txBody>
      </p:sp>
      <p:sp>
        <p:nvSpPr>
          <p:cNvPr id="541011" name="Text Box 339"/>
          <p:cNvSpPr txBox="1">
            <a:spLocks noChangeArrowheads="1"/>
          </p:cNvSpPr>
          <p:nvPr/>
        </p:nvSpPr>
        <p:spPr bwMode="auto">
          <a:xfrm>
            <a:off x="4500563" y="2986088"/>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41014" name="Freeform 342"/>
          <p:cNvSpPr>
            <a:spLocks/>
          </p:cNvSpPr>
          <p:nvPr/>
        </p:nvSpPr>
        <p:spPr bwMode="auto">
          <a:xfrm>
            <a:off x="1731963" y="2024063"/>
            <a:ext cx="4513262" cy="1614487"/>
          </a:xfrm>
          <a:custGeom>
            <a:avLst/>
            <a:gdLst>
              <a:gd name="T0" fmla="*/ 0 w 2843"/>
              <a:gd name="T1" fmla="*/ 0 h 1017"/>
              <a:gd name="T2" fmla="*/ 1311 w 2843"/>
              <a:gd name="T3" fmla="*/ 257 h 1017"/>
              <a:gd name="T4" fmla="*/ 1519 w 2843"/>
              <a:gd name="T5" fmla="*/ 686 h 1017"/>
              <a:gd name="T6" fmla="*/ 2843 w 2843"/>
              <a:gd name="T7" fmla="*/ 1017 h 1017"/>
            </a:gdLst>
            <a:ahLst/>
            <a:cxnLst>
              <a:cxn ang="0">
                <a:pos x="T0" y="T1"/>
              </a:cxn>
              <a:cxn ang="0">
                <a:pos x="T2" y="T3"/>
              </a:cxn>
              <a:cxn ang="0">
                <a:pos x="T4" y="T5"/>
              </a:cxn>
              <a:cxn ang="0">
                <a:pos x="T6" y="T7"/>
              </a:cxn>
            </a:cxnLst>
            <a:rect l="0" t="0" r="r" b="b"/>
            <a:pathLst>
              <a:path w="2843" h="1017">
                <a:moveTo>
                  <a:pt x="0" y="0"/>
                </a:moveTo>
                <a:cubicBezTo>
                  <a:pt x="528" y="49"/>
                  <a:pt x="1058" y="143"/>
                  <a:pt x="1311" y="257"/>
                </a:cubicBezTo>
                <a:cubicBezTo>
                  <a:pt x="1564" y="371"/>
                  <a:pt x="1264" y="559"/>
                  <a:pt x="1519" y="686"/>
                </a:cubicBezTo>
                <a:cubicBezTo>
                  <a:pt x="1774" y="813"/>
                  <a:pt x="2567" y="948"/>
                  <a:pt x="2843" y="1017"/>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1015" name="Freeform 343"/>
          <p:cNvSpPr>
            <a:spLocks/>
          </p:cNvSpPr>
          <p:nvPr/>
        </p:nvSpPr>
        <p:spPr bwMode="auto">
          <a:xfrm>
            <a:off x="2724150" y="2044700"/>
            <a:ext cx="3502025" cy="2741613"/>
          </a:xfrm>
          <a:custGeom>
            <a:avLst/>
            <a:gdLst>
              <a:gd name="T0" fmla="*/ 0 w 2206"/>
              <a:gd name="T1" fmla="*/ 0 h 1727"/>
              <a:gd name="T2" fmla="*/ 858 w 2206"/>
              <a:gd name="T3" fmla="*/ 219 h 1727"/>
              <a:gd name="T4" fmla="*/ 1164 w 2206"/>
              <a:gd name="T5" fmla="*/ 918 h 1727"/>
              <a:gd name="T6" fmla="*/ 2206 w 2206"/>
              <a:gd name="T7" fmla="*/ 1727 h 1727"/>
            </a:gdLst>
            <a:ahLst/>
            <a:cxnLst>
              <a:cxn ang="0">
                <a:pos x="T0" y="T1"/>
              </a:cxn>
              <a:cxn ang="0">
                <a:pos x="T2" y="T3"/>
              </a:cxn>
              <a:cxn ang="0">
                <a:pos x="T4" y="T5"/>
              </a:cxn>
              <a:cxn ang="0">
                <a:pos x="T6" y="T7"/>
              </a:cxn>
            </a:cxnLst>
            <a:rect l="0" t="0" r="r" b="b"/>
            <a:pathLst>
              <a:path w="2206" h="1727">
                <a:moveTo>
                  <a:pt x="0" y="0"/>
                </a:moveTo>
                <a:cubicBezTo>
                  <a:pt x="143" y="36"/>
                  <a:pt x="664" y="66"/>
                  <a:pt x="858" y="219"/>
                </a:cubicBezTo>
                <a:cubicBezTo>
                  <a:pt x="1052" y="372"/>
                  <a:pt x="939" y="667"/>
                  <a:pt x="1164" y="918"/>
                </a:cubicBezTo>
                <a:cubicBezTo>
                  <a:pt x="1389" y="1169"/>
                  <a:pt x="1989" y="1559"/>
                  <a:pt x="2206" y="1727"/>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1016" name="Freeform 344"/>
          <p:cNvSpPr>
            <a:spLocks/>
          </p:cNvSpPr>
          <p:nvPr/>
        </p:nvSpPr>
        <p:spPr bwMode="auto">
          <a:xfrm>
            <a:off x="3756025" y="2024063"/>
            <a:ext cx="2547938" cy="660400"/>
          </a:xfrm>
          <a:custGeom>
            <a:avLst/>
            <a:gdLst>
              <a:gd name="T0" fmla="*/ 0 w 1605"/>
              <a:gd name="T1" fmla="*/ 0 h 416"/>
              <a:gd name="T2" fmla="*/ 428 w 1605"/>
              <a:gd name="T3" fmla="*/ 147 h 416"/>
              <a:gd name="T4" fmla="*/ 612 w 1605"/>
              <a:gd name="T5" fmla="*/ 318 h 416"/>
              <a:gd name="T6" fmla="*/ 1605 w 1605"/>
              <a:gd name="T7" fmla="*/ 416 h 416"/>
            </a:gdLst>
            <a:ahLst/>
            <a:cxnLst>
              <a:cxn ang="0">
                <a:pos x="T0" y="T1"/>
              </a:cxn>
              <a:cxn ang="0">
                <a:pos x="T2" y="T3"/>
              </a:cxn>
              <a:cxn ang="0">
                <a:pos x="T4" y="T5"/>
              </a:cxn>
              <a:cxn ang="0">
                <a:pos x="T6" y="T7"/>
              </a:cxn>
            </a:cxnLst>
            <a:rect l="0" t="0" r="r" b="b"/>
            <a:pathLst>
              <a:path w="1605" h="416">
                <a:moveTo>
                  <a:pt x="0" y="0"/>
                </a:moveTo>
                <a:cubicBezTo>
                  <a:pt x="71" y="25"/>
                  <a:pt x="326" y="94"/>
                  <a:pt x="428" y="147"/>
                </a:cubicBezTo>
                <a:cubicBezTo>
                  <a:pt x="530" y="200"/>
                  <a:pt x="416" y="273"/>
                  <a:pt x="612" y="318"/>
                </a:cubicBezTo>
                <a:cubicBezTo>
                  <a:pt x="808" y="363"/>
                  <a:pt x="1398" y="396"/>
                  <a:pt x="1605" y="416"/>
                </a:cubicBezTo>
              </a:path>
            </a:pathLst>
          </a:custGeom>
          <a:noFill/>
          <a:ln w="9525">
            <a:solidFill>
              <a:schemeClr val="accent2"/>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lide Number Placeholder 3"/>
          <p:cNvSpPr>
            <a:spLocks noGrp="1"/>
          </p:cNvSpPr>
          <p:nvPr>
            <p:ph type="sldNum" sz="quarter" idx="10"/>
          </p:nvPr>
        </p:nvSpPr>
        <p:spPr/>
        <p:txBody>
          <a:bodyPr/>
          <a:lstStyle/>
          <a:p>
            <a:fld id="{40F07E56-3679-4ECA-814E-FC41F9522C1C}" type="slidenum">
              <a:rPr lang="en-US" altLang="en-US"/>
              <a:pPr/>
              <a:t>37</a:t>
            </a:fld>
            <a:endParaRPr lang="en-US" altLang="en-US"/>
          </a:p>
        </p:txBody>
      </p:sp>
      <p:sp>
        <p:nvSpPr>
          <p:cNvPr id="542722" name="Rectangle 2"/>
          <p:cNvSpPr>
            <a:spLocks noGrp="1" noChangeArrowheads="1"/>
          </p:cNvSpPr>
          <p:nvPr>
            <p:ph type="title"/>
          </p:nvPr>
        </p:nvSpPr>
        <p:spPr/>
        <p:txBody>
          <a:bodyPr/>
          <a:lstStyle/>
          <a:p>
            <a:r>
              <a:rPr lang="en-US" altLang="en-US"/>
              <a:t>RTL Example: </a:t>
            </a:r>
            <a:r>
              <a:rPr lang="en-US" altLang="en-US" sz="3200"/>
              <a:t>Video Compression – Sum of Absolute Differences</a:t>
            </a:r>
          </a:p>
        </p:txBody>
      </p:sp>
      <p:sp>
        <p:nvSpPr>
          <p:cNvPr id="542723" name="Rectangle 3"/>
          <p:cNvSpPr>
            <a:spLocks noGrp="1" noChangeArrowheads="1"/>
          </p:cNvSpPr>
          <p:nvPr>
            <p:ph type="body" idx="1"/>
          </p:nvPr>
        </p:nvSpPr>
        <p:spPr>
          <a:xfrm>
            <a:off x="1997075" y="5634038"/>
            <a:ext cx="6892925" cy="558800"/>
          </a:xfrm>
        </p:spPr>
        <p:txBody>
          <a:bodyPr/>
          <a:lstStyle/>
          <a:p>
            <a:pPr>
              <a:lnSpc>
                <a:spcPct val="90000"/>
              </a:lnSpc>
            </a:pPr>
            <a:r>
              <a:rPr lang="en-US" altLang="en-US" sz="2000"/>
              <a:t>Step 3: Connect to controller</a:t>
            </a:r>
          </a:p>
          <a:p>
            <a:pPr>
              <a:lnSpc>
                <a:spcPct val="90000"/>
              </a:lnSpc>
            </a:pPr>
            <a:r>
              <a:rPr lang="en-US" altLang="en-US" sz="2000"/>
              <a:t>Step 4: Replace high-level state machine by FSM</a:t>
            </a:r>
          </a:p>
        </p:txBody>
      </p:sp>
      <p:sp>
        <p:nvSpPr>
          <p:cNvPr id="542896" name="Rectangle 176"/>
          <p:cNvSpPr>
            <a:spLocks noChangeArrowheads="1"/>
          </p:cNvSpPr>
          <p:nvPr/>
        </p:nvSpPr>
        <p:spPr bwMode="auto">
          <a:xfrm>
            <a:off x="4359275" y="1749425"/>
            <a:ext cx="3833813" cy="3516313"/>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897" name="Oval 177"/>
          <p:cNvSpPr>
            <a:spLocks noChangeArrowheads="1"/>
          </p:cNvSpPr>
          <p:nvPr/>
        </p:nvSpPr>
        <p:spPr bwMode="auto">
          <a:xfrm>
            <a:off x="6173788" y="2014538"/>
            <a:ext cx="87312" cy="88900"/>
          </a:xfrm>
          <a:prstGeom prst="ellipse">
            <a:avLst/>
          </a:prstGeom>
          <a:solidFill>
            <a:srgbClr val="000000"/>
          </a:solidFill>
          <a:ln w="12700">
            <a:solidFill>
              <a:srgbClr val="000000"/>
            </a:solidFill>
            <a:miter lim="800000"/>
            <a:headEnd/>
            <a:tailEnd/>
          </a:ln>
        </p:spPr>
        <p:txBody>
          <a:bodyPr/>
          <a:lstStyle/>
          <a:p>
            <a:endParaRPr lang="en-US"/>
          </a:p>
        </p:txBody>
      </p:sp>
      <p:sp>
        <p:nvSpPr>
          <p:cNvPr id="542898" name="Oval 178"/>
          <p:cNvSpPr>
            <a:spLocks noChangeArrowheads="1"/>
          </p:cNvSpPr>
          <p:nvPr/>
        </p:nvSpPr>
        <p:spPr bwMode="auto">
          <a:xfrm>
            <a:off x="6037263" y="3911600"/>
            <a:ext cx="88900" cy="88900"/>
          </a:xfrm>
          <a:prstGeom prst="ellipse">
            <a:avLst/>
          </a:prstGeom>
          <a:solidFill>
            <a:srgbClr val="000000"/>
          </a:solidFill>
          <a:ln w="12700">
            <a:solidFill>
              <a:srgbClr val="000000"/>
            </a:solidFill>
            <a:miter lim="800000"/>
            <a:headEnd/>
            <a:tailEnd/>
          </a:ln>
        </p:spPr>
        <p:txBody>
          <a:bodyPr/>
          <a:lstStyle/>
          <a:p>
            <a:endParaRPr lang="en-US"/>
          </a:p>
        </p:txBody>
      </p:sp>
      <p:sp>
        <p:nvSpPr>
          <p:cNvPr id="542899" name="Line 179"/>
          <p:cNvSpPr>
            <a:spLocks noChangeShapeType="1"/>
          </p:cNvSpPr>
          <p:nvPr/>
        </p:nvSpPr>
        <p:spPr bwMode="auto">
          <a:xfrm>
            <a:off x="992188" y="1885950"/>
            <a:ext cx="171450" cy="123825"/>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00" name="Freeform 180"/>
          <p:cNvSpPr>
            <a:spLocks/>
          </p:cNvSpPr>
          <p:nvPr/>
        </p:nvSpPr>
        <p:spPr bwMode="auto">
          <a:xfrm>
            <a:off x="1092200" y="1938338"/>
            <a:ext cx="184150" cy="147637"/>
          </a:xfrm>
          <a:custGeom>
            <a:avLst/>
            <a:gdLst>
              <a:gd name="T0" fmla="*/ 116 w 116"/>
              <a:gd name="T1" fmla="*/ 93 h 93"/>
              <a:gd name="T2" fmla="*/ 34 w 116"/>
              <a:gd name="T3" fmla="*/ 0 h 93"/>
              <a:gd name="T4" fmla="*/ 0 w 116"/>
              <a:gd name="T5" fmla="*/ 48 h 93"/>
              <a:gd name="T6" fmla="*/ 116 w 116"/>
              <a:gd name="T7" fmla="*/ 93 h 93"/>
            </a:gdLst>
            <a:ahLst/>
            <a:cxnLst>
              <a:cxn ang="0">
                <a:pos x="T0" y="T1"/>
              </a:cxn>
              <a:cxn ang="0">
                <a:pos x="T2" y="T3"/>
              </a:cxn>
              <a:cxn ang="0">
                <a:pos x="T4" y="T5"/>
              </a:cxn>
              <a:cxn ang="0">
                <a:pos x="T6" y="T7"/>
              </a:cxn>
            </a:cxnLst>
            <a:rect l="0" t="0" r="r" b="b"/>
            <a:pathLst>
              <a:path w="116" h="93">
                <a:moveTo>
                  <a:pt x="116" y="93"/>
                </a:moveTo>
                <a:lnTo>
                  <a:pt x="34" y="0"/>
                </a:lnTo>
                <a:lnTo>
                  <a:pt x="0" y="48"/>
                </a:lnTo>
                <a:lnTo>
                  <a:pt x="116" y="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01" name="Freeform 181"/>
          <p:cNvSpPr>
            <a:spLocks/>
          </p:cNvSpPr>
          <p:nvPr/>
        </p:nvSpPr>
        <p:spPr bwMode="auto">
          <a:xfrm>
            <a:off x="1936750" y="1979613"/>
            <a:ext cx="171450" cy="106362"/>
          </a:xfrm>
          <a:custGeom>
            <a:avLst/>
            <a:gdLst>
              <a:gd name="T0" fmla="*/ 0 w 108"/>
              <a:gd name="T1" fmla="*/ 67 h 67"/>
              <a:gd name="T2" fmla="*/ 108 w 108"/>
              <a:gd name="T3" fmla="*/ 48 h 67"/>
              <a:gd name="T4" fmla="*/ 86 w 108"/>
              <a:gd name="T5" fmla="*/ 0 h 67"/>
              <a:gd name="T6" fmla="*/ 0 w 108"/>
              <a:gd name="T7" fmla="*/ 67 h 67"/>
            </a:gdLst>
            <a:ahLst/>
            <a:cxnLst>
              <a:cxn ang="0">
                <a:pos x="T0" y="T1"/>
              </a:cxn>
              <a:cxn ang="0">
                <a:pos x="T2" y="T3"/>
              </a:cxn>
              <a:cxn ang="0">
                <a:pos x="T4" y="T5"/>
              </a:cxn>
              <a:cxn ang="0">
                <a:pos x="T6" y="T7"/>
              </a:cxn>
            </a:cxnLst>
            <a:rect l="0" t="0" r="r" b="b"/>
            <a:pathLst>
              <a:path w="108" h="67">
                <a:moveTo>
                  <a:pt x="0" y="67"/>
                </a:moveTo>
                <a:lnTo>
                  <a:pt x="108" y="48"/>
                </a:lnTo>
                <a:lnTo>
                  <a:pt x="86" y="0"/>
                </a:lnTo>
                <a:lnTo>
                  <a:pt x="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02" name="Line 182"/>
          <p:cNvSpPr>
            <a:spLocks noChangeShapeType="1"/>
          </p:cNvSpPr>
          <p:nvPr/>
        </p:nvSpPr>
        <p:spPr bwMode="auto">
          <a:xfrm>
            <a:off x="1606550" y="2339975"/>
            <a:ext cx="1588" cy="184150"/>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03" name="Freeform 183"/>
          <p:cNvSpPr>
            <a:spLocks/>
          </p:cNvSpPr>
          <p:nvPr/>
        </p:nvSpPr>
        <p:spPr bwMode="auto">
          <a:xfrm>
            <a:off x="1558925" y="2452688"/>
            <a:ext cx="95250" cy="188912"/>
          </a:xfrm>
          <a:custGeom>
            <a:avLst/>
            <a:gdLst>
              <a:gd name="T0" fmla="*/ 30 w 60"/>
              <a:gd name="T1" fmla="*/ 119 h 119"/>
              <a:gd name="T2" fmla="*/ 60 w 60"/>
              <a:gd name="T3" fmla="*/ 0 h 119"/>
              <a:gd name="T4" fmla="*/ 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60" y="0"/>
                </a:lnTo>
                <a:lnTo>
                  <a:pt x="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04" name="Line 184"/>
          <p:cNvSpPr>
            <a:spLocks noChangeShapeType="1"/>
          </p:cNvSpPr>
          <p:nvPr/>
        </p:nvSpPr>
        <p:spPr bwMode="auto">
          <a:xfrm>
            <a:off x="1606550" y="3462338"/>
            <a:ext cx="1588" cy="207962"/>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05" name="Freeform 185"/>
          <p:cNvSpPr>
            <a:spLocks/>
          </p:cNvSpPr>
          <p:nvPr/>
        </p:nvSpPr>
        <p:spPr bwMode="auto">
          <a:xfrm>
            <a:off x="1558925" y="3605213"/>
            <a:ext cx="95250" cy="188912"/>
          </a:xfrm>
          <a:custGeom>
            <a:avLst/>
            <a:gdLst>
              <a:gd name="T0" fmla="*/ 30 w 60"/>
              <a:gd name="T1" fmla="*/ 119 h 119"/>
              <a:gd name="T2" fmla="*/ 60 w 60"/>
              <a:gd name="T3" fmla="*/ 0 h 119"/>
              <a:gd name="T4" fmla="*/ 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60" y="0"/>
                </a:lnTo>
                <a:lnTo>
                  <a:pt x="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06" name="Line 186"/>
          <p:cNvSpPr>
            <a:spLocks noChangeShapeType="1"/>
          </p:cNvSpPr>
          <p:nvPr/>
        </p:nvSpPr>
        <p:spPr bwMode="auto">
          <a:xfrm>
            <a:off x="1606550" y="2930525"/>
            <a:ext cx="1588" cy="125413"/>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07" name="Freeform 187"/>
          <p:cNvSpPr>
            <a:spLocks/>
          </p:cNvSpPr>
          <p:nvPr/>
        </p:nvSpPr>
        <p:spPr bwMode="auto">
          <a:xfrm>
            <a:off x="1558925" y="2984500"/>
            <a:ext cx="95250" cy="188913"/>
          </a:xfrm>
          <a:custGeom>
            <a:avLst/>
            <a:gdLst>
              <a:gd name="T0" fmla="*/ 30 w 60"/>
              <a:gd name="T1" fmla="*/ 119 h 119"/>
              <a:gd name="T2" fmla="*/ 60 w 60"/>
              <a:gd name="T3" fmla="*/ 0 h 119"/>
              <a:gd name="T4" fmla="*/ 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60" y="0"/>
                </a:lnTo>
                <a:lnTo>
                  <a:pt x="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08" name="Line 188"/>
          <p:cNvSpPr>
            <a:spLocks noChangeShapeType="1"/>
          </p:cNvSpPr>
          <p:nvPr/>
        </p:nvSpPr>
        <p:spPr bwMode="auto">
          <a:xfrm flipV="1">
            <a:off x="6215063" y="1749425"/>
            <a:ext cx="1587" cy="685800"/>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09" name="Freeform 189"/>
          <p:cNvSpPr>
            <a:spLocks/>
          </p:cNvSpPr>
          <p:nvPr/>
        </p:nvSpPr>
        <p:spPr bwMode="auto">
          <a:xfrm>
            <a:off x="6173788" y="1595438"/>
            <a:ext cx="93662" cy="188912"/>
          </a:xfrm>
          <a:custGeom>
            <a:avLst/>
            <a:gdLst>
              <a:gd name="T0" fmla="*/ 29 w 59"/>
              <a:gd name="T1" fmla="*/ 0 h 119"/>
              <a:gd name="T2" fmla="*/ 0 w 59"/>
              <a:gd name="T3" fmla="*/ 119 h 119"/>
              <a:gd name="T4" fmla="*/ 59 w 59"/>
              <a:gd name="T5" fmla="*/ 119 h 119"/>
              <a:gd name="T6" fmla="*/ 29 w 59"/>
              <a:gd name="T7" fmla="*/ 0 h 119"/>
            </a:gdLst>
            <a:ahLst/>
            <a:cxnLst>
              <a:cxn ang="0">
                <a:pos x="T0" y="T1"/>
              </a:cxn>
              <a:cxn ang="0">
                <a:pos x="T2" y="T3"/>
              </a:cxn>
              <a:cxn ang="0">
                <a:pos x="T4" y="T5"/>
              </a:cxn>
              <a:cxn ang="0">
                <a:pos x="T6" y="T7"/>
              </a:cxn>
            </a:cxnLst>
            <a:rect l="0" t="0" r="r" b="b"/>
            <a:pathLst>
              <a:path w="59" h="119">
                <a:moveTo>
                  <a:pt x="29" y="0"/>
                </a:moveTo>
                <a:lnTo>
                  <a:pt x="0" y="119"/>
                </a:lnTo>
                <a:lnTo>
                  <a:pt x="59" y="119"/>
                </a:lnTo>
                <a:lnTo>
                  <a:pt x="2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10" name="Line 190"/>
          <p:cNvSpPr>
            <a:spLocks noChangeShapeType="1"/>
          </p:cNvSpPr>
          <p:nvPr/>
        </p:nvSpPr>
        <p:spPr bwMode="auto">
          <a:xfrm>
            <a:off x="7389813" y="1554163"/>
            <a:ext cx="1587" cy="727075"/>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11" name="Freeform 191"/>
          <p:cNvSpPr>
            <a:spLocks/>
          </p:cNvSpPr>
          <p:nvPr/>
        </p:nvSpPr>
        <p:spPr bwMode="auto">
          <a:xfrm>
            <a:off x="7342188" y="2246313"/>
            <a:ext cx="95250" cy="188912"/>
          </a:xfrm>
          <a:custGeom>
            <a:avLst/>
            <a:gdLst>
              <a:gd name="T0" fmla="*/ 30 w 60"/>
              <a:gd name="T1" fmla="*/ 119 h 119"/>
              <a:gd name="T2" fmla="*/ 0 w 60"/>
              <a:gd name="T3" fmla="*/ 0 h 119"/>
              <a:gd name="T4" fmla="*/ 6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0" y="0"/>
                </a:lnTo>
                <a:lnTo>
                  <a:pt x="6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12" name="Line 192"/>
          <p:cNvSpPr>
            <a:spLocks noChangeShapeType="1"/>
          </p:cNvSpPr>
          <p:nvPr/>
        </p:nvSpPr>
        <p:spPr bwMode="auto">
          <a:xfrm>
            <a:off x="7389813" y="3822700"/>
            <a:ext cx="1587" cy="407988"/>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13" name="Freeform 193"/>
          <p:cNvSpPr>
            <a:spLocks/>
          </p:cNvSpPr>
          <p:nvPr/>
        </p:nvSpPr>
        <p:spPr bwMode="auto">
          <a:xfrm>
            <a:off x="7342188" y="4195763"/>
            <a:ext cx="95250" cy="188912"/>
          </a:xfrm>
          <a:custGeom>
            <a:avLst/>
            <a:gdLst>
              <a:gd name="T0" fmla="*/ 30 w 60"/>
              <a:gd name="T1" fmla="*/ 119 h 119"/>
              <a:gd name="T2" fmla="*/ 0 w 60"/>
              <a:gd name="T3" fmla="*/ 0 h 119"/>
              <a:gd name="T4" fmla="*/ 6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0" y="0"/>
                </a:lnTo>
                <a:lnTo>
                  <a:pt x="6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14" name="Freeform 194"/>
          <p:cNvSpPr>
            <a:spLocks/>
          </p:cNvSpPr>
          <p:nvPr/>
        </p:nvSpPr>
        <p:spPr bwMode="auto">
          <a:xfrm>
            <a:off x="6084888" y="3959225"/>
            <a:ext cx="968375" cy="254000"/>
          </a:xfrm>
          <a:custGeom>
            <a:avLst/>
            <a:gdLst>
              <a:gd name="T0" fmla="*/ 610 w 610"/>
              <a:gd name="T1" fmla="*/ 160 h 160"/>
              <a:gd name="T2" fmla="*/ 610 w 610"/>
              <a:gd name="T3" fmla="*/ 0 h 160"/>
              <a:gd name="T4" fmla="*/ 0 w 610"/>
              <a:gd name="T5" fmla="*/ 0 h 160"/>
            </a:gdLst>
            <a:ahLst/>
            <a:cxnLst>
              <a:cxn ang="0">
                <a:pos x="T0" y="T1"/>
              </a:cxn>
              <a:cxn ang="0">
                <a:pos x="T2" y="T3"/>
              </a:cxn>
              <a:cxn ang="0">
                <a:pos x="T4" y="T5"/>
              </a:cxn>
            </a:cxnLst>
            <a:rect l="0" t="0" r="r" b="b"/>
            <a:pathLst>
              <a:path w="610" h="160">
                <a:moveTo>
                  <a:pt x="610" y="160"/>
                </a:moveTo>
                <a:lnTo>
                  <a:pt x="610" y="0"/>
                </a:lnTo>
                <a:lnTo>
                  <a:pt x="0" y="0"/>
                </a:lnTo>
              </a:path>
            </a:pathLst>
          </a:custGeom>
          <a:noFill/>
          <a:ln w="365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15" name="Freeform 195"/>
          <p:cNvSpPr>
            <a:spLocks/>
          </p:cNvSpPr>
          <p:nvPr/>
        </p:nvSpPr>
        <p:spPr bwMode="auto">
          <a:xfrm>
            <a:off x="7005638" y="4178300"/>
            <a:ext cx="95250" cy="188913"/>
          </a:xfrm>
          <a:custGeom>
            <a:avLst/>
            <a:gdLst>
              <a:gd name="T0" fmla="*/ 30 w 60"/>
              <a:gd name="T1" fmla="*/ 119 h 119"/>
              <a:gd name="T2" fmla="*/ 0 w 60"/>
              <a:gd name="T3" fmla="*/ 0 h 119"/>
              <a:gd name="T4" fmla="*/ 6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0" y="0"/>
                </a:lnTo>
                <a:lnTo>
                  <a:pt x="6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16" name="Line 196"/>
          <p:cNvSpPr>
            <a:spLocks noChangeShapeType="1"/>
          </p:cNvSpPr>
          <p:nvPr/>
        </p:nvSpPr>
        <p:spPr bwMode="auto">
          <a:xfrm>
            <a:off x="7808913" y="1554163"/>
            <a:ext cx="1587" cy="727075"/>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17" name="Freeform 197"/>
          <p:cNvSpPr>
            <a:spLocks/>
          </p:cNvSpPr>
          <p:nvPr/>
        </p:nvSpPr>
        <p:spPr bwMode="auto">
          <a:xfrm>
            <a:off x="7762875" y="2246313"/>
            <a:ext cx="93663" cy="188912"/>
          </a:xfrm>
          <a:custGeom>
            <a:avLst/>
            <a:gdLst>
              <a:gd name="T0" fmla="*/ 29 w 59"/>
              <a:gd name="T1" fmla="*/ 119 h 119"/>
              <a:gd name="T2" fmla="*/ 0 w 59"/>
              <a:gd name="T3" fmla="*/ 0 h 119"/>
              <a:gd name="T4" fmla="*/ 59 w 59"/>
              <a:gd name="T5" fmla="*/ 0 h 119"/>
              <a:gd name="T6" fmla="*/ 29 w 59"/>
              <a:gd name="T7" fmla="*/ 119 h 119"/>
            </a:gdLst>
            <a:ahLst/>
            <a:cxnLst>
              <a:cxn ang="0">
                <a:pos x="T0" y="T1"/>
              </a:cxn>
              <a:cxn ang="0">
                <a:pos x="T2" y="T3"/>
              </a:cxn>
              <a:cxn ang="0">
                <a:pos x="T4" y="T5"/>
              </a:cxn>
              <a:cxn ang="0">
                <a:pos x="T6" y="T7"/>
              </a:cxn>
            </a:cxnLst>
            <a:rect l="0" t="0" r="r" b="b"/>
            <a:pathLst>
              <a:path w="59" h="119">
                <a:moveTo>
                  <a:pt x="29" y="119"/>
                </a:moveTo>
                <a:lnTo>
                  <a:pt x="0" y="0"/>
                </a:lnTo>
                <a:lnTo>
                  <a:pt x="59" y="0"/>
                </a:lnTo>
                <a:lnTo>
                  <a:pt x="29"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18" name="Line 198"/>
          <p:cNvSpPr>
            <a:spLocks noChangeShapeType="1"/>
          </p:cNvSpPr>
          <p:nvPr/>
        </p:nvSpPr>
        <p:spPr bwMode="auto">
          <a:xfrm>
            <a:off x="7597775" y="2936875"/>
            <a:ext cx="1588" cy="236538"/>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19" name="Freeform 199"/>
          <p:cNvSpPr>
            <a:spLocks/>
          </p:cNvSpPr>
          <p:nvPr/>
        </p:nvSpPr>
        <p:spPr bwMode="auto">
          <a:xfrm>
            <a:off x="7550150" y="3138488"/>
            <a:ext cx="93663" cy="188912"/>
          </a:xfrm>
          <a:custGeom>
            <a:avLst/>
            <a:gdLst>
              <a:gd name="T0" fmla="*/ 30 w 59"/>
              <a:gd name="T1" fmla="*/ 119 h 119"/>
              <a:gd name="T2" fmla="*/ 0 w 59"/>
              <a:gd name="T3" fmla="*/ 0 h 119"/>
              <a:gd name="T4" fmla="*/ 59 w 59"/>
              <a:gd name="T5" fmla="*/ 0 h 119"/>
              <a:gd name="T6" fmla="*/ 30 w 59"/>
              <a:gd name="T7" fmla="*/ 119 h 119"/>
            </a:gdLst>
            <a:ahLst/>
            <a:cxnLst>
              <a:cxn ang="0">
                <a:pos x="T0" y="T1"/>
              </a:cxn>
              <a:cxn ang="0">
                <a:pos x="T2" y="T3"/>
              </a:cxn>
              <a:cxn ang="0">
                <a:pos x="T4" y="T5"/>
              </a:cxn>
              <a:cxn ang="0">
                <a:pos x="T6" y="T7"/>
              </a:cxn>
            </a:cxnLst>
            <a:rect l="0" t="0" r="r" b="b"/>
            <a:pathLst>
              <a:path w="59" h="119">
                <a:moveTo>
                  <a:pt x="30" y="119"/>
                </a:moveTo>
                <a:lnTo>
                  <a:pt x="0" y="0"/>
                </a:lnTo>
                <a:lnTo>
                  <a:pt x="59"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20" name="Line 200"/>
          <p:cNvSpPr>
            <a:spLocks noChangeShapeType="1"/>
          </p:cNvSpPr>
          <p:nvPr/>
        </p:nvSpPr>
        <p:spPr bwMode="auto">
          <a:xfrm flipH="1">
            <a:off x="6007100" y="2055813"/>
            <a:ext cx="212725" cy="1587"/>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21" name="Freeform 201"/>
          <p:cNvSpPr>
            <a:spLocks/>
          </p:cNvSpPr>
          <p:nvPr/>
        </p:nvSpPr>
        <p:spPr bwMode="auto">
          <a:xfrm>
            <a:off x="5854700" y="2003425"/>
            <a:ext cx="188913" cy="95250"/>
          </a:xfrm>
          <a:custGeom>
            <a:avLst/>
            <a:gdLst>
              <a:gd name="T0" fmla="*/ 0 w 119"/>
              <a:gd name="T1" fmla="*/ 30 h 60"/>
              <a:gd name="T2" fmla="*/ 119 w 119"/>
              <a:gd name="T3" fmla="*/ 60 h 60"/>
              <a:gd name="T4" fmla="*/ 119 w 119"/>
              <a:gd name="T5" fmla="*/ 0 h 60"/>
              <a:gd name="T6" fmla="*/ 0 w 119"/>
              <a:gd name="T7" fmla="*/ 30 h 60"/>
            </a:gdLst>
            <a:ahLst/>
            <a:cxnLst>
              <a:cxn ang="0">
                <a:pos x="T0" y="T1"/>
              </a:cxn>
              <a:cxn ang="0">
                <a:pos x="T2" y="T3"/>
              </a:cxn>
              <a:cxn ang="0">
                <a:pos x="T4" y="T5"/>
              </a:cxn>
              <a:cxn ang="0">
                <a:pos x="T6" y="T7"/>
              </a:cxn>
            </a:cxnLst>
            <a:rect l="0" t="0" r="r" b="b"/>
            <a:pathLst>
              <a:path w="119" h="60">
                <a:moveTo>
                  <a:pt x="0" y="30"/>
                </a:moveTo>
                <a:lnTo>
                  <a:pt x="119" y="60"/>
                </a:lnTo>
                <a:lnTo>
                  <a:pt x="119" y="0"/>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22" name="Freeform 202"/>
          <p:cNvSpPr>
            <a:spLocks/>
          </p:cNvSpPr>
          <p:nvPr/>
        </p:nvSpPr>
        <p:spPr bwMode="auto">
          <a:xfrm>
            <a:off x="1039813" y="2144713"/>
            <a:ext cx="188912" cy="95250"/>
          </a:xfrm>
          <a:custGeom>
            <a:avLst/>
            <a:gdLst>
              <a:gd name="T0" fmla="*/ 119 w 119"/>
              <a:gd name="T1" fmla="*/ 30 h 60"/>
              <a:gd name="T2" fmla="*/ 0 w 119"/>
              <a:gd name="T3" fmla="*/ 0 h 60"/>
              <a:gd name="T4" fmla="*/ 0 w 119"/>
              <a:gd name="T5" fmla="*/ 60 h 60"/>
              <a:gd name="T6" fmla="*/ 119 w 119"/>
              <a:gd name="T7" fmla="*/ 30 h 60"/>
            </a:gdLst>
            <a:ahLst/>
            <a:cxnLst>
              <a:cxn ang="0">
                <a:pos x="T0" y="T1"/>
              </a:cxn>
              <a:cxn ang="0">
                <a:pos x="T2" y="T3"/>
              </a:cxn>
              <a:cxn ang="0">
                <a:pos x="T4" y="T5"/>
              </a:cxn>
              <a:cxn ang="0">
                <a:pos x="T6" y="T7"/>
              </a:cxn>
            </a:cxnLst>
            <a:rect l="0" t="0" r="r" b="b"/>
            <a:pathLst>
              <a:path w="119" h="60">
                <a:moveTo>
                  <a:pt x="119" y="30"/>
                </a:moveTo>
                <a:lnTo>
                  <a:pt x="0" y="0"/>
                </a:lnTo>
                <a:lnTo>
                  <a:pt x="0" y="60"/>
                </a:lnTo>
                <a:lnTo>
                  <a:pt x="119"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23" name="Freeform 203"/>
          <p:cNvSpPr>
            <a:spLocks/>
          </p:cNvSpPr>
          <p:nvPr/>
        </p:nvSpPr>
        <p:spPr bwMode="auto">
          <a:xfrm>
            <a:off x="1033463" y="4543425"/>
            <a:ext cx="188912" cy="95250"/>
          </a:xfrm>
          <a:custGeom>
            <a:avLst/>
            <a:gdLst>
              <a:gd name="T0" fmla="*/ 119 w 119"/>
              <a:gd name="T1" fmla="*/ 30 h 60"/>
              <a:gd name="T2" fmla="*/ 0 w 119"/>
              <a:gd name="T3" fmla="*/ 0 h 60"/>
              <a:gd name="T4" fmla="*/ 0 w 119"/>
              <a:gd name="T5" fmla="*/ 60 h 60"/>
              <a:gd name="T6" fmla="*/ 119 w 119"/>
              <a:gd name="T7" fmla="*/ 30 h 60"/>
            </a:gdLst>
            <a:ahLst/>
            <a:cxnLst>
              <a:cxn ang="0">
                <a:pos x="T0" y="T1"/>
              </a:cxn>
              <a:cxn ang="0">
                <a:pos x="T2" y="T3"/>
              </a:cxn>
              <a:cxn ang="0">
                <a:pos x="T4" y="T5"/>
              </a:cxn>
              <a:cxn ang="0">
                <a:pos x="T6" y="T7"/>
              </a:cxn>
            </a:cxnLst>
            <a:rect l="0" t="0" r="r" b="b"/>
            <a:pathLst>
              <a:path w="119" h="60">
                <a:moveTo>
                  <a:pt x="119" y="30"/>
                </a:moveTo>
                <a:lnTo>
                  <a:pt x="0" y="0"/>
                </a:lnTo>
                <a:lnTo>
                  <a:pt x="0" y="60"/>
                </a:lnTo>
                <a:lnTo>
                  <a:pt x="119"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24" name="Freeform 204"/>
          <p:cNvSpPr>
            <a:spLocks/>
          </p:cNvSpPr>
          <p:nvPr/>
        </p:nvSpPr>
        <p:spPr bwMode="auto">
          <a:xfrm>
            <a:off x="1133475" y="3451225"/>
            <a:ext cx="171450" cy="165100"/>
          </a:xfrm>
          <a:custGeom>
            <a:avLst/>
            <a:gdLst>
              <a:gd name="T0" fmla="*/ 108 w 108"/>
              <a:gd name="T1" fmla="*/ 0 h 104"/>
              <a:gd name="T2" fmla="*/ 0 w 108"/>
              <a:gd name="T3" fmla="*/ 59 h 104"/>
              <a:gd name="T4" fmla="*/ 41 w 108"/>
              <a:gd name="T5" fmla="*/ 104 h 104"/>
              <a:gd name="T6" fmla="*/ 108 w 108"/>
              <a:gd name="T7" fmla="*/ 0 h 104"/>
            </a:gdLst>
            <a:ahLst/>
            <a:cxnLst>
              <a:cxn ang="0">
                <a:pos x="T0" y="T1"/>
              </a:cxn>
              <a:cxn ang="0">
                <a:pos x="T2" y="T3"/>
              </a:cxn>
              <a:cxn ang="0">
                <a:pos x="T4" y="T5"/>
              </a:cxn>
              <a:cxn ang="0">
                <a:pos x="T6" y="T7"/>
              </a:cxn>
            </a:cxnLst>
            <a:rect l="0" t="0" r="r" b="b"/>
            <a:pathLst>
              <a:path w="108" h="104">
                <a:moveTo>
                  <a:pt x="108" y="0"/>
                </a:moveTo>
                <a:lnTo>
                  <a:pt x="0" y="59"/>
                </a:lnTo>
                <a:lnTo>
                  <a:pt x="41" y="104"/>
                </a:lnTo>
                <a:lnTo>
                  <a:pt x="10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25" name="Freeform 205"/>
          <p:cNvSpPr>
            <a:spLocks/>
          </p:cNvSpPr>
          <p:nvPr/>
        </p:nvSpPr>
        <p:spPr bwMode="auto">
          <a:xfrm>
            <a:off x="5564188" y="2765425"/>
            <a:ext cx="142875" cy="147638"/>
          </a:xfrm>
          <a:custGeom>
            <a:avLst/>
            <a:gdLst>
              <a:gd name="T0" fmla="*/ 0 w 90"/>
              <a:gd name="T1" fmla="*/ 93 h 93"/>
              <a:gd name="T2" fmla="*/ 90 w 90"/>
              <a:gd name="T3" fmla="*/ 49 h 93"/>
              <a:gd name="T4" fmla="*/ 0 w 90"/>
              <a:gd name="T5" fmla="*/ 0 h 93"/>
            </a:gdLst>
            <a:ahLst/>
            <a:cxnLst>
              <a:cxn ang="0">
                <a:pos x="T0" y="T1"/>
              </a:cxn>
              <a:cxn ang="0">
                <a:pos x="T2" y="T3"/>
              </a:cxn>
              <a:cxn ang="0">
                <a:pos x="T4" y="T5"/>
              </a:cxn>
            </a:cxnLst>
            <a:rect l="0" t="0" r="r" b="b"/>
            <a:pathLst>
              <a:path w="90" h="93">
                <a:moveTo>
                  <a:pt x="0" y="93"/>
                </a:moveTo>
                <a:lnTo>
                  <a:pt x="90" y="49"/>
                </a:lnTo>
                <a:lnTo>
                  <a:pt x="0" y="0"/>
                </a:lnTo>
              </a:path>
            </a:pathLst>
          </a:custGeom>
          <a:noFill/>
          <a:ln w="1270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26" name="Freeform 206"/>
          <p:cNvSpPr>
            <a:spLocks/>
          </p:cNvSpPr>
          <p:nvPr/>
        </p:nvSpPr>
        <p:spPr bwMode="auto">
          <a:xfrm>
            <a:off x="5564188" y="3670300"/>
            <a:ext cx="142875" cy="147638"/>
          </a:xfrm>
          <a:custGeom>
            <a:avLst/>
            <a:gdLst>
              <a:gd name="T0" fmla="*/ 0 w 90"/>
              <a:gd name="T1" fmla="*/ 93 h 93"/>
              <a:gd name="T2" fmla="*/ 90 w 90"/>
              <a:gd name="T3" fmla="*/ 44 h 93"/>
              <a:gd name="T4" fmla="*/ 0 w 90"/>
              <a:gd name="T5" fmla="*/ 0 h 93"/>
            </a:gdLst>
            <a:ahLst/>
            <a:cxnLst>
              <a:cxn ang="0">
                <a:pos x="T0" y="T1"/>
              </a:cxn>
              <a:cxn ang="0">
                <a:pos x="T2" y="T3"/>
              </a:cxn>
              <a:cxn ang="0">
                <a:pos x="T4" y="T5"/>
              </a:cxn>
            </a:cxnLst>
            <a:rect l="0" t="0" r="r" b="b"/>
            <a:pathLst>
              <a:path w="90" h="93">
                <a:moveTo>
                  <a:pt x="0" y="93"/>
                </a:moveTo>
                <a:lnTo>
                  <a:pt x="90" y="44"/>
                </a:lnTo>
                <a:lnTo>
                  <a:pt x="0" y="0"/>
                </a:lnTo>
              </a:path>
            </a:pathLst>
          </a:custGeom>
          <a:noFill/>
          <a:ln w="1270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27" name="Freeform 207"/>
          <p:cNvSpPr>
            <a:spLocks/>
          </p:cNvSpPr>
          <p:nvPr/>
        </p:nvSpPr>
        <p:spPr bwMode="auto">
          <a:xfrm>
            <a:off x="5564188" y="4703763"/>
            <a:ext cx="142875" cy="147637"/>
          </a:xfrm>
          <a:custGeom>
            <a:avLst/>
            <a:gdLst>
              <a:gd name="T0" fmla="*/ 0 w 90"/>
              <a:gd name="T1" fmla="*/ 93 h 93"/>
              <a:gd name="T2" fmla="*/ 90 w 90"/>
              <a:gd name="T3" fmla="*/ 48 h 93"/>
              <a:gd name="T4" fmla="*/ 0 w 90"/>
              <a:gd name="T5" fmla="*/ 0 h 93"/>
            </a:gdLst>
            <a:ahLst/>
            <a:cxnLst>
              <a:cxn ang="0">
                <a:pos x="T0" y="T1"/>
              </a:cxn>
              <a:cxn ang="0">
                <a:pos x="T2" y="T3"/>
              </a:cxn>
              <a:cxn ang="0">
                <a:pos x="T4" y="T5"/>
              </a:cxn>
            </a:cxnLst>
            <a:rect l="0" t="0" r="r" b="b"/>
            <a:pathLst>
              <a:path w="90" h="93">
                <a:moveTo>
                  <a:pt x="0" y="93"/>
                </a:moveTo>
                <a:lnTo>
                  <a:pt x="90" y="48"/>
                </a:lnTo>
                <a:lnTo>
                  <a:pt x="0" y="0"/>
                </a:lnTo>
              </a:path>
            </a:pathLst>
          </a:custGeom>
          <a:noFill/>
          <a:ln w="1270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28" name="Freeform 208"/>
          <p:cNvSpPr>
            <a:spLocks/>
          </p:cNvSpPr>
          <p:nvPr/>
        </p:nvSpPr>
        <p:spPr bwMode="auto">
          <a:xfrm>
            <a:off x="6137275" y="2181225"/>
            <a:ext cx="160338" cy="152400"/>
          </a:xfrm>
          <a:custGeom>
            <a:avLst/>
            <a:gdLst>
              <a:gd name="T0" fmla="*/ 101 w 101"/>
              <a:gd name="T1" fmla="*/ 0 h 96"/>
              <a:gd name="T2" fmla="*/ 0 w 101"/>
              <a:gd name="T3" fmla="*/ 96 h 96"/>
              <a:gd name="T4" fmla="*/ 101 w 101"/>
              <a:gd name="T5" fmla="*/ 0 h 96"/>
            </a:gdLst>
            <a:ahLst/>
            <a:cxnLst>
              <a:cxn ang="0">
                <a:pos x="T0" y="T1"/>
              </a:cxn>
              <a:cxn ang="0">
                <a:pos x="T2" y="T3"/>
              </a:cxn>
              <a:cxn ang="0">
                <a:pos x="T4" y="T5"/>
              </a:cxn>
            </a:cxnLst>
            <a:rect l="0" t="0" r="r" b="b"/>
            <a:pathLst>
              <a:path w="101" h="96">
                <a:moveTo>
                  <a:pt x="101" y="0"/>
                </a:moveTo>
                <a:lnTo>
                  <a:pt x="0" y="96"/>
                </a:lnTo>
                <a:lnTo>
                  <a:pt x="10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29" name="Line 209"/>
          <p:cNvSpPr>
            <a:spLocks noChangeShapeType="1"/>
          </p:cNvSpPr>
          <p:nvPr/>
        </p:nvSpPr>
        <p:spPr bwMode="auto">
          <a:xfrm flipH="1">
            <a:off x="6137275" y="2181225"/>
            <a:ext cx="160338" cy="15240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30" name="Freeform 210"/>
          <p:cNvSpPr>
            <a:spLocks/>
          </p:cNvSpPr>
          <p:nvPr/>
        </p:nvSpPr>
        <p:spPr bwMode="auto">
          <a:xfrm>
            <a:off x="1092200" y="3498850"/>
            <a:ext cx="514350" cy="796925"/>
          </a:xfrm>
          <a:custGeom>
            <a:avLst/>
            <a:gdLst>
              <a:gd name="T0" fmla="*/ 324 w 324"/>
              <a:gd name="T1" fmla="*/ 372 h 502"/>
              <a:gd name="T2" fmla="*/ 324 w 324"/>
              <a:gd name="T3" fmla="*/ 502 h 502"/>
              <a:gd name="T4" fmla="*/ 0 w 324"/>
              <a:gd name="T5" fmla="*/ 502 h 502"/>
              <a:gd name="T6" fmla="*/ 0 w 324"/>
              <a:gd name="T7" fmla="*/ 96 h 502"/>
              <a:gd name="T8" fmla="*/ 104 w 324"/>
              <a:gd name="T9" fmla="*/ 0 h 502"/>
            </a:gdLst>
            <a:ahLst/>
            <a:cxnLst>
              <a:cxn ang="0">
                <a:pos x="T0" y="T1"/>
              </a:cxn>
              <a:cxn ang="0">
                <a:pos x="T2" y="T3"/>
              </a:cxn>
              <a:cxn ang="0">
                <a:pos x="T4" y="T5"/>
              </a:cxn>
              <a:cxn ang="0">
                <a:pos x="T6" y="T7"/>
              </a:cxn>
              <a:cxn ang="0">
                <a:pos x="T8" y="T9"/>
              </a:cxn>
            </a:cxnLst>
            <a:rect l="0" t="0" r="r" b="b"/>
            <a:pathLst>
              <a:path w="324" h="502">
                <a:moveTo>
                  <a:pt x="324" y="372"/>
                </a:moveTo>
                <a:lnTo>
                  <a:pt x="324" y="502"/>
                </a:lnTo>
                <a:lnTo>
                  <a:pt x="0" y="502"/>
                </a:lnTo>
                <a:lnTo>
                  <a:pt x="0" y="96"/>
                </a:lnTo>
                <a:lnTo>
                  <a:pt x="104" y="0"/>
                </a:lnTo>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1" name="Freeform 211"/>
          <p:cNvSpPr>
            <a:spLocks/>
          </p:cNvSpPr>
          <p:nvPr/>
        </p:nvSpPr>
        <p:spPr bwMode="auto">
          <a:xfrm>
            <a:off x="454025" y="2192338"/>
            <a:ext cx="1146175" cy="2824162"/>
          </a:xfrm>
          <a:custGeom>
            <a:avLst/>
            <a:gdLst>
              <a:gd name="T0" fmla="*/ 458 w 722"/>
              <a:gd name="T1" fmla="*/ 0 h 1779"/>
              <a:gd name="T2" fmla="*/ 0 w 722"/>
              <a:gd name="T3" fmla="*/ 0 h 1779"/>
              <a:gd name="T4" fmla="*/ 0 w 722"/>
              <a:gd name="T5" fmla="*/ 1779 h 1779"/>
              <a:gd name="T6" fmla="*/ 722 w 722"/>
              <a:gd name="T7" fmla="*/ 1779 h 1779"/>
              <a:gd name="T8" fmla="*/ 722 w 722"/>
              <a:gd name="T9" fmla="*/ 1601 h 1779"/>
            </a:gdLst>
            <a:ahLst/>
            <a:cxnLst>
              <a:cxn ang="0">
                <a:pos x="T0" y="T1"/>
              </a:cxn>
              <a:cxn ang="0">
                <a:pos x="T2" y="T3"/>
              </a:cxn>
              <a:cxn ang="0">
                <a:pos x="T4" y="T5"/>
              </a:cxn>
              <a:cxn ang="0">
                <a:pos x="T6" y="T7"/>
              </a:cxn>
              <a:cxn ang="0">
                <a:pos x="T8" y="T9"/>
              </a:cxn>
            </a:cxnLst>
            <a:rect l="0" t="0" r="r" b="b"/>
            <a:pathLst>
              <a:path w="722" h="1779">
                <a:moveTo>
                  <a:pt x="458" y="0"/>
                </a:moveTo>
                <a:lnTo>
                  <a:pt x="0" y="0"/>
                </a:lnTo>
                <a:lnTo>
                  <a:pt x="0" y="1779"/>
                </a:lnTo>
                <a:lnTo>
                  <a:pt x="722" y="1779"/>
                </a:lnTo>
                <a:lnTo>
                  <a:pt x="722" y="1601"/>
                </a:lnTo>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2" name="Freeform 212"/>
          <p:cNvSpPr>
            <a:spLocks/>
          </p:cNvSpPr>
          <p:nvPr/>
        </p:nvSpPr>
        <p:spPr bwMode="auto">
          <a:xfrm>
            <a:off x="920750" y="3321050"/>
            <a:ext cx="312738" cy="1270000"/>
          </a:xfrm>
          <a:custGeom>
            <a:avLst/>
            <a:gdLst>
              <a:gd name="T0" fmla="*/ 197 w 197"/>
              <a:gd name="T1" fmla="*/ 0 h 800"/>
              <a:gd name="T2" fmla="*/ 0 w 197"/>
              <a:gd name="T3" fmla="*/ 0 h 800"/>
              <a:gd name="T4" fmla="*/ 0 w 197"/>
              <a:gd name="T5" fmla="*/ 800 h 800"/>
              <a:gd name="T6" fmla="*/ 145 w 197"/>
              <a:gd name="T7" fmla="*/ 800 h 800"/>
            </a:gdLst>
            <a:ahLst/>
            <a:cxnLst>
              <a:cxn ang="0">
                <a:pos x="T0" y="T1"/>
              </a:cxn>
              <a:cxn ang="0">
                <a:pos x="T2" y="T3"/>
              </a:cxn>
              <a:cxn ang="0">
                <a:pos x="T4" y="T5"/>
              </a:cxn>
              <a:cxn ang="0">
                <a:pos x="T6" y="T7"/>
              </a:cxn>
            </a:cxnLst>
            <a:rect l="0" t="0" r="r" b="b"/>
            <a:pathLst>
              <a:path w="197" h="800">
                <a:moveTo>
                  <a:pt x="197" y="0"/>
                </a:moveTo>
                <a:lnTo>
                  <a:pt x="0" y="0"/>
                </a:lnTo>
                <a:lnTo>
                  <a:pt x="0" y="800"/>
                </a:lnTo>
                <a:lnTo>
                  <a:pt x="145" y="800"/>
                </a:lnTo>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3" name="Freeform 213"/>
          <p:cNvSpPr>
            <a:spLocks/>
          </p:cNvSpPr>
          <p:nvPr/>
        </p:nvSpPr>
        <p:spPr bwMode="auto">
          <a:xfrm>
            <a:off x="1936750" y="2020888"/>
            <a:ext cx="301625" cy="331787"/>
          </a:xfrm>
          <a:custGeom>
            <a:avLst/>
            <a:gdLst>
              <a:gd name="T0" fmla="*/ 24 w 51"/>
              <a:gd name="T1" fmla="*/ 0 h 56"/>
              <a:gd name="T2" fmla="*/ 51 w 51"/>
              <a:gd name="T3" fmla="*/ 28 h 56"/>
              <a:gd name="T4" fmla="*/ 23 w 51"/>
              <a:gd name="T5" fmla="*/ 56 h 56"/>
              <a:gd name="T6" fmla="*/ 0 w 51"/>
              <a:gd name="T7" fmla="*/ 45 h 56"/>
            </a:gdLst>
            <a:ahLst/>
            <a:cxnLst>
              <a:cxn ang="0">
                <a:pos x="T0" y="T1"/>
              </a:cxn>
              <a:cxn ang="0">
                <a:pos x="T2" y="T3"/>
              </a:cxn>
              <a:cxn ang="0">
                <a:pos x="T4" y="T5"/>
              </a:cxn>
              <a:cxn ang="0">
                <a:pos x="T6" y="T7"/>
              </a:cxn>
            </a:cxnLst>
            <a:rect l="0" t="0" r="r" b="b"/>
            <a:pathLst>
              <a:path w="51" h="56">
                <a:moveTo>
                  <a:pt x="24" y="0"/>
                </a:moveTo>
                <a:cubicBezTo>
                  <a:pt x="39" y="0"/>
                  <a:pt x="51" y="13"/>
                  <a:pt x="51" y="28"/>
                </a:cubicBezTo>
                <a:cubicBezTo>
                  <a:pt x="51" y="44"/>
                  <a:pt x="39" y="56"/>
                  <a:pt x="23" y="56"/>
                </a:cubicBezTo>
                <a:cubicBezTo>
                  <a:pt x="14" y="56"/>
                  <a:pt x="5" y="52"/>
                  <a:pt x="0" y="45"/>
                </a:cubicBezTo>
              </a:path>
            </a:pathLst>
          </a:custGeom>
          <a:noFill/>
          <a:ln w="238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4" name="Freeform 214"/>
          <p:cNvSpPr>
            <a:spLocks/>
          </p:cNvSpPr>
          <p:nvPr/>
        </p:nvSpPr>
        <p:spPr bwMode="auto">
          <a:xfrm>
            <a:off x="1233488" y="2051050"/>
            <a:ext cx="733425" cy="282575"/>
          </a:xfrm>
          <a:custGeom>
            <a:avLst/>
            <a:gdLst>
              <a:gd name="T0" fmla="*/ 24 w 124"/>
              <a:gd name="T1" fmla="*/ 48 h 48"/>
              <a:gd name="T2" fmla="*/ 0 w 124"/>
              <a:gd name="T3" fmla="*/ 24 h 48"/>
              <a:gd name="T4" fmla="*/ 24 w 124"/>
              <a:gd name="T5" fmla="*/ 0 h 48"/>
              <a:gd name="T6" fmla="*/ 101 w 124"/>
              <a:gd name="T7" fmla="*/ 0 h 48"/>
              <a:gd name="T8" fmla="*/ 124 w 124"/>
              <a:gd name="T9" fmla="*/ 24 h 48"/>
              <a:gd name="T10" fmla="*/ 101 w 124"/>
              <a:gd name="T11" fmla="*/ 48 h 48"/>
              <a:gd name="T12" fmla="*/ 24 w 124"/>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4" h="48">
                <a:moveTo>
                  <a:pt x="24" y="48"/>
                </a:moveTo>
                <a:cubicBezTo>
                  <a:pt x="11" y="48"/>
                  <a:pt x="0" y="37"/>
                  <a:pt x="0" y="24"/>
                </a:cubicBezTo>
                <a:cubicBezTo>
                  <a:pt x="0" y="11"/>
                  <a:pt x="11" y="0"/>
                  <a:pt x="24" y="0"/>
                </a:cubicBezTo>
                <a:cubicBezTo>
                  <a:pt x="101" y="0"/>
                  <a:pt x="101" y="0"/>
                  <a:pt x="101" y="0"/>
                </a:cubicBezTo>
                <a:cubicBezTo>
                  <a:pt x="114" y="0"/>
                  <a:pt x="124" y="11"/>
                  <a:pt x="124" y="24"/>
                </a:cubicBezTo>
                <a:cubicBezTo>
                  <a:pt x="124" y="37"/>
                  <a:pt x="114" y="48"/>
                  <a:pt x="101" y="48"/>
                </a:cubicBezTo>
                <a:lnTo>
                  <a:pt x="24" y="48"/>
                </a:lnTo>
                <a:close/>
              </a:path>
            </a:pathLst>
          </a:custGeom>
          <a:noFill/>
          <a:ln w="1746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5" name="Freeform 215"/>
          <p:cNvSpPr>
            <a:spLocks/>
          </p:cNvSpPr>
          <p:nvPr/>
        </p:nvSpPr>
        <p:spPr bwMode="auto">
          <a:xfrm>
            <a:off x="1233488" y="2647950"/>
            <a:ext cx="733425" cy="277813"/>
          </a:xfrm>
          <a:custGeom>
            <a:avLst/>
            <a:gdLst>
              <a:gd name="T0" fmla="*/ 24 w 124"/>
              <a:gd name="T1" fmla="*/ 47 h 47"/>
              <a:gd name="T2" fmla="*/ 0 w 124"/>
              <a:gd name="T3" fmla="*/ 24 h 47"/>
              <a:gd name="T4" fmla="*/ 24 w 124"/>
              <a:gd name="T5" fmla="*/ 0 h 47"/>
              <a:gd name="T6" fmla="*/ 101 w 124"/>
              <a:gd name="T7" fmla="*/ 0 h 47"/>
              <a:gd name="T8" fmla="*/ 124 w 124"/>
              <a:gd name="T9" fmla="*/ 24 h 47"/>
              <a:gd name="T10" fmla="*/ 101 w 124"/>
              <a:gd name="T11" fmla="*/ 47 h 47"/>
              <a:gd name="T12" fmla="*/ 24 w 124"/>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24" h="47">
                <a:moveTo>
                  <a:pt x="24" y="47"/>
                </a:moveTo>
                <a:cubicBezTo>
                  <a:pt x="11" y="47"/>
                  <a:pt x="0" y="37"/>
                  <a:pt x="0" y="24"/>
                </a:cubicBezTo>
                <a:cubicBezTo>
                  <a:pt x="0" y="11"/>
                  <a:pt x="11" y="0"/>
                  <a:pt x="24" y="0"/>
                </a:cubicBezTo>
                <a:cubicBezTo>
                  <a:pt x="101" y="0"/>
                  <a:pt x="101" y="0"/>
                  <a:pt x="101" y="0"/>
                </a:cubicBezTo>
                <a:cubicBezTo>
                  <a:pt x="114" y="0"/>
                  <a:pt x="124" y="11"/>
                  <a:pt x="124" y="24"/>
                </a:cubicBezTo>
                <a:cubicBezTo>
                  <a:pt x="124" y="37"/>
                  <a:pt x="114" y="47"/>
                  <a:pt x="101" y="47"/>
                </a:cubicBezTo>
                <a:lnTo>
                  <a:pt x="24" y="47"/>
                </a:lnTo>
                <a:close/>
              </a:path>
            </a:pathLst>
          </a:custGeom>
          <a:noFill/>
          <a:ln w="1746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6" name="Freeform 216"/>
          <p:cNvSpPr>
            <a:spLocks/>
          </p:cNvSpPr>
          <p:nvPr/>
        </p:nvSpPr>
        <p:spPr bwMode="auto">
          <a:xfrm>
            <a:off x="1233488" y="3179763"/>
            <a:ext cx="733425" cy="277812"/>
          </a:xfrm>
          <a:custGeom>
            <a:avLst/>
            <a:gdLst>
              <a:gd name="T0" fmla="*/ 24 w 124"/>
              <a:gd name="T1" fmla="*/ 47 h 47"/>
              <a:gd name="T2" fmla="*/ 0 w 124"/>
              <a:gd name="T3" fmla="*/ 24 h 47"/>
              <a:gd name="T4" fmla="*/ 24 w 124"/>
              <a:gd name="T5" fmla="*/ 0 h 47"/>
              <a:gd name="T6" fmla="*/ 101 w 124"/>
              <a:gd name="T7" fmla="*/ 0 h 47"/>
              <a:gd name="T8" fmla="*/ 124 w 124"/>
              <a:gd name="T9" fmla="*/ 24 h 47"/>
              <a:gd name="T10" fmla="*/ 101 w 124"/>
              <a:gd name="T11" fmla="*/ 47 h 47"/>
              <a:gd name="T12" fmla="*/ 24 w 124"/>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24" h="47">
                <a:moveTo>
                  <a:pt x="24" y="47"/>
                </a:moveTo>
                <a:cubicBezTo>
                  <a:pt x="11" y="47"/>
                  <a:pt x="0" y="37"/>
                  <a:pt x="0" y="24"/>
                </a:cubicBezTo>
                <a:cubicBezTo>
                  <a:pt x="0" y="11"/>
                  <a:pt x="11" y="0"/>
                  <a:pt x="24" y="0"/>
                </a:cubicBezTo>
                <a:cubicBezTo>
                  <a:pt x="101" y="0"/>
                  <a:pt x="101" y="0"/>
                  <a:pt x="101" y="0"/>
                </a:cubicBezTo>
                <a:cubicBezTo>
                  <a:pt x="114" y="0"/>
                  <a:pt x="124" y="11"/>
                  <a:pt x="124" y="24"/>
                </a:cubicBezTo>
                <a:cubicBezTo>
                  <a:pt x="124" y="37"/>
                  <a:pt x="114" y="47"/>
                  <a:pt x="101" y="47"/>
                </a:cubicBezTo>
                <a:lnTo>
                  <a:pt x="24" y="47"/>
                </a:lnTo>
                <a:close/>
              </a:path>
            </a:pathLst>
          </a:custGeom>
          <a:noFill/>
          <a:ln w="1746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7" name="Freeform 217"/>
          <p:cNvSpPr>
            <a:spLocks/>
          </p:cNvSpPr>
          <p:nvPr/>
        </p:nvSpPr>
        <p:spPr bwMode="auto">
          <a:xfrm>
            <a:off x="1233488" y="3805238"/>
            <a:ext cx="733425" cy="277812"/>
          </a:xfrm>
          <a:custGeom>
            <a:avLst/>
            <a:gdLst>
              <a:gd name="T0" fmla="*/ 24 w 124"/>
              <a:gd name="T1" fmla="*/ 47 h 47"/>
              <a:gd name="T2" fmla="*/ 0 w 124"/>
              <a:gd name="T3" fmla="*/ 24 h 47"/>
              <a:gd name="T4" fmla="*/ 24 w 124"/>
              <a:gd name="T5" fmla="*/ 0 h 47"/>
              <a:gd name="T6" fmla="*/ 101 w 124"/>
              <a:gd name="T7" fmla="*/ 0 h 47"/>
              <a:gd name="T8" fmla="*/ 124 w 124"/>
              <a:gd name="T9" fmla="*/ 24 h 47"/>
              <a:gd name="T10" fmla="*/ 101 w 124"/>
              <a:gd name="T11" fmla="*/ 47 h 47"/>
              <a:gd name="T12" fmla="*/ 24 w 124"/>
              <a:gd name="T13" fmla="*/ 47 h 47"/>
            </a:gdLst>
            <a:ahLst/>
            <a:cxnLst>
              <a:cxn ang="0">
                <a:pos x="T0" y="T1"/>
              </a:cxn>
              <a:cxn ang="0">
                <a:pos x="T2" y="T3"/>
              </a:cxn>
              <a:cxn ang="0">
                <a:pos x="T4" y="T5"/>
              </a:cxn>
              <a:cxn ang="0">
                <a:pos x="T6" y="T7"/>
              </a:cxn>
              <a:cxn ang="0">
                <a:pos x="T8" y="T9"/>
              </a:cxn>
              <a:cxn ang="0">
                <a:pos x="T10" y="T11"/>
              </a:cxn>
              <a:cxn ang="0">
                <a:pos x="T12" y="T13"/>
              </a:cxn>
            </a:cxnLst>
            <a:rect l="0" t="0" r="r" b="b"/>
            <a:pathLst>
              <a:path w="124" h="47">
                <a:moveTo>
                  <a:pt x="24" y="47"/>
                </a:moveTo>
                <a:cubicBezTo>
                  <a:pt x="11" y="47"/>
                  <a:pt x="0" y="37"/>
                  <a:pt x="0" y="24"/>
                </a:cubicBezTo>
                <a:cubicBezTo>
                  <a:pt x="0" y="11"/>
                  <a:pt x="11" y="0"/>
                  <a:pt x="24" y="0"/>
                </a:cubicBezTo>
                <a:cubicBezTo>
                  <a:pt x="101" y="0"/>
                  <a:pt x="101" y="0"/>
                  <a:pt x="101" y="0"/>
                </a:cubicBezTo>
                <a:cubicBezTo>
                  <a:pt x="114" y="0"/>
                  <a:pt x="124" y="11"/>
                  <a:pt x="124" y="24"/>
                </a:cubicBezTo>
                <a:cubicBezTo>
                  <a:pt x="124" y="37"/>
                  <a:pt x="114" y="47"/>
                  <a:pt x="101" y="47"/>
                </a:cubicBezTo>
                <a:lnTo>
                  <a:pt x="24" y="47"/>
                </a:lnTo>
                <a:close/>
              </a:path>
            </a:pathLst>
          </a:custGeom>
          <a:noFill/>
          <a:ln w="1746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8" name="Freeform 218"/>
          <p:cNvSpPr>
            <a:spLocks/>
          </p:cNvSpPr>
          <p:nvPr/>
        </p:nvSpPr>
        <p:spPr bwMode="auto">
          <a:xfrm>
            <a:off x="1233488" y="4449763"/>
            <a:ext cx="733425" cy="284162"/>
          </a:xfrm>
          <a:custGeom>
            <a:avLst/>
            <a:gdLst>
              <a:gd name="T0" fmla="*/ 24 w 124"/>
              <a:gd name="T1" fmla="*/ 48 h 48"/>
              <a:gd name="T2" fmla="*/ 0 w 124"/>
              <a:gd name="T3" fmla="*/ 24 h 48"/>
              <a:gd name="T4" fmla="*/ 24 w 124"/>
              <a:gd name="T5" fmla="*/ 0 h 48"/>
              <a:gd name="T6" fmla="*/ 101 w 124"/>
              <a:gd name="T7" fmla="*/ 0 h 48"/>
              <a:gd name="T8" fmla="*/ 124 w 124"/>
              <a:gd name="T9" fmla="*/ 24 h 48"/>
              <a:gd name="T10" fmla="*/ 101 w 124"/>
              <a:gd name="T11" fmla="*/ 48 h 48"/>
              <a:gd name="T12" fmla="*/ 24 w 124"/>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4" h="48">
                <a:moveTo>
                  <a:pt x="24" y="48"/>
                </a:moveTo>
                <a:cubicBezTo>
                  <a:pt x="11" y="48"/>
                  <a:pt x="0" y="37"/>
                  <a:pt x="0" y="24"/>
                </a:cubicBezTo>
                <a:cubicBezTo>
                  <a:pt x="0" y="11"/>
                  <a:pt x="11" y="0"/>
                  <a:pt x="24" y="0"/>
                </a:cubicBezTo>
                <a:cubicBezTo>
                  <a:pt x="101" y="0"/>
                  <a:pt x="101" y="0"/>
                  <a:pt x="101" y="0"/>
                </a:cubicBezTo>
                <a:cubicBezTo>
                  <a:pt x="114" y="0"/>
                  <a:pt x="124" y="11"/>
                  <a:pt x="124" y="24"/>
                </a:cubicBezTo>
                <a:cubicBezTo>
                  <a:pt x="124" y="37"/>
                  <a:pt x="114" y="48"/>
                  <a:pt x="101" y="48"/>
                </a:cubicBezTo>
                <a:lnTo>
                  <a:pt x="24" y="48"/>
                </a:lnTo>
                <a:close/>
              </a:path>
            </a:pathLst>
          </a:custGeom>
          <a:noFill/>
          <a:ln w="1746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39" name="Rectangle 219"/>
          <p:cNvSpPr>
            <a:spLocks noChangeArrowheads="1"/>
          </p:cNvSpPr>
          <p:nvPr/>
        </p:nvSpPr>
        <p:spPr bwMode="auto">
          <a:xfrm>
            <a:off x="1512888" y="2098675"/>
            <a:ext cx="233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S0</a:t>
            </a:r>
            <a:endParaRPr lang="en-US" altLang="en-US"/>
          </a:p>
        </p:txBody>
      </p:sp>
      <p:sp>
        <p:nvSpPr>
          <p:cNvPr id="542940" name="Rectangle 220"/>
          <p:cNvSpPr>
            <a:spLocks noChangeArrowheads="1"/>
          </p:cNvSpPr>
          <p:nvPr/>
        </p:nvSpPr>
        <p:spPr bwMode="auto">
          <a:xfrm>
            <a:off x="1512888" y="2689225"/>
            <a:ext cx="233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S1</a:t>
            </a:r>
            <a:endParaRPr lang="en-US" altLang="en-US"/>
          </a:p>
        </p:txBody>
      </p:sp>
      <p:sp>
        <p:nvSpPr>
          <p:cNvPr id="542941" name="Rectangle 221"/>
          <p:cNvSpPr>
            <a:spLocks noChangeArrowheads="1"/>
          </p:cNvSpPr>
          <p:nvPr/>
        </p:nvSpPr>
        <p:spPr bwMode="auto">
          <a:xfrm>
            <a:off x="1512888" y="3214688"/>
            <a:ext cx="233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S2</a:t>
            </a:r>
            <a:endParaRPr lang="en-US" altLang="en-US"/>
          </a:p>
        </p:txBody>
      </p:sp>
      <p:sp>
        <p:nvSpPr>
          <p:cNvPr id="542942" name="Rectangle 222"/>
          <p:cNvSpPr>
            <a:spLocks noChangeArrowheads="1"/>
          </p:cNvSpPr>
          <p:nvPr/>
        </p:nvSpPr>
        <p:spPr bwMode="auto">
          <a:xfrm>
            <a:off x="1512888" y="3848100"/>
            <a:ext cx="233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S3</a:t>
            </a:r>
            <a:endParaRPr lang="en-US" altLang="en-US"/>
          </a:p>
        </p:txBody>
      </p:sp>
      <p:sp>
        <p:nvSpPr>
          <p:cNvPr id="542943" name="Rectangle 223"/>
          <p:cNvSpPr>
            <a:spLocks noChangeArrowheads="1"/>
          </p:cNvSpPr>
          <p:nvPr/>
        </p:nvSpPr>
        <p:spPr bwMode="auto">
          <a:xfrm>
            <a:off x="1512888" y="4491038"/>
            <a:ext cx="233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S4</a:t>
            </a:r>
            <a:endParaRPr lang="en-US" altLang="en-US"/>
          </a:p>
        </p:txBody>
      </p:sp>
      <p:sp>
        <p:nvSpPr>
          <p:cNvPr id="542944" name="Rectangle 224"/>
          <p:cNvSpPr>
            <a:spLocks noChangeArrowheads="1"/>
          </p:cNvSpPr>
          <p:nvPr/>
        </p:nvSpPr>
        <p:spPr bwMode="auto">
          <a:xfrm>
            <a:off x="2279650" y="2051050"/>
            <a:ext cx="255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go’</a:t>
            </a:r>
            <a:endParaRPr lang="en-US" altLang="en-US"/>
          </a:p>
        </p:txBody>
      </p:sp>
      <p:sp>
        <p:nvSpPr>
          <p:cNvPr id="542946" name="Rectangle 226"/>
          <p:cNvSpPr>
            <a:spLocks noChangeArrowheads="1"/>
          </p:cNvSpPr>
          <p:nvPr/>
        </p:nvSpPr>
        <p:spPr bwMode="auto">
          <a:xfrm>
            <a:off x="1677988" y="2346325"/>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go</a:t>
            </a:r>
            <a:endParaRPr lang="en-US" altLang="en-US"/>
          </a:p>
        </p:txBody>
      </p:sp>
      <p:sp>
        <p:nvSpPr>
          <p:cNvPr id="542947" name="Rectangle 227"/>
          <p:cNvSpPr>
            <a:spLocks noChangeArrowheads="1"/>
          </p:cNvSpPr>
          <p:nvPr/>
        </p:nvSpPr>
        <p:spPr bwMode="auto">
          <a:xfrm>
            <a:off x="2613025" y="1395413"/>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go</a:t>
            </a:r>
            <a:endParaRPr lang="en-US" altLang="en-US"/>
          </a:p>
        </p:txBody>
      </p:sp>
      <p:sp>
        <p:nvSpPr>
          <p:cNvPr id="542948" name="Rectangle 228"/>
          <p:cNvSpPr>
            <a:spLocks noChangeArrowheads="1"/>
          </p:cNvSpPr>
          <p:nvPr/>
        </p:nvSpPr>
        <p:spPr bwMode="auto">
          <a:xfrm>
            <a:off x="3398838" y="1395413"/>
            <a:ext cx="360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AB_</a:t>
            </a:r>
            <a:endParaRPr lang="en-US" altLang="en-US"/>
          </a:p>
        </p:txBody>
      </p:sp>
      <p:sp>
        <p:nvSpPr>
          <p:cNvPr id="542949" name="Rectangle 229"/>
          <p:cNvSpPr>
            <a:spLocks noChangeArrowheads="1"/>
          </p:cNvSpPr>
          <p:nvPr/>
        </p:nvSpPr>
        <p:spPr bwMode="auto">
          <a:xfrm>
            <a:off x="3711575" y="1395413"/>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t>
            </a:r>
            <a:endParaRPr lang="en-US" altLang="en-US"/>
          </a:p>
        </p:txBody>
      </p:sp>
      <p:sp>
        <p:nvSpPr>
          <p:cNvPr id="542950" name="Rectangle 230"/>
          <p:cNvSpPr>
            <a:spLocks noChangeArrowheads="1"/>
          </p:cNvSpPr>
          <p:nvPr/>
        </p:nvSpPr>
        <p:spPr bwMode="auto">
          <a:xfrm>
            <a:off x="3771900" y="139541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
            </a:r>
            <a:endParaRPr lang="en-US" altLang="en-US"/>
          </a:p>
        </p:txBody>
      </p:sp>
      <p:sp>
        <p:nvSpPr>
          <p:cNvPr id="542951" name="Rectangle 231"/>
          <p:cNvSpPr>
            <a:spLocks noChangeArrowheads="1"/>
          </p:cNvSpPr>
          <p:nvPr/>
        </p:nvSpPr>
        <p:spPr bwMode="auto">
          <a:xfrm>
            <a:off x="2043113" y="2582863"/>
            <a:ext cx="5778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sum=0</a:t>
            </a:r>
            <a:endParaRPr lang="en-US" altLang="en-US"/>
          </a:p>
        </p:txBody>
      </p:sp>
      <p:sp>
        <p:nvSpPr>
          <p:cNvPr id="542952" name="Rectangle 232"/>
          <p:cNvSpPr>
            <a:spLocks noChangeArrowheads="1"/>
          </p:cNvSpPr>
          <p:nvPr/>
        </p:nvSpPr>
        <p:spPr bwMode="auto">
          <a:xfrm>
            <a:off x="2043113" y="2795588"/>
            <a:ext cx="2603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i=0</a:t>
            </a:r>
            <a:endParaRPr lang="en-US" altLang="en-US"/>
          </a:p>
        </p:txBody>
      </p:sp>
      <p:sp>
        <p:nvSpPr>
          <p:cNvPr id="542956" name="Rectangle 236"/>
          <p:cNvSpPr>
            <a:spLocks noChangeArrowheads="1"/>
          </p:cNvSpPr>
          <p:nvPr/>
        </p:nvSpPr>
        <p:spPr bwMode="auto">
          <a:xfrm>
            <a:off x="1701800" y="3516313"/>
            <a:ext cx="4730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i&lt;256</a:t>
            </a:r>
            <a:endParaRPr lang="en-US" altLang="en-US"/>
          </a:p>
        </p:txBody>
      </p:sp>
      <p:sp>
        <p:nvSpPr>
          <p:cNvPr id="542960" name="Rectangle 240"/>
          <p:cNvSpPr>
            <a:spLocks noChangeArrowheads="1"/>
          </p:cNvSpPr>
          <p:nvPr/>
        </p:nvSpPr>
        <p:spPr bwMode="auto">
          <a:xfrm>
            <a:off x="2043113" y="3762375"/>
            <a:ext cx="1990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sum=sum+abs(A[i]-B[i])</a:t>
            </a:r>
            <a:endParaRPr lang="en-US" altLang="en-US"/>
          </a:p>
        </p:txBody>
      </p:sp>
      <p:sp>
        <p:nvSpPr>
          <p:cNvPr id="542966" name="Rectangle 246"/>
          <p:cNvSpPr>
            <a:spLocks noChangeArrowheads="1"/>
          </p:cNvSpPr>
          <p:nvPr/>
        </p:nvSpPr>
        <p:spPr bwMode="auto">
          <a:xfrm>
            <a:off x="2043113" y="4187825"/>
            <a:ext cx="4143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i=i+1</a:t>
            </a:r>
            <a:endParaRPr lang="en-US" altLang="en-US"/>
          </a:p>
        </p:txBody>
      </p:sp>
      <p:sp>
        <p:nvSpPr>
          <p:cNvPr id="542969" name="Rectangle 249"/>
          <p:cNvSpPr>
            <a:spLocks noChangeArrowheads="1"/>
          </p:cNvSpPr>
          <p:nvPr/>
        </p:nvSpPr>
        <p:spPr bwMode="auto">
          <a:xfrm>
            <a:off x="2043113" y="4491038"/>
            <a:ext cx="11620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sad_reg=sum</a:t>
            </a:r>
            <a:endParaRPr lang="en-US" altLang="en-US"/>
          </a:p>
        </p:txBody>
      </p:sp>
      <p:sp>
        <p:nvSpPr>
          <p:cNvPr id="542975" name="Freeform 255"/>
          <p:cNvSpPr>
            <a:spLocks/>
          </p:cNvSpPr>
          <p:nvPr/>
        </p:nvSpPr>
        <p:spPr bwMode="auto">
          <a:xfrm>
            <a:off x="2008188" y="4608513"/>
            <a:ext cx="1328737" cy="1587"/>
          </a:xfrm>
          <a:custGeom>
            <a:avLst/>
            <a:gdLst>
              <a:gd name="T0" fmla="*/ 0 w 837"/>
              <a:gd name="T1" fmla="*/ 837 w 837"/>
              <a:gd name="T2" fmla="*/ 0 w 837"/>
            </a:gdLst>
            <a:ahLst/>
            <a:cxnLst>
              <a:cxn ang="0">
                <a:pos x="T0" y="0"/>
              </a:cxn>
              <a:cxn ang="0">
                <a:pos x="T1" y="0"/>
              </a:cxn>
              <a:cxn ang="0">
                <a:pos x="T2" y="0"/>
              </a:cxn>
            </a:cxnLst>
            <a:rect l="0" t="0" r="r" b="b"/>
            <a:pathLst>
              <a:path w="837">
                <a:moveTo>
                  <a:pt x="0" y="0"/>
                </a:moveTo>
                <a:lnTo>
                  <a:pt x="837"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543073" name="Group 353"/>
          <p:cNvGrpSpPr>
            <a:grpSpLocks/>
          </p:cNvGrpSpPr>
          <p:nvPr/>
        </p:nvGrpSpPr>
        <p:grpSpPr bwMode="auto">
          <a:xfrm>
            <a:off x="1671638" y="2693988"/>
            <a:ext cx="2381250" cy="1916112"/>
            <a:chOff x="1053" y="1697"/>
            <a:chExt cx="1500" cy="1207"/>
          </a:xfrm>
        </p:grpSpPr>
        <p:sp>
          <p:nvSpPr>
            <p:cNvPr id="542953" name="Line 233"/>
            <p:cNvSpPr>
              <a:spLocks noChangeShapeType="1"/>
            </p:cNvSpPr>
            <p:nvPr/>
          </p:nvSpPr>
          <p:spPr bwMode="auto">
            <a:xfrm>
              <a:off x="1265" y="1697"/>
              <a:ext cx="398" cy="1"/>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54" name="Line 234"/>
            <p:cNvSpPr>
              <a:spLocks noChangeShapeType="1"/>
            </p:cNvSpPr>
            <p:nvPr/>
          </p:nvSpPr>
          <p:spPr bwMode="auto">
            <a:xfrm>
              <a:off x="1265" y="1835"/>
              <a:ext cx="197" cy="1"/>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55" name="Line 235"/>
            <p:cNvSpPr>
              <a:spLocks noChangeShapeType="1"/>
            </p:cNvSpPr>
            <p:nvPr/>
          </p:nvSpPr>
          <p:spPr bwMode="auto">
            <a:xfrm>
              <a:off x="1053" y="2286"/>
              <a:ext cx="320" cy="1"/>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67" name="Line 247"/>
            <p:cNvSpPr>
              <a:spLocks noChangeShapeType="1"/>
            </p:cNvSpPr>
            <p:nvPr/>
          </p:nvSpPr>
          <p:spPr bwMode="auto">
            <a:xfrm>
              <a:off x="1269" y="2442"/>
              <a:ext cx="1284" cy="1"/>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68" name="Line 248"/>
            <p:cNvSpPr>
              <a:spLocks noChangeShapeType="1"/>
            </p:cNvSpPr>
            <p:nvPr/>
          </p:nvSpPr>
          <p:spPr bwMode="auto">
            <a:xfrm>
              <a:off x="1276" y="2714"/>
              <a:ext cx="272" cy="1"/>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76" name="Line 256"/>
            <p:cNvSpPr>
              <a:spLocks noChangeShapeType="1"/>
            </p:cNvSpPr>
            <p:nvPr/>
          </p:nvSpPr>
          <p:spPr bwMode="auto">
            <a:xfrm>
              <a:off x="1265" y="2903"/>
              <a:ext cx="837" cy="1"/>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542977" name="Rectangle 257"/>
          <p:cNvSpPr>
            <a:spLocks noChangeArrowheads="1"/>
          </p:cNvSpPr>
          <p:nvPr/>
        </p:nvSpPr>
        <p:spPr bwMode="auto">
          <a:xfrm>
            <a:off x="3260725" y="5022850"/>
            <a:ext cx="8286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Controller</a:t>
            </a:r>
            <a:endParaRPr lang="en-US" altLang="en-US"/>
          </a:p>
        </p:txBody>
      </p:sp>
      <p:sp>
        <p:nvSpPr>
          <p:cNvPr id="542983" name="Rectangle 263"/>
          <p:cNvSpPr>
            <a:spLocks noChangeArrowheads="1"/>
          </p:cNvSpPr>
          <p:nvPr/>
        </p:nvSpPr>
        <p:spPr bwMode="auto">
          <a:xfrm>
            <a:off x="347663" y="1749425"/>
            <a:ext cx="3835400" cy="3516313"/>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84" name="Line 264"/>
          <p:cNvSpPr>
            <a:spLocks noChangeShapeType="1"/>
          </p:cNvSpPr>
          <p:nvPr/>
        </p:nvSpPr>
        <p:spPr bwMode="auto">
          <a:xfrm>
            <a:off x="2717800" y="1649413"/>
            <a:ext cx="1588" cy="282575"/>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85" name="Freeform 265"/>
          <p:cNvSpPr>
            <a:spLocks/>
          </p:cNvSpPr>
          <p:nvPr/>
        </p:nvSpPr>
        <p:spPr bwMode="auto">
          <a:xfrm>
            <a:off x="2670175" y="1862138"/>
            <a:ext cx="93663" cy="188912"/>
          </a:xfrm>
          <a:custGeom>
            <a:avLst/>
            <a:gdLst>
              <a:gd name="T0" fmla="*/ 30 w 59"/>
              <a:gd name="T1" fmla="*/ 119 h 119"/>
              <a:gd name="T2" fmla="*/ 59 w 59"/>
              <a:gd name="T3" fmla="*/ 0 h 119"/>
              <a:gd name="T4" fmla="*/ 0 w 59"/>
              <a:gd name="T5" fmla="*/ 0 h 119"/>
              <a:gd name="T6" fmla="*/ 30 w 59"/>
              <a:gd name="T7" fmla="*/ 119 h 119"/>
            </a:gdLst>
            <a:ahLst/>
            <a:cxnLst>
              <a:cxn ang="0">
                <a:pos x="T0" y="T1"/>
              </a:cxn>
              <a:cxn ang="0">
                <a:pos x="T2" y="T3"/>
              </a:cxn>
              <a:cxn ang="0">
                <a:pos x="T4" y="T5"/>
              </a:cxn>
              <a:cxn ang="0">
                <a:pos x="T6" y="T7"/>
              </a:cxn>
            </a:cxnLst>
            <a:rect l="0" t="0" r="r" b="b"/>
            <a:pathLst>
              <a:path w="59" h="119">
                <a:moveTo>
                  <a:pt x="30" y="119"/>
                </a:moveTo>
                <a:lnTo>
                  <a:pt x="59" y="0"/>
                </a:lnTo>
                <a:lnTo>
                  <a:pt x="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86" name="Line 266"/>
          <p:cNvSpPr>
            <a:spLocks noChangeShapeType="1"/>
          </p:cNvSpPr>
          <p:nvPr/>
        </p:nvSpPr>
        <p:spPr bwMode="auto">
          <a:xfrm flipV="1">
            <a:off x="3644900" y="1797050"/>
            <a:ext cx="1588" cy="241300"/>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87" name="Freeform 267"/>
          <p:cNvSpPr>
            <a:spLocks/>
          </p:cNvSpPr>
          <p:nvPr/>
        </p:nvSpPr>
        <p:spPr bwMode="auto">
          <a:xfrm>
            <a:off x="3597275" y="1630363"/>
            <a:ext cx="95250" cy="190500"/>
          </a:xfrm>
          <a:custGeom>
            <a:avLst/>
            <a:gdLst>
              <a:gd name="T0" fmla="*/ 30 w 60"/>
              <a:gd name="T1" fmla="*/ 0 h 120"/>
              <a:gd name="T2" fmla="*/ 0 w 60"/>
              <a:gd name="T3" fmla="*/ 120 h 120"/>
              <a:gd name="T4" fmla="*/ 60 w 60"/>
              <a:gd name="T5" fmla="*/ 120 h 120"/>
              <a:gd name="T6" fmla="*/ 30 w 60"/>
              <a:gd name="T7" fmla="*/ 0 h 120"/>
            </a:gdLst>
            <a:ahLst/>
            <a:cxnLst>
              <a:cxn ang="0">
                <a:pos x="T0" y="T1"/>
              </a:cxn>
              <a:cxn ang="0">
                <a:pos x="T2" y="T3"/>
              </a:cxn>
              <a:cxn ang="0">
                <a:pos x="T4" y="T5"/>
              </a:cxn>
              <a:cxn ang="0">
                <a:pos x="T6" y="T7"/>
              </a:cxn>
            </a:cxnLst>
            <a:rect l="0" t="0" r="r" b="b"/>
            <a:pathLst>
              <a:path w="60" h="120">
                <a:moveTo>
                  <a:pt x="30" y="0"/>
                </a:moveTo>
                <a:lnTo>
                  <a:pt x="0" y="120"/>
                </a:lnTo>
                <a:lnTo>
                  <a:pt x="60" y="120"/>
                </a:lnTo>
                <a:lnTo>
                  <a:pt x="3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88" name="Rectangle 268"/>
          <p:cNvSpPr>
            <a:spLocks noChangeArrowheads="1"/>
          </p:cNvSpPr>
          <p:nvPr/>
        </p:nvSpPr>
        <p:spPr bwMode="auto">
          <a:xfrm>
            <a:off x="5564188" y="2446338"/>
            <a:ext cx="1028700" cy="484187"/>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89" name="Rectangle 269"/>
          <p:cNvSpPr>
            <a:spLocks noChangeArrowheads="1"/>
          </p:cNvSpPr>
          <p:nvPr/>
        </p:nvSpPr>
        <p:spPr bwMode="auto">
          <a:xfrm>
            <a:off x="7183438" y="2446338"/>
            <a:ext cx="827087" cy="484187"/>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90" name="Rectangle 270"/>
          <p:cNvSpPr>
            <a:spLocks noChangeArrowheads="1"/>
          </p:cNvSpPr>
          <p:nvPr/>
        </p:nvSpPr>
        <p:spPr bwMode="auto">
          <a:xfrm>
            <a:off x="7183438" y="3338513"/>
            <a:ext cx="827087" cy="484187"/>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91" name="Rectangle 271"/>
          <p:cNvSpPr>
            <a:spLocks noChangeArrowheads="1"/>
          </p:cNvSpPr>
          <p:nvPr/>
        </p:nvSpPr>
        <p:spPr bwMode="auto">
          <a:xfrm>
            <a:off x="6888163" y="4384675"/>
            <a:ext cx="827087" cy="484188"/>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92" name="Rectangle 272"/>
          <p:cNvSpPr>
            <a:spLocks noChangeArrowheads="1"/>
          </p:cNvSpPr>
          <p:nvPr/>
        </p:nvSpPr>
        <p:spPr bwMode="auto">
          <a:xfrm>
            <a:off x="5564188" y="3351213"/>
            <a:ext cx="1028700" cy="490537"/>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93" name="Rectangle 273"/>
          <p:cNvSpPr>
            <a:spLocks noChangeArrowheads="1"/>
          </p:cNvSpPr>
          <p:nvPr/>
        </p:nvSpPr>
        <p:spPr bwMode="auto">
          <a:xfrm>
            <a:off x="5564188" y="4384675"/>
            <a:ext cx="1028700" cy="484188"/>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2994" name="Line 274"/>
          <p:cNvSpPr>
            <a:spLocks noChangeShapeType="1"/>
          </p:cNvSpPr>
          <p:nvPr/>
        </p:nvSpPr>
        <p:spPr bwMode="auto">
          <a:xfrm>
            <a:off x="4111625" y="2541588"/>
            <a:ext cx="1287463" cy="1587"/>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95" name="Freeform 275"/>
          <p:cNvSpPr>
            <a:spLocks/>
          </p:cNvSpPr>
          <p:nvPr/>
        </p:nvSpPr>
        <p:spPr bwMode="auto">
          <a:xfrm>
            <a:off x="5364163" y="2500313"/>
            <a:ext cx="188912" cy="93662"/>
          </a:xfrm>
          <a:custGeom>
            <a:avLst/>
            <a:gdLst>
              <a:gd name="T0" fmla="*/ 119 w 119"/>
              <a:gd name="T1" fmla="*/ 29 h 59"/>
              <a:gd name="T2" fmla="*/ 0 w 119"/>
              <a:gd name="T3" fmla="*/ 0 h 59"/>
              <a:gd name="T4" fmla="*/ 0 w 119"/>
              <a:gd name="T5" fmla="*/ 59 h 59"/>
              <a:gd name="T6" fmla="*/ 119 w 119"/>
              <a:gd name="T7" fmla="*/ 29 h 59"/>
            </a:gdLst>
            <a:ahLst/>
            <a:cxnLst>
              <a:cxn ang="0">
                <a:pos x="T0" y="T1"/>
              </a:cxn>
              <a:cxn ang="0">
                <a:pos x="T2" y="T3"/>
              </a:cxn>
              <a:cxn ang="0">
                <a:pos x="T4" y="T5"/>
              </a:cxn>
              <a:cxn ang="0">
                <a:pos x="T6" y="T7"/>
              </a:cxn>
            </a:cxnLst>
            <a:rect l="0" t="0" r="r" b="b"/>
            <a:pathLst>
              <a:path w="119" h="59">
                <a:moveTo>
                  <a:pt x="119" y="29"/>
                </a:moveTo>
                <a:lnTo>
                  <a:pt x="0" y="0"/>
                </a:lnTo>
                <a:lnTo>
                  <a:pt x="0" y="59"/>
                </a:lnTo>
                <a:lnTo>
                  <a:pt x="119"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96" name="Line 276"/>
          <p:cNvSpPr>
            <a:spLocks noChangeShapeType="1"/>
          </p:cNvSpPr>
          <p:nvPr/>
        </p:nvSpPr>
        <p:spPr bwMode="auto">
          <a:xfrm>
            <a:off x="4111625" y="2682875"/>
            <a:ext cx="1287463" cy="1588"/>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97" name="Freeform 277"/>
          <p:cNvSpPr>
            <a:spLocks/>
          </p:cNvSpPr>
          <p:nvPr/>
        </p:nvSpPr>
        <p:spPr bwMode="auto">
          <a:xfrm>
            <a:off x="5364163" y="2641600"/>
            <a:ext cx="188912" cy="95250"/>
          </a:xfrm>
          <a:custGeom>
            <a:avLst/>
            <a:gdLst>
              <a:gd name="T0" fmla="*/ 119 w 119"/>
              <a:gd name="T1" fmla="*/ 30 h 60"/>
              <a:gd name="T2" fmla="*/ 0 w 119"/>
              <a:gd name="T3" fmla="*/ 0 h 60"/>
              <a:gd name="T4" fmla="*/ 0 w 119"/>
              <a:gd name="T5" fmla="*/ 60 h 60"/>
              <a:gd name="T6" fmla="*/ 119 w 119"/>
              <a:gd name="T7" fmla="*/ 30 h 60"/>
            </a:gdLst>
            <a:ahLst/>
            <a:cxnLst>
              <a:cxn ang="0">
                <a:pos x="T0" y="T1"/>
              </a:cxn>
              <a:cxn ang="0">
                <a:pos x="T2" y="T3"/>
              </a:cxn>
              <a:cxn ang="0">
                <a:pos x="T4" y="T5"/>
              </a:cxn>
              <a:cxn ang="0">
                <a:pos x="T6" y="T7"/>
              </a:cxn>
            </a:cxnLst>
            <a:rect l="0" t="0" r="r" b="b"/>
            <a:pathLst>
              <a:path w="119" h="60">
                <a:moveTo>
                  <a:pt x="119" y="30"/>
                </a:moveTo>
                <a:lnTo>
                  <a:pt x="0" y="0"/>
                </a:lnTo>
                <a:lnTo>
                  <a:pt x="0" y="60"/>
                </a:lnTo>
                <a:lnTo>
                  <a:pt x="119"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2998" name="Line 278"/>
          <p:cNvSpPr>
            <a:spLocks noChangeShapeType="1"/>
          </p:cNvSpPr>
          <p:nvPr/>
        </p:nvSpPr>
        <p:spPr bwMode="auto">
          <a:xfrm>
            <a:off x="4111625" y="3444875"/>
            <a:ext cx="1287463" cy="1588"/>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2999" name="Freeform 279"/>
          <p:cNvSpPr>
            <a:spLocks/>
          </p:cNvSpPr>
          <p:nvPr/>
        </p:nvSpPr>
        <p:spPr bwMode="auto">
          <a:xfrm>
            <a:off x="5364163" y="3403600"/>
            <a:ext cx="188912" cy="95250"/>
          </a:xfrm>
          <a:custGeom>
            <a:avLst/>
            <a:gdLst>
              <a:gd name="T0" fmla="*/ 119 w 119"/>
              <a:gd name="T1" fmla="*/ 30 h 60"/>
              <a:gd name="T2" fmla="*/ 0 w 119"/>
              <a:gd name="T3" fmla="*/ 0 h 60"/>
              <a:gd name="T4" fmla="*/ 0 w 119"/>
              <a:gd name="T5" fmla="*/ 60 h 60"/>
              <a:gd name="T6" fmla="*/ 119 w 119"/>
              <a:gd name="T7" fmla="*/ 30 h 60"/>
            </a:gdLst>
            <a:ahLst/>
            <a:cxnLst>
              <a:cxn ang="0">
                <a:pos x="T0" y="T1"/>
              </a:cxn>
              <a:cxn ang="0">
                <a:pos x="T2" y="T3"/>
              </a:cxn>
              <a:cxn ang="0">
                <a:pos x="T4" y="T5"/>
              </a:cxn>
              <a:cxn ang="0">
                <a:pos x="T6" y="T7"/>
              </a:cxn>
            </a:cxnLst>
            <a:rect l="0" t="0" r="r" b="b"/>
            <a:pathLst>
              <a:path w="119" h="60">
                <a:moveTo>
                  <a:pt x="119" y="30"/>
                </a:moveTo>
                <a:lnTo>
                  <a:pt x="0" y="0"/>
                </a:lnTo>
                <a:lnTo>
                  <a:pt x="0" y="60"/>
                </a:lnTo>
                <a:lnTo>
                  <a:pt x="119"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00" name="Line 280"/>
          <p:cNvSpPr>
            <a:spLocks noChangeShapeType="1"/>
          </p:cNvSpPr>
          <p:nvPr/>
        </p:nvSpPr>
        <p:spPr bwMode="auto">
          <a:xfrm>
            <a:off x="4111625" y="3587750"/>
            <a:ext cx="1287463" cy="1588"/>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01" name="Freeform 281"/>
          <p:cNvSpPr>
            <a:spLocks/>
          </p:cNvSpPr>
          <p:nvPr/>
        </p:nvSpPr>
        <p:spPr bwMode="auto">
          <a:xfrm>
            <a:off x="5364163" y="3544888"/>
            <a:ext cx="188912" cy="95250"/>
          </a:xfrm>
          <a:custGeom>
            <a:avLst/>
            <a:gdLst>
              <a:gd name="T0" fmla="*/ 119 w 119"/>
              <a:gd name="T1" fmla="*/ 30 h 60"/>
              <a:gd name="T2" fmla="*/ 0 w 119"/>
              <a:gd name="T3" fmla="*/ 0 h 60"/>
              <a:gd name="T4" fmla="*/ 0 w 119"/>
              <a:gd name="T5" fmla="*/ 60 h 60"/>
              <a:gd name="T6" fmla="*/ 119 w 119"/>
              <a:gd name="T7" fmla="*/ 30 h 60"/>
            </a:gdLst>
            <a:ahLst/>
            <a:cxnLst>
              <a:cxn ang="0">
                <a:pos x="T0" y="T1"/>
              </a:cxn>
              <a:cxn ang="0">
                <a:pos x="T2" y="T3"/>
              </a:cxn>
              <a:cxn ang="0">
                <a:pos x="T4" y="T5"/>
              </a:cxn>
              <a:cxn ang="0">
                <a:pos x="T6" y="T7"/>
              </a:cxn>
            </a:cxnLst>
            <a:rect l="0" t="0" r="r" b="b"/>
            <a:pathLst>
              <a:path w="119" h="60">
                <a:moveTo>
                  <a:pt x="119" y="30"/>
                </a:moveTo>
                <a:lnTo>
                  <a:pt x="0" y="0"/>
                </a:lnTo>
                <a:lnTo>
                  <a:pt x="0" y="60"/>
                </a:lnTo>
                <a:lnTo>
                  <a:pt x="119"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02" name="Line 282"/>
          <p:cNvSpPr>
            <a:spLocks noChangeShapeType="1"/>
          </p:cNvSpPr>
          <p:nvPr/>
        </p:nvSpPr>
        <p:spPr bwMode="auto">
          <a:xfrm>
            <a:off x="4111625" y="4473575"/>
            <a:ext cx="1287463" cy="1588"/>
          </a:xfrm>
          <a:prstGeom prst="line">
            <a:avLst/>
          </a:prstGeom>
          <a:noFill/>
          <a:ln w="238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03" name="Freeform 283"/>
          <p:cNvSpPr>
            <a:spLocks/>
          </p:cNvSpPr>
          <p:nvPr/>
        </p:nvSpPr>
        <p:spPr bwMode="auto">
          <a:xfrm>
            <a:off x="5364163" y="4432300"/>
            <a:ext cx="188912" cy="93663"/>
          </a:xfrm>
          <a:custGeom>
            <a:avLst/>
            <a:gdLst>
              <a:gd name="T0" fmla="*/ 119 w 119"/>
              <a:gd name="T1" fmla="*/ 30 h 59"/>
              <a:gd name="T2" fmla="*/ 0 w 119"/>
              <a:gd name="T3" fmla="*/ 0 h 59"/>
              <a:gd name="T4" fmla="*/ 0 w 119"/>
              <a:gd name="T5" fmla="*/ 59 h 59"/>
              <a:gd name="T6" fmla="*/ 119 w 119"/>
              <a:gd name="T7" fmla="*/ 30 h 59"/>
            </a:gdLst>
            <a:ahLst/>
            <a:cxnLst>
              <a:cxn ang="0">
                <a:pos x="T0" y="T1"/>
              </a:cxn>
              <a:cxn ang="0">
                <a:pos x="T2" y="T3"/>
              </a:cxn>
              <a:cxn ang="0">
                <a:pos x="T4" y="T5"/>
              </a:cxn>
              <a:cxn ang="0">
                <a:pos x="T6" y="T7"/>
              </a:cxn>
            </a:cxnLst>
            <a:rect l="0" t="0" r="r" b="b"/>
            <a:pathLst>
              <a:path w="119" h="59">
                <a:moveTo>
                  <a:pt x="119" y="30"/>
                </a:moveTo>
                <a:lnTo>
                  <a:pt x="0" y="0"/>
                </a:lnTo>
                <a:lnTo>
                  <a:pt x="0" y="59"/>
                </a:lnTo>
                <a:lnTo>
                  <a:pt x="119"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04" name="Line 284"/>
          <p:cNvSpPr>
            <a:spLocks noChangeShapeType="1"/>
          </p:cNvSpPr>
          <p:nvPr/>
        </p:nvSpPr>
        <p:spPr bwMode="auto">
          <a:xfrm flipH="1">
            <a:off x="4265613" y="2055813"/>
            <a:ext cx="950912" cy="1587"/>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05" name="Freeform 285"/>
          <p:cNvSpPr>
            <a:spLocks/>
          </p:cNvSpPr>
          <p:nvPr/>
        </p:nvSpPr>
        <p:spPr bwMode="auto">
          <a:xfrm>
            <a:off x="4111625" y="2003425"/>
            <a:ext cx="188913" cy="95250"/>
          </a:xfrm>
          <a:custGeom>
            <a:avLst/>
            <a:gdLst>
              <a:gd name="T0" fmla="*/ 0 w 119"/>
              <a:gd name="T1" fmla="*/ 30 h 60"/>
              <a:gd name="T2" fmla="*/ 119 w 119"/>
              <a:gd name="T3" fmla="*/ 60 h 60"/>
              <a:gd name="T4" fmla="*/ 119 w 119"/>
              <a:gd name="T5" fmla="*/ 0 h 60"/>
              <a:gd name="T6" fmla="*/ 0 w 119"/>
              <a:gd name="T7" fmla="*/ 30 h 60"/>
            </a:gdLst>
            <a:ahLst/>
            <a:cxnLst>
              <a:cxn ang="0">
                <a:pos x="T0" y="T1"/>
              </a:cxn>
              <a:cxn ang="0">
                <a:pos x="T2" y="T3"/>
              </a:cxn>
              <a:cxn ang="0">
                <a:pos x="T4" y="T5"/>
              </a:cxn>
              <a:cxn ang="0">
                <a:pos x="T6" y="T7"/>
              </a:cxn>
            </a:cxnLst>
            <a:rect l="0" t="0" r="r" b="b"/>
            <a:pathLst>
              <a:path w="119" h="60">
                <a:moveTo>
                  <a:pt x="0" y="30"/>
                </a:moveTo>
                <a:lnTo>
                  <a:pt x="119" y="60"/>
                </a:lnTo>
                <a:lnTo>
                  <a:pt x="119" y="0"/>
                </a:lnTo>
                <a:lnTo>
                  <a:pt x="0" y="3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06" name="Freeform 286"/>
          <p:cNvSpPr>
            <a:spLocks/>
          </p:cNvSpPr>
          <p:nvPr/>
        </p:nvSpPr>
        <p:spPr bwMode="auto">
          <a:xfrm>
            <a:off x="6084888" y="3013075"/>
            <a:ext cx="1216025" cy="1979613"/>
          </a:xfrm>
          <a:custGeom>
            <a:avLst/>
            <a:gdLst>
              <a:gd name="T0" fmla="*/ 0 w 766"/>
              <a:gd name="T1" fmla="*/ 105 h 1247"/>
              <a:gd name="T2" fmla="*/ 0 w 766"/>
              <a:gd name="T3" fmla="*/ 0 h 1247"/>
              <a:gd name="T4" fmla="*/ 424 w 766"/>
              <a:gd name="T5" fmla="*/ 0 h 1247"/>
              <a:gd name="T6" fmla="*/ 424 w 766"/>
              <a:gd name="T7" fmla="*/ 1247 h 1247"/>
              <a:gd name="T8" fmla="*/ 766 w 766"/>
              <a:gd name="T9" fmla="*/ 1247 h 1247"/>
              <a:gd name="T10" fmla="*/ 766 w 766"/>
              <a:gd name="T11" fmla="*/ 1173 h 1247"/>
            </a:gdLst>
            <a:ahLst/>
            <a:cxnLst>
              <a:cxn ang="0">
                <a:pos x="T0" y="T1"/>
              </a:cxn>
              <a:cxn ang="0">
                <a:pos x="T2" y="T3"/>
              </a:cxn>
              <a:cxn ang="0">
                <a:pos x="T4" y="T5"/>
              </a:cxn>
              <a:cxn ang="0">
                <a:pos x="T6" y="T7"/>
              </a:cxn>
              <a:cxn ang="0">
                <a:pos x="T8" y="T9"/>
              </a:cxn>
              <a:cxn ang="0">
                <a:pos x="T10" y="T11"/>
              </a:cxn>
            </a:cxnLst>
            <a:rect l="0" t="0" r="r" b="b"/>
            <a:pathLst>
              <a:path w="766" h="1247">
                <a:moveTo>
                  <a:pt x="0" y="105"/>
                </a:moveTo>
                <a:lnTo>
                  <a:pt x="0" y="0"/>
                </a:lnTo>
                <a:lnTo>
                  <a:pt x="424" y="0"/>
                </a:lnTo>
                <a:lnTo>
                  <a:pt x="424" y="1247"/>
                </a:lnTo>
                <a:lnTo>
                  <a:pt x="766" y="1247"/>
                </a:lnTo>
                <a:lnTo>
                  <a:pt x="766" y="1173"/>
                </a:lnTo>
              </a:path>
            </a:pathLst>
          </a:custGeom>
          <a:noFill/>
          <a:ln w="365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3007" name="Freeform 287"/>
          <p:cNvSpPr>
            <a:spLocks/>
          </p:cNvSpPr>
          <p:nvPr/>
        </p:nvSpPr>
        <p:spPr bwMode="auto">
          <a:xfrm>
            <a:off x="6030913" y="3143250"/>
            <a:ext cx="95250" cy="188913"/>
          </a:xfrm>
          <a:custGeom>
            <a:avLst/>
            <a:gdLst>
              <a:gd name="T0" fmla="*/ 30 w 60"/>
              <a:gd name="T1" fmla="*/ 119 h 119"/>
              <a:gd name="T2" fmla="*/ 60 w 60"/>
              <a:gd name="T3" fmla="*/ 0 h 119"/>
              <a:gd name="T4" fmla="*/ 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60" y="0"/>
                </a:lnTo>
                <a:lnTo>
                  <a:pt x="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08" name="Line 288"/>
          <p:cNvSpPr>
            <a:spLocks noChangeShapeType="1"/>
          </p:cNvSpPr>
          <p:nvPr/>
        </p:nvSpPr>
        <p:spPr bwMode="auto">
          <a:xfrm flipV="1">
            <a:off x="6084888" y="3846513"/>
            <a:ext cx="1587" cy="377825"/>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09" name="Freeform 289"/>
          <p:cNvSpPr>
            <a:spLocks/>
          </p:cNvSpPr>
          <p:nvPr/>
        </p:nvSpPr>
        <p:spPr bwMode="auto">
          <a:xfrm>
            <a:off x="6030913" y="4189413"/>
            <a:ext cx="95250" cy="188912"/>
          </a:xfrm>
          <a:custGeom>
            <a:avLst/>
            <a:gdLst>
              <a:gd name="T0" fmla="*/ 30 w 60"/>
              <a:gd name="T1" fmla="*/ 119 h 119"/>
              <a:gd name="T2" fmla="*/ 60 w 60"/>
              <a:gd name="T3" fmla="*/ 0 h 119"/>
              <a:gd name="T4" fmla="*/ 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60" y="0"/>
                </a:lnTo>
                <a:lnTo>
                  <a:pt x="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10" name="Line 290"/>
          <p:cNvSpPr>
            <a:spLocks noChangeShapeType="1"/>
          </p:cNvSpPr>
          <p:nvPr/>
        </p:nvSpPr>
        <p:spPr bwMode="auto">
          <a:xfrm flipV="1">
            <a:off x="6084888" y="4875213"/>
            <a:ext cx="1587" cy="377825"/>
          </a:xfrm>
          <a:prstGeom prst="line">
            <a:avLst/>
          </a:prstGeom>
          <a:noFill/>
          <a:ln w="365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11" name="Freeform 291"/>
          <p:cNvSpPr>
            <a:spLocks/>
          </p:cNvSpPr>
          <p:nvPr/>
        </p:nvSpPr>
        <p:spPr bwMode="auto">
          <a:xfrm>
            <a:off x="6030913" y="5218113"/>
            <a:ext cx="95250" cy="188912"/>
          </a:xfrm>
          <a:custGeom>
            <a:avLst/>
            <a:gdLst>
              <a:gd name="T0" fmla="*/ 30 w 60"/>
              <a:gd name="T1" fmla="*/ 119 h 119"/>
              <a:gd name="T2" fmla="*/ 60 w 60"/>
              <a:gd name="T3" fmla="*/ 0 h 119"/>
              <a:gd name="T4" fmla="*/ 0 w 60"/>
              <a:gd name="T5" fmla="*/ 0 h 119"/>
              <a:gd name="T6" fmla="*/ 30 w 60"/>
              <a:gd name="T7" fmla="*/ 119 h 119"/>
            </a:gdLst>
            <a:ahLst/>
            <a:cxnLst>
              <a:cxn ang="0">
                <a:pos x="T0" y="T1"/>
              </a:cxn>
              <a:cxn ang="0">
                <a:pos x="T2" y="T3"/>
              </a:cxn>
              <a:cxn ang="0">
                <a:pos x="T4" y="T5"/>
              </a:cxn>
              <a:cxn ang="0">
                <a:pos x="T6" y="T7"/>
              </a:cxn>
            </a:cxnLst>
            <a:rect l="0" t="0" r="r" b="b"/>
            <a:pathLst>
              <a:path w="60" h="119">
                <a:moveTo>
                  <a:pt x="30" y="119"/>
                </a:moveTo>
                <a:lnTo>
                  <a:pt x="60" y="0"/>
                </a:lnTo>
                <a:lnTo>
                  <a:pt x="0" y="0"/>
                </a:lnTo>
                <a:lnTo>
                  <a:pt x="30" y="1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12" name="Rectangle 292"/>
          <p:cNvSpPr>
            <a:spLocks noChangeArrowheads="1"/>
          </p:cNvSpPr>
          <p:nvPr/>
        </p:nvSpPr>
        <p:spPr bwMode="auto">
          <a:xfrm>
            <a:off x="4406900" y="1806575"/>
            <a:ext cx="6699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i_lt_256</a:t>
            </a:r>
            <a:endParaRPr lang="en-US" altLang="en-US"/>
          </a:p>
        </p:txBody>
      </p:sp>
      <p:sp>
        <p:nvSpPr>
          <p:cNvPr id="543013" name="Rectangle 293"/>
          <p:cNvSpPr>
            <a:spLocks noChangeArrowheads="1"/>
          </p:cNvSpPr>
          <p:nvPr/>
        </p:nvSpPr>
        <p:spPr bwMode="auto">
          <a:xfrm>
            <a:off x="4406900" y="2311400"/>
            <a:ext cx="393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i_inc</a:t>
            </a:r>
            <a:endParaRPr lang="en-US" altLang="en-US"/>
          </a:p>
        </p:txBody>
      </p:sp>
      <p:sp>
        <p:nvSpPr>
          <p:cNvPr id="543014" name="Rectangle 294"/>
          <p:cNvSpPr>
            <a:spLocks noChangeArrowheads="1"/>
          </p:cNvSpPr>
          <p:nvPr/>
        </p:nvSpPr>
        <p:spPr bwMode="auto">
          <a:xfrm>
            <a:off x="4418013" y="2713038"/>
            <a:ext cx="3508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i_clr</a:t>
            </a:r>
            <a:endParaRPr lang="en-US" altLang="en-US"/>
          </a:p>
        </p:txBody>
      </p:sp>
      <p:sp>
        <p:nvSpPr>
          <p:cNvPr id="543015" name="Rectangle 295"/>
          <p:cNvSpPr>
            <a:spLocks noChangeArrowheads="1"/>
          </p:cNvSpPr>
          <p:nvPr/>
        </p:nvSpPr>
        <p:spPr bwMode="auto">
          <a:xfrm>
            <a:off x="4418013" y="3189288"/>
            <a:ext cx="615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sum_ld</a:t>
            </a:r>
            <a:endParaRPr lang="en-US" altLang="en-US"/>
          </a:p>
        </p:txBody>
      </p:sp>
      <p:sp>
        <p:nvSpPr>
          <p:cNvPr id="543016" name="Rectangle 296"/>
          <p:cNvSpPr>
            <a:spLocks noChangeArrowheads="1"/>
          </p:cNvSpPr>
          <p:nvPr/>
        </p:nvSpPr>
        <p:spPr bwMode="auto">
          <a:xfrm>
            <a:off x="4418013" y="3629025"/>
            <a:ext cx="6683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sum_clr</a:t>
            </a:r>
            <a:endParaRPr lang="en-US" altLang="en-US"/>
          </a:p>
        </p:txBody>
      </p:sp>
      <p:sp>
        <p:nvSpPr>
          <p:cNvPr id="543017" name="Rectangle 297"/>
          <p:cNvSpPr>
            <a:spLocks noChangeArrowheads="1"/>
          </p:cNvSpPr>
          <p:nvPr/>
        </p:nvSpPr>
        <p:spPr bwMode="auto">
          <a:xfrm>
            <a:off x="4418013" y="4219575"/>
            <a:ext cx="9461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dirty="0" err="1">
                <a:solidFill>
                  <a:srgbClr val="000000"/>
                </a:solidFill>
                <a:latin typeface="Myriad Roman" charset="0"/>
              </a:rPr>
              <a:t>sad_reg_ld</a:t>
            </a:r>
            <a:endParaRPr lang="en-US" altLang="en-US" dirty="0"/>
          </a:p>
        </p:txBody>
      </p:sp>
      <p:sp>
        <p:nvSpPr>
          <p:cNvPr id="543025" name="Rectangle 305"/>
          <p:cNvSpPr>
            <a:spLocks noChangeArrowheads="1"/>
          </p:cNvSpPr>
          <p:nvPr/>
        </p:nvSpPr>
        <p:spPr bwMode="auto">
          <a:xfrm>
            <a:off x="5910263" y="3481388"/>
            <a:ext cx="360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a:t>
            </a:r>
            <a:endParaRPr lang="en-US" altLang="en-US"/>
          </a:p>
        </p:txBody>
      </p:sp>
      <p:sp>
        <p:nvSpPr>
          <p:cNvPr id="543026" name="Rectangle 306"/>
          <p:cNvSpPr>
            <a:spLocks noChangeArrowheads="1"/>
          </p:cNvSpPr>
          <p:nvPr/>
        </p:nvSpPr>
        <p:spPr bwMode="auto">
          <a:xfrm>
            <a:off x="5764213" y="4506913"/>
            <a:ext cx="6905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sad_reg</a:t>
            </a:r>
            <a:endParaRPr lang="en-US" altLang="en-US"/>
          </a:p>
        </p:txBody>
      </p:sp>
      <p:sp>
        <p:nvSpPr>
          <p:cNvPr id="543029" name="Rectangle 309"/>
          <p:cNvSpPr>
            <a:spLocks noChangeArrowheads="1"/>
          </p:cNvSpPr>
          <p:nvPr/>
        </p:nvSpPr>
        <p:spPr bwMode="auto">
          <a:xfrm>
            <a:off x="5942013" y="5378450"/>
            <a:ext cx="307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sad</a:t>
            </a:r>
            <a:endParaRPr lang="en-US" altLang="en-US"/>
          </a:p>
        </p:txBody>
      </p:sp>
      <p:sp>
        <p:nvSpPr>
          <p:cNvPr id="543030" name="Rectangle 310"/>
          <p:cNvSpPr>
            <a:spLocks noChangeArrowheads="1"/>
          </p:cNvSpPr>
          <p:nvPr/>
        </p:nvSpPr>
        <p:spPr bwMode="auto">
          <a:xfrm>
            <a:off x="5881688" y="1330325"/>
            <a:ext cx="742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AB_addr</a:t>
            </a:r>
            <a:endParaRPr lang="en-US" altLang="en-US"/>
          </a:p>
        </p:txBody>
      </p:sp>
      <p:sp>
        <p:nvSpPr>
          <p:cNvPr id="543031" name="Rectangle 311"/>
          <p:cNvSpPr>
            <a:spLocks noChangeArrowheads="1"/>
          </p:cNvSpPr>
          <p:nvPr/>
        </p:nvSpPr>
        <p:spPr bwMode="auto">
          <a:xfrm>
            <a:off x="6889750" y="1330325"/>
            <a:ext cx="6048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A_data</a:t>
            </a:r>
            <a:endParaRPr lang="en-US" altLang="en-US"/>
          </a:p>
        </p:txBody>
      </p:sp>
      <p:sp>
        <p:nvSpPr>
          <p:cNvPr id="543034" name="Rectangle 314"/>
          <p:cNvSpPr>
            <a:spLocks noChangeArrowheads="1"/>
          </p:cNvSpPr>
          <p:nvPr/>
        </p:nvSpPr>
        <p:spPr bwMode="auto">
          <a:xfrm>
            <a:off x="7656513" y="1330325"/>
            <a:ext cx="60483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B_data</a:t>
            </a:r>
            <a:endParaRPr lang="en-US" altLang="en-US"/>
          </a:p>
        </p:txBody>
      </p:sp>
      <p:sp>
        <p:nvSpPr>
          <p:cNvPr id="543037" name="Rectangle 317"/>
          <p:cNvSpPr>
            <a:spLocks noChangeArrowheads="1"/>
          </p:cNvSpPr>
          <p:nvPr/>
        </p:nvSpPr>
        <p:spPr bwMode="auto">
          <a:xfrm>
            <a:off x="5318125" y="1936750"/>
            <a:ext cx="4302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&lt;256</a:t>
            </a:r>
            <a:endParaRPr lang="en-US" altLang="en-US"/>
          </a:p>
        </p:txBody>
      </p:sp>
      <p:sp>
        <p:nvSpPr>
          <p:cNvPr id="543038" name="Rectangle 318"/>
          <p:cNvSpPr>
            <a:spLocks noChangeArrowheads="1"/>
          </p:cNvSpPr>
          <p:nvPr/>
        </p:nvSpPr>
        <p:spPr bwMode="auto">
          <a:xfrm>
            <a:off x="5216525" y="1879600"/>
            <a:ext cx="631825" cy="342900"/>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3039" name="Rectangle 319"/>
          <p:cNvSpPr>
            <a:spLocks noChangeArrowheads="1"/>
          </p:cNvSpPr>
          <p:nvPr/>
        </p:nvSpPr>
        <p:spPr bwMode="auto">
          <a:xfrm>
            <a:off x="6323013" y="215106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9</a:t>
            </a:r>
            <a:endParaRPr lang="en-US" altLang="en-US"/>
          </a:p>
        </p:txBody>
      </p:sp>
      <p:sp>
        <p:nvSpPr>
          <p:cNvPr id="543040" name="Freeform 320"/>
          <p:cNvSpPr>
            <a:spLocks/>
          </p:cNvSpPr>
          <p:nvPr/>
        </p:nvSpPr>
        <p:spPr bwMode="auto">
          <a:xfrm>
            <a:off x="6686550" y="3451225"/>
            <a:ext cx="153988" cy="153988"/>
          </a:xfrm>
          <a:custGeom>
            <a:avLst/>
            <a:gdLst>
              <a:gd name="T0" fmla="*/ 97 w 97"/>
              <a:gd name="T1" fmla="*/ 0 h 97"/>
              <a:gd name="T2" fmla="*/ 0 w 97"/>
              <a:gd name="T3" fmla="*/ 97 h 97"/>
              <a:gd name="T4" fmla="*/ 97 w 97"/>
              <a:gd name="T5" fmla="*/ 0 h 97"/>
            </a:gdLst>
            <a:ahLst/>
            <a:cxnLst>
              <a:cxn ang="0">
                <a:pos x="T0" y="T1"/>
              </a:cxn>
              <a:cxn ang="0">
                <a:pos x="T2" y="T3"/>
              </a:cxn>
              <a:cxn ang="0">
                <a:pos x="T4" y="T5"/>
              </a:cxn>
            </a:cxnLst>
            <a:rect l="0" t="0" r="r" b="b"/>
            <a:pathLst>
              <a:path w="97" h="97">
                <a:moveTo>
                  <a:pt x="97" y="0"/>
                </a:moveTo>
                <a:lnTo>
                  <a:pt x="0" y="97"/>
                </a:lnTo>
                <a:lnTo>
                  <a:pt x="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41" name="Line 321"/>
          <p:cNvSpPr>
            <a:spLocks noChangeShapeType="1"/>
          </p:cNvSpPr>
          <p:nvPr/>
        </p:nvSpPr>
        <p:spPr bwMode="auto">
          <a:xfrm flipH="1">
            <a:off x="6686550" y="3451225"/>
            <a:ext cx="153988" cy="153988"/>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42" name="Freeform 322"/>
          <p:cNvSpPr>
            <a:spLocks/>
          </p:cNvSpPr>
          <p:nvPr/>
        </p:nvSpPr>
        <p:spPr bwMode="auto">
          <a:xfrm>
            <a:off x="6497638" y="3883025"/>
            <a:ext cx="153987" cy="152400"/>
          </a:xfrm>
          <a:custGeom>
            <a:avLst/>
            <a:gdLst>
              <a:gd name="T0" fmla="*/ 97 w 97"/>
              <a:gd name="T1" fmla="*/ 0 h 96"/>
              <a:gd name="T2" fmla="*/ 0 w 97"/>
              <a:gd name="T3" fmla="*/ 96 h 96"/>
              <a:gd name="T4" fmla="*/ 97 w 97"/>
              <a:gd name="T5" fmla="*/ 0 h 96"/>
            </a:gdLst>
            <a:ahLst/>
            <a:cxnLst>
              <a:cxn ang="0">
                <a:pos x="T0" y="T1"/>
              </a:cxn>
              <a:cxn ang="0">
                <a:pos x="T2" y="T3"/>
              </a:cxn>
              <a:cxn ang="0">
                <a:pos x="T4" y="T5"/>
              </a:cxn>
            </a:cxnLst>
            <a:rect l="0" t="0" r="r" b="b"/>
            <a:pathLst>
              <a:path w="97" h="96">
                <a:moveTo>
                  <a:pt x="97" y="0"/>
                </a:moveTo>
                <a:lnTo>
                  <a:pt x="0" y="96"/>
                </a:lnTo>
                <a:lnTo>
                  <a:pt x="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43" name="Line 323"/>
          <p:cNvSpPr>
            <a:spLocks noChangeShapeType="1"/>
          </p:cNvSpPr>
          <p:nvPr/>
        </p:nvSpPr>
        <p:spPr bwMode="auto">
          <a:xfrm flipH="1">
            <a:off x="6497638" y="3883025"/>
            <a:ext cx="153987" cy="15240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44" name="Freeform 324"/>
          <p:cNvSpPr>
            <a:spLocks/>
          </p:cNvSpPr>
          <p:nvPr/>
        </p:nvSpPr>
        <p:spPr bwMode="auto">
          <a:xfrm>
            <a:off x="6007100" y="4013200"/>
            <a:ext cx="160338" cy="152400"/>
          </a:xfrm>
          <a:custGeom>
            <a:avLst/>
            <a:gdLst>
              <a:gd name="T0" fmla="*/ 101 w 101"/>
              <a:gd name="T1" fmla="*/ 0 h 96"/>
              <a:gd name="T2" fmla="*/ 0 w 101"/>
              <a:gd name="T3" fmla="*/ 96 h 96"/>
              <a:gd name="T4" fmla="*/ 101 w 101"/>
              <a:gd name="T5" fmla="*/ 0 h 96"/>
            </a:gdLst>
            <a:ahLst/>
            <a:cxnLst>
              <a:cxn ang="0">
                <a:pos x="T0" y="T1"/>
              </a:cxn>
              <a:cxn ang="0">
                <a:pos x="T2" y="T3"/>
              </a:cxn>
              <a:cxn ang="0">
                <a:pos x="T4" y="T5"/>
              </a:cxn>
            </a:cxnLst>
            <a:rect l="0" t="0" r="r" b="b"/>
            <a:pathLst>
              <a:path w="101" h="96">
                <a:moveTo>
                  <a:pt x="101" y="0"/>
                </a:moveTo>
                <a:lnTo>
                  <a:pt x="0" y="96"/>
                </a:lnTo>
                <a:lnTo>
                  <a:pt x="10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45" name="Line 325"/>
          <p:cNvSpPr>
            <a:spLocks noChangeShapeType="1"/>
          </p:cNvSpPr>
          <p:nvPr/>
        </p:nvSpPr>
        <p:spPr bwMode="auto">
          <a:xfrm flipH="1">
            <a:off x="6007100" y="4013200"/>
            <a:ext cx="160338" cy="15240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46" name="Rectangle 326"/>
          <p:cNvSpPr>
            <a:spLocks noChangeArrowheads="1"/>
          </p:cNvSpPr>
          <p:nvPr/>
        </p:nvSpPr>
        <p:spPr bwMode="auto">
          <a:xfrm>
            <a:off x="6870700" y="342265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a:p>
        </p:txBody>
      </p:sp>
      <p:sp>
        <p:nvSpPr>
          <p:cNvPr id="543047" name="Freeform 327"/>
          <p:cNvSpPr>
            <a:spLocks/>
          </p:cNvSpPr>
          <p:nvPr/>
        </p:nvSpPr>
        <p:spPr bwMode="auto">
          <a:xfrm>
            <a:off x="7313613" y="3952875"/>
            <a:ext cx="153987" cy="153988"/>
          </a:xfrm>
          <a:custGeom>
            <a:avLst/>
            <a:gdLst>
              <a:gd name="T0" fmla="*/ 97 w 97"/>
              <a:gd name="T1" fmla="*/ 0 h 97"/>
              <a:gd name="T2" fmla="*/ 0 w 97"/>
              <a:gd name="T3" fmla="*/ 97 h 97"/>
              <a:gd name="T4" fmla="*/ 97 w 97"/>
              <a:gd name="T5" fmla="*/ 0 h 97"/>
            </a:gdLst>
            <a:ahLst/>
            <a:cxnLst>
              <a:cxn ang="0">
                <a:pos x="T0" y="T1"/>
              </a:cxn>
              <a:cxn ang="0">
                <a:pos x="T2" y="T3"/>
              </a:cxn>
              <a:cxn ang="0">
                <a:pos x="T4" y="T5"/>
              </a:cxn>
            </a:cxnLst>
            <a:rect l="0" t="0" r="r" b="b"/>
            <a:pathLst>
              <a:path w="97" h="97">
                <a:moveTo>
                  <a:pt x="97" y="0"/>
                </a:moveTo>
                <a:lnTo>
                  <a:pt x="0" y="97"/>
                </a:lnTo>
                <a:lnTo>
                  <a:pt x="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48" name="Line 328"/>
          <p:cNvSpPr>
            <a:spLocks noChangeShapeType="1"/>
          </p:cNvSpPr>
          <p:nvPr/>
        </p:nvSpPr>
        <p:spPr bwMode="auto">
          <a:xfrm flipH="1">
            <a:off x="7313613" y="3952875"/>
            <a:ext cx="153987" cy="153988"/>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49" name="Rectangle 329"/>
          <p:cNvSpPr>
            <a:spLocks noChangeArrowheads="1"/>
          </p:cNvSpPr>
          <p:nvPr/>
        </p:nvSpPr>
        <p:spPr bwMode="auto">
          <a:xfrm>
            <a:off x="7496175" y="3925888"/>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8</a:t>
            </a:r>
            <a:endParaRPr lang="en-US" altLang="en-US"/>
          </a:p>
        </p:txBody>
      </p:sp>
      <p:sp>
        <p:nvSpPr>
          <p:cNvPr id="543050" name="Freeform 330"/>
          <p:cNvSpPr>
            <a:spLocks/>
          </p:cNvSpPr>
          <p:nvPr/>
        </p:nvSpPr>
        <p:spPr bwMode="auto">
          <a:xfrm>
            <a:off x="7519988" y="2978150"/>
            <a:ext cx="160337" cy="160338"/>
          </a:xfrm>
          <a:custGeom>
            <a:avLst/>
            <a:gdLst>
              <a:gd name="T0" fmla="*/ 101 w 101"/>
              <a:gd name="T1" fmla="*/ 0 h 101"/>
              <a:gd name="T2" fmla="*/ 0 w 101"/>
              <a:gd name="T3" fmla="*/ 101 h 101"/>
              <a:gd name="T4" fmla="*/ 101 w 101"/>
              <a:gd name="T5" fmla="*/ 0 h 101"/>
            </a:gdLst>
            <a:ahLst/>
            <a:cxnLst>
              <a:cxn ang="0">
                <a:pos x="T0" y="T1"/>
              </a:cxn>
              <a:cxn ang="0">
                <a:pos x="T2" y="T3"/>
              </a:cxn>
              <a:cxn ang="0">
                <a:pos x="T4" y="T5"/>
              </a:cxn>
            </a:cxnLst>
            <a:rect l="0" t="0" r="r" b="b"/>
            <a:pathLst>
              <a:path w="101" h="101">
                <a:moveTo>
                  <a:pt x="101" y="0"/>
                </a:moveTo>
                <a:lnTo>
                  <a:pt x="0" y="101"/>
                </a:lnTo>
                <a:lnTo>
                  <a:pt x="10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51" name="Line 331"/>
          <p:cNvSpPr>
            <a:spLocks noChangeShapeType="1"/>
          </p:cNvSpPr>
          <p:nvPr/>
        </p:nvSpPr>
        <p:spPr bwMode="auto">
          <a:xfrm flipH="1">
            <a:off x="7519988" y="2978150"/>
            <a:ext cx="160337" cy="160338"/>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52" name="Rectangle 332"/>
          <p:cNvSpPr>
            <a:spLocks noChangeArrowheads="1"/>
          </p:cNvSpPr>
          <p:nvPr/>
        </p:nvSpPr>
        <p:spPr bwMode="auto">
          <a:xfrm>
            <a:off x="7705725" y="2952750"/>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8</a:t>
            </a:r>
            <a:endParaRPr lang="en-US" altLang="en-US"/>
          </a:p>
        </p:txBody>
      </p:sp>
      <p:sp>
        <p:nvSpPr>
          <p:cNvPr id="543053" name="Freeform 333"/>
          <p:cNvSpPr>
            <a:spLocks/>
          </p:cNvSpPr>
          <p:nvPr/>
        </p:nvSpPr>
        <p:spPr bwMode="auto">
          <a:xfrm>
            <a:off x="7313613" y="2027238"/>
            <a:ext cx="153987" cy="153987"/>
          </a:xfrm>
          <a:custGeom>
            <a:avLst/>
            <a:gdLst>
              <a:gd name="T0" fmla="*/ 97 w 97"/>
              <a:gd name="T1" fmla="*/ 0 h 97"/>
              <a:gd name="T2" fmla="*/ 0 w 97"/>
              <a:gd name="T3" fmla="*/ 97 h 97"/>
              <a:gd name="T4" fmla="*/ 97 w 97"/>
              <a:gd name="T5" fmla="*/ 0 h 97"/>
            </a:gdLst>
            <a:ahLst/>
            <a:cxnLst>
              <a:cxn ang="0">
                <a:pos x="T0" y="T1"/>
              </a:cxn>
              <a:cxn ang="0">
                <a:pos x="T2" y="T3"/>
              </a:cxn>
              <a:cxn ang="0">
                <a:pos x="T4" y="T5"/>
              </a:cxn>
            </a:cxnLst>
            <a:rect l="0" t="0" r="r" b="b"/>
            <a:pathLst>
              <a:path w="97" h="97">
                <a:moveTo>
                  <a:pt x="97" y="0"/>
                </a:moveTo>
                <a:lnTo>
                  <a:pt x="0" y="97"/>
                </a:lnTo>
                <a:lnTo>
                  <a:pt x="9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54" name="Line 334"/>
          <p:cNvSpPr>
            <a:spLocks noChangeShapeType="1"/>
          </p:cNvSpPr>
          <p:nvPr/>
        </p:nvSpPr>
        <p:spPr bwMode="auto">
          <a:xfrm flipH="1">
            <a:off x="7313613" y="2027238"/>
            <a:ext cx="153987" cy="153987"/>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55" name="Rectangle 335"/>
          <p:cNvSpPr>
            <a:spLocks noChangeArrowheads="1"/>
          </p:cNvSpPr>
          <p:nvPr/>
        </p:nvSpPr>
        <p:spPr bwMode="auto">
          <a:xfrm>
            <a:off x="7496175" y="2000250"/>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8</a:t>
            </a:r>
            <a:endParaRPr lang="en-US" altLang="en-US"/>
          </a:p>
        </p:txBody>
      </p:sp>
      <p:sp>
        <p:nvSpPr>
          <p:cNvPr id="543056" name="Freeform 336"/>
          <p:cNvSpPr>
            <a:spLocks/>
          </p:cNvSpPr>
          <p:nvPr/>
        </p:nvSpPr>
        <p:spPr bwMode="auto">
          <a:xfrm>
            <a:off x="7726363" y="2027238"/>
            <a:ext cx="160337" cy="153987"/>
          </a:xfrm>
          <a:custGeom>
            <a:avLst/>
            <a:gdLst>
              <a:gd name="T0" fmla="*/ 101 w 101"/>
              <a:gd name="T1" fmla="*/ 0 h 97"/>
              <a:gd name="T2" fmla="*/ 0 w 101"/>
              <a:gd name="T3" fmla="*/ 97 h 97"/>
              <a:gd name="T4" fmla="*/ 101 w 101"/>
              <a:gd name="T5" fmla="*/ 0 h 97"/>
            </a:gdLst>
            <a:ahLst/>
            <a:cxnLst>
              <a:cxn ang="0">
                <a:pos x="T0" y="T1"/>
              </a:cxn>
              <a:cxn ang="0">
                <a:pos x="T2" y="T3"/>
              </a:cxn>
              <a:cxn ang="0">
                <a:pos x="T4" y="T5"/>
              </a:cxn>
            </a:cxnLst>
            <a:rect l="0" t="0" r="r" b="b"/>
            <a:pathLst>
              <a:path w="101" h="97">
                <a:moveTo>
                  <a:pt x="101" y="0"/>
                </a:moveTo>
                <a:lnTo>
                  <a:pt x="0" y="97"/>
                </a:lnTo>
                <a:lnTo>
                  <a:pt x="10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57" name="Line 337"/>
          <p:cNvSpPr>
            <a:spLocks noChangeShapeType="1"/>
          </p:cNvSpPr>
          <p:nvPr/>
        </p:nvSpPr>
        <p:spPr bwMode="auto">
          <a:xfrm flipH="1">
            <a:off x="7726363" y="2027238"/>
            <a:ext cx="160337" cy="153987"/>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58" name="Rectangle 338"/>
          <p:cNvSpPr>
            <a:spLocks noChangeArrowheads="1"/>
          </p:cNvSpPr>
          <p:nvPr/>
        </p:nvSpPr>
        <p:spPr bwMode="auto">
          <a:xfrm>
            <a:off x="7913688" y="2000250"/>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8</a:t>
            </a:r>
            <a:endParaRPr lang="en-US" altLang="en-US"/>
          </a:p>
        </p:txBody>
      </p:sp>
      <p:sp>
        <p:nvSpPr>
          <p:cNvPr id="543059" name="Rectangle 339"/>
          <p:cNvSpPr>
            <a:spLocks noChangeArrowheads="1"/>
          </p:cNvSpPr>
          <p:nvPr/>
        </p:nvSpPr>
        <p:spPr bwMode="auto">
          <a:xfrm>
            <a:off x="6496050" y="4008438"/>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a:p>
        </p:txBody>
      </p:sp>
      <p:sp>
        <p:nvSpPr>
          <p:cNvPr id="543060" name="Rectangle 340"/>
          <p:cNvSpPr>
            <a:spLocks noChangeArrowheads="1"/>
          </p:cNvSpPr>
          <p:nvPr/>
        </p:nvSpPr>
        <p:spPr bwMode="auto">
          <a:xfrm>
            <a:off x="6165850" y="400050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a:p>
        </p:txBody>
      </p:sp>
      <p:sp>
        <p:nvSpPr>
          <p:cNvPr id="543061" name="Freeform 341"/>
          <p:cNvSpPr>
            <a:spLocks/>
          </p:cNvSpPr>
          <p:nvPr/>
        </p:nvSpPr>
        <p:spPr bwMode="auto">
          <a:xfrm>
            <a:off x="6007100" y="4964113"/>
            <a:ext cx="160338" cy="158750"/>
          </a:xfrm>
          <a:custGeom>
            <a:avLst/>
            <a:gdLst>
              <a:gd name="T0" fmla="*/ 101 w 101"/>
              <a:gd name="T1" fmla="*/ 0 h 100"/>
              <a:gd name="T2" fmla="*/ 0 w 101"/>
              <a:gd name="T3" fmla="*/ 100 h 100"/>
              <a:gd name="T4" fmla="*/ 101 w 101"/>
              <a:gd name="T5" fmla="*/ 0 h 100"/>
            </a:gdLst>
            <a:ahLst/>
            <a:cxnLst>
              <a:cxn ang="0">
                <a:pos x="T0" y="T1"/>
              </a:cxn>
              <a:cxn ang="0">
                <a:pos x="T2" y="T3"/>
              </a:cxn>
              <a:cxn ang="0">
                <a:pos x="T4" y="T5"/>
              </a:cxn>
            </a:cxnLst>
            <a:rect l="0" t="0" r="r" b="b"/>
            <a:pathLst>
              <a:path w="101" h="100">
                <a:moveTo>
                  <a:pt x="101" y="0"/>
                </a:moveTo>
                <a:lnTo>
                  <a:pt x="0" y="100"/>
                </a:lnTo>
                <a:lnTo>
                  <a:pt x="10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3062" name="Line 342"/>
          <p:cNvSpPr>
            <a:spLocks noChangeShapeType="1"/>
          </p:cNvSpPr>
          <p:nvPr/>
        </p:nvSpPr>
        <p:spPr bwMode="auto">
          <a:xfrm flipH="1">
            <a:off x="6007100" y="4964113"/>
            <a:ext cx="160338" cy="15875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3063" name="Rectangle 343"/>
          <p:cNvSpPr>
            <a:spLocks noChangeArrowheads="1"/>
          </p:cNvSpPr>
          <p:nvPr/>
        </p:nvSpPr>
        <p:spPr bwMode="auto">
          <a:xfrm>
            <a:off x="6165850" y="4954588"/>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a:p>
        </p:txBody>
      </p:sp>
      <p:sp>
        <p:nvSpPr>
          <p:cNvPr id="543064" name="Rectangle 344"/>
          <p:cNvSpPr>
            <a:spLocks noChangeArrowheads="1"/>
          </p:cNvSpPr>
          <p:nvPr/>
        </p:nvSpPr>
        <p:spPr bwMode="auto">
          <a:xfrm>
            <a:off x="6056313" y="2559050"/>
            <a:ext cx="428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a:t>
            </a:r>
            <a:endParaRPr lang="en-US" altLang="en-US"/>
          </a:p>
        </p:txBody>
      </p:sp>
      <p:sp>
        <p:nvSpPr>
          <p:cNvPr id="543065" name="Rectangle 345"/>
          <p:cNvSpPr>
            <a:spLocks noChangeArrowheads="1"/>
          </p:cNvSpPr>
          <p:nvPr/>
        </p:nvSpPr>
        <p:spPr bwMode="auto">
          <a:xfrm>
            <a:off x="7529513" y="2519363"/>
            <a:ext cx="147637"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100">
                <a:solidFill>
                  <a:srgbClr val="000000"/>
                </a:solidFill>
                <a:latin typeface="Myriad Roman" charset="0"/>
              </a:rPr>
              <a:t>–</a:t>
            </a:r>
            <a:endParaRPr lang="en-US" altLang="en-US"/>
          </a:p>
        </p:txBody>
      </p:sp>
      <p:sp>
        <p:nvSpPr>
          <p:cNvPr id="543066" name="Rectangle 346"/>
          <p:cNvSpPr>
            <a:spLocks noChangeArrowheads="1"/>
          </p:cNvSpPr>
          <p:nvPr/>
        </p:nvSpPr>
        <p:spPr bwMode="auto">
          <a:xfrm>
            <a:off x="7226300" y="4448175"/>
            <a:ext cx="155575"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100">
                <a:solidFill>
                  <a:srgbClr val="000000"/>
                </a:solidFill>
                <a:latin typeface="Myriad Roman" charset="0"/>
              </a:rPr>
              <a:t>+</a:t>
            </a:r>
            <a:endParaRPr lang="en-US" altLang="en-US"/>
          </a:p>
        </p:txBody>
      </p:sp>
      <p:sp>
        <p:nvSpPr>
          <p:cNvPr id="543067" name="Rectangle 347"/>
          <p:cNvSpPr>
            <a:spLocks noChangeArrowheads="1"/>
          </p:cNvSpPr>
          <p:nvPr/>
        </p:nvSpPr>
        <p:spPr bwMode="auto">
          <a:xfrm>
            <a:off x="7458075" y="3476625"/>
            <a:ext cx="3079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abs</a:t>
            </a:r>
            <a:endParaRPr lang="en-US" altLang="en-US"/>
          </a:p>
        </p:txBody>
      </p:sp>
      <p:sp>
        <p:nvSpPr>
          <p:cNvPr id="543068" name="Text Box 348"/>
          <p:cNvSpPr txBox="1">
            <a:spLocks noChangeArrowheads="1"/>
          </p:cNvSpPr>
          <p:nvPr/>
        </p:nvSpPr>
        <p:spPr bwMode="auto">
          <a:xfrm>
            <a:off x="3670300" y="461327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543074" name="Group 354"/>
          <p:cNvGrpSpPr>
            <a:grpSpLocks/>
          </p:cNvGrpSpPr>
          <p:nvPr/>
        </p:nvGrpSpPr>
        <p:grpSpPr bwMode="auto">
          <a:xfrm>
            <a:off x="2047876" y="2587625"/>
            <a:ext cx="1685925" cy="2349500"/>
            <a:chOff x="1287" y="1627"/>
            <a:chExt cx="1062" cy="1480"/>
          </a:xfrm>
        </p:grpSpPr>
        <p:sp>
          <p:nvSpPr>
            <p:cNvPr id="542963" name="Rectangle 243"/>
            <p:cNvSpPr>
              <a:spLocks noChangeArrowheads="1"/>
            </p:cNvSpPr>
            <p:nvPr/>
          </p:nvSpPr>
          <p:spPr bwMode="auto">
            <a:xfrm>
              <a:off x="1287" y="2504"/>
              <a:ext cx="106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sum_ld=1; AB_rd=1</a:t>
              </a:r>
              <a:endParaRPr lang="en-US" altLang="en-US"/>
            </a:p>
          </p:txBody>
        </p:sp>
        <p:sp>
          <p:nvSpPr>
            <p:cNvPr id="542972" name="Rectangle 252"/>
            <p:cNvSpPr>
              <a:spLocks noChangeArrowheads="1"/>
            </p:cNvSpPr>
            <p:nvPr/>
          </p:nvSpPr>
          <p:spPr bwMode="auto">
            <a:xfrm>
              <a:off x="1287" y="2963"/>
              <a:ext cx="7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dirty="0" err="1">
                  <a:solidFill>
                    <a:srgbClr val="000000"/>
                  </a:solidFill>
                  <a:latin typeface="Myriad Roman" charset="0"/>
                </a:rPr>
                <a:t>sad_reg_ld</a:t>
              </a:r>
              <a:r>
                <a:rPr lang="en-US" altLang="en-US" sz="1500" dirty="0">
                  <a:solidFill>
                    <a:srgbClr val="000000"/>
                  </a:solidFill>
                  <a:latin typeface="Myriad Roman" charset="0"/>
                </a:rPr>
                <a:t>=1</a:t>
              </a:r>
              <a:endParaRPr lang="en-US" altLang="en-US" dirty="0"/>
            </a:p>
          </p:txBody>
        </p:sp>
        <p:sp>
          <p:nvSpPr>
            <p:cNvPr id="543069" name="Rectangle 349"/>
            <p:cNvSpPr>
              <a:spLocks noChangeArrowheads="1"/>
            </p:cNvSpPr>
            <p:nvPr/>
          </p:nvSpPr>
          <p:spPr bwMode="auto">
            <a:xfrm>
              <a:off x="1582" y="2639"/>
              <a:ext cx="38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i_inc=1</a:t>
              </a:r>
              <a:endParaRPr lang="en-US" altLang="en-US"/>
            </a:p>
          </p:txBody>
        </p:sp>
        <p:sp>
          <p:nvSpPr>
            <p:cNvPr id="543070" name="Rectangle 350"/>
            <p:cNvSpPr>
              <a:spLocks noChangeArrowheads="1"/>
            </p:cNvSpPr>
            <p:nvPr/>
          </p:nvSpPr>
          <p:spPr bwMode="auto">
            <a:xfrm>
              <a:off x="1404" y="2218"/>
              <a:ext cx="42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dirty="0">
                  <a:solidFill>
                    <a:srgbClr val="000000"/>
                  </a:solidFill>
                  <a:latin typeface="Myriad Roman" charset="0"/>
                </a:rPr>
                <a:t>i_lt_256</a:t>
              </a:r>
              <a:endParaRPr lang="en-US" altLang="en-US" dirty="0"/>
            </a:p>
          </p:txBody>
        </p:sp>
        <p:sp>
          <p:nvSpPr>
            <p:cNvPr id="543071" name="Rectangle 351"/>
            <p:cNvSpPr>
              <a:spLocks noChangeArrowheads="1"/>
            </p:cNvSpPr>
            <p:nvPr/>
          </p:nvSpPr>
          <p:spPr bwMode="auto">
            <a:xfrm>
              <a:off x="1487" y="1759"/>
              <a:ext cx="35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i_clr=1</a:t>
              </a:r>
              <a:endParaRPr lang="en-US" altLang="en-US"/>
            </a:p>
          </p:txBody>
        </p:sp>
        <p:sp>
          <p:nvSpPr>
            <p:cNvPr id="543072" name="Rectangle 352"/>
            <p:cNvSpPr>
              <a:spLocks noChangeArrowheads="1"/>
            </p:cNvSpPr>
            <p:nvPr/>
          </p:nvSpPr>
          <p:spPr bwMode="auto">
            <a:xfrm>
              <a:off x="1683" y="1627"/>
              <a:ext cx="55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sum_clr=1</a:t>
              </a:r>
              <a:endParaRPr lang="en-US" altLang="en-US"/>
            </a:p>
          </p:txBody>
        </p:sp>
      </p:grpSp>
      <p:sp>
        <p:nvSpPr>
          <p:cNvPr id="158" name="Rectangle 350"/>
          <p:cNvSpPr>
            <a:spLocks noChangeArrowheads="1"/>
          </p:cNvSpPr>
          <p:nvPr/>
        </p:nvSpPr>
        <p:spPr bwMode="auto">
          <a:xfrm>
            <a:off x="482601" y="3086894"/>
            <a:ext cx="681277" cy="230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dirty="0">
                <a:solidFill>
                  <a:srgbClr val="000000"/>
                </a:solidFill>
                <a:latin typeface="Myriad Roman" charset="0"/>
              </a:rPr>
              <a:t>i_lt_256’</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43073"/>
                                        </p:tgtEl>
                                        <p:attrNameLst>
                                          <p:attrName>style.visibility</p:attrName>
                                        </p:attrNameLst>
                                      </p:cBhvr>
                                      <p:to>
                                        <p:strVal val="visible"/>
                                      </p:to>
                                    </p:set>
                                    <p:animEffect transition="in" filter="wipe(left)">
                                      <p:cBhvr>
                                        <p:cTn id="7" dur="500"/>
                                        <p:tgtEl>
                                          <p:spTgt spid="543073"/>
                                        </p:tgtEl>
                                      </p:cBhvr>
                                    </p:animEffect>
                                  </p:childTnLst>
                                </p:cTn>
                              </p:par>
                            </p:childTnLst>
                          </p:cTn>
                        </p:par>
                        <p:par>
                          <p:cTn id="8" fill="hold" nodeType="afterGroup">
                            <p:stCondLst>
                              <p:cond delay="500"/>
                            </p:stCondLst>
                            <p:childTnLst>
                              <p:par>
                                <p:cTn id="9" presetID="9" presetClass="entr" presetSubtype="0" fill="hold" nodeType="afterEffect">
                                  <p:stCondLst>
                                    <p:cond delay="0"/>
                                  </p:stCondLst>
                                  <p:childTnLst>
                                    <p:set>
                                      <p:cBhvr>
                                        <p:cTn id="10" dur="1" fill="hold">
                                          <p:stCondLst>
                                            <p:cond delay="0"/>
                                          </p:stCondLst>
                                        </p:cTn>
                                        <p:tgtEl>
                                          <p:spTgt spid="543074"/>
                                        </p:tgtEl>
                                        <p:attrNameLst>
                                          <p:attrName>style.visibility</p:attrName>
                                        </p:attrNameLst>
                                      </p:cBhvr>
                                      <p:to>
                                        <p:strVal val="visible"/>
                                      </p:to>
                                    </p:set>
                                    <p:animEffect transition="in" filter="dissolve">
                                      <p:cBhvr>
                                        <p:cTn id="11" dur="500"/>
                                        <p:tgtEl>
                                          <p:spTgt spid="54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3"/>
          <p:cNvSpPr>
            <a:spLocks noGrp="1"/>
          </p:cNvSpPr>
          <p:nvPr>
            <p:ph type="sldNum" sz="quarter" idx="10"/>
          </p:nvPr>
        </p:nvSpPr>
        <p:spPr/>
        <p:txBody>
          <a:bodyPr/>
          <a:lstStyle/>
          <a:p>
            <a:fld id="{E5A32D13-29CC-488A-AE15-0EEBE284B2D2}" type="slidenum">
              <a:rPr lang="en-US" altLang="en-US"/>
              <a:pPr/>
              <a:t>38</a:t>
            </a:fld>
            <a:endParaRPr lang="en-US" altLang="en-US"/>
          </a:p>
        </p:txBody>
      </p:sp>
      <p:sp>
        <p:nvSpPr>
          <p:cNvPr id="544770" name="Rectangle 2"/>
          <p:cNvSpPr>
            <a:spLocks noGrp="1" noChangeArrowheads="1"/>
          </p:cNvSpPr>
          <p:nvPr>
            <p:ph type="title"/>
          </p:nvPr>
        </p:nvSpPr>
        <p:spPr/>
        <p:txBody>
          <a:bodyPr/>
          <a:lstStyle/>
          <a:p>
            <a:r>
              <a:rPr lang="en-US" altLang="en-US"/>
              <a:t>RTL Example: </a:t>
            </a:r>
            <a:r>
              <a:rPr lang="en-US" altLang="en-US" sz="3200"/>
              <a:t>Video Compression – Sum of Absolute Differences</a:t>
            </a:r>
          </a:p>
        </p:txBody>
      </p:sp>
      <p:sp>
        <p:nvSpPr>
          <p:cNvPr id="544771" name="Rectangle 3"/>
          <p:cNvSpPr>
            <a:spLocks noGrp="1" noChangeArrowheads="1"/>
          </p:cNvSpPr>
          <p:nvPr>
            <p:ph type="body" idx="1"/>
          </p:nvPr>
        </p:nvSpPr>
        <p:spPr>
          <a:xfrm>
            <a:off x="538163" y="1431925"/>
            <a:ext cx="5062537" cy="4546600"/>
          </a:xfrm>
        </p:spPr>
        <p:txBody>
          <a:bodyPr/>
          <a:lstStyle/>
          <a:p>
            <a:pPr>
              <a:lnSpc>
                <a:spcPct val="90000"/>
              </a:lnSpc>
            </a:pPr>
            <a:r>
              <a:rPr lang="en-US" altLang="en-US" dirty="0"/>
              <a:t>Comparing software and custom circuit SAD </a:t>
            </a:r>
          </a:p>
          <a:p>
            <a:pPr lvl="1">
              <a:lnSpc>
                <a:spcPct val="90000"/>
              </a:lnSpc>
            </a:pPr>
            <a:r>
              <a:rPr lang="en-US" altLang="en-US" dirty="0"/>
              <a:t>Circuit: Two states (</a:t>
            </a:r>
            <a:r>
              <a:rPr lang="en-US" altLang="en-US" b="1" dirty="0"/>
              <a:t>S2</a:t>
            </a:r>
            <a:r>
              <a:rPr lang="en-US" altLang="en-US" dirty="0"/>
              <a:t> &amp; </a:t>
            </a:r>
            <a:r>
              <a:rPr lang="en-US" altLang="en-US" b="1" dirty="0"/>
              <a:t>S3</a:t>
            </a:r>
            <a:r>
              <a:rPr lang="en-US" altLang="en-US" dirty="0"/>
              <a:t>) for each </a:t>
            </a:r>
            <a:r>
              <a:rPr lang="en-US" altLang="en-US" i="1" dirty="0" err="1"/>
              <a:t>i</a:t>
            </a:r>
            <a:r>
              <a:rPr lang="en-US" altLang="en-US" dirty="0"/>
              <a:t>, 256 </a:t>
            </a:r>
            <a:r>
              <a:rPr lang="en-US" altLang="en-US" i="1" dirty="0"/>
              <a:t>i</a:t>
            </a:r>
            <a:r>
              <a:rPr lang="en-US" altLang="en-US" dirty="0"/>
              <a:t>’s</a:t>
            </a:r>
            <a:r>
              <a:rPr lang="en-US" altLang="en-US" dirty="0">
                <a:sym typeface="Wingdings" panose="05000000000000000000" pitchFamily="2" charset="2"/>
              </a:rPr>
              <a:t> 512 clock cycles</a:t>
            </a:r>
          </a:p>
          <a:p>
            <a:pPr lvl="1">
              <a:lnSpc>
                <a:spcPct val="90000"/>
              </a:lnSpc>
            </a:pPr>
            <a:r>
              <a:rPr lang="en-US" altLang="en-US" dirty="0">
                <a:sym typeface="Wingdings" panose="05000000000000000000" pitchFamily="2" charset="2"/>
              </a:rPr>
              <a:t>Software: Loop (</a:t>
            </a:r>
            <a:r>
              <a:rPr lang="en-US" altLang="en-US" i="1" dirty="0">
                <a:sym typeface="Wingdings" panose="05000000000000000000" pitchFamily="2" charset="2"/>
              </a:rPr>
              <a:t>for </a:t>
            </a:r>
            <a:r>
              <a:rPr lang="en-US" altLang="en-US" i="1" dirty="0" err="1">
                <a:sym typeface="Wingdings" panose="05000000000000000000" pitchFamily="2" charset="2"/>
              </a:rPr>
              <a:t>i</a:t>
            </a:r>
            <a:r>
              <a:rPr lang="en-US" altLang="en-US" i="1" dirty="0">
                <a:sym typeface="Wingdings" panose="05000000000000000000" pitchFamily="2" charset="2"/>
              </a:rPr>
              <a:t> = 1 to 256</a:t>
            </a:r>
            <a:r>
              <a:rPr lang="en-US" altLang="en-US" dirty="0">
                <a:sym typeface="Wingdings" panose="05000000000000000000" pitchFamily="2" charset="2"/>
              </a:rPr>
              <a:t>), but for each </a:t>
            </a:r>
            <a:r>
              <a:rPr lang="en-US" altLang="en-US" i="1" dirty="0" err="1">
                <a:sym typeface="Wingdings" panose="05000000000000000000" pitchFamily="2" charset="2"/>
              </a:rPr>
              <a:t>i</a:t>
            </a:r>
            <a:r>
              <a:rPr lang="en-US" altLang="en-US" dirty="0">
                <a:sym typeface="Wingdings" panose="05000000000000000000" pitchFamily="2" charset="2"/>
              </a:rPr>
              <a:t>, must move memory to local registers, subtract, compute absolute value, add to sum, increment </a:t>
            </a:r>
            <a:r>
              <a:rPr lang="en-US" altLang="en-US" i="1" dirty="0" err="1">
                <a:sym typeface="Wingdings" panose="05000000000000000000" pitchFamily="2" charset="2"/>
              </a:rPr>
              <a:t>i</a:t>
            </a:r>
            <a:r>
              <a:rPr lang="en-US" altLang="en-US" dirty="0">
                <a:sym typeface="Wingdings" panose="05000000000000000000" pitchFamily="2" charset="2"/>
              </a:rPr>
              <a:t> – say about 6 cycles per array item  256*6 = 1536 cycles</a:t>
            </a:r>
          </a:p>
          <a:p>
            <a:pPr lvl="1">
              <a:lnSpc>
                <a:spcPct val="90000"/>
              </a:lnSpc>
            </a:pPr>
            <a:r>
              <a:rPr lang="en-US" altLang="en-US" dirty="0">
                <a:sym typeface="Wingdings" panose="05000000000000000000" pitchFamily="2" charset="2"/>
              </a:rPr>
              <a:t>Circuit is about </a:t>
            </a:r>
            <a:r>
              <a:rPr lang="en-US" altLang="en-US" i="1" dirty="0">
                <a:sym typeface="Wingdings" panose="05000000000000000000" pitchFamily="2" charset="2"/>
              </a:rPr>
              <a:t>3 times</a:t>
            </a:r>
            <a:r>
              <a:rPr lang="en-US" altLang="en-US" dirty="0">
                <a:sym typeface="Wingdings" panose="05000000000000000000" pitchFamily="2" charset="2"/>
              </a:rPr>
              <a:t> (300%) faster</a:t>
            </a:r>
          </a:p>
          <a:p>
            <a:pPr lvl="1">
              <a:lnSpc>
                <a:spcPct val="90000"/>
              </a:lnSpc>
            </a:pPr>
            <a:r>
              <a:rPr lang="en-US" altLang="en-US" dirty="0">
                <a:sym typeface="Wingdings" panose="05000000000000000000" pitchFamily="2" charset="2"/>
              </a:rPr>
              <a:t>Later, we’ll see how to build SAD circuit that is even faster</a:t>
            </a:r>
            <a:endParaRPr lang="en-US" altLang="en-US" dirty="0"/>
          </a:p>
        </p:txBody>
      </p:sp>
      <p:sp>
        <p:nvSpPr>
          <p:cNvPr id="544775" name="Freeform 7"/>
          <p:cNvSpPr>
            <a:spLocks/>
          </p:cNvSpPr>
          <p:nvPr/>
        </p:nvSpPr>
        <p:spPr bwMode="auto">
          <a:xfrm>
            <a:off x="6530975" y="2724150"/>
            <a:ext cx="107950" cy="188913"/>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4776" name="Freeform 8"/>
          <p:cNvSpPr>
            <a:spLocks/>
          </p:cNvSpPr>
          <p:nvPr/>
        </p:nvSpPr>
        <p:spPr bwMode="auto">
          <a:xfrm>
            <a:off x="5967413" y="3246438"/>
            <a:ext cx="619125" cy="846137"/>
          </a:xfrm>
          <a:custGeom>
            <a:avLst/>
            <a:gdLst>
              <a:gd name="T0" fmla="*/ 293 w 293"/>
              <a:gd name="T1" fmla="*/ 334 h 447"/>
              <a:gd name="T2" fmla="*/ 293 w 293"/>
              <a:gd name="T3" fmla="*/ 447 h 447"/>
              <a:gd name="T4" fmla="*/ 0 w 293"/>
              <a:gd name="T5" fmla="*/ 447 h 447"/>
              <a:gd name="T6" fmla="*/ 0 w 293"/>
              <a:gd name="T7" fmla="*/ 62 h 447"/>
              <a:gd name="T8" fmla="*/ 65 w 293"/>
              <a:gd name="T9" fmla="*/ 0 h 447"/>
            </a:gdLst>
            <a:ahLst/>
            <a:cxnLst>
              <a:cxn ang="0">
                <a:pos x="T0" y="T1"/>
              </a:cxn>
              <a:cxn ang="0">
                <a:pos x="T2" y="T3"/>
              </a:cxn>
              <a:cxn ang="0">
                <a:pos x="T4" y="T5"/>
              </a:cxn>
              <a:cxn ang="0">
                <a:pos x="T6" y="T7"/>
              </a:cxn>
              <a:cxn ang="0">
                <a:pos x="T8" y="T9"/>
              </a:cxn>
            </a:cxnLst>
            <a:rect l="0" t="0" r="r" b="b"/>
            <a:pathLst>
              <a:path w="293" h="447">
                <a:moveTo>
                  <a:pt x="293" y="334"/>
                </a:moveTo>
                <a:lnTo>
                  <a:pt x="293" y="447"/>
                </a:lnTo>
                <a:lnTo>
                  <a:pt x="0" y="447"/>
                </a:lnTo>
                <a:lnTo>
                  <a:pt x="0" y="62"/>
                </a:lnTo>
                <a:lnTo>
                  <a:pt x="65"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4777" name="Freeform 9"/>
          <p:cNvSpPr>
            <a:spLocks/>
          </p:cNvSpPr>
          <p:nvPr/>
        </p:nvSpPr>
        <p:spPr bwMode="auto">
          <a:xfrm>
            <a:off x="5986463" y="3194050"/>
            <a:ext cx="198437" cy="158750"/>
          </a:xfrm>
          <a:custGeom>
            <a:avLst/>
            <a:gdLst>
              <a:gd name="T0" fmla="*/ 94 w 94"/>
              <a:gd name="T1" fmla="*/ 0 h 84"/>
              <a:gd name="T2" fmla="*/ 0 w 94"/>
              <a:gd name="T3" fmla="*/ 47 h 84"/>
              <a:gd name="T4" fmla="*/ 34 w 94"/>
              <a:gd name="T5" fmla="*/ 84 h 84"/>
              <a:gd name="T6" fmla="*/ 94 w 94"/>
              <a:gd name="T7" fmla="*/ 0 h 84"/>
            </a:gdLst>
            <a:ahLst/>
            <a:cxnLst>
              <a:cxn ang="0">
                <a:pos x="T0" y="T1"/>
              </a:cxn>
              <a:cxn ang="0">
                <a:pos x="T2" y="T3"/>
              </a:cxn>
              <a:cxn ang="0">
                <a:pos x="T4" y="T5"/>
              </a:cxn>
              <a:cxn ang="0">
                <a:pos x="T6" y="T7"/>
              </a:cxn>
            </a:cxnLst>
            <a:rect l="0" t="0" r="r" b="b"/>
            <a:pathLst>
              <a:path w="94" h="84">
                <a:moveTo>
                  <a:pt x="94" y="0"/>
                </a:moveTo>
                <a:lnTo>
                  <a:pt x="0" y="47"/>
                </a:lnTo>
                <a:lnTo>
                  <a:pt x="34" y="84"/>
                </a:lnTo>
                <a:lnTo>
                  <a:pt x="9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4778" name="Rectangle 10"/>
          <p:cNvSpPr>
            <a:spLocks noChangeArrowheads="1"/>
          </p:cNvSpPr>
          <p:nvPr/>
        </p:nvSpPr>
        <p:spPr bwMode="auto">
          <a:xfrm>
            <a:off x="6488113" y="3608388"/>
            <a:ext cx="2016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S3</a:t>
            </a:r>
            <a:endParaRPr lang="en-US" altLang="en-US" sz="2800"/>
          </a:p>
        </p:txBody>
      </p:sp>
      <p:sp>
        <p:nvSpPr>
          <p:cNvPr id="544779" name="Rectangle 11"/>
          <p:cNvSpPr>
            <a:spLocks noChangeArrowheads="1"/>
          </p:cNvSpPr>
          <p:nvPr/>
        </p:nvSpPr>
        <p:spPr bwMode="auto">
          <a:xfrm>
            <a:off x="7107238" y="3506788"/>
            <a:ext cx="1990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sum=sum+abs(A[i]-B[i])</a:t>
            </a:r>
            <a:endParaRPr lang="en-US" altLang="en-US" sz="2800"/>
          </a:p>
        </p:txBody>
      </p:sp>
      <p:sp>
        <p:nvSpPr>
          <p:cNvPr id="544782" name="Rectangle 14"/>
          <p:cNvSpPr>
            <a:spLocks noChangeArrowheads="1"/>
          </p:cNvSpPr>
          <p:nvPr/>
        </p:nvSpPr>
        <p:spPr bwMode="auto">
          <a:xfrm>
            <a:off x="7107238" y="3722688"/>
            <a:ext cx="4159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i=i+1</a:t>
            </a:r>
            <a:endParaRPr lang="en-US" altLang="en-US" sz="2800"/>
          </a:p>
        </p:txBody>
      </p:sp>
      <p:sp>
        <p:nvSpPr>
          <p:cNvPr id="544783" name="Freeform 15"/>
          <p:cNvSpPr>
            <a:spLocks/>
          </p:cNvSpPr>
          <p:nvPr/>
        </p:nvSpPr>
        <p:spPr bwMode="auto">
          <a:xfrm>
            <a:off x="6137275" y="3578225"/>
            <a:ext cx="896938" cy="295275"/>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4784" name="Line 16"/>
          <p:cNvSpPr>
            <a:spLocks noChangeShapeType="1"/>
          </p:cNvSpPr>
          <p:nvPr/>
        </p:nvSpPr>
        <p:spPr bwMode="auto">
          <a:xfrm>
            <a:off x="6586538" y="3235325"/>
            <a:ext cx="1587" cy="2047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44785" name="Freeform 17"/>
          <p:cNvSpPr>
            <a:spLocks/>
          </p:cNvSpPr>
          <p:nvPr/>
        </p:nvSpPr>
        <p:spPr bwMode="auto">
          <a:xfrm>
            <a:off x="6530975" y="3376613"/>
            <a:ext cx="107950" cy="1905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4786" name="Rectangle 18"/>
          <p:cNvSpPr>
            <a:spLocks noChangeArrowheads="1"/>
          </p:cNvSpPr>
          <p:nvPr/>
        </p:nvSpPr>
        <p:spPr bwMode="auto">
          <a:xfrm>
            <a:off x="6488113" y="2968625"/>
            <a:ext cx="2016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S2</a:t>
            </a:r>
            <a:endParaRPr lang="en-US" altLang="en-US" sz="2800"/>
          </a:p>
        </p:txBody>
      </p:sp>
      <p:sp>
        <p:nvSpPr>
          <p:cNvPr id="544787" name="Rectangle 19"/>
          <p:cNvSpPr>
            <a:spLocks noChangeArrowheads="1"/>
          </p:cNvSpPr>
          <p:nvPr/>
        </p:nvSpPr>
        <p:spPr bwMode="auto">
          <a:xfrm>
            <a:off x="6724650" y="3306763"/>
            <a:ext cx="4460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i&lt;256</a:t>
            </a:r>
            <a:endParaRPr lang="en-US" altLang="en-US" sz="2800"/>
          </a:p>
        </p:txBody>
      </p:sp>
      <p:sp>
        <p:nvSpPr>
          <p:cNvPr id="544788" name="Freeform 20"/>
          <p:cNvSpPr>
            <a:spLocks/>
          </p:cNvSpPr>
          <p:nvPr/>
        </p:nvSpPr>
        <p:spPr bwMode="auto">
          <a:xfrm>
            <a:off x="6137275" y="2928938"/>
            <a:ext cx="896938" cy="298450"/>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44789" name="Rectangle 21"/>
          <p:cNvSpPr>
            <a:spLocks noChangeArrowheads="1"/>
          </p:cNvSpPr>
          <p:nvPr/>
        </p:nvSpPr>
        <p:spPr bwMode="auto">
          <a:xfrm>
            <a:off x="5588000" y="2835275"/>
            <a:ext cx="6191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en-US" sz="1300">
                <a:solidFill>
                  <a:srgbClr val="000000"/>
                </a:solidFill>
                <a:latin typeface="Myriad Roman" charset="0"/>
              </a:rPr>
              <a:t>(i&lt;256)’</a:t>
            </a:r>
            <a:endParaRPr lang="en-US" altLang="en-US"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3621FF09-B00C-4DE8-8A45-7AA7697CA66F}" type="slidenum">
              <a:rPr lang="en-US" altLang="en-US"/>
              <a:pPr/>
              <a:t>39</a:t>
            </a:fld>
            <a:endParaRPr lang="en-US" altLang="en-US"/>
          </a:p>
        </p:txBody>
      </p:sp>
      <p:sp>
        <p:nvSpPr>
          <p:cNvPr id="546818" name="Rectangle 2"/>
          <p:cNvSpPr>
            <a:spLocks noGrp="1" noChangeArrowheads="1"/>
          </p:cNvSpPr>
          <p:nvPr>
            <p:ph type="title"/>
          </p:nvPr>
        </p:nvSpPr>
        <p:spPr/>
        <p:txBody>
          <a:bodyPr/>
          <a:lstStyle/>
          <a:p>
            <a:r>
              <a:rPr lang="en-US" altLang="en-US"/>
              <a:t>RTL Design Pitfalls and Good Practice</a:t>
            </a:r>
          </a:p>
        </p:txBody>
      </p:sp>
      <p:sp>
        <p:nvSpPr>
          <p:cNvPr id="546819" name="Rectangle 3"/>
          <p:cNvSpPr>
            <a:spLocks noGrp="1" noChangeArrowheads="1"/>
          </p:cNvSpPr>
          <p:nvPr>
            <p:ph type="body" idx="1"/>
          </p:nvPr>
        </p:nvSpPr>
        <p:spPr>
          <a:xfrm>
            <a:off x="228600" y="1219200"/>
            <a:ext cx="4232275" cy="4719638"/>
          </a:xfrm>
        </p:spPr>
        <p:txBody>
          <a:bodyPr/>
          <a:lstStyle/>
          <a:p>
            <a:pPr>
              <a:lnSpc>
                <a:spcPct val="90000"/>
              </a:lnSpc>
            </a:pPr>
            <a:r>
              <a:rPr lang="en-US" altLang="en-US"/>
              <a:t>Common pitfall: Assuming register is update in the state it’s written</a:t>
            </a:r>
          </a:p>
          <a:p>
            <a:pPr lvl="1">
              <a:lnSpc>
                <a:spcPct val="90000"/>
              </a:lnSpc>
            </a:pPr>
            <a:r>
              <a:rPr lang="en-US" altLang="en-US"/>
              <a:t>Final value of </a:t>
            </a:r>
            <a:r>
              <a:rPr lang="en-US" altLang="en-US" i="1"/>
              <a:t>Q</a:t>
            </a:r>
            <a:r>
              <a:rPr lang="en-US" altLang="en-US"/>
              <a:t>?</a:t>
            </a:r>
          </a:p>
          <a:p>
            <a:pPr lvl="1">
              <a:lnSpc>
                <a:spcPct val="90000"/>
              </a:lnSpc>
            </a:pPr>
            <a:r>
              <a:rPr lang="en-US" altLang="en-US"/>
              <a:t>Final state?</a:t>
            </a:r>
          </a:p>
          <a:p>
            <a:pPr lvl="1">
              <a:lnSpc>
                <a:spcPct val="90000"/>
              </a:lnSpc>
            </a:pPr>
            <a:r>
              <a:rPr lang="en-US" altLang="en-US"/>
              <a:t>Answers may surprise you</a:t>
            </a:r>
          </a:p>
          <a:p>
            <a:pPr lvl="2">
              <a:lnSpc>
                <a:spcPct val="90000"/>
              </a:lnSpc>
            </a:pPr>
            <a:r>
              <a:rPr lang="en-US" altLang="en-US"/>
              <a:t>Value of </a:t>
            </a:r>
            <a:r>
              <a:rPr lang="en-US" altLang="en-US" i="1"/>
              <a:t>Q</a:t>
            </a:r>
            <a:r>
              <a:rPr lang="en-US" altLang="en-US"/>
              <a:t> unknown</a:t>
            </a:r>
          </a:p>
          <a:p>
            <a:pPr lvl="2">
              <a:lnSpc>
                <a:spcPct val="90000"/>
              </a:lnSpc>
            </a:pPr>
            <a:r>
              <a:rPr lang="en-US" altLang="en-US"/>
              <a:t>Final state is </a:t>
            </a:r>
            <a:r>
              <a:rPr lang="en-US" altLang="en-US" b="1"/>
              <a:t>C</a:t>
            </a:r>
            <a:r>
              <a:rPr lang="en-US" altLang="en-US"/>
              <a:t>, not </a:t>
            </a:r>
            <a:r>
              <a:rPr lang="en-US" altLang="en-US" b="1"/>
              <a:t>D</a:t>
            </a:r>
          </a:p>
          <a:p>
            <a:pPr lvl="1">
              <a:lnSpc>
                <a:spcPct val="90000"/>
              </a:lnSpc>
            </a:pPr>
            <a:r>
              <a:rPr lang="en-US" altLang="en-US"/>
              <a:t>Why?</a:t>
            </a:r>
          </a:p>
          <a:p>
            <a:pPr lvl="2">
              <a:lnSpc>
                <a:spcPct val="90000"/>
              </a:lnSpc>
            </a:pPr>
            <a:r>
              <a:rPr lang="en-US" altLang="en-US"/>
              <a:t>State </a:t>
            </a:r>
            <a:r>
              <a:rPr lang="en-US" altLang="en-US" b="1"/>
              <a:t>A</a:t>
            </a:r>
            <a:r>
              <a:rPr lang="en-US" altLang="en-US"/>
              <a:t>: </a:t>
            </a:r>
            <a:r>
              <a:rPr lang="en-US" altLang="en-US" i="1"/>
              <a:t>R=99</a:t>
            </a:r>
            <a:r>
              <a:rPr lang="en-US" altLang="en-US"/>
              <a:t> and </a:t>
            </a:r>
            <a:r>
              <a:rPr lang="en-US" altLang="en-US" i="1"/>
              <a:t>Q=R</a:t>
            </a:r>
            <a:r>
              <a:rPr lang="en-US" altLang="en-US"/>
              <a:t> happen simultaneously</a:t>
            </a:r>
          </a:p>
          <a:p>
            <a:pPr lvl="2">
              <a:lnSpc>
                <a:spcPct val="90000"/>
              </a:lnSpc>
            </a:pPr>
            <a:r>
              <a:rPr lang="en-US" altLang="en-US"/>
              <a:t>State </a:t>
            </a:r>
            <a:r>
              <a:rPr lang="en-US" altLang="en-US" b="1"/>
              <a:t>B</a:t>
            </a:r>
            <a:r>
              <a:rPr lang="en-US" altLang="en-US"/>
              <a:t>: </a:t>
            </a:r>
            <a:r>
              <a:rPr lang="en-US" altLang="en-US" i="1"/>
              <a:t>R</a:t>
            </a:r>
            <a:r>
              <a:rPr lang="en-US" altLang="en-US"/>
              <a:t> not updated with </a:t>
            </a:r>
            <a:r>
              <a:rPr lang="en-US" altLang="en-US" i="1"/>
              <a:t>R+1</a:t>
            </a:r>
            <a:r>
              <a:rPr lang="en-US" altLang="en-US"/>
              <a:t> until next clock cycle, simultaneously with state register being updated</a:t>
            </a:r>
          </a:p>
          <a:p>
            <a:pPr lvl="1">
              <a:lnSpc>
                <a:spcPct val="90000"/>
              </a:lnSpc>
            </a:pPr>
            <a:endParaRPr lang="en-US" altLang="en-US"/>
          </a:p>
        </p:txBody>
      </p:sp>
      <p:pic>
        <p:nvPicPr>
          <p:cNvPr id="5468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6000" y="1377950"/>
            <a:ext cx="3870325" cy="419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003C77C6-4556-4F6F-8789-A1060D449508}" type="slidenum">
              <a:rPr lang="en-US" altLang="en-US"/>
              <a:pPr/>
              <a:t>40</a:t>
            </a:fld>
            <a:endParaRPr lang="en-US" altLang="en-US"/>
          </a:p>
        </p:txBody>
      </p:sp>
      <p:sp>
        <p:nvSpPr>
          <p:cNvPr id="548866" name="Rectangle 2"/>
          <p:cNvSpPr>
            <a:spLocks noGrp="1" noChangeArrowheads="1"/>
          </p:cNvSpPr>
          <p:nvPr>
            <p:ph type="title"/>
          </p:nvPr>
        </p:nvSpPr>
        <p:spPr/>
        <p:txBody>
          <a:bodyPr/>
          <a:lstStyle/>
          <a:p>
            <a:r>
              <a:rPr lang="en-US" altLang="en-US"/>
              <a:t>RTL Design Pitfalls and Good Practice</a:t>
            </a:r>
          </a:p>
        </p:txBody>
      </p:sp>
      <p:sp>
        <p:nvSpPr>
          <p:cNvPr id="548867" name="Rectangle 3"/>
          <p:cNvSpPr>
            <a:spLocks noGrp="1" noChangeArrowheads="1"/>
          </p:cNvSpPr>
          <p:nvPr>
            <p:ph type="body" idx="1"/>
          </p:nvPr>
        </p:nvSpPr>
        <p:spPr>
          <a:xfrm>
            <a:off x="228600" y="1219200"/>
            <a:ext cx="3668713" cy="4719638"/>
          </a:xfrm>
        </p:spPr>
        <p:txBody>
          <a:bodyPr/>
          <a:lstStyle/>
          <a:p>
            <a:r>
              <a:rPr lang="en-US" altLang="en-US"/>
              <a:t>Solutions</a:t>
            </a:r>
          </a:p>
          <a:p>
            <a:pPr lvl="1"/>
            <a:r>
              <a:rPr lang="en-US" altLang="en-US"/>
              <a:t>Read register in following state (</a:t>
            </a:r>
            <a:r>
              <a:rPr lang="en-US" altLang="en-US" i="1"/>
              <a:t>Q=R</a:t>
            </a:r>
            <a:r>
              <a:rPr lang="en-US" altLang="en-US"/>
              <a:t>)</a:t>
            </a:r>
          </a:p>
          <a:p>
            <a:pPr lvl="1"/>
            <a:r>
              <a:rPr lang="en-US" altLang="en-US"/>
              <a:t>Insert extra state so that conditions use updated value</a:t>
            </a:r>
          </a:p>
          <a:p>
            <a:pPr lvl="1"/>
            <a:r>
              <a:rPr lang="en-US" altLang="en-US"/>
              <a:t>Other solutions are possible, depends on the example</a:t>
            </a:r>
          </a:p>
        </p:txBody>
      </p:sp>
      <p:pic>
        <p:nvPicPr>
          <p:cNvPr id="5488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0350" y="1223963"/>
            <a:ext cx="4926013" cy="4260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lide Number Placeholder 3"/>
          <p:cNvSpPr>
            <a:spLocks noGrp="1"/>
          </p:cNvSpPr>
          <p:nvPr>
            <p:ph type="sldNum" sz="quarter" idx="10"/>
          </p:nvPr>
        </p:nvSpPr>
        <p:spPr/>
        <p:txBody>
          <a:bodyPr/>
          <a:lstStyle/>
          <a:p>
            <a:fld id="{61C48F6D-B11C-430B-B3BC-DB49887BF883}" type="slidenum">
              <a:rPr lang="en-US" altLang="en-US"/>
              <a:pPr/>
              <a:t>41</a:t>
            </a:fld>
            <a:endParaRPr lang="en-US" altLang="en-US"/>
          </a:p>
        </p:txBody>
      </p:sp>
      <p:sp>
        <p:nvSpPr>
          <p:cNvPr id="550914" name="Rectangle 2"/>
          <p:cNvSpPr>
            <a:spLocks noGrp="1" noChangeArrowheads="1"/>
          </p:cNvSpPr>
          <p:nvPr>
            <p:ph type="title"/>
          </p:nvPr>
        </p:nvSpPr>
        <p:spPr/>
        <p:txBody>
          <a:bodyPr/>
          <a:lstStyle/>
          <a:p>
            <a:r>
              <a:rPr lang="en-US" altLang="en-US"/>
              <a:t>RTL Design Pitfalls and Good Practice</a:t>
            </a:r>
          </a:p>
        </p:txBody>
      </p:sp>
      <p:sp>
        <p:nvSpPr>
          <p:cNvPr id="550915" name="Rectangle 3"/>
          <p:cNvSpPr>
            <a:spLocks noGrp="1" noChangeArrowheads="1"/>
          </p:cNvSpPr>
          <p:nvPr>
            <p:ph type="body" idx="1"/>
          </p:nvPr>
        </p:nvSpPr>
        <p:spPr>
          <a:xfrm>
            <a:off x="228600" y="1219200"/>
            <a:ext cx="3668713" cy="4719638"/>
          </a:xfrm>
        </p:spPr>
        <p:txBody>
          <a:bodyPr/>
          <a:lstStyle/>
          <a:p>
            <a:r>
              <a:rPr lang="en-US" altLang="en-US"/>
              <a:t>Common pitfall: Reading outputs</a:t>
            </a:r>
          </a:p>
          <a:p>
            <a:pPr lvl="1"/>
            <a:r>
              <a:rPr lang="en-US" altLang="en-US"/>
              <a:t>Outputs can only be written</a:t>
            </a:r>
          </a:p>
          <a:p>
            <a:pPr lvl="1"/>
            <a:r>
              <a:rPr lang="en-US" altLang="en-US"/>
              <a:t>Solution: Introduce additional register, which can be written and read</a:t>
            </a:r>
          </a:p>
        </p:txBody>
      </p:sp>
      <p:sp>
        <p:nvSpPr>
          <p:cNvPr id="550917" name="Rectangle 5"/>
          <p:cNvSpPr>
            <a:spLocks noChangeArrowheads="1"/>
          </p:cNvSpPr>
          <p:nvPr/>
        </p:nvSpPr>
        <p:spPr bwMode="auto">
          <a:xfrm>
            <a:off x="5676900" y="2770188"/>
            <a:ext cx="131763"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a:t>
            </a:r>
            <a:endParaRPr lang="en-US" altLang="en-US" sz="3200"/>
          </a:p>
        </p:txBody>
      </p:sp>
      <p:sp>
        <p:nvSpPr>
          <p:cNvPr id="550918" name="Oval 6"/>
          <p:cNvSpPr>
            <a:spLocks noChangeArrowheads="1"/>
          </p:cNvSpPr>
          <p:nvPr/>
        </p:nvSpPr>
        <p:spPr bwMode="auto">
          <a:xfrm>
            <a:off x="5357813" y="2562225"/>
            <a:ext cx="723900" cy="6667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0919" name="Rectangle 7"/>
          <p:cNvSpPr>
            <a:spLocks noChangeArrowheads="1"/>
          </p:cNvSpPr>
          <p:nvPr/>
        </p:nvSpPr>
        <p:spPr bwMode="auto">
          <a:xfrm>
            <a:off x="4510088" y="2754313"/>
            <a:ext cx="14446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a:t>
            </a:r>
            <a:endParaRPr lang="en-US" altLang="en-US" sz="3200"/>
          </a:p>
        </p:txBody>
      </p:sp>
      <p:sp>
        <p:nvSpPr>
          <p:cNvPr id="550920" name="Oval 8"/>
          <p:cNvSpPr>
            <a:spLocks noChangeArrowheads="1"/>
          </p:cNvSpPr>
          <p:nvPr/>
        </p:nvSpPr>
        <p:spPr bwMode="auto">
          <a:xfrm>
            <a:off x="4191000" y="2562225"/>
            <a:ext cx="723900" cy="6667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0921" name="Line 9"/>
          <p:cNvSpPr>
            <a:spLocks noChangeShapeType="1"/>
          </p:cNvSpPr>
          <p:nvPr/>
        </p:nvSpPr>
        <p:spPr bwMode="auto">
          <a:xfrm>
            <a:off x="4914900" y="2908300"/>
            <a:ext cx="274638"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0922" name="Freeform 10"/>
          <p:cNvSpPr>
            <a:spLocks/>
          </p:cNvSpPr>
          <p:nvPr/>
        </p:nvSpPr>
        <p:spPr bwMode="auto">
          <a:xfrm>
            <a:off x="5151438" y="2844800"/>
            <a:ext cx="195262" cy="12541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0923" name="Line 11"/>
          <p:cNvSpPr>
            <a:spLocks noChangeShapeType="1"/>
          </p:cNvSpPr>
          <p:nvPr/>
        </p:nvSpPr>
        <p:spPr bwMode="auto">
          <a:xfrm>
            <a:off x="3741738" y="2908300"/>
            <a:ext cx="273050"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0924" name="Freeform 12"/>
          <p:cNvSpPr>
            <a:spLocks/>
          </p:cNvSpPr>
          <p:nvPr/>
        </p:nvSpPr>
        <p:spPr bwMode="auto">
          <a:xfrm>
            <a:off x="3978275" y="2844800"/>
            <a:ext cx="195263" cy="12541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0925" name="Rectangle 13"/>
          <p:cNvSpPr>
            <a:spLocks noChangeArrowheads="1"/>
          </p:cNvSpPr>
          <p:nvPr/>
        </p:nvSpPr>
        <p:spPr bwMode="auto">
          <a:xfrm>
            <a:off x="5459413" y="3433763"/>
            <a:ext cx="68421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P=P+B</a:t>
            </a:r>
            <a:endParaRPr lang="en-US" altLang="en-US" sz="3200"/>
          </a:p>
        </p:txBody>
      </p:sp>
      <p:sp>
        <p:nvSpPr>
          <p:cNvPr id="550926" name="Rectangle 14"/>
          <p:cNvSpPr>
            <a:spLocks noChangeArrowheads="1"/>
          </p:cNvSpPr>
          <p:nvPr/>
        </p:nvSpPr>
        <p:spPr bwMode="auto">
          <a:xfrm>
            <a:off x="4389438" y="3433763"/>
            <a:ext cx="414337"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P=A</a:t>
            </a:r>
            <a:endParaRPr lang="en-US" altLang="en-US" sz="3200"/>
          </a:p>
        </p:txBody>
      </p:sp>
      <p:sp>
        <p:nvSpPr>
          <p:cNvPr id="550927" name="Rectangle 15"/>
          <p:cNvSpPr>
            <a:spLocks noChangeArrowheads="1"/>
          </p:cNvSpPr>
          <p:nvPr/>
        </p:nvSpPr>
        <p:spPr bwMode="auto">
          <a:xfrm>
            <a:off x="4806950" y="4140200"/>
            <a:ext cx="698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sp>
        <p:nvSpPr>
          <p:cNvPr id="550928" name="Rectangle 16"/>
          <p:cNvSpPr>
            <a:spLocks noChangeArrowheads="1"/>
          </p:cNvSpPr>
          <p:nvPr/>
        </p:nvSpPr>
        <p:spPr bwMode="auto">
          <a:xfrm>
            <a:off x="4864100" y="414020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a:t>
            </a:r>
            <a:endParaRPr lang="en-US" altLang="en-US" sz="3200"/>
          </a:p>
        </p:txBody>
      </p:sp>
      <p:sp>
        <p:nvSpPr>
          <p:cNvPr id="550929" name="Rectangle 17"/>
          <p:cNvSpPr>
            <a:spLocks noChangeArrowheads="1"/>
          </p:cNvSpPr>
          <p:nvPr/>
        </p:nvSpPr>
        <p:spPr bwMode="auto">
          <a:xfrm>
            <a:off x="4957763" y="4140200"/>
            <a:ext cx="71437"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sp>
        <p:nvSpPr>
          <p:cNvPr id="550930" name="Rectangle 18"/>
          <p:cNvSpPr>
            <a:spLocks noChangeArrowheads="1"/>
          </p:cNvSpPr>
          <p:nvPr/>
        </p:nvSpPr>
        <p:spPr bwMode="auto">
          <a:xfrm>
            <a:off x="3743325" y="1374775"/>
            <a:ext cx="18415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A, B (8 bits)</a:t>
            </a:r>
            <a:endParaRPr lang="en-US" altLang="en-US" sz="3200"/>
          </a:p>
        </p:txBody>
      </p:sp>
      <p:sp>
        <p:nvSpPr>
          <p:cNvPr id="550933" name="Rectangle 21"/>
          <p:cNvSpPr>
            <a:spLocks noChangeArrowheads="1"/>
          </p:cNvSpPr>
          <p:nvPr/>
        </p:nvSpPr>
        <p:spPr bwMode="auto">
          <a:xfrm>
            <a:off x="3743325" y="1674813"/>
            <a:ext cx="17446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P (8 bits)</a:t>
            </a:r>
            <a:endParaRPr lang="en-US" altLang="en-US" sz="3200"/>
          </a:p>
        </p:txBody>
      </p:sp>
      <p:sp>
        <p:nvSpPr>
          <p:cNvPr id="550936" name="Rectangle 24"/>
          <p:cNvSpPr>
            <a:spLocks noChangeArrowheads="1"/>
          </p:cNvSpPr>
          <p:nvPr/>
        </p:nvSpPr>
        <p:spPr bwMode="auto">
          <a:xfrm>
            <a:off x="6369050" y="1374775"/>
            <a:ext cx="184150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Inputs: A, B (8 bits)</a:t>
            </a:r>
            <a:endParaRPr lang="en-US" altLang="en-US" sz="3200"/>
          </a:p>
        </p:txBody>
      </p:sp>
      <p:sp>
        <p:nvSpPr>
          <p:cNvPr id="550939" name="Rectangle 27"/>
          <p:cNvSpPr>
            <a:spLocks noChangeArrowheads="1"/>
          </p:cNvSpPr>
          <p:nvPr/>
        </p:nvSpPr>
        <p:spPr bwMode="auto">
          <a:xfrm>
            <a:off x="6369050" y="1674813"/>
            <a:ext cx="17446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Outputs: P (8 bits)</a:t>
            </a:r>
            <a:endParaRPr lang="en-US" altLang="en-US" sz="3200"/>
          </a:p>
        </p:txBody>
      </p:sp>
      <p:sp>
        <p:nvSpPr>
          <p:cNvPr id="550942" name="Rectangle 30"/>
          <p:cNvSpPr>
            <a:spLocks noChangeArrowheads="1"/>
          </p:cNvSpPr>
          <p:nvPr/>
        </p:nvSpPr>
        <p:spPr bwMode="auto">
          <a:xfrm>
            <a:off x="6369050" y="1968500"/>
            <a:ext cx="2295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chemeClr val="accent2"/>
                </a:solidFill>
                <a:latin typeface="Myriad Roman" charset="0"/>
              </a:rPr>
              <a:t>Local register: R (8 bits)</a:t>
            </a:r>
            <a:endParaRPr lang="en-US" altLang="en-US" sz="3200">
              <a:solidFill>
                <a:schemeClr val="accent2"/>
              </a:solidFill>
            </a:endParaRPr>
          </a:p>
        </p:txBody>
      </p:sp>
      <p:sp>
        <p:nvSpPr>
          <p:cNvPr id="550951" name="Line 39"/>
          <p:cNvSpPr>
            <a:spLocks noChangeShapeType="1"/>
          </p:cNvSpPr>
          <p:nvPr/>
        </p:nvSpPr>
        <p:spPr bwMode="auto">
          <a:xfrm flipV="1">
            <a:off x="5432425" y="3276600"/>
            <a:ext cx="619125" cy="57785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0952" name="Line 40"/>
          <p:cNvSpPr>
            <a:spLocks noChangeShapeType="1"/>
          </p:cNvSpPr>
          <p:nvPr/>
        </p:nvSpPr>
        <p:spPr bwMode="auto">
          <a:xfrm flipH="1" flipV="1">
            <a:off x="5407025" y="3276600"/>
            <a:ext cx="620713" cy="57785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0953" name="Rectangle 41"/>
          <p:cNvSpPr>
            <a:spLocks noChangeArrowheads="1"/>
          </p:cNvSpPr>
          <p:nvPr/>
        </p:nvSpPr>
        <p:spPr bwMode="auto">
          <a:xfrm>
            <a:off x="8316913" y="2770188"/>
            <a:ext cx="131762"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T</a:t>
            </a:r>
            <a:endParaRPr lang="en-US" altLang="en-US" sz="3200"/>
          </a:p>
        </p:txBody>
      </p:sp>
      <p:sp>
        <p:nvSpPr>
          <p:cNvPr id="550954" name="Oval 42"/>
          <p:cNvSpPr>
            <a:spLocks noChangeArrowheads="1"/>
          </p:cNvSpPr>
          <p:nvPr/>
        </p:nvSpPr>
        <p:spPr bwMode="auto">
          <a:xfrm>
            <a:off x="7997825" y="2562225"/>
            <a:ext cx="722313" cy="6667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0955" name="Rectangle 43"/>
          <p:cNvSpPr>
            <a:spLocks noChangeArrowheads="1"/>
          </p:cNvSpPr>
          <p:nvPr/>
        </p:nvSpPr>
        <p:spPr bwMode="auto">
          <a:xfrm>
            <a:off x="7148513" y="2754313"/>
            <a:ext cx="14446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a:t>
            </a:r>
            <a:endParaRPr lang="en-US" altLang="en-US" sz="3200"/>
          </a:p>
        </p:txBody>
      </p:sp>
      <p:sp>
        <p:nvSpPr>
          <p:cNvPr id="550956" name="Oval 44"/>
          <p:cNvSpPr>
            <a:spLocks noChangeArrowheads="1"/>
          </p:cNvSpPr>
          <p:nvPr/>
        </p:nvSpPr>
        <p:spPr bwMode="auto">
          <a:xfrm>
            <a:off x="6831013" y="2562225"/>
            <a:ext cx="722312" cy="666750"/>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0957" name="Line 45"/>
          <p:cNvSpPr>
            <a:spLocks noChangeShapeType="1"/>
          </p:cNvSpPr>
          <p:nvPr/>
        </p:nvSpPr>
        <p:spPr bwMode="auto">
          <a:xfrm>
            <a:off x="7553325" y="2908300"/>
            <a:ext cx="273050"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0958" name="Freeform 46"/>
          <p:cNvSpPr>
            <a:spLocks/>
          </p:cNvSpPr>
          <p:nvPr/>
        </p:nvSpPr>
        <p:spPr bwMode="auto">
          <a:xfrm>
            <a:off x="7791450" y="2844800"/>
            <a:ext cx="193675" cy="12541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0959" name="Line 47"/>
          <p:cNvSpPr>
            <a:spLocks noChangeShapeType="1"/>
          </p:cNvSpPr>
          <p:nvPr/>
        </p:nvSpPr>
        <p:spPr bwMode="auto">
          <a:xfrm>
            <a:off x="6378575" y="2908300"/>
            <a:ext cx="274638"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0960" name="Freeform 48"/>
          <p:cNvSpPr>
            <a:spLocks/>
          </p:cNvSpPr>
          <p:nvPr/>
        </p:nvSpPr>
        <p:spPr bwMode="auto">
          <a:xfrm>
            <a:off x="6616700" y="2844800"/>
            <a:ext cx="193675" cy="12541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0961" name="Rectangle 49"/>
          <p:cNvSpPr>
            <a:spLocks noChangeArrowheads="1"/>
          </p:cNvSpPr>
          <p:nvPr/>
        </p:nvSpPr>
        <p:spPr bwMode="auto">
          <a:xfrm>
            <a:off x="8096250" y="3433763"/>
            <a:ext cx="695325"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P=</a:t>
            </a:r>
            <a:r>
              <a:rPr lang="en-US" altLang="en-US" sz="1700">
                <a:solidFill>
                  <a:schemeClr val="accent2"/>
                </a:solidFill>
                <a:latin typeface="Myriad Roman" charset="0"/>
              </a:rPr>
              <a:t>R</a:t>
            </a:r>
            <a:r>
              <a:rPr lang="en-US" altLang="en-US" sz="1700">
                <a:solidFill>
                  <a:srgbClr val="000000"/>
                </a:solidFill>
                <a:latin typeface="Myriad Roman" charset="0"/>
              </a:rPr>
              <a:t>+B</a:t>
            </a:r>
            <a:endParaRPr lang="en-US" altLang="en-US" sz="3200"/>
          </a:p>
        </p:txBody>
      </p:sp>
      <p:sp>
        <p:nvSpPr>
          <p:cNvPr id="550962" name="Rectangle 50"/>
          <p:cNvSpPr>
            <a:spLocks noChangeArrowheads="1"/>
          </p:cNvSpPr>
          <p:nvPr/>
        </p:nvSpPr>
        <p:spPr bwMode="auto">
          <a:xfrm>
            <a:off x="7026275" y="3433763"/>
            <a:ext cx="4254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chemeClr val="accent2"/>
                </a:solidFill>
                <a:latin typeface="Myriad Roman" charset="0"/>
              </a:rPr>
              <a:t>R=A</a:t>
            </a:r>
            <a:endParaRPr lang="en-US" altLang="en-US" sz="3200">
              <a:solidFill>
                <a:schemeClr val="accent2"/>
              </a:solidFill>
            </a:endParaRPr>
          </a:p>
        </p:txBody>
      </p:sp>
      <p:sp>
        <p:nvSpPr>
          <p:cNvPr id="550963" name="Rectangle 51"/>
          <p:cNvSpPr>
            <a:spLocks noChangeArrowheads="1"/>
          </p:cNvSpPr>
          <p:nvPr/>
        </p:nvSpPr>
        <p:spPr bwMode="auto">
          <a:xfrm>
            <a:off x="7026275" y="3684588"/>
            <a:ext cx="414338"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P=A</a:t>
            </a:r>
            <a:endParaRPr lang="en-US" altLang="en-US" sz="3200"/>
          </a:p>
        </p:txBody>
      </p:sp>
      <p:sp>
        <p:nvSpPr>
          <p:cNvPr id="550964" name="Rectangle 52"/>
          <p:cNvSpPr>
            <a:spLocks noChangeArrowheads="1"/>
          </p:cNvSpPr>
          <p:nvPr/>
        </p:nvSpPr>
        <p:spPr bwMode="auto">
          <a:xfrm>
            <a:off x="7418388" y="4140200"/>
            <a:ext cx="698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sp>
        <p:nvSpPr>
          <p:cNvPr id="550965" name="Rectangle 53"/>
          <p:cNvSpPr>
            <a:spLocks noChangeArrowheads="1"/>
          </p:cNvSpPr>
          <p:nvPr/>
        </p:nvSpPr>
        <p:spPr bwMode="auto">
          <a:xfrm>
            <a:off x="7473950" y="4140200"/>
            <a:ext cx="120650"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a:t>
            </a:r>
            <a:endParaRPr lang="en-US" altLang="en-US" sz="3200"/>
          </a:p>
        </p:txBody>
      </p:sp>
      <p:sp>
        <p:nvSpPr>
          <p:cNvPr id="550966" name="Rectangle 54"/>
          <p:cNvSpPr>
            <a:spLocks noChangeArrowheads="1"/>
          </p:cNvSpPr>
          <p:nvPr/>
        </p:nvSpPr>
        <p:spPr bwMode="auto">
          <a:xfrm>
            <a:off x="7585075" y="4140200"/>
            <a:ext cx="71438"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t>
            </a:r>
            <a:endParaRPr lang="en-US" altLang="en-US" sz="32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Slide Number Placeholder 3"/>
          <p:cNvSpPr>
            <a:spLocks noGrp="1"/>
          </p:cNvSpPr>
          <p:nvPr>
            <p:ph type="sldNum" sz="quarter" idx="10"/>
          </p:nvPr>
        </p:nvSpPr>
        <p:spPr/>
        <p:txBody>
          <a:bodyPr/>
          <a:lstStyle/>
          <a:p>
            <a:fld id="{D0B2D231-7598-4F05-82E8-4D01C1C97603}" type="slidenum">
              <a:rPr lang="en-US" altLang="en-US"/>
              <a:pPr/>
              <a:t>42</a:t>
            </a:fld>
            <a:endParaRPr lang="en-US" altLang="en-US"/>
          </a:p>
        </p:txBody>
      </p:sp>
      <p:sp>
        <p:nvSpPr>
          <p:cNvPr id="552962" name="Rectangle 2"/>
          <p:cNvSpPr>
            <a:spLocks noGrp="1" noChangeArrowheads="1"/>
          </p:cNvSpPr>
          <p:nvPr>
            <p:ph type="title"/>
          </p:nvPr>
        </p:nvSpPr>
        <p:spPr/>
        <p:txBody>
          <a:bodyPr/>
          <a:lstStyle/>
          <a:p>
            <a:r>
              <a:rPr lang="en-US" altLang="en-US"/>
              <a:t>RTL Design Pitfalls and Good Practice</a:t>
            </a:r>
          </a:p>
        </p:txBody>
      </p:sp>
      <p:sp>
        <p:nvSpPr>
          <p:cNvPr id="552963" name="Rectangle 3"/>
          <p:cNvSpPr>
            <a:spLocks noGrp="1" noChangeArrowheads="1"/>
          </p:cNvSpPr>
          <p:nvPr>
            <p:ph type="body" idx="1"/>
          </p:nvPr>
        </p:nvSpPr>
        <p:spPr>
          <a:xfrm>
            <a:off x="228600" y="1219200"/>
            <a:ext cx="3902075" cy="4719638"/>
          </a:xfrm>
        </p:spPr>
        <p:txBody>
          <a:bodyPr/>
          <a:lstStyle/>
          <a:p>
            <a:pPr>
              <a:lnSpc>
                <a:spcPct val="90000"/>
              </a:lnSpc>
            </a:pPr>
            <a:r>
              <a:rPr lang="en-US" altLang="en-US"/>
              <a:t>Good practice: Register all data outputs</a:t>
            </a:r>
          </a:p>
          <a:p>
            <a:pPr lvl="1">
              <a:lnSpc>
                <a:spcPct val="90000"/>
              </a:lnSpc>
            </a:pPr>
            <a:r>
              <a:rPr lang="en-US" altLang="en-US"/>
              <a:t>In fig (a), output </a:t>
            </a:r>
            <a:r>
              <a:rPr lang="en-US" altLang="en-US" i="1"/>
              <a:t>P</a:t>
            </a:r>
            <a:r>
              <a:rPr lang="en-US" altLang="en-US"/>
              <a:t> would show spurious values as addition computes</a:t>
            </a:r>
          </a:p>
          <a:p>
            <a:pPr lvl="2">
              <a:lnSpc>
                <a:spcPct val="90000"/>
              </a:lnSpc>
            </a:pPr>
            <a:r>
              <a:rPr lang="en-US" altLang="en-US"/>
              <a:t>Furthermore, longest register-to-register path, which determines clock period, is not known until that output is connected to another component</a:t>
            </a:r>
          </a:p>
          <a:p>
            <a:pPr lvl="1">
              <a:lnSpc>
                <a:spcPct val="90000"/>
              </a:lnSpc>
            </a:pPr>
            <a:r>
              <a:rPr lang="en-US" altLang="en-US"/>
              <a:t>In fig (b), spurious outputs reduced, and longest register-to-register path is clear</a:t>
            </a:r>
          </a:p>
          <a:p>
            <a:pPr lvl="1">
              <a:lnSpc>
                <a:spcPct val="90000"/>
              </a:lnSpc>
            </a:pPr>
            <a:endParaRPr lang="en-US" altLang="en-US"/>
          </a:p>
        </p:txBody>
      </p:sp>
      <p:sp>
        <p:nvSpPr>
          <p:cNvPr id="553015" name="Line 55"/>
          <p:cNvSpPr>
            <a:spLocks noChangeShapeType="1"/>
          </p:cNvSpPr>
          <p:nvPr/>
        </p:nvSpPr>
        <p:spPr bwMode="auto">
          <a:xfrm>
            <a:off x="5046663" y="2078038"/>
            <a:ext cx="1587" cy="4095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3016" name="Freeform 56"/>
          <p:cNvSpPr>
            <a:spLocks/>
          </p:cNvSpPr>
          <p:nvPr/>
        </p:nvSpPr>
        <p:spPr bwMode="auto">
          <a:xfrm>
            <a:off x="4979988" y="2376488"/>
            <a:ext cx="131762" cy="2905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017" name="Line 57"/>
          <p:cNvSpPr>
            <a:spLocks noChangeShapeType="1"/>
          </p:cNvSpPr>
          <p:nvPr/>
        </p:nvSpPr>
        <p:spPr bwMode="auto">
          <a:xfrm>
            <a:off x="5283200" y="3265488"/>
            <a:ext cx="1588" cy="4095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3018" name="Freeform 58"/>
          <p:cNvSpPr>
            <a:spLocks/>
          </p:cNvSpPr>
          <p:nvPr/>
        </p:nvSpPr>
        <p:spPr bwMode="auto">
          <a:xfrm>
            <a:off x="5216525" y="3563938"/>
            <a:ext cx="131763" cy="2905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019" name="Line 59"/>
          <p:cNvSpPr>
            <a:spLocks noChangeShapeType="1"/>
          </p:cNvSpPr>
          <p:nvPr/>
        </p:nvSpPr>
        <p:spPr bwMode="auto">
          <a:xfrm>
            <a:off x="5521325" y="1314450"/>
            <a:ext cx="3175" cy="117316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3020" name="Freeform 60"/>
          <p:cNvSpPr>
            <a:spLocks/>
          </p:cNvSpPr>
          <p:nvPr/>
        </p:nvSpPr>
        <p:spPr bwMode="auto">
          <a:xfrm>
            <a:off x="5456238" y="2376488"/>
            <a:ext cx="131762" cy="2905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021" name="Freeform 61"/>
          <p:cNvSpPr>
            <a:spLocks/>
          </p:cNvSpPr>
          <p:nvPr/>
        </p:nvSpPr>
        <p:spPr bwMode="auto">
          <a:xfrm>
            <a:off x="4173538" y="1787525"/>
            <a:ext cx="204787" cy="225425"/>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022" name="Rectangle 62"/>
          <p:cNvSpPr>
            <a:spLocks noChangeArrowheads="1"/>
          </p:cNvSpPr>
          <p:nvPr/>
        </p:nvSpPr>
        <p:spPr bwMode="auto">
          <a:xfrm>
            <a:off x="4173538" y="1433513"/>
            <a:ext cx="1093787" cy="6445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023" name="Rectangle 63"/>
          <p:cNvSpPr>
            <a:spLocks noChangeArrowheads="1"/>
          </p:cNvSpPr>
          <p:nvPr/>
        </p:nvSpPr>
        <p:spPr bwMode="auto">
          <a:xfrm>
            <a:off x="4856163" y="2674938"/>
            <a:ext cx="854075" cy="5810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024" name="Rectangle 64"/>
          <p:cNvSpPr>
            <a:spLocks noChangeArrowheads="1"/>
          </p:cNvSpPr>
          <p:nvPr/>
        </p:nvSpPr>
        <p:spPr bwMode="auto">
          <a:xfrm>
            <a:off x="5203825" y="2774950"/>
            <a:ext cx="1412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a:t>
            </a:r>
            <a:endParaRPr lang="en-US" altLang="en-US" sz="3600"/>
          </a:p>
        </p:txBody>
      </p:sp>
      <p:sp>
        <p:nvSpPr>
          <p:cNvPr id="553025" name="Rectangle 65"/>
          <p:cNvSpPr>
            <a:spLocks noChangeArrowheads="1"/>
          </p:cNvSpPr>
          <p:nvPr/>
        </p:nvSpPr>
        <p:spPr bwMode="auto">
          <a:xfrm>
            <a:off x="4654550" y="159543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R</a:t>
            </a:r>
            <a:endParaRPr lang="en-US" altLang="en-US" sz="3600"/>
          </a:p>
        </p:txBody>
      </p:sp>
      <p:sp>
        <p:nvSpPr>
          <p:cNvPr id="553026" name="Rectangle 66"/>
          <p:cNvSpPr>
            <a:spLocks noChangeArrowheads="1"/>
          </p:cNvSpPr>
          <p:nvPr/>
        </p:nvSpPr>
        <p:spPr bwMode="auto">
          <a:xfrm>
            <a:off x="5613400" y="1290638"/>
            <a:ext cx="160338"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B</a:t>
            </a:r>
            <a:endParaRPr lang="en-US" altLang="en-US" sz="3600"/>
          </a:p>
        </p:txBody>
      </p:sp>
      <p:sp>
        <p:nvSpPr>
          <p:cNvPr id="553027" name="Rectangle 67"/>
          <p:cNvSpPr>
            <a:spLocks noChangeArrowheads="1"/>
          </p:cNvSpPr>
          <p:nvPr/>
        </p:nvSpPr>
        <p:spPr bwMode="auto">
          <a:xfrm>
            <a:off x="5403850" y="3581400"/>
            <a:ext cx="1603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P</a:t>
            </a:r>
            <a:endParaRPr lang="en-US" altLang="en-US" sz="3600"/>
          </a:p>
        </p:txBody>
      </p:sp>
      <p:sp>
        <p:nvSpPr>
          <p:cNvPr id="553028" name="Rectangle 68"/>
          <p:cNvSpPr>
            <a:spLocks noChangeArrowheads="1"/>
          </p:cNvSpPr>
          <p:nvPr/>
        </p:nvSpPr>
        <p:spPr bwMode="auto">
          <a:xfrm>
            <a:off x="4826000" y="3959225"/>
            <a:ext cx="2968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(a)</a:t>
            </a:r>
            <a:endParaRPr lang="en-US" altLang="en-US" sz="3600"/>
          </a:p>
        </p:txBody>
      </p:sp>
      <p:sp>
        <p:nvSpPr>
          <p:cNvPr id="553031" name="Line 71"/>
          <p:cNvSpPr>
            <a:spLocks noChangeShapeType="1"/>
          </p:cNvSpPr>
          <p:nvPr/>
        </p:nvSpPr>
        <p:spPr bwMode="auto">
          <a:xfrm>
            <a:off x="7418388" y="2078038"/>
            <a:ext cx="3175" cy="4095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3032" name="Freeform 72"/>
          <p:cNvSpPr>
            <a:spLocks/>
          </p:cNvSpPr>
          <p:nvPr/>
        </p:nvSpPr>
        <p:spPr bwMode="auto">
          <a:xfrm>
            <a:off x="7353300" y="2376488"/>
            <a:ext cx="131763" cy="2905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033" name="Line 73"/>
          <p:cNvSpPr>
            <a:spLocks noChangeShapeType="1"/>
          </p:cNvSpPr>
          <p:nvPr/>
        </p:nvSpPr>
        <p:spPr bwMode="auto">
          <a:xfrm>
            <a:off x="7658100" y="3265488"/>
            <a:ext cx="3175" cy="4095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3034" name="Freeform 74"/>
          <p:cNvSpPr>
            <a:spLocks/>
          </p:cNvSpPr>
          <p:nvPr/>
        </p:nvSpPr>
        <p:spPr bwMode="auto">
          <a:xfrm>
            <a:off x="7593013" y="3563938"/>
            <a:ext cx="130175" cy="2905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035" name="Line 75"/>
          <p:cNvSpPr>
            <a:spLocks noChangeShapeType="1"/>
          </p:cNvSpPr>
          <p:nvPr/>
        </p:nvSpPr>
        <p:spPr bwMode="auto">
          <a:xfrm>
            <a:off x="7658100" y="4481513"/>
            <a:ext cx="3175" cy="4095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3036" name="Freeform 76"/>
          <p:cNvSpPr>
            <a:spLocks/>
          </p:cNvSpPr>
          <p:nvPr/>
        </p:nvSpPr>
        <p:spPr bwMode="auto">
          <a:xfrm>
            <a:off x="7593013" y="4779963"/>
            <a:ext cx="130175" cy="2905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037" name="Line 77"/>
          <p:cNvSpPr>
            <a:spLocks noChangeShapeType="1"/>
          </p:cNvSpPr>
          <p:nvPr/>
        </p:nvSpPr>
        <p:spPr bwMode="auto">
          <a:xfrm>
            <a:off x="7894638" y="1314450"/>
            <a:ext cx="3175" cy="117316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3038" name="Freeform 78"/>
          <p:cNvSpPr>
            <a:spLocks/>
          </p:cNvSpPr>
          <p:nvPr/>
        </p:nvSpPr>
        <p:spPr bwMode="auto">
          <a:xfrm>
            <a:off x="7829550" y="2376488"/>
            <a:ext cx="130175" cy="29051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3039" name="Freeform 79"/>
          <p:cNvSpPr>
            <a:spLocks/>
          </p:cNvSpPr>
          <p:nvPr/>
        </p:nvSpPr>
        <p:spPr bwMode="auto">
          <a:xfrm>
            <a:off x="6548438" y="1787525"/>
            <a:ext cx="206375" cy="225425"/>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040" name="Rectangle 80"/>
          <p:cNvSpPr>
            <a:spLocks noChangeArrowheads="1"/>
          </p:cNvSpPr>
          <p:nvPr/>
        </p:nvSpPr>
        <p:spPr bwMode="auto">
          <a:xfrm>
            <a:off x="6548438" y="1433513"/>
            <a:ext cx="1090612" cy="6445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041" name="Rectangle 81"/>
          <p:cNvSpPr>
            <a:spLocks noChangeArrowheads="1"/>
          </p:cNvSpPr>
          <p:nvPr/>
        </p:nvSpPr>
        <p:spPr bwMode="auto">
          <a:xfrm>
            <a:off x="7229475" y="2674938"/>
            <a:ext cx="854075" cy="5810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042" name="Rectangle 82"/>
          <p:cNvSpPr>
            <a:spLocks noChangeArrowheads="1"/>
          </p:cNvSpPr>
          <p:nvPr/>
        </p:nvSpPr>
        <p:spPr bwMode="auto">
          <a:xfrm>
            <a:off x="7578725" y="2774950"/>
            <a:ext cx="1412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a:t>
            </a:r>
            <a:endParaRPr lang="en-US" altLang="en-US" sz="3600"/>
          </a:p>
        </p:txBody>
      </p:sp>
      <p:sp>
        <p:nvSpPr>
          <p:cNvPr id="553043" name="Rectangle 83"/>
          <p:cNvSpPr>
            <a:spLocks noChangeArrowheads="1"/>
          </p:cNvSpPr>
          <p:nvPr/>
        </p:nvSpPr>
        <p:spPr bwMode="auto">
          <a:xfrm>
            <a:off x="7027863" y="1595438"/>
            <a:ext cx="1746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R</a:t>
            </a:r>
            <a:endParaRPr lang="en-US" altLang="en-US" sz="3600"/>
          </a:p>
        </p:txBody>
      </p:sp>
      <p:sp>
        <p:nvSpPr>
          <p:cNvPr id="553044" name="Freeform 84"/>
          <p:cNvSpPr>
            <a:spLocks/>
          </p:cNvSpPr>
          <p:nvPr/>
        </p:nvSpPr>
        <p:spPr bwMode="auto">
          <a:xfrm>
            <a:off x="7105650" y="4191000"/>
            <a:ext cx="204788" cy="227013"/>
          </a:xfrm>
          <a:custGeom>
            <a:avLst/>
            <a:gdLst>
              <a:gd name="T0" fmla="*/ 0 w 78"/>
              <a:gd name="T1" fmla="*/ 78 h 78"/>
              <a:gd name="T2" fmla="*/ 78 w 78"/>
              <a:gd name="T3" fmla="*/ 41 h 78"/>
              <a:gd name="T4" fmla="*/ 0 w 78"/>
              <a:gd name="T5" fmla="*/ 0 h 78"/>
            </a:gdLst>
            <a:ahLst/>
            <a:cxnLst>
              <a:cxn ang="0">
                <a:pos x="T0" y="T1"/>
              </a:cxn>
              <a:cxn ang="0">
                <a:pos x="T2" y="T3"/>
              </a:cxn>
              <a:cxn ang="0">
                <a:pos x="T4" y="T5"/>
              </a:cxn>
            </a:cxnLst>
            <a:rect l="0" t="0" r="r" b="b"/>
            <a:pathLst>
              <a:path w="78" h="78">
                <a:moveTo>
                  <a:pt x="0" y="78"/>
                </a:moveTo>
                <a:lnTo>
                  <a:pt x="78" y="4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045" name="Rectangle 85"/>
          <p:cNvSpPr>
            <a:spLocks noChangeArrowheads="1"/>
          </p:cNvSpPr>
          <p:nvPr/>
        </p:nvSpPr>
        <p:spPr bwMode="auto">
          <a:xfrm>
            <a:off x="7105650" y="3836988"/>
            <a:ext cx="1093788" cy="6445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3046" name="Rectangle 86"/>
          <p:cNvSpPr>
            <a:spLocks noChangeArrowheads="1"/>
          </p:cNvSpPr>
          <p:nvPr/>
        </p:nvSpPr>
        <p:spPr bwMode="auto">
          <a:xfrm>
            <a:off x="7408863" y="3976688"/>
            <a:ext cx="5111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Preg</a:t>
            </a:r>
            <a:endParaRPr lang="en-US" altLang="en-US" sz="3600"/>
          </a:p>
        </p:txBody>
      </p:sp>
      <p:sp>
        <p:nvSpPr>
          <p:cNvPr id="553049" name="Rectangle 89"/>
          <p:cNvSpPr>
            <a:spLocks noChangeArrowheads="1"/>
          </p:cNvSpPr>
          <p:nvPr/>
        </p:nvSpPr>
        <p:spPr bwMode="auto">
          <a:xfrm>
            <a:off x="7989888" y="1290638"/>
            <a:ext cx="160337" cy="29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B</a:t>
            </a:r>
            <a:endParaRPr lang="en-US" altLang="en-US" sz="3600"/>
          </a:p>
        </p:txBody>
      </p:sp>
      <p:sp>
        <p:nvSpPr>
          <p:cNvPr id="553050" name="Rectangle 90"/>
          <p:cNvSpPr>
            <a:spLocks noChangeArrowheads="1"/>
          </p:cNvSpPr>
          <p:nvPr/>
        </p:nvSpPr>
        <p:spPr bwMode="auto">
          <a:xfrm>
            <a:off x="7775575" y="4779963"/>
            <a:ext cx="16033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P</a:t>
            </a:r>
            <a:endParaRPr lang="en-US" altLang="en-US" sz="3600"/>
          </a:p>
        </p:txBody>
      </p:sp>
      <p:sp>
        <p:nvSpPr>
          <p:cNvPr id="553051" name="Rectangle 91"/>
          <p:cNvSpPr>
            <a:spLocks noChangeArrowheads="1"/>
          </p:cNvSpPr>
          <p:nvPr/>
        </p:nvSpPr>
        <p:spPr bwMode="auto">
          <a:xfrm>
            <a:off x="7229475" y="5006975"/>
            <a:ext cx="2968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(b)</a:t>
            </a:r>
            <a:endParaRPr lang="en-US" altLang="en-US" sz="36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CA8EE73D-E096-4EBD-A603-F7E08AD8DFD7}" type="slidenum">
              <a:rPr lang="en-US" altLang="en-US"/>
              <a:pPr/>
              <a:t>43</a:t>
            </a:fld>
            <a:endParaRPr lang="en-US" altLang="en-US"/>
          </a:p>
        </p:txBody>
      </p:sp>
      <p:sp>
        <p:nvSpPr>
          <p:cNvPr id="555010" name="Rectangle 2"/>
          <p:cNvSpPr>
            <a:spLocks noGrp="1" noChangeArrowheads="1"/>
          </p:cNvSpPr>
          <p:nvPr>
            <p:ph type="title"/>
          </p:nvPr>
        </p:nvSpPr>
        <p:spPr/>
        <p:txBody>
          <a:bodyPr/>
          <a:lstStyle/>
          <a:p>
            <a:r>
              <a:rPr lang="en-US" altLang="en-US"/>
              <a:t>Control vs. Data Dominated RTL Design</a:t>
            </a:r>
          </a:p>
        </p:txBody>
      </p:sp>
      <p:sp>
        <p:nvSpPr>
          <p:cNvPr id="555011" name="Rectangle 3"/>
          <p:cNvSpPr>
            <a:spLocks noGrp="1" noChangeArrowheads="1"/>
          </p:cNvSpPr>
          <p:nvPr>
            <p:ph type="body" idx="1"/>
          </p:nvPr>
        </p:nvSpPr>
        <p:spPr/>
        <p:txBody>
          <a:bodyPr/>
          <a:lstStyle/>
          <a:p>
            <a:r>
              <a:rPr lang="en-US" altLang="en-US"/>
              <a:t>Designs often categorized as control-dominated or data-dominated</a:t>
            </a:r>
          </a:p>
          <a:p>
            <a:pPr lvl="1"/>
            <a:r>
              <a:rPr lang="en-US" altLang="en-US"/>
              <a:t>Control-dominated design – Controller contains most of the complexity</a:t>
            </a:r>
          </a:p>
          <a:p>
            <a:pPr lvl="1"/>
            <a:r>
              <a:rPr lang="en-US" altLang="en-US"/>
              <a:t>Data-dominated design – Datapath contains most of the complexity</a:t>
            </a:r>
          </a:p>
          <a:p>
            <a:pPr lvl="1"/>
            <a:r>
              <a:rPr lang="en-US" altLang="en-US"/>
              <a:t>General, descriptive terms – no hard rule that separates the two types of designs</a:t>
            </a:r>
          </a:p>
          <a:p>
            <a:pPr lvl="1"/>
            <a:r>
              <a:rPr lang="en-US" altLang="en-US"/>
              <a:t>Laser-based distance measurer – control dominated</a:t>
            </a:r>
          </a:p>
          <a:p>
            <a:pPr lvl="1"/>
            <a:r>
              <a:rPr lang="en-US" altLang="en-US"/>
              <a:t>Bus interface, SAD circuit – mix of control and data</a:t>
            </a:r>
          </a:p>
          <a:p>
            <a:pPr lvl="1"/>
            <a:r>
              <a:rPr lang="en-US" altLang="en-US"/>
              <a:t>Now let’s do a data dominated design</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Slide Number Placeholder 3"/>
          <p:cNvSpPr>
            <a:spLocks noGrp="1"/>
          </p:cNvSpPr>
          <p:nvPr>
            <p:ph type="sldNum" sz="quarter" idx="10"/>
          </p:nvPr>
        </p:nvSpPr>
        <p:spPr/>
        <p:txBody>
          <a:bodyPr/>
          <a:lstStyle/>
          <a:p>
            <a:fld id="{5695BCF4-F7A7-4E1C-AF37-5765E65932CB}" type="slidenum">
              <a:rPr lang="en-US" altLang="en-US"/>
              <a:pPr/>
              <a:t>44</a:t>
            </a:fld>
            <a:endParaRPr lang="en-US" altLang="en-US"/>
          </a:p>
        </p:txBody>
      </p:sp>
      <p:sp>
        <p:nvSpPr>
          <p:cNvPr id="557058" name="Rectangle 2"/>
          <p:cNvSpPr>
            <a:spLocks noGrp="1" noChangeArrowheads="1"/>
          </p:cNvSpPr>
          <p:nvPr>
            <p:ph type="title"/>
          </p:nvPr>
        </p:nvSpPr>
        <p:spPr/>
        <p:txBody>
          <a:bodyPr/>
          <a:lstStyle/>
          <a:p>
            <a:r>
              <a:rPr lang="en-US" altLang="en-US"/>
              <a:t>Data Dominated RTL Design Example: FIR Filter</a:t>
            </a:r>
          </a:p>
        </p:txBody>
      </p:sp>
      <p:sp>
        <p:nvSpPr>
          <p:cNvPr id="557059" name="Rectangle 3"/>
          <p:cNvSpPr>
            <a:spLocks noGrp="1" noChangeArrowheads="1"/>
          </p:cNvSpPr>
          <p:nvPr>
            <p:ph type="body" idx="1"/>
          </p:nvPr>
        </p:nvSpPr>
        <p:spPr>
          <a:xfrm>
            <a:off x="228600" y="1219200"/>
            <a:ext cx="4194175" cy="4876800"/>
          </a:xfrm>
        </p:spPr>
        <p:txBody>
          <a:bodyPr/>
          <a:lstStyle/>
          <a:p>
            <a:pPr>
              <a:lnSpc>
                <a:spcPct val="90000"/>
              </a:lnSpc>
            </a:pPr>
            <a:r>
              <a:rPr lang="en-US" altLang="en-US"/>
              <a:t>Filter concept</a:t>
            </a:r>
          </a:p>
          <a:p>
            <a:pPr lvl="1">
              <a:lnSpc>
                <a:spcPct val="90000"/>
              </a:lnSpc>
            </a:pPr>
            <a:r>
              <a:rPr lang="en-US" altLang="en-US"/>
              <a:t>Suppose </a:t>
            </a:r>
            <a:r>
              <a:rPr lang="en-US" altLang="en-US" i="1"/>
              <a:t>X</a:t>
            </a:r>
            <a:r>
              <a:rPr lang="en-US" altLang="en-US"/>
              <a:t> is data from a temperature sensor, and particular input sequence is 180, 180, 181, </a:t>
            </a:r>
            <a:r>
              <a:rPr lang="en-US" altLang="en-US" i="1"/>
              <a:t>240</a:t>
            </a:r>
            <a:r>
              <a:rPr lang="en-US" altLang="en-US"/>
              <a:t>, 180, 181 (one per clock cycle)</a:t>
            </a:r>
          </a:p>
          <a:p>
            <a:pPr lvl="1">
              <a:lnSpc>
                <a:spcPct val="90000"/>
              </a:lnSpc>
            </a:pPr>
            <a:r>
              <a:rPr lang="en-US" altLang="en-US"/>
              <a:t>That 240 is probably wrong!</a:t>
            </a:r>
          </a:p>
          <a:p>
            <a:pPr lvl="2">
              <a:lnSpc>
                <a:spcPct val="90000"/>
              </a:lnSpc>
            </a:pPr>
            <a:r>
              <a:rPr lang="en-US" altLang="en-US"/>
              <a:t>Could be electrical noise</a:t>
            </a:r>
          </a:p>
          <a:p>
            <a:pPr lvl="1">
              <a:lnSpc>
                <a:spcPct val="90000"/>
              </a:lnSpc>
            </a:pPr>
            <a:r>
              <a:rPr lang="en-US" altLang="en-US"/>
              <a:t>Filter should remove such noise in its output </a:t>
            </a:r>
            <a:r>
              <a:rPr lang="en-US" altLang="en-US" i="1"/>
              <a:t>Y</a:t>
            </a:r>
          </a:p>
          <a:p>
            <a:pPr lvl="1">
              <a:lnSpc>
                <a:spcPct val="90000"/>
              </a:lnSpc>
            </a:pPr>
            <a:r>
              <a:rPr lang="en-US" altLang="en-US"/>
              <a:t>Simple filter: Output average of last </a:t>
            </a:r>
            <a:r>
              <a:rPr lang="en-US" altLang="en-US" i="1"/>
              <a:t>N</a:t>
            </a:r>
            <a:r>
              <a:rPr lang="en-US" altLang="en-US"/>
              <a:t> values</a:t>
            </a:r>
          </a:p>
          <a:p>
            <a:pPr lvl="2">
              <a:lnSpc>
                <a:spcPct val="90000"/>
              </a:lnSpc>
            </a:pPr>
            <a:r>
              <a:rPr lang="en-US" altLang="en-US"/>
              <a:t>Small </a:t>
            </a:r>
            <a:r>
              <a:rPr lang="en-US" altLang="en-US" i="1"/>
              <a:t>N</a:t>
            </a:r>
            <a:r>
              <a:rPr lang="en-US" altLang="en-US"/>
              <a:t>: less filtering</a:t>
            </a:r>
          </a:p>
          <a:p>
            <a:pPr lvl="2">
              <a:lnSpc>
                <a:spcPct val="90000"/>
              </a:lnSpc>
            </a:pPr>
            <a:r>
              <a:rPr lang="en-US" altLang="en-US"/>
              <a:t>Large </a:t>
            </a:r>
            <a:r>
              <a:rPr lang="en-US" altLang="en-US" i="1"/>
              <a:t>N</a:t>
            </a:r>
            <a:r>
              <a:rPr lang="en-US" altLang="en-US"/>
              <a:t>: more filtering, but less sharp output</a:t>
            </a:r>
          </a:p>
          <a:p>
            <a:pPr lvl="1">
              <a:lnSpc>
                <a:spcPct val="90000"/>
              </a:lnSpc>
            </a:pPr>
            <a:endParaRPr lang="en-US" altLang="en-US"/>
          </a:p>
          <a:p>
            <a:pPr lvl="1">
              <a:lnSpc>
                <a:spcPct val="90000"/>
              </a:lnSpc>
            </a:pPr>
            <a:endParaRPr lang="en-US" altLang="en-US"/>
          </a:p>
        </p:txBody>
      </p:sp>
      <p:sp>
        <p:nvSpPr>
          <p:cNvPr id="557060" name="Line 4"/>
          <p:cNvSpPr>
            <a:spLocks noChangeShapeType="1"/>
          </p:cNvSpPr>
          <p:nvPr/>
        </p:nvSpPr>
        <p:spPr bwMode="auto">
          <a:xfrm>
            <a:off x="4838700" y="2819400"/>
            <a:ext cx="642938" cy="3175"/>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7061" name="Freeform 5"/>
          <p:cNvSpPr>
            <a:spLocks/>
          </p:cNvSpPr>
          <p:nvPr/>
        </p:nvSpPr>
        <p:spPr bwMode="auto">
          <a:xfrm>
            <a:off x="5440363" y="2740025"/>
            <a:ext cx="230187" cy="17780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7062" name="Line 6"/>
          <p:cNvSpPr>
            <a:spLocks noChangeShapeType="1"/>
          </p:cNvSpPr>
          <p:nvPr/>
        </p:nvSpPr>
        <p:spPr bwMode="auto">
          <a:xfrm>
            <a:off x="4838700" y="3684588"/>
            <a:ext cx="642938" cy="31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7063" name="Freeform 7"/>
          <p:cNvSpPr>
            <a:spLocks/>
          </p:cNvSpPr>
          <p:nvPr/>
        </p:nvSpPr>
        <p:spPr bwMode="auto">
          <a:xfrm>
            <a:off x="5440363" y="3605213"/>
            <a:ext cx="230187" cy="17780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7064" name="Freeform 8"/>
          <p:cNvSpPr>
            <a:spLocks/>
          </p:cNvSpPr>
          <p:nvPr/>
        </p:nvSpPr>
        <p:spPr bwMode="auto">
          <a:xfrm>
            <a:off x="5684838" y="3481388"/>
            <a:ext cx="236537" cy="379412"/>
          </a:xfrm>
          <a:custGeom>
            <a:avLst/>
            <a:gdLst>
              <a:gd name="T0" fmla="*/ 0 w 103"/>
              <a:gd name="T1" fmla="*/ 107 h 107"/>
              <a:gd name="T2" fmla="*/ 103 w 103"/>
              <a:gd name="T3" fmla="*/ 54 h 107"/>
              <a:gd name="T4" fmla="*/ 0 w 103"/>
              <a:gd name="T5" fmla="*/ 0 h 107"/>
            </a:gdLst>
            <a:ahLst/>
            <a:cxnLst>
              <a:cxn ang="0">
                <a:pos x="T0" y="T1"/>
              </a:cxn>
              <a:cxn ang="0">
                <a:pos x="T2" y="T3"/>
              </a:cxn>
              <a:cxn ang="0">
                <a:pos x="T4" y="T5"/>
              </a:cxn>
            </a:cxnLst>
            <a:rect l="0" t="0" r="r" b="b"/>
            <a:pathLst>
              <a:path w="103" h="107">
                <a:moveTo>
                  <a:pt x="0" y="107"/>
                </a:moveTo>
                <a:lnTo>
                  <a:pt x="103" y="54"/>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7065" name="Freeform 9"/>
          <p:cNvSpPr>
            <a:spLocks/>
          </p:cNvSpPr>
          <p:nvPr/>
        </p:nvSpPr>
        <p:spPr bwMode="auto">
          <a:xfrm>
            <a:off x="5070475" y="2673350"/>
            <a:ext cx="196850" cy="290513"/>
          </a:xfrm>
          <a:custGeom>
            <a:avLst/>
            <a:gdLst>
              <a:gd name="T0" fmla="*/ 85 w 85"/>
              <a:gd name="T1" fmla="*/ 0 h 82"/>
              <a:gd name="T2" fmla="*/ 0 w 85"/>
              <a:gd name="T3" fmla="*/ 82 h 82"/>
              <a:gd name="T4" fmla="*/ 85 w 85"/>
              <a:gd name="T5" fmla="*/ 0 h 82"/>
            </a:gdLst>
            <a:ahLst/>
            <a:cxnLst>
              <a:cxn ang="0">
                <a:pos x="T0" y="T1"/>
              </a:cxn>
              <a:cxn ang="0">
                <a:pos x="T2" y="T3"/>
              </a:cxn>
              <a:cxn ang="0">
                <a:pos x="T4" y="T5"/>
              </a:cxn>
            </a:cxnLst>
            <a:rect l="0" t="0" r="r" b="b"/>
            <a:pathLst>
              <a:path w="85" h="82">
                <a:moveTo>
                  <a:pt x="85" y="0"/>
                </a:moveTo>
                <a:lnTo>
                  <a:pt x="0" y="82"/>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7066" name="Line 10"/>
          <p:cNvSpPr>
            <a:spLocks noChangeShapeType="1"/>
          </p:cNvSpPr>
          <p:nvPr/>
        </p:nvSpPr>
        <p:spPr bwMode="auto">
          <a:xfrm flipH="1">
            <a:off x="5070475" y="2673350"/>
            <a:ext cx="196850" cy="29051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7067" name="Line 11"/>
          <p:cNvSpPr>
            <a:spLocks noChangeShapeType="1"/>
          </p:cNvSpPr>
          <p:nvPr/>
        </p:nvSpPr>
        <p:spPr bwMode="auto">
          <a:xfrm>
            <a:off x="7964488" y="2819400"/>
            <a:ext cx="642937" cy="3175"/>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7068" name="Freeform 12"/>
          <p:cNvSpPr>
            <a:spLocks/>
          </p:cNvSpPr>
          <p:nvPr/>
        </p:nvSpPr>
        <p:spPr bwMode="auto">
          <a:xfrm>
            <a:off x="8562975" y="2740025"/>
            <a:ext cx="230188" cy="17780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7069" name="Freeform 13"/>
          <p:cNvSpPr>
            <a:spLocks/>
          </p:cNvSpPr>
          <p:nvPr/>
        </p:nvSpPr>
        <p:spPr bwMode="auto">
          <a:xfrm>
            <a:off x="8196263" y="2673350"/>
            <a:ext cx="193675" cy="290513"/>
          </a:xfrm>
          <a:custGeom>
            <a:avLst/>
            <a:gdLst>
              <a:gd name="T0" fmla="*/ 84 w 84"/>
              <a:gd name="T1" fmla="*/ 0 h 82"/>
              <a:gd name="T2" fmla="*/ 0 w 84"/>
              <a:gd name="T3" fmla="*/ 82 h 82"/>
              <a:gd name="T4" fmla="*/ 84 w 84"/>
              <a:gd name="T5" fmla="*/ 0 h 82"/>
            </a:gdLst>
            <a:ahLst/>
            <a:cxnLst>
              <a:cxn ang="0">
                <a:pos x="T0" y="T1"/>
              </a:cxn>
              <a:cxn ang="0">
                <a:pos x="T2" y="T3"/>
              </a:cxn>
              <a:cxn ang="0">
                <a:pos x="T4" y="T5"/>
              </a:cxn>
            </a:cxnLst>
            <a:rect l="0" t="0" r="r" b="b"/>
            <a:pathLst>
              <a:path w="84" h="82">
                <a:moveTo>
                  <a:pt x="84" y="0"/>
                </a:moveTo>
                <a:lnTo>
                  <a:pt x="0" y="82"/>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7070" name="Line 14"/>
          <p:cNvSpPr>
            <a:spLocks noChangeShapeType="1"/>
          </p:cNvSpPr>
          <p:nvPr/>
        </p:nvSpPr>
        <p:spPr bwMode="auto">
          <a:xfrm flipH="1">
            <a:off x="8196263" y="2673350"/>
            <a:ext cx="193675" cy="29051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7071" name="Rectangle 15"/>
          <p:cNvSpPr>
            <a:spLocks noChangeArrowheads="1"/>
          </p:cNvSpPr>
          <p:nvPr/>
        </p:nvSpPr>
        <p:spPr bwMode="auto">
          <a:xfrm>
            <a:off x="8096250" y="2998788"/>
            <a:ext cx="2413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12</a:t>
            </a:r>
            <a:endParaRPr lang="en-US" altLang="en-US" sz="3200"/>
          </a:p>
        </p:txBody>
      </p:sp>
      <p:sp>
        <p:nvSpPr>
          <p:cNvPr id="557072" name="Rectangle 16"/>
          <p:cNvSpPr>
            <a:spLocks noChangeArrowheads="1"/>
          </p:cNvSpPr>
          <p:nvPr/>
        </p:nvSpPr>
        <p:spPr bwMode="auto">
          <a:xfrm>
            <a:off x="5041900" y="2998788"/>
            <a:ext cx="24130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12</a:t>
            </a:r>
            <a:endParaRPr lang="en-US" altLang="en-US" sz="3200"/>
          </a:p>
        </p:txBody>
      </p:sp>
      <p:sp>
        <p:nvSpPr>
          <p:cNvPr id="557073" name="Rectangle 17"/>
          <p:cNvSpPr>
            <a:spLocks noChangeArrowheads="1"/>
          </p:cNvSpPr>
          <p:nvPr/>
        </p:nvSpPr>
        <p:spPr bwMode="auto">
          <a:xfrm>
            <a:off x="8836025" y="2601913"/>
            <a:ext cx="144463"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Y</a:t>
            </a:r>
            <a:endParaRPr lang="en-US" altLang="en-US" sz="3200"/>
          </a:p>
        </p:txBody>
      </p:sp>
      <p:sp>
        <p:nvSpPr>
          <p:cNvPr id="557074" name="Rectangle 18"/>
          <p:cNvSpPr>
            <a:spLocks noChangeArrowheads="1"/>
          </p:cNvSpPr>
          <p:nvPr/>
        </p:nvSpPr>
        <p:spPr bwMode="auto">
          <a:xfrm>
            <a:off x="4537075" y="3467100"/>
            <a:ext cx="263525"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clk</a:t>
            </a:r>
            <a:endParaRPr lang="en-US" altLang="en-US" sz="3200"/>
          </a:p>
        </p:txBody>
      </p:sp>
      <p:sp>
        <p:nvSpPr>
          <p:cNvPr id="557075" name="Rectangle 19"/>
          <p:cNvSpPr>
            <a:spLocks noChangeArrowheads="1"/>
          </p:cNvSpPr>
          <p:nvPr/>
        </p:nvSpPr>
        <p:spPr bwMode="auto">
          <a:xfrm>
            <a:off x="4670425" y="2609850"/>
            <a:ext cx="144463" cy="25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X</a:t>
            </a:r>
            <a:endParaRPr lang="en-US" altLang="en-US" sz="3200"/>
          </a:p>
        </p:txBody>
      </p:sp>
      <p:sp>
        <p:nvSpPr>
          <p:cNvPr id="557076" name="Rectangle 20"/>
          <p:cNvSpPr>
            <a:spLocks noChangeArrowheads="1"/>
          </p:cNvSpPr>
          <p:nvPr/>
        </p:nvSpPr>
        <p:spPr bwMode="auto">
          <a:xfrm>
            <a:off x="6272213" y="3021013"/>
            <a:ext cx="1033462"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digital filter</a:t>
            </a:r>
            <a:endParaRPr lang="en-US" altLang="en-US" sz="3200"/>
          </a:p>
        </p:txBody>
      </p:sp>
      <p:sp>
        <p:nvSpPr>
          <p:cNvPr id="557081" name="Rectangle 25"/>
          <p:cNvSpPr>
            <a:spLocks noChangeArrowheads="1"/>
          </p:cNvSpPr>
          <p:nvPr/>
        </p:nvSpPr>
        <p:spPr bwMode="auto">
          <a:xfrm>
            <a:off x="5691188" y="2354263"/>
            <a:ext cx="2273300" cy="176212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3"/>
          <p:cNvSpPr>
            <a:spLocks noGrp="1"/>
          </p:cNvSpPr>
          <p:nvPr>
            <p:ph type="sldNum" sz="quarter" idx="10"/>
          </p:nvPr>
        </p:nvSpPr>
        <p:spPr/>
        <p:txBody>
          <a:bodyPr/>
          <a:lstStyle/>
          <a:p>
            <a:fld id="{2655157A-FDE5-4805-B3EB-88C9A02B4124}" type="slidenum">
              <a:rPr lang="en-US" altLang="en-US"/>
              <a:pPr/>
              <a:t>45</a:t>
            </a:fld>
            <a:endParaRPr lang="en-US" altLang="en-US"/>
          </a:p>
        </p:txBody>
      </p:sp>
      <p:sp>
        <p:nvSpPr>
          <p:cNvPr id="559106" name="Rectangle 2"/>
          <p:cNvSpPr>
            <a:spLocks noGrp="1" noChangeArrowheads="1"/>
          </p:cNvSpPr>
          <p:nvPr>
            <p:ph type="title"/>
          </p:nvPr>
        </p:nvSpPr>
        <p:spPr/>
        <p:txBody>
          <a:bodyPr/>
          <a:lstStyle/>
          <a:p>
            <a:r>
              <a:rPr lang="en-US" altLang="en-US"/>
              <a:t>Data Dominated RTL Design Example: FIR Filter</a:t>
            </a:r>
          </a:p>
        </p:txBody>
      </p:sp>
      <p:sp>
        <p:nvSpPr>
          <p:cNvPr id="559107" name="Rectangle 3"/>
          <p:cNvSpPr>
            <a:spLocks noGrp="1" noChangeArrowheads="1"/>
          </p:cNvSpPr>
          <p:nvPr>
            <p:ph type="body" idx="1"/>
          </p:nvPr>
        </p:nvSpPr>
        <p:spPr>
          <a:xfrm>
            <a:off x="228600" y="1219200"/>
            <a:ext cx="4964113" cy="4876800"/>
          </a:xfrm>
        </p:spPr>
        <p:txBody>
          <a:bodyPr/>
          <a:lstStyle/>
          <a:p>
            <a:pPr>
              <a:lnSpc>
                <a:spcPct val="90000"/>
              </a:lnSpc>
            </a:pPr>
            <a:r>
              <a:rPr lang="en-US" altLang="en-US"/>
              <a:t>FIR filter</a:t>
            </a:r>
          </a:p>
          <a:p>
            <a:pPr lvl="1">
              <a:lnSpc>
                <a:spcPct val="90000"/>
              </a:lnSpc>
            </a:pPr>
            <a:r>
              <a:rPr lang="en-US" altLang="en-US"/>
              <a:t>“Finite Impulse Response”</a:t>
            </a:r>
          </a:p>
          <a:p>
            <a:pPr lvl="1">
              <a:lnSpc>
                <a:spcPct val="90000"/>
              </a:lnSpc>
            </a:pPr>
            <a:r>
              <a:rPr lang="en-US" altLang="en-US"/>
              <a:t>Simply a configurable weighted sum of past input values</a:t>
            </a:r>
          </a:p>
          <a:p>
            <a:pPr lvl="1">
              <a:lnSpc>
                <a:spcPct val="90000"/>
              </a:lnSpc>
            </a:pPr>
            <a:r>
              <a:rPr lang="en-US" altLang="en-US"/>
              <a:t>y(t) = c0*x(t) + c1*x(t-1) + c2*x(t-2) </a:t>
            </a:r>
          </a:p>
          <a:p>
            <a:pPr lvl="2">
              <a:lnSpc>
                <a:spcPct val="90000"/>
              </a:lnSpc>
            </a:pPr>
            <a:r>
              <a:rPr lang="en-US" altLang="en-US"/>
              <a:t>Above known as “3 tap”</a:t>
            </a:r>
          </a:p>
          <a:p>
            <a:pPr lvl="2">
              <a:lnSpc>
                <a:spcPct val="90000"/>
              </a:lnSpc>
            </a:pPr>
            <a:r>
              <a:rPr lang="en-US" altLang="en-US"/>
              <a:t>Tens of taps more common</a:t>
            </a:r>
          </a:p>
          <a:p>
            <a:pPr lvl="2">
              <a:lnSpc>
                <a:spcPct val="90000"/>
              </a:lnSpc>
            </a:pPr>
            <a:r>
              <a:rPr lang="en-US" altLang="en-US"/>
              <a:t>Very general filter – User sets the constants (c0, c1, c2) to define specific filter</a:t>
            </a:r>
          </a:p>
          <a:p>
            <a:pPr lvl="1">
              <a:lnSpc>
                <a:spcPct val="90000"/>
              </a:lnSpc>
            </a:pPr>
            <a:r>
              <a:rPr lang="en-US" altLang="en-US"/>
              <a:t>RTL design</a:t>
            </a:r>
          </a:p>
          <a:p>
            <a:pPr lvl="2">
              <a:lnSpc>
                <a:spcPct val="90000"/>
              </a:lnSpc>
            </a:pPr>
            <a:r>
              <a:rPr lang="en-US" altLang="en-US"/>
              <a:t>Step 1: Create high-level state machine</a:t>
            </a:r>
          </a:p>
          <a:p>
            <a:pPr lvl="3">
              <a:lnSpc>
                <a:spcPct val="90000"/>
              </a:lnSpc>
            </a:pPr>
            <a:r>
              <a:rPr lang="en-US" altLang="en-US"/>
              <a:t>But there really is none!  Data dominated indeed.</a:t>
            </a:r>
          </a:p>
          <a:p>
            <a:pPr lvl="2">
              <a:lnSpc>
                <a:spcPct val="90000"/>
              </a:lnSpc>
            </a:pPr>
            <a:r>
              <a:rPr lang="en-US" altLang="en-US"/>
              <a:t>Go straight to step 2</a:t>
            </a:r>
          </a:p>
          <a:p>
            <a:pPr lvl="1">
              <a:lnSpc>
                <a:spcPct val="90000"/>
              </a:lnSpc>
            </a:pPr>
            <a:endParaRPr lang="en-US" altLang="en-US"/>
          </a:p>
          <a:p>
            <a:pPr lvl="1">
              <a:lnSpc>
                <a:spcPct val="90000"/>
              </a:lnSpc>
            </a:pPr>
            <a:endParaRPr lang="en-US" altLang="en-US"/>
          </a:p>
        </p:txBody>
      </p:sp>
      <p:sp>
        <p:nvSpPr>
          <p:cNvPr id="559109" name="Line 5"/>
          <p:cNvSpPr>
            <a:spLocks noChangeShapeType="1"/>
          </p:cNvSpPr>
          <p:nvPr/>
        </p:nvSpPr>
        <p:spPr bwMode="auto">
          <a:xfrm>
            <a:off x="5583238" y="1966913"/>
            <a:ext cx="465137" cy="158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9110" name="Freeform 6"/>
          <p:cNvSpPr>
            <a:spLocks/>
          </p:cNvSpPr>
          <p:nvPr/>
        </p:nvSpPr>
        <p:spPr bwMode="auto">
          <a:xfrm>
            <a:off x="6018213" y="1909763"/>
            <a:ext cx="168275" cy="12858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9111" name="Line 7"/>
          <p:cNvSpPr>
            <a:spLocks noChangeShapeType="1"/>
          </p:cNvSpPr>
          <p:nvPr/>
        </p:nvSpPr>
        <p:spPr bwMode="auto">
          <a:xfrm>
            <a:off x="5583238" y="2590800"/>
            <a:ext cx="465137"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9112" name="Freeform 8"/>
          <p:cNvSpPr>
            <a:spLocks/>
          </p:cNvSpPr>
          <p:nvPr/>
        </p:nvSpPr>
        <p:spPr bwMode="auto">
          <a:xfrm>
            <a:off x="6018213" y="2533650"/>
            <a:ext cx="168275" cy="12858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9113" name="Freeform 9"/>
          <p:cNvSpPr>
            <a:spLocks/>
          </p:cNvSpPr>
          <p:nvPr/>
        </p:nvSpPr>
        <p:spPr bwMode="auto">
          <a:xfrm>
            <a:off x="6197600" y="2444750"/>
            <a:ext cx="171450" cy="273050"/>
          </a:xfrm>
          <a:custGeom>
            <a:avLst/>
            <a:gdLst>
              <a:gd name="T0" fmla="*/ 0 w 103"/>
              <a:gd name="T1" fmla="*/ 107 h 107"/>
              <a:gd name="T2" fmla="*/ 103 w 103"/>
              <a:gd name="T3" fmla="*/ 54 h 107"/>
              <a:gd name="T4" fmla="*/ 0 w 103"/>
              <a:gd name="T5" fmla="*/ 0 h 107"/>
            </a:gdLst>
            <a:ahLst/>
            <a:cxnLst>
              <a:cxn ang="0">
                <a:pos x="T0" y="T1"/>
              </a:cxn>
              <a:cxn ang="0">
                <a:pos x="T2" y="T3"/>
              </a:cxn>
              <a:cxn ang="0">
                <a:pos x="T4" y="T5"/>
              </a:cxn>
            </a:cxnLst>
            <a:rect l="0" t="0" r="r" b="b"/>
            <a:pathLst>
              <a:path w="103" h="107">
                <a:moveTo>
                  <a:pt x="0" y="107"/>
                </a:moveTo>
                <a:lnTo>
                  <a:pt x="103" y="54"/>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9114" name="Freeform 10"/>
          <p:cNvSpPr>
            <a:spLocks/>
          </p:cNvSpPr>
          <p:nvPr/>
        </p:nvSpPr>
        <p:spPr bwMode="auto">
          <a:xfrm>
            <a:off x="5749925" y="1862138"/>
            <a:ext cx="142875" cy="209550"/>
          </a:xfrm>
          <a:custGeom>
            <a:avLst/>
            <a:gdLst>
              <a:gd name="T0" fmla="*/ 85 w 85"/>
              <a:gd name="T1" fmla="*/ 0 h 82"/>
              <a:gd name="T2" fmla="*/ 0 w 85"/>
              <a:gd name="T3" fmla="*/ 82 h 82"/>
              <a:gd name="T4" fmla="*/ 85 w 85"/>
              <a:gd name="T5" fmla="*/ 0 h 82"/>
            </a:gdLst>
            <a:ahLst/>
            <a:cxnLst>
              <a:cxn ang="0">
                <a:pos x="T0" y="T1"/>
              </a:cxn>
              <a:cxn ang="0">
                <a:pos x="T2" y="T3"/>
              </a:cxn>
              <a:cxn ang="0">
                <a:pos x="T4" y="T5"/>
              </a:cxn>
            </a:cxnLst>
            <a:rect l="0" t="0" r="r" b="b"/>
            <a:pathLst>
              <a:path w="85" h="82">
                <a:moveTo>
                  <a:pt x="85" y="0"/>
                </a:moveTo>
                <a:lnTo>
                  <a:pt x="0" y="82"/>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9115" name="Line 11"/>
          <p:cNvSpPr>
            <a:spLocks noChangeShapeType="1"/>
          </p:cNvSpPr>
          <p:nvPr/>
        </p:nvSpPr>
        <p:spPr bwMode="auto">
          <a:xfrm flipH="1">
            <a:off x="5749925" y="1862138"/>
            <a:ext cx="142875" cy="20955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9116" name="Line 12"/>
          <p:cNvSpPr>
            <a:spLocks noChangeShapeType="1"/>
          </p:cNvSpPr>
          <p:nvPr/>
        </p:nvSpPr>
        <p:spPr bwMode="auto">
          <a:xfrm>
            <a:off x="7854950" y="1966913"/>
            <a:ext cx="466725" cy="158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9117" name="Freeform 13"/>
          <p:cNvSpPr>
            <a:spLocks/>
          </p:cNvSpPr>
          <p:nvPr/>
        </p:nvSpPr>
        <p:spPr bwMode="auto">
          <a:xfrm>
            <a:off x="8289925" y="1909763"/>
            <a:ext cx="168275" cy="12858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9118" name="Freeform 14"/>
          <p:cNvSpPr>
            <a:spLocks/>
          </p:cNvSpPr>
          <p:nvPr/>
        </p:nvSpPr>
        <p:spPr bwMode="auto">
          <a:xfrm>
            <a:off x="8023225" y="1862138"/>
            <a:ext cx="141288" cy="209550"/>
          </a:xfrm>
          <a:custGeom>
            <a:avLst/>
            <a:gdLst>
              <a:gd name="T0" fmla="*/ 84 w 84"/>
              <a:gd name="T1" fmla="*/ 0 h 82"/>
              <a:gd name="T2" fmla="*/ 0 w 84"/>
              <a:gd name="T3" fmla="*/ 82 h 82"/>
              <a:gd name="T4" fmla="*/ 84 w 84"/>
              <a:gd name="T5" fmla="*/ 0 h 82"/>
            </a:gdLst>
            <a:ahLst/>
            <a:cxnLst>
              <a:cxn ang="0">
                <a:pos x="T0" y="T1"/>
              </a:cxn>
              <a:cxn ang="0">
                <a:pos x="T2" y="T3"/>
              </a:cxn>
              <a:cxn ang="0">
                <a:pos x="T4" y="T5"/>
              </a:cxn>
            </a:cxnLst>
            <a:rect l="0" t="0" r="r" b="b"/>
            <a:pathLst>
              <a:path w="84" h="82">
                <a:moveTo>
                  <a:pt x="84" y="0"/>
                </a:moveTo>
                <a:lnTo>
                  <a:pt x="0" y="82"/>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59119" name="Line 15"/>
          <p:cNvSpPr>
            <a:spLocks noChangeShapeType="1"/>
          </p:cNvSpPr>
          <p:nvPr/>
        </p:nvSpPr>
        <p:spPr bwMode="auto">
          <a:xfrm flipH="1">
            <a:off x="8023225" y="1862138"/>
            <a:ext cx="141288" cy="20955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59120" name="Rectangle 16"/>
          <p:cNvSpPr>
            <a:spLocks noChangeArrowheads="1"/>
          </p:cNvSpPr>
          <p:nvPr/>
        </p:nvSpPr>
        <p:spPr bwMode="auto">
          <a:xfrm>
            <a:off x="7951788" y="2097088"/>
            <a:ext cx="1841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12</a:t>
            </a:r>
            <a:endParaRPr lang="en-US" altLang="en-US" sz="2400"/>
          </a:p>
        </p:txBody>
      </p:sp>
      <p:sp>
        <p:nvSpPr>
          <p:cNvPr id="559121" name="Rectangle 17"/>
          <p:cNvSpPr>
            <a:spLocks noChangeArrowheads="1"/>
          </p:cNvSpPr>
          <p:nvPr/>
        </p:nvSpPr>
        <p:spPr bwMode="auto">
          <a:xfrm>
            <a:off x="5730875" y="2097088"/>
            <a:ext cx="1841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12</a:t>
            </a:r>
            <a:endParaRPr lang="en-US" altLang="en-US" sz="2400"/>
          </a:p>
        </p:txBody>
      </p:sp>
      <p:sp>
        <p:nvSpPr>
          <p:cNvPr id="559122" name="Rectangle 18"/>
          <p:cNvSpPr>
            <a:spLocks noChangeArrowheads="1"/>
          </p:cNvSpPr>
          <p:nvPr/>
        </p:nvSpPr>
        <p:spPr bwMode="auto">
          <a:xfrm>
            <a:off x="8489950" y="1811338"/>
            <a:ext cx="10953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Y</a:t>
            </a:r>
            <a:endParaRPr lang="en-US" altLang="en-US" sz="2400"/>
          </a:p>
        </p:txBody>
      </p:sp>
      <p:sp>
        <p:nvSpPr>
          <p:cNvPr id="559123" name="Rectangle 19"/>
          <p:cNvSpPr>
            <a:spLocks noChangeArrowheads="1"/>
          </p:cNvSpPr>
          <p:nvPr/>
        </p:nvSpPr>
        <p:spPr bwMode="auto">
          <a:xfrm>
            <a:off x="5362575" y="2433638"/>
            <a:ext cx="201613"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clk</a:t>
            </a:r>
            <a:endParaRPr lang="en-US" altLang="en-US" sz="2400"/>
          </a:p>
        </p:txBody>
      </p:sp>
      <p:sp>
        <p:nvSpPr>
          <p:cNvPr id="559124" name="Rectangle 20"/>
          <p:cNvSpPr>
            <a:spLocks noChangeArrowheads="1"/>
          </p:cNvSpPr>
          <p:nvPr/>
        </p:nvSpPr>
        <p:spPr bwMode="auto">
          <a:xfrm>
            <a:off x="5459413" y="1816100"/>
            <a:ext cx="1095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59125" name="Rectangle 21"/>
          <p:cNvSpPr>
            <a:spLocks noChangeArrowheads="1"/>
          </p:cNvSpPr>
          <p:nvPr/>
        </p:nvSpPr>
        <p:spPr bwMode="auto">
          <a:xfrm>
            <a:off x="6624638" y="2112963"/>
            <a:ext cx="7905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digital filter</a:t>
            </a:r>
            <a:endParaRPr lang="en-US" altLang="en-US" sz="2400"/>
          </a:p>
        </p:txBody>
      </p:sp>
      <p:sp>
        <p:nvSpPr>
          <p:cNvPr id="559130" name="Rectangle 26"/>
          <p:cNvSpPr>
            <a:spLocks noChangeArrowheads="1"/>
          </p:cNvSpPr>
          <p:nvPr/>
        </p:nvSpPr>
        <p:spPr bwMode="auto">
          <a:xfrm>
            <a:off x="6202363" y="1631950"/>
            <a:ext cx="1652587" cy="127000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59131" name="Rectangle 27"/>
          <p:cNvSpPr>
            <a:spLocks noChangeArrowheads="1"/>
          </p:cNvSpPr>
          <p:nvPr/>
        </p:nvSpPr>
        <p:spPr bwMode="auto">
          <a:xfrm>
            <a:off x="5218113" y="3009900"/>
            <a:ext cx="3683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latin typeface="Arial" panose="020B0604020202020204" pitchFamily="34" charset="0"/>
              </a:rPr>
              <a:t>y(t) = c0*x(t) + c1*x(t-1) + c2*x(t-2)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lide Number Placeholder 3"/>
          <p:cNvSpPr>
            <a:spLocks noGrp="1"/>
          </p:cNvSpPr>
          <p:nvPr>
            <p:ph type="sldNum" sz="quarter" idx="10"/>
          </p:nvPr>
        </p:nvSpPr>
        <p:spPr/>
        <p:txBody>
          <a:bodyPr/>
          <a:lstStyle/>
          <a:p>
            <a:fld id="{1A921D10-C7B9-4E8E-AB7E-1368CEF3540B}" type="slidenum">
              <a:rPr lang="en-US" altLang="en-US"/>
              <a:pPr/>
              <a:t>46</a:t>
            </a:fld>
            <a:endParaRPr lang="en-US" altLang="en-US"/>
          </a:p>
        </p:txBody>
      </p:sp>
      <p:sp>
        <p:nvSpPr>
          <p:cNvPr id="560130" name="Rectangle 2"/>
          <p:cNvSpPr>
            <a:spLocks noGrp="1" noChangeArrowheads="1"/>
          </p:cNvSpPr>
          <p:nvPr>
            <p:ph type="title"/>
          </p:nvPr>
        </p:nvSpPr>
        <p:spPr/>
        <p:txBody>
          <a:bodyPr/>
          <a:lstStyle/>
          <a:p>
            <a:r>
              <a:rPr lang="en-US" altLang="en-US"/>
              <a:t>Data Dominated RTL Design Example: FIR Filter</a:t>
            </a:r>
          </a:p>
        </p:txBody>
      </p:sp>
      <p:sp>
        <p:nvSpPr>
          <p:cNvPr id="560131" name="Rectangle 3"/>
          <p:cNvSpPr>
            <a:spLocks noGrp="1" noChangeArrowheads="1"/>
          </p:cNvSpPr>
          <p:nvPr>
            <p:ph type="body" idx="1"/>
          </p:nvPr>
        </p:nvSpPr>
        <p:spPr>
          <a:xfrm>
            <a:off x="228600" y="1219200"/>
            <a:ext cx="3832225" cy="2470150"/>
          </a:xfrm>
        </p:spPr>
        <p:txBody>
          <a:bodyPr/>
          <a:lstStyle/>
          <a:p>
            <a:r>
              <a:rPr lang="en-US" altLang="en-US"/>
              <a:t>Step 2: Create datapath</a:t>
            </a:r>
          </a:p>
          <a:p>
            <a:pPr lvl="1"/>
            <a:r>
              <a:rPr lang="en-US" altLang="en-US"/>
              <a:t>Begin by creating chain of xt registers to hold past values of X</a:t>
            </a:r>
          </a:p>
        </p:txBody>
      </p:sp>
      <p:grpSp>
        <p:nvGrpSpPr>
          <p:cNvPr id="560172" name="Group 44"/>
          <p:cNvGrpSpPr>
            <a:grpSpLocks/>
          </p:cNvGrpSpPr>
          <p:nvPr/>
        </p:nvGrpSpPr>
        <p:grpSpPr bwMode="auto">
          <a:xfrm>
            <a:off x="5349875" y="1260475"/>
            <a:ext cx="3054350" cy="1004888"/>
            <a:chOff x="3370" y="794"/>
            <a:chExt cx="1924" cy="633"/>
          </a:xfrm>
        </p:grpSpPr>
        <p:sp>
          <p:nvSpPr>
            <p:cNvPr id="560133" name="Line 5"/>
            <p:cNvSpPr>
              <a:spLocks noChangeShapeType="1"/>
            </p:cNvSpPr>
            <p:nvPr/>
          </p:nvSpPr>
          <p:spPr bwMode="auto">
            <a:xfrm>
              <a:off x="3501" y="961"/>
              <a:ext cx="27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0134" name="Freeform 6"/>
            <p:cNvSpPr>
              <a:spLocks/>
            </p:cNvSpPr>
            <p:nvPr/>
          </p:nvSpPr>
          <p:spPr bwMode="auto">
            <a:xfrm>
              <a:off x="3761" y="933"/>
              <a:ext cx="99"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0135" name="Line 7"/>
            <p:cNvSpPr>
              <a:spLocks noChangeShapeType="1"/>
            </p:cNvSpPr>
            <p:nvPr/>
          </p:nvSpPr>
          <p:spPr bwMode="auto">
            <a:xfrm>
              <a:off x="3501" y="1272"/>
              <a:ext cx="278"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0136" name="Freeform 8"/>
            <p:cNvSpPr>
              <a:spLocks/>
            </p:cNvSpPr>
            <p:nvPr/>
          </p:nvSpPr>
          <p:spPr bwMode="auto">
            <a:xfrm>
              <a:off x="3761" y="1244"/>
              <a:ext cx="99" cy="6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0137" name="Freeform 9"/>
            <p:cNvSpPr>
              <a:spLocks/>
            </p:cNvSpPr>
            <p:nvPr/>
          </p:nvSpPr>
          <p:spPr bwMode="auto">
            <a:xfrm>
              <a:off x="3866" y="1199"/>
              <a:ext cx="103" cy="136"/>
            </a:xfrm>
            <a:custGeom>
              <a:avLst/>
              <a:gdLst>
                <a:gd name="T0" fmla="*/ 0 w 103"/>
                <a:gd name="T1" fmla="*/ 107 h 107"/>
                <a:gd name="T2" fmla="*/ 103 w 103"/>
                <a:gd name="T3" fmla="*/ 54 h 107"/>
                <a:gd name="T4" fmla="*/ 0 w 103"/>
                <a:gd name="T5" fmla="*/ 0 h 107"/>
              </a:gdLst>
              <a:ahLst/>
              <a:cxnLst>
                <a:cxn ang="0">
                  <a:pos x="T0" y="T1"/>
                </a:cxn>
                <a:cxn ang="0">
                  <a:pos x="T2" y="T3"/>
                </a:cxn>
                <a:cxn ang="0">
                  <a:pos x="T4" y="T5"/>
                </a:cxn>
              </a:cxnLst>
              <a:rect l="0" t="0" r="r" b="b"/>
              <a:pathLst>
                <a:path w="103" h="107">
                  <a:moveTo>
                    <a:pt x="0" y="107"/>
                  </a:moveTo>
                  <a:lnTo>
                    <a:pt x="103" y="54"/>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0138" name="Freeform 10"/>
            <p:cNvSpPr>
              <a:spLocks/>
            </p:cNvSpPr>
            <p:nvPr/>
          </p:nvSpPr>
          <p:spPr bwMode="auto">
            <a:xfrm>
              <a:off x="3601" y="909"/>
              <a:ext cx="85" cy="104"/>
            </a:xfrm>
            <a:custGeom>
              <a:avLst/>
              <a:gdLst>
                <a:gd name="T0" fmla="*/ 85 w 85"/>
                <a:gd name="T1" fmla="*/ 0 h 82"/>
                <a:gd name="T2" fmla="*/ 0 w 85"/>
                <a:gd name="T3" fmla="*/ 82 h 82"/>
                <a:gd name="T4" fmla="*/ 85 w 85"/>
                <a:gd name="T5" fmla="*/ 0 h 82"/>
              </a:gdLst>
              <a:ahLst/>
              <a:cxnLst>
                <a:cxn ang="0">
                  <a:pos x="T0" y="T1"/>
                </a:cxn>
                <a:cxn ang="0">
                  <a:pos x="T2" y="T3"/>
                </a:cxn>
                <a:cxn ang="0">
                  <a:pos x="T4" y="T5"/>
                </a:cxn>
              </a:cxnLst>
              <a:rect l="0" t="0" r="r" b="b"/>
              <a:pathLst>
                <a:path w="85" h="82">
                  <a:moveTo>
                    <a:pt x="85" y="0"/>
                  </a:moveTo>
                  <a:lnTo>
                    <a:pt x="0" y="82"/>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0139" name="Line 11"/>
            <p:cNvSpPr>
              <a:spLocks noChangeShapeType="1"/>
            </p:cNvSpPr>
            <p:nvPr/>
          </p:nvSpPr>
          <p:spPr bwMode="auto">
            <a:xfrm flipH="1">
              <a:off x="3601" y="909"/>
              <a:ext cx="85" cy="10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0140" name="Line 12"/>
            <p:cNvSpPr>
              <a:spLocks noChangeShapeType="1"/>
            </p:cNvSpPr>
            <p:nvPr/>
          </p:nvSpPr>
          <p:spPr bwMode="auto">
            <a:xfrm>
              <a:off x="4853" y="961"/>
              <a:ext cx="27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0141" name="Freeform 13"/>
            <p:cNvSpPr>
              <a:spLocks/>
            </p:cNvSpPr>
            <p:nvPr/>
          </p:nvSpPr>
          <p:spPr bwMode="auto">
            <a:xfrm>
              <a:off x="5112" y="933"/>
              <a:ext cx="100"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0142" name="Freeform 14"/>
            <p:cNvSpPr>
              <a:spLocks/>
            </p:cNvSpPr>
            <p:nvPr/>
          </p:nvSpPr>
          <p:spPr bwMode="auto">
            <a:xfrm>
              <a:off x="4953" y="909"/>
              <a:ext cx="84" cy="104"/>
            </a:xfrm>
            <a:custGeom>
              <a:avLst/>
              <a:gdLst>
                <a:gd name="T0" fmla="*/ 84 w 84"/>
                <a:gd name="T1" fmla="*/ 0 h 82"/>
                <a:gd name="T2" fmla="*/ 0 w 84"/>
                <a:gd name="T3" fmla="*/ 82 h 82"/>
                <a:gd name="T4" fmla="*/ 84 w 84"/>
                <a:gd name="T5" fmla="*/ 0 h 82"/>
              </a:gdLst>
              <a:ahLst/>
              <a:cxnLst>
                <a:cxn ang="0">
                  <a:pos x="T0" y="T1"/>
                </a:cxn>
                <a:cxn ang="0">
                  <a:pos x="T2" y="T3"/>
                </a:cxn>
                <a:cxn ang="0">
                  <a:pos x="T4" y="T5"/>
                </a:cxn>
              </a:cxnLst>
              <a:rect l="0" t="0" r="r" b="b"/>
              <a:pathLst>
                <a:path w="84" h="82">
                  <a:moveTo>
                    <a:pt x="84" y="0"/>
                  </a:moveTo>
                  <a:lnTo>
                    <a:pt x="0" y="82"/>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0143" name="Line 15"/>
            <p:cNvSpPr>
              <a:spLocks noChangeShapeType="1"/>
            </p:cNvSpPr>
            <p:nvPr/>
          </p:nvSpPr>
          <p:spPr bwMode="auto">
            <a:xfrm flipH="1">
              <a:off x="4953" y="909"/>
              <a:ext cx="84" cy="10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0144" name="Rectangle 16"/>
            <p:cNvSpPr>
              <a:spLocks noChangeArrowheads="1"/>
            </p:cNvSpPr>
            <p:nvPr/>
          </p:nvSpPr>
          <p:spPr bwMode="auto">
            <a:xfrm>
              <a:off x="4909" y="1026"/>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60145" name="Rectangle 17"/>
            <p:cNvSpPr>
              <a:spLocks noChangeArrowheads="1"/>
            </p:cNvSpPr>
            <p:nvPr/>
          </p:nvSpPr>
          <p:spPr bwMode="auto">
            <a:xfrm>
              <a:off x="3589" y="1026"/>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60146" name="Rectangle 18"/>
            <p:cNvSpPr>
              <a:spLocks noChangeArrowheads="1"/>
            </p:cNvSpPr>
            <p:nvPr/>
          </p:nvSpPr>
          <p:spPr bwMode="auto">
            <a:xfrm>
              <a:off x="5230" y="883"/>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Y</a:t>
              </a:r>
              <a:endParaRPr lang="en-US" altLang="en-US"/>
            </a:p>
          </p:txBody>
        </p:sp>
        <p:sp>
          <p:nvSpPr>
            <p:cNvPr id="560147" name="Rectangle 19"/>
            <p:cNvSpPr>
              <a:spLocks noChangeArrowheads="1"/>
            </p:cNvSpPr>
            <p:nvPr/>
          </p:nvSpPr>
          <p:spPr bwMode="auto">
            <a:xfrm>
              <a:off x="3370" y="1194"/>
              <a:ext cx="11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clk</a:t>
              </a:r>
              <a:endParaRPr lang="en-US" altLang="en-US"/>
            </a:p>
          </p:txBody>
        </p:sp>
        <p:sp>
          <p:nvSpPr>
            <p:cNvPr id="560148" name="Rectangle 20"/>
            <p:cNvSpPr>
              <a:spLocks noChangeArrowheads="1"/>
            </p:cNvSpPr>
            <p:nvPr/>
          </p:nvSpPr>
          <p:spPr bwMode="auto">
            <a:xfrm>
              <a:off x="3428" y="886"/>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a:t>
              </a:r>
              <a:endParaRPr lang="en-US" altLang="en-US"/>
            </a:p>
          </p:txBody>
        </p:sp>
        <p:sp>
          <p:nvSpPr>
            <p:cNvPr id="560149" name="Rectangle 21"/>
            <p:cNvSpPr>
              <a:spLocks noChangeArrowheads="1"/>
            </p:cNvSpPr>
            <p:nvPr/>
          </p:nvSpPr>
          <p:spPr bwMode="auto">
            <a:xfrm>
              <a:off x="4121" y="1033"/>
              <a:ext cx="45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digital filter</a:t>
              </a:r>
              <a:endParaRPr lang="en-US" altLang="en-US"/>
            </a:p>
          </p:txBody>
        </p:sp>
        <p:sp>
          <p:nvSpPr>
            <p:cNvPr id="560154" name="Rectangle 26"/>
            <p:cNvSpPr>
              <a:spLocks noChangeArrowheads="1"/>
            </p:cNvSpPr>
            <p:nvPr/>
          </p:nvSpPr>
          <p:spPr bwMode="auto">
            <a:xfrm>
              <a:off x="3869" y="794"/>
              <a:ext cx="984" cy="63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pic>
        <p:nvPicPr>
          <p:cNvPr id="560155" name="Picture 2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8" y="3495675"/>
            <a:ext cx="7015162" cy="189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0156" name="Rectangle 28"/>
          <p:cNvSpPr>
            <a:spLocks noChangeArrowheads="1"/>
          </p:cNvSpPr>
          <p:nvPr/>
        </p:nvSpPr>
        <p:spPr bwMode="auto">
          <a:xfrm>
            <a:off x="3940175" y="2466975"/>
            <a:ext cx="4848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Arial" panose="020B0604020202020204" pitchFamily="34" charset="0"/>
              </a:rPr>
              <a:t>y(t) = c0*x(t) + c1*x(t-1) + c2*x(t-2)</a:t>
            </a:r>
          </a:p>
        </p:txBody>
      </p:sp>
      <p:sp>
        <p:nvSpPr>
          <p:cNvPr id="560165" name="Text Box 37"/>
          <p:cNvSpPr txBox="1">
            <a:spLocks noChangeArrowheads="1"/>
          </p:cNvSpPr>
          <p:nvPr/>
        </p:nvSpPr>
        <p:spPr bwMode="auto">
          <a:xfrm>
            <a:off x="1906588" y="4533900"/>
            <a:ext cx="349250" cy="27463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r>
              <a:rPr lang="en-US" altLang="en-US" sz="1800"/>
              <a:t>180</a:t>
            </a:r>
          </a:p>
        </p:txBody>
      </p:sp>
      <p:grpSp>
        <p:nvGrpSpPr>
          <p:cNvPr id="560168" name="Group 40"/>
          <p:cNvGrpSpPr>
            <a:grpSpLocks/>
          </p:cNvGrpSpPr>
          <p:nvPr/>
        </p:nvGrpSpPr>
        <p:grpSpPr bwMode="auto">
          <a:xfrm>
            <a:off x="1892300" y="4510088"/>
            <a:ext cx="2312988" cy="307975"/>
            <a:chOff x="1192" y="2841"/>
            <a:chExt cx="1457" cy="194"/>
          </a:xfrm>
        </p:grpSpPr>
        <p:sp>
          <p:nvSpPr>
            <p:cNvPr id="560166" name="Text Box 38"/>
            <p:cNvSpPr txBox="1">
              <a:spLocks noChangeArrowheads="1"/>
            </p:cNvSpPr>
            <p:nvPr/>
          </p:nvSpPr>
          <p:spPr bwMode="auto">
            <a:xfrm>
              <a:off x="2429" y="2841"/>
              <a:ext cx="220" cy="17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r>
                <a:rPr lang="en-US" altLang="en-US" sz="1800"/>
                <a:t>180</a:t>
              </a:r>
            </a:p>
          </p:txBody>
        </p:sp>
        <p:sp>
          <p:nvSpPr>
            <p:cNvPr id="560167" name="Text Box 39"/>
            <p:cNvSpPr txBox="1">
              <a:spLocks noChangeArrowheads="1"/>
            </p:cNvSpPr>
            <p:nvPr/>
          </p:nvSpPr>
          <p:spPr bwMode="auto">
            <a:xfrm>
              <a:off x="1192" y="2862"/>
              <a:ext cx="220" cy="17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r>
                <a:rPr lang="en-US" altLang="en-US" sz="1800"/>
                <a:t>181</a:t>
              </a:r>
            </a:p>
          </p:txBody>
        </p:sp>
      </p:grpSp>
      <p:grpSp>
        <p:nvGrpSpPr>
          <p:cNvPr id="560169" name="Group 41"/>
          <p:cNvGrpSpPr>
            <a:grpSpLocks/>
          </p:cNvGrpSpPr>
          <p:nvPr/>
        </p:nvGrpSpPr>
        <p:grpSpPr bwMode="auto">
          <a:xfrm>
            <a:off x="1871663" y="4473575"/>
            <a:ext cx="4294187" cy="319088"/>
            <a:chOff x="1172" y="2818"/>
            <a:chExt cx="2705" cy="201"/>
          </a:xfrm>
        </p:grpSpPr>
        <p:sp>
          <p:nvSpPr>
            <p:cNvPr id="560162" name="Text Box 34"/>
            <p:cNvSpPr txBox="1">
              <a:spLocks noChangeArrowheads="1"/>
            </p:cNvSpPr>
            <p:nvPr/>
          </p:nvSpPr>
          <p:spPr bwMode="auto">
            <a:xfrm>
              <a:off x="3657" y="2818"/>
              <a:ext cx="220" cy="17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r>
                <a:rPr lang="en-US" altLang="en-US" sz="1800"/>
                <a:t>180</a:t>
              </a:r>
            </a:p>
          </p:txBody>
        </p:sp>
        <p:sp>
          <p:nvSpPr>
            <p:cNvPr id="560163" name="Text Box 35"/>
            <p:cNvSpPr txBox="1">
              <a:spLocks noChangeArrowheads="1"/>
            </p:cNvSpPr>
            <p:nvPr/>
          </p:nvSpPr>
          <p:spPr bwMode="auto">
            <a:xfrm>
              <a:off x="2420" y="2846"/>
              <a:ext cx="220" cy="17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r>
                <a:rPr lang="en-US" altLang="en-US" sz="1800"/>
                <a:t>181</a:t>
              </a:r>
            </a:p>
          </p:txBody>
        </p:sp>
        <p:sp>
          <p:nvSpPr>
            <p:cNvPr id="560164" name="Text Box 36"/>
            <p:cNvSpPr txBox="1">
              <a:spLocks noChangeArrowheads="1"/>
            </p:cNvSpPr>
            <p:nvPr/>
          </p:nvSpPr>
          <p:spPr bwMode="auto">
            <a:xfrm>
              <a:off x="1172" y="2841"/>
              <a:ext cx="220" cy="17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algn="ctr"/>
              <a:r>
                <a:rPr lang="en-US" altLang="en-US" sz="1800"/>
                <a:t>240</a:t>
              </a:r>
            </a:p>
          </p:txBody>
        </p:sp>
      </p:grpSp>
      <p:sp>
        <p:nvSpPr>
          <p:cNvPr id="560170" name="Text Box 42"/>
          <p:cNvSpPr txBox="1">
            <a:spLocks noChangeArrowheads="1"/>
          </p:cNvSpPr>
          <p:nvPr/>
        </p:nvSpPr>
        <p:spPr bwMode="auto">
          <a:xfrm>
            <a:off x="315913" y="3089275"/>
            <a:ext cx="38004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Suppose sequence is: 180, 181, 240</a:t>
            </a:r>
          </a:p>
        </p:txBody>
      </p:sp>
      <p:sp>
        <p:nvSpPr>
          <p:cNvPr id="560171" name="Text Box 43"/>
          <p:cNvSpPr txBox="1">
            <a:spLocks noChangeArrowheads="1"/>
          </p:cNvSpPr>
          <p:nvPr/>
        </p:nvSpPr>
        <p:spPr bwMode="auto">
          <a:xfrm>
            <a:off x="7772400" y="46593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6016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6016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60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0165"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Slide Number Placeholder 3"/>
          <p:cNvSpPr>
            <a:spLocks noGrp="1"/>
          </p:cNvSpPr>
          <p:nvPr>
            <p:ph type="sldNum" sz="quarter" idx="10"/>
          </p:nvPr>
        </p:nvSpPr>
        <p:spPr/>
        <p:txBody>
          <a:bodyPr/>
          <a:lstStyle/>
          <a:p>
            <a:fld id="{70DD0B0B-A960-4DC8-A0CA-E2109607AEFB}" type="slidenum">
              <a:rPr lang="en-US" altLang="en-US"/>
              <a:pPr/>
              <a:t>47</a:t>
            </a:fld>
            <a:endParaRPr lang="en-US" altLang="en-US"/>
          </a:p>
        </p:txBody>
      </p:sp>
      <p:sp>
        <p:nvSpPr>
          <p:cNvPr id="561154" name="Rectangle 2"/>
          <p:cNvSpPr>
            <a:spLocks noGrp="1" noChangeArrowheads="1"/>
          </p:cNvSpPr>
          <p:nvPr>
            <p:ph type="title"/>
          </p:nvPr>
        </p:nvSpPr>
        <p:spPr/>
        <p:txBody>
          <a:bodyPr/>
          <a:lstStyle/>
          <a:p>
            <a:r>
              <a:rPr lang="en-US" altLang="en-US"/>
              <a:t>Data Dominated RTL Design Example: FIR Filter</a:t>
            </a:r>
          </a:p>
        </p:txBody>
      </p:sp>
      <p:sp>
        <p:nvSpPr>
          <p:cNvPr id="561155" name="Rectangle 3"/>
          <p:cNvSpPr>
            <a:spLocks noGrp="1" noChangeArrowheads="1"/>
          </p:cNvSpPr>
          <p:nvPr>
            <p:ph type="body" idx="1"/>
          </p:nvPr>
        </p:nvSpPr>
        <p:spPr>
          <a:xfrm>
            <a:off x="228600" y="1219200"/>
            <a:ext cx="3832225" cy="2470150"/>
          </a:xfrm>
        </p:spPr>
        <p:txBody>
          <a:bodyPr/>
          <a:lstStyle/>
          <a:p>
            <a:r>
              <a:rPr lang="en-US" altLang="en-US"/>
              <a:t>Step 2: Create datapath (cont.)</a:t>
            </a:r>
          </a:p>
          <a:p>
            <a:pPr lvl="1"/>
            <a:r>
              <a:rPr lang="en-US" altLang="en-US"/>
              <a:t>Instantiate registers for c0, c1, c2</a:t>
            </a:r>
          </a:p>
          <a:p>
            <a:pPr lvl="1"/>
            <a:r>
              <a:rPr lang="en-US" altLang="en-US"/>
              <a:t>Instantiate multipliers to compute c*x values</a:t>
            </a:r>
          </a:p>
        </p:txBody>
      </p:sp>
      <p:sp>
        <p:nvSpPr>
          <p:cNvPr id="561180" name="Rectangle 28"/>
          <p:cNvSpPr>
            <a:spLocks noChangeArrowheads="1"/>
          </p:cNvSpPr>
          <p:nvPr/>
        </p:nvSpPr>
        <p:spPr bwMode="auto">
          <a:xfrm>
            <a:off x="3940175" y="2466975"/>
            <a:ext cx="4848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Arial" panose="020B0604020202020204" pitchFamily="34" charset="0"/>
              </a:rPr>
              <a:t>y(t) = c0*x(t) + c1*x(t-1) + c2*x(t-2)</a:t>
            </a:r>
          </a:p>
        </p:txBody>
      </p:sp>
      <p:sp>
        <p:nvSpPr>
          <p:cNvPr id="561190" name="Line 38"/>
          <p:cNvSpPr>
            <a:spLocks noChangeShapeType="1"/>
          </p:cNvSpPr>
          <p:nvPr/>
        </p:nvSpPr>
        <p:spPr bwMode="auto">
          <a:xfrm>
            <a:off x="1528763" y="4895850"/>
            <a:ext cx="153987"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191" name="Freeform 39"/>
          <p:cNvSpPr>
            <a:spLocks/>
          </p:cNvSpPr>
          <p:nvPr/>
        </p:nvSpPr>
        <p:spPr bwMode="auto">
          <a:xfrm>
            <a:off x="1654175" y="4856163"/>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192" name="Line 40"/>
          <p:cNvSpPr>
            <a:spLocks noChangeShapeType="1"/>
          </p:cNvSpPr>
          <p:nvPr/>
        </p:nvSpPr>
        <p:spPr bwMode="auto">
          <a:xfrm>
            <a:off x="1822450" y="4498975"/>
            <a:ext cx="361950"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193" name="Freeform 41"/>
          <p:cNvSpPr>
            <a:spLocks/>
          </p:cNvSpPr>
          <p:nvPr/>
        </p:nvSpPr>
        <p:spPr bwMode="auto">
          <a:xfrm>
            <a:off x="2154238" y="4459288"/>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194" name="Line 42"/>
          <p:cNvSpPr>
            <a:spLocks noChangeShapeType="1"/>
          </p:cNvSpPr>
          <p:nvPr/>
        </p:nvSpPr>
        <p:spPr bwMode="auto">
          <a:xfrm>
            <a:off x="1528763" y="4498975"/>
            <a:ext cx="153987"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195" name="Freeform 43"/>
          <p:cNvSpPr>
            <a:spLocks/>
          </p:cNvSpPr>
          <p:nvPr/>
        </p:nvSpPr>
        <p:spPr bwMode="auto">
          <a:xfrm>
            <a:off x="1654175" y="4459288"/>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196" name="Rectangle 44"/>
          <p:cNvSpPr>
            <a:spLocks noChangeArrowheads="1"/>
          </p:cNvSpPr>
          <p:nvPr/>
        </p:nvSpPr>
        <p:spPr bwMode="auto">
          <a:xfrm>
            <a:off x="2428875" y="422592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1197" name="Rectangle 45"/>
          <p:cNvSpPr>
            <a:spLocks noChangeArrowheads="1"/>
          </p:cNvSpPr>
          <p:nvPr/>
        </p:nvSpPr>
        <p:spPr bwMode="auto">
          <a:xfrm>
            <a:off x="2505075" y="4225925"/>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t0</a:t>
            </a:r>
            <a:endParaRPr lang="en-US" altLang="en-US" sz="2400"/>
          </a:p>
        </p:txBody>
      </p:sp>
      <p:sp>
        <p:nvSpPr>
          <p:cNvPr id="561198" name="Rectangle 46"/>
          <p:cNvSpPr>
            <a:spLocks noChangeArrowheads="1"/>
          </p:cNvSpPr>
          <p:nvPr/>
        </p:nvSpPr>
        <p:spPr bwMode="auto">
          <a:xfrm>
            <a:off x="4062413" y="422592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1199" name="Rectangle 47"/>
          <p:cNvSpPr>
            <a:spLocks noChangeArrowheads="1"/>
          </p:cNvSpPr>
          <p:nvPr/>
        </p:nvSpPr>
        <p:spPr bwMode="auto">
          <a:xfrm>
            <a:off x="4138613" y="422592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t1</a:t>
            </a:r>
            <a:endParaRPr lang="en-US" altLang="en-US" sz="2400"/>
          </a:p>
        </p:txBody>
      </p:sp>
      <p:sp>
        <p:nvSpPr>
          <p:cNvPr id="561200" name="Freeform 48"/>
          <p:cNvSpPr>
            <a:spLocks/>
          </p:cNvSpPr>
          <p:nvPr/>
        </p:nvSpPr>
        <p:spPr bwMode="auto">
          <a:xfrm>
            <a:off x="2317750" y="4810125"/>
            <a:ext cx="165100" cy="165100"/>
          </a:xfrm>
          <a:custGeom>
            <a:avLst/>
            <a:gdLst>
              <a:gd name="T0" fmla="*/ 0 w 104"/>
              <a:gd name="T1" fmla="*/ 104 h 104"/>
              <a:gd name="T2" fmla="*/ 104 w 104"/>
              <a:gd name="T3" fmla="*/ 54 h 104"/>
              <a:gd name="T4" fmla="*/ 0 w 104"/>
              <a:gd name="T5" fmla="*/ 0 h 104"/>
            </a:gdLst>
            <a:ahLst/>
            <a:cxnLst>
              <a:cxn ang="0">
                <a:pos x="T0" y="T1"/>
              </a:cxn>
              <a:cxn ang="0">
                <a:pos x="T2" y="T3"/>
              </a:cxn>
              <a:cxn ang="0">
                <a:pos x="T4" y="T5"/>
              </a:cxn>
            </a:cxnLst>
            <a:rect l="0" t="0" r="r" b="b"/>
            <a:pathLst>
              <a:path w="104" h="104">
                <a:moveTo>
                  <a:pt x="0" y="104"/>
                </a:moveTo>
                <a:lnTo>
                  <a:pt x="104"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01" name="Freeform 49"/>
          <p:cNvSpPr>
            <a:spLocks/>
          </p:cNvSpPr>
          <p:nvPr/>
        </p:nvSpPr>
        <p:spPr bwMode="auto">
          <a:xfrm>
            <a:off x="1812925" y="4810125"/>
            <a:ext cx="163513" cy="165100"/>
          </a:xfrm>
          <a:custGeom>
            <a:avLst/>
            <a:gdLst>
              <a:gd name="T0" fmla="*/ 0 w 103"/>
              <a:gd name="T1" fmla="*/ 104 h 104"/>
              <a:gd name="T2" fmla="*/ 103 w 103"/>
              <a:gd name="T3" fmla="*/ 54 h 104"/>
              <a:gd name="T4" fmla="*/ 0 w 103"/>
              <a:gd name="T5" fmla="*/ 0 h 104"/>
            </a:gdLst>
            <a:ahLst/>
            <a:cxnLst>
              <a:cxn ang="0">
                <a:pos x="T0" y="T1"/>
              </a:cxn>
              <a:cxn ang="0">
                <a:pos x="T2" y="T3"/>
              </a:cxn>
              <a:cxn ang="0">
                <a:pos x="T4" y="T5"/>
              </a:cxn>
            </a:cxnLst>
            <a:rect l="0" t="0" r="r" b="b"/>
            <a:pathLst>
              <a:path w="103" h="104">
                <a:moveTo>
                  <a:pt x="0" y="104"/>
                </a:moveTo>
                <a:lnTo>
                  <a:pt x="103"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02" name="Freeform 50"/>
          <p:cNvSpPr>
            <a:spLocks/>
          </p:cNvSpPr>
          <p:nvPr/>
        </p:nvSpPr>
        <p:spPr bwMode="auto">
          <a:xfrm>
            <a:off x="3960813" y="4810125"/>
            <a:ext cx="163512" cy="165100"/>
          </a:xfrm>
          <a:custGeom>
            <a:avLst/>
            <a:gdLst>
              <a:gd name="T0" fmla="*/ 0 w 103"/>
              <a:gd name="T1" fmla="*/ 104 h 104"/>
              <a:gd name="T2" fmla="*/ 103 w 103"/>
              <a:gd name="T3" fmla="*/ 54 h 104"/>
              <a:gd name="T4" fmla="*/ 0 w 103"/>
              <a:gd name="T5" fmla="*/ 0 h 104"/>
            </a:gdLst>
            <a:ahLst/>
            <a:cxnLst>
              <a:cxn ang="0">
                <a:pos x="T0" y="T1"/>
              </a:cxn>
              <a:cxn ang="0">
                <a:pos x="T2" y="T3"/>
              </a:cxn>
              <a:cxn ang="0">
                <a:pos x="T4" y="T5"/>
              </a:cxn>
            </a:cxnLst>
            <a:rect l="0" t="0" r="r" b="b"/>
            <a:pathLst>
              <a:path w="103" h="104">
                <a:moveTo>
                  <a:pt x="0" y="104"/>
                </a:moveTo>
                <a:lnTo>
                  <a:pt x="103" y="54"/>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03" name="Rectangle 51"/>
          <p:cNvSpPr>
            <a:spLocks noChangeArrowheads="1"/>
          </p:cNvSpPr>
          <p:nvPr/>
        </p:nvSpPr>
        <p:spPr bwMode="auto">
          <a:xfrm>
            <a:off x="5710238" y="422592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1204" name="Rectangle 52"/>
          <p:cNvSpPr>
            <a:spLocks noChangeArrowheads="1"/>
          </p:cNvSpPr>
          <p:nvPr/>
        </p:nvSpPr>
        <p:spPr bwMode="auto">
          <a:xfrm>
            <a:off x="5786438" y="422592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t2</a:t>
            </a:r>
            <a:endParaRPr lang="en-US" altLang="en-US" sz="2400"/>
          </a:p>
        </p:txBody>
      </p:sp>
      <p:sp>
        <p:nvSpPr>
          <p:cNvPr id="561205" name="Freeform 53"/>
          <p:cNvSpPr>
            <a:spLocks/>
          </p:cNvSpPr>
          <p:nvPr/>
        </p:nvSpPr>
        <p:spPr bwMode="auto">
          <a:xfrm>
            <a:off x="5597525" y="4810125"/>
            <a:ext cx="165100" cy="165100"/>
          </a:xfrm>
          <a:custGeom>
            <a:avLst/>
            <a:gdLst>
              <a:gd name="T0" fmla="*/ 0 w 104"/>
              <a:gd name="T1" fmla="*/ 104 h 104"/>
              <a:gd name="T2" fmla="*/ 104 w 104"/>
              <a:gd name="T3" fmla="*/ 54 h 104"/>
              <a:gd name="T4" fmla="*/ 0 w 104"/>
              <a:gd name="T5" fmla="*/ 0 h 104"/>
            </a:gdLst>
            <a:ahLst/>
            <a:cxnLst>
              <a:cxn ang="0">
                <a:pos x="T0" y="T1"/>
              </a:cxn>
              <a:cxn ang="0">
                <a:pos x="T2" y="T3"/>
              </a:cxn>
              <a:cxn ang="0">
                <a:pos x="T4" y="T5"/>
              </a:cxn>
            </a:cxnLst>
            <a:rect l="0" t="0" r="r" b="b"/>
            <a:pathLst>
              <a:path w="104" h="104">
                <a:moveTo>
                  <a:pt x="0" y="104"/>
                </a:moveTo>
                <a:lnTo>
                  <a:pt x="104"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06" name="Line 54"/>
          <p:cNvSpPr>
            <a:spLocks noChangeShapeType="1"/>
          </p:cNvSpPr>
          <p:nvPr/>
        </p:nvSpPr>
        <p:spPr bwMode="auto">
          <a:xfrm>
            <a:off x="2740025" y="4498975"/>
            <a:ext cx="1087438"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07" name="Freeform 55"/>
          <p:cNvSpPr>
            <a:spLocks/>
          </p:cNvSpPr>
          <p:nvPr/>
        </p:nvSpPr>
        <p:spPr bwMode="auto">
          <a:xfrm>
            <a:off x="3797300" y="4459288"/>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08" name="Line 56"/>
          <p:cNvSpPr>
            <a:spLocks noChangeShapeType="1"/>
          </p:cNvSpPr>
          <p:nvPr/>
        </p:nvSpPr>
        <p:spPr bwMode="auto">
          <a:xfrm>
            <a:off x="4383088" y="4498975"/>
            <a:ext cx="1081087"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09" name="Freeform 57"/>
          <p:cNvSpPr>
            <a:spLocks/>
          </p:cNvSpPr>
          <p:nvPr/>
        </p:nvSpPr>
        <p:spPr bwMode="auto">
          <a:xfrm>
            <a:off x="5438775" y="4459288"/>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10" name="Rectangle 58"/>
          <p:cNvSpPr>
            <a:spLocks noChangeArrowheads="1"/>
          </p:cNvSpPr>
          <p:nvPr/>
        </p:nvSpPr>
        <p:spPr bwMode="auto">
          <a:xfrm>
            <a:off x="5629275" y="3857625"/>
            <a:ext cx="1381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1211" name="Rectangle 59"/>
          <p:cNvSpPr>
            <a:spLocks noChangeArrowheads="1"/>
          </p:cNvSpPr>
          <p:nvPr/>
        </p:nvSpPr>
        <p:spPr bwMode="auto">
          <a:xfrm>
            <a:off x="5746750" y="3857625"/>
            <a:ext cx="4603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561212" name="Rectangle 60"/>
          <p:cNvSpPr>
            <a:spLocks noChangeArrowheads="1"/>
          </p:cNvSpPr>
          <p:nvPr/>
        </p:nvSpPr>
        <p:spPr bwMode="auto">
          <a:xfrm>
            <a:off x="5799138" y="3857625"/>
            <a:ext cx="1936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-2)</a:t>
            </a:r>
            <a:endParaRPr lang="en-US" altLang="en-US" sz="2400"/>
          </a:p>
        </p:txBody>
      </p:sp>
      <p:sp>
        <p:nvSpPr>
          <p:cNvPr id="561213" name="Rectangle 61"/>
          <p:cNvSpPr>
            <a:spLocks noChangeArrowheads="1"/>
          </p:cNvSpPr>
          <p:nvPr/>
        </p:nvSpPr>
        <p:spPr bwMode="auto">
          <a:xfrm>
            <a:off x="4016375" y="3857625"/>
            <a:ext cx="1381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1214" name="Rectangle 62"/>
          <p:cNvSpPr>
            <a:spLocks noChangeArrowheads="1"/>
          </p:cNvSpPr>
          <p:nvPr/>
        </p:nvSpPr>
        <p:spPr bwMode="auto">
          <a:xfrm>
            <a:off x="4135438" y="3857625"/>
            <a:ext cx="460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561215" name="Rectangle 63"/>
          <p:cNvSpPr>
            <a:spLocks noChangeArrowheads="1"/>
          </p:cNvSpPr>
          <p:nvPr/>
        </p:nvSpPr>
        <p:spPr bwMode="auto">
          <a:xfrm>
            <a:off x="4186238" y="3857625"/>
            <a:ext cx="1936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a:t>
            </a:r>
            <a:endParaRPr lang="en-US" altLang="en-US" sz="2400"/>
          </a:p>
        </p:txBody>
      </p:sp>
      <p:sp>
        <p:nvSpPr>
          <p:cNvPr id="561216" name="Rectangle 64"/>
          <p:cNvSpPr>
            <a:spLocks noChangeArrowheads="1"/>
          </p:cNvSpPr>
          <p:nvPr/>
        </p:nvSpPr>
        <p:spPr bwMode="auto">
          <a:xfrm>
            <a:off x="2438400" y="3857625"/>
            <a:ext cx="2397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x(t)</a:t>
            </a:r>
            <a:endParaRPr lang="en-US" altLang="en-US" sz="2400"/>
          </a:p>
        </p:txBody>
      </p:sp>
      <p:sp>
        <p:nvSpPr>
          <p:cNvPr id="561217" name="Rectangle 65"/>
          <p:cNvSpPr>
            <a:spLocks noChangeArrowheads="1"/>
          </p:cNvSpPr>
          <p:nvPr/>
        </p:nvSpPr>
        <p:spPr bwMode="auto">
          <a:xfrm>
            <a:off x="3995738" y="3619500"/>
            <a:ext cx="10017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3-tap FIR filter</a:t>
            </a:r>
            <a:endParaRPr lang="en-US" altLang="en-US" sz="2400"/>
          </a:p>
        </p:txBody>
      </p:sp>
      <p:sp>
        <p:nvSpPr>
          <p:cNvPr id="561220" name="Rectangle 68"/>
          <p:cNvSpPr>
            <a:spLocks noChangeArrowheads="1"/>
          </p:cNvSpPr>
          <p:nvPr/>
        </p:nvSpPr>
        <p:spPr bwMode="auto">
          <a:xfrm>
            <a:off x="1411288" y="4411663"/>
            <a:ext cx="1190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1221" name="Line 69"/>
          <p:cNvSpPr>
            <a:spLocks noChangeShapeType="1"/>
          </p:cNvSpPr>
          <p:nvPr/>
        </p:nvSpPr>
        <p:spPr bwMode="auto">
          <a:xfrm>
            <a:off x="7226300" y="5594350"/>
            <a:ext cx="163513"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22" name="Freeform 70"/>
          <p:cNvSpPr>
            <a:spLocks/>
          </p:cNvSpPr>
          <p:nvPr/>
        </p:nvSpPr>
        <p:spPr bwMode="auto">
          <a:xfrm>
            <a:off x="7359650" y="5554663"/>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23" name="Rectangle 71"/>
          <p:cNvSpPr>
            <a:spLocks noChangeArrowheads="1"/>
          </p:cNvSpPr>
          <p:nvPr/>
        </p:nvSpPr>
        <p:spPr bwMode="auto">
          <a:xfrm>
            <a:off x="7370763" y="5381625"/>
            <a:ext cx="1190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Y</a:t>
            </a:r>
            <a:endParaRPr lang="en-US" altLang="en-US" sz="2400"/>
          </a:p>
        </p:txBody>
      </p:sp>
      <p:sp>
        <p:nvSpPr>
          <p:cNvPr id="561224" name="Rectangle 72"/>
          <p:cNvSpPr>
            <a:spLocks noChangeArrowheads="1"/>
          </p:cNvSpPr>
          <p:nvPr/>
        </p:nvSpPr>
        <p:spPr bwMode="auto">
          <a:xfrm>
            <a:off x="1317625" y="4808538"/>
            <a:ext cx="2016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clk</a:t>
            </a:r>
            <a:endParaRPr lang="en-US" altLang="en-US" sz="2400"/>
          </a:p>
        </p:txBody>
      </p:sp>
      <p:sp>
        <p:nvSpPr>
          <p:cNvPr id="561231" name="Rectangle 79"/>
          <p:cNvSpPr>
            <a:spLocks noChangeArrowheads="1"/>
          </p:cNvSpPr>
          <p:nvPr/>
        </p:nvSpPr>
        <p:spPr bwMode="auto">
          <a:xfrm>
            <a:off x="1817688" y="3575050"/>
            <a:ext cx="5402262" cy="2278063"/>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56" name="Rectangle 104"/>
          <p:cNvSpPr>
            <a:spLocks noChangeArrowheads="1"/>
          </p:cNvSpPr>
          <p:nvPr/>
        </p:nvSpPr>
        <p:spPr bwMode="auto">
          <a:xfrm>
            <a:off x="2317750" y="4071938"/>
            <a:ext cx="427038" cy="9620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57" name="Rectangle 105"/>
          <p:cNvSpPr>
            <a:spLocks noChangeArrowheads="1"/>
          </p:cNvSpPr>
          <p:nvPr/>
        </p:nvSpPr>
        <p:spPr bwMode="auto">
          <a:xfrm>
            <a:off x="3960813" y="4071938"/>
            <a:ext cx="427037" cy="9620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59" name="Rectangle 107"/>
          <p:cNvSpPr>
            <a:spLocks noChangeArrowheads="1"/>
          </p:cNvSpPr>
          <p:nvPr/>
        </p:nvSpPr>
        <p:spPr bwMode="auto">
          <a:xfrm>
            <a:off x="5597525" y="4071938"/>
            <a:ext cx="427038" cy="9620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61268" name="Group 116"/>
          <p:cNvGrpSpPr>
            <a:grpSpLocks/>
          </p:cNvGrpSpPr>
          <p:nvPr/>
        </p:nvGrpSpPr>
        <p:grpSpPr bwMode="auto">
          <a:xfrm>
            <a:off x="2952750" y="3848100"/>
            <a:ext cx="4089400" cy="427038"/>
            <a:chOff x="1784" y="2272"/>
            <a:chExt cx="2576" cy="269"/>
          </a:xfrm>
        </p:grpSpPr>
        <p:grpSp>
          <p:nvGrpSpPr>
            <p:cNvPr id="561266" name="Group 114"/>
            <p:cNvGrpSpPr>
              <a:grpSpLocks/>
            </p:cNvGrpSpPr>
            <p:nvPr/>
          </p:nvGrpSpPr>
          <p:grpSpPr bwMode="auto">
            <a:xfrm>
              <a:off x="2816" y="2272"/>
              <a:ext cx="512" cy="269"/>
              <a:chOff x="2816" y="2272"/>
              <a:chExt cx="512" cy="269"/>
            </a:xfrm>
          </p:grpSpPr>
          <p:sp>
            <p:nvSpPr>
              <p:cNvPr id="561235" name="Rectangle 83"/>
              <p:cNvSpPr>
                <a:spLocks noChangeArrowheads="1"/>
              </p:cNvSpPr>
              <p:nvPr/>
            </p:nvSpPr>
            <p:spPr bwMode="auto">
              <a:xfrm>
                <a:off x="3024" y="2350"/>
                <a:ext cx="9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c1</a:t>
                </a:r>
                <a:endParaRPr lang="en-US" altLang="en-US" sz="2400"/>
              </a:p>
            </p:txBody>
          </p:sp>
          <p:sp>
            <p:nvSpPr>
              <p:cNvPr id="561239" name="Freeform 87"/>
              <p:cNvSpPr>
                <a:spLocks/>
              </p:cNvSpPr>
              <p:nvPr/>
            </p:nvSpPr>
            <p:spPr bwMode="auto">
              <a:xfrm>
                <a:off x="2819" y="2416"/>
                <a:ext cx="103" cy="103"/>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60" name="Rectangle 108"/>
              <p:cNvSpPr>
                <a:spLocks noChangeArrowheads="1"/>
              </p:cNvSpPr>
              <p:nvPr/>
            </p:nvSpPr>
            <p:spPr bwMode="auto">
              <a:xfrm>
                <a:off x="2816" y="2272"/>
                <a:ext cx="512" cy="26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61265" name="Group 113"/>
            <p:cNvGrpSpPr>
              <a:grpSpLocks/>
            </p:cNvGrpSpPr>
            <p:nvPr/>
          </p:nvGrpSpPr>
          <p:grpSpPr bwMode="auto">
            <a:xfrm>
              <a:off x="1784" y="2272"/>
              <a:ext cx="513" cy="269"/>
              <a:chOff x="1784" y="2272"/>
              <a:chExt cx="513" cy="269"/>
            </a:xfrm>
          </p:grpSpPr>
          <p:sp>
            <p:nvSpPr>
              <p:cNvPr id="561234" name="Rectangle 82"/>
              <p:cNvSpPr>
                <a:spLocks noChangeArrowheads="1"/>
              </p:cNvSpPr>
              <p:nvPr/>
            </p:nvSpPr>
            <p:spPr bwMode="auto">
              <a:xfrm>
                <a:off x="1987" y="2350"/>
                <a:ext cx="9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c0</a:t>
                </a:r>
                <a:endParaRPr lang="en-US" altLang="en-US" sz="2400"/>
              </a:p>
            </p:txBody>
          </p:sp>
          <p:sp>
            <p:nvSpPr>
              <p:cNvPr id="561255" name="Freeform 103"/>
              <p:cNvSpPr>
                <a:spLocks/>
              </p:cNvSpPr>
              <p:nvPr/>
            </p:nvSpPr>
            <p:spPr bwMode="auto">
              <a:xfrm>
                <a:off x="1788" y="2416"/>
                <a:ext cx="103" cy="103"/>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61" name="Rectangle 109"/>
              <p:cNvSpPr>
                <a:spLocks noChangeArrowheads="1"/>
              </p:cNvSpPr>
              <p:nvPr/>
            </p:nvSpPr>
            <p:spPr bwMode="auto">
              <a:xfrm>
                <a:off x="1784" y="2272"/>
                <a:ext cx="513" cy="26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61267" name="Group 115"/>
            <p:cNvGrpSpPr>
              <a:grpSpLocks/>
            </p:cNvGrpSpPr>
            <p:nvPr/>
          </p:nvGrpSpPr>
          <p:grpSpPr bwMode="auto">
            <a:xfrm>
              <a:off x="3847" y="2272"/>
              <a:ext cx="513" cy="269"/>
              <a:chOff x="3847" y="2272"/>
              <a:chExt cx="513" cy="269"/>
            </a:xfrm>
          </p:grpSpPr>
          <p:sp>
            <p:nvSpPr>
              <p:cNvPr id="561236" name="Rectangle 84"/>
              <p:cNvSpPr>
                <a:spLocks noChangeArrowheads="1"/>
              </p:cNvSpPr>
              <p:nvPr/>
            </p:nvSpPr>
            <p:spPr bwMode="auto">
              <a:xfrm>
                <a:off x="4056" y="2350"/>
                <a:ext cx="9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c2</a:t>
                </a:r>
                <a:endParaRPr lang="en-US" altLang="en-US" sz="2400"/>
              </a:p>
            </p:txBody>
          </p:sp>
          <p:sp>
            <p:nvSpPr>
              <p:cNvPr id="561247" name="Freeform 95"/>
              <p:cNvSpPr>
                <a:spLocks/>
              </p:cNvSpPr>
              <p:nvPr/>
            </p:nvSpPr>
            <p:spPr bwMode="auto">
              <a:xfrm>
                <a:off x="3850" y="2416"/>
                <a:ext cx="104" cy="103"/>
              </a:xfrm>
              <a:custGeom>
                <a:avLst/>
                <a:gdLst>
                  <a:gd name="T0" fmla="*/ 0 w 104"/>
                  <a:gd name="T1" fmla="*/ 103 h 103"/>
                  <a:gd name="T2" fmla="*/ 104 w 104"/>
                  <a:gd name="T3" fmla="*/ 53 h 103"/>
                  <a:gd name="T4" fmla="*/ 0 w 104"/>
                  <a:gd name="T5" fmla="*/ 0 h 103"/>
                </a:gdLst>
                <a:ahLst/>
                <a:cxnLst>
                  <a:cxn ang="0">
                    <a:pos x="T0" y="T1"/>
                  </a:cxn>
                  <a:cxn ang="0">
                    <a:pos x="T2" y="T3"/>
                  </a:cxn>
                  <a:cxn ang="0">
                    <a:pos x="T4" y="T5"/>
                  </a:cxn>
                </a:cxnLst>
                <a:rect l="0" t="0" r="r" b="b"/>
                <a:pathLst>
                  <a:path w="104" h="103">
                    <a:moveTo>
                      <a:pt x="0" y="103"/>
                    </a:moveTo>
                    <a:lnTo>
                      <a:pt x="104"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62" name="Rectangle 110"/>
              <p:cNvSpPr>
                <a:spLocks noChangeArrowheads="1"/>
              </p:cNvSpPr>
              <p:nvPr/>
            </p:nvSpPr>
            <p:spPr bwMode="auto">
              <a:xfrm>
                <a:off x="3847" y="2272"/>
                <a:ext cx="513" cy="26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grpSp>
        <p:nvGrpSpPr>
          <p:cNvPr id="561278" name="Group 126"/>
          <p:cNvGrpSpPr>
            <a:grpSpLocks/>
          </p:cNvGrpSpPr>
          <p:nvPr/>
        </p:nvGrpSpPr>
        <p:grpSpPr bwMode="auto">
          <a:xfrm>
            <a:off x="2952750" y="4275138"/>
            <a:ext cx="4089400" cy="1489075"/>
            <a:chOff x="1784" y="2541"/>
            <a:chExt cx="2576" cy="938"/>
          </a:xfrm>
        </p:grpSpPr>
        <p:grpSp>
          <p:nvGrpSpPr>
            <p:cNvPr id="561276" name="Group 124"/>
            <p:cNvGrpSpPr>
              <a:grpSpLocks/>
            </p:cNvGrpSpPr>
            <p:nvPr/>
          </p:nvGrpSpPr>
          <p:grpSpPr bwMode="auto">
            <a:xfrm>
              <a:off x="2816" y="2544"/>
              <a:ext cx="512" cy="935"/>
              <a:chOff x="2816" y="2544"/>
              <a:chExt cx="512" cy="935"/>
            </a:xfrm>
          </p:grpSpPr>
          <p:sp>
            <p:nvSpPr>
              <p:cNvPr id="561240" name="Freeform 88"/>
              <p:cNvSpPr>
                <a:spLocks/>
              </p:cNvSpPr>
              <p:nvPr/>
            </p:nvSpPr>
            <p:spPr bwMode="auto">
              <a:xfrm>
                <a:off x="3172" y="292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41" name="Line 89"/>
              <p:cNvSpPr>
                <a:spLocks noChangeShapeType="1"/>
              </p:cNvSpPr>
              <p:nvPr/>
            </p:nvSpPr>
            <p:spPr bwMode="auto">
              <a:xfrm>
                <a:off x="3197" y="2544"/>
                <a:ext cx="1" cy="39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561270" name="Group 118"/>
              <p:cNvGrpSpPr>
                <a:grpSpLocks/>
              </p:cNvGrpSpPr>
              <p:nvPr/>
            </p:nvGrpSpPr>
            <p:grpSpPr bwMode="auto">
              <a:xfrm>
                <a:off x="2916" y="2660"/>
                <a:ext cx="50" cy="362"/>
                <a:chOff x="2916" y="2660"/>
                <a:chExt cx="50" cy="362"/>
              </a:xfrm>
            </p:grpSpPr>
            <p:sp>
              <p:nvSpPr>
                <p:cNvPr id="561233" name="Oval 81"/>
                <p:cNvSpPr>
                  <a:spLocks noChangeArrowheads="1"/>
                </p:cNvSpPr>
                <p:nvPr/>
              </p:nvSpPr>
              <p:spPr bwMode="auto">
                <a:xfrm>
                  <a:off x="2916" y="2660"/>
                  <a:ext cx="50" cy="47"/>
                </a:xfrm>
                <a:prstGeom prst="ellipse">
                  <a:avLst/>
                </a:prstGeom>
                <a:solidFill>
                  <a:srgbClr val="000000"/>
                </a:solidFill>
                <a:ln w="9525">
                  <a:solidFill>
                    <a:srgbClr val="000000"/>
                  </a:solidFill>
                  <a:miter lim="800000"/>
                  <a:headEnd/>
                  <a:tailEnd/>
                </a:ln>
              </p:spPr>
              <p:txBody>
                <a:bodyPr/>
                <a:lstStyle/>
                <a:p>
                  <a:endParaRPr lang="en-US"/>
                </a:p>
              </p:txBody>
            </p:sp>
            <p:sp>
              <p:nvSpPr>
                <p:cNvPr id="561242" name="Freeform 90"/>
                <p:cNvSpPr>
                  <a:spLocks/>
                </p:cNvSpPr>
                <p:nvPr/>
              </p:nvSpPr>
              <p:spPr bwMode="auto">
                <a:xfrm>
                  <a:off x="2916" y="292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43" name="Line 91"/>
                <p:cNvSpPr>
                  <a:spLocks noChangeShapeType="1"/>
                </p:cNvSpPr>
                <p:nvPr/>
              </p:nvSpPr>
              <p:spPr bwMode="auto">
                <a:xfrm>
                  <a:off x="2941" y="2678"/>
                  <a:ext cx="1" cy="263"/>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61273" name="Group 121"/>
              <p:cNvGrpSpPr>
                <a:grpSpLocks/>
              </p:cNvGrpSpPr>
              <p:nvPr/>
            </p:nvGrpSpPr>
            <p:grpSpPr bwMode="auto">
              <a:xfrm>
                <a:off x="2816" y="3022"/>
                <a:ext cx="512" cy="457"/>
                <a:chOff x="2816" y="3022"/>
                <a:chExt cx="512" cy="457"/>
              </a:xfrm>
            </p:grpSpPr>
            <p:sp>
              <p:nvSpPr>
                <p:cNvPr id="561238" name="Freeform 86"/>
                <p:cNvSpPr>
                  <a:spLocks/>
                </p:cNvSpPr>
                <p:nvPr/>
              </p:nvSpPr>
              <p:spPr bwMode="auto">
                <a:xfrm>
                  <a:off x="2816" y="3022"/>
                  <a:ext cx="512" cy="269"/>
                </a:xfrm>
                <a:custGeom>
                  <a:avLst/>
                  <a:gdLst>
                    <a:gd name="T0" fmla="*/ 512 w 512"/>
                    <a:gd name="T1" fmla="*/ 0 h 269"/>
                    <a:gd name="T2" fmla="*/ 387 w 512"/>
                    <a:gd name="T3" fmla="*/ 269 h 269"/>
                    <a:gd name="T4" fmla="*/ 131 w 512"/>
                    <a:gd name="T5" fmla="*/ 269 h 269"/>
                    <a:gd name="T6" fmla="*/ 0 w 512"/>
                    <a:gd name="T7" fmla="*/ 0 h 269"/>
                    <a:gd name="T8" fmla="*/ 512 w 512"/>
                    <a:gd name="T9" fmla="*/ 0 h 269"/>
                  </a:gdLst>
                  <a:ahLst/>
                  <a:cxnLst>
                    <a:cxn ang="0">
                      <a:pos x="T0" y="T1"/>
                    </a:cxn>
                    <a:cxn ang="0">
                      <a:pos x="T2" y="T3"/>
                    </a:cxn>
                    <a:cxn ang="0">
                      <a:pos x="T4" y="T5"/>
                    </a:cxn>
                    <a:cxn ang="0">
                      <a:pos x="T6" y="T7"/>
                    </a:cxn>
                    <a:cxn ang="0">
                      <a:pos x="T8" y="T9"/>
                    </a:cxn>
                  </a:cxnLst>
                  <a:rect l="0" t="0" r="r" b="b"/>
                  <a:pathLst>
                    <a:path w="512" h="269">
                      <a:moveTo>
                        <a:pt x="512" y="0"/>
                      </a:moveTo>
                      <a:lnTo>
                        <a:pt x="387" y="269"/>
                      </a:lnTo>
                      <a:lnTo>
                        <a:pt x="131" y="269"/>
                      </a:lnTo>
                      <a:lnTo>
                        <a:pt x="0" y="0"/>
                      </a:lnTo>
                      <a:lnTo>
                        <a:pt x="512"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44" name="Freeform 92"/>
                <p:cNvSpPr>
                  <a:spLocks/>
                </p:cNvSpPr>
                <p:nvPr/>
              </p:nvSpPr>
              <p:spPr bwMode="auto">
                <a:xfrm>
                  <a:off x="3047" y="337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45" name="Line 93"/>
                <p:cNvSpPr>
                  <a:spLocks noChangeShapeType="1"/>
                </p:cNvSpPr>
                <p:nvPr/>
              </p:nvSpPr>
              <p:spPr bwMode="auto">
                <a:xfrm>
                  <a:off x="3072" y="3288"/>
                  <a:ext cx="1" cy="109"/>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46" name="Rectangle 94"/>
                <p:cNvSpPr>
                  <a:spLocks noChangeArrowheads="1"/>
                </p:cNvSpPr>
                <p:nvPr/>
              </p:nvSpPr>
              <p:spPr bwMode="auto">
                <a:xfrm>
                  <a:off x="3041" y="306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Symbol" panose="05050102010706020507" pitchFamily="18" charset="2"/>
                    </a:rPr>
                    <a:t>*</a:t>
                  </a:r>
                  <a:endParaRPr lang="en-US" altLang="en-US" sz="2400"/>
                </a:p>
              </p:txBody>
            </p:sp>
          </p:grpSp>
        </p:grpSp>
        <p:grpSp>
          <p:nvGrpSpPr>
            <p:cNvPr id="561275" name="Group 123"/>
            <p:cNvGrpSpPr>
              <a:grpSpLocks/>
            </p:cNvGrpSpPr>
            <p:nvPr/>
          </p:nvGrpSpPr>
          <p:grpSpPr bwMode="auto">
            <a:xfrm>
              <a:off x="1784" y="2541"/>
              <a:ext cx="513" cy="938"/>
              <a:chOff x="1784" y="2541"/>
              <a:chExt cx="513" cy="938"/>
            </a:xfrm>
          </p:grpSpPr>
          <p:sp>
            <p:nvSpPr>
              <p:cNvPr id="561225" name="Freeform 73"/>
              <p:cNvSpPr>
                <a:spLocks/>
              </p:cNvSpPr>
              <p:nvPr/>
            </p:nvSpPr>
            <p:spPr bwMode="auto">
              <a:xfrm>
                <a:off x="2141" y="292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26" name="Line 74"/>
              <p:cNvSpPr>
                <a:spLocks noChangeShapeType="1"/>
              </p:cNvSpPr>
              <p:nvPr/>
            </p:nvSpPr>
            <p:spPr bwMode="auto">
              <a:xfrm>
                <a:off x="2166" y="2541"/>
                <a:ext cx="1" cy="400"/>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561269" name="Group 117"/>
              <p:cNvGrpSpPr>
                <a:grpSpLocks/>
              </p:cNvGrpSpPr>
              <p:nvPr/>
            </p:nvGrpSpPr>
            <p:grpSpPr bwMode="auto">
              <a:xfrm>
                <a:off x="1884" y="2660"/>
                <a:ext cx="50" cy="362"/>
                <a:chOff x="1884" y="2660"/>
                <a:chExt cx="50" cy="362"/>
              </a:xfrm>
            </p:grpSpPr>
            <p:sp>
              <p:nvSpPr>
                <p:cNvPr id="561227" name="Freeform 75"/>
                <p:cNvSpPr>
                  <a:spLocks/>
                </p:cNvSpPr>
                <p:nvPr/>
              </p:nvSpPr>
              <p:spPr bwMode="auto">
                <a:xfrm>
                  <a:off x="1884" y="292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28" name="Line 76"/>
                <p:cNvSpPr>
                  <a:spLocks noChangeShapeType="1"/>
                </p:cNvSpPr>
                <p:nvPr/>
              </p:nvSpPr>
              <p:spPr bwMode="auto">
                <a:xfrm>
                  <a:off x="1909" y="2678"/>
                  <a:ext cx="1" cy="263"/>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32" name="Oval 80"/>
                <p:cNvSpPr>
                  <a:spLocks noChangeArrowheads="1"/>
                </p:cNvSpPr>
                <p:nvPr/>
              </p:nvSpPr>
              <p:spPr bwMode="auto">
                <a:xfrm>
                  <a:off x="1884" y="2660"/>
                  <a:ext cx="47" cy="47"/>
                </a:xfrm>
                <a:prstGeom prst="ellipse">
                  <a:avLst/>
                </a:prstGeom>
                <a:solidFill>
                  <a:srgbClr val="000000"/>
                </a:solidFill>
                <a:ln w="9525">
                  <a:solidFill>
                    <a:srgbClr val="000000"/>
                  </a:solidFill>
                  <a:miter lim="800000"/>
                  <a:headEnd/>
                  <a:tailEnd/>
                </a:ln>
              </p:spPr>
              <p:txBody>
                <a:bodyPr/>
                <a:lstStyle/>
                <a:p>
                  <a:endParaRPr lang="en-US"/>
                </a:p>
              </p:txBody>
            </p:sp>
          </p:grpSp>
          <p:grpSp>
            <p:nvGrpSpPr>
              <p:cNvPr id="561272" name="Group 120"/>
              <p:cNvGrpSpPr>
                <a:grpSpLocks/>
              </p:cNvGrpSpPr>
              <p:nvPr/>
            </p:nvGrpSpPr>
            <p:grpSpPr bwMode="auto">
              <a:xfrm>
                <a:off x="1784" y="3022"/>
                <a:ext cx="513" cy="457"/>
                <a:chOff x="1784" y="3022"/>
                <a:chExt cx="513" cy="457"/>
              </a:xfrm>
            </p:grpSpPr>
            <p:sp>
              <p:nvSpPr>
                <p:cNvPr id="561229" name="Freeform 77"/>
                <p:cNvSpPr>
                  <a:spLocks/>
                </p:cNvSpPr>
                <p:nvPr/>
              </p:nvSpPr>
              <p:spPr bwMode="auto">
                <a:xfrm>
                  <a:off x="2016" y="337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30" name="Line 78"/>
                <p:cNvSpPr>
                  <a:spLocks noChangeShapeType="1"/>
                </p:cNvSpPr>
                <p:nvPr/>
              </p:nvSpPr>
              <p:spPr bwMode="auto">
                <a:xfrm>
                  <a:off x="2041" y="3288"/>
                  <a:ext cx="1" cy="109"/>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37" name="Rectangle 85"/>
                <p:cNvSpPr>
                  <a:spLocks noChangeArrowheads="1"/>
                </p:cNvSpPr>
                <p:nvPr/>
              </p:nvSpPr>
              <p:spPr bwMode="auto">
                <a:xfrm>
                  <a:off x="2010" y="306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Symbol" panose="05050102010706020507" pitchFamily="18" charset="2"/>
                    </a:rPr>
                    <a:t>*</a:t>
                  </a:r>
                  <a:endParaRPr lang="en-US" altLang="en-US" sz="2400"/>
                </a:p>
              </p:txBody>
            </p:sp>
            <p:sp>
              <p:nvSpPr>
                <p:cNvPr id="561258" name="Freeform 106"/>
                <p:cNvSpPr>
                  <a:spLocks/>
                </p:cNvSpPr>
                <p:nvPr/>
              </p:nvSpPr>
              <p:spPr bwMode="auto">
                <a:xfrm>
                  <a:off x="1784" y="3022"/>
                  <a:ext cx="513" cy="269"/>
                </a:xfrm>
                <a:custGeom>
                  <a:avLst/>
                  <a:gdLst>
                    <a:gd name="T0" fmla="*/ 513 w 513"/>
                    <a:gd name="T1" fmla="*/ 0 h 269"/>
                    <a:gd name="T2" fmla="*/ 388 w 513"/>
                    <a:gd name="T3" fmla="*/ 269 h 269"/>
                    <a:gd name="T4" fmla="*/ 132 w 513"/>
                    <a:gd name="T5" fmla="*/ 269 h 269"/>
                    <a:gd name="T6" fmla="*/ 0 w 513"/>
                    <a:gd name="T7" fmla="*/ 0 h 269"/>
                    <a:gd name="T8" fmla="*/ 513 w 513"/>
                    <a:gd name="T9" fmla="*/ 0 h 269"/>
                  </a:gdLst>
                  <a:ahLst/>
                  <a:cxnLst>
                    <a:cxn ang="0">
                      <a:pos x="T0" y="T1"/>
                    </a:cxn>
                    <a:cxn ang="0">
                      <a:pos x="T2" y="T3"/>
                    </a:cxn>
                    <a:cxn ang="0">
                      <a:pos x="T4" y="T5"/>
                    </a:cxn>
                    <a:cxn ang="0">
                      <a:pos x="T6" y="T7"/>
                    </a:cxn>
                    <a:cxn ang="0">
                      <a:pos x="T8" y="T9"/>
                    </a:cxn>
                  </a:cxnLst>
                  <a:rect l="0" t="0" r="r" b="b"/>
                  <a:pathLst>
                    <a:path w="513" h="269">
                      <a:moveTo>
                        <a:pt x="513" y="0"/>
                      </a:moveTo>
                      <a:lnTo>
                        <a:pt x="388" y="269"/>
                      </a:lnTo>
                      <a:lnTo>
                        <a:pt x="132" y="269"/>
                      </a:lnTo>
                      <a:lnTo>
                        <a:pt x="0" y="0"/>
                      </a:lnTo>
                      <a:lnTo>
                        <a:pt x="513"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grpSp>
          <p:nvGrpSpPr>
            <p:cNvPr id="561277" name="Group 125"/>
            <p:cNvGrpSpPr>
              <a:grpSpLocks/>
            </p:cNvGrpSpPr>
            <p:nvPr/>
          </p:nvGrpSpPr>
          <p:grpSpPr bwMode="auto">
            <a:xfrm>
              <a:off x="3716" y="2544"/>
              <a:ext cx="644" cy="935"/>
              <a:chOff x="3716" y="2544"/>
              <a:chExt cx="644" cy="935"/>
            </a:xfrm>
          </p:grpSpPr>
          <p:sp>
            <p:nvSpPr>
              <p:cNvPr id="561248" name="Freeform 96"/>
              <p:cNvSpPr>
                <a:spLocks/>
              </p:cNvSpPr>
              <p:nvPr/>
            </p:nvSpPr>
            <p:spPr bwMode="auto">
              <a:xfrm>
                <a:off x="4204" y="292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49" name="Line 97"/>
              <p:cNvSpPr>
                <a:spLocks noChangeShapeType="1"/>
              </p:cNvSpPr>
              <p:nvPr/>
            </p:nvSpPr>
            <p:spPr bwMode="auto">
              <a:xfrm>
                <a:off x="4229" y="2544"/>
                <a:ext cx="1" cy="39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561271" name="Group 119"/>
              <p:cNvGrpSpPr>
                <a:grpSpLocks/>
              </p:cNvGrpSpPr>
              <p:nvPr/>
            </p:nvGrpSpPr>
            <p:grpSpPr bwMode="auto">
              <a:xfrm>
                <a:off x="3716" y="2697"/>
                <a:ext cx="281" cy="325"/>
                <a:chOff x="3716" y="2697"/>
                <a:chExt cx="281" cy="325"/>
              </a:xfrm>
            </p:grpSpPr>
            <p:sp>
              <p:nvSpPr>
                <p:cNvPr id="561250" name="Freeform 98"/>
                <p:cNvSpPr>
                  <a:spLocks/>
                </p:cNvSpPr>
                <p:nvPr/>
              </p:nvSpPr>
              <p:spPr bwMode="auto">
                <a:xfrm>
                  <a:off x="3947" y="292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51" name="Freeform 99"/>
                <p:cNvSpPr>
                  <a:spLocks/>
                </p:cNvSpPr>
                <p:nvPr/>
              </p:nvSpPr>
              <p:spPr bwMode="auto">
                <a:xfrm>
                  <a:off x="3716" y="2697"/>
                  <a:ext cx="256" cy="244"/>
                </a:xfrm>
                <a:custGeom>
                  <a:avLst/>
                  <a:gdLst>
                    <a:gd name="T0" fmla="*/ 256 w 256"/>
                    <a:gd name="T1" fmla="*/ 244 h 244"/>
                    <a:gd name="T2" fmla="*/ 256 w 256"/>
                    <a:gd name="T3" fmla="*/ 0 h 244"/>
                    <a:gd name="T4" fmla="*/ 0 w 256"/>
                    <a:gd name="T5" fmla="*/ 0 h 244"/>
                  </a:gdLst>
                  <a:ahLst/>
                  <a:cxnLst>
                    <a:cxn ang="0">
                      <a:pos x="T0" y="T1"/>
                    </a:cxn>
                    <a:cxn ang="0">
                      <a:pos x="T2" y="T3"/>
                    </a:cxn>
                    <a:cxn ang="0">
                      <a:pos x="T4" y="T5"/>
                    </a:cxn>
                  </a:cxnLst>
                  <a:rect l="0" t="0" r="r" b="b"/>
                  <a:pathLst>
                    <a:path w="256" h="244">
                      <a:moveTo>
                        <a:pt x="256" y="244"/>
                      </a:moveTo>
                      <a:lnTo>
                        <a:pt x="256" y="0"/>
                      </a:lnTo>
                      <a:lnTo>
                        <a:pt x="0" y="0"/>
                      </a:lnTo>
                    </a:path>
                  </a:pathLst>
                </a:custGeom>
                <a:noFill/>
                <a:ln w="3016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61274" name="Group 122"/>
              <p:cNvGrpSpPr>
                <a:grpSpLocks/>
              </p:cNvGrpSpPr>
              <p:nvPr/>
            </p:nvGrpSpPr>
            <p:grpSpPr bwMode="auto">
              <a:xfrm>
                <a:off x="3847" y="3022"/>
                <a:ext cx="513" cy="457"/>
                <a:chOff x="3847" y="3022"/>
                <a:chExt cx="513" cy="457"/>
              </a:xfrm>
            </p:grpSpPr>
            <p:sp>
              <p:nvSpPr>
                <p:cNvPr id="561252" name="Freeform 100"/>
                <p:cNvSpPr>
                  <a:spLocks/>
                </p:cNvSpPr>
                <p:nvPr/>
              </p:nvSpPr>
              <p:spPr bwMode="auto">
                <a:xfrm>
                  <a:off x="4079" y="337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53" name="Line 101"/>
                <p:cNvSpPr>
                  <a:spLocks noChangeShapeType="1"/>
                </p:cNvSpPr>
                <p:nvPr/>
              </p:nvSpPr>
              <p:spPr bwMode="auto">
                <a:xfrm>
                  <a:off x="4104" y="3288"/>
                  <a:ext cx="1" cy="109"/>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54" name="Rectangle 102"/>
                <p:cNvSpPr>
                  <a:spLocks noChangeArrowheads="1"/>
                </p:cNvSpPr>
                <p:nvPr/>
              </p:nvSpPr>
              <p:spPr bwMode="auto">
                <a:xfrm>
                  <a:off x="4072" y="3060"/>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Symbol" panose="05050102010706020507" pitchFamily="18" charset="2"/>
                    </a:rPr>
                    <a:t>*</a:t>
                  </a:r>
                  <a:endParaRPr lang="en-US" altLang="en-US" sz="2400"/>
                </a:p>
              </p:txBody>
            </p:sp>
            <p:sp>
              <p:nvSpPr>
                <p:cNvPr id="561263" name="Freeform 111"/>
                <p:cNvSpPr>
                  <a:spLocks/>
                </p:cNvSpPr>
                <p:nvPr/>
              </p:nvSpPr>
              <p:spPr bwMode="auto">
                <a:xfrm>
                  <a:off x="3847" y="3022"/>
                  <a:ext cx="513" cy="269"/>
                </a:xfrm>
                <a:custGeom>
                  <a:avLst/>
                  <a:gdLst>
                    <a:gd name="T0" fmla="*/ 513 w 513"/>
                    <a:gd name="T1" fmla="*/ 0 h 269"/>
                    <a:gd name="T2" fmla="*/ 388 w 513"/>
                    <a:gd name="T3" fmla="*/ 269 h 269"/>
                    <a:gd name="T4" fmla="*/ 132 w 513"/>
                    <a:gd name="T5" fmla="*/ 269 h 269"/>
                    <a:gd name="T6" fmla="*/ 0 w 513"/>
                    <a:gd name="T7" fmla="*/ 0 h 269"/>
                    <a:gd name="T8" fmla="*/ 513 w 513"/>
                    <a:gd name="T9" fmla="*/ 0 h 269"/>
                  </a:gdLst>
                  <a:ahLst/>
                  <a:cxnLst>
                    <a:cxn ang="0">
                      <a:pos x="T0" y="T1"/>
                    </a:cxn>
                    <a:cxn ang="0">
                      <a:pos x="T2" y="T3"/>
                    </a:cxn>
                    <a:cxn ang="0">
                      <a:pos x="T4" y="T5"/>
                    </a:cxn>
                    <a:cxn ang="0">
                      <a:pos x="T6" y="T7"/>
                    </a:cxn>
                    <a:cxn ang="0">
                      <a:pos x="T8" y="T9"/>
                    </a:cxn>
                  </a:cxnLst>
                  <a:rect l="0" t="0" r="r" b="b"/>
                  <a:pathLst>
                    <a:path w="513" h="269">
                      <a:moveTo>
                        <a:pt x="513" y="0"/>
                      </a:moveTo>
                      <a:lnTo>
                        <a:pt x="388" y="269"/>
                      </a:lnTo>
                      <a:lnTo>
                        <a:pt x="132" y="269"/>
                      </a:lnTo>
                      <a:lnTo>
                        <a:pt x="0" y="0"/>
                      </a:lnTo>
                      <a:lnTo>
                        <a:pt x="513"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grpSp>
      <p:sp>
        <p:nvSpPr>
          <p:cNvPr id="561264" name="Text Box 112"/>
          <p:cNvSpPr txBox="1">
            <a:spLocks noChangeArrowheads="1"/>
          </p:cNvSpPr>
          <p:nvPr/>
        </p:nvSpPr>
        <p:spPr bwMode="auto">
          <a:xfrm>
            <a:off x="7894638" y="46720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561279" name="Group 127"/>
          <p:cNvGrpSpPr>
            <a:grpSpLocks/>
          </p:cNvGrpSpPr>
          <p:nvPr/>
        </p:nvGrpSpPr>
        <p:grpSpPr bwMode="auto">
          <a:xfrm>
            <a:off x="5349875" y="1260475"/>
            <a:ext cx="3054350" cy="1004888"/>
            <a:chOff x="3370" y="794"/>
            <a:chExt cx="1924" cy="633"/>
          </a:xfrm>
        </p:grpSpPr>
        <p:sp>
          <p:nvSpPr>
            <p:cNvPr id="561280" name="Line 128"/>
            <p:cNvSpPr>
              <a:spLocks noChangeShapeType="1"/>
            </p:cNvSpPr>
            <p:nvPr/>
          </p:nvSpPr>
          <p:spPr bwMode="auto">
            <a:xfrm>
              <a:off x="3501" y="961"/>
              <a:ext cx="27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81" name="Freeform 129"/>
            <p:cNvSpPr>
              <a:spLocks/>
            </p:cNvSpPr>
            <p:nvPr/>
          </p:nvSpPr>
          <p:spPr bwMode="auto">
            <a:xfrm>
              <a:off x="3761" y="933"/>
              <a:ext cx="99"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82" name="Line 130"/>
            <p:cNvSpPr>
              <a:spLocks noChangeShapeType="1"/>
            </p:cNvSpPr>
            <p:nvPr/>
          </p:nvSpPr>
          <p:spPr bwMode="auto">
            <a:xfrm>
              <a:off x="3501" y="1272"/>
              <a:ext cx="278"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83" name="Freeform 131"/>
            <p:cNvSpPr>
              <a:spLocks/>
            </p:cNvSpPr>
            <p:nvPr/>
          </p:nvSpPr>
          <p:spPr bwMode="auto">
            <a:xfrm>
              <a:off x="3761" y="1244"/>
              <a:ext cx="99" cy="6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84" name="Freeform 132"/>
            <p:cNvSpPr>
              <a:spLocks/>
            </p:cNvSpPr>
            <p:nvPr/>
          </p:nvSpPr>
          <p:spPr bwMode="auto">
            <a:xfrm>
              <a:off x="3866" y="1199"/>
              <a:ext cx="103" cy="136"/>
            </a:xfrm>
            <a:custGeom>
              <a:avLst/>
              <a:gdLst>
                <a:gd name="T0" fmla="*/ 0 w 103"/>
                <a:gd name="T1" fmla="*/ 107 h 107"/>
                <a:gd name="T2" fmla="*/ 103 w 103"/>
                <a:gd name="T3" fmla="*/ 54 h 107"/>
                <a:gd name="T4" fmla="*/ 0 w 103"/>
                <a:gd name="T5" fmla="*/ 0 h 107"/>
              </a:gdLst>
              <a:ahLst/>
              <a:cxnLst>
                <a:cxn ang="0">
                  <a:pos x="T0" y="T1"/>
                </a:cxn>
                <a:cxn ang="0">
                  <a:pos x="T2" y="T3"/>
                </a:cxn>
                <a:cxn ang="0">
                  <a:pos x="T4" y="T5"/>
                </a:cxn>
              </a:cxnLst>
              <a:rect l="0" t="0" r="r" b="b"/>
              <a:pathLst>
                <a:path w="103" h="107">
                  <a:moveTo>
                    <a:pt x="0" y="107"/>
                  </a:moveTo>
                  <a:lnTo>
                    <a:pt x="103" y="54"/>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1285" name="Freeform 133"/>
            <p:cNvSpPr>
              <a:spLocks/>
            </p:cNvSpPr>
            <p:nvPr/>
          </p:nvSpPr>
          <p:spPr bwMode="auto">
            <a:xfrm>
              <a:off x="3601" y="909"/>
              <a:ext cx="85" cy="104"/>
            </a:xfrm>
            <a:custGeom>
              <a:avLst/>
              <a:gdLst>
                <a:gd name="T0" fmla="*/ 85 w 85"/>
                <a:gd name="T1" fmla="*/ 0 h 82"/>
                <a:gd name="T2" fmla="*/ 0 w 85"/>
                <a:gd name="T3" fmla="*/ 82 h 82"/>
                <a:gd name="T4" fmla="*/ 85 w 85"/>
                <a:gd name="T5" fmla="*/ 0 h 82"/>
              </a:gdLst>
              <a:ahLst/>
              <a:cxnLst>
                <a:cxn ang="0">
                  <a:pos x="T0" y="T1"/>
                </a:cxn>
                <a:cxn ang="0">
                  <a:pos x="T2" y="T3"/>
                </a:cxn>
                <a:cxn ang="0">
                  <a:pos x="T4" y="T5"/>
                </a:cxn>
              </a:cxnLst>
              <a:rect l="0" t="0" r="r" b="b"/>
              <a:pathLst>
                <a:path w="85" h="82">
                  <a:moveTo>
                    <a:pt x="85" y="0"/>
                  </a:moveTo>
                  <a:lnTo>
                    <a:pt x="0" y="82"/>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86" name="Line 134"/>
            <p:cNvSpPr>
              <a:spLocks noChangeShapeType="1"/>
            </p:cNvSpPr>
            <p:nvPr/>
          </p:nvSpPr>
          <p:spPr bwMode="auto">
            <a:xfrm flipH="1">
              <a:off x="3601" y="909"/>
              <a:ext cx="85" cy="10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87" name="Line 135"/>
            <p:cNvSpPr>
              <a:spLocks noChangeShapeType="1"/>
            </p:cNvSpPr>
            <p:nvPr/>
          </p:nvSpPr>
          <p:spPr bwMode="auto">
            <a:xfrm>
              <a:off x="4853" y="961"/>
              <a:ext cx="27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88" name="Freeform 136"/>
            <p:cNvSpPr>
              <a:spLocks/>
            </p:cNvSpPr>
            <p:nvPr/>
          </p:nvSpPr>
          <p:spPr bwMode="auto">
            <a:xfrm>
              <a:off x="5112" y="933"/>
              <a:ext cx="100"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89" name="Freeform 137"/>
            <p:cNvSpPr>
              <a:spLocks/>
            </p:cNvSpPr>
            <p:nvPr/>
          </p:nvSpPr>
          <p:spPr bwMode="auto">
            <a:xfrm>
              <a:off x="4953" y="909"/>
              <a:ext cx="84" cy="104"/>
            </a:xfrm>
            <a:custGeom>
              <a:avLst/>
              <a:gdLst>
                <a:gd name="T0" fmla="*/ 84 w 84"/>
                <a:gd name="T1" fmla="*/ 0 h 82"/>
                <a:gd name="T2" fmla="*/ 0 w 84"/>
                <a:gd name="T3" fmla="*/ 82 h 82"/>
                <a:gd name="T4" fmla="*/ 84 w 84"/>
                <a:gd name="T5" fmla="*/ 0 h 82"/>
              </a:gdLst>
              <a:ahLst/>
              <a:cxnLst>
                <a:cxn ang="0">
                  <a:pos x="T0" y="T1"/>
                </a:cxn>
                <a:cxn ang="0">
                  <a:pos x="T2" y="T3"/>
                </a:cxn>
                <a:cxn ang="0">
                  <a:pos x="T4" y="T5"/>
                </a:cxn>
              </a:cxnLst>
              <a:rect l="0" t="0" r="r" b="b"/>
              <a:pathLst>
                <a:path w="84" h="82">
                  <a:moveTo>
                    <a:pt x="84" y="0"/>
                  </a:moveTo>
                  <a:lnTo>
                    <a:pt x="0" y="82"/>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1290" name="Line 138"/>
            <p:cNvSpPr>
              <a:spLocks noChangeShapeType="1"/>
            </p:cNvSpPr>
            <p:nvPr/>
          </p:nvSpPr>
          <p:spPr bwMode="auto">
            <a:xfrm flipH="1">
              <a:off x="4953" y="909"/>
              <a:ext cx="84" cy="10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1291" name="Rectangle 139"/>
            <p:cNvSpPr>
              <a:spLocks noChangeArrowheads="1"/>
            </p:cNvSpPr>
            <p:nvPr/>
          </p:nvSpPr>
          <p:spPr bwMode="auto">
            <a:xfrm>
              <a:off x="4909" y="1026"/>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61292" name="Rectangle 140"/>
            <p:cNvSpPr>
              <a:spLocks noChangeArrowheads="1"/>
            </p:cNvSpPr>
            <p:nvPr/>
          </p:nvSpPr>
          <p:spPr bwMode="auto">
            <a:xfrm>
              <a:off x="3589" y="1026"/>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61293" name="Rectangle 141"/>
            <p:cNvSpPr>
              <a:spLocks noChangeArrowheads="1"/>
            </p:cNvSpPr>
            <p:nvPr/>
          </p:nvSpPr>
          <p:spPr bwMode="auto">
            <a:xfrm>
              <a:off x="5230" y="883"/>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Y</a:t>
              </a:r>
              <a:endParaRPr lang="en-US" altLang="en-US"/>
            </a:p>
          </p:txBody>
        </p:sp>
        <p:sp>
          <p:nvSpPr>
            <p:cNvPr id="561294" name="Rectangle 142"/>
            <p:cNvSpPr>
              <a:spLocks noChangeArrowheads="1"/>
            </p:cNvSpPr>
            <p:nvPr/>
          </p:nvSpPr>
          <p:spPr bwMode="auto">
            <a:xfrm>
              <a:off x="3370" y="1194"/>
              <a:ext cx="11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clk</a:t>
              </a:r>
              <a:endParaRPr lang="en-US" altLang="en-US"/>
            </a:p>
          </p:txBody>
        </p:sp>
        <p:sp>
          <p:nvSpPr>
            <p:cNvPr id="561295" name="Rectangle 143"/>
            <p:cNvSpPr>
              <a:spLocks noChangeArrowheads="1"/>
            </p:cNvSpPr>
            <p:nvPr/>
          </p:nvSpPr>
          <p:spPr bwMode="auto">
            <a:xfrm>
              <a:off x="3428" y="886"/>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a:t>
              </a:r>
              <a:endParaRPr lang="en-US" altLang="en-US"/>
            </a:p>
          </p:txBody>
        </p:sp>
        <p:sp>
          <p:nvSpPr>
            <p:cNvPr id="561296" name="Rectangle 144"/>
            <p:cNvSpPr>
              <a:spLocks noChangeArrowheads="1"/>
            </p:cNvSpPr>
            <p:nvPr/>
          </p:nvSpPr>
          <p:spPr bwMode="auto">
            <a:xfrm>
              <a:off x="4121" y="1033"/>
              <a:ext cx="45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digital filter</a:t>
              </a:r>
              <a:endParaRPr lang="en-US" altLang="en-US"/>
            </a:p>
          </p:txBody>
        </p:sp>
        <p:sp>
          <p:nvSpPr>
            <p:cNvPr id="561297" name="Rectangle 145"/>
            <p:cNvSpPr>
              <a:spLocks noChangeArrowheads="1"/>
            </p:cNvSpPr>
            <p:nvPr/>
          </p:nvSpPr>
          <p:spPr bwMode="auto">
            <a:xfrm>
              <a:off x="3869" y="794"/>
              <a:ext cx="984" cy="63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561268"/>
                                        </p:tgtEl>
                                        <p:attrNameLst>
                                          <p:attrName>style.visibility</p:attrName>
                                        </p:attrNameLst>
                                      </p:cBhvr>
                                      <p:to>
                                        <p:strVal val="visible"/>
                                      </p:to>
                                    </p:set>
                                    <p:anim calcmode="lin" valueType="num">
                                      <p:cBhvr additive="base">
                                        <p:cTn id="7" dur="500" fill="hold"/>
                                        <p:tgtEl>
                                          <p:spTgt spid="561268"/>
                                        </p:tgtEl>
                                        <p:attrNameLst>
                                          <p:attrName>ppt_x</p:attrName>
                                        </p:attrNameLst>
                                      </p:cBhvr>
                                      <p:tavLst>
                                        <p:tav tm="0">
                                          <p:val>
                                            <p:strVal val="#ppt_x"/>
                                          </p:val>
                                        </p:tav>
                                        <p:tav tm="100000">
                                          <p:val>
                                            <p:strVal val="#ppt_x"/>
                                          </p:val>
                                        </p:tav>
                                      </p:tavLst>
                                    </p:anim>
                                    <p:anim calcmode="lin" valueType="num">
                                      <p:cBhvr additive="base">
                                        <p:cTn id="8" dur="500" fill="hold"/>
                                        <p:tgtEl>
                                          <p:spTgt spid="561268"/>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1" fill="hold" nodeType="clickEffect">
                                  <p:stCondLst>
                                    <p:cond delay="0"/>
                                  </p:stCondLst>
                                  <p:childTnLst>
                                    <p:set>
                                      <p:cBhvr>
                                        <p:cTn id="12" dur="1" fill="hold">
                                          <p:stCondLst>
                                            <p:cond delay="0"/>
                                          </p:stCondLst>
                                        </p:cTn>
                                        <p:tgtEl>
                                          <p:spTgt spid="561278"/>
                                        </p:tgtEl>
                                        <p:attrNameLst>
                                          <p:attrName>style.visibility</p:attrName>
                                        </p:attrNameLst>
                                      </p:cBhvr>
                                      <p:to>
                                        <p:strVal val="visible"/>
                                      </p:to>
                                    </p:set>
                                    <p:anim calcmode="lin" valueType="num">
                                      <p:cBhvr additive="base">
                                        <p:cTn id="13" dur="500" fill="hold"/>
                                        <p:tgtEl>
                                          <p:spTgt spid="561278"/>
                                        </p:tgtEl>
                                        <p:attrNameLst>
                                          <p:attrName>ppt_x</p:attrName>
                                        </p:attrNameLst>
                                      </p:cBhvr>
                                      <p:tavLst>
                                        <p:tav tm="0">
                                          <p:val>
                                            <p:strVal val="#ppt_x"/>
                                          </p:val>
                                        </p:tav>
                                        <p:tav tm="100000">
                                          <p:val>
                                            <p:strVal val="#ppt_x"/>
                                          </p:val>
                                        </p:tav>
                                      </p:tavLst>
                                    </p:anim>
                                    <p:anim calcmode="lin" valueType="num">
                                      <p:cBhvr additive="base">
                                        <p:cTn id="14" dur="500" fill="hold"/>
                                        <p:tgtEl>
                                          <p:spTgt spid="56127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lide Number Placeholder 3"/>
          <p:cNvSpPr>
            <a:spLocks noGrp="1"/>
          </p:cNvSpPr>
          <p:nvPr>
            <p:ph type="sldNum" sz="quarter" idx="10"/>
          </p:nvPr>
        </p:nvSpPr>
        <p:spPr/>
        <p:txBody>
          <a:bodyPr/>
          <a:lstStyle/>
          <a:p>
            <a:fld id="{CDBC6B2E-6D42-4098-AD45-E6C887358BA7}" type="slidenum">
              <a:rPr lang="en-US" altLang="en-US"/>
              <a:pPr/>
              <a:t>48</a:t>
            </a:fld>
            <a:endParaRPr lang="en-US" altLang="en-US"/>
          </a:p>
        </p:txBody>
      </p:sp>
      <p:sp>
        <p:nvSpPr>
          <p:cNvPr id="562178" name="Rectangle 2"/>
          <p:cNvSpPr>
            <a:spLocks noGrp="1" noChangeArrowheads="1"/>
          </p:cNvSpPr>
          <p:nvPr>
            <p:ph type="title"/>
          </p:nvPr>
        </p:nvSpPr>
        <p:spPr/>
        <p:txBody>
          <a:bodyPr/>
          <a:lstStyle/>
          <a:p>
            <a:r>
              <a:rPr lang="en-US" altLang="en-US"/>
              <a:t>Data Dominated RTL Design Example: FIR Filter</a:t>
            </a:r>
          </a:p>
        </p:txBody>
      </p:sp>
      <p:sp>
        <p:nvSpPr>
          <p:cNvPr id="562179" name="Rectangle 3"/>
          <p:cNvSpPr>
            <a:spLocks noGrp="1" noChangeArrowheads="1"/>
          </p:cNvSpPr>
          <p:nvPr>
            <p:ph type="body" idx="1"/>
          </p:nvPr>
        </p:nvSpPr>
        <p:spPr>
          <a:xfrm>
            <a:off x="228600" y="1219200"/>
            <a:ext cx="3832225" cy="2470150"/>
          </a:xfrm>
        </p:spPr>
        <p:txBody>
          <a:bodyPr/>
          <a:lstStyle/>
          <a:p>
            <a:r>
              <a:rPr lang="en-US" altLang="en-US"/>
              <a:t>Step 2: Create datapath (cont.)</a:t>
            </a:r>
          </a:p>
          <a:p>
            <a:pPr lvl="1"/>
            <a:r>
              <a:rPr lang="en-US" altLang="en-US"/>
              <a:t>Instantiate adders</a:t>
            </a:r>
          </a:p>
          <a:p>
            <a:pPr lvl="1"/>
            <a:endParaRPr lang="en-US" altLang="en-US"/>
          </a:p>
          <a:p>
            <a:pPr lvl="1"/>
            <a:endParaRPr lang="en-US" altLang="en-US"/>
          </a:p>
        </p:txBody>
      </p:sp>
      <p:sp>
        <p:nvSpPr>
          <p:cNvPr id="562203" name="Rectangle 27"/>
          <p:cNvSpPr>
            <a:spLocks noChangeArrowheads="1"/>
          </p:cNvSpPr>
          <p:nvPr/>
        </p:nvSpPr>
        <p:spPr bwMode="auto">
          <a:xfrm>
            <a:off x="3940175" y="2466975"/>
            <a:ext cx="4848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Arial" panose="020B0604020202020204" pitchFamily="34" charset="0"/>
              </a:rPr>
              <a:t>y(t) = c0*x(t) + c1*x(t-1) + c2*x(t-2)</a:t>
            </a:r>
          </a:p>
        </p:txBody>
      </p:sp>
      <p:sp>
        <p:nvSpPr>
          <p:cNvPr id="562290" name="Text Box 114"/>
          <p:cNvSpPr txBox="1">
            <a:spLocks noChangeArrowheads="1"/>
          </p:cNvSpPr>
          <p:nvPr/>
        </p:nvSpPr>
        <p:spPr bwMode="auto">
          <a:xfrm>
            <a:off x="7773988" y="44307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62291" name="Rectangle 115"/>
          <p:cNvSpPr>
            <a:spLocks noChangeArrowheads="1"/>
          </p:cNvSpPr>
          <p:nvPr/>
        </p:nvSpPr>
        <p:spPr bwMode="auto">
          <a:xfrm>
            <a:off x="1150938" y="3035300"/>
            <a:ext cx="5403850" cy="2763838"/>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292" name="Line 116"/>
          <p:cNvSpPr>
            <a:spLocks noChangeShapeType="1"/>
          </p:cNvSpPr>
          <p:nvPr/>
        </p:nvSpPr>
        <p:spPr bwMode="auto">
          <a:xfrm>
            <a:off x="863600" y="4356100"/>
            <a:ext cx="153988"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293" name="Freeform 117"/>
          <p:cNvSpPr>
            <a:spLocks/>
          </p:cNvSpPr>
          <p:nvPr/>
        </p:nvSpPr>
        <p:spPr bwMode="auto">
          <a:xfrm>
            <a:off x="987425" y="4316413"/>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294" name="Line 118"/>
          <p:cNvSpPr>
            <a:spLocks noChangeShapeType="1"/>
          </p:cNvSpPr>
          <p:nvPr/>
        </p:nvSpPr>
        <p:spPr bwMode="auto">
          <a:xfrm>
            <a:off x="1155700" y="3957638"/>
            <a:ext cx="361950"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295" name="Freeform 119"/>
          <p:cNvSpPr>
            <a:spLocks/>
          </p:cNvSpPr>
          <p:nvPr/>
        </p:nvSpPr>
        <p:spPr bwMode="auto">
          <a:xfrm>
            <a:off x="1487488" y="3917950"/>
            <a:ext cx="160337" cy="79375"/>
          </a:xfrm>
          <a:custGeom>
            <a:avLst/>
            <a:gdLst>
              <a:gd name="T0" fmla="*/ 101 w 101"/>
              <a:gd name="T1" fmla="*/ 25 h 50"/>
              <a:gd name="T2" fmla="*/ 0 w 101"/>
              <a:gd name="T3" fmla="*/ 0 h 50"/>
              <a:gd name="T4" fmla="*/ 0 w 101"/>
              <a:gd name="T5" fmla="*/ 50 h 50"/>
              <a:gd name="T6" fmla="*/ 101 w 101"/>
              <a:gd name="T7" fmla="*/ 25 h 50"/>
            </a:gdLst>
            <a:ahLst/>
            <a:cxnLst>
              <a:cxn ang="0">
                <a:pos x="T0" y="T1"/>
              </a:cxn>
              <a:cxn ang="0">
                <a:pos x="T2" y="T3"/>
              </a:cxn>
              <a:cxn ang="0">
                <a:pos x="T4" y="T5"/>
              </a:cxn>
              <a:cxn ang="0">
                <a:pos x="T6" y="T7"/>
              </a:cxn>
            </a:cxnLst>
            <a:rect l="0" t="0" r="r" b="b"/>
            <a:pathLst>
              <a:path w="101" h="50">
                <a:moveTo>
                  <a:pt x="101" y="25"/>
                </a:moveTo>
                <a:lnTo>
                  <a:pt x="0" y="0"/>
                </a:lnTo>
                <a:lnTo>
                  <a:pt x="0" y="50"/>
                </a:lnTo>
                <a:lnTo>
                  <a:pt x="101"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296" name="Line 120"/>
          <p:cNvSpPr>
            <a:spLocks noChangeShapeType="1"/>
          </p:cNvSpPr>
          <p:nvPr/>
        </p:nvSpPr>
        <p:spPr bwMode="auto">
          <a:xfrm>
            <a:off x="863600" y="3957638"/>
            <a:ext cx="153988"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297" name="Freeform 121"/>
          <p:cNvSpPr>
            <a:spLocks/>
          </p:cNvSpPr>
          <p:nvPr/>
        </p:nvSpPr>
        <p:spPr bwMode="auto">
          <a:xfrm>
            <a:off x="987425" y="3917950"/>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298" name="Rectangle 122"/>
          <p:cNvSpPr>
            <a:spLocks noChangeArrowheads="1"/>
          </p:cNvSpPr>
          <p:nvPr/>
        </p:nvSpPr>
        <p:spPr bwMode="auto">
          <a:xfrm>
            <a:off x="1758950" y="368617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2299" name="Rectangle 123"/>
          <p:cNvSpPr>
            <a:spLocks noChangeArrowheads="1"/>
          </p:cNvSpPr>
          <p:nvPr/>
        </p:nvSpPr>
        <p:spPr bwMode="auto">
          <a:xfrm>
            <a:off x="1835150" y="3686175"/>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t0</a:t>
            </a:r>
            <a:endParaRPr lang="en-US" altLang="en-US" sz="2400"/>
          </a:p>
        </p:txBody>
      </p:sp>
      <p:sp>
        <p:nvSpPr>
          <p:cNvPr id="562300" name="Rectangle 124"/>
          <p:cNvSpPr>
            <a:spLocks noChangeArrowheads="1"/>
          </p:cNvSpPr>
          <p:nvPr/>
        </p:nvSpPr>
        <p:spPr bwMode="auto">
          <a:xfrm>
            <a:off x="3394075" y="368617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2301" name="Rectangle 125"/>
          <p:cNvSpPr>
            <a:spLocks noChangeArrowheads="1"/>
          </p:cNvSpPr>
          <p:nvPr/>
        </p:nvSpPr>
        <p:spPr bwMode="auto">
          <a:xfrm>
            <a:off x="3468688" y="368617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t1</a:t>
            </a:r>
            <a:endParaRPr lang="en-US" altLang="en-US" sz="2400"/>
          </a:p>
        </p:txBody>
      </p:sp>
      <p:sp>
        <p:nvSpPr>
          <p:cNvPr id="562302" name="Freeform 126"/>
          <p:cNvSpPr>
            <a:spLocks/>
          </p:cNvSpPr>
          <p:nvPr/>
        </p:nvSpPr>
        <p:spPr bwMode="auto">
          <a:xfrm>
            <a:off x="1652588" y="4270375"/>
            <a:ext cx="163512" cy="165100"/>
          </a:xfrm>
          <a:custGeom>
            <a:avLst/>
            <a:gdLst>
              <a:gd name="T0" fmla="*/ 0 w 103"/>
              <a:gd name="T1" fmla="*/ 104 h 104"/>
              <a:gd name="T2" fmla="*/ 103 w 103"/>
              <a:gd name="T3" fmla="*/ 54 h 104"/>
              <a:gd name="T4" fmla="*/ 0 w 103"/>
              <a:gd name="T5" fmla="*/ 0 h 104"/>
            </a:gdLst>
            <a:ahLst/>
            <a:cxnLst>
              <a:cxn ang="0">
                <a:pos x="T0" y="T1"/>
              </a:cxn>
              <a:cxn ang="0">
                <a:pos x="T2" y="T3"/>
              </a:cxn>
              <a:cxn ang="0">
                <a:pos x="T4" y="T5"/>
              </a:cxn>
            </a:cxnLst>
            <a:rect l="0" t="0" r="r" b="b"/>
            <a:pathLst>
              <a:path w="103" h="104">
                <a:moveTo>
                  <a:pt x="0" y="104"/>
                </a:moveTo>
                <a:lnTo>
                  <a:pt x="103"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03" name="Freeform 127"/>
          <p:cNvSpPr>
            <a:spLocks/>
          </p:cNvSpPr>
          <p:nvPr/>
        </p:nvSpPr>
        <p:spPr bwMode="auto">
          <a:xfrm>
            <a:off x="1146175" y="4270375"/>
            <a:ext cx="163513" cy="165100"/>
          </a:xfrm>
          <a:custGeom>
            <a:avLst/>
            <a:gdLst>
              <a:gd name="T0" fmla="*/ 0 w 103"/>
              <a:gd name="T1" fmla="*/ 104 h 104"/>
              <a:gd name="T2" fmla="*/ 103 w 103"/>
              <a:gd name="T3" fmla="*/ 54 h 104"/>
              <a:gd name="T4" fmla="*/ 0 w 103"/>
              <a:gd name="T5" fmla="*/ 0 h 104"/>
            </a:gdLst>
            <a:ahLst/>
            <a:cxnLst>
              <a:cxn ang="0">
                <a:pos x="T0" y="T1"/>
              </a:cxn>
              <a:cxn ang="0">
                <a:pos x="T2" y="T3"/>
              </a:cxn>
              <a:cxn ang="0">
                <a:pos x="T4" y="T5"/>
              </a:cxn>
            </a:cxnLst>
            <a:rect l="0" t="0" r="r" b="b"/>
            <a:pathLst>
              <a:path w="103" h="104">
                <a:moveTo>
                  <a:pt x="0" y="104"/>
                </a:moveTo>
                <a:lnTo>
                  <a:pt x="103"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04" name="Freeform 128"/>
          <p:cNvSpPr>
            <a:spLocks/>
          </p:cNvSpPr>
          <p:nvPr/>
        </p:nvSpPr>
        <p:spPr bwMode="auto">
          <a:xfrm>
            <a:off x="3294063" y="4270375"/>
            <a:ext cx="163512" cy="165100"/>
          </a:xfrm>
          <a:custGeom>
            <a:avLst/>
            <a:gdLst>
              <a:gd name="T0" fmla="*/ 0 w 103"/>
              <a:gd name="T1" fmla="*/ 104 h 104"/>
              <a:gd name="T2" fmla="*/ 103 w 103"/>
              <a:gd name="T3" fmla="*/ 54 h 104"/>
              <a:gd name="T4" fmla="*/ 0 w 103"/>
              <a:gd name="T5" fmla="*/ 0 h 104"/>
            </a:gdLst>
            <a:ahLst/>
            <a:cxnLst>
              <a:cxn ang="0">
                <a:pos x="T0" y="T1"/>
              </a:cxn>
              <a:cxn ang="0">
                <a:pos x="T2" y="T3"/>
              </a:cxn>
              <a:cxn ang="0">
                <a:pos x="T4" y="T5"/>
              </a:cxn>
            </a:cxnLst>
            <a:rect l="0" t="0" r="r" b="b"/>
            <a:pathLst>
              <a:path w="103" h="104">
                <a:moveTo>
                  <a:pt x="0" y="104"/>
                </a:moveTo>
                <a:lnTo>
                  <a:pt x="103" y="54"/>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05" name="Rectangle 129"/>
          <p:cNvSpPr>
            <a:spLocks noChangeArrowheads="1"/>
          </p:cNvSpPr>
          <p:nvPr/>
        </p:nvSpPr>
        <p:spPr bwMode="auto">
          <a:xfrm>
            <a:off x="5040313" y="368617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2306" name="Rectangle 130"/>
          <p:cNvSpPr>
            <a:spLocks noChangeArrowheads="1"/>
          </p:cNvSpPr>
          <p:nvPr/>
        </p:nvSpPr>
        <p:spPr bwMode="auto">
          <a:xfrm>
            <a:off x="5116513" y="3686175"/>
            <a:ext cx="1285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t2</a:t>
            </a:r>
            <a:endParaRPr lang="en-US" altLang="en-US" sz="2400"/>
          </a:p>
        </p:txBody>
      </p:sp>
      <p:sp>
        <p:nvSpPr>
          <p:cNvPr id="562307" name="Freeform 131"/>
          <p:cNvSpPr>
            <a:spLocks/>
          </p:cNvSpPr>
          <p:nvPr/>
        </p:nvSpPr>
        <p:spPr bwMode="auto">
          <a:xfrm>
            <a:off x="4932363" y="4270375"/>
            <a:ext cx="163512" cy="165100"/>
          </a:xfrm>
          <a:custGeom>
            <a:avLst/>
            <a:gdLst>
              <a:gd name="T0" fmla="*/ 0 w 103"/>
              <a:gd name="T1" fmla="*/ 104 h 104"/>
              <a:gd name="T2" fmla="*/ 103 w 103"/>
              <a:gd name="T3" fmla="*/ 54 h 104"/>
              <a:gd name="T4" fmla="*/ 0 w 103"/>
              <a:gd name="T5" fmla="*/ 0 h 104"/>
            </a:gdLst>
            <a:ahLst/>
            <a:cxnLst>
              <a:cxn ang="0">
                <a:pos x="T0" y="T1"/>
              </a:cxn>
              <a:cxn ang="0">
                <a:pos x="T2" y="T3"/>
              </a:cxn>
              <a:cxn ang="0">
                <a:pos x="T4" y="T5"/>
              </a:cxn>
            </a:cxnLst>
            <a:rect l="0" t="0" r="r" b="b"/>
            <a:pathLst>
              <a:path w="103" h="104">
                <a:moveTo>
                  <a:pt x="0" y="104"/>
                </a:moveTo>
                <a:lnTo>
                  <a:pt x="103"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08" name="Line 132"/>
          <p:cNvSpPr>
            <a:spLocks noChangeShapeType="1"/>
          </p:cNvSpPr>
          <p:nvPr/>
        </p:nvSpPr>
        <p:spPr bwMode="auto">
          <a:xfrm>
            <a:off x="2073275" y="3957638"/>
            <a:ext cx="1087438"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09" name="Freeform 133"/>
          <p:cNvSpPr>
            <a:spLocks/>
          </p:cNvSpPr>
          <p:nvPr/>
        </p:nvSpPr>
        <p:spPr bwMode="auto">
          <a:xfrm>
            <a:off x="3130550" y="3917950"/>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10" name="Line 134"/>
          <p:cNvSpPr>
            <a:spLocks noChangeShapeType="1"/>
          </p:cNvSpPr>
          <p:nvPr/>
        </p:nvSpPr>
        <p:spPr bwMode="auto">
          <a:xfrm>
            <a:off x="3716338" y="3957638"/>
            <a:ext cx="1081087"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11" name="Freeform 135"/>
          <p:cNvSpPr>
            <a:spLocks/>
          </p:cNvSpPr>
          <p:nvPr/>
        </p:nvSpPr>
        <p:spPr bwMode="auto">
          <a:xfrm>
            <a:off x="4773613" y="3917950"/>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12" name="Rectangle 136"/>
          <p:cNvSpPr>
            <a:spLocks noChangeArrowheads="1"/>
          </p:cNvSpPr>
          <p:nvPr/>
        </p:nvSpPr>
        <p:spPr bwMode="auto">
          <a:xfrm>
            <a:off x="4962525" y="3317875"/>
            <a:ext cx="1381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2313" name="Rectangle 137"/>
          <p:cNvSpPr>
            <a:spLocks noChangeArrowheads="1"/>
          </p:cNvSpPr>
          <p:nvPr/>
        </p:nvSpPr>
        <p:spPr bwMode="auto">
          <a:xfrm>
            <a:off x="5081588" y="3317875"/>
            <a:ext cx="460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562314" name="Rectangle 138"/>
          <p:cNvSpPr>
            <a:spLocks noChangeArrowheads="1"/>
          </p:cNvSpPr>
          <p:nvPr/>
        </p:nvSpPr>
        <p:spPr bwMode="auto">
          <a:xfrm>
            <a:off x="5132388" y="3317875"/>
            <a:ext cx="1936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-2)</a:t>
            </a:r>
            <a:endParaRPr lang="en-US" altLang="en-US" sz="2400"/>
          </a:p>
        </p:txBody>
      </p:sp>
      <p:sp>
        <p:nvSpPr>
          <p:cNvPr id="562315" name="Rectangle 139"/>
          <p:cNvSpPr>
            <a:spLocks noChangeArrowheads="1"/>
          </p:cNvSpPr>
          <p:nvPr/>
        </p:nvSpPr>
        <p:spPr bwMode="auto">
          <a:xfrm>
            <a:off x="3349625" y="3317875"/>
            <a:ext cx="1381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2316" name="Rectangle 140"/>
          <p:cNvSpPr>
            <a:spLocks noChangeArrowheads="1"/>
          </p:cNvSpPr>
          <p:nvPr/>
        </p:nvSpPr>
        <p:spPr bwMode="auto">
          <a:xfrm>
            <a:off x="3468688" y="3317875"/>
            <a:ext cx="460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562317" name="Rectangle 141"/>
          <p:cNvSpPr>
            <a:spLocks noChangeArrowheads="1"/>
          </p:cNvSpPr>
          <p:nvPr/>
        </p:nvSpPr>
        <p:spPr bwMode="auto">
          <a:xfrm>
            <a:off x="3519488" y="3317875"/>
            <a:ext cx="1936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a:t>
            </a:r>
            <a:endParaRPr lang="en-US" altLang="en-US" sz="2400"/>
          </a:p>
        </p:txBody>
      </p:sp>
      <p:sp>
        <p:nvSpPr>
          <p:cNvPr id="562318" name="Rectangle 142"/>
          <p:cNvSpPr>
            <a:spLocks noChangeArrowheads="1"/>
          </p:cNvSpPr>
          <p:nvPr/>
        </p:nvSpPr>
        <p:spPr bwMode="auto">
          <a:xfrm>
            <a:off x="1771650" y="3317875"/>
            <a:ext cx="23971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x(t)</a:t>
            </a:r>
            <a:endParaRPr lang="en-US" altLang="en-US" sz="2400"/>
          </a:p>
        </p:txBody>
      </p:sp>
      <p:sp>
        <p:nvSpPr>
          <p:cNvPr id="562319" name="Rectangle 143"/>
          <p:cNvSpPr>
            <a:spLocks noChangeArrowheads="1"/>
          </p:cNvSpPr>
          <p:nvPr/>
        </p:nvSpPr>
        <p:spPr bwMode="auto">
          <a:xfrm>
            <a:off x="3303588" y="3032125"/>
            <a:ext cx="10017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3-tap FIR filter</a:t>
            </a:r>
            <a:endParaRPr lang="en-US" altLang="en-US" sz="2400"/>
          </a:p>
        </p:txBody>
      </p:sp>
      <p:sp>
        <p:nvSpPr>
          <p:cNvPr id="562322" name="Rectangle 146"/>
          <p:cNvSpPr>
            <a:spLocks noChangeArrowheads="1"/>
          </p:cNvSpPr>
          <p:nvPr/>
        </p:nvSpPr>
        <p:spPr bwMode="auto">
          <a:xfrm>
            <a:off x="744538" y="3871913"/>
            <a:ext cx="1190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62323" name="Freeform 147"/>
          <p:cNvSpPr>
            <a:spLocks/>
          </p:cNvSpPr>
          <p:nvPr/>
        </p:nvSpPr>
        <p:spPr bwMode="auto">
          <a:xfrm>
            <a:off x="6692900" y="5645150"/>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24" name="Rectangle 148"/>
          <p:cNvSpPr>
            <a:spLocks noChangeArrowheads="1"/>
          </p:cNvSpPr>
          <p:nvPr/>
        </p:nvSpPr>
        <p:spPr bwMode="auto">
          <a:xfrm>
            <a:off x="6704013" y="5437188"/>
            <a:ext cx="1190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Y</a:t>
            </a:r>
            <a:endParaRPr lang="en-US" altLang="en-US" sz="2400"/>
          </a:p>
        </p:txBody>
      </p:sp>
      <p:sp>
        <p:nvSpPr>
          <p:cNvPr id="562325" name="Rectangle 149"/>
          <p:cNvSpPr>
            <a:spLocks noChangeArrowheads="1"/>
          </p:cNvSpPr>
          <p:nvPr/>
        </p:nvSpPr>
        <p:spPr bwMode="auto">
          <a:xfrm>
            <a:off x="652463" y="4268788"/>
            <a:ext cx="2016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clk</a:t>
            </a:r>
            <a:endParaRPr lang="en-US" altLang="en-US" sz="2400"/>
          </a:p>
        </p:txBody>
      </p:sp>
      <p:sp>
        <p:nvSpPr>
          <p:cNvPr id="562326" name="Freeform 150"/>
          <p:cNvSpPr>
            <a:spLocks/>
          </p:cNvSpPr>
          <p:nvPr/>
        </p:nvSpPr>
        <p:spPr bwMode="auto">
          <a:xfrm>
            <a:off x="2852738" y="4340225"/>
            <a:ext cx="79375" cy="1587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27" name="Line 151"/>
          <p:cNvSpPr>
            <a:spLocks noChangeShapeType="1"/>
          </p:cNvSpPr>
          <p:nvPr/>
        </p:nvSpPr>
        <p:spPr bwMode="auto">
          <a:xfrm>
            <a:off x="2892425" y="3735388"/>
            <a:ext cx="1588" cy="63500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28" name="Freeform 152"/>
          <p:cNvSpPr>
            <a:spLocks/>
          </p:cNvSpPr>
          <p:nvPr/>
        </p:nvSpPr>
        <p:spPr bwMode="auto">
          <a:xfrm>
            <a:off x="2446338" y="4340225"/>
            <a:ext cx="79375" cy="1587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29" name="Line 153"/>
          <p:cNvSpPr>
            <a:spLocks noChangeShapeType="1"/>
          </p:cNvSpPr>
          <p:nvPr/>
        </p:nvSpPr>
        <p:spPr bwMode="auto">
          <a:xfrm>
            <a:off x="2486025" y="3952875"/>
            <a:ext cx="1588" cy="417513"/>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30" name="Oval 154"/>
          <p:cNvSpPr>
            <a:spLocks noChangeArrowheads="1"/>
          </p:cNvSpPr>
          <p:nvPr/>
        </p:nvSpPr>
        <p:spPr bwMode="auto">
          <a:xfrm>
            <a:off x="2446338" y="3924300"/>
            <a:ext cx="74612" cy="73025"/>
          </a:xfrm>
          <a:prstGeom prst="ellipse">
            <a:avLst/>
          </a:prstGeom>
          <a:solidFill>
            <a:srgbClr val="000000"/>
          </a:solidFill>
          <a:ln w="9525">
            <a:solidFill>
              <a:srgbClr val="000000"/>
            </a:solidFill>
            <a:miter lim="800000"/>
            <a:headEnd/>
            <a:tailEnd/>
          </a:ln>
        </p:spPr>
        <p:txBody>
          <a:bodyPr/>
          <a:lstStyle/>
          <a:p>
            <a:endParaRPr lang="en-US"/>
          </a:p>
        </p:txBody>
      </p:sp>
      <p:sp>
        <p:nvSpPr>
          <p:cNvPr id="562331" name="Oval 155"/>
          <p:cNvSpPr>
            <a:spLocks noChangeArrowheads="1"/>
          </p:cNvSpPr>
          <p:nvPr/>
        </p:nvSpPr>
        <p:spPr bwMode="auto">
          <a:xfrm>
            <a:off x="4083050" y="3924300"/>
            <a:ext cx="79375" cy="73025"/>
          </a:xfrm>
          <a:prstGeom prst="ellipse">
            <a:avLst/>
          </a:prstGeom>
          <a:solidFill>
            <a:srgbClr val="000000"/>
          </a:solidFill>
          <a:ln w="9525">
            <a:solidFill>
              <a:srgbClr val="000000"/>
            </a:solidFill>
            <a:miter lim="800000"/>
            <a:headEnd/>
            <a:tailEnd/>
          </a:ln>
        </p:spPr>
        <p:txBody>
          <a:bodyPr/>
          <a:lstStyle/>
          <a:p>
            <a:endParaRPr lang="en-US"/>
          </a:p>
        </p:txBody>
      </p:sp>
      <p:sp>
        <p:nvSpPr>
          <p:cNvPr id="562332" name="Rectangle 156"/>
          <p:cNvSpPr>
            <a:spLocks noChangeArrowheads="1"/>
          </p:cNvSpPr>
          <p:nvPr/>
        </p:nvSpPr>
        <p:spPr bwMode="auto">
          <a:xfrm>
            <a:off x="2608263" y="3433763"/>
            <a:ext cx="1555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c0</a:t>
            </a:r>
            <a:endParaRPr lang="en-US" altLang="en-US" sz="2400"/>
          </a:p>
        </p:txBody>
      </p:sp>
      <p:sp>
        <p:nvSpPr>
          <p:cNvPr id="562333" name="Rectangle 157"/>
          <p:cNvSpPr>
            <a:spLocks noChangeArrowheads="1"/>
          </p:cNvSpPr>
          <p:nvPr/>
        </p:nvSpPr>
        <p:spPr bwMode="auto">
          <a:xfrm>
            <a:off x="4254500" y="3433763"/>
            <a:ext cx="1555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c1</a:t>
            </a:r>
            <a:endParaRPr lang="en-US" altLang="en-US" sz="2400"/>
          </a:p>
        </p:txBody>
      </p:sp>
      <p:sp>
        <p:nvSpPr>
          <p:cNvPr id="562334" name="Rectangle 158"/>
          <p:cNvSpPr>
            <a:spLocks noChangeArrowheads="1"/>
          </p:cNvSpPr>
          <p:nvPr/>
        </p:nvSpPr>
        <p:spPr bwMode="auto">
          <a:xfrm>
            <a:off x="5892800" y="3433763"/>
            <a:ext cx="1555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c2</a:t>
            </a:r>
            <a:endParaRPr lang="en-US" altLang="en-US" sz="2400"/>
          </a:p>
        </p:txBody>
      </p:sp>
      <p:sp>
        <p:nvSpPr>
          <p:cNvPr id="562335" name="Rectangle 159"/>
          <p:cNvSpPr>
            <a:spLocks noChangeArrowheads="1"/>
          </p:cNvSpPr>
          <p:nvPr/>
        </p:nvSpPr>
        <p:spPr bwMode="auto">
          <a:xfrm>
            <a:off x="2644775" y="4559300"/>
            <a:ext cx="101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Symbol" panose="05050102010706020507" pitchFamily="18" charset="2"/>
              </a:rPr>
              <a:t>*</a:t>
            </a:r>
            <a:endParaRPr lang="en-US" altLang="en-US" sz="2400"/>
          </a:p>
        </p:txBody>
      </p:sp>
      <p:sp>
        <p:nvSpPr>
          <p:cNvPr id="562336" name="Freeform 160"/>
          <p:cNvSpPr>
            <a:spLocks/>
          </p:cNvSpPr>
          <p:nvPr/>
        </p:nvSpPr>
        <p:spPr bwMode="auto">
          <a:xfrm>
            <a:off x="3929063" y="3536950"/>
            <a:ext cx="163512" cy="163513"/>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37" name="Freeform 161"/>
          <p:cNvSpPr>
            <a:spLocks/>
          </p:cNvSpPr>
          <p:nvPr/>
        </p:nvSpPr>
        <p:spPr bwMode="auto">
          <a:xfrm>
            <a:off x="4489450" y="4340225"/>
            <a:ext cx="79375" cy="1587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38" name="Line 162"/>
          <p:cNvSpPr>
            <a:spLocks noChangeShapeType="1"/>
          </p:cNvSpPr>
          <p:nvPr/>
        </p:nvSpPr>
        <p:spPr bwMode="auto">
          <a:xfrm>
            <a:off x="4529138" y="3740150"/>
            <a:ext cx="1587" cy="63023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39" name="Freeform 163"/>
          <p:cNvSpPr>
            <a:spLocks/>
          </p:cNvSpPr>
          <p:nvPr/>
        </p:nvSpPr>
        <p:spPr bwMode="auto">
          <a:xfrm>
            <a:off x="4083050" y="4340225"/>
            <a:ext cx="79375" cy="1587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40" name="Line 164"/>
          <p:cNvSpPr>
            <a:spLocks noChangeShapeType="1"/>
          </p:cNvSpPr>
          <p:nvPr/>
        </p:nvSpPr>
        <p:spPr bwMode="auto">
          <a:xfrm>
            <a:off x="4122738" y="3952875"/>
            <a:ext cx="1587" cy="417513"/>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41" name="Rectangle 165"/>
          <p:cNvSpPr>
            <a:spLocks noChangeArrowheads="1"/>
          </p:cNvSpPr>
          <p:nvPr/>
        </p:nvSpPr>
        <p:spPr bwMode="auto">
          <a:xfrm>
            <a:off x="4281488" y="4559300"/>
            <a:ext cx="101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Symbol" panose="05050102010706020507" pitchFamily="18" charset="2"/>
              </a:rPr>
              <a:t>*</a:t>
            </a:r>
            <a:endParaRPr lang="en-US" altLang="en-US" sz="2400"/>
          </a:p>
        </p:txBody>
      </p:sp>
      <p:sp>
        <p:nvSpPr>
          <p:cNvPr id="562345" name="Freeform 169"/>
          <p:cNvSpPr>
            <a:spLocks/>
          </p:cNvSpPr>
          <p:nvPr/>
        </p:nvSpPr>
        <p:spPr bwMode="auto">
          <a:xfrm>
            <a:off x="5567363" y="3536950"/>
            <a:ext cx="163512" cy="163513"/>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46" name="Freeform 170"/>
          <p:cNvSpPr>
            <a:spLocks/>
          </p:cNvSpPr>
          <p:nvPr/>
        </p:nvSpPr>
        <p:spPr bwMode="auto">
          <a:xfrm>
            <a:off x="6127750" y="4340225"/>
            <a:ext cx="79375" cy="1587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47" name="Line 171"/>
          <p:cNvSpPr>
            <a:spLocks noChangeShapeType="1"/>
          </p:cNvSpPr>
          <p:nvPr/>
        </p:nvSpPr>
        <p:spPr bwMode="auto">
          <a:xfrm>
            <a:off x="6167438" y="3740150"/>
            <a:ext cx="1587" cy="630238"/>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48" name="Freeform 172"/>
          <p:cNvSpPr>
            <a:spLocks/>
          </p:cNvSpPr>
          <p:nvPr/>
        </p:nvSpPr>
        <p:spPr bwMode="auto">
          <a:xfrm>
            <a:off x="5721350" y="4340225"/>
            <a:ext cx="79375" cy="15875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49" name="Freeform 173"/>
          <p:cNvSpPr>
            <a:spLocks/>
          </p:cNvSpPr>
          <p:nvPr/>
        </p:nvSpPr>
        <p:spPr bwMode="auto">
          <a:xfrm>
            <a:off x="5353050" y="3983038"/>
            <a:ext cx="407988" cy="387350"/>
          </a:xfrm>
          <a:custGeom>
            <a:avLst/>
            <a:gdLst>
              <a:gd name="T0" fmla="*/ 257 w 257"/>
              <a:gd name="T1" fmla="*/ 244 h 244"/>
              <a:gd name="T2" fmla="*/ 257 w 257"/>
              <a:gd name="T3" fmla="*/ 0 h 244"/>
              <a:gd name="T4" fmla="*/ 0 w 257"/>
              <a:gd name="T5" fmla="*/ 0 h 244"/>
            </a:gdLst>
            <a:ahLst/>
            <a:cxnLst>
              <a:cxn ang="0">
                <a:pos x="T0" y="T1"/>
              </a:cxn>
              <a:cxn ang="0">
                <a:pos x="T2" y="T3"/>
              </a:cxn>
              <a:cxn ang="0">
                <a:pos x="T4" y="T5"/>
              </a:cxn>
            </a:cxnLst>
            <a:rect l="0" t="0" r="r" b="b"/>
            <a:pathLst>
              <a:path w="257" h="244">
                <a:moveTo>
                  <a:pt x="257" y="244"/>
                </a:moveTo>
                <a:lnTo>
                  <a:pt x="257" y="0"/>
                </a:lnTo>
                <a:lnTo>
                  <a:pt x="0" y="0"/>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50" name="Rectangle 174"/>
          <p:cNvSpPr>
            <a:spLocks noChangeArrowheads="1"/>
          </p:cNvSpPr>
          <p:nvPr/>
        </p:nvSpPr>
        <p:spPr bwMode="auto">
          <a:xfrm>
            <a:off x="5919788" y="4559300"/>
            <a:ext cx="101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Symbol" panose="05050102010706020507" pitchFamily="18" charset="2"/>
              </a:rPr>
              <a:t>*</a:t>
            </a:r>
            <a:endParaRPr lang="en-US" altLang="en-US" sz="2400"/>
          </a:p>
        </p:txBody>
      </p:sp>
      <p:sp>
        <p:nvSpPr>
          <p:cNvPr id="562351" name="Freeform 175"/>
          <p:cNvSpPr>
            <a:spLocks/>
          </p:cNvSpPr>
          <p:nvPr/>
        </p:nvSpPr>
        <p:spPr bwMode="auto">
          <a:xfrm>
            <a:off x="2292350" y="3536950"/>
            <a:ext cx="163513" cy="163513"/>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52" name="Rectangle 176"/>
          <p:cNvSpPr>
            <a:spLocks noChangeArrowheads="1"/>
          </p:cNvSpPr>
          <p:nvPr/>
        </p:nvSpPr>
        <p:spPr bwMode="auto">
          <a:xfrm>
            <a:off x="1652588" y="3532188"/>
            <a:ext cx="425450" cy="9620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53" name="Rectangle 177"/>
          <p:cNvSpPr>
            <a:spLocks noChangeArrowheads="1"/>
          </p:cNvSpPr>
          <p:nvPr/>
        </p:nvSpPr>
        <p:spPr bwMode="auto">
          <a:xfrm>
            <a:off x="3294063" y="3532188"/>
            <a:ext cx="427037" cy="9620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54" name="Freeform 178"/>
          <p:cNvSpPr>
            <a:spLocks/>
          </p:cNvSpPr>
          <p:nvPr/>
        </p:nvSpPr>
        <p:spPr bwMode="auto">
          <a:xfrm>
            <a:off x="2287588" y="4498975"/>
            <a:ext cx="812800" cy="427038"/>
          </a:xfrm>
          <a:custGeom>
            <a:avLst/>
            <a:gdLst>
              <a:gd name="T0" fmla="*/ 512 w 512"/>
              <a:gd name="T1" fmla="*/ 0 h 269"/>
              <a:gd name="T2" fmla="*/ 387 w 512"/>
              <a:gd name="T3" fmla="*/ 269 h 269"/>
              <a:gd name="T4" fmla="*/ 131 w 512"/>
              <a:gd name="T5" fmla="*/ 269 h 269"/>
              <a:gd name="T6" fmla="*/ 0 w 512"/>
              <a:gd name="T7" fmla="*/ 0 h 269"/>
              <a:gd name="T8" fmla="*/ 512 w 512"/>
              <a:gd name="T9" fmla="*/ 0 h 269"/>
            </a:gdLst>
            <a:ahLst/>
            <a:cxnLst>
              <a:cxn ang="0">
                <a:pos x="T0" y="T1"/>
              </a:cxn>
              <a:cxn ang="0">
                <a:pos x="T2" y="T3"/>
              </a:cxn>
              <a:cxn ang="0">
                <a:pos x="T4" y="T5"/>
              </a:cxn>
              <a:cxn ang="0">
                <a:pos x="T6" y="T7"/>
              </a:cxn>
              <a:cxn ang="0">
                <a:pos x="T8" y="T9"/>
              </a:cxn>
            </a:cxnLst>
            <a:rect l="0" t="0" r="r" b="b"/>
            <a:pathLst>
              <a:path w="512" h="269">
                <a:moveTo>
                  <a:pt x="512" y="0"/>
                </a:moveTo>
                <a:lnTo>
                  <a:pt x="387" y="269"/>
                </a:lnTo>
                <a:lnTo>
                  <a:pt x="131" y="269"/>
                </a:lnTo>
                <a:lnTo>
                  <a:pt x="0" y="0"/>
                </a:lnTo>
                <a:lnTo>
                  <a:pt x="512"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55" name="Rectangle 179"/>
          <p:cNvSpPr>
            <a:spLocks noChangeArrowheads="1"/>
          </p:cNvSpPr>
          <p:nvPr/>
        </p:nvSpPr>
        <p:spPr bwMode="auto">
          <a:xfrm>
            <a:off x="4932363" y="3532188"/>
            <a:ext cx="425450" cy="9620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56" name="Rectangle 180"/>
          <p:cNvSpPr>
            <a:spLocks noChangeArrowheads="1"/>
          </p:cNvSpPr>
          <p:nvPr/>
        </p:nvSpPr>
        <p:spPr bwMode="auto">
          <a:xfrm>
            <a:off x="3924300" y="3308350"/>
            <a:ext cx="814388" cy="427038"/>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57" name="Rectangle 181"/>
          <p:cNvSpPr>
            <a:spLocks noChangeArrowheads="1"/>
          </p:cNvSpPr>
          <p:nvPr/>
        </p:nvSpPr>
        <p:spPr bwMode="auto">
          <a:xfrm>
            <a:off x="2287588" y="3308350"/>
            <a:ext cx="812800" cy="427038"/>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58" name="Rectangle 182"/>
          <p:cNvSpPr>
            <a:spLocks noChangeArrowheads="1"/>
          </p:cNvSpPr>
          <p:nvPr/>
        </p:nvSpPr>
        <p:spPr bwMode="auto">
          <a:xfrm>
            <a:off x="5562600" y="3308350"/>
            <a:ext cx="812800" cy="427038"/>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64" name="Freeform 188"/>
          <p:cNvSpPr>
            <a:spLocks/>
          </p:cNvSpPr>
          <p:nvPr/>
        </p:nvSpPr>
        <p:spPr bwMode="auto">
          <a:xfrm>
            <a:off x="3929063" y="4503738"/>
            <a:ext cx="814387" cy="427037"/>
          </a:xfrm>
          <a:custGeom>
            <a:avLst/>
            <a:gdLst>
              <a:gd name="T0" fmla="*/ 513 w 513"/>
              <a:gd name="T1" fmla="*/ 0 h 269"/>
              <a:gd name="T2" fmla="*/ 388 w 513"/>
              <a:gd name="T3" fmla="*/ 269 h 269"/>
              <a:gd name="T4" fmla="*/ 132 w 513"/>
              <a:gd name="T5" fmla="*/ 269 h 269"/>
              <a:gd name="T6" fmla="*/ 0 w 513"/>
              <a:gd name="T7" fmla="*/ 0 h 269"/>
              <a:gd name="T8" fmla="*/ 513 w 513"/>
              <a:gd name="T9" fmla="*/ 0 h 269"/>
            </a:gdLst>
            <a:ahLst/>
            <a:cxnLst>
              <a:cxn ang="0">
                <a:pos x="T0" y="T1"/>
              </a:cxn>
              <a:cxn ang="0">
                <a:pos x="T2" y="T3"/>
              </a:cxn>
              <a:cxn ang="0">
                <a:pos x="T4" y="T5"/>
              </a:cxn>
              <a:cxn ang="0">
                <a:pos x="T6" y="T7"/>
              </a:cxn>
              <a:cxn ang="0">
                <a:pos x="T8" y="T9"/>
              </a:cxn>
            </a:cxnLst>
            <a:rect l="0" t="0" r="r" b="b"/>
            <a:pathLst>
              <a:path w="513" h="269">
                <a:moveTo>
                  <a:pt x="513" y="0"/>
                </a:moveTo>
                <a:lnTo>
                  <a:pt x="388" y="269"/>
                </a:lnTo>
                <a:lnTo>
                  <a:pt x="132" y="269"/>
                </a:lnTo>
                <a:lnTo>
                  <a:pt x="0" y="0"/>
                </a:lnTo>
                <a:lnTo>
                  <a:pt x="513"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65" name="Freeform 189"/>
          <p:cNvSpPr>
            <a:spLocks/>
          </p:cNvSpPr>
          <p:nvPr/>
        </p:nvSpPr>
        <p:spPr bwMode="auto">
          <a:xfrm>
            <a:off x="5562600" y="4498975"/>
            <a:ext cx="812800" cy="427038"/>
          </a:xfrm>
          <a:custGeom>
            <a:avLst/>
            <a:gdLst>
              <a:gd name="T0" fmla="*/ 512 w 512"/>
              <a:gd name="T1" fmla="*/ 0 h 269"/>
              <a:gd name="T2" fmla="*/ 387 w 512"/>
              <a:gd name="T3" fmla="*/ 269 h 269"/>
              <a:gd name="T4" fmla="*/ 131 w 512"/>
              <a:gd name="T5" fmla="*/ 269 h 269"/>
              <a:gd name="T6" fmla="*/ 0 w 512"/>
              <a:gd name="T7" fmla="*/ 0 h 269"/>
              <a:gd name="T8" fmla="*/ 512 w 512"/>
              <a:gd name="T9" fmla="*/ 0 h 269"/>
            </a:gdLst>
            <a:ahLst/>
            <a:cxnLst>
              <a:cxn ang="0">
                <a:pos x="T0" y="T1"/>
              </a:cxn>
              <a:cxn ang="0">
                <a:pos x="T2" y="T3"/>
              </a:cxn>
              <a:cxn ang="0">
                <a:pos x="T4" y="T5"/>
              </a:cxn>
              <a:cxn ang="0">
                <a:pos x="T6" y="T7"/>
              </a:cxn>
              <a:cxn ang="0">
                <a:pos x="T8" y="T9"/>
              </a:cxn>
            </a:cxnLst>
            <a:rect l="0" t="0" r="r" b="b"/>
            <a:pathLst>
              <a:path w="512" h="269">
                <a:moveTo>
                  <a:pt x="512" y="0"/>
                </a:moveTo>
                <a:lnTo>
                  <a:pt x="387" y="269"/>
                </a:lnTo>
                <a:lnTo>
                  <a:pt x="131" y="269"/>
                </a:lnTo>
                <a:lnTo>
                  <a:pt x="0" y="0"/>
                </a:lnTo>
                <a:lnTo>
                  <a:pt x="512"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62367" name="Group 191"/>
          <p:cNvGrpSpPr>
            <a:grpSpLocks/>
          </p:cNvGrpSpPr>
          <p:nvPr/>
        </p:nvGrpSpPr>
        <p:grpSpPr bwMode="auto">
          <a:xfrm>
            <a:off x="2693988" y="4930775"/>
            <a:ext cx="4043362" cy="754063"/>
            <a:chOff x="1697" y="3106"/>
            <a:chExt cx="2547" cy="475"/>
          </a:xfrm>
        </p:grpSpPr>
        <p:sp>
          <p:nvSpPr>
            <p:cNvPr id="562342" name="Freeform 166"/>
            <p:cNvSpPr>
              <a:spLocks/>
            </p:cNvSpPr>
            <p:nvPr/>
          </p:nvSpPr>
          <p:spPr bwMode="auto">
            <a:xfrm>
              <a:off x="1697" y="3106"/>
              <a:ext cx="378" cy="128"/>
            </a:xfrm>
            <a:custGeom>
              <a:avLst/>
              <a:gdLst>
                <a:gd name="T0" fmla="*/ 0 w 378"/>
                <a:gd name="T1" fmla="*/ 0 h 128"/>
                <a:gd name="T2" fmla="*/ 0 w 378"/>
                <a:gd name="T3" fmla="*/ 69 h 128"/>
                <a:gd name="T4" fmla="*/ 378 w 378"/>
                <a:gd name="T5" fmla="*/ 69 h 128"/>
                <a:gd name="T6" fmla="*/ 378 w 378"/>
                <a:gd name="T7" fmla="*/ 128 h 128"/>
              </a:gdLst>
              <a:ahLst/>
              <a:cxnLst>
                <a:cxn ang="0">
                  <a:pos x="T0" y="T1"/>
                </a:cxn>
                <a:cxn ang="0">
                  <a:pos x="T2" y="T3"/>
                </a:cxn>
                <a:cxn ang="0">
                  <a:pos x="T4" y="T5"/>
                </a:cxn>
                <a:cxn ang="0">
                  <a:pos x="T6" y="T7"/>
                </a:cxn>
              </a:cxnLst>
              <a:rect l="0" t="0" r="r" b="b"/>
              <a:pathLst>
                <a:path w="378" h="128">
                  <a:moveTo>
                    <a:pt x="0" y="0"/>
                  </a:moveTo>
                  <a:lnTo>
                    <a:pt x="0" y="69"/>
                  </a:lnTo>
                  <a:lnTo>
                    <a:pt x="378" y="69"/>
                  </a:lnTo>
                  <a:lnTo>
                    <a:pt x="378" y="128"/>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43" name="Freeform 167"/>
            <p:cNvSpPr>
              <a:spLocks/>
            </p:cNvSpPr>
            <p:nvPr/>
          </p:nvSpPr>
          <p:spPr bwMode="auto">
            <a:xfrm>
              <a:off x="2341" y="3106"/>
              <a:ext cx="391" cy="128"/>
            </a:xfrm>
            <a:custGeom>
              <a:avLst/>
              <a:gdLst>
                <a:gd name="T0" fmla="*/ 391 w 391"/>
                <a:gd name="T1" fmla="*/ 0 h 128"/>
                <a:gd name="T2" fmla="*/ 391 w 391"/>
                <a:gd name="T3" fmla="*/ 69 h 128"/>
                <a:gd name="T4" fmla="*/ 0 w 391"/>
                <a:gd name="T5" fmla="*/ 69 h 128"/>
                <a:gd name="T6" fmla="*/ 0 w 391"/>
                <a:gd name="T7" fmla="*/ 128 h 128"/>
              </a:gdLst>
              <a:ahLst/>
              <a:cxnLst>
                <a:cxn ang="0">
                  <a:pos x="T0" y="T1"/>
                </a:cxn>
                <a:cxn ang="0">
                  <a:pos x="T2" y="T3"/>
                </a:cxn>
                <a:cxn ang="0">
                  <a:pos x="T4" y="T5"/>
                </a:cxn>
                <a:cxn ang="0">
                  <a:pos x="T6" y="T7"/>
                </a:cxn>
              </a:cxnLst>
              <a:rect l="0" t="0" r="r" b="b"/>
              <a:pathLst>
                <a:path w="391" h="128">
                  <a:moveTo>
                    <a:pt x="391" y="0"/>
                  </a:moveTo>
                  <a:lnTo>
                    <a:pt x="391" y="69"/>
                  </a:lnTo>
                  <a:lnTo>
                    <a:pt x="0" y="69"/>
                  </a:lnTo>
                  <a:lnTo>
                    <a:pt x="0" y="128"/>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44" name="Rectangle 168"/>
            <p:cNvSpPr>
              <a:spLocks noChangeArrowheads="1"/>
            </p:cNvSpPr>
            <p:nvPr/>
          </p:nvSpPr>
          <p:spPr bwMode="auto">
            <a:xfrm>
              <a:off x="2179" y="3284"/>
              <a:ext cx="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2400"/>
            </a:p>
          </p:txBody>
        </p:sp>
        <p:sp>
          <p:nvSpPr>
            <p:cNvPr id="562359" name="Freeform 183"/>
            <p:cNvSpPr>
              <a:spLocks/>
            </p:cNvSpPr>
            <p:nvPr/>
          </p:nvSpPr>
          <p:spPr bwMode="auto">
            <a:xfrm>
              <a:off x="3244" y="3506"/>
              <a:ext cx="1000" cy="75"/>
            </a:xfrm>
            <a:custGeom>
              <a:avLst/>
              <a:gdLst>
                <a:gd name="T0" fmla="*/ 0 w 1000"/>
                <a:gd name="T1" fmla="*/ 0 h 75"/>
                <a:gd name="T2" fmla="*/ 0 w 1000"/>
                <a:gd name="T3" fmla="*/ 75 h 75"/>
                <a:gd name="T4" fmla="*/ 1000 w 1000"/>
                <a:gd name="T5" fmla="*/ 75 h 75"/>
              </a:gdLst>
              <a:ahLst/>
              <a:cxnLst>
                <a:cxn ang="0">
                  <a:pos x="T0" y="T1"/>
                </a:cxn>
                <a:cxn ang="0">
                  <a:pos x="T2" y="T3"/>
                </a:cxn>
                <a:cxn ang="0">
                  <a:pos x="T4" y="T5"/>
                </a:cxn>
              </a:cxnLst>
              <a:rect l="0" t="0" r="r" b="b"/>
              <a:pathLst>
                <a:path w="1000" h="75">
                  <a:moveTo>
                    <a:pt x="0" y="0"/>
                  </a:moveTo>
                  <a:lnTo>
                    <a:pt x="0" y="75"/>
                  </a:lnTo>
                  <a:lnTo>
                    <a:pt x="1000" y="75"/>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60" name="Freeform 184"/>
            <p:cNvSpPr>
              <a:spLocks/>
            </p:cNvSpPr>
            <p:nvPr/>
          </p:nvSpPr>
          <p:spPr bwMode="auto">
            <a:xfrm>
              <a:off x="2216" y="3175"/>
              <a:ext cx="884" cy="406"/>
            </a:xfrm>
            <a:custGeom>
              <a:avLst/>
              <a:gdLst>
                <a:gd name="T0" fmla="*/ 884 w 884"/>
                <a:gd name="T1" fmla="*/ 59 h 406"/>
                <a:gd name="T2" fmla="*/ 884 w 884"/>
                <a:gd name="T3" fmla="*/ 0 h 406"/>
                <a:gd name="T4" fmla="*/ 641 w 884"/>
                <a:gd name="T5" fmla="*/ 0 h 406"/>
                <a:gd name="T6" fmla="*/ 641 w 884"/>
                <a:gd name="T7" fmla="*/ 406 h 406"/>
                <a:gd name="T8" fmla="*/ 0 w 884"/>
                <a:gd name="T9" fmla="*/ 406 h 406"/>
                <a:gd name="T10" fmla="*/ 0 w 884"/>
                <a:gd name="T11" fmla="*/ 331 h 406"/>
              </a:gdLst>
              <a:ahLst/>
              <a:cxnLst>
                <a:cxn ang="0">
                  <a:pos x="T0" y="T1"/>
                </a:cxn>
                <a:cxn ang="0">
                  <a:pos x="T2" y="T3"/>
                </a:cxn>
                <a:cxn ang="0">
                  <a:pos x="T4" y="T5"/>
                </a:cxn>
                <a:cxn ang="0">
                  <a:pos x="T6" y="T7"/>
                </a:cxn>
                <a:cxn ang="0">
                  <a:pos x="T8" y="T9"/>
                </a:cxn>
                <a:cxn ang="0">
                  <a:pos x="T10" y="T11"/>
                </a:cxn>
              </a:cxnLst>
              <a:rect l="0" t="0" r="r" b="b"/>
              <a:pathLst>
                <a:path w="884" h="406">
                  <a:moveTo>
                    <a:pt x="884" y="59"/>
                  </a:moveTo>
                  <a:lnTo>
                    <a:pt x="884" y="0"/>
                  </a:lnTo>
                  <a:lnTo>
                    <a:pt x="641" y="0"/>
                  </a:lnTo>
                  <a:lnTo>
                    <a:pt x="641" y="406"/>
                  </a:lnTo>
                  <a:lnTo>
                    <a:pt x="0" y="406"/>
                  </a:lnTo>
                  <a:lnTo>
                    <a:pt x="0" y="331"/>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61" name="Freeform 185"/>
            <p:cNvSpPr>
              <a:spLocks/>
            </p:cNvSpPr>
            <p:nvPr/>
          </p:nvSpPr>
          <p:spPr bwMode="auto">
            <a:xfrm>
              <a:off x="3369" y="3106"/>
              <a:ext cx="391" cy="128"/>
            </a:xfrm>
            <a:custGeom>
              <a:avLst/>
              <a:gdLst>
                <a:gd name="T0" fmla="*/ 391 w 391"/>
                <a:gd name="T1" fmla="*/ 0 h 128"/>
                <a:gd name="T2" fmla="*/ 391 w 391"/>
                <a:gd name="T3" fmla="*/ 69 h 128"/>
                <a:gd name="T4" fmla="*/ 0 w 391"/>
                <a:gd name="T5" fmla="*/ 69 h 128"/>
                <a:gd name="T6" fmla="*/ 0 w 391"/>
                <a:gd name="T7" fmla="*/ 128 h 128"/>
              </a:gdLst>
              <a:ahLst/>
              <a:cxnLst>
                <a:cxn ang="0">
                  <a:pos x="T0" y="T1"/>
                </a:cxn>
                <a:cxn ang="0">
                  <a:pos x="T2" y="T3"/>
                </a:cxn>
                <a:cxn ang="0">
                  <a:pos x="T4" y="T5"/>
                </a:cxn>
                <a:cxn ang="0">
                  <a:pos x="T6" y="T7"/>
                </a:cxn>
              </a:cxnLst>
              <a:rect l="0" t="0" r="r" b="b"/>
              <a:pathLst>
                <a:path w="391" h="128">
                  <a:moveTo>
                    <a:pt x="391" y="0"/>
                  </a:moveTo>
                  <a:lnTo>
                    <a:pt x="391" y="69"/>
                  </a:lnTo>
                  <a:lnTo>
                    <a:pt x="0" y="69"/>
                  </a:lnTo>
                  <a:lnTo>
                    <a:pt x="0" y="128"/>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62" name="Rectangle 186"/>
            <p:cNvSpPr>
              <a:spLocks noChangeArrowheads="1"/>
            </p:cNvSpPr>
            <p:nvPr/>
          </p:nvSpPr>
          <p:spPr bwMode="auto">
            <a:xfrm>
              <a:off x="3206" y="3284"/>
              <a:ext cx="7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2400"/>
            </a:p>
          </p:txBody>
        </p:sp>
        <p:sp>
          <p:nvSpPr>
            <p:cNvPr id="562363" name="Freeform 187"/>
            <p:cNvSpPr>
              <a:spLocks/>
            </p:cNvSpPr>
            <p:nvPr/>
          </p:nvSpPr>
          <p:spPr bwMode="auto">
            <a:xfrm>
              <a:off x="2988" y="3234"/>
              <a:ext cx="512" cy="269"/>
            </a:xfrm>
            <a:custGeom>
              <a:avLst/>
              <a:gdLst>
                <a:gd name="T0" fmla="*/ 512 w 512"/>
                <a:gd name="T1" fmla="*/ 0 h 269"/>
                <a:gd name="T2" fmla="*/ 387 w 512"/>
                <a:gd name="T3" fmla="*/ 269 h 269"/>
                <a:gd name="T4" fmla="*/ 131 w 512"/>
                <a:gd name="T5" fmla="*/ 269 h 269"/>
                <a:gd name="T6" fmla="*/ 0 w 512"/>
                <a:gd name="T7" fmla="*/ 0 h 269"/>
                <a:gd name="T8" fmla="*/ 512 w 512"/>
                <a:gd name="T9" fmla="*/ 0 h 269"/>
              </a:gdLst>
              <a:ahLst/>
              <a:cxnLst>
                <a:cxn ang="0">
                  <a:pos x="T0" y="T1"/>
                </a:cxn>
                <a:cxn ang="0">
                  <a:pos x="T2" y="T3"/>
                </a:cxn>
                <a:cxn ang="0">
                  <a:pos x="T4" y="T5"/>
                </a:cxn>
                <a:cxn ang="0">
                  <a:pos x="T6" y="T7"/>
                </a:cxn>
                <a:cxn ang="0">
                  <a:pos x="T8" y="T9"/>
                </a:cxn>
              </a:cxnLst>
              <a:rect l="0" t="0" r="r" b="b"/>
              <a:pathLst>
                <a:path w="512" h="269">
                  <a:moveTo>
                    <a:pt x="512" y="0"/>
                  </a:moveTo>
                  <a:lnTo>
                    <a:pt x="387" y="269"/>
                  </a:lnTo>
                  <a:lnTo>
                    <a:pt x="131" y="269"/>
                  </a:lnTo>
                  <a:lnTo>
                    <a:pt x="0" y="0"/>
                  </a:lnTo>
                  <a:lnTo>
                    <a:pt x="512"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66" name="Freeform 190"/>
            <p:cNvSpPr>
              <a:spLocks/>
            </p:cNvSpPr>
            <p:nvPr/>
          </p:nvSpPr>
          <p:spPr bwMode="auto">
            <a:xfrm>
              <a:off x="1960" y="3234"/>
              <a:ext cx="512" cy="269"/>
            </a:xfrm>
            <a:custGeom>
              <a:avLst/>
              <a:gdLst>
                <a:gd name="T0" fmla="*/ 512 w 512"/>
                <a:gd name="T1" fmla="*/ 0 h 269"/>
                <a:gd name="T2" fmla="*/ 387 w 512"/>
                <a:gd name="T3" fmla="*/ 269 h 269"/>
                <a:gd name="T4" fmla="*/ 131 w 512"/>
                <a:gd name="T5" fmla="*/ 269 h 269"/>
                <a:gd name="T6" fmla="*/ 0 w 512"/>
                <a:gd name="T7" fmla="*/ 0 h 269"/>
                <a:gd name="T8" fmla="*/ 512 w 512"/>
                <a:gd name="T9" fmla="*/ 0 h 269"/>
              </a:gdLst>
              <a:ahLst/>
              <a:cxnLst>
                <a:cxn ang="0">
                  <a:pos x="T0" y="T1"/>
                </a:cxn>
                <a:cxn ang="0">
                  <a:pos x="T2" y="T3"/>
                </a:cxn>
                <a:cxn ang="0">
                  <a:pos x="T4" y="T5"/>
                </a:cxn>
                <a:cxn ang="0">
                  <a:pos x="T6" y="T7"/>
                </a:cxn>
                <a:cxn ang="0">
                  <a:pos x="T8" y="T9"/>
                </a:cxn>
              </a:cxnLst>
              <a:rect l="0" t="0" r="r" b="b"/>
              <a:pathLst>
                <a:path w="512" h="269">
                  <a:moveTo>
                    <a:pt x="512" y="0"/>
                  </a:moveTo>
                  <a:lnTo>
                    <a:pt x="387" y="269"/>
                  </a:lnTo>
                  <a:lnTo>
                    <a:pt x="131" y="269"/>
                  </a:lnTo>
                  <a:lnTo>
                    <a:pt x="0" y="0"/>
                  </a:lnTo>
                  <a:lnTo>
                    <a:pt x="512"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62368" name="Group 192"/>
          <p:cNvGrpSpPr>
            <a:grpSpLocks/>
          </p:cNvGrpSpPr>
          <p:nvPr/>
        </p:nvGrpSpPr>
        <p:grpSpPr bwMode="auto">
          <a:xfrm>
            <a:off x="5349875" y="1260475"/>
            <a:ext cx="3054350" cy="1004888"/>
            <a:chOff x="3370" y="794"/>
            <a:chExt cx="1924" cy="633"/>
          </a:xfrm>
        </p:grpSpPr>
        <p:sp>
          <p:nvSpPr>
            <p:cNvPr id="562369" name="Line 193"/>
            <p:cNvSpPr>
              <a:spLocks noChangeShapeType="1"/>
            </p:cNvSpPr>
            <p:nvPr/>
          </p:nvSpPr>
          <p:spPr bwMode="auto">
            <a:xfrm>
              <a:off x="3501" y="961"/>
              <a:ext cx="27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70" name="Freeform 194"/>
            <p:cNvSpPr>
              <a:spLocks/>
            </p:cNvSpPr>
            <p:nvPr/>
          </p:nvSpPr>
          <p:spPr bwMode="auto">
            <a:xfrm>
              <a:off x="3761" y="933"/>
              <a:ext cx="99"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71" name="Line 195"/>
            <p:cNvSpPr>
              <a:spLocks noChangeShapeType="1"/>
            </p:cNvSpPr>
            <p:nvPr/>
          </p:nvSpPr>
          <p:spPr bwMode="auto">
            <a:xfrm>
              <a:off x="3501" y="1272"/>
              <a:ext cx="278"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72" name="Freeform 196"/>
            <p:cNvSpPr>
              <a:spLocks/>
            </p:cNvSpPr>
            <p:nvPr/>
          </p:nvSpPr>
          <p:spPr bwMode="auto">
            <a:xfrm>
              <a:off x="3761" y="1244"/>
              <a:ext cx="99" cy="6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73" name="Freeform 197"/>
            <p:cNvSpPr>
              <a:spLocks/>
            </p:cNvSpPr>
            <p:nvPr/>
          </p:nvSpPr>
          <p:spPr bwMode="auto">
            <a:xfrm>
              <a:off x="3866" y="1199"/>
              <a:ext cx="103" cy="136"/>
            </a:xfrm>
            <a:custGeom>
              <a:avLst/>
              <a:gdLst>
                <a:gd name="T0" fmla="*/ 0 w 103"/>
                <a:gd name="T1" fmla="*/ 107 h 107"/>
                <a:gd name="T2" fmla="*/ 103 w 103"/>
                <a:gd name="T3" fmla="*/ 54 h 107"/>
                <a:gd name="T4" fmla="*/ 0 w 103"/>
                <a:gd name="T5" fmla="*/ 0 h 107"/>
              </a:gdLst>
              <a:ahLst/>
              <a:cxnLst>
                <a:cxn ang="0">
                  <a:pos x="T0" y="T1"/>
                </a:cxn>
                <a:cxn ang="0">
                  <a:pos x="T2" y="T3"/>
                </a:cxn>
                <a:cxn ang="0">
                  <a:pos x="T4" y="T5"/>
                </a:cxn>
              </a:cxnLst>
              <a:rect l="0" t="0" r="r" b="b"/>
              <a:pathLst>
                <a:path w="103" h="107">
                  <a:moveTo>
                    <a:pt x="0" y="107"/>
                  </a:moveTo>
                  <a:lnTo>
                    <a:pt x="103" y="54"/>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2374" name="Freeform 198"/>
            <p:cNvSpPr>
              <a:spLocks/>
            </p:cNvSpPr>
            <p:nvPr/>
          </p:nvSpPr>
          <p:spPr bwMode="auto">
            <a:xfrm>
              <a:off x="3601" y="909"/>
              <a:ext cx="85" cy="104"/>
            </a:xfrm>
            <a:custGeom>
              <a:avLst/>
              <a:gdLst>
                <a:gd name="T0" fmla="*/ 85 w 85"/>
                <a:gd name="T1" fmla="*/ 0 h 82"/>
                <a:gd name="T2" fmla="*/ 0 w 85"/>
                <a:gd name="T3" fmla="*/ 82 h 82"/>
                <a:gd name="T4" fmla="*/ 85 w 85"/>
                <a:gd name="T5" fmla="*/ 0 h 82"/>
              </a:gdLst>
              <a:ahLst/>
              <a:cxnLst>
                <a:cxn ang="0">
                  <a:pos x="T0" y="T1"/>
                </a:cxn>
                <a:cxn ang="0">
                  <a:pos x="T2" y="T3"/>
                </a:cxn>
                <a:cxn ang="0">
                  <a:pos x="T4" y="T5"/>
                </a:cxn>
              </a:cxnLst>
              <a:rect l="0" t="0" r="r" b="b"/>
              <a:pathLst>
                <a:path w="85" h="82">
                  <a:moveTo>
                    <a:pt x="85" y="0"/>
                  </a:moveTo>
                  <a:lnTo>
                    <a:pt x="0" y="82"/>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75" name="Line 199"/>
            <p:cNvSpPr>
              <a:spLocks noChangeShapeType="1"/>
            </p:cNvSpPr>
            <p:nvPr/>
          </p:nvSpPr>
          <p:spPr bwMode="auto">
            <a:xfrm flipH="1">
              <a:off x="3601" y="909"/>
              <a:ext cx="85" cy="10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76" name="Line 200"/>
            <p:cNvSpPr>
              <a:spLocks noChangeShapeType="1"/>
            </p:cNvSpPr>
            <p:nvPr/>
          </p:nvSpPr>
          <p:spPr bwMode="auto">
            <a:xfrm>
              <a:off x="4853" y="961"/>
              <a:ext cx="27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77" name="Freeform 201"/>
            <p:cNvSpPr>
              <a:spLocks/>
            </p:cNvSpPr>
            <p:nvPr/>
          </p:nvSpPr>
          <p:spPr bwMode="auto">
            <a:xfrm>
              <a:off x="5112" y="933"/>
              <a:ext cx="100"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78" name="Freeform 202"/>
            <p:cNvSpPr>
              <a:spLocks/>
            </p:cNvSpPr>
            <p:nvPr/>
          </p:nvSpPr>
          <p:spPr bwMode="auto">
            <a:xfrm>
              <a:off x="4953" y="909"/>
              <a:ext cx="84" cy="104"/>
            </a:xfrm>
            <a:custGeom>
              <a:avLst/>
              <a:gdLst>
                <a:gd name="T0" fmla="*/ 84 w 84"/>
                <a:gd name="T1" fmla="*/ 0 h 82"/>
                <a:gd name="T2" fmla="*/ 0 w 84"/>
                <a:gd name="T3" fmla="*/ 82 h 82"/>
                <a:gd name="T4" fmla="*/ 84 w 84"/>
                <a:gd name="T5" fmla="*/ 0 h 82"/>
              </a:gdLst>
              <a:ahLst/>
              <a:cxnLst>
                <a:cxn ang="0">
                  <a:pos x="T0" y="T1"/>
                </a:cxn>
                <a:cxn ang="0">
                  <a:pos x="T2" y="T3"/>
                </a:cxn>
                <a:cxn ang="0">
                  <a:pos x="T4" y="T5"/>
                </a:cxn>
              </a:cxnLst>
              <a:rect l="0" t="0" r="r" b="b"/>
              <a:pathLst>
                <a:path w="84" h="82">
                  <a:moveTo>
                    <a:pt x="84" y="0"/>
                  </a:moveTo>
                  <a:lnTo>
                    <a:pt x="0" y="82"/>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2379" name="Line 203"/>
            <p:cNvSpPr>
              <a:spLocks noChangeShapeType="1"/>
            </p:cNvSpPr>
            <p:nvPr/>
          </p:nvSpPr>
          <p:spPr bwMode="auto">
            <a:xfrm flipH="1">
              <a:off x="4953" y="909"/>
              <a:ext cx="84" cy="10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2380" name="Rectangle 204"/>
            <p:cNvSpPr>
              <a:spLocks noChangeArrowheads="1"/>
            </p:cNvSpPr>
            <p:nvPr/>
          </p:nvSpPr>
          <p:spPr bwMode="auto">
            <a:xfrm>
              <a:off x="4909" y="1026"/>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62381" name="Rectangle 205"/>
            <p:cNvSpPr>
              <a:spLocks noChangeArrowheads="1"/>
            </p:cNvSpPr>
            <p:nvPr/>
          </p:nvSpPr>
          <p:spPr bwMode="auto">
            <a:xfrm>
              <a:off x="3589" y="1026"/>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62382" name="Rectangle 206"/>
            <p:cNvSpPr>
              <a:spLocks noChangeArrowheads="1"/>
            </p:cNvSpPr>
            <p:nvPr/>
          </p:nvSpPr>
          <p:spPr bwMode="auto">
            <a:xfrm>
              <a:off x="5230" y="883"/>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Y</a:t>
              </a:r>
              <a:endParaRPr lang="en-US" altLang="en-US"/>
            </a:p>
          </p:txBody>
        </p:sp>
        <p:sp>
          <p:nvSpPr>
            <p:cNvPr id="562383" name="Rectangle 207"/>
            <p:cNvSpPr>
              <a:spLocks noChangeArrowheads="1"/>
            </p:cNvSpPr>
            <p:nvPr/>
          </p:nvSpPr>
          <p:spPr bwMode="auto">
            <a:xfrm>
              <a:off x="3370" y="1194"/>
              <a:ext cx="11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clk</a:t>
              </a:r>
              <a:endParaRPr lang="en-US" altLang="en-US"/>
            </a:p>
          </p:txBody>
        </p:sp>
        <p:sp>
          <p:nvSpPr>
            <p:cNvPr id="562384" name="Rectangle 208"/>
            <p:cNvSpPr>
              <a:spLocks noChangeArrowheads="1"/>
            </p:cNvSpPr>
            <p:nvPr/>
          </p:nvSpPr>
          <p:spPr bwMode="auto">
            <a:xfrm>
              <a:off x="3428" y="886"/>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a:t>
              </a:r>
              <a:endParaRPr lang="en-US" altLang="en-US"/>
            </a:p>
          </p:txBody>
        </p:sp>
        <p:sp>
          <p:nvSpPr>
            <p:cNvPr id="562385" name="Rectangle 209"/>
            <p:cNvSpPr>
              <a:spLocks noChangeArrowheads="1"/>
            </p:cNvSpPr>
            <p:nvPr/>
          </p:nvSpPr>
          <p:spPr bwMode="auto">
            <a:xfrm>
              <a:off x="4121" y="1033"/>
              <a:ext cx="45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digital filter</a:t>
              </a:r>
              <a:endParaRPr lang="en-US" altLang="en-US"/>
            </a:p>
          </p:txBody>
        </p:sp>
        <p:sp>
          <p:nvSpPr>
            <p:cNvPr id="562386" name="Rectangle 210"/>
            <p:cNvSpPr>
              <a:spLocks noChangeArrowheads="1"/>
            </p:cNvSpPr>
            <p:nvPr/>
          </p:nvSpPr>
          <p:spPr bwMode="auto">
            <a:xfrm>
              <a:off x="3869" y="794"/>
              <a:ext cx="984" cy="63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562367"/>
                                        </p:tgtEl>
                                        <p:attrNameLst>
                                          <p:attrName>style.visibility</p:attrName>
                                        </p:attrNameLst>
                                      </p:cBhvr>
                                      <p:to>
                                        <p:strVal val="visible"/>
                                      </p:to>
                                    </p:set>
                                    <p:anim calcmode="lin" valueType="num">
                                      <p:cBhvr additive="base">
                                        <p:cTn id="7" dur="500" fill="hold"/>
                                        <p:tgtEl>
                                          <p:spTgt spid="562367"/>
                                        </p:tgtEl>
                                        <p:attrNameLst>
                                          <p:attrName>ppt_x</p:attrName>
                                        </p:attrNameLst>
                                      </p:cBhvr>
                                      <p:tavLst>
                                        <p:tav tm="0">
                                          <p:val>
                                            <p:strVal val="#ppt_x"/>
                                          </p:val>
                                        </p:tav>
                                        <p:tav tm="100000">
                                          <p:val>
                                            <p:strVal val="#ppt_x"/>
                                          </p:val>
                                        </p:tav>
                                      </p:tavLst>
                                    </p:anim>
                                    <p:anim calcmode="lin" valueType="num">
                                      <p:cBhvr additive="base">
                                        <p:cTn id="8" dur="500" fill="hold"/>
                                        <p:tgtEl>
                                          <p:spTgt spid="56236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lide Number Placeholder 3"/>
          <p:cNvSpPr>
            <a:spLocks noGrp="1"/>
          </p:cNvSpPr>
          <p:nvPr>
            <p:ph type="sldNum" sz="quarter" idx="10"/>
          </p:nvPr>
        </p:nvSpPr>
        <p:spPr/>
        <p:txBody>
          <a:bodyPr/>
          <a:lstStyle/>
          <a:p>
            <a:fld id="{18938026-E984-464F-AC55-930DA02CF211}" type="slidenum">
              <a:rPr lang="en-US" altLang="en-US"/>
              <a:pPr/>
              <a:t>49</a:t>
            </a:fld>
            <a:endParaRPr lang="en-US" altLang="en-US"/>
          </a:p>
        </p:txBody>
      </p:sp>
      <p:pic>
        <p:nvPicPr>
          <p:cNvPr id="563553" name="Picture 3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0638" y="4487863"/>
            <a:ext cx="2717800" cy="167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02" name="Rectangle 2"/>
          <p:cNvSpPr>
            <a:spLocks noGrp="1" noChangeArrowheads="1"/>
          </p:cNvSpPr>
          <p:nvPr>
            <p:ph type="title"/>
          </p:nvPr>
        </p:nvSpPr>
        <p:spPr/>
        <p:txBody>
          <a:bodyPr/>
          <a:lstStyle/>
          <a:p>
            <a:r>
              <a:rPr lang="en-US" altLang="en-US"/>
              <a:t>Data Dominated RTL Design Example: FIR Filter</a:t>
            </a:r>
          </a:p>
        </p:txBody>
      </p:sp>
      <p:sp>
        <p:nvSpPr>
          <p:cNvPr id="563203" name="Rectangle 3"/>
          <p:cNvSpPr>
            <a:spLocks noGrp="1" noChangeArrowheads="1"/>
          </p:cNvSpPr>
          <p:nvPr>
            <p:ph type="body" idx="1"/>
          </p:nvPr>
        </p:nvSpPr>
        <p:spPr>
          <a:xfrm>
            <a:off x="228600" y="1219200"/>
            <a:ext cx="4759325" cy="2470150"/>
          </a:xfrm>
        </p:spPr>
        <p:txBody>
          <a:bodyPr/>
          <a:lstStyle/>
          <a:p>
            <a:r>
              <a:rPr lang="en-US" altLang="en-US"/>
              <a:t>Step 2: Create datapath (cont.)</a:t>
            </a:r>
          </a:p>
          <a:p>
            <a:pPr lvl="1"/>
            <a:r>
              <a:rPr lang="en-US" altLang="en-US"/>
              <a:t>Add circuitry to allow loading of particular c register</a:t>
            </a:r>
          </a:p>
          <a:p>
            <a:pPr lvl="1"/>
            <a:endParaRPr lang="en-US" altLang="en-US"/>
          </a:p>
          <a:p>
            <a:pPr lvl="1"/>
            <a:endParaRPr lang="en-US" altLang="en-US"/>
          </a:p>
        </p:txBody>
      </p:sp>
      <p:sp>
        <p:nvSpPr>
          <p:cNvPr id="563227" name="Rectangle 27"/>
          <p:cNvSpPr>
            <a:spLocks noChangeArrowheads="1"/>
          </p:cNvSpPr>
          <p:nvPr/>
        </p:nvSpPr>
        <p:spPr bwMode="auto">
          <a:xfrm>
            <a:off x="4048125" y="2214563"/>
            <a:ext cx="4848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Arial" panose="020B0604020202020204" pitchFamily="34" charset="0"/>
              </a:rPr>
              <a:t>y(t) = c0*x(t) + c1*x(t-1) + c2*x(t-2)</a:t>
            </a:r>
          </a:p>
        </p:txBody>
      </p:sp>
      <p:sp>
        <p:nvSpPr>
          <p:cNvPr id="563228" name="Text Box 28"/>
          <p:cNvSpPr txBox="1">
            <a:spLocks noChangeArrowheads="1"/>
          </p:cNvSpPr>
          <p:nvPr/>
        </p:nvSpPr>
        <p:spPr bwMode="auto">
          <a:xfrm>
            <a:off x="7773988" y="44307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563531" name="Group 331"/>
          <p:cNvGrpSpPr>
            <a:grpSpLocks/>
          </p:cNvGrpSpPr>
          <p:nvPr/>
        </p:nvGrpSpPr>
        <p:grpSpPr bwMode="auto">
          <a:xfrm>
            <a:off x="5349875" y="1260475"/>
            <a:ext cx="3054350" cy="1004888"/>
            <a:chOff x="3370" y="794"/>
            <a:chExt cx="1924" cy="633"/>
          </a:xfrm>
        </p:grpSpPr>
        <p:sp>
          <p:nvSpPr>
            <p:cNvPr id="563532" name="Line 332"/>
            <p:cNvSpPr>
              <a:spLocks noChangeShapeType="1"/>
            </p:cNvSpPr>
            <p:nvPr/>
          </p:nvSpPr>
          <p:spPr bwMode="auto">
            <a:xfrm>
              <a:off x="3501" y="961"/>
              <a:ext cx="27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533" name="Freeform 333"/>
            <p:cNvSpPr>
              <a:spLocks/>
            </p:cNvSpPr>
            <p:nvPr/>
          </p:nvSpPr>
          <p:spPr bwMode="auto">
            <a:xfrm>
              <a:off x="3761" y="933"/>
              <a:ext cx="99"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534" name="Line 334"/>
            <p:cNvSpPr>
              <a:spLocks noChangeShapeType="1"/>
            </p:cNvSpPr>
            <p:nvPr/>
          </p:nvSpPr>
          <p:spPr bwMode="auto">
            <a:xfrm>
              <a:off x="3501" y="1272"/>
              <a:ext cx="278"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535" name="Freeform 335"/>
            <p:cNvSpPr>
              <a:spLocks/>
            </p:cNvSpPr>
            <p:nvPr/>
          </p:nvSpPr>
          <p:spPr bwMode="auto">
            <a:xfrm>
              <a:off x="3761" y="1244"/>
              <a:ext cx="99" cy="63"/>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536" name="Freeform 336"/>
            <p:cNvSpPr>
              <a:spLocks/>
            </p:cNvSpPr>
            <p:nvPr/>
          </p:nvSpPr>
          <p:spPr bwMode="auto">
            <a:xfrm>
              <a:off x="3866" y="1199"/>
              <a:ext cx="103" cy="136"/>
            </a:xfrm>
            <a:custGeom>
              <a:avLst/>
              <a:gdLst>
                <a:gd name="T0" fmla="*/ 0 w 103"/>
                <a:gd name="T1" fmla="*/ 107 h 107"/>
                <a:gd name="T2" fmla="*/ 103 w 103"/>
                <a:gd name="T3" fmla="*/ 54 h 107"/>
                <a:gd name="T4" fmla="*/ 0 w 103"/>
                <a:gd name="T5" fmla="*/ 0 h 107"/>
              </a:gdLst>
              <a:ahLst/>
              <a:cxnLst>
                <a:cxn ang="0">
                  <a:pos x="T0" y="T1"/>
                </a:cxn>
                <a:cxn ang="0">
                  <a:pos x="T2" y="T3"/>
                </a:cxn>
                <a:cxn ang="0">
                  <a:pos x="T4" y="T5"/>
                </a:cxn>
              </a:cxnLst>
              <a:rect l="0" t="0" r="r" b="b"/>
              <a:pathLst>
                <a:path w="103" h="107">
                  <a:moveTo>
                    <a:pt x="0" y="107"/>
                  </a:moveTo>
                  <a:lnTo>
                    <a:pt x="103" y="54"/>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537" name="Freeform 337"/>
            <p:cNvSpPr>
              <a:spLocks/>
            </p:cNvSpPr>
            <p:nvPr/>
          </p:nvSpPr>
          <p:spPr bwMode="auto">
            <a:xfrm>
              <a:off x="3601" y="909"/>
              <a:ext cx="85" cy="104"/>
            </a:xfrm>
            <a:custGeom>
              <a:avLst/>
              <a:gdLst>
                <a:gd name="T0" fmla="*/ 85 w 85"/>
                <a:gd name="T1" fmla="*/ 0 h 82"/>
                <a:gd name="T2" fmla="*/ 0 w 85"/>
                <a:gd name="T3" fmla="*/ 82 h 82"/>
                <a:gd name="T4" fmla="*/ 85 w 85"/>
                <a:gd name="T5" fmla="*/ 0 h 82"/>
              </a:gdLst>
              <a:ahLst/>
              <a:cxnLst>
                <a:cxn ang="0">
                  <a:pos x="T0" y="T1"/>
                </a:cxn>
                <a:cxn ang="0">
                  <a:pos x="T2" y="T3"/>
                </a:cxn>
                <a:cxn ang="0">
                  <a:pos x="T4" y="T5"/>
                </a:cxn>
              </a:cxnLst>
              <a:rect l="0" t="0" r="r" b="b"/>
              <a:pathLst>
                <a:path w="85" h="82">
                  <a:moveTo>
                    <a:pt x="85" y="0"/>
                  </a:moveTo>
                  <a:lnTo>
                    <a:pt x="0" y="82"/>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538" name="Line 338"/>
            <p:cNvSpPr>
              <a:spLocks noChangeShapeType="1"/>
            </p:cNvSpPr>
            <p:nvPr/>
          </p:nvSpPr>
          <p:spPr bwMode="auto">
            <a:xfrm flipH="1">
              <a:off x="3601" y="909"/>
              <a:ext cx="85" cy="10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539" name="Line 339"/>
            <p:cNvSpPr>
              <a:spLocks noChangeShapeType="1"/>
            </p:cNvSpPr>
            <p:nvPr/>
          </p:nvSpPr>
          <p:spPr bwMode="auto">
            <a:xfrm>
              <a:off x="4853" y="961"/>
              <a:ext cx="27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540" name="Freeform 340"/>
            <p:cNvSpPr>
              <a:spLocks/>
            </p:cNvSpPr>
            <p:nvPr/>
          </p:nvSpPr>
          <p:spPr bwMode="auto">
            <a:xfrm>
              <a:off x="5112" y="933"/>
              <a:ext cx="100" cy="6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541" name="Freeform 341"/>
            <p:cNvSpPr>
              <a:spLocks/>
            </p:cNvSpPr>
            <p:nvPr/>
          </p:nvSpPr>
          <p:spPr bwMode="auto">
            <a:xfrm>
              <a:off x="4953" y="909"/>
              <a:ext cx="84" cy="104"/>
            </a:xfrm>
            <a:custGeom>
              <a:avLst/>
              <a:gdLst>
                <a:gd name="T0" fmla="*/ 84 w 84"/>
                <a:gd name="T1" fmla="*/ 0 h 82"/>
                <a:gd name="T2" fmla="*/ 0 w 84"/>
                <a:gd name="T3" fmla="*/ 82 h 82"/>
                <a:gd name="T4" fmla="*/ 84 w 84"/>
                <a:gd name="T5" fmla="*/ 0 h 82"/>
              </a:gdLst>
              <a:ahLst/>
              <a:cxnLst>
                <a:cxn ang="0">
                  <a:pos x="T0" y="T1"/>
                </a:cxn>
                <a:cxn ang="0">
                  <a:pos x="T2" y="T3"/>
                </a:cxn>
                <a:cxn ang="0">
                  <a:pos x="T4" y="T5"/>
                </a:cxn>
              </a:cxnLst>
              <a:rect l="0" t="0" r="r" b="b"/>
              <a:pathLst>
                <a:path w="84" h="82">
                  <a:moveTo>
                    <a:pt x="84" y="0"/>
                  </a:moveTo>
                  <a:lnTo>
                    <a:pt x="0" y="82"/>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542" name="Line 342"/>
            <p:cNvSpPr>
              <a:spLocks noChangeShapeType="1"/>
            </p:cNvSpPr>
            <p:nvPr/>
          </p:nvSpPr>
          <p:spPr bwMode="auto">
            <a:xfrm flipH="1">
              <a:off x="4953" y="909"/>
              <a:ext cx="84" cy="104"/>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543" name="Rectangle 343"/>
            <p:cNvSpPr>
              <a:spLocks noChangeArrowheads="1"/>
            </p:cNvSpPr>
            <p:nvPr/>
          </p:nvSpPr>
          <p:spPr bwMode="auto">
            <a:xfrm>
              <a:off x="4909" y="1026"/>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63544" name="Rectangle 344"/>
            <p:cNvSpPr>
              <a:spLocks noChangeArrowheads="1"/>
            </p:cNvSpPr>
            <p:nvPr/>
          </p:nvSpPr>
          <p:spPr bwMode="auto">
            <a:xfrm>
              <a:off x="3589" y="1026"/>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63545" name="Rectangle 345"/>
            <p:cNvSpPr>
              <a:spLocks noChangeArrowheads="1"/>
            </p:cNvSpPr>
            <p:nvPr/>
          </p:nvSpPr>
          <p:spPr bwMode="auto">
            <a:xfrm>
              <a:off x="5230" y="883"/>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Y</a:t>
              </a:r>
              <a:endParaRPr lang="en-US" altLang="en-US"/>
            </a:p>
          </p:txBody>
        </p:sp>
        <p:sp>
          <p:nvSpPr>
            <p:cNvPr id="563546" name="Rectangle 346"/>
            <p:cNvSpPr>
              <a:spLocks noChangeArrowheads="1"/>
            </p:cNvSpPr>
            <p:nvPr/>
          </p:nvSpPr>
          <p:spPr bwMode="auto">
            <a:xfrm>
              <a:off x="3370" y="1194"/>
              <a:ext cx="11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clk</a:t>
              </a:r>
              <a:endParaRPr lang="en-US" altLang="en-US"/>
            </a:p>
          </p:txBody>
        </p:sp>
        <p:sp>
          <p:nvSpPr>
            <p:cNvPr id="563547" name="Rectangle 347"/>
            <p:cNvSpPr>
              <a:spLocks noChangeArrowheads="1"/>
            </p:cNvSpPr>
            <p:nvPr/>
          </p:nvSpPr>
          <p:spPr bwMode="auto">
            <a:xfrm>
              <a:off x="3428" y="886"/>
              <a:ext cx="64"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a:t>
              </a:r>
              <a:endParaRPr lang="en-US" altLang="en-US"/>
            </a:p>
          </p:txBody>
        </p:sp>
        <p:sp>
          <p:nvSpPr>
            <p:cNvPr id="563548" name="Rectangle 348"/>
            <p:cNvSpPr>
              <a:spLocks noChangeArrowheads="1"/>
            </p:cNvSpPr>
            <p:nvPr/>
          </p:nvSpPr>
          <p:spPr bwMode="auto">
            <a:xfrm>
              <a:off x="4121" y="1033"/>
              <a:ext cx="45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digital filter</a:t>
              </a:r>
              <a:endParaRPr lang="en-US" altLang="en-US"/>
            </a:p>
          </p:txBody>
        </p:sp>
        <p:sp>
          <p:nvSpPr>
            <p:cNvPr id="563549" name="Rectangle 349"/>
            <p:cNvSpPr>
              <a:spLocks noChangeArrowheads="1"/>
            </p:cNvSpPr>
            <p:nvPr/>
          </p:nvSpPr>
          <p:spPr bwMode="auto">
            <a:xfrm>
              <a:off x="3869" y="794"/>
              <a:ext cx="984" cy="63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63686" name="Rectangle 486"/>
          <p:cNvSpPr>
            <a:spLocks noChangeArrowheads="1"/>
          </p:cNvSpPr>
          <p:nvPr/>
        </p:nvSpPr>
        <p:spPr bwMode="auto">
          <a:xfrm>
            <a:off x="2365375" y="2738438"/>
            <a:ext cx="4721225" cy="382111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687" name="Line 487"/>
          <p:cNvSpPr>
            <a:spLocks noChangeShapeType="1"/>
          </p:cNvSpPr>
          <p:nvPr/>
        </p:nvSpPr>
        <p:spPr bwMode="auto">
          <a:xfrm>
            <a:off x="2114550" y="5006975"/>
            <a:ext cx="134938"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688" name="Freeform 488"/>
          <p:cNvSpPr>
            <a:spLocks/>
          </p:cNvSpPr>
          <p:nvPr/>
        </p:nvSpPr>
        <p:spPr bwMode="auto">
          <a:xfrm>
            <a:off x="2222500" y="4972050"/>
            <a:ext cx="138113" cy="69850"/>
          </a:xfrm>
          <a:custGeom>
            <a:avLst/>
            <a:gdLst>
              <a:gd name="T0" fmla="*/ 98 w 98"/>
              <a:gd name="T1" fmla="*/ 24 h 49"/>
              <a:gd name="T2" fmla="*/ 0 w 98"/>
              <a:gd name="T3" fmla="*/ 0 h 49"/>
              <a:gd name="T4" fmla="*/ 0 w 98"/>
              <a:gd name="T5" fmla="*/ 49 h 49"/>
              <a:gd name="T6" fmla="*/ 98 w 98"/>
              <a:gd name="T7" fmla="*/ 24 h 49"/>
            </a:gdLst>
            <a:ahLst/>
            <a:cxnLst>
              <a:cxn ang="0">
                <a:pos x="T0" y="T1"/>
              </a:cxn>
              <a:cxn ang="0">
                <a:pos x="T2" y="T3"/>
              </a:cxn>
              <a:cxn ang="0">
                <a:pos x="T4" y="T5"/>
              </a:cxn>
              <a:cxn ang="0">
                <a:pos x="T6" y="T7"/>
              </a:cxn>
            </a:cxnLst>
            <a:rect l="0" t="0" r="r" b="b"/>
            <a:pathLst>
              <a:path w="98" h="49">
                <a:moveTo>
                  <a:pt x="98" y="24"/>
                </a:moveTo>
                <a:lnTo>
                  <a:pt x="0" y="0"/>
                </a:lnTo>
                <a:lnTo>
                  <a:pt x="0" y="49"/>
                </a:lnTo>
                <a:lnTo>
                  <a:pt x="9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689" name="Line 489"/>
          <p:cNvSpPr>
            <a:spLocks noChangeShapeType="1"/>
          </p:cNvSpPr>
          <p:nvPr/>
        </p:nvSpPr>
        <p:spPr bwMode="auto">
          <a:xfrm>
            <a:off x="2370138" y="4659313"/>
            <a:ext cx="315912"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690" name="Freeform 490"/>
          <p:cNvSpPr>
            <a:spLocks/>
          </p:cNvSpPr>
          <p:nvPr/>
        </p:nvSpPr>
        <p:spPr bwMode="auto">
          <a:xfrm>
            <a:off x="2659063" y="4625975"/>
            <a:ext cx="139700" cy="69850"/>
          </a:xfrm>
          <a:custGeom>
            <a:avLst/>
            <a:gdLst>
              <a:gd name="T0" fmla="*/ 98 w 98"/>
              <a:gd name="T1" fmla="*/ 24 h 49"/>
              <a:gd name="T2" fmla="*/ 0 w 98"/>
              <a:gd name="T3" fmla="*/ 0 h 49"/>
              <a:gd name="T4" fmla="*/ 0 w 98"/>
              <a:gd name="T5" fmla="*/ 49 h 49"/>
              <a:gd name="T6" fmla="*/ 98 w 98"/>
              <a:gd name="T7" fmla="*/ 24 h 49"/>
            </a:gdLst>
            <a:ahLst/>
            <a:cxnLst>
              <a:cxn ang="0">
                <a:pos x="T0" y="T1"/>
              </a:cxn>
              <a:cxn ang="0">
                <a:pos x="T2" y="T3"/>
              </a:cxn>
              <a:cxn ang="0">
                <a:pos x="T4" y="T5"/>
              </a:cxn>
              <a:cxn ang="0">
                <a:pos x="T6" y="T7"/>
              </a:cxn>
            </a:cxnLst>
            <a:rect l="0" t="0" r="r" b="b"/>
            <a:pathLst>
              <a:path w="98" h="49">
                <a:moveTo>
                  <a:pt x="98" y="24"/>
                </a:moveTo>
                <a:lnTo>
                  <a:pt x="0" y="0"/>
                </a:lnTo>
                <a:lnTo>
                  <a:pt x="0" y="49"/>
                </a:lnTo>
                <a:lnTo>
                  <a:pt x="9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691" name="Line 491"/>
          <p:cNvSpPr>
            <a:spLocks noChangeShapeType="1"/>
          </p:cNvSpPr>
          <p:nvPr/>
        </p:nvSpPr>
        <p:spPr bwMode="auto">
          <a:xfrm>
            <a:off x="2114550" y="4659313"/>
            <a:ext cx="134938"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692" name="Freeform 492"/>
          <p:cNvSpPr>
            <a:spLocks/>
          </p:cNvSpPr>
          <p:nvPr/>
        </p:nvSpPr>
        <p:spPr bwMode="auto">
          <a:xfrm>
            <a:off x="2222500" y="4625975"/>
            <a:ext cx="138113" cy="69850"/>
          </a:xfrm>
          <a:custGeom>
            <a:avLst/>
            <a:gdLst>
              <a:gd name="T0" fmla="*/ 98 w 98"/>
              <a:gd name="T1" fmla="*/ 24 h 49"/>
              <a:gd name="T2" fmla="*/ 0 w 98"/>
              <a:gd name="T3" fmla="*/ 0 h 49"/>
              <a:gd name="T4" fmla="*/ 0 w 98"/>
              <a:gd name="T5" fmla="*/ 49 h 49"/>
              <a:gd name="T6" fmla="*/ 98 w 98"/>
              <a:gd name="T7" fmla="*/ 24 h 49"/>
            </a:gdLst>
            <a:ahLst/>
            <a:cxnLst>
              <a:cxn ang="0">
                <a:pos x="T0" y="T1"/>
              </a:cxn>
              <a:cxn ang="0">
                <a:pos x="T2" y="T3"/>
              </a:cxn>
              <a:cxn ang="0">
                <a:pos x="T4" y="T5"/>
              </a:cxn>
              <a:cxn ang="0">
                <a:pos x="T6" y="T7"/>
              </a:cxn>
            </a:cxnLst>
            <a:rect l="0" t="0" r="r" b="b"/>
            <a:pathLst>
              <a:path w="98" h="49">
                <a:moveTo>
                  <a:pt x="98" y="24"/>
                </a:moveTo>
                <a:lnTo>
                  <a:pt x="0" y="0"/>
                </a:lnTo>
                <a:lnTo>
                  <a:pt x="0" y="49"/>
                </a:lnTo>
                <a:lnTo>
                  <a:pt x="9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693" name="Rectangle 493"/>
          <p:cNvSpPr>
            <a:spLocks noChangeArrowheads="1"/>
          </p:cNvSpPr>
          <p:nvPr/>
        </p:nvSpPr>
        <p:spPr bwMode="auto">
          <a:xfrm>
            <a:off x="2905125" y="4424363"/>
            <a:ext cx="203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xt0</a:t>
            </a:r>
            <a:endParaRPr lang="en-US" altLang="en-US"/>
          </a:p>
        </p:txBody>
      </p:sp>
      <p:sp>
        <p:nvSpPr>
          <p:cNvPr id="563695" name="Rectangle 495"/>
          <p:cNvSpPr>
            <a:spLocks noChangeArrowheads="1"/>
          </p:cNvSpPr>
          <p:nvPr/>
        </p:nvSpPr>
        <p:spPr bwMode="auto">
          <a:xfrm>
            <a:off x="4333875" y="4424363"/>
            <a:ext cx="203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xt1</a:t>
            </a:r>
            <a:endParaRPr lang="en-US" altLang="en-US"/>
          </a:p>
        </p:txBody>
      </p:sp>
      <p:sp>
        <p:nvSpPr>
          <p:cNvPr id="563697" name="Freeform 497"/>
          <p:cNvSpPr>
            <a:spLocks/>
          </p:cNvSpPr>
          <p:nvPr/>
        </p:nvSpPr>
        <p:spPr bwMode="auto">
          <a:xfrm>
            <a:off x="2803525" y="4933950"/>
            <a:ext cx="142875" cy="141288"/>
          </a:xfrm>
          <a:custGeom>
            <a:avLst/>
            <a:gdLst>
              <a:gd name="T0" fmla="*/ 0 w 101"/>
              <a:gd name="T1" fmla="*/ 100 h 100"/>
              <a:gd name="T2" fmla="*/ 101 w 101"/>
              <a:gd name="T3" fmla="*/ 51 h 100"/>
              <a:gd name="T4" fmla="*/ 0 w 101"/>
              <a:gd name="T5" fmla="*/ 0 h 100"/>
            </a:gdLst>
            <a:ahLst/>
            <a:cxnLst>
              <a:cxn ang="0">
                <a:pos x="T0" y="T1"/>
              </a:cxn>
              <a:cxn ang="0">
                <a:pos x="T2" y="T3"/>
              </a:cxn>
              <a:cxn ang="0">
                <a:pos x="T4" y="T5"/>
              </a:cxn>
            </a:cxnLst>
            <a:rect l="0" t="0" r="r" b="b"/>
            <a:pathLst>
              <a:path w="101" h="100">
                <a:moveTo>
                  <a:pt x="0" y="100"/>
                </a:moveTo>
                <a:lnTo>
                  <a:pt x="101" y="5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698" name="Freeform 498"/>
          <p:cNvSpPr>
            <a:spLocks/>
          </p:cNvSpPr>
          <p:nvPr/>
        </p:nvSpPr>
        <p:spPr bwMode="auto">
          <a:xfrm>
            <a:off x="2360613" y="4933950"/>
            <a:ext cx="144462" cy="141288"/>
          </a:xfrm>
          <a:custGeom>
            <a:avLst/>
            <a:gdLst>
              <a:gd name="T0" fmla="*/ 0 w 101"/>
              <a:gd name="T1" fmla="*/ 100 h 100"/>
              <a:gd name="T2" fmla="*/ 101 w 101"/>
              <a:gd name="T3" fmla="*/ 51 h 100"/>
              <a:gd name="T4" fmla="*/ 0 w 101"/>
              <a:gd name="T5" fmla="*/ 0 h 100"/>
            </a:gdLst>
            <a:ahLst/>
            <a:cxnLst>
              <a:cxn ang="0">
                <a:pos x="T0" y="T1"/>
              </a:cxn>
              <a:cxn ang="0">
                <a:pos x="T2" y="T3"/>
              </a:cxn>
              <a:cxn ang="0">
                <a:pos x="T4" y="T5"/>
              </a:cxn>
            </a:cxnLst>
            <a:rect l="0" t="0" r="r" b="b"/>
            <a:pathLst>
              <a:path w="101" h="100">
                <a:moveTo>
                  <a:pt x="0" y="100"/>
                </a:moveTo>
                <a:lnTo>
                  <a:pt x="101" y="5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699" name="Freeform 499"/>
          <p:cNvSpPr>
            <a:spLocks/>
          </p:cNvSpPr>
          <p:nvPr/>
        </p:nvSpPr>
        <p:spPr bwMode="auto">
          <a:xfrm>
            <a:off x="4238625" y="4933950"/>
            <a:ext cx="142875" cy="141288"/>
          </a:xfrm>
          <a:custGeom>
            <a:avLst/>
            <a:gdLst>
              <a:gd name="T0" fmla="*/ 0 w 101"/>
              <a:gd name="T1" fmla="*/ 100 h 100"/>
              <a:gd name="T2" fmla="*/ 101 w 101"/>
              <a:gd name="T3" fmla="*/ 51 h 100"/>
              <a:gd name="T4" fmla="*/ 0 w 101"/>
              <a:gd name="T5" fmla="*/ 0 h 100"/>
            </a:gdLst>
            <a:ahLst/>
            <a:cxnLst>
              <a:cxn ang="0">
                <a:pos x="T0" y="T1"/>
              </a:cxn>
              <a:cxn ang="0">
                <a:pos x="T2" y="T3"/>
              </a:cxn>
              <a:cxn ang="0">
                <a:pos x="T4" y="T5"/>
              </a:cxn>
            </a:cxnLst>
            <a:rect l="0" t="0" r="r" b="b"/>
            <a:pathLst>
              <a:path w="101" h="100">
                <a:moveTo>
                  <a:pt x="0" y="100"/>
                </a:moveTo>
                <a:lnTo>
                  <a:pt x="101" y="5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00" name="Rectangle 500"/>
          <p:cNvSpPr>
            <a:spLocks noChangeArrowheads="1"/>
          </p:cNvSpPr>
          <p:nvPr/>
        </p:nvSpPr>
        <p:spPr bwMode="auto">
          <a:xfrm>
            <a:off x="5772150" y="4424363"/>
            <a:ext cx="203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xt2</a:t>
            </a:r>
            <a:endParaRPr lang="en-US" altLang="en-US"/>
          </a:p>
        </p:txBody>
      </p:sp>
      <p:sp>
        <p:nvSpPr>
          <p:cNvPr id="563702" name="Freeform 502"/>
          <p:cNvSpPr>
            <a:spLocks/>
          </p:cNvSpPr>
          <p:nvPr/>
        </p:nvSpPr>
        <p:spPr bwMode="auto">
          <a:xfrm>
            <a:off x="5668963" y="4933950"/>
            <a:ext cx="142875" cy="141288"/>
          </a:xfrm>
          <a:custGeom>
            <a:avLst/>
            <a:gdLst>
              <a:gd name="T0" fmla="*/ 0 w 101"/>
              <a:gd name="T1" fmla="*/ 100 h 100"/>
              <a:gd name="T2" fmla="*/ 101 w 101"/>
              <a:gd name="T3" fmla="*/ 51 h 100"/>
              <a:gd name="T4" fmla="*/ 0 w 101"/>
              <a:gd name="T5" fmla="*/ 0 h 100"/>
            </a:gdLst>
            <a:ahLst/>
            <a:cxnLst>
              <a:cxn ang="0">
                <a:pos x="T0" y="T1"/>
              </a:cxn>
              <a:cxn ang="0">
                <a:pos x="T2" y="T3"/>
              </a:cxn>
              <a:cxn ang="0">
                <a:pos x="T4" y="T5"/>
              </a:cxn>
            </a:cxnLst>
            <a:rect l="0" t="0" r="r" b="b"/>
            <a:pathLst>
              <a:path w="101" h="100">
                <a:moveTo>
                  <a:pt x="0" y="100"/>
                </a:moveTo>
                <a:lnTo>
                  <a:pt x="101" y="51"/>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03" name="Line 503"/>
          <p:cNvSpPr>
            <a:spLocks noChangeShapeType="1"/>
          </p:cNvSpPr>
          <p:nvPr/>
        </p:nvSpPr>
        <p:spPr bwMode="auto">
          <a:xfrm>
            <a:off x="3171825" y="4659313"/>
            <a:ext cx="949325"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04" name="Freeform 504"/>
          <p:cNvSpPr>
            <a:spLocks/>
          </p:cNvSpPr>
          <p:nvPr/>
        </p:nvSpPr>
        <p:spPr bwMode="auto">
          <a:xfrm>
            <a:off x="4094163" y="4625975"/>
            <a:ext cx="139700" cy="69850"/>
          </a:xfrm>
          <a:custGeom>
            <a:avLst/>
            <a:gdLst>
              <a:gd name="T0" fmla="*/ 98 w 98"/>
              <a:gd name="T1" fmla="*/ 24 h 49"/>
              <a:gd name="T2" fmla="*/ 0 w 98"/>
              <a:gd name="T3" fmla="*/ 0 h 49"/>
              <a:gd name="T4" fmla="*/ 0 w 98"/>
              <a:gd name="T5" fmla="*/ 49 h 49"/>
              <a:gd name="T6" fmla="*/ 98 w 98"/>
              <a:gd name="T7" fmla="*/ 24 h 49"/>
            </a:gdLst>
            <a:ahLst/>
            <a:cxnLst>
              <a:cxn ang="0">
                <a:pos x="T0" y="T1"/>
              </a:cxn>
              <a:cxn ang="0">
                <a:pos x="T2" y="T3"/>
              </a:cxn>
              <a:cxn ang="0">
                <a:pos x="T4" y="T5"/>
              </a:cxn>
              <a:cxn ang="0">
                <a:pos x="T6" y="T7"/>
              </a:cxn>
            </a:cxnLst>
            <a:rect l="0" t="0" r="r" b="b"/>
            <a:pathLst>
              <a:path w="98" h="49">
                <a:moveTo>
                  <a:pt x="98" y="24"/>
                </a:moveTo>
                <a:lnTo>
                  <a:pt x="0" y="0"/>
                </a:lnTo>
                <a:lnTo>
                  <a:pt x="0" y="49"/>
                </a:lnTo>
                <a:lnTo>
                  <a:pt x="9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05" name="Line 505"/>
          <p:cNvSpPr>
            <a:spLocks noChangeShapeType="1"/>
          </p:cNvSpPr>
          <p:nvPr/>
        </p:nvSpPr>
        <p:spPr bwMode="auto">
          <a:xfrm>
            <a:off x="4606925" y="4659313"/>
            <a:ext cx="946150"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06" name="Freeform 506"/>
          <p:cNvSpPr>
            <a:spLocks/>
          </p:cNvSpPr>
          <p:nvPr/>
        </p:nvSpPr>
        <p:spPr bwMode="auto">
          <a:xfrm>
            <a:off x="5530850" y="4625975"/>
            <a:ext cx="138113" cy="69850"/>
          </a:xfrm>
          <a:custGeom>
            <a:avLst/>
            <a:gdLst>
              <a:gd name="T0" fmla="*/ 97 w 97"/>
              <a:gd name="T1" fmla="*/ 24 h 49"/>
              <a:gd name="T2" fmla="*/ 0 w 97"/>
              <a:gd name="T3" fmla="*/ 0 h 49"/>
              <a:gd name="T4" fmla="*/ 0 w 97"/>
              <a:gd name="T5" fmla="*/ 49 h 49"/>
              <a:gd name="T6" fmla="*/ 97 w 97"/>
              <a:gd name="T7" fmla="*/ 24 h 49"/>
            </a:gdLst>
            <a:ahLst/>
            <a:cxnLst>
              <a:cxn ang="0">
                <a:pos x="T0" y="T1"/>
              </a:cxn>
              <a:cxn ang="0">
                <a:pos x="T2" y="T3"/>
              </a:cxn>
              <a:cxn ang="0">
                <a:pos x="T4" y="T5"/>
              </a:cxn>
              <a:cxn ang="0">
                <a:pos x="T6" y="T7"/>
              </a:cxn>
            </a:cxnLst>
            <a:rect l="0" t="0" r="r" b="b"/>
            <a:pathLst>
              <a:path w="97" h="49">
                <a:moveTo>
                  <a:pt x="97" y="24"/>
                </a:moveTo>
                <a:lnTo>
                  <a:pt x="0" y="0"/>
                </a:lnTo>
                <a:lnTo>
                  <a:pt x="0" y="49"/>
                </a:lnTo>
                <a:lnTo>
                  <a:pt x="97"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07" name="Rectangle 507"/>
          <p:cNvSpPr>
            <a:spLocks noChangeArrowheads="1"/>
          </p:cNvSpPr>
          <p:nvPr/>
        </p:nvSpPr>
        <p:spPr bwMode="auto">
          <a:xfrm>
            <a:off x="5697538" y="4100513"/>
            <a:ext cx="355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x(t-2)</a:t>
            </a:r>
            <a:endParaRPr lang="en-US" altLang="en-US"/>
          </a:p>
        </p:txBody>
      </p:sp>
      <p:sp>
        <p:nvSpPr>
          <p:cNvPr id="563710" name="Rectangle 510"/>
          <p:cNvSpPr>
            <a:spLocks noChangeArrowheads="1"/>
          </p:cNvSpPr>
          <p:nvPr/>
        </p:nvSpPr>
        <p:spPr bwMode="auto">
          <a:xfrm>
            <a:off x="4286250" y="4100513"/>
            <a:ext cx="355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x(t-1)</a:t>
            </a:r>
            <a:endParaRPr lang="en-US" altLang="en-US"/>
          </a:p>
        </p:txBody>
      </p:sp>
      <p:sp>
        <p:nvSpPr>
          <p:cNvPr id="563713" name="Rectangle 513"/>
          <p:cNvSpPr>
            <a:spLocks noChangeArrowheads="1"/>
          </p:cNvSpPr>
          <p:nvPr/>
        </p:nvSpPr>
        <p:spPr bwMode="auto">
          <a:xfrm>
            <a:off x="2908300" y="4100513"/>
            <a:ext cx="2206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x(t)</a:t>
            </a:r>
            <a:endParaRPr lang="en-US" altLang="en-US"/>
          </a:p>
        </p:txBody>
      </p:sp>
      <p:sp>
        <p:nvSpPr>
          <p:cNvPr id="563714" name="Rectangle 514"/>
          <p:cNvSpPr>
            <a:spLocks noChangeArrowheads="1"/>
          </p:cNvSpPr>
          <p:nvPr/>
        </p:nvSpPr>
        <p:spPr bwMode="auto">
          <a:xfrm>
            <a:off x="4322763" y="2784475"/>
            <a:ext cx="965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3-tap FIR filter</a:t>
            </a:r>
            <a:endParaRPr lang="en-US" altLang="en-US"/>
          </a:p>
        </p:txBody>
      </p:sp>
      <p:sp>
        <p:nvSpPr>
          <p:cNvPr id="563717" name="Rectangle 517"/>
          <p:cNvSpPr>
            <a:spLocks noChangeArrowheads="1"/>
          </p:cNvSpPr>
          <p:nvPr/>
        </p:nvSpPr>
        <p:spPr bwMode="auto">
          <a:xfrm>
            <a:off x="1981200" y="4567238"/>
            <a:ext cx="101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a:t>
            </a:r>
            <a:endParaRPr lang="en-US" altLang="en-US"/>
          </a:p>
        </p:txBody>
      </p:sp>
      <p:sp>
        <p:nvSpPr>
          <p:cNvPr id="563718" name="Freeform 518"/>
          <p:cNvSpPr>
            <a:spLocks/>
          </p:cNvSpPr>
          <p:nvPr/>
        </p:nvSpPr>
        <p:spPr bwMode="auto">
          <a:xfrm>
            <a:off x="7207250" y="6134100"/>
            <a:ext cx="139700" cy="69850"/>
          </a:xfrm>
          <a:custGeom>
            <a:avLst/>
            <a:gdLst>
              <a:gd name="T0" fmla="*/ 98 w 98"/>
              <a:gd name="T1" fmla="*/ 24 h 49"/>
              <a:gd name="T2" fmla="*/ 0 w 98"/>
              <a:gd name="T3" fmla="*/ 0 h 49"/>
              <a:gd name="T4" fmla="*/ 0 w 98"/>
              <a:gd name="T5" fmla="*/ 49 h 49"/>
              <a:gd name="T6" fmla="*/ 98 w 98"/>
              <a:gd name="T7" fmla="*/ 24 h 49"/>
            </a:gdLst>
            <a:ahLst/>
            <a:cxnLst>
              <a:cxn ang="0">
                <a:pos x="T0" y="T1"/>
              </a:cxn>
              <a:cxn ang="0">
                <a:pos x="T2" y="T3"/>
              </a:cxn>
              <a:cxn ang="0">
                <a:pos x="T4" y="T5"/>
              </a:cxn>
              <a:cxn ang="0">
                <a:pos x="T6" y="T7"/>
              </a:cxn>
            </a:cxnLst>
            <a:rect l="0" t="0" r="r" b="b"/>
            <a:pathLst>
              <a:path w="98" h="49">
                <a:moveTo>
                  <a:pt x="98" y="24"/>
                </a:moveTo>
                <a:lnTo>
                  <a:pt x="0" y="0"/>
                </a:lnTo>
                <a:lnTo>
                  <a:pt x="0" y="49"/>
                </a:lnTo>
                <a:lnTo>
                  <a:pt x="9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19" name="Freeform 519"/>
          <p:cNvSpPr>
            <a:spLocks/>
          </p:cNvSpPr>
          <p:nvPr/>
        </p:nvSpPr>
        <p:spPr bwMode="auto">
          <a:xfrm>
            <a:off x="6402388" y="6191250"/>
            <a:ext cx="139700" cy="68263"/>
          </a:xfrm>
          <a:custGeom>
            <a:avLst/>
            <a:gdLst>
              <a:gd name="T0" fmla="*/ 98 w 98"/>
              <a:gd name="T1" fmla="*/ 24 h 48"/>
              <a:gd name="T2" fmla="*/ 0 w 98"/>
              <a:gd name="T3" fmla="*/ 0 h 48"/>
              <a:gd name="T4" fmla="*/ 0 w 98"/>
              <a:gd name="T5" fmla="*/ 48 h 48"/>
              <a:gd name="T6" fmla="*/ 98 w 98"/>
              <a:gd name="T7" fmla="*/ 24 h 48"/>
            </a:gdLst>
            <a:ahLst/>
            <a:cxnLst>
              <a:cxn ang="0">
                <a:pos x="T0" y="T1"/>
              </a:cxn>
              <a:cxn ang="0">
                <a:pos x="T2" y="T3"/>
              </a:cxn>
              <a:cxn ang="0">
                <a:pos x="T4" y="T5"/>
              </a:cxn>
              <a:cxn ang="0">
                <a:pos x="T6" y="T7"/>
              </a:cxn>
            </a:cxnLst>
            <a:rect l="0" t="0" r="r" b="b"/>
            <a:pathLst>
              <a:path w="98" h="48">
                <a:moveTo>
                  <a:pt x="98" y="24"/>
                </a:moveTo>
                <a:lnTo>
                  <a:pt x="0" y="0"/>
                </a:lnTo>
                <a:lnTo>
                  <a:pt x="0" y="48"/>
                </a:lnTo>
                <a:lnTo>
                  <a:pt x="9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20" name="Rectangle 520"/>
          <p:cNvSpPr>
            <a:spLocks noChangeArrowheads="1"/>
          </p:cNvSpPr>
          <p:nvPr/>
        </p:nvSpPr>
        <p:spPr bwMode="auto">
          <a:xfrm>
            <a:off x="7218363" y="5951538"/>
            <a:ext cx="1016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Y</a:t>
            </a:r>
            <a:endParaRPr lang="en-US" altLang="en-US"/>
          </a:p>
        </p:txBody>
      </p:sp>
      <p:sp>
        <p:nvSpPr>
          <p:cNvPr id="563721" name="Rectangle 521"/>
          <p:cNvSpPr>
            <a:spLocks noChangeArrowheads="1"/>
          </p:cNvSpPr>
          <p:nvPr/>
        </p:nvSpPr>
        <p:spPr bwMode="auto">
          <a:xfrm>
            <a:off x="1900238" y="4911725"/>
            <a:ext cx="1857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clk</a:t>
            </a:r>
            <a:endParaRPr lang="en-US" altLang="en-US"/>
          </a:p>
        </p:txBody>
      </p:sp>
      <p:sp>
        <p:nvSpPr>
          <p:cNvPr id="563722" name="Freeform 522"/>
          <p:cNvSpPr>
            <a:spLocks/>
          </p:cNvSpPr>
          <p:nvPr/>
        </p:nvSpPr>
        <p:spPr bwMode="auto">
          <a:xfrm>
            <a:off x="3852863" y="4994275"/>
            <a:ext cx="68262" cy="138113"/>
          </a:xfrm>
          <a:custGeom>
            <a:avLst/>
            <a:gdLst>
              <a:gd name="T0" fmla="*/ 24 w 48"/>
              <a:gd name="T1" fmla="*/ 98 h 98"/>
              <a:gd name="T2" fmla="*/ 48 w 48"/>
              <a:gd name="T3" fmla="*/ 0 h 98"/>
              <a:gd name="T4" fmla="*/ 0 w 48"/>
              <a:gd name="T5" fmla="*/ 0 h 98"/>
              <a:gd name="T6" fmla="*/ 24 w 48"/>
              <a:gd name="T7" fmla="*/ 98 h 98"/>
            </a:gdLst>
            <a:ahLst/>
            <a:cxnLst>
              <a:cxn ang="0">
                <a:pos x="T0" y="T1"/>
              </a:cxn>
              <a:cxn ang="0">
                <a:pos x="T2" y="T3"/>
              </a:cxn>
              <a:cxn ang="0">
                <a:pos x="T4" y="T5"/>
              </a:cxn>
              <a:cxn ang="0">
                <a:pos x="T6" y="T7"/>
              </a:cxn>
            </a:cxnLst>
            <a:rect l="0" t="0" r="r" b="b"/>
            <a:pathLst>
              <a:path w="48" h="98">
                <a:moveTo>
                  <a:pt x="24" y="98"/>
                </a:moveTo>
                <a:lnTo>
                  <a:pt x="48" y="0"/>
                </a:lnTo>
                <a:lnTo>
                  <a:pt x="0" y="0"/>
                </a:lnTo>
                <a:lnTo>
                  <a:pt x="24"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23" name="Line 523"/>
          <p:cNvSpPr>
            <a:spLocks noChangeShapeType="1"/>
          </p:cNvSpPr>
          <p:nvPr/>
        </p:nvSpPr>
        <p:spPr bwMode="auto">
          <a:xfrm>
            <a:off x="3887788" y="4465638"/>
            <a:ext cx="1587" cy="555625"/>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24" name="Freeform 524"/>
          <p:cNvSpPr>
            <a:spLocks/>
          </p:cNvSpPr>
          <p:nvPr/>
        </p:nvSpPr>
        <p:spPr bwMode="auto">
          <a:xfrm>
            <a:off x="3497263" y="4994275"/>
            <a:ext cx="68262" cy="138113"/>
          </a:xfrm>
          <a:custGeom>
            <a:avLst/>
            <a:gdLst>
              <a:gd name="T0" fmla="*/ 25 w 49"/>
              <a:gd name="T1" fmla="*/ 98 h 98"/>
              <a:gd name="T2" fmla="*/ 49 w 49"/>
              <a:gd name="T3" fmla="*/ 0 h 98"/>
              <a:gd name="T4" fmla="*/ 0 w 49"/>
              <a:gd name="T5" fmla="*/ 0 h 98"/>
              <a:gd name="T6" fmla="*/ 25 w 49"/>
              <a:gd name="T7" fmla="*/ 98 h 98"/>
            </a:gdLst>
            <a:ahLst/>
            <a:cxnLst>
              <a:cxn ang="0">
                <a:pos x="T0" y="T1"/>
              </a:cxn>
              <a:cxn ang="0">
                <a:pos x="T2" y="T3"/>
              </a:cxn>
              <a:cxn ang="0">
                <a:pos x="T4" y="T5"/>
              </a:cxn>
              <a:cxn ang="0">
                <a:pos x="T6" y="T7"/>
              </a:cxn>
            </a:cxnLst>
            <a:rect l="0" t="0" r="r" b="b"/>
            <a:pathLst>
              <a:path w="49" h="98">
                <a:moveTo>
                  <a:pt x="25" y="98"/>
                </a:moveTo>
                <a:lnTo>
                  <a:pt x="49" y="0"/>
                </a:lnTo>
                <a:lnTo>
                  <a:pt x="0" y="0"/>
                </a:lnTo>
                <a:lnTo>
                  <a:pt x="25"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25" name="Line 525"/>
          <p:cNvSpPr>
            <a:spLocks noChangeShapeType="1"/>
          </p:cNvSpPr>
          <p:nvPr/>
        </p:nvSpPr>
        <p:spPr bwMode="auto">
          <a:xfrm>
            <a:off x="3532188" y="4656138"/>
            <a:ext cx="1587" cy="365125"/>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26" name="Line 526"/>
          <p:cNvSpPr>
            <a:spLocks noChangeShapeType="1"/>
          </p:cNvSpPr>
          <p:nvPr/>
        </p:nvSpPr>
        <p:spPr bwMode="auto">
          <a:xfrm>
            <a:off x="3067050" y="3278188"/>
            <a:ext cx="338138"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27" name="Freeform 527"/>
          <p:cNvSpPr>
            <a:spLocks/>
          </p:cNvSpPr>
          <p:nvPr/>
        </p:nvSpPr>
        <p:spPr bwMode="auto">
          <a:xfrm>
            <a:off x="3379788" y="3241675"/>
            <a:ext cx="139700" cy="69850"/>
          </a:xfrm>
          <a:custGeom>
            <a:avLst/>
            <a:gdLst>
              <a:gd name="T0" fmla="*/ 98 w 98"/>
              <a:gd name="T1" fmla="*/ 25 h 49"/>
              <a:gd name="T2" fmla="*/ 0 w 98"/>
              <a:gd name="T3" fmla="*/ 0 h 49"/>
              <a:gd name="T4" fmla="*/ 0 w 98"/>
              <a:gd name="T5" fmla="*/ 49 h 49"/>
              <a:gd name="T6" fmla="*/ 98 w 98"/>
              <a:gd name="T7" fmla="*/ 25 h 49"/>
            </a:gdLst>
            <a:ahLst/>
            <a:cxnLst>
              <a:cxn ang="0">
                <a:pos x="T0" y="T1"/>
              </a:cxn>
              <a:cxn ang="0">
                <a:pos x="T2" y="T3"/>
              </a:cxn>
              <a:cxn ang="0">
                <a:pos x="T4" y="T5"/>
              </a:cxn>
              <a:cxn ang="0">
                <a:pos x="T6" y="T7"/>
              </a:cxn>
            </a:cxnLst>
            <a:rect l="0" t="0" r="r" b="b"/>
            <a:pathLst>
              <a:path w="98" h="49">
                <a:moveTo>
                  <a:pt x="98" y="25"/>
                </a:moveTo>
                <a:lnTo>
                  <a:pt x="0" y="0"/>
                </a:lnTo>
                <a:lnTo>
                  <a:pt x="0" y="49"/>
                </a:lnTo>
                <a:lnTo>
                  <a:pt x="9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28" name="Line 528"/>
          <p:cNvSpPr>
            <a:spLocks noChangeShapeType="1"/>
          </p:cNvSpPr>
          <p:nvPr/>
        </p:nvSpPr>
        <p:spPr bwMode="auto">
          <a:xfrm>
            <a:off x="2365375" y="3402013"/>
            <a:ext cx="100013"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29" name="Freeform 529"/>
          <p:cNvSpPr>
            <a:spLocks/>
          </p:cNvSpPr>
          <p:nvPr/>
        </p:nvSpPr>
        <p:spPr bwMode="auto">
          <a:xfrm>
            <a:off x="2439988" y="3371850"/>
            <a:ext cx="136525" cy="69850"/>
          </a:xfrm>
          <a:custGeom>
            <a:avLst/>
            <a:gdLst>
              <a:gd name="T0" fmla="*/ 97 w 97"/>
              <a:gd name="T1" fmla="*/ 24 h 49"/>
              <a:gd name="T2" fmla="*/ 0 w 97"/>
              <a:gd name="T3" fmla="*/ 0 h 49"/>
              <a:gd name="T4" fmla="*/ 0 w 97"/>
              <a:gd name="T5" fmla="*/ 49 h 49"/>
              <a:gd name="T6" fmla="*/ 97 w 97"/>
              <a:gd name="T7" fmla="*/ 24 h 49"/>
            </a:gdLst>
            <a:ahLst/>
            <a:cxnLst>
              <a:cxn ang="0">
                <a:pos x="T0" y="T1"/>
              </a:cxn>
              <a:cxn ang="0">
                <a:pos x="T2" y="T3"/>
              </a:cxn>
              <a:cxn ang="0">
                <a:pos x="T4" y="T5"/>
              </a:cxn>
              <a:cxn ang="0">
                <a:pos x="T6" y="T7"/>
              </a:cxn>
            </a:cxnLst>
            <a:rect l="0" t="0" r="r" b="b"/>
            <a:pathLst>
              <a:path w="97" h="49">
                <a:moveTo>
                  <a:pt x="97" y="24"/>
                </a:moveTo>
                <a:lnTo>
                  <a:pt x="0" y="0"/>
                </a:lnTo>
                <a:lnTo>
                  <a:pt x="0" y="49"/>
                </a:lnTo>
                <a:lnTo>
                  <a:pt x="97"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30" name="Line 530"/>
          <p:cNvSpPr>
            <a:spLocks noChangeShapeType="1"/>
          </p:cNvSpPr>
          <p:nvPr/>
        </p:nvSpPr>
        <p:spPr bwMode="auto">
          <a:xfrm>
            <a:off x="2365375" y="3533775"/>
            <a:ext cx="100013"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31" name="Freeform 531"/>
          <p:cNvSpPr>
            <a:spLocks/>
          </p:cNvSpPr>
          <p:nvPr/>
        </p:nvSpPr>
        <p:spPr bwMode="auto">
          <a:xfrm>
            <a:off x="2439988" y="3497263"/>
            <a:ext cx="136525" cy="69850"/>
          </a:xfrm>
          <a:custGeom>
            <a:avLst/>
            <a:gdLst>
              <a:gd name="T0" fmla="*/ 97 w 97"/>
              <a:gd name="T1" fmla="*/ 25 h 49"/>
              <a:gd name="T2" fmla="*/ 0 w 97"/>
              <a:gd name="T3" fmla="*/ 0 h 49"/>
              <a:gd name="T4" fmla="*/ 0 w 97"/>
              <a:gd name="T5" fmla="*/ 49 h 49"/>
              <a:gd name="T6" fmla="*/ 97 w 97"/>
              <a:gd name="T7" fmla="*/ 25 h 49"/>
            </a:gdLst>
            <a:ahLst/>
            <a:cxnLst>
              <a:cxn ang="0">
                <a:pos x="T0" y="T1"/>
              </a:cxn>
              <a:cxn ang="0">
                <a:pos x="T2" y="T3"/>
              </a:cxn>
              <a:cxn ang="0">
                <a:pos x="T4" y="T5"/>
              </a:cxn>
              <a:cxn ang="0">
                <a:pos x="T6" y="T7"/>
              </a:cxn>
            </a:cxnLst>
            <a:rect l="0" t="0" r="r" b="b"/>
            <a:pathLst>
              <a:path w="97" h="49">
                <a:moveTo>
                  <a:pt x="97" y="25"/>
                </a:moveTo>
                <a:lnTo>
                  <a:pt x="0" y="0"/>
                </a:lnTo>
                <a:lnTo>
                  <a:pt x="0" y="49"/>
                </a:lnTo>
                <a:lnTo>
                  <a:pt x="97"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32" name="Line 532"/>
          <p:cNvSpPr>
            <a:spLocks noChangeShapeType="1"/>
          </p:cNvSpPr>
          <p:nvPr/>
        </p:nvSpPr>
        <p:spPr bwMode="auto">
          <a:xfrm>
            <a:off x="2109788" y="3402013"/>
            <a:ext cx="128587"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33" name="Freeform 533"/>
          <p:cNvSpPr>
            <a:spLocks/>
          </p:cNvSpPr>
          <p:nvPr/>
        </p:nvSpPr>
        <p:spPr bwMode="auto">
          <a:xfrm>
            <a:off x="2212975" y="3371850"/>
            <a:ext cx="139700" cy="69850"/>
          </a:xfrm>
          <a:custGeom>
            <a:avLst/>
            <a:gdLst>
              <a:gd name="T0" fmla="*/ 98 w 98"/>
              <a:gd name="T1" fmla="*/ 24 h 49"/>
              <a:gd name="T2" fmla="*/ 0 w 98"/>
              <a:gd name="T3" fmla="*/ 0 h 49"/>
              <a:gd name="T4" fmla="*/ 0 w 98"/>
              <a:gd name="T5" fmla="*/ 49 h 49"/>
              <a:gd name="T6" fmla="*/ 98 w 98"/>
              <a:gd name="T7" fmla="*/ 24 h 49"/>
            </a:gdLst>
            <a:ahLst/>
            <a:cxnLst>
              <a:cxn ang="0">
                <a:pos x="T0" y="T1"/>
              </a:cxn>
              <a:cxn ang="0">
                <a:pos x="T2" y="T3"/>
              </a:cxn>
              <a:cxn ang="0">
                <a:pos x="T4" y="T5"/>
              </a:cxn>
              <a:cxn ang="0">
                <a:pos x="T6" y="T7"/>
              </a:cxn>
            </a:cxnLst>
            <a:rect l="0" t="0" r="r" b="b"/>
            <a:pathLst>
              <a:path w="98" h="49">
                <a:moveTo>
                  <a:pt x="98" y="24"/>
                </a:moveTo>
                <a:lnTo>
                  <a:pt x="0" y="0"/>
                </a:lnTo>
                <a:lnTo>
                  <a:pt x="0" y="49"/>
                </a:lnTo>
                <a:lnTo>
                  <a:pt x="98"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34" name="Line 534"/>
          <p:cNvSpPr>
            <a:spLocks noChangeShapeType="1"/>
          </p:cNvSpPr>
          <p:nvPr/>
        </p:nvSpPr>
        <p:spPr bwMode="auto">
          <a:xfrm>
            <a:off x="2109788" y="2860675"/>
            <a:ext cx="128587"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35" name="Freeform 535"/>
          <p:cNvSpPr>
            <a:spLocks/>
          </p:cNvSpPr>
          <p:nvPr/>
        </p:nvSpPr>
        <p:spPr bwMode="auto">
          <a:xfrm>
            <a:off x="2212975" y="2825750"/>
            <a:ext cx="139700" cy="69850"/>
          </a:xfrm>
          <a:custGeom>
            <a:avLst/>
            <a:gdLst>
              <a:gd name="T0" fmla="*/ 98 w 98"/>
              <a:gd name="T1" fmla="*/ 25 h 49"/>
              <a:gd name="T2" fmla="*/ 0 w 98"/>
              <a:gd name="T3" fmla="*/ 0 h 49"/>
              <a:gd name="T4" fmla="*/ 0 w 98"/>
              <a:gd name="T5" fmla="*/ 49 h 49"/>
              <a:gd name="T6" fmla="*/ 98 w 98"/>
              <a:gd name="T7" fmla="*/ 25 h 49"/>
            </a:gdLst>
            <a:ahLst/>
            <a:cxnLst>
              <a:cxn ang="0">
                <a:pos x="T0" y="T1"/>
              </a:cxn>
              <a:cxn ang="0">
                <a:pos x="T2" y="T3"/>
              </a:cxn>
              <a:cxn ang="0">
                <a:pos x="T4" y="T5"/>
              </a:cxn>
              <a:cxn ang="0">
                <a:pos x="T6" y="T7"/>
              </a:cxn>
            </a:cxnLst>
            <a:rect l="0" t="0" r="r" b="b"/>
            <a:pathLst>
              <a:path w="98" h="49">
                <a:moveTo>
                  <a:pt x="98" y="25"/>
                </a:moveTo>
                <a:lnTo>
                  <a:pt x="0" y="0"/>
                </a:lnTo>
                <a:lnTo>
                  <a:pt x="0" y="49"/>
                </a:lnTo>
                <a:lnTo>
                  <a:pt x="9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36" name="Line 536"/>
          <p:cNvSpPr>
            <a:spLocks noChangeShapeType="1"/>
          </p:cNvSpPr>
          <p:nvPr/>
        </p:nvSpPr>
        <p:spPr bwMode="auto">
          <a:xfrm>
            <a:off x="2109788" y="3849688"/>
            <a:ext cx="128587" cy="1587"/>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37" name="Freeform 537"/>
          <p:cNvSpPr>
            <a:spLocks/>
          </p:cNvSpPr>
          <p:nvPr/>
        </p:nvSpPr>
        <p:spPr bwMode="auto">
          <a:xfrm>
            <a:off x="2212975" y="3814763"/>
            <a:ext cx="139700" cy="69850"/>
          </a:xfrm>
          <a:custGeom>
            <a:avLst/>
            <a:gdLst>
              <a:gd name="T0" fmla="*/ 98 w 98"/>
              <a:gd name="T1" fmla="*/ 25 h 49"/>
              <a:gd name="T2" fmla="*/ 0 w 98"/>
              <a:gd name="T3" fmla="*/ 0 h 49"/>
              <a:gd name="T4" fmla="*/ 0 w 98"/>
              <a:gd name="T5" fmla="*/ 49 h 49"/>
              <a:gd name="T6" fmla="*/ 98 w 98"/>
              <a:gd name="T7" fmla="*/ 25 h 49"/>
            </a:gdLst>
            <a:ahLst/>
            <a:cxnLst>
              <a:cxn ang="0">
                <a:pos x="T0" y="T1"/>
              </a:cxn>
              <a:cxn ang="0">
                <a:pos x="T2" y="T3"/>
              </a:cxn>
              <a:cxn ang="0">
                <a:pos x="T4" y="T5"/>
              </a:cxn>
              <a:cxn ang="0">
                <a:pos x="T6" y="T7"/>
              </a:cxn>
            </a:cxnLst>
            <a:rect l="0" t="0" r="r" b="b"/>
            <a:pathLst>
              <a:path w="98" h="49">
                <a:moveTo>
                  <a:pt x="98" y="25"/>
                </a:moveTo>
                <a:lnTo>
                  <a:pt x="0" y="0"/>
                </a:lnTo>
                <a:lnTo>
                  <a:pt x="0" y="49"/>
                </a:lnTo>
                <a:lnTo>
                  <a:pt x="9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38" name="Line 538"/>
          <p:cNvSpPr>
            <a:spLocks noChangeShapeType="1"/>
          </p:cNvSpPr>
          <p:nvPr/>
        </p:nvSpPr>
        <p:spPr bwMode="auto">
          <a:xfrm>
            <a:off x="2109788" y="3533775"/>
            <a:ext cx="128587"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39" name="Freeform 539"/>
          <p:cNvSpPr>
            <a:spLocks/>
          </p:cNvSpPr>
          <p:nvPr/>
        </p:nvSpPr>
        <p:spPr bwMode="auto">
          <a:xfrm>
            <a:off x="2212975" y="3497263"/>
            <a:ext cx="139700" cy="69850"/>
          </a:xfrm>
          <a:custGeom>
            <a:avLst/>
            <a:gdLst>
              <a:gd name="T0" fmla="*/ 98 w 98"/>
              <a:gd name="T1" fmla="*/ 25 h 49"/>
              <a:gd name="T2" fmla="*/ 0 w 98"/>
              <a:gd name="T3" fmla="*/ 0 h 49"/>
              <a:gd name="T4" fmla="*/ 0 w 98"/>
              <a:gd name="T5" fmla="*/ 49 h 49"/>
              <a:gd name="T6" fmla="*/ 98 w 98"/>
              <a:gd name="T7" fmla="*/ 25 h 49"/>
            </a:gdLst>
            <a:ahLst/>
            <a:cxnLst>
              <a:cxn ang="0">
                <a:pos x="T0" y="T1"/>
              </a:cxn>
              <a:cxn ang="0">
                <a:pos x="T2" y="T3"/>
              </a:cxn>
              <a:cxn ang="0">
                <a:pos x="T4" y="T5"/>
              </a:cxn>
              <a:cxn ang="0">
                <a:pos x="T6" y="T7"/>
              </a:cxn>
            </a:cxnLst>
            <a:rect l="0" t="0" r="r" b="b"/>
            <a:pathLst>
              <a:path w="98" h="49">
                <a:moveTo>
                  <a:pt x="98" y="25"/>
                </a:moveTo>
                <a:lnTo>
                  <a:pt x="0" y="0"/>
                </a:lnTo>
                <a:lnTo>
                  <a:pt x="0" y="49"/>
                </a:lnTo>
                <a:lnTo>
                  <a:pt x="9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40" name="Oval 540"/>
          <p:cNvSpPr>
            <a:spLocks noChangeArrowheads="1"/>
          </p:cNvSpPr>
          <p:nvPr/>
        </p:nvSpPr>
        <p:spPr bwMode="auto">
          <a:xfrm>
            <a:off x="3497263" y="4629150"/>
            <a:ext cx="65087" cy="66675"/>
          </a:xfrm>
          <a:prstGeom prst="ellipse">
            <a:avLst/>
          </a:prstGeom>
          <a:solidFill>
            <a:srgbClr val="000000"/>
          </a:solidFill>
          <a:ln w="9525">
            <a:solidFill>
              <a:srgbClr val="000000"/>
            </a:solidFill>
            <a:miter lim="800000"/>
            <a:headEnd/>
            <a:tailEnd/>
          </a:ln>
        </p:spPr>
        <p:txBody>
          <a:bodyPr/>
          <a:lstStyle/>
          <a:p>
            <a:endParaRPr lang="en-US"/>
          </a:p>
        </p:txBody>
      </p:sp>
      <p:sp>
        <p:nvSpPr>
          <p:cNvPr id="563741" name="Oval 541"/>
          <p:cNvSpPr>
            <a:spLocks noChangeArrowheads="1"/>
          </p:cNvSpPr>
          <p:nvPr/>
        </p:nvSpPr>
        <p:spPr bwMode="auto">
          <a:xfrm>
            <a:off x="3684588" y="3817938"/>
            <a:ext cx="63500" cy="66675"/>
          </a:xfrm>
          <a:prstGeom prst="ellipse">
            <a:avLst/>
          </a:prstGeom>
          <a:solidFill>
            <a:srgbClr val="000000"/>
          </a:solidFill>
          <a:ln w="9525">
            <a:solidFill>
              <a:srgbClr val="000000"/>
            </a:solidFill>
            <a:miter lim="800000"/>
            <a:headEnd/>
            <a:tailEnd/>
          </a:ln>
        </p:spPr>
        <p:txBody>
          <a:bodyPr/>
          <a:lstStyle/>
          <a:p>
            <a:endParaRPr lang="en-US"/>
          </a:p>
        </p:txBody>
      </p:sp>
      <p:sp>
        <p:nvSpPr>
          <p:cNvPr id="563742" name="Oval 542"/>
          <p:cNvSpPr>
            <a:spLocks noChangeArrowheads="1"/>
          </p:cNvSpPr>
          <p:nvPr/>
        </p:nvSpPr>
        <p:spPr bwMode="auto">
          <a:xfrm>
            <a:off x="5105400" y="3817938"/>
            <a:ext cx="65088" cy="66675"/>
          </a:xfrm>
          <a:prstGeom prst="ellipse">
            <a:avLst/>
          </a:prstGeom>
          <a:solidFill>
            <a:srgbClr val="000000"/>
          </a:solidFill>
          <a:ln w="9525">
            <a:solidFill>
              <a:srgbClr val="000000"/>
            </a:solidFill>
            <a:miter lim="800000"/>
            <a:headEnd/>
            <a:tailEnd/>
          </a:ln>
        </p:spPr>
        <p:txBody>
          <a:bodyPr/>
          <a:lstStyle/>
          <a:p>
            <a:endParaRPr lang="en-US"/>
          </a:p>
        </p:txBody>
      </p:sp>
      <p:sp>
        <p:nvSpPr>
          <p:cNvPr id="563743" name="Oval 543"/>
          <p:cNvSpPr>
            <a:spLocks noChangeArrowheads="1"/>
          </p:cNvSpPr>
          <p:nvPr/>
        </p:nvSpPr>
        <p:spPr bwMode="auto">
          <a:xfrm>
            <a:off x="4927600" y="4629150"/>
            <a:ext cx="69850" cy="66675"/>
          </a:xfrm>
          <a:prstGeom prst="ellipse">
            <a:avLst/>
          </a:prstGeom>
          <a:solidFill>
            <a:srgbClr val="000000"/>
          </a:solidFill>
          <a:ln w="9525">
            <a:solidFill>
              <a:srgbClr val="000000"/>
            </a:solidFill>
            <a:miter lim="800000"/>
            <a:headEnd/>
            <a:tailEnd/>
          </a:ln>
        </p:spPr>
        <p:txBody>
          <a:bodyPr/>
          <a:lstStyle/>
          <a:p>
            <a:endParaRPr lang="en-US"/>
          </a:p>
        </p:txBody>
      </p:sp>
      <p:sp>
        <p:nvSpPr>
          <p:cNvPr id="563744" name="Rectangle 544"/>
          <p:cNvSpPr>
            <a:spLocks noChangeArrowheads="1"/>
          </p:cNvSpPr>
          <p:nvPr/>
        </p:nvSpPr>
        <p:spPr bwMode="auto">
          <a:xfrm>
            <a:off x="3638550" y="4195763"/>
            <a:ext cx="1603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c0</a:t>
            </a:r>
            <a:endParaRPr lang="en-US" altLang="en-US"/>
          </a:p>
        </p:txBody>
      </p:sp>
      <p:sp>
        <p:nvSpPr>
          <p:cNvPr id="563745" name="Rectangle 545"/>
          <p:cNvSpPr>
            <a:spLocks noChangeArrowheads="1"/>
          </p:cNvSpPr>
          <p:nvPr/>
        </p:nvSpPr>
        <p:spPr bwMode="auto">
          <a:xfrm>
            <a:off x="5078413" y="4195763"/>
            <a:ext cx="1603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c1</a:t>
            </a:r>
            <a:endParaRPr lang="en-US" altLang="en-US"/>
          </a:p>
        </p:txBody>
      </p:sp>
      <p:sp>
        <p:nvSpPr>
          <p:cNvPr id="563746" name="Rectangle 546"/>
          <p:cNvSpPr>
            <a:spLocks noChangeArrowheads="1"/>
          </p:cNvSpPr>
          <p:nvPr/>
        </p:nvSpPr>
        <p:spPr bwMode="auto">
          <a:xfrm>
            <a:off x="6508750" y="4195763"/>
            <a:ext cx="1603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c2</a:t>
            </a:r>
            <a:endParaRPr lang="en-US" altLang="en-US"/>
          </a:p>
        </p:txBody>
      </p:sp>
      <p:sp>
        <p:nvSpPr>
          <p:cNvPr id="563747" name="Rectangle 547"/>
          <p:cNvSpPr>
            <a:spLocks noChangeArrowheads="1"/>
          </p:cNvSpPr>
          <p:nvPr/>
        </p:nvSpPr>
        <p:spPr bwMode="auto">
          <a:xfrm>
            <a:off x="3678238" y="5203825"/>
            <a:ext cx="7461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a:p>
        </p:txBody>
      </p:sp>
      <p:sp>
        <p:nvSpPr>
          <p:cNvPr id="563748" name="Freeform 548"/>
          <p:cNvSpPr>
            <a:spLocks/>
          </p:cNvSpPr>
          <p:nvPr/>
        </p:nvSpPr>
        <p:spPr bwMode="auto">
          <a:xfrm>
            <a:off x="4794250" y="4291013"/>
            <a:ext cx="141288" cy="144462"/>
          </a:xfrm>
          <a:custGeom>
            <a:avLst/>
            <a:gdLst>
              <a:gd name="T0" fmla="*/ 0 w 100"/>
              <a:gd name="T1" fmla="*/ 101 h 101"/>
              <a:gd name="T2" fmla="*/ 100 w 100"/>
              <a:gd name="T3" fmla="*/ 52 h 101"/>
              <a:gd name="T4" fmla="*/ 0 w 100"/>
              <a:gd name="T5" fmla="*/ 0 h 101"/>
            </a:gdLst>
            <a:ahLst/>
            <a:cxnLst>
              <a:cxn ang="0">
                <a:pos x="T0" y="T1"/>
              </a:cxn>
              <a:cxn ang="0">
                <a:pos x="T2" y="T3"/>
              </a:cxn>
              <a:cxn ang="0">
                <a:pos x="T4" y="T5"/>
              </a:cxn>
            </a:cxnLst>
            <a:rect l="0" t="0" r="r" b="b"/>
            <a:pathLst>
              <a:path w="100" h="101">
                <a:moveTo>
                  <a:pt x="0" y="101"/>
                </a:moveTo>
                <a:lnTo>
                  <a:pt x="100" y="52"/>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49" name="Freeform 549"/>
          <p:cNvSpPr>
            <a:spLocks/>
          </p:cNvSpPr>
          <p:nvPr/>
        </p:nvSpPr>
        <p:spPr bwMode="auto">
          <a:xfrm>
            <a:off x="5283200" y="4994275"/>
            <a:ext cx="68263" cy="138113"/>
          </a:xfrm>
          <a:custGeom>
            <a:avLst/>
            <a:gdLst>
              <a:gd name="T0" fmla="*/ 24 w 48"/>
              <a:gd name="T1" fmla="*/ 98 h 98"/>
              <a:gd name="T2" fmla="*/ 48 w 48"/>
              <a:gd name="T3" fmla="*/ 0 h 98"/>
              <a:gd name="T4" fmla="*/ 0 w 48"/>
              <a:gd name="T5" fmla="*/ 0 h 98"/>
              <a:gd name="T6" fmla="*/ 24 w 48"/>
              <a:gd name="T7" fmla="*/ 98 h 98"/>
            </a:gdLst>
            <a:ahLst/>
            <a:cxnLst>
              <a:cxn ang="0">
                <a:pos x="T0" y="T1"/>
              </a:cxn>
              <a:cxn ang="0">
                <a:pos x="T2" y="T3"/>
              </a:cxn>
              <a:cxn ang="0">
                <a:pos x="T4" y="T5"/>
              </a:cxn>
              <a:cxn ang="0">
                <a:pos x="T6" y="T7"/>
              </a:cxn>
            </a:cxnLst>
            <a:rect l="0" t="0" r="r" b="b"/>
            <a:pathLst>
              <a:path w="48" h="98">
                <a:moveTo>
                  <a:pt x="24" y="98"/>
                </a:moveTo>
                <a:lnTo>
                  <a:pt x="48" y="0"/>
                </a:lnTo>
                <a:lnTo>
                  <a:pt x="0" y="0"/>
                </a:lnTo>
                <a:lnTo>
                  <a:pt x="24"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50" name="Line 550"/>
          <p:cNvSpPr>
            <a:spLocks noChangeShapeType="1"/>
          </p:cNvSpPr>
          <p:nvPr/>
        </p:nvSpPr>
        <p:spPr bwMode="auto">
          <a:xfrm>
            <a:off x="5318125" y="4468813"/>
            <a:ext cx="1588" cy="55245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51" name="Freeform 551"/>
          <p:cNvSpPr>
            <a:spLocks/>
          </p:cNvSpPr>
          <p:nvPr/>
        </p:nvSpPr>
        <p:spPr bwMode="auto">
          <a:xfrm>
            <a:off x="4927600" y="4994275"/>
            <a:ext cx="69850" cy="138113"/>
          </a:xfrm>
          <a:custGeom>
            <a:avLst/>
            <a:gdLst>
              <a:gd name="T0" fmla="*/ 25 w 49"/>
              <a:gd name="T1" fmla="*/ 98 h 98"/>
              <a:gd name="T2" fmla="*/ 49 w 49"/>
              <a:gd name="T3" fmla="*/ 0 h 98"/>
              <a:gd name="T4" fmla="*/ 0 w 49"/>
              <a:gd name="T5" fmla="*/ 0 h 98"/>
              <a:gd name="T6" fmla="*/ 25 w 49"/>
              <a:gd name="T7" fmla="*/ 98 h 98"/>
            </a:gdLst>
            <a:ahLst/>
            <a:cxnLst>
              <a:cxn ang="0">
                <a:pos x="T0" y="T1"/>
              </a:cxn>
              <a:cxn ang="0">
                <a:pos x="T2" y="T3"/>
              </a:cxn>
              <a:cxn ang="0">
                <a:pos x="T4" y="T5"/>
              </a:cxn>
              <a:cxn ang="0">
                <a:pos x="T6" y="T7"/>
              </a:cxn>
            </a:cxnLst>
            <a:rect l="0" t="0" r="r" b="b"/>
            <a:pathLst>
              <a:path w="49" h="98">
                <a:moveTo>
                  <a:pt x="25" y="98"/>
                </a:moveTo>
                <a:lnTo>
                  <a:pt x="49" y="0"/>
                </a:lnTo>
                <a:lnTo>
                  <a:pt x="0" y="0"/>
                </a:lnTo>
                <a:lnTo>
                  <a:pt x="25"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52" name="Line 552"/>
          <p:cNvSpPr>
            <a:spLocks noChangeShapeType="1"/>
          </p:cNvSpPr>
          <p:nvPr/>
        </p:nvSpPr>
        <p:spPr bwMode="auto">
          <a:xfrm>
            <a:off x="4962525" y="4656138"/>
            <a:ext cx="1588" cy="365125"/>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53" name="Rectangle 553"/>
          <p:cNvSpPr>
            <a:spLocks noChangeArrowheads="1"/>
          </p:cNvSpPr>
          <p:nvPr/>
        </p:nvSpPr>
        <p:spPr bwMode="auto">
          <a:xfrm>
            <a:off x="5108575" y="5203825"/>
            <a:ext cx="746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a:p>
        </p:txBody>
      </p:sp>
      <p:sp>
        <p:nvSpPr>
          <p:cNvPr id="563754" name="Freeform 554"/>
          <p:cNvSpPr>
            <a:spLocks/>
          </p:cNvSpPr>
          <p:nvPr/>
        </p:nvSpPr>
        <p:spPr bwMode="auto">
          <a:xfrm>
            <a:off x="3713163" y="5508625"/>
            <a:ext cx="525462" cy="179388"/>
          </a:xfrm>
          <a:custGeom>
            <a:avLst/>
            <a:gdLst>
              <a:gd name="T0" fmla="*/ 0 w 369"/>
              <a:gd name="T1" fmla="*/ 0 h 126"/>
              <a:gd name="T2" fmla="*/ 0 w 369"/>
              <a:gd name="T3" fmla="*/ 68 h 126"/>
              <a:gd name="T4" fmla="*/ 369 w 369"/>
              <a:gd name="T5" fmla="*/ 68 h 126"/>
              <a:gd name="T6" fmla="*/ 369 w 369"/>
              <a:gd name="T7" fmla="*/ 126 h 126"/>
            </a:gdLst>
            <a:ahLst/>
            <a:cxnLst>
              <a:cxn ang="0">
                <a:pos x="T0" y="T1"/>
              </a:cxn>
              <a:cxn ang="0">
                <a:pos x="T2" y="T3"/>
              </a:cxn>
              <a:cxn ang="0">
                <a:pos x="T4" y="T5"/>
              </a:cxn>
              <a:cxn ang="0">
                <a:pos x="T6" y="T7"/>
              </a:cxn>
            </a:cxnLst>
            <a:rect l="0" t="0" r="r" b="b"/>
            <a:pathLst>
              <a:path w="369" h="126">
                <a:moveTo>
                  <a:pt x="0" y="0"/>
                </a:moveTo>
                <a:lnTo>
                  <a:pt x="0" y="68"/>
                </a:lnTo>
                <a:lnTo>
                  <a:pt x="369" y="68"/>
                </a:lnTo>
                <a:lnTo>
                  <a:pt x="369" y="126"/>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55" name="Freeform 555"/>
          <p:cNvSpPr>
            <a:spLocks/>
          </p:cNvSpPr>
          <p:nvPr/>
        </p:nvSpPr>
        <p:spPr bwMode="auto">
          <a:xfrm>
            <a:off x="4606925" y="5508625"/>
            <a:ext cx="541338" cy="179388"/>
          </a:xfrm>
          <a:custGeom>
            <a:avLst/>
            <a:gdLst>
              <a:gd name="T0" fmla="*/ 381 w 381"/>
              <a:gd name="T1" fmla="*/ 0 h 126"/>
              <a:gd name="T2" fmla="*/ 381 w 381"/>
              <a:gd name="T3" fmla="*/ 68 h 126"/>
              <a:gd name="T4" fmla="*/ 0 w 381"/>
              <a:gd name="T5" fmla="*/ 68 h 126"/>
              <a:gd name="T6" fmla="*/ 0 w 381"/>
              <a:gd name="T7" fmla="*/ 126 h 126"/>
            </a:gdLst>
            <a:ahLst/>
            <a:cxnLst>
              <a:cxn ang="0">
                <a:pos x="T0" y="T1"/>
              </a:cxn>
              <a:cxn ang="0">
                <a:pos x="T2" y="T3"/>
              </a:cxn>
              <a:cxn ang="0">
                <a:pos x="T4" y="T5"/>
              </a:cxn>
              <a:cxn ang="0">
                <a:pos x="T6" y="T7"/>
              </a:cxn>
            </a:cxnLst>
            <a:rect l="0" t="0" r="r" b="b"/>
            <a:pathLst>
              <a:path w="381" h="126">
                <a:moveTo>
                  <a:pt x="381" y="0"/>
                </a:moveTo>
                <a:lnTo>
                  <a:pt x="381" y="68"/>
                </a:lnTo>
                <a:lnTo>
                  <a:pt x="0" y="68"/>
                </a:lnTo>
                <a:lnTo>
                  <a:pt x="0" y="126"/>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56" name="Rectangle 556"/>
          <p:cNvSpPr>
            <a:spLocks noChangeArrowheads="1"/>
          </p:cNvSpPr>
          <p:nvPr/>
        </p:nvSpPr>
        <p:spPr bwMode="auto">
          <a:xfrm>
            <a:off x="4381500" y="5754688"/>
            <a:ext cx="1111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a:p>
        </p:txBody>
      </p:sp>
      <p:sp>
        <p:nvSpPr>
          <p:cNvPr id="563757" name="Freeform 557"/>
          <p:cNvSpPr>
            <a:spLocks/>
          </p:cNvSpPr>
          <p:nvPr/>
        </p:nvSpPr>
        <p:spPr bwMode="auto">
          <a:xfrm>
            <a:off x="6224588" y="4291013"/>
            <a:ext cx="141287" cy="144462"/>
          </a:xfrm>
          <a:custGeom>
            <a:avLst/>
            <a:gdLst>
              <a:gd name="T0" fmla="*/ 0 w 100"/>
              <a:gd name="T1" fmla="*/ 101 h 101"/>
              <a:gd name="T2" fmla="*/ 100 w 100"/>
              <a:gd name="T3" fmla="*/ 52 h 101"/>
              <a:gd name="T4" fmla="*/ 0 w 100"/>
              <a:gd name="T5" fmla="*/ 0 h 101"/>
            </a:gdLst>
            <a:ahLst/>
            <a:cxnLst>
              <a:cxn ang="0">
                <a:pos x="T0" y="T1"/>
              </a:cxn>
              <a:cxn ang="0">
                <a:pos x="T2" y="T3"/>
              </a:cxn>
              <a:cxn ang="0">
                <a:pos x="T4" y="T5"/>
              </a:cxn>
            </a:cxnLst>
            <a:rect l="0" t="0" r="r" b="b"/>
            <a:pathLst>
              <a:path w="100" h="101">
                <a:moveTo>
                  <a:pt x="0" y="101"/>
                </a:moveTo>
                <a:lnTo>
                  <a:pt x="100" y="52"/>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58" name="Freeform 558"/>
          <p:cNvSpPr>
            <a:spLocks/>
          </p:cNvSpPr>
          <p:nvPr/>
        </p:nvSpPr>
        <p:spPr bwMode="auto">
          <a:xfrm>
            <a:off x="6715125" y="4994275"/>
            <a:ext cx="68263" cy="138113"/>
          </a:xfrm>
          <a:custGeom>
            <a:avLst/>
            <a:gdLst>
              <a:gd name="T0" fmla="*/ 24 w 48"/>
              <a:gd name="T1" fmla="*/ 98 h 98"/>
              <a:gd name="T2" fmla="*/ 48 w 48"/>
              <a:gd name="T3" fmla="*/ 0 h 98"/>
              <a:gd name="T4" fmla="*/ 0 w 48"/>
              <a:gd name="T5" fmla="*/ 0 h 98"/>
              <a:gd name="T6" fmla="*/ 24 w 48"/>
              <a:gd name="T7" fmla="*/ 98 h 98"/>
            </a:gdLst>
            <a:ahLst/>
            <a:cxnLst>
              <a:cxn ang="0">
                <a:pos x="T0" y="T1"/>
              </a:cxn>
              <a:cxn ang="0">
                <a:pos x="T2" y="T3"/>
              </a:cxn>
              <a:cxn ang="0">
                <a:pos x="T4" y="T5"/>
              </a:cxn>
              <a:cxn ang="0">
                <a:pos x="T6" y="T7"/>
              </a:cxn>
            </a:cxnLst>
            <a:rect l="0" t="0" r="r" b="b"/>
            <a:pathLst>
              <a:path w="48" h="98">
                <a:moveTo>
                  <a:pt x="24" y="98"/>
                </a:moveTo>
                <a:lnTo>
                  <a:pt x="48" y="0"/>
                </a:lnTo>
                <a:lnTo>
                  <a:pt x="0" y="0"/>
                </a:lnTo>
                <a:lnTo>
                  <a:pt x="24"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59" name="Line 559"/>
          <p:cNvSpPr>
            <a:spLocks noChangeShapeType="1"/>
          </p:cNvSpPr>
          <p:nvPr/>
        </p:nvSpPr>
        <p:spPr bwMode="auto">
          <a:xfrm>
            <a:off x="6748463" y="4468813"/>
            <a:ext cx="1587" cy="55245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60" name="Freeform 560"/>
          <p:cNvSpPr>
            <a:spLocks/>
          </p:cNvSpPr>
          <p:nvPr/>
        </p:nvSpPr>
        <p:spPr bwMode="auto">
          <a:xfrm>
            <a:off x="6542088" y="3949700"/>
            <a:ext cx="66675" cy="138113"/>
          </a:xfrm>
          <a:custGeom>
            <a:avLst/>
            <a:gdLst>
              <a:gd name="T0" fmla="*/ 24 w 48"/>
              <a:gd name="T1" fmla="*/ 97 h 97"/>
              <a:gd name="T2" fmla="*/ 48 w 48"/>
              <a:gd name="T3" fmla="*/ 0 h 97"/>
              <a:gd name="T4" fmla="*/ 0 w 48"/>
              <a:gd name="T5" fmla="*/ 0 h 97"/>
              <a:gd name="T6" fmla="*/ 24 w 48"/>
              <a:gd name="T7" fmla="*/ 97 h 97"/>
            </a:gdLst>
            <a:ahLst/>
            <a:cxnLst>
              <a:cxn ang="0">
                <a:pos x="T0" y="T1"/>
              </a:cxn>
              <a:cxn ang="0">
                <a:pos x="T2" y="T3"/>
              </a:cxn>
              <a:cxn ang="0">
                <a:pos x="T4" y="T5"/>
              </a:cxn>
              <a:cxn ang="0">
                <a:pos x="T6" y="T7"/>
              </a:cxn>
            </a:cxnLst>
            <a:rect l="0" t="0" r="r" b="b"/>
            <a:pathLst>
              <a:path w="48" h="97">
                <a:moveTo>
                  <a:pt x="24" y="97"/>
                </a:moveTo>
                <a:lnTo>
                  <a:pt x="48" y="0"/>
                </a:lnTo>
                <a:lnTo>
                  <a:pt x="0" y="0"/>
                </a:lnTo>
                <a:lnTo>
                  <a:pt x="24"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61" name="Freeform 561"/>
          <p:cNvSpPr>
            <a:spLocks/>
          </p:cNvSpPr>
          <p:nvPr/>
        </p:nvSpPr>
        <p:spPr bwMode="auto">
          <a:xfrm>
            <a:off x="2357438" y="3849688"/>
            <a:ext cx="4217987" cy="125412"/>
          </a:xfrm>
          <a:custGeom>
            <a:avLst/>
            <a:gdLst>
              <a:gd name="T0" fmla="*/ 2969 w 2969"/>
              <a:gd name="T1" fmla="*/ 88 h 88"/>
              <a:gd name="T2" fmla="*/ 2969 w 2969"/>
              <a:gd name="T3" fmla="*/ 0 h 88"/>
              <a:gd name="T4" fmla="*/ 0 w 2969"/>
              <a:gd name="T5" fmla="*/ 0 h 88"/>
            </a:gdLst>
            <a:ahLst/>
            <a:cxnLst>
              <a:cxn ang="0">
                <a:pos x="T0" y="T1"/>
              </a:cxn>
              <a:cxn ang="0">
                <a:pos x="T2" y="T3"/>
              </a:cxn>
              <a:cxn ang="0">
                <a:pos x="T4" y="T5"/>
              </a:cxn>
            </a:cxnLst>
            <a:rect l="0" t="0" r="r" b="b"/>
            <a:pathLst>
              <a:path w="2969" h="88">
                <a:moveTo>
                  <a:pt x="2969" y="88"/>
                </a:moveTo>
                <a:lnTo>
                  <a:pt x="2969" y="0"/>
                </a:lnTo>
                <a:lnTo>
                  <a:pt x="0" y="0"/>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62" name="Freeform 562"/>
          <p:cNvSpPr>
            <a:spLocks/>
          </p:cNvSpPr>
          <p:nvPr/>
        </p:nvSpPr>
        <p:spPr bwMode="auto">
          <a:xfrm>
            <a:off x="6357938" y="4994275"/>
            <a:ext cx="69850" cy="138113"/>
          </a:xfrm>
          <a:custGeom>
            <a:avLst/>
            <a:gdLst>
              <a:gd name="T0" fmla="*/ 25 w 49"/>
              <a:gd name="T1" fmla="*/ 98 h 98"/>
              <a:gd name="T2" fmla="*/ 49 w 49"/>
              <a:gd name="T3" fmla="*/ 0 h 98"/>
              <a:gd name="T4" fmla="*/ 0 w 49"/>
              <a:gd name="T5" fmla="*/ 0 h 98"/>
              <a:gd name="T6" fmla="*/ 25 w 49"/>
              <a:gd name="T7" fmla="*/ 98 h 98"/>
            </a:gdLst>
            <a:ahLst/>
            <a:cxnLst>
              <a:cxn ang="0">
                <a:pos x="T0" y="T1"/>
              </a:cxn>
              <a:cxn ang="0">
                <a:pos x="T2" y="T3"/>
              </a:cxn>
              <a:cxn ang="0">
                <a:pos x="T4" y="T5"/>
              </a:cxn>
              <a:cxn ang="0">
                <a:pos x="T6" y="T7"/>
              </a:cxn>
            </a:cxnLst>
            <a:rect l="0" t="0" r="r" b="b"/>
            <a:pathLst>
              <a:path w="49" h="98">
                <a:moveTo>
                  <a:pt x="25" y="98"/>
                </a:moveTo>
                <a:lnTo>
                  <a:pt x="49" y="0"/>
                </a:lnTo>
                <a:lnTo>
                  <a:pt x="0" y="0"/>
                </a:lnTo>
                <a:lnTo>
                  <a:pt x="25"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63" name="Freeform 563"/>
          <p:cNvSpPr>
            <a:spLocks/>
          </p:cNvSpPr>
          <p:nvPr/>
        </p:nvSpPr>
        <p:spPr bwMode="auto">
          <a:xfrm>
            <a:off x="6038850" y="4683125"/>
            <a:ext cx="354013" cy="338138"/>
          </a:xfrm>
          <a:custGeom>
            <a:avLst/>
            <a:gdLst>
              <a:gd name="T0" fmla="*/ 250 w 250"/>
              <a:gd name="T1" fmla="*/ 238 h 238"/>
              <a:gd name="T2" fmla="*/ 250 w 250"/>
              <a:gd name="T3" fmla="*/ 0 h 238"/>
              <a:gd name="T4" fmla="*/ 0 w 250"/>
              <a:gd name="T5" fmla="*/ 0 h 238"/>
            </a:gdLst>
            <a:ahLst/>
            <a:cxnLst>
              <a:cxn ang="0">
                <a:pos x="T0" y="T1"/>
              </a:cxn>
              <a:cxn ang="0">
                <a:pos x="T2" y="T3"/>
              </a:cxn>
              <a:cxn ang="0">
                <a:pos x="T4" y="T5"/>
              </a:cxn>
            </a:cxnLst>
            <a:rect l="0" t="0" r="r" b="b"/>
            <a:pathLst>
              <a:path w="250" h="238">
                <a:moveTo>
                  <a:pt x="250" y="238"/>
                </a:moveTo>
                <a:lnTo>
                  <a:pt x="250" y="0"/>
                </a:lnTo>
                <a:lnTo>
                  <a:pt x="0" y="0"/>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64" name="Freeform 564"/>
          <p:cNvSpPr>
            <a:spLocks/>
          </p:cNvSpPr>
          <p:nvPr/>
        </p:nvSpPr>
        <p:spPr bwMode="auto">
          <a:xfrm>
            <a:off x="6357938" y="3949700"/>
            <a:ext cx="69850" cy="138113"/>
          </a:xfrm>
          <a:custGeom>
            <a:avLst/>
            <a:gdLst>
              <a:gd name="T0" fmla="*/ 25 w 49"/>
              <a:gd name="T1" fmla="*/ 97 h 97"/>
              <a:gd name="T2" fmla="*/ 49 w 49"/>
              <a:gd name="T3" fmla="*/ 0 h 97"/>
              <a:gd name="T4" fmla="*/ 0 w 49"/>
              <a:gd name="T5" fmla="*/ 0 h 97"/>
              <a:gd name="T6" fmla="*/ 25 w 49"/>
              <a:gd name="T7" fmla="*/ 97 h 97"/>
            </a:gdLst>
            <a:ahLst/>
            <a:cxnLst>
              <a:cxn ang="0">
                <a:pos x="T0" y="T1"/>
              </a:cxn>
              <a:cxn ang="0">
                <a:pos x="T2" y="T3"/>
              </a:cxn>
              <a:cxn ang="0">
                <a:pos x="T4" y="T5"/>
              </a:cxn>
              <a:cxn ang="0">
                <a:pos x="T6" y="T7"/>
              </a:cxn>
            </a:cxnLst>
            <a:rect l="0" t="0" r="r" b="b"/>
            <a:pathLst>
              <a:path w="49" h="97">
                <a:moveTo>
                  <a:pt x="25" y="97"/>
                </a:moveTo>
                <a:lnTo>
                  <a:pt x="49" y="0"/>
                </a:lnTo>
                <a:lnTo>
                  <a:pt x="0" y="0"/>
                </a:lnTo>
                <a:lnTo>
                  <a:pt x="25"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65" name="Freeform 565"/>
          <p:cNvSpPr>
            <a:spLocks/>
          </p:cNvSpPr>
          <p:nvPr/>
        </p:nvSpPr>
        <p:spPr bwMode="auto">
          <a:xfrm>
            <a:off x="3059113" y="3411538"/>
            <a:ext cx="3333750" cy="563562"/>
          </a:xfrm>
          <a:custGeom>
            <a:avLst/>
            <a:gdLst>
              <a:gd name="T0" fmla="*/ 2347 w 2347"/>
              <a:gd name="T1" fmla="*/ 397 h 397"/>
              <a:gd name="T2" fmla="*/ 2347 w 2347"/>
              <a:gd name="T3" fmla="*/ 0 h 397"/>
              <a:gd name="T4" fmla="*/ 0 w 2347"/>
              <a:gd name="T5" fmla="*/ 0 h 397"/>
            </a:gdLst>
            <a:ahLst/>
            <a:cxnLst>
              <a:cxn ang="0">
                <a:pos x="T0" y="T1"/>
              </a:cxn>
              <a:cxn ang="0">
                <a:pos x="T2" y="T3"/>
              </a:cxn>
              <a:cxn ang="0">
                <a:pos x="T4" y="T5"/>
              </a:cxn>
            </a:cxnLst>
            <a:rect l="0" t="0" r="r" b="b"/>
            <a:pathLst>
              <a:path w="2347" h="397">
                <a:moveTo>
                  <a:pt x="2347" y="397"/>
                </a:moveTo>
                <a:lnTo>
                  <a:pt x="2347" y="0"/>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66" name="Freeform 566"/>
          <p:cNvSpPr>
            <a:spLocks/>
          </p:cNvSpPr>
          <p:nvPr/>
        </p:nvSpPr>
        <p:spPr bwMode="auto">
          <a:xfrm>
            <a:off x="5105400" y="3949700"/>
            <a:ext cx="69850" cy="138113"/>
          </a:xfrm>
          <a:custGeom>
            <a:avLst/>
            <a:gdLst>
              <a:gd name="T0" fmla="*/ 25 w 49"/>
              <a:gd name="T1" fmla="*/ 97 h 97"/>
              <a:gd name="T2" fmla="*/ 49 w 49"/>
              <a:gd name="T3" fmla="*/ 0 h 97"/>
              <a:gd name="T4" fmla="*/ 0 w 49"/>
              <a:gd name="T5" fmla="*/ 0 h 97"/>
              <a:gd name="T6" fmla="*/ 25 w 49"/>
              <a:gd name="T7" fmla="*/ 97 h 97"/>
            </a:gdLst>
            <a:ahLst/>
            <a:cxnLst>
              <a:cxn ang="0">
                <a:pos x="T0" y="T1"/>
              </a:cxn>
              <a:cxn ang="0">
                <a:pos x="T2" y="T3"/>
              </a:cxn>
              <a:cxn ang="0">
                <a:pos x="T4" y="T5"/>
              </a:cxn>
              <a:cxn ang="0">
                <a:pos x="T6" y="T7"/>
              </a:cxn>
            </a:cxnLst>
            <a:rect l="0" t="0" r="r" b="b"/>
            <a:pathLst>
              <a:path w="49" h="97">
                <a:moveTo>
                  <a:pt x="25" y="97"/>
                </a:moveTo>
                <a:lnTo>
                  <a:pt x="49" y="0"/>
                </a:lnTo>
                <a:lnTo>
                  <a:pt x="0" y="0"/>
                </a:lnTo>
                <a:lnTo>
                  <a:pt x="25"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67" name="Line 567"/>
          <p:cNvSpPr>
            <a:spLocks noChangeShapeType="1"/>
          </p:cNvSpPr>
          <p:nvPr/>
        </p:nvSpPr>
        <p:spPr bwMode="auto">
          <a:xfrm>
            <a:off x="5140325" y="3849688"/>
            <a:ext cx="1588" cy="125412"/>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68" name="Freeform 568"/>
          <p:cNvSpPr>
            <a:spLocks/>
          </p:cNvSpPr>
          <p:nvPr/>
        </p:nvSpPr>
        <p:spPr bwMode="auto">
          <a:xfrm>
            <a:off x="4922838" y="3949700"/>
            <a:ext cx="69850" cy="138113"/>
          </a:xfrm>
          <a:custGeom>
            <a:avLst/>
            <a:gdLst>
              <a:gd name="T0" fmla="*/ 25 w 49"/>
              <a:gd name="T1" fmla="*/ 97 h 97"/>
              <a:gd name="T2" fmla="*/ 49 w 49"/>
              <a:gd name="T3" fmla="*/ 0 h 97"/>
              <a:gd name="T4" fmla="*/ 0 w 49"/>
              <a:gd name="T5" fmla="*/ 0 h 97"/>
              <a:gd name="T6" fmla="*/ 25 w 49"/>
              <a:gd name="T7" fmla="*/ 97 h 97"/>
            </a:gdLst>
            <a:ahLst/>
            <a:cxnLst>
              <a:cxn ang="0">
                <a:pos x="T0" y="T1"/>
              </a:cxn>
              <a:cxn ang="0">
                <a:pos x="T2" y="T3"/>
              </a:cxn>
              <a:cxn ang="0">
                <a:pos x="T4" y="T5"/>
              </a:cxn>
              <a:cxn ang="0">
                <a:pos x="T6" y="T7"/>
              </a:cxn>
            </a:cxnLst>
            <a:rect l="0" t="0" r="r" b="b"/>
            <a:pathLst>
              <a:path w="49" h="97">
                <a:moveTo>
                  <a:pt x="25" y="97"/>
                </a:moveTo>
                <a:lnTo>
                  <a:pt x="49" y="0"/>
                </a:lnTo>
                <a:lnTo>
                  <a:pt x="0" y="0"/>
                </a:lnTo>
                <a:lnTo>
                  <a:pt x="25"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69" name="Freeform 569"/>
          <p:cNvSpPr>
            <a:spLocks/>
          </p:cNvSpPr>
          <p:nvPr/>
        </p:nvSpPr>
        <p:spPr bwMode="auto">
          <a:xfrm>
            <a:off x="3067050" y="3529013"/>
            <a:ext cx="1892300" cy="446087"/>
          </a:xfrm>
          <a:custGeom>
            <a:avLst/>
            <a:gdLst>
              <a:gd name="T0" fmla="*/ 1331 w 1331"/>
              <a:gd name="T1" fmla="*/ 314 h 314"/>
              <a:gd name="T2" fmla="*/ 1331 w 1331"/>
              <a:gd name="T3" fmla="*/ 0 h 314"/>
              <a:gd name="T4" fmla="*/ 0 w 1331"/>
              <a:gd name="T5" fmla="*/ 0 h 314"/>
            </a:gdLst>
            <a:ahLst/>
            <a:cxnLst>
              <a:cxn ang="0">
                <a:pos x="T0" y="T1"/>
              </a:cxn>
              <a:cxn ang="0">
                <a:pos x="T2" y="T3"/>
              </a:cxn>
              <a:cxn ang="0">
                <a:pos x="T4" y="T5"/>
              </a:cxn>
            </a:cxnLst>
            <a:rect l="0" t="0" r="r" b="b"/>
            <a:pathLst>
              <a:path w="1331" h="314">
                <a:moveTo>
                  <a:pt x="1331" y="314"/>
                </a:moveTo>
                <a:lnTo>
                  <a:pt x="1331" y="0"/>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70" name="Freeform 570"/>
          <p:cNvSpPr>
            <a:spLocks/>
          </p:cNvSpPr>
          <p:nvPr/>
        </p:nvSpPr>
        <p:spPr bwMode="auto">
          <a:xfrm>
            <a:off x="2794000" y="2921000"/>
            <a:ext cx="69850" cy="139700"/>
          </a:xfrm>
          <a:custGeom>
            <a:avLst/>
            <a:gdLst>
              <a:gd name="T0" fmla="*/ 24 w 49"/>
              <a:gd name="T1" fmla="*/ 98 h 98"/>
              <a:gd name="T2" fmla="*/ 49 w 49"/>
              <a:gd name="T3" fmla="*/ 0 h 98"/>
              <a:gd name="T4" fmla="*/ 0 w 49"/>
              <a:gd name="T5" fmla="*/ 0 h 98"/>
              <a:gd name="T6" fmla="*/ 24 w 49"/>
              <a:gd name="T7" fmla="*/ 98 h 98"/>
            </a:gdLst>
            <a:ahLst/>
            <a:cxnLst>
              <a:cxn ang="0">
                <a:pos x="T0" y="T1"/>
              </a:cxn>
              <a:cxn ang="0">
                <a:pos x="T2" y="T3"/>
              </a:cxn>
              <a:cxn ang="0">
                <a:pos x="T4" y="T5"/>
              </a:cxn>
              <a:cxn ang="0">
                <a:pos x="T6" y="T7"/>
              </a:cxn>
            </a:cxnLst>
            <a:rect l="0" t="0" r="r" b="b"/>
            <a:pathLst>
              <a:path w="49" h="98">
                <a:moveTo>
                  <a:pt x="24" y="98"/>
                </a:moveTo>
                <a:lnTo>
                  <a:pt x="49" y="0"/>
                </a:lnTo>
                <a:lnTo>
                  <a:pt x="0" y="0"/>
                </a:lnTo>
                <a:lnTo>
                  <a:pt x="24" y="9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71" name="Freeform 571"/>
          <p:cNvSpPr>
            <a:spLocks/>
          </p:cNvSpPr>
          <p:nvPr/>
        </p:nvSpPr>
        <p:spPr bwMode="auto">
          <a:xfrm>
            <a:off x="2370138" y="2860675"/>
            <a:ext cx="458787" cy="87313"/>
          </a:xfrm>
          <a:custGeom>
            <a:avLst/>
            <a:gdLst>
              <a:gd name="T0" fmla="*/ 323 w 323"/>
              <a:gd name="T1" fmla="*/ 61 h 61"/>
              <a:gd name="T2" fmla="*/ 323 w 323"/>
              <a:gd name="T3" fmla="*/ 0 h 61"/>
              <a:gd name="T4" fmla="*/ 0 w 323"/>
              <a:gd name="T5" fmla="*/ 0 h 61"/>
            </a:gdLst>
            <a:ahLst/>
            <a:cxnLst>
              <a:cxn ang="0">
                <a:pos x="T0" y="T1"/>
              </a:cxn>
              <a:cxn ang="0">
                <a:pos x="T2" y="T3"/>
              </a:cxn>
              <a:cxn ang="0">
                <a:pos x="T4" y="T5"/>
              </a:cxn>
            </a:cxnLst>
            <a:rect l="0" t="0" r="r" b="b"/>
            <a:pathLst>
              <a:path w="323" h="61">
                <a:moveTo>
                  <a:pt x="323" y="61"/>
                </a:moveTo>
                <a:lnTo>
                  <a:pt x="323" y="0"/>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72" name="Freeform 572"/>
          <p:cNvSpPr>
            <a:spLocks/>
          </p:cNvSpPr>
          <p:nvPr/>
        </p:nvSpPr>
        <p:spPr bwMode="auto">
          <a:xfrm>
            <a:off x="3684588" y="3949700"/>
            <a:ext cx="68262" cy="138113"/>
          </a:xfrm>
          <a:custGeom>
            <a:avLst/>
            <a:gdLst>
              <a:gd name="T0" fmla="*/ 24 w 48"/>
              <a:gd name="T1" fmla="*/ 97 h 97"/>
              <a:gd name="T2" fmla="*/ 48 w 48"/>
              <a:gd name="T3" fmla="*/ 0 h 97"/>
              <a:gd name="T4" fmla="*/ 0 w 48"/>
              <a:gd name="T5" fmla="*/ 0 h 97"/>
              <a:gd name="T6" fmla="*/ 24 w 48"/>
              <a:gd name="T7" fmla="*/ 97 h 97"/>
            </a:gdLst>
            <a:ahLst/>
            <a:cxnLst>
              <a:cxn ang="0">
                <a:pos x="T0" y="T1"/>
              </a:cxn>
              <a:cxn ang="0">
                <a:pos x="T2" y="T3"/>
              </a:cxn>
              <a:cxn ang="0">
                <a:pos x="T4" y="T5"/>
              </a:cxn>
              <a:cxn ang="0">
                <a:pos x="T6" y="T7"/>
              </a:cxn>
            </a:cxnLst>
            <a:rect l="0" t="0" r="r" b="b"/>
            <a:pathLst>
              <a:path w="48" h="97">
                <a:moveTo>
                  <a:pt x="24" y="97"/>
                </a:moveTo>
                <a:lnTo>
                  <a:pt x="48" y="0"/>
                </a:lnTo>
                <a:lnTo>
                  <a:pt x="0" y="0"/>
                </a:lnTo>
                <a:lnTo>
                  <a:pt x="24"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73" name="Line 573"/>
          <p:cNvSpPr>
            <a:spLocks noChangeShapeType="1"/>
          </p:cNvSpPr>
          <p:nvPr/>
        </p:nvSpPr>
        <p:spPr bwMode="auto">
          <a:xfrm>
            <a:off x="3717925" y="3849688"/>
            <a:ext cx="1588" cy="125412"/>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74" name="Freeform 574"/>
          <p:cNvSpPr>
            <a:spLocks/>
          </p:cNvSpPr>
          <p:nvPr/>
        </p:nvSpPr>
        <p:spPr bwMode="auto">
          <a:xfrm>
            <a:off x="3500438" y="3949700"/>
            <a:ext cx="69850" cy="138113"/>
          </a:xfrm>
          <a:custGeom>
            <a:avLst/>
            <a:gdLst>
              <a:gd name="T0" fmla="*/ 25 w 49"/>
              <a:gd name="T1" fmla="*/ 97 h 97"/>
              <a:gd name="T2" fmla="*/ 49 w 49"/>
              <a:gd name="T3" fmla="*/ 0 h 97"/>
              <a:gd name="T4" fmla="*/ 0 w 49"/>
              <a:gd name="T5" fmla="*/ 0 h 97"/>
              <a:gd name="T6" fmla="*/ 25 w 49"/>
              <a:gd name="T7" fmla="*/ 97 h 97"/>
            </a:gdLst>
            <a:ahLst/>
            <a:cxnLst>
              <a:cxn ang="0">
                <a:pos x="T0" y="T1"/>
              </a:cxn>
              <a:cxn ang="0">
                <a:pos x="T2" y="T3"/>
              </a:cxn>
              <a:cxn ang="0">
                <a:pos x="T4" y="T5"/>
              </a:cxn>
              <a:cxn ang="0">
                <a:pos x="T6" y="T7"/>
              </a:cxn>
            </a:cxnLst>
            <a:rect l="0" t="0" r="r" b="b"/>
            <a:pathLst>
              <a:path w="49" h="97">
                <a:moveTo>
                  <a:pt x="25" y="97"/>
                </a:moveTo>
                <a:lnTo>
                  <a:pt x="49" y="0"/>
                </a:lnTo>
                <a:lnTo>
                  <a:pt x="0" y="0"/>
                </a:lnTo>
                <a:lnTo>
                  <a:pt x="25"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3775" name="Freeform 575"/>
          <p:cNvSpPr>
            <a:spLocks/>
          </p:cNvSpPr>
          <p:nvPr/>
        </p:nvSpPr>
        <p:spPr bwMode="auto">
          <a:xfrm>
            <a:off x="3067050" y="3654425"/>
            <a:ext cx="469900" cy="320675"/>
          </a:xfrm>
          <a:custGeom>
            <a:avLst/>
            <a:gdLst>
              <a:gd name="T0" fmla="*/ 330 w 330"/>
              <a:gd name="T1" fmla="*/ 226 h 226"/>
              <a:gd name="T2" fmla="*/ 330 w 330"/>
              <a:gd name="T3" fmla="*/ 0 h 226"/>
              <a:gd name="T4" fmla="*/ 0 w 330"/>
              <a:gd name="T5" fmla="*/ 0 h 226"/>
            </a:gdLst>
            <a:ahLst/>
            <a:cxnLst>
              <a:cxn ang="0">
                <a:pos x="T0" y="T1"/>
              </a:cxn>
              <a:cxn ang="0">
                <a:pos x="T2" y="T3"/>
              </a:cxn>
              <a:cxn ang="0">
                <a:pos x="T4" y="T5"/>
              </a:cxn>
            </a:cxnLst>
            <a:rect l="0" t="0" r="r" b="b"/>
            <a:pathLst>
              <a:path w="330" h="226">
                <a:moveTo>
                  <a:pt x="330" y="226"/>
                </a:moveTo>
                <a:lnTo>
                  <a:pt x="330" y="0"/>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76" name="Rectangle 576"/>
          <p:cNvSpPr>
            <a:spLocks noChangeArrowheads="1"/>
          </p:cNvSpPr>
          <p:nvPr/>
        </p:nvSpPr>
        <p:spPr bwMode="auto">
          <a:xfrm>
            <a:off x="6540500" y="5203825"/>
            <a:ext cx="746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a:p>
        </p:txBody>
      </p:sp>
      <p:sp>
        <p:nvSpPr>
          <p:cNvPr id="563777" name="Freeform 577"/>
          <p:cNvSpPr>
            <a:spLocks/>
          </p:cNvSpPr>
          <p:nvPr/>
        </p:nvSpPr>
        <p:spPr bwMode="auto">
          <a:xfrm>
            <a:off x="3362325" y="4291013"/>
            <a:ext cx="142875" cy="144462"/>
          </a:xfrm>
          <a:custGeom>
            <a:avLst/>
            <a:gdLst>
              <a:gd name="T0" fmla="*/ 0 w 100"/>
              <a:gd name="T1" fmla="*/ 101 h 101"/>
              <a:gd name="T2" fmla="*/ 100 w 100"/>
              <a:gd name="T3" fmla="*/ 52 h 101"/>
              <a:gd name="T4" fmla="*/ 0 w 100"/>
              <a:gd name="T5" fmla="*/ 0 h 101"/>
            </a:gdLst>
            <a:ahLst/>
            <a:cxnLst>
              <a:cxn ang="0">
                <a:pos x="T0" y="T1"/>
              </a:cxn>
              <a:cxn ang="0">
                <a:pos x="T2" y="T3"/>
              </a:cxn>
              <a:cxn ang="0">
                <a:pos x="T4" y="T5"/>
              </a:cxn>
            </a:cxnLst>
            <a:rect l="0" t="0" r="r" b="b"/>
            <a:pathLst>
              <a:path w="100" h="101">
                <a:moveTo>
                  <a:pt x="0" y="101"/>
                </a:moveTo>
                <a:lnTo>
                  <a:pt x="100" y="52"/>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78" name="Freeform 578"/>
          <p:cNvSpPr>
            <a:spLocks/>
          </p:cNvSpPr>
          <p:nvPr/>
        </p:nvSpPr>
        <p:spPr bwMode="auto">
          <a:xfrm>
            <a:off x="6550025" y="6316663"/>
            <a:ext cx="141288" cy="147637"/>
          </a:xfrm>
          <a:custGeom>
            <a:avLst/>
            <a:gdLst>
              <a:gd name="T0" fmla="*/ 0 w 100"/>
              <a:gd name="T1" fmla="*/ 104 h 104"/>
              <a:gd name="T2" fmla="*/ 100 w 100"/>
              <a:gd name="T3" fmla="*/ 52 h 104"/>
              <a:gd name="T4" fmla="*/ 0 w 100"/>
              <a:gd name="T5" fmla="*/ 0 h 104"/>
            </a:gdLst>
            <a:ahLst/>
            <a:cxnLst>
              <a:cxn ang="0">
                <a:pos x="T0" y="T1"/>
              </a:cxn>
              <a:cxn ang="0">
                <a:pos x="T2" y="T3"/>
              </a:cxn>
              <a:cxn ang="0">
                <a:pos x="T4" y="T5"/>
              </a:cxn>
            </a:cxnLst>
            <a:rect l="0" t="0" r="r" b="b"/>
            <a:pathLst>
              <a:path w="100" h="104">
                <a:moveTo>
                  <a:pt x="0" y="104"/>
                </a:moveTo>
                <a:lnTo>
                  <a:pt x="100" y="52"/>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79" name="Line 579"/>
          <p:cNvSpPr>
            <a:spLocks noChangeShapeType="1"/>
          </p:cNvSpPr>
          <p:nvPr/>
        </p:nvSpPr>
        <p:spPr bwMode="auto">
          <a:xfrm>
            <a:off x="6918325" y="6169025"/>
            <a:ext cx="328613"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3780" name="Freeform 580"/>
          <p:cNvSpPr>
            <a:spLocks/>
          </p:cNvSpPr>
          <p:nvPr/>
        </p:nvSpPr>
        <p:spPr bwMode="auto">
          <a:xfrm>
            <a:off x="5859463" y="6064250"/>
            <a:ext cx="573087" cy="160338"/>
          </a:xfrm>
          <a:custGeom>
            <a:avLst/>
            <a:gdLst>
              <a:gd name="T0" fmla="*/ 0 w 403"/>
              <a:gd name="T1" fmla="*/ 0 h 113"/>
              <a:gd name="T2" fmla="*/ 0 w 403"/>
              <a:gd name="T3" fmla="*/ 113 h 113"/>
              <a:gd name="T4" fmla="*/ 403 w 403"/>
              <a:gd name="T5" fmla="*/ 113 h 113"/>
            </a:gdLst>
            <a:ahLst/>
            <a:cxnLst>
              <a:cxn ang="0">
                <a:pos x="T0" y="T1"/>
              </a:cxn>
              <a:cxn ang="0">
                <a:pos x="T2" y="T3"/>
              </a:cxn>
              <a:cxn ang="0">
                <a:pos x="T4" y="T5"/>
              </a:cxn>
            </a:cxnLst>
            <a:rect l="0" t="0" r="r" b="b"/>
            <a:pathLst>
              <a:path w="403" h="113">
                <a:moveTo>
                  <a:pt x="0" y="0"/>
                </a:moveTo>
                <a:lnTo>
                  <a:pt x="0" y="113"/>
                </a:lnTo>
                <a:lnTo>
                  <a:pt x="403" y="113"/>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81" name="Freeform 581"/>
          <p:cNvSpPr>
            <a:spLocks/>
          </p:cNvSpPr>
          <p:nvPr/>
        </p:nvSpPr>
        <p:spPr bwMode="auto">
          <a:xfrm>
            <a:off x="4432300" y="5605463"/>
            <a:ext cx="1228725" cy="563562"/>
          </a:xfrm>
          <a:custGeom>
            <a:avLst/>
            <a:gdLst>
              <a:gd name="T0" fmla="*/ 864 w 864"/>
              <a:gd name="T1" fmla="*/ 58 h 396"/>
              <a:gd name="T2" fmla="*/ 864 w 864"/>
              <a:gd name="T3" fmla="*/ 0 h 396"/>
              <a:gd name="T4" fmla="*/ 626 w 864"/>
              <a:gd name="T5" fmla="*/ 0 h 396"/>
              <a:gd name="T6" fmla="*/ 626 w 864"/>
              <a:gd name="T7" fmla="*/ 396 h 396"/>
              <a:gd name="T8" fmla="*/ 0 w 864"/>
              <a:gd name="T9" fmla="*/ 396 h 396"/>
              <a:gd name="T10" fmla="*/ 0 w 864"/>
              <a:gd name="T11" fmla="*/ 323 h 396"/>
            </a:gdLst>
            <a:ahLst/>
            <a:cxnLst>
              <a:cxn ang="0">
                <a:pos x="T0" y="T1"/>
              </a:cxn>
              <a:cxn ang="0">
                <a:pos x="T2" y="T3"/>
              </a:cxn>
              <a:cxn ang="0">
                <a:pos x="T4" y="T5"/>
              </a:cxn>
              <a:cxn ang="0">
                <a:pos x="T6" y="T7"/>
              </a:cxn>
              <a:cxn ang="0">
                <a:pos x="T8" y="T9"/>
              </a:cxn>
              <a:cxn ang="0">
                <a:pos x="T10" y="T11"/>
              </a:cxn>
            </a:cxnLst>
            <a:rect l="0" t="0" r="r" b="b"/>
            <a:pathLst>
              <a:path w="864" h="396">
                <a:moveTo>
                  <a:pt x="864" y="58"/>
                </a:moveTo>
                <a:lnTo>
                  <a:pt x="864" y="0"/>
                </a:lnTo>
                <a:lnTo>
                  <a:pt x="626" y="0"/>
                </a:lnTo>
                <a:lnTo>
                  <a:pt x="626" y="396"/>
                </a:lnTo>
                <a:lnTo>
                  <a:pt x="0" y="396"/>
                </a:lnTo>
                <a:lnTo>
                  <a:pt x="0" y="323"/>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82" name="Freeform 582"/>
          <p:cNvSpPr>
            <a:spLocks/>
          </p:cNvSpPr>
          <p:nvPr/>
        </p:nvSpPr>
        <p:spPr bwMode="auto">
          <a:xfrm>
            <a:off x="6032500" y="5508625"/>
            <a:ext cx="542925" cy="179388"/>
          </a:xfrm>
          <a:custGeom>
            <a:avLst/>
            <a:gdLst>
              <a:gd name="T0" fmla="*/ 382 w 382"/>
              <a:gd name="T1" fmla="*/ 0 h 126"/>
              <a:gd name="T2" fmla="*/ 382 w 382"/>
              <a:gd name="T3" fmla="*/ 68 h 126"/>
              <a:gd name="T4" fmla="*/ 0 w 382"/>
              <a:gd name="T5" fmla="*/ 68 h 126"/>
              <a:gd name="T6" fmla="*/ 0 w 382"/>
              <a:gd name="T7" fmla="*/ 126 h 126"/>
            </a:gdLst>
            <a:ahLst/>
            <a:cxnLst>
              <a:cxn ang="0">
                <a:pos x="T0" y="T1"/>
              </a:cxn>
              <a:cxn ang="0">
                <a:pos x="T2" y="T3"/>
              </a:cxn>
              <a:cxn ang="0">
                <a:pos x="T4" y="T5"/>
              </a:cxn>
              <a:cxn ang="0">
                <a:pos x="T6" y="T7"/>
              </a:cxn>
            </a:cxnLst>
            <a:rect l="0" t="0" r="r" b="b"/>
            <a:pathLst>
              <a:path w="382" h="126">
                <a:moveTo>
                  <a:pt x="382" y="0"/>
                </a:moveTo>
                <a:lnTo>
                  <a:pt x="382" y="68"/>
                </a:lnTo>
                <a:lnTo>
                  <a:pt x="0" y="68"/>
                </a:lnTo>
                <a:lnTo>
                  <a:pt x="0" y="126"/>
                </a:lnTo>
              </a:path>
            </a:pathLst>
          </a:custGeom>
          <a:noFill/>
          <a:ln w="285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783" name="Rectangle 583"/>
          <p:cNvSpPr>
            <a:spLocks noChangeArrowheads="1"/>
          </p:cNvSpPr>
          <p:nvPr/>
        </p:nvSpPr>
        <p:spPr bwMode="auto">
          <a:xfrm>
            <a:off x="5807075" y="5754688"/>
            <a:ext cx="1111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a:p>
        </p:txBody>
      </p:sp>
      <p:sp>
        <p:nvSpPr>
          <p:cNvPr id="563784" name="Rectangle 584"/>
          <p:cNvSpPr>
            <a:spLocks noChangeArrowheads="1"/>
          </p:cNvSpPr>
          <p:nvPr/>
        </p:nvSpPr>
        <p:spPr bwMode="auto">
          <a:xfrm>
            <a:off x="2957513" y="3194050"/>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3</a:t>
            </a:r>
            <a:endParaRPr lang="en-US" altLang="en-US"/>
          </a:p>
        </p:txBody>
      </p:sp>
      <p:sp>
        <p:nvSpPr>
          <p:cNvPr id="563785" name="Rectangle 585"/>
          <p:cNvSpPr>
            <a:spLocks noChangeArrowheads="1"/>
          </p:cNvSpPr>
          <p:nvPr/>
        </p:nvSpPr>
        <p:spPr bwMode="auto">
          <a:xfrm>
            <a:off x="2959100" y="332105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2</a:t>
            </a:r>
            <a:endParaRPr lang="en-US" altLang="en-US"/>
          </a:p>
        </p:txBody>
      </p:sp>
      <p:sp>
        <p:nvSpPr>
          <p:cNvPr id="563786" name="Rectangle 586"/>
          <p:cNvSpPr>
            <a:spLocks noChangeArrowheads="1"/>
          </p:cNvSpPr>
          <p:nvPr/>
        </p:nvSpPr>
        <p:spPr bwMode="auto">
          <a:xfrm>
            <a:off x="2959100" y="3443288"/>
            <a:ext cx="841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a:t>
            </a:r>
            <a:endParaRPr lang="en-US" altLang="en-US"/>
          </a:p>
        </p:txBody>
      </p:sp>
      <p:sp>
        <p:nvSpPr>
          <p:cNvPr id="563787" name="Rectangle 587"/>
          <p:cNvSpPr>
            <a:spLocks noChangeArrowheads="1"/>
          </p:cNvSpPr>
          <p:nvPr/>
        </p:nvSpPr>
        <p:spPr bwMode="auto">
          <a:xfrm>
            <a:off x="2957513" y="35734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0</a:t>
            </a:r>
            <a:endParaRPr lang="en-US" altLang="en-US"/>
          </a:p>
        </p:txBody>
      </p:sp>
      <p:sp>
        <p:nvSpPr>
          <p:cNvPr id="563788" name="Rectangle 588"/>
          <p:cNvSpPr>
            <a:spLocks noChangeArrowheads="1"/>
          </p:cNvSpPr>
          <p:nvPr/>
        </p:nvSpPr>
        <p:spPr bwMode="auto">
          <a:xfrm>
            <a:off x="2690813" y="3321050"/>
            <a:ext cx="2444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2x4</a:t>
            </a:r>
            <a:endParaRPr lang="en-US" altLang="en-US"/>
          </a:p>
        </p:txBody>
      </p:sp>
      <p:sp>
        <p:nvSpPr>
          <p:cNvPr id="563791" name="Rectangle 591"/>
          <p:cNvSpPr>
            <a:spLocks noChangeArrowheads="1"/>
          </p:cNvSpPr>
          <p:nvPr/>
        </p:nvSpPr>
        <p:spPr bwMode="auto">
          <a:xfrm>
            <a:off x="6594475" y="5737225"/>
            <a:ext cx="295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yreg</a:t>
            </a:r>
            <a:endParaRPr lang="en-US" altLang="en-US"/>
          </a:p>
        </p:txBody>
      </p:sp>
      <p:sp>
        <p:nvSpPr>
          <p:cNvPr id="563794" name="Rectangle 594"/>
          <p:cNvSpPr>
            <a:spLocks noChangeArrowheads="1"/>
          </p:cNvSpPr>
          <p:nvPr/>
        </p:nvSpPr>
        <p:spPr bwMode="auto">
          <a:xfrm>
            <a:off x="2786063" y="3065463"/>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e</a:t>
            </a:r>
            <a:endParaRPr lang="en-US" altLang="en-US"/>
          </a:p>
        </p:txBody>
      </p:sp>
      <p:sp>
        <p:nvSpPr>
          <p:cNvPr id="563795" name="Rectangle 595"/>
          <p:cNvSpPr>
            <a:spLocks noChangeArrowheads="1"/>
          </p:cNvSpPr>
          <p:nvPr/>
        </p:nvSpPr>
        <p:spPr bwMode="auto">
          <a:xfrm>
            <a:off x="1803400" y="3292475"/>
            <a:ext cx="2778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Ca1</a:t>
            </a:r>
            <a:endParaRPr lang="en-US" altLang="en-US"/>
          </a:p>
        </p:txBody>
      </p:sp>
      <p:sp>
        <p:nvSpPr>
          <p:cNvPr id="563797" name="Rectangle 597"/>
          <p:cNvSpPr>
            <a:spLocks noChangeArrowheads="1"/>
          </p:cNvSpPr>
          <p:nvPr/>
        </p:nvSpPr>
        <p:spPr bwMode="auto">
          <a:xfrm>
            <a:off x="1914525" y="2771775"/>
            <a:ext cx="1936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CL</a:t>
            </a:r>
            <a:endParaRPr lang="en-US" altLang="en-US"/>
          </a:p>
        </p:txBody>
      </p:sp>
      <p:sp>
        <p:nvSpPr>
          <p:cNvPr id="563798" name="Rectangle 598"/>
          <p:cNvSpPr>
            <a:spLocks noChangeArrowheads="1"/>
          </p:cNvSpPr>
          <p:nvPr/>
        </p:nvSpPr>
        <p:spPr bwMode="auto">
          <a:xfrm>
            <a:off x="1979613" y="3744913"/>
            <a:ext cx="1095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a:p>
        </p:txBody>
      </p:sp>
      <p:sp>
        <p:nvSpPr>
          <p:cNvPr id="563799" name="Rectangle 599"/>
          <p:cNvSpPr>
            <a:spLocks noChangeArrowheads="1"/>
          </p:cNvSpPr>
          <p:nvPr/>
        </p:nvSpPr>
        <p:spPr bwMode="auto">
          <a:xfrm>
            <a:off x="1803400" y="3446463"/>
            <a:ext cx="27781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Ca0</a:t>
            </a:r>
            <a:endParaRPr lang="en-US" altLang="en-US"/>
          </a:p>
        </p:txBody>
      </p:sp>
      <p:sp>
        <p:nvSpPr>
          <p:cNvPr id="563801" name="Rectangle 601"/>
          <p:cNvSpPr>
            <a:spLocks noChangeArrowheads="1"/>
          </p:cNvSpPr>
          <p:nvPr/>
        </p:nvSpPr>
        <p:spPr bwMode="auto">
          <a:xfrm>
            <a:off x="2803525" y="4287838"/>
            <a:ext cx="373063" cy="8413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02" name="Rectangle 602"/>
          <p:cNvSpPr>
            <a:spLocks noChangeArrowheads="1"/>
          </p:cNvSpPr>
          <p:nvPr/>
        </p:nvSpPr>
        <p:spPr bwMode="auto">
          <a:xfrm>
            <a:off x="2600325" y="3073400"/>
            <a:ext cx="463550" cy="706438"/>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03" name="Rectangle 603"/>
          <p:cNvSpPr>
            <a:spLocks noChangeArrowheads="1"/>
          </p:cNvSpPr>
          <p:nvPr/>
        </p:nvSpPr>
        <p:spPr bwMode="auto">
          <a:xfrm>
            <a:off x="4238625" y="4287838"/>
            <a:ext cx="373063" cy="8413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04" name="Rectangle 604"/>
          <p:cNvSpPr>
            <a:spLocks noChangeArrowheads="1"/>
          </p:cNvSpPr>
          <p:nvPr/>
        </p:nvSpPr>
        <p:spPr bwMode="auto">
          <a:xfrm>
            <a:off x="6550025" y="5718175"/>
            <a:ext cx="371475" cy="79692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05" name="Freeform 605"/>
          <p:cNvSpPr>
            <a:spLocks/>
          </p:cNvSpPr>
          <p:nvPr/>
        </p:nvSpPr>
        <p:spPr bwMode="auto">
          <a:xfrm>
            <a:off x="3359150" y="5132388"/>
            <a:ext cx="709613" cy="373062"/>
          </a:xfrm>
          <a:custGeom>
            <a:avLst/>
            <a:gdLst>
              <a:gd name="T0" fmla="*/ 500 w 500"/>
              <a:gd name="T1" fmla="*/ 0 h 262"/>
              <a:gd name="T2" fmla="*/ 378 w 500"/>
              <a:gd name="T3" fmla="*/ 262 h 262"/>
              <a:gd name="T4" fmla="*/ 128 w 500"/>
              <a:gd name="T5" fmla="*/ 262 h 262"/>
              <a:gd name="T6" fmla="*/ 0 w 500"/>
              <a:gd name="T7" fmla="*/ 0 h 262"/>
              <a:gd name="T8" fmla="*/ 500 w 500"/>
              <a:gd name="T9" fmla="*/ 0 h 262"/>
            </a:gdLst>
            <a:ahLst/>
            <a:cxnLst>
              <a:cxn ang="0">
                <a:pos x="T0" y="T1"/>
              </a:cxn>
              <a:cxn ang="0">
                <a:pos x="T2" y="T3"/>
              </a:cxn>
              <a:cxn ang="0">
                <a:pos x="T4" y="T5"/>
              </a:cxn>
              <a:cxn ang="0">
                <a:pos x="T6" y="T7"/>
              </a:cxn>
              <a:cxn ang="0">
                <a:pos x="T8" y="T9"/>
              </a:cxn>
            </a:cxnLst>
            <a:rect l="0" t="0" r="r" b="b"/>
            <a:pathLst>
              <a:path w="500" h="262">
                <a:moveTo>
                  <a:pt x="500" y="0"/>
                </a:moveTo>
                <a:lnTo>
                  <a:pt x="378" y="262"/>
                </a:lnTo>
                <a:lnTo>
                  <a:pt x="128" y="262"/>
                </a:lnTo>
                <a:lnTo>
                  <a:pt x="0" y="0"/>
                </a:lnTo>
                <a:lnTo>
                  <a:pt x="500"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06" name="Rectangle 606"/>
          <p:cNvSpPr>
            <a:spLocks noChangeArrowheads="1"/>
          </p:cNvSpPr>
          <p:nvPr/>
        </p:nvSpPr>
        <p:spPr bwMode="auto">
          <a:xfrm>
            <a:off x="5668963" y="4287838"/>
            <a:ext cx="373062" cy="841375"/>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07" name="Rectangle 607"/>
          <p:cNvSpPr>
            <a:spLocks noChangeArrowheads="1"/>
          </p:cNvSpPr>
          <p:nvPr/>
        </p:nvSpPr>
        <p:spPr bwMode="auto">
          <a:xfrm>
            <a:off x="4789488" y="4090988"/>
            <a:ext cx="711200" cy="37465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08" name="Rectangle 608"/>
          <p:cNvSpPr>
            <a:spLocks noChangeArrowheads="1"/>
          </p:cNvSpPr>
          <p:nvPr/>
        </p:nvSpPr>
        <p:spPr bwMode="auto">
          <a:xfrm>
            <a:off x="3359150" y="4090988"/>
            <a:ext cx="709613" cy="37465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09" name="Rectangle 609"/>
          <p:cNvSpPr>
            <a:spLocks noChangeArrowheads="1"/>
          </p:cNvSpPr>
          <p:nvPr/>
        </p:nvSpPr>
        <p:spPr bwMode="auto">
          <a:xfrm>
            <a:off x="6219825" y="4090988"/>
            <a:ext cx="711200" cy="37465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10" name="Freeform 610"/>
          <p:cNvSpPr>
            <a:spLocks/>
          </p:cNvSpPr>
          <p:nvPr/>
        </p:nvSpPr>
        <p:spPr bwMode="auto">
          <a:xfrm>
            <a:off x="5503863" y="5688013"/>
            <a:ext cx="712787" cy="373062"/>
          </a:xfrm>
          <a:custGeom>
            <a:avLst/>
            <a:gdLst>
              <a:gd name="T0" fmla="*/ 501 w 501"/>
              <a:gd name="T1" fmla="*/ 0 h 262"/>
              <a:gd name="T2" fmla="*/ 379 w 501"/>
              <a:gd name="T3" fmla="*/ 262 h 262"/>
              <a:gd name="T4" fmla="*/ 128 w 501"/>
              <a:gd name="T5" fmla="*/ 262 h 262"/>
              <a:gd name="T6" fmla="*/ 0 w 501"/>
              <a:gd name="T7" fmla="*/ 0 h 262"/>
              <a:gd name="T8" fmla="*/ 501 w 501"/>
              <a:gd name="T9" fmla="*/ 0 h 262"/>
            </a:gdLst>
            <a:ahLst/>
            <a:cxnLst>
              <a:cxn ang="0">
                <a:pos x="T0" y="T1"/>
              </a:cxn>
              <a:cxn ang="0">
                <a:pos x="T2" y="T3"/>
              </a:cxn>
              <a:cxn ang="0">
                <a:pos x="T4" y="T5"/>
              </a:cxn>
              <a:cxn ang="0">
                <a:pos x="T6" y="T7"/>
              </a:cxn>
              <a:cxn ang="0">
                <a:pos x="T8" y="T9"/>
              </a:cxn>
            </a:cxnLst>
            <a:rect l="0" t="0" r="r" b="b"/>
            <a:pathLst>
              <a:path w="501" h="262">
                <a:moveTo>
                  <a:pt x="501" y="0"/>
                </a:moveTo>
                <a:lnTo>
                  <a:pt x="379" y="262"/>
                </a:lnTo>
                <a:lnTo>
                  <a:pt x="128" y="262"/>
                </a:lnTo>
                <a:lnTo>
                  <a:pt x="0" y="0"/>
                </a:lnTo>
                <a:lnTo>
                  <a:pt x="501"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11" name="Freeform 611"/>
          <p:cNvSpPr>
            <a:spLocks/>
          </p:cNvSpPr>
          <p:nvPr/>
        </p:nvSpPr>
        <p:spPr bwMode="auto">
          <a:xfrm>
            <a:off x="4789488" y="5132388"/>
            <a:ext cx="711200" cy="373062"/>
          </a:xfrm>
          <a:custGeom>
            <a:avLst/>
            <a:gdLst>
              <a:gd name="T0" fmla="*/ 500 w 500"/>
              <a:gd name="T1" fmla="*/ 0 h 262"/>
              <a:gd name="T2" fmla="*/ 378 w 500"/>
              <a:gd name="T3" fmla="*/ 262 h 262"/>
              <a:gd name="T4" fmla="*/ 128 w 500"/>
              <a:gd name="T5" fmla="*/ 262 h 262"/>
              <a:gd name="T6" fmla="*/ 0 w 500"/>
              <a:gd name="T7" fmla="*/ 0 h 262"/>
              <a:gd name="T8" fmla="*/ 500 w 500"/>
              <a:gd name="T9" fmla="*/ 0 h 262"/>
            </a:gdLst>
            <a:ahLst/>
            <a:cxnLst>
              <a:cxn ang="0">
                <a:pos x="T0" y="T1"/>
              </a:cxn>
              <a:cxn ang="0">
                <a:pos x="T2" y="T3"/>
              </a:cxn>
              <a:cxn ang="0">
                <a:pos x="T4" y="T5"/>
              </a:cxn>
              <a:cxn ang="0">
                <a:pos x="T6" y="T7"/>
              </a:cxn>
              <a:cxn ang="0">
                <a:pos x="T8" y="T9"/>
              </a:cxn>
            </a:cxnLst>
            <a:rect l="0" t="0" r="r" b="b"/>
            <a:pathLst>
              <a:path w="500" h="262">
                <a:moveTo>
                  <a:pt x="500" y="0"/>
                </a:moveTo>
                <a:lnTo>
                  <a:pt x="378" y="262"/>
                </a:lnTo>
                <a:lnTo>
                  <a:pt x="128" y="262"/>
                </a:lnTo>
                <a:lnTo>
                  <a:pt x="0" y="0"/>
                </a:lnTo>
                <a:lnTo>
                  <a:pt x="500"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12" name="Freeform 612"/>
          <p:cNvSpPr>
            <a:spLocks/>
          </p:cNvSpPr>
          <p:nvPr/>
        </p:nvSpPr>
        <p:spPr bwMode="auto">
          <a:xfrm>
            <a:off x="6219825" y="5132388"/>
            <a:ext cx="711200" cy="373062"/>
          </a:xfrm>
          <a:custGeom>
            <a:avLst/>
            <a:gdLst>
              <a:gd name="T0" fmla="*/ 500 w 500"/>
              <a:gd name="T1" fmla="*/ 0 h 262"/>
              <a:gd name="T2" fmla="*/ 378 w 500"/>
              <a:gd name="T3" fmla="*/ 262 h 262"/>
              <a:gd name="T4" fmla="*/ 128 w 500"/>
              <a:gd name="T5" fmla="*/ 262 h 262"/>
              <a:gd name="T6" fmla="*/ 0 w 500"/>
              <a:gd name="T7" fmla="*/ 0 h 262"/>
              <a:gd name="T8" fmla="*/ 500 w 500"/>
              <a:gd name="T9" fmla="*/ 0 h 262"/>
            </a:gdLst>
            <a:ahLst/>
            <a:cxnLst>
              <a:cxn ang="0">
                <a:pos x="T0" y="T1"/>
              </a:cxn>
              <a:cxn ang="0">
                <a:pos x="T2" y="T3"/>
              </a:cxn>
              <a:cxn ang="0">
                <a:pos x="T4" y="T5"/>
              </a:cxn>
              <a:cxn ang="0">
                <a:pos x="T6" y="T7"/>
              </a:cxn>
              <a:cxn ang="0">
                <a:pos x="T8" y="T9"/>
              </a:cxn>
            </a:cxnLst>
            <a:rect l="0" t="0" r="r" b="b"/>
            <a:pathLst>
              <a:path w="500" h="262">
                <a:moveTo>
                  <a:pt x="500" y="0"/>
                </a:moveTo>
                <a:lnTo>
                  <a:pt x="378" y="262"/>
                </a:lnTo>
                <a:lnTo>
                  <a:pt x="128" y="262"/>
                </a:lnTo>
                <a:lnTo>
                  <a:pt x="0" y="0"/>
                </a:lnTo>
                <a:lnTo>
                  <a:pt x="500"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3813" name="Freeform 613"/>
          <p:cNvSpPr>
            <a:spLocks/>
          </p:cNvSpPr>
          <p:nvPr/>
        </p:nvSpPr>
        <p:spPr bwMode="auto">
          <a:xfrm>
            <a:off x="4078288" y="5688013"/>
            <a:ext cx="711200" cy="373062"/>
          </a:xfrm>
          <a:custGeom>
            <a:avLst/>
            <a:gdLst>
              <a:gd name="T0" fmla="*/ 501 w 501"/>
              <a:gd name="T1" fmla="*/ 0 h 262"/>
              <a:gd name="T2" fmla="*/ 379 w 501"/>
              <a:gd name="T3" fmla="*/ 262 h 262"/>
              <a:gd name="T4" fmla="*/ 128 w 501"/>
              <a:gd name="T5" fmla="*/ 262 h 262"/>
              <a:gd name="T6" fmla="*/ 0 w 501"/>
              <a:gd name="T7" fmla="*/ 0 h 262"/>
              <a:gd name="T8" fmla="*/ 501 w 501"/>
              <a:gd name="T9" fmla="*/ 0 h 262"/>
            </a:gdLst>
            <a:ahLst/>
            <a:cxnLst>
              <a:cxn ang="0">
                <a:pos x="T0" y="T1"/>
              </a:cxn>
              <a:cxn ang="0">
                <a:pos x="T2" y="T3"/>
              </a:cxn>
              <a:cxn ang="0">
                <a:pos x="T4" y="T5"/>
              </a:cxn>
              <a:cxn ang="0">
                <a:pos x="T6" y="T7"/>
              </a:cxn>
              <a:cxn ang="0">
                <a:pos x="T8" y="T9"/>
              </a:cxn>
            </a:cxnLst>
            <a:rect l="0" t="0" r="r" b="b"/>
            <a:pathLst>
              <a:path w="501" h="262">
                <a:moveTo>
                  <a:pt x="501" y="0"/>
                </a:moveTo>
                <a:lnTo>
                  <a:pt x="379" y="262"/>
                </a:lnTo>
                <a:lnTo>
                  <a:pt x="128" y="262"/>
                </a:lnTo>
                <a:lnTo>
                  <a:pt x="0" y="0"/>
                </a:lnTo>
                <a:lnTo>
                  <a:pt x="501"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335BF099-5190-4AA4-A4AC-FEAC4E1078BF}" type="slidenum">
              <a:rPr lang="en-US" altLang="en-US"/>
              <a:pPr/>
              <a:t>50</a:t>
            </a:fld>
            <a:endParaRPr lang="en-US" altLang="en-US"/>
          </a:p>
        </p:txBody>
      </p:sp>
      <p:sp>
        <p:nvSpPr>
          <p:cNvPr id="564226" name="Rectangle 2"/>
          <p:cNvSpPr>
            <a:spLocks noGrp="1" noChangeArrowheads="1"/>
          </p:cNvSpPr>
          <p:nvPr>
            <p:ph type="title"/>
          </p:nvPr>
        </p:nvSpPr>
        <p:spPr/>
        <p:txBody>
          <a:bodyPr/>
          <a:lstStyle/>
          <a:p>
            <a:r>
              <a:rPr lang="en-US" altLang="en-US"/>
              <a:t>Data Dominated RTL Design Example: FIR Filter</a:t>
            </a:r>
          </a:p>
        </p:txBody>
      </p:sp>
      <p:sp>
        <p:nvSpPr>
          <p:cNvPr id="564227" name="Rectangle 3"/>
          <p:cNvSpPr>
            <a:spLocks noGrp="1" noChangeArrowheads="1"/>
          </p:cNvSpPr>
          <p:nvPr>
            <p:ph type="body" idx="1"/>
          </p:nvPr>
        </p:nvSpPr>
        <p:spPr>
          <a:xfrm>
            <a:off x="228600" y="1219200"/>
            <a:ext cx="8272463" cy="4492625"/>
          </a:xfrm>
        </p:spPr>
        <p:txBody>
          <a:bodyPr/>
          <a:lstStyle/>
          <a:p>
            <a:pPr>
              <a:lnSpc>
                <a:spcPct val="90000"/>
              </a:lnSpc>
            </a:pPr>
            <a:r>
              <a:rPr lang="en-US" altLang="en-US" sz="2000"/>
              <a:t>Step 3 &amp; 4: Connect to controller, Create FSM</a:t>
            </a:r>
          </a:p>
          <a:p>
            <a:pPr lvl="1">
              <a:lnSpc>
                <a:spcPct val="90000"/>
              </a:lnSpc>
            </a:pPr>
            <a:r>
              <a:rPr lang="en-US" altLang="en-US" sz="1800"/>
              <a:t>No controller needed</a:t>
            </a:r>
          </a:p>
          <a:p>
            <a:pPr lvl="1">
              <a:lnSpc>
                <a:spcPct val="90000"/>
              </a:lnSpc>
            </a:pPr>
            <a:r>
              <a:rPr lang="en-US" altLang="en-US" sz="1800"/>
              <a:t>Extreme data-dominated example</a:t>
            </a:r>
          </a:p>
          <a:p>
            <a:pPr lvl="1">
              <a:lnSpc>
                <a:spcPct val="90000"/>
              </a:lnSpc>
            </a:pPr>
            <a:r>
              <a:rPr lang="en-US" altLang="en-US" sz="1800"/>
              <a:t>(Example of an extreme control-dominated design – an FSM, with no datapath)</a:t>
            </a:r>
          </a:p>
          <a:p>
            <a:pPr>
              <a:lnSpc>
                <a:spcPct val="90000"/>
              </a:lnSpc>
            </a:pPr>
            <a:r>
              <a:rPr lang="en-US" altLang="en-US" sz="2000"/>
              <a:t>Comparing the FIR circuit to a software implementation</a:t>
            </a:r>
          </a:p>
          <a:p>
            <a:pPr lvl="1">
              <a:lnSpc>
                <a:spcPct val="90000"/>
              </a:lnSpc>
            </a:pPr>
            <a:r>
              <a:rPr lang="en-US" altLang="en-US" sz="1800"/>
              <a:t>Circuit</a:t>
            </a:r>
          </a:p>
          <a:p>
            <a:pPr lvl="2">
              <a:lnSpc>
                <a:spcPct val="90000"/>
              </a:lnSpc>
            </a:pPr>
            <a:r>
              <a:rPr lang="en-US" altLang="en-US" sz="1600"/>
              <a:t>Assume adder has 2-gate delay, multiplier has 20-gate delay</a:t>
            </a:r>
          </a:p>
          <a:p>
            <a:pPr lvl="2">
              <a:lnSpc>
                <a:spcPct val="90000"/>
              </a:lnSpc>
            </a:pPr>
            <a:r>
              <a:rPr lang="en-US" altLang="en-US" sz="1600"/>
              <a:t>Longest past goes through one multiplier and two adders</a:t>
            </a:r>
          </a:p>
          <a:p>
            <a:pPr lvl="3">
              <a:lnSpc>
                <a:spcPct val="90000"/>
              </a:lnSpc>
            </a:pPr>
            <a:r>
              <a:rPr lang="en-US" altLang="en-US" sz="1400"/>
              <a:t>20 + 2 + 2 = 24-gate delay</a:t>
            </a:r>
          </a:p>
          <a:p>
            <a:pPr lvl="2">
              <a:lnSpc>
                <a:spcPct val="90000"/>
              </a:lnSpc>
            </a:pPr>
            <a:r>
              <a:rPr lang="en-US" altLang="en-US" sz="1600"/>
              <a:t>100-tap filter, following design on previous slide, would have about a 34-gate delay: 1 multiplier and 7 adders on longest path</a:t>
            </a:r>
          </a:p>
          <a:p>
            <a:pPr lvl="1">
              <a:lnSpc>
                <a:spcPct val="90000"/>
              </a:lnSpc>
            </a:pPr>
            <a:r>
              <a:rPr lang="en-US" altLang="en-US" sz="1800"/>
              <a:t>Software</a:t>
            </a:r>
          </a:p>
          <a:p>
            <a:pPr lvl="2">
              <a:lnSpc>
                <a:spcPct val="90000"/>
              </a:lnSpc>
            </a:pPr>
            <a:r>
              <a:rPr lang="en-US" altLang="en-US" sz="1600"/>
              <a:t>100-tap filter: 100 multiplications, 100 additions. Say 2 instructions per multiplication, 2 per addition. Say 10-gate delay per instruction. </a:t>
            </a:r>
          </a:p>
          <a:p>
            <a:pPr lvl="2">
              <a:lnSpc>
                <a:spcPct val="90000"/>
              </a:lnSpc>
            </a:pPr>
            <a:r>
              <a:rPr lang="en-US" altLang="en-US" sz="1600"/>
              <a:t>(100*2 + 100*2)*10 = 4000 gate delays</a:t>
            </a:r>
          </a:p>
          <a:p>
            <a:pPr lvl="1">
              <a:lnSpc>
                <a:spcPct val="90000"/>
              </a:lnSpc>
            </a:pPr>
            <a:r>
              <a:rPr lang="en-US" altLang="en-US" sz="1800"/>
              <a:t>Circuit is more than 100 times faster (10,000% faster). Wow. </a:t>
            </a:r>
          </a:p>
          <a:p>
            <a:pPr lvl="2">
              <a:lnSpc>
                <a:spcPct val="90000"/>
              </a:lnSpc>
            </a:pPr>
            <a:endParaRPr lang="en-US" altLang="en-US" sz="1600"/>
          </a:p>
          <a:p>
            <a:pPr lvl="1">
              <a:lnSpc>
                <a:spcPct val="90000"/>
              </a:lnSpc>
            </a:pPr>
            <a:endParaRPr lang="en-US" altLang="en-US" sz="1800"/>
          </a:p>
          <a:p>
            <a:pPr lvl="1">
              <a:lnSpc>
                <a:spcPct val="90000"/>
              </a:lnSpc>
            </a:pPr>
            <a:endParaRPr lang="en-US" altLang="en-US" sz="1800"/>
          </a:p>
          <a:p>
            <a:pPr lvl="1">
              <a:lnSpc>
                <a:spcPct val="90000"/>
              </a:lnSpc>
            </a:pPr>
            <a:endParaRPr lang="en-US" altLang="en-US" sz="1800"/>
          </a:p>
        </p:txBody>
      </p:sp>
      <p:sp>
        <p:nvSpPr>
          <p:cNvPr id="564254" name="Rectangle 30"/>
          <p:cNvSpPr>
            <a:spLocks noChangeArrowheads="1"/>
          </p:cNvSpPr>
          <p:nvPr/>
        </p:nvSpPr>
        <p:spPr bwMode="auto">
          <a:xfrm>
            <a:off x="6094413" y="1060450"/>
            <a:ext cx="289718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y(t) = c0*x(t) + c1*x(t-1) + c2*x(t-2)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lide Number Placeholder 3"/>
          <p:cNvSpPr>
            <a:spLocks noGrp="1"/>
          </p:cNvSpPr>
          <p:nvPr>
            <p:ph type="sldNum" sz="quarter" idx="10"/>
          </p:nvPr>
        </p:nvSpPr>
        <p:spPr/>
        <p:txBody>
          <a:bodyPr/>
          <a:lstStyle/>
          <a:p>
            <a:fld id="{8CE04166-8CBD-4767-88C9-252A9087EEFD}" type="slidenum">
              <a:rPr lang="en-US" altLang="en-US"/>
              <a:pPr/>
              <a:t>51</a:t>
            </a:fld>
            <a:endParaRPr lang="en-US" altLang="en-US"/>
          </a:p>
        </p:txBody>
      </p:sp>
      <p:sp>
        <p:nvSpPr>
          <p:cNvPr id="566274" name="Rectangle 2"/>
          <p:cNvSpPr>
            <a:spLocks noGrp="1" noChangeArrowheads="1"/>
          </p:cNvSpPr>
          <p:nvPr>
            <p:ph type="title"/>
          </p:nvPr>
        </p:nvSpPr>
        <p:spPr/>
        <p:txBody>
          <a:bodyPr/>
          <a:lstStyle/>
          <a:p>
            <a:r>
              <a:rPr lang="en-US" altLang="en-US" u="sng"/>
              <a:t>Determining Clock Frequency</a:t>
            </a:r>
          </a:p>
        </p:txBody>
      </p:sp>
      <p:sp>
        <p:nvSpPr>
          <p:cNvPr id="566275" name="Rectangle 3"/>
          <p:cNvSpPr>
            <a:spLocks noGrp="1" noChangeArrowheads="1"/>
          </p:cNvSpPr>
          <p:nvPr>
            <p:ph type="body" idx="1"/>
          </p:nvPr>
        </p:nvSpPr>
        <p:spPr>
          <a:xfrm>
            <a:off x="228600" y="1219200"/>
            <a:ext cx="4564063" cy="4876800"/>
          </a:xfrm>
          <a:ln/>
          <a:extLst>
            <a:ext uri="{91240B29-F687-4F45-9708-019B960494DF}">
              <a14:hiddenLine xmlns:a14="http://schemas.microsoft.com/office/drawing/2010/main" w="9525">
                <a:solidFill>
                  <a:srgbClr val="0033CC"/>
                </a:solidFill>
                <a:miter lim="800000"/>
                <a:headEnd/>
                <a:tailEnd/>
              </a14:hiddenLine>
            </a:ext>
          </a:extLst>
        </p:spPr>
        <p:txBody>
          <a:bodyPr/>
          <a:lstStyle/>
          <a:p>
            <a:pPr>
              <a:lnSpc>
                <a:spcPct val="90000"/>
              </a:lnSpc>
            </a:pPr>
            <a:r>
              <a:rPr lang="en-US" altLang="en-US"/>
              <a:t>Designers of digital circuits often want fastest performance</a:t>
            </a:r>
          </a:p>
          <a:p>
            <a:pPr lvl="1">
              <a:lnSpc>
                <a:spcPct val="90000"/>
              </a:lnSpc>
            </a:pPr>
            <a:r>
              <a:rPr lang="en-US" altLang="en-US"/>
              <a:t>Means want high clock frequency</a:t>
            </a:r>
          </a:p>
          <a:p>
            <a:pPr>
              <a:lnSpc>
                <a:spcPct val="90000"/>
              </a:lnSpc>
            </a:pPr>
            <a:r>
              <a:rPr lang="en-US" altLang="en-US"/>
              <a:t>Frequency limited by </a:t>
            </a:r>
            <a:r>
              <a:rPr lang="en-US" altLang="en-US" b="1" i="1"/>
              <a:t>longest register-to-register delay</a:t>
            </a:r>
          </a:p>
          <a:p>
            <a:pPr lvl="1">
              <a:lnSpc>
                <a:spcPct val="90000"/>
              </a:lnSpc>
            </a:pPr>
            <a:r>
              <a:rPr lang="en-US" altLang="en-US"/>
              <a:t>Known as </a:t>
            </a:r>
            <a:r>
              <a:rPr lang="en-US" altLang="en-US" b="1" i="1">
                <a:solidFill>
                  <a:srgbClr val="0033CC"/>
                </a:solidFill>
              </a:rPr>
              <a:t>critical path</a:t>
            </a:r>
          </a:p>
          <a:p>
            <a:pPr lvl="1">
              <a:lnSpc>
                <a:spcPct val="90000"/>
              </a:lnSpc>
            </a:pPr>
            <a:r>
              <a:rPr lang="en-US" altLang="en-US"/>
              <a:t>If clock is any faster, incorrect data may be stored into register</a:t>
            </a:r>
          </a:p>
          <a:p>
            <a:pPr lvl="1">
              <a:lnSpc>
                <a:spcPct val="90000"/>
              </a:lnSpc>
            </a:pPr>
            <a:r>
              <a:rPr lang="en-US" altLang="en-US"/>
              <a:t>Longest path on right is 2 ns</a:t>
            </a:r>
          </a:p>
          <a:p>
            <a:pPr lvl="2">
              <a:lnSpc>
                <a:spcPct val="90000"/>
              </a:lnSpc>
            </a:pPr>
            <a:r>
              <a:rPr lang="en-US" altLang="en-US"/>
              <a:t>Ignoring wire delays, and register setup and hold times, for simplicity</a:t>
            </a:r>
          </a:p>
          <a:p>
            <a:pPr lvl="2">
              <a:lnSpc>
                <a:spcPct val="90000"/>
              </a:lnSpc>
            </a:pPr>
            <a:endParaRPr lang="en-US" altLang="en-US"/>
          </a:p>
        </p:txBody>
      </p:sp>
      <p:sp>
        <p:nvSpPr>
          <p:cNvPr id="566276" name="Text Box 4"/>
          <p:cNvSpPr txBox="1">
            <a:spLocks noChangeArrowheads="1"/>
          </p:cNvSpPr>
          <p:nvPr/>
        </p:nvSpPr>
        <p:spPr bwMode="auto">
          <a:xfrm>
            <a:off x="8458200" y="152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5.4</a:t>
            </a:r>
          </a:p>
        </p:txBody>
      </p:sp>
      <p:grpSp>
        <p:nvGrpSpPr>
          <p:cNvPr id="566315" name="Group 43"/>
          <p:cNvGrpSpPr>
            <a:grpSpLocks/>
          </p:cNvGrpSpPr>
          <p:nvPr/>
        </p:nvGrpSpPr>
        <p:grpSpPr bwMode="auto">
          <a:xfrm>
            <a:off x="5078413" y="1320800"/>
            <a:ext cx="3698875" cy="3756025"/>
            <a:chOff x="3199" y="832"/>
            <a:chExt cx="1588" cy="1632"/>
          </a:xfrm>
        </p:grpSpPr>
        <p:sp>
          <p:nvSpPr>
            <p:cNvPr id="566278" name="Line 6"/>
            <p:cNvSpPr>
              <a:spLocks noChangeShapeType="1"/>
            </p:cNvSpPr>
            <p:nvPr/>
          </p:nvSpPr>
          <p:spPr bwMode="auto">
            <a:xfrm>
              <a:off x="3243" y="1251"/>
              <a:ext cx="1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6279" name="Freeform 7"/>
            <p:cNvSpPr>
              <a:spLocks/>
            </p:cNvSpPr>
            <p:nvPr/>
          </p:nvSpPr>
          <p:spPr bwMode="auto">
            <a:xfrm>
              <a:off x="3415" y="1226"/>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80" name="Freeform 8"/>
            <p:cNvSpPr>
              <a:spLocks/>
            </p:cNvSpPr>
            <p:nvPr/>
          </p:nvSpPr>
          <p:spPr bwMode="auto">
            <a:xfrm>
              <a:off x="3340" y="1248"/>
              <a:ext cx="456" cy="925"/>
            </a:xfrm>
            <a:custGeom>
              <a:avLst/>
              <a:gdLst>
                <a:gd name="T0" fmla="*/ 456 w 456"/>
                <a:gd name="T1" fmla="*/ 925 h 925"/>
                <a:gd name="T2" fmla="*/ 0 w 456"/>
                <a:gd name="T3" fmla="*/ 925 h 925"/>
                <a:gd name="T4" fmla="*/ 0 w 456"/>
                <a:gd name="T5" fmla="*/ 0 h 925"/>
              </a:gdLst>
              <a:ahLst/>
              <a:cxnLst>
                <a:cxn ang="0">
                  <a:pos x="T0" y="T1"/>
                </a:cxn>
                <a:cxn ang="0">
                  <a:pos x="T2" y="T3"/>
                </a:cxn>
                <a:cxn ang="0">
                  <a:pos x="T4" y="T5"/>
                </a:cxn>
              </a:cxnLst>
              <a:rect l="0" t="0" r="r" b="b"/>
              <a:pathLst>
                <a:path w="456" h="925">
                  <a:moveTo>
                    <a:pt x="456" y="925"/>
                  </a:moveTo>
                  <a:lnTo>
                    <a:pt x="0" y="925"/>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281" name="Freeform 9"/>
            <p:cNvSpPr>
              <a:spLocks/>
            </p:cNvSpPr>
            <p:nvPr/>
          </p:nvSpPr>
          <p:spPr bwMode="auto">
            <a:xfrm>
              <a:off x="3780" y="214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82" name="Freeform 10"/>
            <p:cNvSpPr>
              <a:spLocks/>
            </p:cNvSpPr>
            <p:nvPr/>
          </p:nvSpPr>
          <p:spPr bwMode="auto">
            <a:xfrm>
              <a:off x="3340" y="1251"/>
              <a:ext cx="794" cy="144"/>
            </a:xfrm>
            <a:custGeom>
              <a:avLst/>
              <a:gdLst>
                <a:gd name="T0" fmla="*/ 794 w 794"/>
                <a:gd name="T1" fmla="*/ 0 h 144"/>
                <a:gd name="T2" fmla="*/ 731 w 794"/>
                <a:gd name="T3" fmla="*/ 0 h 144"/>
                <a:gd name="T4" fmla="*/ 731 w 794"/>
                <a:gd name="T5" fmla="*/ 144 h 144"/>
                <a:gd name="T6" fmla="*/ 0 w 794"/>
                <a:gd name="T7" fmla="*/ 144 h 144"/>
              </a:gdLst>
              <a:ahLst/>
              <a:cxnLst>
                <a:cxn ang="0">
                  <a:pos x="T0" y="T1"/>
                </a:cxn>
                <a:cxn ang="0">
                  <a:pos x="T2" y="T3"/>
                </a:cxn>
                <a:cxn ang="0">
                  <a:pos x="T4" y="T5"/>
                </a:cxn>
                <a:cxn ang="0">
                  <a:pos x="T6" y="T7"/>
                </a:cxn>
              </a:cxnLst>
              <a:rect l="0" t="0" r="r" b="b"/>
              <a:pathLst>
                <a:path w="794" h="144">
                  <a:moveTo>
                    <a:pt x="794" y="0"/>
                  </a:moveTo>
                  <a:lnTo>
                    <a:pt x="731" y="0"/>
                  </a:lnTo>
                  <a:lnTo>
                    <a:pt x="731" y="144"/>
                  </a:lnTo>
                  <a:lnTo>
                    <a:pt x="0" y="144"/>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283" name="Freeform 11"/>
            <p:cNvSpPr>
              <a:spLocks/>
            </p:cNvSpPr>
            <p:nvPr/>
          </p:nvSpPr>
          <p:spPr bwMode="auto">
            <a:xfrm>
              <a:off x="4115" y="1226"/>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84" name="Freeform 12"/>
            <p:cNvSpPr>
              <a:spLocks/>
            </p:cNvSpPr>
            <p:nvPr/>
          </p:nvSpPr>
          <p:spPr bwMode="auto">
            <a:xfrm>
              <a:off x="4290" y="1448"/>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85" name="Line 13"/>
            <p:cNvSpPr>
              <a:spLocks noChangeShapeType="1"/>
            </p:cNvSpPr>
            <p:nvPr/>
          </p:nvSpPr>
          <p:spPr bwMode="auto">
            <a:xfrm>
              <a:off x="4315" y="1323"/>
              <a:ext cx="1" cy="14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6286" name="Freeform 14"/>
            <p:cNvSpPr>
              <a:spLocks/>
            </p:cNvSpPr>
            <p:nvPr/>
          </p:nvSpPr>
          <p:spPr bwMode="auto">
            <a:xfrm>
              <a:off x="3943" y="1448"/>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87" name="Line 15"/>
            <p:cNvSpPr>
              <a:spLocks noChangeShapeType="1"/>
            </p:cNvSpPr>
            <p:nvPr/>
          </p:nvSpPr>
          <p:spPr bwMode="auto">
            <a:xfrm>
              <a:off x="3968" y="1323"/>
              <a:ext cx="1" cy="144"/>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6288" name="Freeform 16"/>
            <p:cNvSpPr>
              <a:spLocks/>
            </p:cNvSpPr>
            <p:nvPr/>
          </p:nvSpPr>
          <p:spPr bwMode="auto">
            <a:xfrm>
              <a:off x="4115" y="1883"/>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89" name="Line 17"/>
            <p:cNvSpPr>
              <a:spLocks noChangeShapeType="1"/>
            </p:cNvSpPr>
            <p:nvPr/>
          </p:nvSpPr>
          <p:spPr bwMode="auto">
            <a:xfrm>
              <a:off x="4140" y="1820"/>
              <a:ext cx="1" cy="8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6290" name="Freeform 18"/>
            <p:cNvSpPr>
              <a:spLocks/>
            </p:cNvSpPr>
            <p:nvPr/>
          </p:nvSpPr>
          <p:spPr bwMode="auto">
            <a:xfrm>
              <a:off x="4115" y="2333"/>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91" name="Line 19"/>
            <p:cNvSpPr>
              <a:spLocks noChangeShapeType="1"/>
            </p:cNvSpPr>
            <p:nvPr/>
          </p:nvSpPr>
          <p:spPr bwMode="auto">
            <a:xfrm>
              <a:off x="4140" y="2255"/>
              <a:ext cx="1" cy="93"/>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6292" name="Freeform 20"/>
            <p:cNvSpPr>
              <a:spLocks/>
            </p:cNvSpPr>
            <p:nvPr/>
          </p:nvSpPr>
          <p:spPr bwMode="auto">
            <a:xfrm>
              <a:off x="4452" y="948"/>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93" name="Line 21"/>
            <p:cNvSpPr>
              <a:spLocks noChangeShapeType="1"/>
            </p:cNvSpPr>
            <p:nvPr/>
          </p:nvSpPr>
          <p:spPr bwMode="auto">
            <a:xfrm>
              <a:off x="4477" y="870"/>
              <a:ext cx="1" cy="9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6294" name="Freeform 22"/>
            <p:cNvSpPr>
              <a:spLocks/>
            </p:cNvSpPr>
            <p:nvPr/>
          </p:nvSpPr>
          <p:spPr bwMode="auto">
            <a:xfrm>
              <a:off x="3743" y="948"/>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6295" name="Line 23"/>
            <p:cNvSpPr>
              <a:spLocks noChangeShapeType="1"/>
            </p:cNvSpPr>
            <p:nvPr/>
          </p:nvSpPr>
          <p:spPr bwMode="auto">
            <a:xfrm>
              <a:off x="3768" y="870"/>
              <a:ext cx="1" cy="9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6296" name="Oval 24"/>
            <p:cNvSpPr>
              <a:spLocks noChangeArrowheads="1"/>
            </p:cNvSpPr>
            <p:nvPr/>
          </p:nvSpPr>
          <p:spPr bwMode="auto">
            <a:xfrm>
              <a:off x="3315" y="1226"/>
              <a:ext cx="50" cy="50"/>
            </a:xfrm>
            <a:prstGeom prst="ellipse">
              <a:avLst/>
            </a:prstGeom>
            <a:solidFill>
              <a:srgbClr val="000000"/>
            </a:solidFill>
            <a:ln w="9525">
              <a:solidFill>
                <a:srgbClr val="000000"/>
              </a:solidFill>
              <a:miter lim="800000"/>
              <a:headEnd/>
              <a:tailEnd/>
            </a:ln>
          </p:spPr>
          <p:txBody>
            <a:bodyPr/>
            <a:lstStyle/>
            <a:p>
              <a:endParaRPr lang="en-US"/>
            </a:p>
          </p:txBody>
        </p:sp>
        <p:sp>
          <p:nvSpPr>
            <p:cNvPr id="566297" name="Oval 25"/>
            <p:cNvSpPr>
              <a:spLocks noChangeArrowheads="1"/>
            </p:cNvSpPr>
            <p:nvPr/>
          </p:nvSpPr>
          <p:spPr bwMode="auto">
            <a:xfrm>
              <a:off x="3315" y="1373"/>
              <a:ext cx="50" cy="47"/>
            </a:xfrm>
            <a:prstGeom prst="ellipse">
              <a:avLst/>
            </a:prstGeom>
            <a:solidFill>
              <a:srgbClr val="000000"/>
            </a:solidFill>
            <a:ln w="9525">
              <a:solidFill>
                <a:srgbClr val="000000"/>
              </a:solidFill>
              <a:miter lim="800000"/>
              <a:headEnd/>
              <a:tailEnd/>
            </a:ln>
          </p:spPr>
          <p:txBody>
            <a:bodyPr/>
            <a:lstStyle/>
            <a:p>
              <a:endParaRPr lang="en-US"/>
            </a:p>
          </p:txBody>
        </p:sp>
        <p:sp>
          <p:nvSpPr>
            <p:cNvPr id="566298" name="Rectangle 26"/>
            <p:cNvSpPr>
              <a:spLocks noChangeArrowheads="1"/>
            </p:cNvSpPr>
            <p:nvPr/>
          </p:nvSpPr>
          <p:spPr bwMode="auto">
            <a:xfrm>
              <a:off x="3744" y="1130"/>
              <a:ext cx="4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a</a:t>
              </a:r>
              <a:endParaRPr lang="en-US" altLang="en-US" sz="3600"/>
            </a:p>
          </p:txBody>
        </p:sp>
        <p:sp>
          <p:nvSpPr>
            <p:cNvPr id="566299" name="Rectangle 27"/>
            <p:cNvSpPr>
              <a:spLocks noChangeArrowheads="1"/>
            </p:cNvSpPr>
            <p:nvPr/>
          </p:nvSpPr>
          <p:spPr bwMode="auto">
            <a:xfrm>
              <a:off x="4099" y="1561"/>
              <a:ext cx="8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900">
                  <a:solidFill>
                    <a:srgbClr val="000000"/>
                  </a:solidFill>
                  <a:latin typeface="Symbol" panose="05050102010706020507" pitchFamily="18" charset="2"/>
                </a:rPr>
                <a:t>+</a:t>
              </a:r>
              <a:endParaRPr lang="en-US" altLang="en-US" sz="3600"/>
            </a:p>
          </p:txBody>
        </p:sp>
        <p:sp>
          <p:nvSpPr>
            <p:cNvPr id="566300" name="Freeform 28"/>
            <p:cNvSpPr>
              <a:spLocks/>
            </p:cNvSpPr>
            <p:nvPr/>
          </p:nvSpPr>
          <p:spPr bwMode="auto">
            <a:xfrm>
              <a:off x="3521" y="1195"/>
              <a:ext cx="103" cy="106"/>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301" name="Freeform 29"/>
            <p:cNvSpPr>
              <a:spLocks/>
            </p:cNvSpPr>
            <p:nvPr/>
          </p:nvSpPr>
          <p:spPr bwMode="auto">
            <a:xfrm>
              <a:off x="3884" y="1548"/>
              <a:ext cx="512" cy="269"/>
            </a:xfrm>
            <a:custGeom>
              <a:avLst/>
              <a:gdLst>
                <a:gd name="T0" fmla="*/ 512 w 512"/>
                <a:gd name="T1" fmla="*/ 0 h 269"/>
                <a:gd name="T2" fmla="*/ 387 w 512"/>
                <a:gd name="T3" fmla="*/ 269 h 269"/>
                <a:gd name="T4" fmla="*/ 131 w 512"/>
                <a:gd name="T5" fmla="*/ 269 h 269"/>
                <a:gd name="T6" fmla="*/ 0 w 512"/>
                <a:gd name="T7" fmla="*/ 0 h 269"/>
                <a:gd name="T8" fmla="*/ 512 w 512"/>
                <a:gd name="T9" fmla="*/ 0 h 269"/>
              </a:gdLst>
              <a:ahLst/>
              <a:cxnLst>
                <a:cxn ang="0">
                  <a:pos x="T0" y="T1"/>
                </a:cxn>
                <a:cxn ang="0">
                  <a:pos x="T2" y="T3"/>
                </a:cxn>
                <a:cxn ang="0">
                  <a:pos x="T4" y="T5"/>
                </a:cxn>
                <a:cxn ang="0">
                  <a:pos x="T6" y="T7"/>
                </a:cxn>
                <a:cxn ang="0">
                  <a:pos x="T8" y="T9"/>
                </a:cxn>
              </a:cxnLst>
              <a:rect l="0" t="0" r="r" b="b"/>
              <a:pathLst>
                <a:path w="512" h="269">
                  <a:moveTo>
                    <a:pt x="512" y="0"/>
                  </a:moveTo>
                  <a:lnTo>
                    <a:pt x="387" y="269"/>
                  </a:lnTo>
                  <a:lnTo>
                    <a:pt x="131" y="269"/>
                  </a:lnTo>
                  <a:lnTo>
                    <a:pt x="0" y="0"/>
                  </a:lnTo>
                  <a:lnTo>
                    <a:pt x="512"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302" name="Rectangle 30"/>
            <p:cNvSpPr>
              <a:spLocks noChangeArrowheads="1"/>
            </p:cNvSpPr>
            <p:nvPr/>
          </p:nvSpPr>
          <p:spPr bwMode="auto">
            <a:xfrm>
              <a:off x="4449" y="1130"/>
              <a:ext cx="52"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b</a:t>
              </a:r>
              <a:endParaRPr lang="en-US" altLang="en-US" sz="3600"/>
            </a:p>
          </p:txBody>
        </p:sp>
        <p:sp>
          <p:nvSpPr>
            <p:cNvPr id="566303" name="Freeform 31"/>
            <p:cNvSpPr>
              <a:spLocks/>
            </p:cNvSpPr>
            <p:nvPr/>
          </p:nvSpPr>
          <p:spPr bwMode="auto">
            <a:xfrm>
              <a:off x="4224" y="1195"/>
              <a:ext cx="103" cy="106"/>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304" name="Rectangle 32"/>
            <p:cNvSpPr>
              <a:spLocks noChangeArrowheads="1"/>
            </p:cNvSpPr>
            <p:nvPr/>
          </p:nvSpPr>
          <p:spPr bwMode="auto">
            <a:xfrm>
              <a:off x="4221" y="1054"/>
              <a:ext cx="513" cy="26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305" name="Rectangle 33"/>
            <p:cNvSpPr>
              <a:spLocks noChangeArrowheads="1"/>
            </p:cNvSpPr>
            <p:nvPr/>
          </p:nvSpPr>
          <p:spPr bwMode="auto">
            <a:xfrm>
              <a:off x="4118" y="2057"/>
              <a:ext cx="45"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c</a:t>
              </a:r>
              <a:endParaRPr lang="en-US" altLang="en-US" sz="3600"/>
            </a:p>
          </p:txBody>
        </p:sp>
        <p:sp>
          <p:nvSpPr>
            <p:cNvPr id="566306" name="Freeform 34"/>
            <p:cNvSpPr>
              <a:spLocks/>
            </p:cNvSpPr>
            <p:nvPr/>
          </p:nvSpPr>
          <p:spPr bwMode="auto">
            <a:xfrm>
              <a:off x="3887" y="2123"/>
              <a:ext cx="103" cy="103"/>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307" name="Rectangle 35"/>
            <p:cNvSpPr>
              <a:spLocks noChangeArrowheads="1"/>
            </p:cNvSpPr>
            <p:nvPr/>
          </p:nvSpPr>
          <p:spPr bwMode="auto">
            <a:xfrm>
              <a:off x="3884" y="1979"/>
              <a:ext cx="512" cy="26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308" name="Rectangle 36"/>
            <p:cNvSpPr>
              <a:spLocks noChangeArrowheads="1"/>
            </p:cNvSpPr>
            <p:nvPr/>
          </p:nvSpPr>
          <p:spPr bwMode="auto">
            <a:xfrm>
              <a:off x="3518" y="1054"/>
              <a:ext cx="512" cy="26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309" name="Rectangle 37"/>
            <p:cNvSpPr>
              <a:spLocks noChangeArrowheads="1"/>
            </p:cNvSpPr>
            <p:nvPr/>
          </p:nvSpPr>
          <p:spPr bwMode="auto">
            <a:xfrm>
              <a:off x="3708" y="1586"/>
              <a:ext cx="17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2 ns</a:t>
              </a:r>
              <a:endParaRPr lang="en-US" altLang="en-US" sz="3600"/>
            </a:p>
          </p:txBody>
        </p:sp>
        <p:sp>
          <p:nvSpPr>
            <p:cNvPr id="566310" name="Rectangle 38"/>
            <p:cNvSpPr>
              <a:spLocks noChangeArrowheads="1"/>
            </p:cNvSpPr>
            <p:nvPr/>
          </p:nvSpPr>
          <p:spPr bwMode="auto">
            <a:xfrm>
              <a:off x="3651" y="1706"/>
              <a:ext cx="1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del</a:t>
              </a:r>
              <a:endParaRPr lang="en-US" altLang="en-US" sz="3600"/>
            </a:p>
          </p:txBody>
        </p:sp>
        <p:sp>
          <p:nvSpPr>
            <p:cNvPr id="566311" name="Rectangle 39"/>
            <p:cNvSpPr>
              <a:spLocks noChangeArrowheads="1"/>
            </p:cNvSpPr>
            <p:nvPr/>
          </p:nvSpPr>
          <p:spPr bwMode="auto">
            <a:xfrm>
              <a:off x="3781" y="1706"/>
              <a:ext cx="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a</a:t>
              </a:r>
              <a:endParaRPr lang="en-US" altLang="en-US" sz="3600"/>
            </a:p>
          </p:txBody>
        </p:sp>
        <p:sp>
          <p:nvSpPr>
            <p:cNvPr id="566312" name="Rectangle 40"/>
            <p:cNvSpPr>
              <a:spLocks noChangeArrowheads="1"/>
            </p:cNvSpPr>
            <p:nvPr/>
          </p:nvSpPr>
          <p:spPr bwMode="auto">
            <a:xfrm>
              <a:off x="3828" y="170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y</a:t>
              </a:r>
              <a:endParaRPr lang="en-US" altLang="en-US" sz="3600"/>
            </a:p>
          </p:txBody>
        </p:sp>
        <p:sp>
          <p:nvSpPr>
            <p:cNvPr id="566313" name="Rectangle 41"/>
            <p:cNvSpPr>
              <a:spLocks noChangeArrowheads="1"/>
            </p:cNvSpPr>
            <p:nvPr/>
          </p:nvSpPr>
          <p:spPr bwMode="auto">
            <a:xfrm>
              <a:off x="3199" y="832"/>
              <a:ext cx="1588" cy="163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6314" name="Rectangle 42"/>
            <p:cNvSpPr>
              <a:spLocks noChangeArrowheads="1"/>
            </p:cNvSpPr>
            <p:nvPr/>
          </p:nvSpPr>
          <p:spPr bwMode="auto">
            <a:xfrm>
              <a:off x="3278" y="1108"/>
              <a:ext cx="1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clk</a:t>
              </a:r>
              <a:endParaRPr lang="en-US" altLang="en-US" sz="3600"/>
            </a:p>
          </p:txBody>
        </p:sp>
      </p:grpSp>
      <p:sp>
        <p:nvSpPr>
          <p:cNvPr id="566316" name="Freeform 44"/>
          <p:cNvSpPr>
            <a:spLocks/>
          </p:cNvSpPr>
          <p:nvPr/>
        </p:nvSpPr>
        <p:spPr bwMode="auto">
          <a:xfrm>
            <a:off x="6451600" y="2343150"/>
            <a:ext cx="693738" cy="1627188"/>
          </a:xfrm>
          <a:custGeom>
            <a:avLst/>
            <a:gdLst>
              <a:gd name="T0" fmla="*/ 0 w 437"/>
              <a:gd name="T1" fmla="*/ 0 h 1025"/>
              <a:gd name="T2" fmla="*/ 378 w 437"/>
              <a:gd name="T3" fmla="*/ 568 h 1025"/>
              <a:gd name="T4" fmla="*/ 355 w 437"/>
              <a:gd name="T5" fmla="*/ 1025 h 1025"/>
            </a:gdLst>
            <a:ahLst/>
            <a:cxnLst>
              <a:cxn ang="0">
                <a:pos x="T0" y="T1"/>
              </a:cxn>
              <a:cxn ang="0">
                <a:pos x="T2" y="T3"/>
              </a:cxn>
              <a:cxn ang="0">
                <a:pos x="T4" y="T5"/>
              </a:cxn>
            </a:cxnLst>
            <a:rect l="0" t="0" r="r" b="b"/>
            <a:pathLst>
              <a:path w="437" h="1025">
                <a:moveTo>
                  <a:pt x="0" y="0"/>
                </a:moveTo>
                <a:cubicBezTo>
                  <a:pt x="159" y="198"/>
                  <a:pt x="319" y="397"/>
                  <a:pt x="378" y="568"/>
                </a:cubicBezTo>
                <a:cubicBezTo>
                  <a:pt x="437" y="739"/>
                  <a:pt x="396" y="882"/>
                  <a:pt x="355" y="1025"/>
                </a:cubicBezTo>
              </a:path>
            </a:pathLst>
          </a:custGeom>
          <a:noFill/>
          <a:ln w="19050" cmpd="sng">
            <a:solidFill>
              <a:srgbClr val="FF0000"/>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6317" name="Freeform 45"/>
          <p:cNvSpPr>
            <a:spLocks/>
          </p:cNvSpPr>
          <p:nvPr/>
        </p:nvSpPr>
        <p:spPr bwMode="auto">
          <a:xfrm flipH="1">
            <a:off x="7404100" y="2368550"/>
            <a:ext cx="693738" cy="1627188"/>
          </a:xfrm>
          <a:custGeom>
            <a:avLst/>
            <a:gdLst>
              <a:gd name="T0" fmla="*/ 0 w 437"/>
              <a:gd name="T1" fmla="*/ 0 h 1025"/>
              <a:gd name="T2" fmla="*/ 378 w 437"/>
              <a:gd name="T3" fmla="*/ 568 h 1025"/>
              <a:gd name="T4" fmla="*/ 355 w 437"/>
              <a:gd name="T5" fmla="*/ 1025 h 1025"/>
            </a:gdLst>
            <a:ahLst/>
            <a:cxnLst>
              <a:cxn ang="0">
                <a:pos x="T0" y="T1"/>
              </a:cxn>
              <a:cxn ang="0">
                <a:pos x="T2" y="T3"/>
              </a:cxn>
              <a:cxn ang="0">
                <a:pos x="T4" y="T5"/>
              </a:cxn>
            </a:cxnLst>
            <a:rect l="0" t="0" r="r" b="b"/>
            <a:pathLst>
              <a:path w="437" h="1025">
                <a:moveTo>
                  <a:pt x="0" y="0"/>
                </a:moveTo>
                <a:cubicBezTo>
                  <a:pt x="159" y="198"/>
                  <a:pt x="319" y="397"/>
                  <a:pt x="378" y="568"/>
                </a:cubicBezTo>
                <a:cubicBezTo>
                  <a:pt x="437" y="739"/>
                  <a:pt x="396" y="882"/>
                  <a:pt x="355" y="1025"/>
                </a:cubicBezTo>
              </a:path>
            </a:pathLst>
          </a:custGeom>
          <a:noFill/>
          <a:ln w="19050" cmpd="sng">
            <a:solidFill>
              <a:srgbClr val="FF0000"/>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lide Number Placeholder 3"/>
          <p:cNvSpPr>
            <a:spLocks noGrp="1"/>
          </p:cNvSpPr>
          <p:nvPr>
            <p:ph type="sldNum" sz="quarter" idx="10"/>
          </p:nvPr>
        </p:nvSpPr>
        <p:spPr/>
        <p:txBody>
          <a:bodyPr/>
          <a:lstStyle/>
          <a:p>
            <a:fld id="{479915E0-F15A-43E9-A089-B8C9E705BAC7}" type="slidenum">
              <a:rPr lang="en-US" altLang="en-US"/>
              <a:pPr/>
              <a:t>52</a:t>
            </a:fld>
            <a:endParaRPr lang="en-US" altLang="en-US"/>
          </a:p>
        </p:txBody>
      </p:sp>
      <p:sp>
        <p:nvSpPr>
          <p:cNvPr id="567298" name="Rectangle 2"/>
          <p:cNvSpPr>
            <a:spLocks noGrp="1" noChangeArrowheads="1"/>
          </p:cNvSpPr>
          <p:nvPr>
            <p:ph type="title"/>
          </p:nvPr>
        </p:nvSpPr>
        <p:spPr/>
        <p:txBody>
          <a:bodyPr/>
          <a:lstStyle/>
          <a:p>
            <a:r>
              <a:rPr lang="en-US" altLang="en-US"/>
              <a:t>Critical Path</a:t>
            </a:r>
          </a:p>
        </p:txBody>
      </p:sp>
      <p:sp>
        <p:nvSpPr>
          <p:cNvPr id="567299" name="Rectangle 3"/>
          <p:cNvSpPr>
            <a:spLocks noGrp="1" noChangeArrowheads="1"/>
          </p:cNvSpPr>
          <p:nvPr>
            <p:ph type="body" idx="1"/>
          </p:nvPr>
        </p:nvSpPr>
        <p:spPr>
          <a:xfrm>
            <a:off x="228600" y="1219200"/>
            <a:ext cx="4189413" cy="4876800"/>
          </a:xfrm>
        </p:spPr>
        <p:txBody>
          <a:bodyPr/>
          <a:lstStyle/>
          <a:p>
            <a:r>
              <a:rPr lang="en-US" altLang="en-US"/>
              <a:t>Example shows four paths</a:t>
            </a:r>
          </a:p>
          <a:p>
            <a:pPr lvl="1"/>
            <a:r>
              <a:rPr lang="en-US" altLang="en-US"/>
              <a:t>a to c through +: 2 ns</a:t>
            </a:r>
          </a:p>
          <a:p>
            <a:pPr lvl="1"/>
            <a:r>
              <a:rPr lang="en-US" altLang="en-US"/>
              <a:t>a to d through + and *: 7 ns</a:t>
            </a:r>
          </a:p>
          <a:p>
            <a:pPr lvl="1"/>
            <a:r>
              <a:rPr lang="en-US" altLang="en-US"/>
              <a:t>b to d through + and *: 7 ns</a:t>
            </a:r>
          </a:p>
          <a:p>
            <a:pPr lvl="1"/>
            <a:r>
              <a:rPr lang="en-US" altLang="en-US"/>
              <a:t>b to d through *: 5 ns</a:t>
            </a:r>
          </a:p>
          <a:p>
            <a:r>
              <a:rPr lang="en-US" altLang="en-US"/>
              <a:t>Longest path is thus 7 ns</a:t>
            </a:r>
          </a:p>
          <a:p>
            <a:r>
              <a:rPr lang="en-US" altLang="en-US"/>
              <a:t>Fastest frequency</a:t>
            </a:r>
          </a:p>
          <a:p>
            <a:pPr lvl="1"/>
            <a:r>
              <a:rPr lang="en-US" altLang="en-US"/>
              <a:t>1 / 7 ns = 142 MHz</a:t>
            </a:r>
          </a:p>
        </p:txBody>
      </p:sp>
      <p:sp>
        <p:nvSpPr>
          <p:cNvPr id="567339" name="Freeform 43"/>
          <p:cNvSpPr>
            <a:spLocks/>
          </p:cNvSpPr>
          <p:nvPr/>
        </p:nvSpPr>
        <p:spPr bwMode="auto">
          <a:xfrm>
            <a:off x="7032625" y="3041650"/>
            <a:ext cx="88900" cy="1793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40" name="Freeform 44"/>
          <p:cNvSpPr>
            <a:spLocks/>
          </p:cNvSpPr>
          <p:nvPr/>
        </p:nvSpPr>
        <p:spPr bwMode="auto">
          <a:xfrm>
            <a:off x="6051550" y="2992438"/>
            <a:ext cx="1025525" cy="827087"/>
          </a:xfrm>
          <a:custGeom>
            <a:avLst/>
            <a:gdLst>
              <a:gd name="T0" fmla="*/ 437 w 437"/>
              <a:gd name="T1" fmla="*/ 33 h 352"/>
              <a:gd name="T2" fmla="*/ 437 w 437"/>
              <a:gd name="T3" fmla="*/ 0 h 352"/>
              <a:gd name="T4" fmla="*/ 265 w 437"/>
              <a:gd name="T5" fmla="*/ 0 h 352"/>
              <a:gd name="T6" fmla="*/ 265 w 437"/>
              <a:gd name="T7" fmla="*/ 352 h 352"/>
              <a:gd name="T8" fmla="*/ 0 w 437"/>
              <a:gd name="T9" fmla="*/ 352 h 352"/>
            </a:gdLst>
            <a:ahLst/>
            <a:cxnLst>
              <a:cxn ang="0">
                <a:pos x="T0" y="T1"/>
              </a:cxn>
              <a:cxn ang="0">
                <a:pos x="T2" y="T3"/>
              </a:cxn>
              <a:cxn ang="0">
                <a:pos x="T4" y="T5"/>
              </a:cxn>
              <a:cxn ang="0">
                <a:pos x="T6" y="T7"/>
              </a:cxn>
              <a:cxn ang="0">
                <a:pos x="T8" y="T9"/>
              </a:cxn>
            </a:cxnLst>
            <a:rect l="0" t="0" r="r" b="b"/>
            <a:pathLst>
              <a:path w="437" h="352">
                <a:moveTo>
                  <a:pt x="437" y="33"/>
                </a:moveTo>
                <a:lnTo>
                  <a:pt x="437" y="0"/>
                </a:lnTo>
                <a:lnTo>
                  <a:pt x="265" y="0"/>
                </a:lnTo>
                <a:lnTo>
                  <a:pt x="265" y="352"/>
                </a:lnTo>
                <a:lnTo>
                  <a:pt x="0" y="352"/>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41" name="Freeform 45"/>
          <p:cNvSpPr>
            <a:spLocks/>
          </p:cNvSpPr>
          <p:nvPr/>
        </p:nvSpPr>
        <p:spPr bwMode="auto">
          <a:xfrm>
            <a:off x="5780088" y="3041650"/>
            <a:ext cx="88900" cy="1793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42" name="Line 46"/>
          <p:cNvSpPr>
            <a:spLocks noChangeShapeType="1"/>
          </p:cNvSpPr>
          <p:nvPr/>
        </p:nvSpPr>
        <p:spPr bwMode="auto">
          <a:xfrm>
            <a:off x="5824538" y="2789238"/>
            <a:ext cx="1587" cy="28098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7343" name="Freeform 47"/>
          <p:cNvSpPr>
            <a:spLocks/>
          </p:cNvSpPr>
          <p:nvPr/>
        </p:nvSpPr>
        <p:spPr bwMode="auto">
          <a:xfrm>
            <a:off x="6015038" y="3919538"/>
            <a:ext cx="85725" cy="176212"/>
          </a:xfrm>
          <a:custGeom>
            <a:avLst/>
            <a:gdLst>
              <a:gd name="T0" fmla="*/ 18 w 37"/>
              <a:gd name="T1" fmla="*/ 75 h 75"/>
              <a:gd name="T2" fmla="*/ 37 w 37"/>
              <a:gd name="T3" fmla="*/ 0 h 75"/>
              <a:gd name="T4" fmla="*/ 0 w 37"/>
              <a:gd name="T5" fmla="*/ 0 h 75"/>
              <a:gd name="T6" fmla="*/ 18 w 37"/>
              <a:gd name="T7" fmla="*/ 75 h 75"/>
            </a:gdLst>
            <a:ahLst/>
            <a:cxnLst>
              <a:cxn ang="0">
                <a:pos x="T0" y="T1"/>
              </a:cxn>
              <a:cxn ang="0">
                <a:pos x="T2" y="T3"/>
              </a:cxn>
              <a:cxn ang="0">
                <a:pos x="T4" y="T5"/>
              </a:cxn>
              <a:cxn ang="0">
                <a:pos x="T6" y="T7"/>
              </a:cxn>
            </a:cxnLst>
            <a:rect l="0" t="0" r="r" b="b"/>
            <a:pathLst>
              <a:path w="37" h="75">
                <a:moveTo>
                  <a:pt x="18" y="75"/>
                </a:moveTo>
                <a:lnTo>
                  <a:pt x="37" y="0"/>
                </a:lnTo>
                <a:lnTo>
                  <a:pt x="0" y="0"/>
                </a:lnTo>
                <a:lnTo>
                  <a:pt x="18"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44" name="Line 48"/>
          <p:cNvSpPr>
            <a:spLocks noChangeShapeType="1"/>
          </p:cNvSpPr>
          <p:nvPr/>
        </p:nvSpPr>
        <p:spPr bwMode="auto">
          <a:xfrm>
            <a:off x="6056313" y="3703638"/>
            <a:ext cx="3175" cy="24923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7345" name="Freeform 49"/>
          <p:cNvSpPr>
            <a:spLocks/>
          </p:cNvSpPr>
          <p:nvPr/>
        </p:nvSpPr>
        <p:spPr bwMode="auto">
          <a:xfrm>
            <a:off x="6235700" y="3041650"/>
            <a:ext cx="88900" cy="1793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46" name="Freeform 50"/>
          <p:cNvSpPr>
            <a:spLocks/>
          </p:cNvSpPr>
          <p:nvPr/>
        </p:nvSpPr>
        <p:spPr bwMode="auto">
          <a:xfrm>
            <a:off x="6280150" y="2887663"/>
            <a:ext cx="1241425" cy="182562"/>
          </a:xfrm>
          <a:custGeom>
            <a:avLst/>
            <a:gdLst>
              <a:gd name="T0" fmla="*/ 0 w 529"/>
              <a:gd name="T1" fmla="*/ 78 h 78"/>
              <a:gd name="T2" fmla="*/ 0 w 529"/>
              <a:gd name="T3" fmla="*/ 0 h 78"/>
              <a:gd name="T4" fmla="*/ 529 w 529"/>
              <a:gd name="T5" fmla="*/ 0 h 78"/>
            </a:gdLst>
            <a:ahLst/>
            <a:cxnLst>
              <a:cxn ang="0">
                <a:pos x="T0" y="T1"/>
              </a:cxn>
              <a:cxn ang="0">
                <a:pos x="T2" y="T3"/>
              </a:cxn>
              <a:cxn ang="0">
                <a:pos x="T4" y="T5"/>
              </a:cxn>
            </a:cxnLst>
            <a:rect l="0" t="0" r="r" b="b"/>
            <a:pathLst>
              <a:path w="529" h="78">
                <a:moveTo>
                  <a:pt x="0" y="78"/>
                </a:moveTo>
                <a:lnTo>
                  <a:pt x="0" y="0"/>
                </a:lnTo>
                <a:lnTo>
                  <a:pt x="529"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47" name="Freeform 51"/>
          <p:cNvSpPr>
            <a:spLocks/>
          </p:cNvSpPr>
          <p:nvPr/>
        </p:nvSpPr>
        <p:spPr bwMode="auto">
          <a:xfrm>
            <a:off x="6007100" y="4705350"/>
            <a:ext cx="88900" cy="1793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48" name="Line 52"/>
          <p:cNvSpPr>
            <a:spLocks noChangeShapeType="1"/>
          </p:cNvSpPr>
          <p:nvPr/>
        </p:nvSpPr>
        <p:spPr bwMode="auto">
          <a:xfrm>
            <a:off x="6051550" y="4567238"/>
            <a:ext cx="3175" cy="16668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7349" name="Freeform 53"/>
          <p:cNvSpPr>
            <a:spLocks/>
          </p:cNvSpPr>
          <p:nvPr/>
        </p:nvSpPr>
        <p:spPr bwMode="auto">
          <a:xfrm>
            <a:off x="7256463" y="2122488"/>
            <a:ext cx="85725" cy="177800"/>
          </a:xfrm>
          <a:custGeom>
            <a:avLst/>
            <a:gdLst>
              <a:gd name="T0" fmla="*/ 18 w 37"/>
              <a:gd name="T1" fmla="*/ 76 h 76"/>
              <a:gd name="T2" fmla="*/ 37 w 37"/>
              <a:gd name="T3" fmla="*/ 0 h 76"/>
              <a:gd name="T4" fmla="*/ 0 w 37"/>
              <a:gd name="T5" fmla="*/ 0 h 76"/>
              <a:gd name="T6" fmla="*/ 18 w 37"/>
              <a:gd name="T7" fmla="*/ 76 h 76"/>
            </a:gdLst>
            <a:ahLst/>
            <a:cxnLst>
              <a:cxn ang="0">
                <a:pos x="T0" y="T1"/>
              </a:cxn>
              <a:cxn ang="0">
                <a:pos x="T2" y="T3"/>
              </a:cxn>
              <a:cxn ang="0">
                <a:pos x="T4" y="T5"/>
              </a:cxn>
              <a:cxn ang="0">
                <a:pos x="T6" y="T7"/>
              </a:cxn>
            </a:cxnLst>
            <a:rect l="0" t="0" r="r" b="b"/>
            <a:pathLst>
              <a:path w="37" h="76">
                <a:moveTo>
                  <a:pt x="18" y="76"/>
                </a:moveTo>
                <a:lnTo>
                  <a:pt x="37" y="0"/>
                </a:lnTo>
                <a:lnTo>
                  <a:pt x="0" y="0"/>
                </a:lnTo>
                <a:lnTo>
                  <a:pt x="18"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50" name="Line 54"/>
          <p:cNvSpPr>
            <a:spLocks noChangeShapeType="1"/>
          </p:cNvSpPr>
          <p:nvPr/>
        </p:nvSpPr>
        <p:spPr bwMode="auto">
          <a:xfrm>
            <a:off x="7297738" y="1979613"/>
            <a:ext cx="3175" cy="177800"/>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7351" name="Freeform 55"/>
          <p:cNvSpPr>
            <a:spLocks/>
          </p:cNvSpPr>
          <p:nvPr/>
        </p:nvSpPr>
        <p:spPr bwMode="auto">
          <a:xfrm>
            <a:off x="5995988" y="2122488"/>
            <a:ext cx="88900" cy="177800"/>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52" name="Line 56"/>
          <p:cNvSpPr>
            <a:spLocks noChangeShapeType="1"/>
          </p:cNvSpPr>
          <p:nvPr/>
        </p:nvSpPr>
        <p:spPr bwMode="auto">
          <a:xfrm>
            <a:off x="6040438" y="1979613"/>
            <a:ext cx="1587" cy="177800"/>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7353" name="Oval 57"/>
          <p:cNvSpPr>
            <a:spLocks noChangeArrowheads="1"/>
          </p:cNvSpPr>
          <p:nvPr/>
        </p:nvSpPr>
        <p:spPr bwMode="auto">
          <a:xfrm>
            <a:off x="6015038" y="3775075"/>
            <a:ext cx="85725" cy="84138"/>
          </a:xfrm>
          <a:prstGeom prst="ellipse">
            <a:avLst/>
          </a:prstGeom>
          <a:solidFill>
            <a:srgbClr val="000000"/>
          </a:solidFill>
          <a:ln w="7938">
            <a:solidFill>
              <a:srgbClr val="000000"/>
            </a:solidFill>
            <a:miter lim="800000"/>
            <a:headEnd/>
            <a:tailEnd/>
          </a:ln>
        </p:spPr>
        <p:txBody>
          <a:bodyPr/>
          <a:lstStyle/>
          <a:p>
            <a:endParaRPr lang="en-US"/>
          </a:p>
        </p:txBody>
      </p:sp>
      <p:sp>
        <p:nvSpPr>
          <p:cNvPr id="567354" name="Oval 58"/>
          <p:cNvSpPr>
            <a:spLocks noChangeArrowheads="1"/>
          </p:cNvSpPr>
          <p:nvPr/>
        </p:nvSpPr>
        <p:spPr bwMode="auto">
          <a:xfrm>
            <a:off x="7477125" y="2849563"/>
            <a:ext cx="88900" cy="82550"/>
          </a:xfrm>
          <a:prstGeom prst="ellipse">
            <a:avLst/>
          </a:prstGeom>
          <a:solidFill>
            <a:srgbClr val="000000"/>
          </a:solidFill>
          <a:ln w="7938">
            <a:solidFill>
              <a:srgbClr val="000000"/>
            </a:solidFill>
            <a:miter lim="800000"/>
            <a:headEnd/>
            <a:tailEnd/>
          </a:ln>
        </p:spPr>
        <p:txBody>
          <a:bodyPr/>
          <a:lstStyle/>
          <a:p>
            <a:endParaRPr lang="en-US"/>
          </a:p>
        </p:txBody>
      </p:sp>
      <p:sp>
        <p:nvSpPr>
          <p:cNvPr id="567355" name="Rectangle 59"/>
          <p:cNvSpPr>
            <a:spLocks noChangeArrowheads="1"/>
          </p:cNvSpPr>
          <p:nvPr/>
        </p:nvSpPr>
        <p:spPr bwMode="auto">
          <a:xfrm>
            <a:off x="5972175" y="3267075"/>
            <a:ext cx="133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a:t>
            </a:r>
            <a:endParaRPr lang="en-US" altLang="en-US" sz="2400">
              <a:latin typeface="Arial" panose="020B0604020202020204" pitchFamily="34" charset="0"/>
            </a:endParaRPr>
          </a:p>
        </p:txBody>
      </p:sp>
      <p:sp>
        <p:nvSpPr>
          <p:cNvPr id="567356" name="Freeform 60"/>
          <p:cNvSpPr>
            <a:spLocks/>
          </p:cNvSpPr>
          <p:nvPr/>
        </p:nvSpPr>
        <p:spPr bwMode="auto">
          <a:xfrm>
            <a:off x="5597525" y="3221038"/>
            <a:ext cx="909638" cy="476250"/>
          </a:xfrm>
          <a:custGeom>
            <a:avLst/>
            <a:gdLst>
              <a:gd name="T0" fmla="*/ 388 w 388"/>
              <a:gd name="T1" fmla="*/ 0 h 203"/>
              <a:gd name="T2" fmla="*/ 293 w 388"/>
              <a:gd name="T3" fmla="*/ 203 h 203"/>
              <a:gd name="T4" fmla="*/ 100 w 388"/>
              <a:gd name="T5" fmla="*/ 203 h 203"/>
              <a:gd name="T6" fmla="*/ 0 w 388"/>
              <a:gd name="T7" fmla="*/ 0 h 203"/>
              <a:gd name="T8" fmla="*/ 388 w 388"/>
              <a:gd name="T9" fmla="*/ 0 h 203"/>
            </a:gdLst>
            <a:ahLst/>
            <a:cxnLst>
              <a:cxn ang="0">
                <a:pos x="T0" y="T1"/>
              </a:cxn>
              <a:cxn ang="0">
                <a:pos x="T2" y="T3"/>
              </a:cxn>
              <a:cxn ang="0">
                <a:pos x="T4" y="T5"/>
              </a:cxn>
              <a:cxn ang="0">
                <a:pos x="T6" y="T7"/>
              </a:cxn>
              <a:cxn ang="0">
                <a:pos x="T8" y="T9"/>
              </a:cxn>
            </a:cxnLst>
            <a:rect l="0" t="0" r="r" b="b"/>
            <a:pathLst>
              <a:path w="388" h="203">
                <a:moveTo>
                  <a:pt x="388" y="0"/>
                </a:moveTo>
                <a:lnTo>
                  <a:pt x="293" y="203"/>
                </a:lnTo>
                <a:lnTo>
                  <a:pt x="100" y="203"/>
                </a:lnTo>
                <a:lnTo>
                  <a:pt x="0" y="0"/>
                </a:lnTo>
                <a:lnTo>
                  <a:pt x="388" y="0"/>
                </a:lnTo>
                <a:close/>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57" name="Rectangle 61"/>
          <p:cNvSpPr>
            <a:spLocks noChangeArrowheads="1"/>
          </p:cNvSpPr>
          <p:nvPr/>
        </p:nvSpPr>
        <p:spPr bwMode="auto">
          <a:xfrm>
            <a:off x="7253288" y="3306763"/>
            <a:ext cx="793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a:t>
            </a:r>
            <a:endParaRPr lang="en-US" altLang="en-US" sz="2400">
              <a:latin typeface="Arial" panose="020B0604020202020204" pitchFamily="34" charset="0"/>
            </a:endParaRPr>
          </a:p>
        </p:txBody>
      </p:sp>
      <p:sp>
        <p:nvSpPr>
          <p:cNvPr id="567358" name="Freeform 62"/>
          <p:cNvSpPr>
            <a:spLocks/>
          </p:cNvSpPr>
          <p:nvPr/>
        </p:nvSpPr>
        <p:spPr bwMode="auto">
          <a:xfrm>
            <a:off x="6845300" y="3221038"/>
            <a:ext cx="908050" cy="476250"/>
          </a:xfrm>
          <a:custGeom>
            <a:avLst/>
            <a:gdLst>
              <a:gd name="T0" fmla="*/ 387 w 387"/>
              <a:gd name="T1" fmla="*/ 0 h 203"/>
              <a:gd name="T2" fmla="*/ 293 w 387"/>
              <a:gd name="T3" fmla="*/ 203 h 203"/>
              <a:gd name="T4" fmla="*/ 99 w 387"/>
              <a:gd name="T5" fmla="*/ 203 h 203"/>
              <a:gd name="T6" fmla="*/ 0 w 387"/>
              <a:gd name="T7" fmla="*/ 0 h 203"/>
              <a:gd name="T8" fmla="*/ 387 w 387"/>
              <a:gd name="T9" fmla="*/ 0 h 203"/>
            </a:gdLst>
            <a:ahLst/>
            <a:cxnLst>
              <a:cxn ang="0">
                <a:pos x="T0" y="T1"/>
              </a:cxn>
              <a:cxn ang="0">
                <a:pos x="T2" y="T3"/>
              </a:cxn>
              <a:cxn ang="0">
                <a:pos x="T4" y="T5"/>
              </a:cxn>
              <a:cxn ang="0">
                <a:pos x="T6" y="T7"/>
              </a:cxn>
              <a:cxn ang="0">
                <a:pos x="T8" y="T9"/>
              </a:cxn>
            </a:cxnLst>
            <a:rect l="0" t="0" r="r" b="b"/>
            <a:pathLst>
              <a:path w="387" h="203">
                <a:moveTo>
                  <a:pt x="387" y="0"/>
                </a:moveTo>
                <a:lnTo>
                  <a:pt x="293" y="203"/>
                </a:lnTo>
                <a:lnTo>
                  <a:pt x="99" y="203"/>
                </a:lnTo>
                <a:lnTo>
                  <a:pt x="0" y="0"/>
                </a:lnTo>
                <a:lnTo>
                  <a:pt x="387" y="0"/>
                </a:lnTo>
                <a:close/>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59" name="Rectangle 63"/>
          <p:cNvSpPr>
            <a:spLocks noChangeArrowheads="1"/>
          </p:cNvSpPr>
          <p:nvPr/>
        </p:nvSpPr>
        <p:spPr bwMode="auto">
          <a:xfrm>
            <a:off x="6010275" y="4219575"/>
            <a:ext cx="77788"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2400">
              <a:latin typeface="Arial" panose="020B0604020202020204" pitchFamily="34" charset="0"/>
            </a:endParaRPr>
          </a:p>
        </p:txBody>
      </p:sp>
      <p:sp>
        <p:nvSpPr>
          <p:cNvPr id="567360" name="Freeform 64"/>
          <p:cNvSpPr>
            <a:spLocks/>
          </p:cNvSpPr>
          <p:nvPr/>
        </p:nvSpPr>
        <p:spPr bwMode="auto">
          <a:xfrm>
            <a:off x="5597525" y="4335463"/>
            <a:ext cx="182563" cy="182562"/>
          </a:xfrm>
          <a:custGeom>
            <a:avLst/>
            <a:gdLst>
              <a:gd name="T0" fmla="*/ 0 w 78"/>
              <a:gd name="T1" fmla="*/ 78 h 78"/>
              <a:gd name="T2" fmla="*/ 78 w 78"/>
              <a:gd name="T3" fmla="*/ 40 h 78"/>
              <a:gd name="T4" fmla="*/ 0 w 78"/>
              <a:gd name="T5" fmla="*/ 0 h 78"/>
            </a:gdLst>
            <a:ahLst/>
            <a:cxnLst>
              <a:cxn ang="0">
                <a:pos x="T0" y="T1"/>
              </a:cxn>
              <a:cxn ang="0">
                <a:pos x="T2" y="T3"/>
              </a:cxn>
              <a:cxn ang="0">
                <a:pos x="T4" y="T5"/>
              </a:cxn>
            </a:cxnLst>
            <a:rect l="0" t="0" r="r" b="b"/>
            <a:pathLst>
              <a:path w="78" h="78">
                <a:moveTo>
                  <a:pt x="0" y="78"/>
                </a:moveTo>
                <a:lnTo>
                  <a:pt x="78" y="4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61" name="Rectangle 65"/>
          <p:cNvSpPr>
            <a:spLocks noChangeArrowheads="1"/>
          </p:cNvSpPr>
          <p:nvPr/>
        </p:nvSpPr>
        <p:spPr bwMode="auto">
          <a:xfrm>
            <a:off x="5597525" y="4079875"/>
            <a:ext cx="909638" cy="476250"/>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62" name="Freeform 66"/>
          <p:cNvSpPr>
            <a:spLocks/>
          </p:cNvSpPr>
          <p:nvPr/>
        </p:nvSpPr>
        <p:spPr bwMode="auto">
          <a:xfrm>
            <a:off x="7261225" y="3919538"/>
            <a:ext cx="88900" cy="176212"/>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63" name="Line 67"/>
          <p:cNvSpPr>
            <a:spLocks noChangeShapeType="1"/>
          </p:cNvSpPr>
          <p:nvPr/>
        </p:nvSpPr>
        <p:spPr bwMode="auto">
          <a:xfrm>
            <a:off x="7305675" y="3703638"/>
            <a:ext cx="1588" cy="24923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7364" name="Freeform 68"/>
          <p:cNvSpPr>
            <a:spLocks/>
          </p:cNvSpPr>
          <p:nvPr/>
        </p:nvSpPr>
        <p:spPr bwMode="auto">
          <a:xfrm>
            <a:off x="7477125" y="3025775"/>
            <a:ext cx="88900" cy="177800"/>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65" name="Line 69"/>
          <p:cNvSpPr>
            <a:spLocks noChangeShapeType="1"/>
          </p:cNvSpPr>
          <p:nvPr/>
        </p:nvSpPr>
        <p:spPr bwMode="auto">
          <a:xfrm>
            <a:off x="7521575" y="2781300"/>
            <a:ext cx="1588" cy="279400"/>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7366" name="Freeform 70"/>
          <p:cNvSpPr>
            <a:spLocks/>
          </p:cNvSpPr>
          <p:nvPr/>
        </p:nvSpPr>
        <p:spPr bwMode="auto">
          <a:xfrm>
            <a:off x="7256463" y="4705350"/>
            <a:ext cx="85725" cy="179388"/>
          </a:xfrm>
          <a:custGeom>
            <a:avLst/>
            <a:gdLst>
              <a:gd name="T0" fmla="*/ 18 w 37"/>
              <a:gd name="T1" fmla="*/ 76 h 76"/>
              <a:gd name="T2" fmla="*/ 37 w 37"/>
              <a:gd name="T3" fmla="*/ 0 h 76"/>
              <a:gd name="T4" fmla="*/ 0 w 37"/>
              <a:gd name="T5" fmla="*/ 0 h 76"/>
              <a:gd name="T6" fmla="*/ 18 w 37"/>
              <a:gd name="T7" fmla="*/ 76 h 76"/>
            </a:gdLst>
            <a:ahLst/>
            <a:cxnLst>
              <a:cxn ang="0">
                <a:pos x="T0" y="T1"/>
              </a:cxn>
              <a:cxn ang="0">
                <a:pos x="T2" y="T3"/>
              </a:cxn>
              <a:cxn ang="0">
                <a:pos x="T4" y="T5"/>
              </a:cxn>
              <a:cxn ang="0">
                <a:pos x="T6" y="T7"/>
              </a:cxn>
            </a:cxnLst>
            <a:rect l="0" t="0" r="r" b="b"/>
            <a:pathLst>
              <a:path w="37" h="76">
                <a:moveTo>
                  <a:pt x="18" y="76"/>
                </a:moveTo>
                <a:lnTo>
                  <a:pt x="37" y="0"/>
                </a:lnTo>
                <a:lnTo>
                  <a:pt x="0" y="0"/>
                </a:lnTo>
                <a:lnTo>
                  <a:pt x="18"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7367" name="Line 71"/>
          <p:cNvSpPr>
            <a:spLocks noChangeShapeType="1"/>
          </p:cNvSpPr>
          <p:nvPr/>
        </p:nvSpPr>
        <p:spPr bwMode="auto">
          <a:xfrm>
            <a:off x="7297738" y="4567238"/>
            <a:ext cx="3175" cy="16668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7368" name="Rectangle 72"/>
          <p:cNvSpPr>
            <a:spLocks noChangeArrowheads="1"/>
          </p:cNvSpPr>
          <p:nvPr/>
        </p:nvSpPr>
        <p:spPr bwMode="auto">
          <a:xfrm>
            <a:off x="7248525" y="4219575"/>
            <a:ext cx="84138"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sz="2400">
              <a:latin typeface="Arial" panose="020B0604020202020204" pitchFamily="34" charset="0"/>
            </a:endParaRPr>
          </a:p>
        </p:txBody>
      </p:sp>
      <p:sp>
        <p:nvSpPr>
          <p:cNvPr id="567369" name="Freeform 73"/>
          <p:cNvSpPr>
            <a:spLocks/>
          </p:cNvSpPr>
          <p:nvPr/>
        </p:nvSpPr>
        <p:spPr bwMode="auto">
          <a:xfrm>
            <a:off x="6850063" y="4335463"/>
            <a:ext cx="182562" cy="182562"/>
          </a:xfrm>
          <a:custGeom>
            <a:avLst/>
            <a:gdLst>
              <a:gd name="T0" fmla="*/ 0 w 78"/>
              <a:gd name="T1" fmla="*/ 78 h 78"/>
              <a:gd name="T2" fmla="*/ 78 w 78"/>
              <a:gd name="T3" fmla="*/ 40 h 78"/>
              <a:gd name="T4" fmla="*/ 0 w 78"/>
              <a:gd name="T5" fmla="*/ 0 h 78"/>
            </a:gdLst>
            <a:ahLst/>
            <a:cxnLst>
              <a:cxn ang="0">
                <a:pos x="T0" y="T1"/>
              </a:cxn>
              <a:cxn ang="0">
                <a:pos x="T2" y="T3"/>
              </a:cxn>
              <a:cxn ang="0">
                <a:pos x="T4" y="T5"/>
              </a:cxn>
            </a:cxnLst>
            <a:rect l="0" t="0" r="r" b="b"/>
            <a:pathLst>
              <a:path w="78" h="78">
                <a:moveTo>
                  <a:pt x="0" y="78"/>
                </a:moveTo>
                <a:lnTo>
                  <a:pt x="78" y="4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70" name="Rectangle 74"/>
          <p:cNvSpPr>
            <a:spLocks noChangeArrowheads="1"/>
          </p:cNvSpPr>
          <p:nvPr/>
        </p:nvSpPr>
        <p:spPr bwMode="auto">
          <a:xfrm>
            <a:off x="6845300" y="4079875"/>
            <a:ext cx="908050" cy="476250"/>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71" name="Rectangle 75"/>
          <p:cNvSpPr>
            <a:spLocks noChangeArrowheads="1"/>
          </p:cNvSpPr>
          <p:nvPr/>
        </p:nvSpPr>
        <p:spPr bwMode="auto">
          <a:xfrm>
            <a:off x="4789488" y="1951038"/>
            <a:ext cx="3787775" cy="3022600"/>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72" name="Rectangle 76"/>
          <p:cNvSpPr>
            <a:spLocks noChangeArrowheads="1"/>
          </p:cNvSpPr>
          <p:nvPr/>
        </p:nvSpPr>
        <p:spPr bwMode="auto">
          <a:xfrm>
            <a:off x="7080250" y="3730625"/>
            <a:ext cx="46038" cy="3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
                <a:solidFill>
                  <a:srgbClr val="000000"/>
                </a:solidFill>
                <a:latin typeface="Myriad Roman" charset="0"/>
              </a:rPr>
              <a:t>7 ns</a:t>
            </a:r>
            <a:endParaRPr lang="en-US" altLang="en-US" sz="2400">
              <a:latin typeface="Arial" panose="020B0604020202020204" pitchFamily="34" charset="0"/>
            </a:endParaRPr>
          </a:p>
        </p:txBody>
      </p:sp>
      <p:sp>
        <p:nvSpPr>
          <p:cNvPr id="567373" name="Rectangle 77"/>
          <p:cNvSpPr>
            <a:spLocks noChangeArrowheads="1"/>
          </p:cNvSpPr>
          <p:nvPr/>
        </p:nvSpPr>
        <p:spPr bwMode="auto">
          <a:xfrm>
            <a:off x="6796088" y="3730625"/>
            <a:ext cx="47625" cy="3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00">
                <a:solidFill>
                  <a:srgbClr val="000000"/>
                </a:solidFill>
                <a:latin typeface="Myriad Roman" charset="0"/>
              </a:rPr>
              <a:t>7 ns</a:t>
            </a:r>
            <a:endParaRPr lang="en-US" altLang="en-US" sz="2400">
              <a:latin typeface="Arial" panose="020B0604020202020204" pitchFamily="34" charset="0"/>
            </a:endParaRPr>
          </a:p>
        </p:txBody>
      </p:sp>
      <p:sp>
        <p:nvSpPr>
          <p:cNvPr id="567374" name="Rectangle 78"/>
          <p:cNvSpPr>
            <a:spLocks noChangeArrowheads="1"/>
          </p:cNvSpPr>
          <p:nvPr/>
        </p:nvSpPr>
        <p:spPr bwMode="auto">
          <a:xfrm>
            <a:off x="7869238" y="3246438"/>
            <a:ext cx="33496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5 ns</a:t>
            </a:r>
            <a:endParaRPr lang="en-US" altLang="en-US" sz="2400">
              <a:latin typeface="Arial" panose="020B0604020202020204" pitchFamily="34" charset="0"/>
            </a:endParaRPr>
          </a:p>
        </p:txBody>
      </p:sp>
      <p:sp>
        <p:nvSpPr>
          <p:cNvPr id="567375" name="Rectangle 79"/>
          <p:cNvSpPr>
            <a:spLocks noChangeArrowheads="1"/>
          </p:cNvSpPr>
          <p:nvPr/>
        </p:nvSpPr>
        <p:spPr bwMode="auto">
          <a:xfrm>
            <a:off x="7820025" y="3446463"/>
            <a:ext cx="4238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delay</a:t>
            </a:r>
            <a:endParaRPr lang="en-US" altLang="en-US" sz="2400">
              <a:latin typeface="Arial" panose="020B0604020202020204" pitchFamily="34" charset="0"/>
            </a:endParaRPr>
          </a:p>
        </p:txBody>
      </p:sp>
      <p:sp>
        <p:nvSpPr>
          <p:cNvPr id="567376" name="Rectangle 80"/>
          <p:cNvSpPr>
            <a:spLocks noChangeArrowheads="1"/>
          </p:cNvSpPr>
          <p:nvPr/>
        </p:nvSpPr>
        <p:spPr bwMode="auto">
          <a:xfrm>
            <a:off x="5222875" y="3246438"/>
            <a:ext cx="33337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2 ns</a:t>
            </a:r>
            <a:endParaRPr lang="en-US" altLang="en-US" sz="2400">
              <a:latin typeface="Arial" panose="020B0604020202020204" pitchFamily="34" charset="0"/>
            </a:endParaRPr>
          </a:p>
        </p:txBody>
      </p:sp>
      <p:sp>
        <p:nvSpPr>
          <p:cNvPr id="567377" name="Rectangle 81"/>
          <p:cNvSpPr>
            <a:spLocks noChangeArrowheads="1"/>
          </p:cNvSpPr>
          <p:nvPr/>
        </p:nvSpPr>
        <p:spPr bwMode="auto">
          <a:xfrm>
            <a:off x="5173663" y="3446463"/>
            <a:ext cx="4238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delay</a:t>
            </a:r>
            <a:endParaRPr lang="en-US" altLang="en-US" sz="2400">
              <a:latin typeface="Arial" panose="020B0604020202020204" pitchFamily="34" charset="0"/>
            </a:endParaRPr>
          </a:p>
        </p:txBody>
      </p:sp>
      <p:sp>
        <p:nvSpPr>
          <p:cNvPr id="567378" name="Rectangle 82"/>
          <p:cNvSpPr>
            <a:spLocks noChangeArrowheads="1"/>
          </p:cNvSpPr>
          <p:nvPr/>
        </p:nvSpPr>
        <p:spPr bwMode="auto">
          <a:xfrm>
            <a:off x="5030788" y="4354513"/>
            <a:ext cx="3365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Max</a:t>
            </a:r>
            <a:endParaRPr lang="en-US" altLang="en-US" sz="2400">
              <a:latin typeface="Arial" panose="020B0604020202020204" pitchFamily="34" charset="0"/>
            </a:endParaRPr>
          </a:p>
        </p:txBody>
      </p:sp>
      <p:sp>
        <p:nvSpPr>
          <p:cNvPr id="567379" name="Rectangle 83"/>
          <p:cNvSpPr>
            <a:spLocks noChangeArrowheads="1"/>
          </p:cNvSpPr>
          <p:nvPr/>
        </p:nvSpPr>
        <p:spPr bwMode="auto">
          <a:xfrm>
            <a:off x="4899025" y="4557713"/>
            <a:ext cx="56673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(2,7,7,5)</a:t>
            </a:r>
            <a:endParaRPr lang="en-US" altLang="en-US" sz="2400">
              <a:latin typeface="Arial" panose="020B0604020202020204" pitchFamily="34" charset="0"/>
            </a:endParaRPr>
          </a:p>
        </p:txBody>
      </p:sp>
      <p:sp>
        <p:nvSpPr>
          <p:cNvPr id="567380" name="Rectangle 84"/>
          <p:cNvSpPr>
            <a:spLocks noChangeArrowheads="1"/>
          </p:cNvSpPr>
          <p:nvPr/>
        </p:nvSpPr>
        <p:spPr bwMode="auto">
          <a:xfrm>
            <a:off x="4967288" y="4757738"/>
            <a:ext cx="41751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 7 ns</a:t>
            </a:r>
            <a:endParaRPr lang="en-US" altLang="en-US" sz="2400">
              <a:latin typeface="Arial" panose="020B0604020202020204" pitchFamily="34" charset="0"/>
            </a:endParaRPr>
          </a:p>
        </p:txBody>
      </p:sp>
      <p:sp>
        <p:nvSpPr>
          <p:cNvPr id="567381" name="Rectangle 85"/>
          <p:cNvSpPr>
            <a:spLocks noChangeArrowheads="1"/>
          </p:cNvSpPr>
          <p:nvPr/>
        </p:nvSpPr>
        <p:spPr bwMode="auto">
          <a:xfrm>
            <a:off x="5997575" y="2438400"/>
            <a:ext cx="85725"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a:t>
            </a:r>
            <a:endParaRPr lang="en-US" altLang="en-US" sz="2400">
              <a:latin typeface="Arial" panose="020B0604020202020204" pitchFamily="34" charset="0"/>
            </a:endParaRPr>
          </a:p>
        </p:txBody>
      </p:sp>
      <p:sp>
        <p:nvSpPr>
          <p:cNvPr id="567382" name="Freeform 86"/>
          <p:cNvSpPr>
            <a:spLocks/>
          </p:cNvSpPr>
          <p:nvPr/>
        </p:nvSpPr>
        <p:spPr bwMode="auto">
          <a:xfrm>
            <a:off x="5603875" y="2560638"/>
            <a:ext cx="182563" cy="184150"/>
          </a:xfrm>
          <a:custGeom>
            <a:avLst/>
            <a:gdLst>
              <a:gd name="T0" fmla="*/ 0 w 78"/>
              <a:gd name="T1" fmla="*/ 78 h 78"/>
              <a:gd name="T2" fmla="*/ 78 w 78"/>
              <a:gd name="T3" fmla="*/ 40 h 78"/>
              <a:gd name="T4" fmla="*/ 0 w 78"/>
              <a:gd name="T5" fmla="*/ 0 h 78"/>
            </a:gdLst>
            <a:ahLst/>
            <a:cxnLst>
              <a:cxn ang="0">
                <a:pos x="T0" y="T1"/>
              </a:cxn>
              <a:cxn ang="0">
                <a:pos x="T2" y="T3"/>
              </a:cxn>
              <a:cxn ang="0">
                <a:pos x="T4" y="T5"/>
              </a:cxn>
            </a:cxnLst>
            <a:rect l="0" t="0" r="r" b="b"/>
            <a:pathLst>
              <a:path w="78" h="78">
                <a:moveTo>
                  <a:pt x="0" y="78"/>
                </a:moveTo>
                <a:lnTo>
                  <a:pt x="78" y="4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83" name="Rectangle 87"/>
          <p:cNvSpPr>
            <a:spLocks noChangeArrowheads="1"/>
          </p:cNvSpPr>
          <p:nvPr/>
        </p:nvSpPr>
        <p:spPr bwMode="auto">
          <a:xfrm>
            <a:off x="7248525" y="2438400"/>
            <a:ext cx="84138"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b</a:t>
            </a:r>
            <a:endParaRPr lang="en-US" altLang="en-US" sz="2400">
              <a:latin typeface="Arial" panose="020B0604020202020204" pitchFamily="34" charset="0"/>
            </a:endParaRPr>
          </a:p>
        </p:txBody>
      </p:sp>
      <p:sp>
        <p:nvSpPr>
          <p:cNvPr id="567384" name="Freeform 88"/>
          <p:cNvSpPr>
            <a:spLocks/>
          </p:cNvSpPr>
          <p:nvPr/>
        </p:nvSpPr>
        <p:spPr bwMode="auto">
          <a:xfrm>
            <a:off x="6850063" y="2560638"/>
            <a:ext cx="182562" cy="184150"/>
          </a:xfrm>
          <a:custGeom>
            <a:avLst/>
            <a:gdLst>
              <a:gd name="T0" fmla="*/ 0 w 78"/>
              <a:gd name="T1" fmla="*/ 78 h 78"/>
              <a:gd name="T2" fmla="*/ 78 w 78"/>
              <a:gd name="T3" fmla="*/ 40 h 78"/>
              <a:gd name="T4" fmla="*/ 0 w 78"/>
              <a:gd name="T5" fmla="*/ 0 h 78"/>
            </a:gdLst>
            <a:ahLst/>
            <a:cxnLst>
              <a:cxn ang="0">
                <a:pos x="T0" y="T1"/>
              </a:cxn>
              <a:cxn ang="0">
                <a:pos x="T2" y="T3"/>
              </a:cxn>
              <a:cxn ang="0">
                <a:pos x="T4" y="T5"/>
              </a:cxn>
            </a:cxnLst>
            <a:rect l="0" t="0" r="r" b="b"/>
            <a:pathLst>
              <a:path w="78" h="78">
                <a:moveTo>
                  <a:pt x="0" y="78"/>
                </a:moveTo>
                <a:lnTo>
                  <a:pt x="78" y="40"/>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85" name="Rectangle 89"/>
          <p:cNvSpPr>
            <a:spLocks noChangeArrowheads="1"/>
          </p:cNvSpPr>
          <p:nvPr/>
        </p:nvSpPr>
        <p:spPr bwMode="auto">
          <a:xfrm>
            <a:off x="6845300" y="2305050"/>
            <a:ext cx="908050" cy="476250"/>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7386" name="Rectangle 90"/>
          <p:cNvSpPr>
            <a:spLocks noChangeArrowheads="1"/>
          </p:cNvSpPr>
          <p:nvPr/>
        </p:nvSpPr>
        <p:spPr bwMode="auto">
          <a:xfrm>
            <a:off x="5597525" y="2305050"/>
            <a:ext cx="909638" cy="476250"/>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pic>
        <p:nvPicPr>
          <p:cNvPr id="567387" name="Picture 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5475" y="2668588"/>
            <a:ext cx="280988" cy="1646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7388" name="Picture 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750" y="2779713"/>
            <a:ext cx="1114425" cy="1579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7389" name="Picture 9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1888" y="2730500"/>
            <a:ext cx="1281112" cy="1628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7390" name="Picture 9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59663" y="2555875"/>
            <a:ext cx="215900" cy="168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7391" name="Rectangle 95"/>
          <p:cNvSpPr>
            <a:spLocks noChangeArrowheads="1"/>
          </p:cNvSpPr>
          <p:nvPr/>
        </p:nvSpPr>
        <p:spPr bwMode="auto">
          <a:xfrm rot="16200000">
            <a:off x="7520781" y="3821907"/>
            <a:ext cx="2365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5 ns</a:t>
            </a:r>
            <a:endParaRPr lang="en-US" altLang="en-US" sz="1800">
              <a:latin typeface="Arial" panose="020B0604020202020204" pitchFamily="34" charset="0"/>
            </a:endParaRPr>
          </a:p>
        </p:txBody>
      </p:sp>
      <p:sp>
        <p:nvSpPr>
          <p:cNvPr id="567392" name="Rectangle 96"/>
          <p:cNvSpPr>
            <a:spLocks noChangeArrowheads="1"/>
          </p:cNvSpPr>
          <p:nvPr/>
        </p:nvSpPr>
        <p:spPr bwMode="auto">
          <a:xfrm rot="16200000">
            <a:off x="6737350" y="3884613"/>
            <a:ext cx="2381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7 ns</a:t>
            </a:r>
            <a:endParaRPr lang="en-US" altLang="en-US" sz="1800">
              <a:latin typeface="Arial" panose="020B0604020202020204" pitchFamily="34" charset="0"/>
            </a:endParaRPr>
          </a:p>
        </p:txBody>
      </p:sp>
      <p:sp>
        <p:nvSpPr>
          <p:cNvPr id="567393" name="Rectangle 97"/>
          <p:cNvSpPr>
            <a:spLocks noChangeArrowheads="1"/>
          </p:cNvSpPr>
          <p:nvPr/>
        </p:nvSpPr>
        <p:spPr bwMode="auto">
          <a:xfrm rot="16200000">
            <a:off x="6891337" y="3884613"/>
            <a:ext cx="2381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7 ns</a:t>
            </a:r>
            <a:endParaRPr lang="en-US" altLang="en-US" sz="1800">
              <a:latin typeface="Arial" panose="020B0604020202020204" pitchFamily="34" charset="0"/>
            </a:endParaRPr>
          </a:p>
        </p:txBody>
      </p:sp>
      <p:sp>
        <p:nvSpPr>
          <p:cNvPr id="567394" name="Rectangle 98"/>
          <p:cNvSpPr>
            <a:spLocks noChangeArrowheads="1"/>
          </p:cNvSpPr>
          <p:nvPr/>
        </p:nvSpPr>
        <p:spPr bwMode="auto">
          <a:xfrm rot="16200000">
            <a:off x="5496719" y="3821907"/>
            <a:ext cx="236537"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2 ns</a:t>
            </a:r>
            <a:endParaRPr lang="en-US" altLang="en-US" sz="1800">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3"/>
          <p:cNvSpPr>
            <a:spLocks noGrp="1"/>
          </p:cNvSpPr>
          <p:nvPr>
            <p:ph type="sldNum" sz="quarter" idx="10"/>
          </p:nvPr>
        </p:nvSpPr>
        <p:spPr/>
        <p:txBody>
          <a:bodyPr/>
          <a:lstStyle/>
          <a:p>
            <a:fld id="{82BC45C7-C754-4F33-BF17-6336CB4654CC}" type="slidenum">
              <a:rPr lang="en-US" altLang="en-US"/>
              <a:pPr/>
              <a:t>53</a:t>
            </a:fld>
            <a:endParaRPr lang="en-US" altLang="en-US"/>
          </a:p>
        </p:txBody>
      </p:sp>
      <p:sp>
        <p:nvSpPr>
          <p:cNvPr id="568322" name="Rectangle 2"/>
          <p:cNvSpPr>
            <a:spLocks noGrp="1" noChangeArrowheads="1"/>
          </p:cNvSpPr>
          <p:nvPr>
            <p:ph type="title"/>
          </p:nvPr>
        </p:nvSpPr>
        <p:spPr/>
        <p:txBody>
          <a:bodyPr/>
          <a:lstStyle/>
          <a:p>
            <a:r>
              <a:rPr lang="en-US" altLang="en-US"/>
              <a:t>Critical Path Considering Wire Delays</a:t>
            </a:r>
          </a:p>
        </p:txBody>
      </p:sp>
      <p:sp>
        <p:nvSpPr>
          <p:cNvPr id="568323" name="Rectangle 3"/>
          <p:cNvSpPr>
            <a:spLocks noGrp="1" noChangeArrowheads="1"/>
          </p:cNvSpPr>
          <p:nvPr>
            <p:ph type="body" idx="1"/>
          </p:nvPr>
        </p:nvSpPr>
        <p:spPr>
          <a:xfrm>
            <a:off x="228600" y="1219200"/>
            <a:ext cx="5016500" cy="4876800"/>
          </a:xfrm>
        </p:spPr>
        <p:txBody>
          <a:bodyPr/>
          <a:lstStyle/>
          <a:p>
            <a:pPr>
              <a:lnSpc>
                <a:spcPct val="90000"/>
              </a:lnSpc>
            </a:pPr>
            <a:r>
              <a:rPr lang="en-US" altLang="en-US" sz="2000"/>
              <a:t>Real wires have delay too</a:t>
            </a:r>
          </a:p>
          <a:p>
            <a:pPr lvl="1">
              <a:lnSpc>
                <a:spcPct val="90000"/>
              </a:lnSpc>
            </a:pPr>
            <a:r>
              <a:rPr lang="en-US" altLang="en-US" sz="1800"/>
              <a:t>Must include in critical path</a:t>
            </a:r>
          </a:p>
          <a:p>
            <a:pPr>
              <a:lnSpc>
                <a:spcPct val="90000"/>
              </a:lnSpc>
            </a:pPr>
            <a:r>
              <a:rPr lang="en-US" altLang="en-US" sz="2000"/>
              <a:t>Example shows two paths</a:t>
            </a:r>
          </a:p>
          <a:p>
            <a:pPr lvl="1">
              <a:lnSpc>
                <a:spcPct val="90000"/>
              </a:lnSpc>
            </a:pPr>
            <a:r>
              <a:rPr lang="en-US" altLang="en-US" sz="1800"/>
              <a:t>Each is 0.5 + 2 + 0.5 = 3 ns</a:t>
            </a:r>
          </a:p>
          <a:p>
            <a:pPr>
              <a:lnSpc>
                <a:spcPct val="90000"/>
              </a:lnSpc>
            </a:pPr>
            <a:r>
              <a:rPr lang="en-US" altLang="en-US" sz="2000"/>
              <a:t>Trend</a:t>
            </a:r>
          </a:p>
          <a:p>
            <a:pPr lvl="1">
              <a:lnSpc>
                <a:spcPct val="90000"/>
              </a:lnSpc>
            </a:pPr>
            <a:r>
              <a:rPr lang="en-US" altLang="en-US" sz="1800"/>
              <a:t>1980s/1990s: Wire delays were tiny compared to logic delays</a:t>
            </a:r>
          </a:p>
          <a:p>
            <a:pPr lvl="1">
              <a:lnSpc>
                <a:spcPct val="90000"/>
              </a:lnSpc>
            </a:pPr>
            <a:r>
              <a:rPr lang="en-US" altLang="en-US" sz="1800"/>
              <a:t>But wire delays not shrinking as fast as logic delays</a:t>
            </a:r>
          </a:p>
          <a:p>
            <a:pPr lvl="2">
              <a:lnSpc>
                <a:spcPct val="90000"/>
              </a:lnSpc>
            </a:pPr>
            <a:r>
              <a:rPr lang="en-US" altLang="en-US" sz="1600"/>
              <a:t>Wire delays may even be greater than logic delays!</a:t>
            </a:r>
          </a:p>
          <a:p>
            <a:pPr>
              <a:lnSpc>
                <a:spcPct val="90000"/>
              </a:lnSpc>
            </a:pPr>
            <a:r>
              <a:rPr lang="en-US" altLang="en-US" sz="2000"/>
              <a:t>Must also consider register setup and hold times, also add to path</a:t>
            </a:r>
          </a:p>
          <a:p>
            <a:pPr>
              <a:lnSpc>
                <a:spcPct val="90000"/>
              </a:lnSpc>
            </a:pPr>
            <a:r>
              <a:rPr lang="en-US" altLang="en-US" sz="2000"/>
              <a:t>Then add some time to the computed path, just to be safe</a:t>
            </a:r>
          </a:p>
          <a:p>
            <a:pPr lvl="1">
              <a:lnSpc>
                <a:spcPct val="90000"/>
              </a:lnSpc>
            </a:pPr>
            <a:r>
              <a:rPr lang="en-US" altLang="en-US" sz="1800"/>
              <a:t>e.g., if path is 3 ns, say 4 ns instead</a:t>
            </a:r>
          </a:p>
          <a:p>
            <a:pPr>
              <a:lnSpc>
                <a:spcPct val="90000"/>
              </a:lnSpc>
            </a:pPr>
            <a:endParaRPr lang="en-US" altLang="en-US" sz="2000"/>
          </a:p>
        </p:txBody>
      </p:sp>
      <p:pic>
        <p:nvPicPr>
          <p:cNvPr id="568412" name="Picture 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6375" y="2343150"/>
            <a:ext cx="542925" cy="2109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8413" name="Picture 9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5688" y="2428875"/>
            <a:ext cx="730250" cy="2003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8417" name="Line 97"/>
          <p:cNvSpPr>
            <a:spLocks noChangeShapeType="1"/>
          </p:cNvSpPr>
          <p:nvPr/>
        </p:nvSpPr>
        <p:spPr bwMode="auto">
          <a:xfrm>
            <a:off x="5265738" y="2530475"/>
            <a:ext cx="423862" cy="1588"/>
          </a:xfrm>
          <a:prstGeom prst="line">
            <a:avLst/>
          </a:prstGeom>
          <a:noFill/>
          <a:ln w="269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18" name="Freeform 98"/>
          <p:cNvSpPr>
            <a:spLocks/>
          </p:cNvSpPr>
          <p:nvPr/>
        </p:nvSpPr>
        <p:spPr bwMode="auto">
          <a:xfrm>
            <a:off x="5648325" y="2474913"/>
            <a:ext cx="222250" cy="111125"/>
          </a:xfrm>
          <a:custGeom>
            <a:avLst/>
            <a:gdLst>
              <a:gd name="T0" fmla="*/ 140 w 140"/>
              <a:gd name="T1" fmla="*/ 35 h 70"/>
              <a:gd name="T2" fmla="*/ 0 w 140"/>
              <a:gd name="T3" fmla="*/ 0 h 70"/>
              <a:gd name="T4" fmla="*/ 0 w 140"/>
              <a:gd name="T5" fmla="*/ 70 h 70"/>
              <a:gd name="T6" fmla="*/ 140 w 140"/>
              <a:gd name="T7" fmla="*/ 35 h 70"/>
            </a:gdLst>
            <a:ahLst/>
            <a:cxnLst>
              <a:cxn ang="0">
                <a:pos x="T0" y="T1"/>
              </a:cxn>
              <a:cxn ang="0">
                <a:pos x="T2" y="T3"/>
              </a:cxn>
              <a:cxn ang="0">
                <a:pos x="T4" y="T5"/>
              </a:cxn>
              <a:cxn ang="0">
                <a:pos x="T6" y="T7"/>
              </a:cxn>
            </a:cxnLst>
            <a:rect l="0" t="0" r="r" b="b"/>
            <a:pathLst>
              <a:path w="140" h="70">
                <a:moveTo>
                  <a:pt x="140" y="35"/>
                </a:moveTo>
                <a:lnTo>
                  <a:pt x="0" y="0"/>
                </a:lnTo>
                <a:lnTo>
                  <a:pt x="0" y="70"/>
                </a:lnTo>
                <a:lnTo>
                  <a:pt x="140"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19" name="Freeform 99"/>
          <p:cNvSpPr>
            <a:spLocks/>
          </p:cNvSpPr>
          <p:nvPr/>
        </p:nvSpPr>
        <p:spPr bwMode="auto">
          <a:xfrm>
            <a:off x="5481638" y="2524125"/>
            <a:ext cx="1016000" cy="2060575"/>
          </a:xfrm>
          <a:custGeom>
            <a:avLst/>
            <a:gdLst>
              <a:gd name="T0" fmla="*/ 640 w 640"/>
              <a:gd name="T1" fmla="*/ 1298 h 1298"/>
              <a:gd name="T2" fmla="*/ 0 w 640"/>
              <a:gd name="T3" fmla="*/ 1298 h 1298"/>
              <a:gd name="T4" fmla="*/ 0 w 640"/>
              <a:gd name="T5" fmla="*/ 0 h 1298"/>
            </a:gdLst>
            <a:ahLst/>
            <a:cxnLst>
              <a:cxn ang="0">
                <a:pos x="T0" y="T1"/>
              </a:cxn>
              <a:cxn ang="0">
                <a:pos x="T2" y="T3"/>
              </a:cxn>
              <a:cxn ang="0">
                <a:pos x="T4" y="T5"/>
              </a:cxn>
            </a:cxnLst>
            <a:rect l="0" t="0" r="r" b="b"/>
            <a:pathLst>
              <a:path w="640" h="1298">
                <a:moveTo>
                  <a:pt x="640" y="1298"/>
                </a:moveTo>
                <a:lnTo>
                  <a:pt x="0" y="1298"/>
                </a:lnTo>
                <a:lnTo>
                  <a:pt x="0" y="0"/>
                </a:lnTo>
              </a:path>
            </a:pathLst>
          </a:custGeom>
          <a:noFill/>
          <a:ln w="269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20" name="Freeform 100"/>
          <p:cNvSpPr>
            <a:spLocks/>
          </p:cNvSpPr>
          <p:nvPr/>
        </p:nvSpPr>
        <p:spPr bwMode="auto">
          <a:xfrm>
            <a:off x="6462713" y="4529138"/>
            <a:ext cx="222250" cy="111125"/>
          </a:xfrm>
          <a:custGeom>
            <a:avLst/>
            <a:gdLst>
              <a:gd name="T0" fmla="*/ 140 w 140"/>
              <a:gd name="T1" fmla="*/ 35 h 70"/>
              <a:gd name="T2" fmla="*/ 0 w 140"/>
              <a:gd name="T3" fmla="*/ 0 h 70"/>
              <a:gd name="T4" fmla="*/ 0 w 140"/>
              <a:gd name="T5" fmla="*/ 70 h 70"/>
              <a:gd name="T6" fmla="*/ 140 w 140"/>
              <a:gd name="T7" fmla="*/ 35 h 70"/>
            </a:gdLst>
            <a:ahLst/>
            <a:cxnLst>
              <a:cxn ang="0">
                <a:pos x="T0" y="T1"/>
              </a:cxn>
              <a:cxn ang="0">
                <a:pos x="T2" y="T3"/>
              </a:cxn>
              <a:cxn ang="0">
                <a:pos x="T4" y="T5"/>
              </a:cxn>
              <a:cxn ang="0">
                <a:pos x="T6" y="T7"/>
              </a:cxn>
            </a:cxnLst>
            <a:rect l="0" t="0" r="r" b="b"/>
            <a:pathLst>
              <a:path w="140" h="70">
                <a:moveTo>
                  <a:pt x="140" y="35"/>
                </a:moveTo>
                <a:lnTo>
                  <a:pt x="0" y="0"/>
                </a:lnTo>
                <a:lnTo>
                  <a:pt x="0" y="70"/>
                </a:lnTo>
                <a:lnTo>
                  <a:pt x="140"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21" name="Freeform 101"/>
          <p:cNvSpPr>
            <a:spLocks/>
          </p:cNvSpPr>
          <p:nvPr/>
        </p:nvSpPr>
        <p:spPr bwMode="auto">
          <a:xfrm>
            <a:off x="5481638" y="2530475"/>
            <a:ext cx="1768475" cy="320675"/>
          </a:xfrm>
          <a:custGeom>
            <a:avLst/>
            <a:gdLst>
              <a:gd name="T0" fmla="*/ 1114 w 1114"/>
              <a:gd name="T1" fmla="*/ 0 h 202"/>
              <a:gd name="T2" fmla="*/ 1026 w 1114"/>
              <a:gd name="T3" fmla="*/ 0 h 202"/>
              <a:gd name="T4" fmla="*/ 1026 w 1114"/>
              <a:gd name="T5" fmla="*/ 202 h 202"/>
              <a:gd name="T6" fmla="*/ 0 w 1114"/>
              <a:gd name="T7" fmla="*/ 202 h 202"/>
            </a:gdLst>
            <a:ahLst/>
            <a:cxnLst>
              <a:cxn ang="0">
                <a:pos x="T0" y="T1"/>
              </a:cxn>
              <a:cxn ang="0">
                <a:pos x="T2" y="T3"/>
              </a:cxn>
              <a:cxn ang="0">
                <a:pos x="T4" y="T5"/>
              </a:cxn>
              <a:cxn ang="0">
                <a:pos x="T6" y="T7"/>
              </a:cxn>
            </a:cxnLst>
            <a:rect l="0" t="0" r="r" b="b"/>
            <a:pathLst>
              <a:path w="1114" h="202">
                <a:moveTo>
                  <a:pt x="1114" y="0"/>
                </a:moveTo>
                <a:lnTo>
                  <a:pt x="1026" y="0"/>
                </a:lnTo>
                <a:lnTo>
                  <a:pt x="1026" y="202"/>
                </a:lnTo>
                <a:lnTo>
                  <a:pt x="0" y="202"/>
                </a:lnTo>
              </a:path>
            </a:pathLst>
          </a:custGeom>
          <a:noFill/>
          <a:ln w="269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22" name="Freeform 102"/>
          <p:cNvSpPr>
            <a:spLocks/>
          </p:cNvSpPr>
          <p:nvPr/>
        </p:nvSpPr>
        <p:spPr bwMode="auto">
          <a:xfrm>
            <a:off x="7207250" y="2474913"/>
            <a:ext cx="223838" cy="111125"/>
          </a:xfrm>
          <a:custGeom>
            <a:avLst/>
            <a:gdLst>
              <a:gd name="T0" fmla="*/ 141 w 141"/>
              <a:gd name="T1" fmla="*/ 35 h 70"/>
              <a:gd name="T2" fmla="*/ 0 w 141"/>
              <a:gd name="T3" fmla="*/ 0 h 70"/>
              <a:gd name="T4" fmla="*/ 0 w 141"/>
              <a:gd name="T5" fmla="*/ 70 h 70"/>
              <a:gd name="T6" fmla="*/ 141 w 141"/>
              <a:gd name="T7" fmla="*/ 35 h 70"/>
            </a:gdLst>
            <a:ahLst/>
            <a:cxnLst>
              <a:cxn ang="0">
                <a:pos x="T0" y="T1"/>
              </a:cxn>
              <a:cxn ang="0">
                <a:pos x="T2" y="T3"/>
              </a:cxn>
              <a:cxn ang="0">
                <a:pos x="T4" y="T5"/>
              </a:cxn>
              <a:cxn ang="0">
                <a:pos x="T6" y="T7"/>
              </a:cxn>
            </a:cxnLst>
            <a:rect l="0" t="0" r="r" b="b"/>
            <a:pathLst>
              <a:path w="141" h="70">
                <a:moveTo>
                  <a:pt x="141" y="35"/>
                </a:moveTo>
                <a:lnTo>
                  <a:pt x="0" y="0"/>
                </a:lnTo>
                <a:lnTo>
                  <a:pt x="0" y="70"/>
                </a:lnTo>
                <a:lnTo>
                  <a:pt x="14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23" name="Freeform 103"/>
          <p:cNvSpPr>
            <a:spLocks/>
          </p:cNvSpPr>
          <p:nvPr/>
        </p:nvSpPr>
        <p:spPr bwMode="auto">
          <a:xfrm>
            <a:off x="7597775" y="2970213"/>
            <a:ext cx="111125" cy="222250"/>
          </a:xfrm>
          <a:custGeom>
            <a:avLst/>
            <a:gdLst>
              <a:gd name="T0" fmla="*/ 35 w 70"/>
              <a:gd name="T1" fmla="*/ 140 h 140"/>
              <a:gd name="T2" fmla="*/ 70 w 70"/>
              <a:gd name="T3" fmla="*/ 0 h 140"/>
              <a:gd name="T4" fmla="*/ 0 w 70"/>
              <a:gd name="T5" fmla="*/ 0 h 140"/>
              <a:gd name="T6" fmla="*/ 35 w 70"/>
              <a:gd name="T7" fmla="*/ 140 h 140"/>
            </a:gdLst>
            <a:ahLst/>
            <a:cxnLst>
              <a:cxn ang="0">
                <a:pos x="T0" y="T1"/>
              </a:cxn>
              <a:cxn ang="0">
                <a:pos x="T2" y="T3"/>
              </a:cxn>
              <a:cxn ang="0">
                <a:pos x="T4" y="T5"/>
              </a:cxn>
              <a:cxn ang="0">
                <a:pos x="T6" y="T7"/>
              </a:cxn>
            </a:cxnLst>
            <a:rect l="0" t="0" r="r" b="b"/>
            <a:pathLst>
              <a:path w="70" h="140">
                <a:moveTo>
                  <a:pt x="35" y="140"/>
                </a:moveTo>
                <a:lnTo>
                  <a:pt x="70" y="0"/>
                </a:lnTo>
                <a:lnTo>
                  <a:pt x="0" y="0"/>
                </a:lnTo>
                <a:lnTo>
                  <a:pt x="35"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24" name="Line 104"/>
          <p:cNvSpPr>
            <a:spLocks noChangeShapeType="1"/>
          </p:cNvSpPr>
          <p:nvPr/>
        </p:nvSpPr>
        <p:spPr bwMode="auto">
          <a:xfrm>
            <a:off x="7653338" y="2690813"/>
            <a:ext cx="1587" cy="320675"/>
          </a:xfrm>
          <a:prstGeom prst="line">
            <a:avLst/>
          </a:prstGeom>
          <a:noFill/>
          <a:ln w="412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25" name="Freeform 105"/>
          <p:cNvSpPr>
            <a:spLocks/>
          </p:cNvSpPr>
          <p:nvPr/>
        </p:nvSpPr>
        <p:spPr bwMode="auto">
          <a:xfrm>
            <a:off x="6824663" y="2970213"/>
            <a:ext cx="111125" cy="222250"/>
          </a:xfrm>
          <a:custGeom>
            <a:avLst/>
            <a:gdLst>
              <a:gd name="T0" fmla="*/ 35 w 70"/>
              <a:gd name="T1" fmla="*/ 140 h 140"/>
              <a:gd name="T2" fmla="*/ 70 w 70"/>
              <a:gd name="T3" fmla="*/ 0 h 140"/>
              <a:gd name="T4" fmla="*/ 0 w 70"/>
              <a:gd name="T5" fmla="*/ 0 h 140"/>
              <a:gd name="T6" fmla="*/ 35 w 70"/>
              <a:gd name="T7" fmla="*/ 140 h 140"/>
            </a:gdLst>
            <a:ahLst/>
            <a:cxnLst>
              <a:cxn ang="0">
                <a:pos x="T0" y="T1"/>
              </a:cxn>
              <a:cxn ang="0">
                <a:pos x="T2" y="T3"/>
              </a:cxn>
              <a:cxn ang="0">
                <a:pos x="T4" y="T5"/>
              </a:cxn>
              <a:cxn ang="0">
                <a:pos x="T6" y="T7"/>
              </a:cxn>
            </a:cxnLst>
            <a:rect l="0" t="0" r="r" b="b"/>
            <a:pathLst>
              <a:path w="70" h="140">
                <a:moveTo>
                  <a:pt x="35" y="140"/>
                </a:moveTo>
                <a:lnTo>
                  <a:pt x="70" y="0"/>
                </a:lnTo>
                <a:lnTo>
                  <a:pt x="0" y="0"/>
                </a:lnTo>
                <a:lnTo>
                  <a:pt x="35"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26" name="Line 106"/>
          <p:cNvSpPr>
            <a:spLocks noChangeShapeType="1"/>
          </p:cNvSpPr>
          <p:nvPr/>
        </p:nvSpPr>
        <p:spPr bwMode="auto">
          <a:xfrm>
            <a:off x="6880225" y="2690813"/>
            <a:ext cx="1588" cy="320675"/>
          </a:xfrm>
          <a:prstGeom prst="line">
            <a:avLst/>
          </a:prstGeom>
          <a:noFill/>
          <a:ln w="412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27" name="Freeform 107"/>
          <p:cNvSpPr>
            <a:spLocks/>
          </p:cNvSpPr>
          <p:nvPr/>
        </p:nvSpPr>
        <p:spPr bwMode="auto">
          <a:xfrm>
            <a:off x="7207250" y="3937000"/>
            <a:ext cx="111125" cy="222250"/>
          </a:xfrm>
          <a:custGeom>
            <a:avLst/>
            <a:gdLst>
              <a:gd name="T0" fmla="*/ 35 w 70"/>
              <a:gd name="T1" fmla="*/ 140 h 140"/>
              <a:gd name="T2" fmla="*/ 70 w 70"/>
              <a:gd name="T3" fmla="*/ 0 h 140"/>
              <a:gd name="T4" fmla="*/ 0 w 70"/>
              <a:gd name="T5" fmla="*/ 0 h 140"/>
              <a:gd name="T6" fmla="*/ 35 w 70"/>
              <a:gd name="T7" fmla="*/ 140 h 140"/>
            </a:gdLst>
            <a:ahLst/>
            <a:cxnLst>
              <a:cxn ang="0">
                <a:pos x="T0" y="T1"/>
              </a:cxn>
              <a:cxn ang="0">
                <a:pos x="T2" y="T3"/>
              </a:cxn>
              <a:cxn ang="0">
                <a:pos x="T4" y="T5"/>
              </a:cxn>
              <a:cxn ang="0">
                <a:pos x="T6" y="T7"/>
              </a:cxn>
            </a:cxnLst>
            <a:rect l="0" t="0" r="r" b="b"/>
            <a:pathLst>
              <a:path w="70" h="140">
                <a:moveTo>
                  <a:pt x="35" y="140"/>
                </a:moveTo>
                <a:lnTo>
                  <a:pt x="70" y="0"/>
                </a:lnTo>
                <a:lnTo>
                  <a:pt x="0" y="0"/>
                </a:lnTo>
                <a:lnTo>
                  <a:pt x="35"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28" name="Line 108"/>
          <p:cNvSpPr>
            <a:spLocks noChangeShapeType="1"/>
          </p:cNvSpPr>
          <p:nvPr/>
        </p:nvSpPr>
        <p:spPr bwMode="auto">
          <a:xfrm>
            <a:off x="7262813" y="3797300"/>
            <a:ext cx="1587" cy="180975"/>
          </a:xfrm>
          <a:prstGeom prst="line">
            <a:avLst/>
          </a:prstGeom>
          <a:noFill/>
          <a:ln w="412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29" name="Freeform 109"/>
          <p:cNvSpPr>
            <a:spLocks/>
          </p:cNvSpPr>
          <p:nvPr/>
        </p:nvSpPr>
        <p:spPr bwMode="auto">
          <a:xfrm>
            <a:off x="7207250" y="4938713"/>
            <a:ext cx="111125" cy="223837"/>
          </a:xfrm>
          <a:custGeom>
            <a:avLst/>
            <a:gdLst>
              <a:gd name="T0" fmla="*/ 35 w 70"/>
              <a:gd name="T1" fmla="*/ 141 h 141"/>
              <a:gd name="T2" fmla="*/ 70 w 70"/>
              <a:gd name="T3" fmla="*/ 0 h 141"/>
              <a:gd name="T4" fmla="*/ 0 w 70"/>
              <a:gd name="T5" fmla="*/ 0 h 141"/>
              <a:gd name="T6" fmla="*/ 35 w 70"/>
              <a:gd name="T7" fmla="*/ 141 h 141"/>
            </a:gdLst>
            <a:ahLst/>
            <a:cxnLst>
              <a:cxn ang="0">
                <a:pos x="T0" y="T1"/>
              </a:cxn>
              <a:cxn ang="0">
                <a:pos x="T2" y="T3"/>
              </a:cxn>
              <a:cxn ang="0">
                <a:pos x="T4" y="T5"/>
              </a:cxn>
              <a:cxn ang="0">
                <a:pos x="T6" y="T7"/>
              </a:cxn>
            </a:cxnLst>
            <a:rect l="0" t="0" r="r" b="b"/>
            <a:pathLst>
              <a:path w="70" h="141">
                <a:moveTo>
                  <a:pt x="35" y="141"/>
                </a:moveTo>
                <a:lnTo>
                  <a:pt x="70" y="0"/>
                </a:lnTo>
                <a:lnTo>
                  <a:pt x="0" y="0"/>
                </a:lnTo>
                <a:lnTo>
                  <a:pt x="35" y="1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30" name="Line 110"/>
          <p:cNvSpPr>
            <a:spLocks noChangeShapeType="1"/>
          </p:cNvSpPr>
          <p:nvPr/>
        </p:nvSpPr>
        <p:spPr bwMode="auto">
          <a:xfrm>
            <a:off x="7262813" y="4765675"/>
            <a:ext cx="1587" cy="207963"/>
          </a:xfrm>
          <a:prstGeom prst="line">
            <a:avLst/>
          </a:prstGeom>
          <a:noFill/>
          <a:ln w="412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31" name="Freeform 111"/>
          <p:cNvSpPr>
            <a:spLocks/>
          </p:cNvSpPr>
          <p:nvPr/>
        </p:nvSpPr>
        <p:spPr bwMode="auto">
          <a:xfrm>
            <a:off x="7959725" y="1855788"/>
            <a:ext cx="111125" cy="222250"/>
          </a:xfrm>
          <a:custGeom>
            <a:avLst/>
            <a:gdLst>
              <a:gd name="T0" fmla="*/ 35 w 70"/>
              <a:gd name="T1" fmla="*/ 140 h 140"/>
              <a:gd name="T2" fmla="*/ 70 w 70"/>
              <a:gd name="T3" fmla="*/ 0 h 140"/>
              <a:gd name="T4" fmla="*/ 0 w 70"/>
              <a:gd name="T5" fmla="*/ 0 h 140"/>
              <a:gd name="T6" fmla="*/ 35 w 70"/>
              <a:gd name="T7" fmla="*/ 140 h 140"/>
            </a:gdLst>
            <a:ahLst/>
            <a:cxnLst>
              <a:cxn ang="0">
                <a:pos x="T0" y="T1"/>
              </a:cxn>
              <a:cxn ang="0">
                <a:pos x="T2" y="T3"/>
              </a:cxn>
              <a:cxn ang="0">
                <a:pos x="T4" y="T5"/>
              </a:cxn>
              <a:cxn ang="0">
                <a:pos x="T6" y="T7"/>
              </a:cxn>
            </a:cxnLst>
            <a:rect l="0" t="0" r="r" b="b"/>
            <a:pathLst>
              <a:path w="70" h="140">
                <a:moveTo>
                  <a:pt x="35" y="140"/>
                </a:moveTo>
                <a:lnTo>
                  <a:pt x="70" y="0"/>
                </a:lnTo>
                <a:lnTo>
                  <a:pt x="0" y="0"/>
                </a:lnTo>
                <a:lnTo>
                  <a:pt x="35"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32" name="Line 112"/>
          <p:cNvSpPr>
            <a:spLocks noChangeShapeType="1"/>
          </p:cNvSpPr>
          <p:nvPr/>
        </p:nvSpPr>
        <p:spPr bwMode="auto">
          <a:xfrm>
            <a:off x="8015288" y="1682750"/>
            <a:ext cx="1587" cy="214313"/>
          </a:xfrm>
          <a:prstGeom prst="line">
            <a:avLst/>
          </a:prstGeom>
          <a:noFill/>
          <a:ln w="412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33" name="Freeform 113"/>
          <p:cNvSpPr>
            <a:spLocks/>
          </p:cNvSpPr>
          <p:nvPr/>
        </p:nvSpPr>
        <p:spPr bwMode="auto">
          <a:xfrm>
            <a:off x="6378575" y="1855788"/>
            <a:ext cx="112713" cy="222250"/>
          </a:xfrm>
          <a:custGeom>
            <a:avLst/>
            <a:gdLst>
              <a:gd name="T0" fmla="*/ 36 w 71"/>
              <a:gd name="T1" fmla="*/ 140 h 140"/>
              <a:gd name="T2" fmla="*/ 71 w 71"/>
              <a:gd name="T3" fmla="*/ 0 h 140"/>
              <a:gd name="T4" fmla="*/ 0 w 71"/>
              <a:gd name="T5" fmla="*/ 0 h 140"/>
              <a:gd name="T6" fmla="*/ 36 w 71"/>
              <a:gd name="T7" fmla="*/ 140 h 140"/>
            </a:gdLst>
            <a:ahLst/>
            <a:cxnLst>
              <a:cxn ang="0">
                <a:pos x="T0" y="T1"/>
              </a:cxn>
              <a:cxn ang="0">
                <a:pos x="T2" y="T3"/>
              </a:cxn>
              <a:cxn ang="0">
                <a:pos x="T4" y="T5"/>
              </a:cxn>
              <a:cxn ang="0">
                <a:pos x="T6" y="T7"/>
              </a:cxn>
            </a:cxnLst>
            <a:rect l="0" t="0" r="r" b="b"/>
            <a:pathLst>
              <a:path w="71" h="140">
                <a:moveTo>
                  <a:pt x="36" y="140"/>
                </a:moveTo>
                <a:lnTo>
                  <a:pt x="71" y="0"/>
                </a:lnTo>
                <a:lnTo>
                  <a:pt x="0" y="0"/>
                </a:lnTo>
                <a:lnTo>
                  <a:pt x="36" y="1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34" name="Line 114"/>
          <p:cNvSpPr>
            <a:spLocks noChangeShapeType="1"/>
          </p:cNvSpPr>
          <p:nvPr/>
        </p:nvSpPr>
        <p:spPr bwMode="auto">
          <a:xfrm>
            <a:off x="6435725" y="1682750"/>
            <a:ext cx="1588" cy="214313"/>
          </a:xfrm>
          <a:prstGeom prst="line">
            <a:avLst/>
          </a:prstGeom>
          <a:noFill/>
          <a:ln w="412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35" name="Oval 115"/>
          <p:cNvSpPr>
            <a:spLocks noChangeArrowheads="1"/>
          </p:cNvSpPr>
          <p:nvPr/>
        </p:nvSpPr>
        <p:spPr bwMode="auto">
          <a:xfrm>
            <a:off x="5426075" y="2474913"/>
            <a:ext cx="111125" cy="111125"/>
          </a:xfrm>
          <a:prstGeom prst="ellipse">
            <a:avLst/>
          </a:prstGeom>
          <a:solidFill>
            <a:srgbClr val="000000"/>
          </a:solidFill>
          <a:ln w="12700">
            <a:solidFill>
              <a:srgbClr val="000000"/>
            </a:solidFill>
            <a:miter lim="800000"/>
            <a:headEnd/>
            <a:tailEnd/>
          </a:ln>
        </p:spPr>
        <p:txBody>
          <a:bodyPr/>
          <a:lstStyle/>
          <a:p>
            <a:endParaRPr lang="en-US"/>
          </a:p>
        </p:txBody>
      </p:sp>
      <p:sp>
        <p:nvSpPr>
          <p:cNvPr id="568436" name="Oval 116"/>
          <p:cNvSpPr>
            <a:spLocks noChangeArrowheads="1"/>
          </p:cNvSpPr>
          <p:nvPr/>
        </p:nvSpPr>
        <p:spPr bwMode="auto">
          <a:xfrm>
            <a:off x="5426075" y="2801938"/>
            <a:ext cx="111125" cy="104775"/>
          </a:xfrm>
          <a:prstGeom prst="ellipse">
            <a:avLst/>
          </a:prstGeom>
          <a:solidFill>
            <a:srgbClr val="000000"/>
          </a:solidFill>
          <a:ln w="12700">
            <a:solidFill>
              <a:srgbClr val="000000"/>
            </a:solidFill>
            <a:miter lim="800000"/>
            <a:headEnd/>
            <a:tailEnd/>
          </a:ln>
        </p:spPr>
        <p:txBody>
          <a:bodyPr/>
          <a:lstStyle/>
          <a:p>
            <a:endParaRPr lang="en-US"/>
          </a:p>
        </p:txBody>
      </p:sp>
      <p:sp>
        <p:nvSpPr>
          <p:cNvPr id="568437" name="Rectangle 117"/>
          <p:cNvSpPr>
            <a:spLocks noChangeArrowheads="1"/>
          </p:cNvSpPr>
          <p:nvPr/>
        </p:nvSpPr>
        <p:spPr bwMode="auto">
          <a:xfrm>
            <a:off x="6381750" y="226218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a</a:t>
            </a:r>
            <a:endParaRPr lang="en-US" altLang="en-US"/>
          </a:p>
        </p:txBody>
      </p:sp>
      <p:sp>
        <p:nvSpPr>
          <p:cNvPr id="568438" name="Rectangle 118"/>
          <p:cNvSpPr>
            <a:spLocks noChangeArrowheads="1"/>
          </p:cNvSpPr>
          <p:nvPr/>
        </p:nvSpPr>
        <p:spPr bwMode="auto">
          <a:xfrm>
            <a:off x="7164388" y="3255963"/>
            <a:ext cx="192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600">
                <a:solidFill>
                  <a:srgbClr val="000000"/>
                </a:solidFill>
                <a:latin typeface="Myriad Roman" charset="0"/>
              </a:rPr>
              <a:t>+</a:t>
            </a:r>
            <a:endParaRPr lang="en-US" altLang="en-US"/>
          </a:p>
        </p:txBody>
      </p:sp>
      <p:sp>
        <p:nvSpPr>
          <p:cNvPr id="568439" name="Freeform 119"/>
          <p:cNvSpPr>
            <a:spLocks/>
          </p:cNvSpPr>
          <p:nvPr/>
        </p:nvSpPr>
        <p:spPr bwMode="auto">
          <a:xfrm>
            <a:off x="5884863" y="2405063"/>
            <a:ext cx="230187" cy="238125"/>
          </a:xfrm>
          <a:custGeom>
            <a:avLst/>
            <a:gdLst>
              <a:gd name="T0" fmla="*/ 0 w 145"/>
              <a:gd name="T1" fmla="*/ 150 h 150"/>
              <a:gd name="T2" fmla="*/ 145 w 145"/>
              <a:gd name="T3" fmla="*/ 75 h 150"/>
              <a:gd name="T4" fmla="*/ 0 w 145"/>
              <a:gd name="T5" fmla="*/ 0 h 150"/>
            </a:gdLst>
            <a:ahLst/>
            <a:cxnLst>
              <a:cxn ang="0">
                <a:pos x="T0" y="T1"/>
              </a:cxn>
              <a:cxn ang="0">
                <a:pos x="T2" y="T3"/>
              </a:cxn>
              <a:cxn ang="0">
                <a:pos x="T4" y="T5"/>
              </a:cxn>
            </a:cxnLst>
            <a:rect l="0" t="0" r="r" b="b"/>
            <a:pathLst>
              <a:path w="145" h="150">
                <a:moveTo>
                  <a:pt x="0" y="150"/>
                </a:moveTo>
                <a:lnTo>
                  <a:pt x="145" y="75"/>
                </a:lnTo>
                <a:lnTo>
                  <a:pt x="0" y="0"/>
                </a:lnTo>
              </a:path>
            </a:pathLst>
          </a:custGeom>
          <a:noFill/>
          <a:ln w="1270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40" name="Freeform 120"/>
          <p:cNvSpPr>
            <a:spLocks/>
          </p:cNvSpPr>
          <p:nvPr/>
        </p:nvSpPr>
        <p:spPr bwMode="auto">
          <a:xfrm>
            <a:off x="6692900" y="3192463"/>
            <a:ext cx="1141413" cy="598487"/>
          </a:xfrm>
          <a:custGeom>
            <a:avLst/>
            <a:gdLst>
              <a:gd name="T0" fmla="*/ 719 w 719"/>
              <a:gd name="T1" fmla="*/ 0 h 377"/>
              <a:gd name="T2" fmla="*/ 544 w 719"/>
              <a:gd name="T3" fmla="*/ 377 h 377"/>
              <a:gd name="T4" fmla="*/ 184 w 719"/>
              <a:gd name="T5" fmla="*/ 377 h 377"/>
              <a:gd name="T6" fmla="*/ 0 w 719"/>
              <a:gd name="T7" fmla="*/ 0 h 377"/>
              <a:gd name="T8" fmla="*/ 719 w 719"/>
              <a:gd name="T9" fmla="*/ 0 h 377"/>
            </a:gdLst>
            <a:ahLst/>
            <a:cxnLst>
              <a:cxn ang="0">
                <a:pos x="T0" y="T1"/>
              </a:cxn>
              <a:cxn ang="0">
                <a:pos x="T2" y="T3"/>
              </a:cxn>
              <a:cxn ang="0">
                <a:pos x="T4" y="T5"/>
              </a:cxn>
              <a:cxn ang="0">
                <a:pos x="T6" y="T7"/>
              </a:cxn>
              <a:cxn ang="0">
                <a:pos x="T8" y="T9"/>
              </a:cxn>
            </a:cxnLst>
            <a:rect l="0" t="0" r="r" b="b"/>
            <a:pathLst>
              <a:path w="719" h="377">
                <a:moveTo>
                  <a:pt x="719" y="0"/>
                </a:moveTo>
                <a:lnTo>
                  <a:pt x="544" y="377"/>
                </a:lnTo>
                <a:lnTo>
                  <a:pt x="184" y="377"/>
                </a:lnTo>
                <a:lnTo>
                  <a:pt x="0" y="0"/>
                </a:lnTo>
                <a:lnTo>
                  <a:pt x="719" y="0"/>
                </a:lnTo>
                <a:close/>
              </a:path>
            </a:pathLst>
          </a:custGeom>
          <a:noFill/>
          <a:ln w="2063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41" name="Rectangle 121"/>
          <p:cNvSpPr>
            <a:spLocks noChangeArrowheads="1"/>
          </p:cNvSpPr>
          <p:nvPr/>
        </p:nvSpPr>
        <p:spPr bwMode="auto">
          <a:xfrm>
            <a:off x="7951788" y="2262188"/>
            <a:ext cx="127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b</a:t>
            </a:r>
            <a:endParaRPr lang="en-US" altLang="en-US"/>
          </a:p>
        </p:txBody>
      </p:sp>
      <p:sp>
        <p:nvSpPr>
          <p:cNvPr id="568442" name="Freeform 122"/>
          <p:cNvSpPr>
            <a:spLocks/>
          </p:cNvSpPr>
          <p:nvPr/>
        </p:nvSpPr>
        <p:spPr bwMode="auto">
          <a:xfrm>
            <a:off x="7451725" y="2405063"/>
            <a:ext cx="228600" cy="238125"/>
          </a:xfrm>
          <a:custGeom>
            <a:avLst/>
            <a:gdLst>
              <a:gd name="T0" fmla="*/ 0 w 144"/>
              <a:gd name="T1" fmla="*/ 150 h 150"/>
              <a:gd name="T2" fmla="*/ 144 w 144"/>
              <a:gd name="T3" fmla="*/ 75 h 150"/>
              <a:gd name="T4" fmla="*/ 0 w 144"/>
              <a:gd name="T5" fmla="*/ 0 h 150"/>
            </a:gdLst>
            <a:ahLst/>
            <a:cxnLst>
              <a:cxn ang="0">
                <a:pos x="T0" y="T1"/>
              </a:cxn>
              <a:cxn ang="0">
                <a:pos x="T2" y="T3"/>
              </a:cxn>
              <a:cxn ang="0">
                <a:pos x="T4" y="T5"/>
              </a:cxn>
            </a:cxnLst>
            <a:rect l="0" t="0" r="r" b="b"/>
            <a:pathLst>
              <a:path w="144" h="150">
                <a:moveTo>
                  <a:pt x="0" y="150"/>
                </a:moveTo>
                <a:lnTo>
                  <a:pt x="144" y="75"/>
                </a:lnTo>
                <a:lnTo>
                  <a:pt x="0" y="0"/>
                </a:lnTo>
              </a:path>
            </a:pathLst>
          </a:custGeom>
          <a:noFill/>
          <a:ln w="1270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43" name="Rectangle 123"/>
          <p:cNvSpPr>
            <a:spLocks noChangeArrowheads="1"/>
          </p:cNvSpPr>
          <p:nvPr/>
        </p:nvSpPr>
        <p:spPr bwMode="auto">
          <a:xfrm>
            <a:off x="7443788" y="2092325"/>
            <a:ext cx="1143000" cy="598488"/>
          </a:xfrm>
          <a:prstGeom prst="rect">
            <a:avLst/>
          </a:prstGeom>
          <a:noFill/>
          <a:ln w="2063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44" name="Rectangle 124"/>
          <p:cNvSpPr>
            <a:spLocks noChangeArrowheads="1"/>
          </p:cNvSpPr>
          <p:nvPr/>
        </p:nvSpPr>
        <p:spPr bwMode="auto">
          <a:xfrm>
            <a:off x="7213600" y="4327525"/>
            <a:ext cx="1143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c</a:t>
            </a:r>
            <a:endParaRPr lang="en-US" altLang="en-US"/>
          </a:p>
        </p:txBody>
      </p:sp>
      <p:sp>
        <p:nvSpPr>
          <p:cNvPr id="568445" name="Freeform 125"/>
          <p:cNvSpPr>
            <a:spLocks/>
          </p:cNvSpPr>
          <p:nvPr/>
        </p:nvSpPr>
        <p:spPr bwMode="auto">
          <a:xfrm>
            <a:off x="6699250" y="4471988"/>
            <a:ext cx="230188" cy="230187"/>
          </a:xfrm>
          <a:custGeom>
            <a:avLst/>
            <a:gdLst>
              <a:gd name="T0" fmla="*/ 0 w 145"/>
              <a:gd name="T1" fmla="*/ 145 h 145"/>
              <a:gd name="T2" fmla="*/ 145 w 145"/>
              <a:gd name="T3" fmla="*/ 75 h 145"/>
              <a:gd name="T4" fmla="*/ 0 w 145"/>
              <a:gd name="T5" fmla="*/ 0 h 145"/>
            </a:gdLst>
            <a:ahLst/>
            <a:cxnLst>
              <a:cxn ang="0">
                <a:pos x="T0" y="T1"/>
              </a:cxn>
              <a:cxn ang="0">
                <a:pos x="T2" y="T3"/>
              </a:cxn>
              <a:cxn ang="0">
                <a:pos x="T4" y="T5"/>
              </a:cxn>
            </a:cxnLst>
            <a:rect l="0" t="0" r="r" b="b"/>
            <a:pathLst>
              <a:path w="145" h="145">
                <a:moveTo>
                  <a:pt x="0" y="145"/>
                </a:moveTo>
                <a:lnTo>
                  <a:pt x="145" y="75"/>
                </a:lnTo>
                <a:lnTo>
                  <a:pt x="0" y="0"/>
                </a:lnTo>
              </a:path>
            </a:pathLst>
          </a:custGeom>
          <a:noFill/>
          <a:ln w="1270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46" name="Rectangle 126"/>
          <p:cNvSpPr>
            <a:spLocks noChangeArrowheads="1"/>
          </p:cNvSpPr>
          <p:nvPr/>
        </p:nvSpPr>
        <p:spPr bwMode="auto">
          <a:xfrm>
            <a:off x="6692900" y="4152900"/>
            <a:ext cx="1141413" cy="598488"/>
          </a:xfrm>
          <a:prstGeom prst="rect">
            <a:avLst/>
          </a:prstGeom>
          <a:noFill/>
          <a:ln w="2063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47" name="Rectangle 127"/>
          <p:cNvSpPr>
            <a:spLocks noChangeArrowheads="1"/>
          </p:cNvSpPr>
          <p:nvPr/>
        </p:nvSpPr>
        <p:spPr bwMode="auto">
          <a:xfrm>
            <a:off x="5878513" y="2092325"/>
            <a:ext cx="1141412" cy="598488"/>
          </a:xfrm>
          <a:prstGeom prst="rect">
            <a:avLst/>
          </a:prstGeom>
          <a:noFill/>
          <a:ln w="2063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8448" name="Rectangle 128"/>
          <p:cNvSpPr>
            <a:spLocks noChangeArrowheads="1"/>
          </p:cNvSpPr>
          <p:nvPr/>
        </p:nvSpPr>
        <p:spPr bwMode="auto">
          <a:xfrm>
            <a:off x="7859713" y="3379788"/>
            <a:ext cx="431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2 ns</a:t>
            </a:r>
            <a:endParaRPr lang="en-US" altLang="en-US"/>
          </a:p>
        </p:txBody>
      </p:sp>
      <p:sp>
        <p:nvSpPr>
          <p:cNvPr id="568449" name="Rectangle 129"/>
          <p:cNvSpPr>
            <a:spLocks noChangeArrowheads="1"/>
          </p:cNvSpPr>
          <p:nvPr/>
        </p:nvSpPr>
        <p:spPr bwMode="auto">
          <a:xfrm>
            <a:off x="7543800" y="41910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3 ns</a:t>
            </a:r>
            <a:endParaRPr lang="en-US" altLang="en-US"/>
          </a:p>
        </p:txBody>
      </p:sp>
      <p:sp>
        <p:nvSpPr>
          <p:cNvPr id="568450" name="Rectangle 130"/>
          <p:cNvSpPr>
            <a:spLocks noChangeArrowheads="1"/>
          </p:cNvSpPr>
          <p:nvPr/>
        </p:nvSpPr>
        <p:spPr bwMode="auto">
          <a:xfrm rot="-5400000">
            <a:off x="6649244" y="4236244"/>
            <a:ext cx="33496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3 ns</a:t>
            </a:r>
            <a:endParaRPr lang="en-US" altLang="en-US" sz="3200"/>
          </a:p>
        </p:txBody>
      </p:sp>
      <p:sp>
        <p:nvSpPr>
          <p:cNvPr id="568451" name="Rectangle 131"/>
          <p:cNvSpPr>
            <a:spLocks noChangeArrowheads="1"/>
          </p:cNvSpPr>
          <p:nvPr/>
        </p:nvSpPr>
        <p:spPr bwMode="auto">
          <a:xfrm>
            <a:off x="5899150" y="2881313"/>
            <a:ext cx="622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0.5 ns</a:t>
            </a:r>
            <a:endParaRPr lang="en-US" altLang="en-US"/>
          </a:p>
        </p:txBody>
      </p:sp>
      <p:sp>
        <p:nvSpPr>
          <p:cNvPr id="568452" name="Rectangle 132"/>
          <p:cNvSpPr>
            <a:spLocks noChangeArrowheads="1"/>
          </p:cNvSpPr>
          <p:nvPr/>
        </p:nvSpPr>
        <p:spPr bwMode="auto">
          <a:xfrm>
            <a:off x="8121650" y="2719388"/>
            <a:ext cx="622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0.5 ns</a:t>
            </a:r>
            <a:endParaRPr lang="en-US" altLang="en-US"/>
          </a:p>
        </p:txBody>
      </p:sp>
      <p:sp>
        <p:nvSpPr>
          <p:cNvPr id="568453" name="Rectangle 133"/>
          <p:cNvSpPr>
            <a:spLocks noChangeArrowheads="1"/>
          </p:cNvSpPr>
          <p:nvPr/>
        </p:nvSpPr>
        <p:spPr bwMode="auto">
          <a:xfrm>
            <a:off x="7689850" y="3846513"/>
            <a:ext cx="622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0.5 ns</a:t>
            </a:r>
            <a:endParaRPr lang="en-US" altLang="en-US"/>
          </a:p>
        </p:txBody>
      </p:sp>
      <p:sp>
        <p:nvSpPr>
          <p:cNvPr id="568454" name="Rectangle 134"/>
          <p:cNvSpPr>
            <a:spLocks noChangeArrowheads="1"/>
          </p:cNvSpPr>
          <p:nvPr/>
        </p:nvSpPr>
        <p:spPr bwMode="auto">
          <a:xfrm>
            <a:off x="5343525" y="2209800"/>
            <a:ext cx="279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800">
                <a:solidFill>
                  <a:srgbClr val="000000"/>
                </a:solidFill>
                <a:latin typeface="Myriad Roman" charset="0"/>
              </a:rPr>
              <a:t>clk</a:t>
            </a:r>
            <a:endParaRPr lang="en-US" altLang="en-US"/>
          </a:p>
        </p:txBody>
      </p:sp>
      <p:sp>
        <p:nvSpPr>
          <p:cNvPr id="568455" name="Freeform 135"/>
          <p:cNvSpPr>
            <a:spLocks/>
          </p:cNvSpPr>
          <p:nvPr/>
        </p:nvSpPr>
        <p:spPr bwMode="auto">
          <a:xfrm>
            <a:off x="7659688" y="2844800"/>
            <a:ext cx="349250" cy="1588"/>
          </a:xfrm>
          <a:custGeom>
            <a:avLst/>
            <a:gdLst>
              <a:gd name="T0" fmla="*/ 220 w 220"/>
              <a:gd name="T1" fmla="*/ 0 w 220"/>
              <a:gd name="T2" fmla="*/ 220 w 220"/>
            </a:gdLst>
            <a:ahLst/>
            <a:cxnLst>
              <a:cxn ang="0">
                <a:pos x="T0" y="0"/>
              </a:cxn>
              <a:cxn ang="0">
                <a:pos x="T1" y="0"/>
              </a:cxn>
              <a:cxn ang="0">
                <a:pos x="T2" y="0"/>
              </a:cxn>
            </a:cxnLst>
            <a:rect l="0" t="0" r="r" b="b"/>
            <a:pathLst>
              <a:path w="220">
                <a:moveTo>
                  <a:pt x="220" y="0"/>
                </a:moveTo>
                <a:lnTo>
                  <a:pt x="0" y="0"/>
                </a:lnTo>
                <a:lnTo>
                  <a:pt x="22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56" name="Line 136"/>
          <p:cNvSpPr>
            <a:spLocks noChangeShapeType="1"/>
          </p:cNvSpPr>
          <p:nvPr/>
        </p:nvSpPr>
        <p:spPr bwMode="auto">
          <a:xfrm flipH="1">
            <a:off x="7659688" y="2844800"/>
            <a:ext cx="349250" cy="1588"/>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57" name="Freeform 137"/>
          <p:cNvSpPr>
            <a:spLocks/>
          </p:cNvSpPr>
          <p:nvPr/>
        </p:nvSpPr>
        <p:spPr bwMode="auto">
          <a:xfrm>
            <a:off x="6573838" y="3011488"/>
            <a:ext cx="300037" cy="1587"/>
          </a:xfrm>
          <a:custGeom>
            <a:avLst/>
            <a:gdLst>
              <a:gd name="T0" fmla="*/ 0 w 189"/>
              <a:gd name="T1" fmla="*/ 189 w 189"/>
              <a:gd name="T2" fmla="*/ 0 w 189"/>
            </a:gdLst>
            <a:ahLst/>
            <a:cxnLst>
              <a:cxn ang="0">
                <a:pos x="T0" y="0"/>
              </a:cxn>
              <a:cxn ang="0">
                <a:pos x="T1" y="0"/>
              </a:cxn>
              <a:cxn ang="0">
                <a:pos x="T2" y="0"/>
              </a:cxn>
            </a:cxnLst>
            <a:rect l="0" t="0" r="r" b="b"/>
            <a:pathLst>
              <a:path w="189">
                <a:moveTo>
                  <a:pt x="0" y="0"/>
                </a:moveTo>
                <a:lnTo>
                  <a:pt x="189"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58" name="Line 138"/>
          <p:cNvSpPr>
            <a:spLocks noChangeShapeType="1"/>
          </p:cNvSpPr>
          <p:nvPr/>
        </p:nvSpPr>
        <p:spPr bwMode="auto">
          <a:xfrm>
            <a:off x="6573838" y="3011488"/>
            <a:ext cx="300037" cy="1587"/>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59" name="Freeform 139"/>
          <p:cNvSpPr>
            <a:spLocks/>
          </p:cNvSpPr>
          <p:nvPr/>
        </p:nvSpPr>
        <p:spPr bwMode="auto">
          <a:xfrm>
            <a:off x="7305675" y="3971925"/>
            <a:ext cx="277813" cy="1588"/>
          </a:xfrm>
          <a:custGeom>
            <a:avLst/>
            <a:gdLst>
              <a:gd name="T0" fmla="*/ 175 w 175"/>
              <a:gd name="T1" fmla="*/ 0 w 175"/>
              <a:gd name="T2" fmla="*/ 175 w 175"/>
            </a:gdLst>
            <a:ahLst/>
            <a:cxnLst>
              <a:cxn ang="0">
                <a:pos x="T0" y="0"/>
              </a:cxn>
              <a:cxn ang="0">
                <a:pos x="T1" y="0"/>
              </a:cxn>
              <a:cxn ang="0">
                <a:pos x="T2" y="0"/>
              </a:cxn>
            </a:cxnLst>
            <a:rect l="0" t="0" r="r" b="b"/>
            <a:pathLst>
              <a:path w="175">
                <a:moveTo>
                  <a:pt x="175" y="0"/>
                </a:moveTo>
                <a:lnTo>
                  <a:pt x="0" y="0"/>
                </a:lnTo>
                <a:lnTo>
                  <a:pt x="17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8460" name="Line 140"/>
          <p:cNvSpPr>
            <a:spLocks noChangeShapeType="1"/>
          </p:cNvSpPr>
          <p:nvPr/>
        </p:nvSpPr>
        <p:spPr bwMode="auto">
          <a:xfrm flipH="1">
            <a:off x="7305675" y="3971925"/>
            <a:ext cx="277813" cy="1588"/>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8461" name="Rectangle 141"/>
          <p:cNvSpPr>
            <a:spLocks noChangeArrowheads="1"/>
          </p:cNvSpPr>
          <p:nvPr/>
        </p:nvSpPr>
        <p:spPr bwMode="auto">
          <a:xfrm rot="-5400000">
            <a:off x="7474745" y="4253706"/>
            <a:ext cx="3349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3 ns</a:t>
            </a:r>
            <a:endParaRPr lang="en-US" altLang="en-US" sz="32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Slide Number Placeholder 3"/>
          <p:cNvSpPr>
            <a:spLocks noGrp="1"/>
          </p:cNvSpPr>
          <p:nvPr>
            <p:ph type="sldNum" sz="quarter" idx="10"/>
          </p:nvPr>
        </p:nvSpPr>
        <p:spPr/>
        <p:txBody>
          <a:bodyPr/>
          <a:lstStyle/>
          <a:p>
            <a:fld id="{3E904A20-FA89-4F1C-B1EA-6A8B26D8AE1B}" type="slidenum">
              <a:rPr lang="en-US" altLang="en-US"/>
              <a:pPr/>
              <a:t>54</a:t>
            </a:fld>
            <a:endParaRPr lang="en-US" altLang="en-US"/>
          </a:p>
        </p:txBody>
      </p:sp>
      <p:sp>
        <p:nvSpPr>
          <p:cNvPr id="569346" name="Rectangle 2"/>
          <p:cNvSpPr>
            <a:spLocks noGrp="1" noChangeArrowheads="1"/>
          </p:cNvSpPr>
          <p:nvPr>
            <p:ph type="title"/>
          </p:nvPr>
        </p:nvSpPr>
        <p:spPr/>
        <p:txBody>
          <a:bodyPr/>
          <a:lstStyle/>
          <a:p>
            <a:r>
              <a:rPr lang="en-US" altLang="en-US"/>
              <a:t>A Circuit May Have Numerous Paths</a:t>
            </a:r>
          </a:p>
        </p:txBody>
      </p:sp>
      <p:sp>
        <p:nvSpPr>
          <p:cNvPr id="569347" name="Rectangle 3"/>
          <p:cNvSpPr>
            <a:spLocks noGrp="1" noChangeArrowheads="1"/>
          </p:cNvSpPr>
          <p:nvPr>
            <p:ph type="body" idx="1"/>
          </p:nvPr>
        </p:nvSpPr>
        <p:spPr>
          <a:xfrm>
            <a:off x="228600" y="1381125"/>
            <a:ext cx="2673350" cy="4714875"/>
          </a:xfrm>
        </p:spPr>
        <p:txBody>
          <a:bodyPr/>
          <a:lstStyle/>
          <a:p>
            <a:r>
              <a:rPr lang="en-US" altLang="en-US" sz="2000"/>
              <a:t>Paths can exist</a:t>
            </a:r>
          </a:p>
          <a:p>
            <a:pPr lvl="1"/>
            <a:r>
              <a:rPr lang="en-US" altLang="en-US" sz="1800"/>
              <a:t>In the datapath</a:t>
            </a:r>
          </a:p>
          <a:p>
            <a:pPr lvl="1"/>
            <a:r>
              <a:rPr lang="en-US" altLang="en-US" sz="1800"/>
              <a:t>In the controller</a:t>
            </a:r>
          </a:p>
          <a:p>
            <a:pPr lvl="1"/>
            <a:r>
              <a:rPr lang="en-US" altLang="en-US" sz="1800"/>
              <a:t>Between the controller and datapath</a:t>
            </a:r>
          </a:p>
          <a:p>
            <a:pPr lvl="1"/>
            <a:r>
              <a:rPr lang="en-US" altLang="en-US" sz="1800"/>
              <a:t>May be hundreds or thousands of paths</a:t>
            </a:r>
          </a:p>
          <a:p>
            <a:r>
              <a:rPr lang="en-US" altLang="en-US" sz="2000"/>
              <a:t>Timing analysis tools that evaluate all possible paths automatically very helpful</a:t>
            </a:r>
          </a:p>
        </p:txBody>
      </p:sp>
      <p:sp>
        <p:nvSpPr>
          <p:cNvPr id="569654" name="Rectangle 310"/>
          <p:cNvSpPr>
            <a:spLocks noChangeArrowheads="1"/>
          </p:cNvSpPr>
          <p:nvPr/>
        </p:nvSpPr>
        <p:spPr bwMode="auto">
          <a:xfrm>
            <a:off x="6565900" y="1803400"/>
            <a:ext cx="2343150" cy="3062288"/>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55" name="Freeform 311"/>
          <p:cNvSpPr>
            <a:spLocks/>
          </p:cNvSpPr>
          <p:nvPr/>
        </p:nvSpPr>
        <p:spPr bwMode="auto">
          <a:xfrm>
            <a:off x="8250238" y="3005138"/>
            <a:ext cx="171450" cy="171450"/>
          </a:xfrm>
          <a:custGeom>
            <a:avLst/>
            <a:gdLst>
              <a:gd name="T0" fmla="*/ 78 w 78"/>
              <a:gd name="T1" fmla="*/ 78 h 78"/>
              <a:gd name="T2" fmla="*/ 0 w 78"/>
              <a:gd name="T3" fmla="*/ 40 h 78"/>
              <a:gd name="T4" fmla="*/ 78 w 78"/>
              <a:gd name="T5" fmla="*/ 0 h 78"/>
            </a:gdLst>
            <a:ahLst/>
            <a:cxnLst>
              <a:cxn ang="0">
                <a:pos x="T0" y="T1"/>
              </a:cxn>
              <a:cxn ang="0">
                <a:pos x="T2" y="T3"/>
              </a:cxn>
              <a:cxn ang="0">
                <a:pos x="T4" y="T5"/>
              </a:cxn>
            </a:cxnLst>
            <a:rect l="0" t="0" r="r" b="b"/>
            <a:pathLst>
              <a:path w="78" h="78">
                <a:moveTo>
                  <a:pt x="78" y="78"/>
                </a:moveTo>
                <a:lnTo>
                  <a:pt x="0" y="40"/>
                </a:lnTo>
                <a:lnTo>
                  <a:pt x="78" y="0"/>
                </a:lnTo>
              </a:path>
            </a:pathLst>
          </a:custGeom>
          <a:noFill/>
          <a:ln w="793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56" name="Rectangle 312"/>
          <p:cNvSpPr>
            <a:spLocks noChangeArrowheads="1"/>
          </p:cNvSpPr>
          <p:nvPr/>
        </p:nvSpPr>
        <p:spPr bwMode="auto">
          <a:xfrm>
            <a:off x="3517900" y="1803400"/>
            <a:ext cx="2058988" cy="2959100"/>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57" name="Freeform 313"/>
          <p:cNvSpPr>
            <a:spLocks/>
          </p:cNvSpPr>
          <p:nvPr/>
        </p:nvSpPr>
        <p:spPr bwMode="auto">
          <a:xfrm>
            <a:off x="3525838" y="5268913"/>
            <a:ext cx="169862" cy="171450"/>
          </a:xfrm>
          <a:custGeom>
            <a:avLst/>
            <a:gdLst>
              <a:gd name="T0" fmla="*/ 0 w 78"/>
              <a:gd name="T1" fmla="*/ 78 h 78"/>
              <a:gd name="T2" fmla="*/ 78 w 78"/>
              <a:gd name="T3" fmla="*/ 40 h 78"/>
              <a:gd name="T4" fmla="*/ 0 w 78"/>
              <a:gd name="T5" fmla="*/ 0 h 78"/>
            </a:gdLst>
            <a:ahLst/>
            <a:cxnLst>
              <a:cxn ang="0">
                <a:pos x="T0" y="T1"/>
              </a:cxn>
              <a:cxn ang="0">
                <a:pos x="T2" y="T3"/>
              </a:cxn>
              <a:cxn ang="0">
                <a:pos x="T4" y="T5"/>
              </a:cxn>
            </a:cxnLst>
            <a:rect l="0" t="0" r="r" b="b"/>
            <a:pathLst>
              <a:path w="78" h="78">
                <a:moveTo>
                  <a:pt x="0" y="78"/>
                </a:moveTo>
                <a:lnTo>
                  <a:pt x="78" y="40"/>
                </a:lnTo>
                <a:lnTo>
                  <a:pt x="0" y="0"/>
                </a:lnTo>
              </a:path>
            </a:pathLst>
          </a:custGeom>
          <a:noFill/>
          <a:ln w="793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58" name="Freeform 314"/>
          <p:cNvSpPr>
            <a:spLocks/>
          </p:cNvSpPr>
          <p:nvPr/>
        </p:nvSpPr>
        <p:spPr bwMode="auto">
          <a:xfrm>
            <a:off x="3349625" y="3549650"/>
            <a:ext cx="165100" cy="82550"/>
          </a:xfrm>
          <a:custGeom>
            <a:avLst/>
            <a:gdLst>
              <a:gd name="T0" fmla="*/ 75 w 75"/>
              <a:gd name="T1" fmla="*/ 19 h 38"/>
              <a:gd name="T2" fmla="*/ 0 w 75"/>
              <a:gd name="T3" fmla="*/ 0 h 38"/>
              <a:gd name="T4" fmla="*/ 0 w 75"/>
              <a:gd name="T5" fmla="*/ 38 h 38"/>
              <a:gd name="T6" fmla="*/ 75 w 75"/>
              <a:gd name="T7" fmla="*/ 19 h 38"/>
            </a:gdLst>
            <a:ahLst/>
            <a:cxnLst>
              <a:cxn ang="0">
                <a:pos x="T0" y="T1"/>
              </a:cxn>
              <a:cxn ang="0">
                <a:pos x="T2" y="T3"/>
              </a:cxn>
              <a:cxn ang="0">
                <a:pos x="T4" y="T5"/>
              </a:cxn>
              <a:cxn ang="0">
                <a:pos x="T6" y="T7"/>
              </a:cxn>
            </a:cxnLst>
            <a:rect l="0" t="0" r="r" b="b"/>
            <a:pathLst>
              <a:path w="75" h="38">
                <a:moveTo>
                  <a:pt x="75" y="19"/>
                </a:moveTo>
                <a:lnTo>
                  <a:pt x="0" y="0"/>
                </a:lnTo>
                <a:lnTo>
                  <a:pt x="0" y="38"/>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59" name="Freeform 315"/>
          <p:cNvSpPr>
            <a:spLocks/>
          </p:cNvSpPr>
          <p:nvPr/>
        </p:nvSpPr>
        <p:spPr bwMode="auto">
          <a:xfrm>
            <a:off x="3349625" y="3097213"/>
            <a:ext cx="165100" cy="84137"/>
          </a:xfrm>
          <a:custGeom>
            <a:avLst/>
            <a:gdLst>
              <a:gd name="T0" fmla="*/ 75 w 75"/>
              <a:gd name="T1" fmla="*/ 19 h 38"/>
              <a:gd name="T2" fmla="*/ 0 w 75"/>
              <a:gd name="T3" fmla="*/ 0 h 38"/>
              <a:gd name="T4" fmla="*/ 0 w 75"/>
              <a:gd name="T5" fmla="*/ 38 h 38"/>
              <a:gd name="T6" fmla="*/ 75 w 75"/>
              <a:gd name="T7" fmla="*/ 19 h 38"/>
            </a:gdLst>
            <a:ahLst/>
            <a:cxnLst>
              <a:cxn ang="0">
                <a:pos x="T0" y="T1"/>
              </a:cxn>
              <a:cxn ang="0">
                <a:pos x="T2" y="T3"/>
              </a:cxn>
              <a:cxn ang="0">
                <a:pos x="T4" y="T5"/>
              </a:cxn>
              <a:cxn ang="0">
                <a:pos x="T6" y="T7"/>
              </a:cxn>
            </a:cxnLst>
            <a:rect l="0" t="0" r="r" b="b"/>
            <a:pathLst>
              <a:path w="75" h="38">
                <a:moveTo>
                  <a:pt x="75" y="19"/>
                </a:moveTo>
                <a:lnTo>
                  <a:pt x="0" y="0"/>
                </a:lnTo>
                <a:lnTo>
                  <a:pt x="0" y="38"/>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60" name="Freeform 316"/>
          <p:cNvSpPr>
            <a:spLocks/>
          </p:cNvSpPr>
          <p:nvPr/>
        </p:nvSpPr>
        <p:spPr bwMode="auto">
          <a:xfrm>
            <a:off x="6389688" y="2625725"/>
            <a:ext cx="168275" cy="84138"/>
          </a:xfrm>
          <a:custGeom>
            <a:avLst/>
            <a:gdLst>
              <a:gd name="T0" fmla="*/ 76 w 76"/>
              <a:gd name="T1" fmla="*/ 19 h 38"/>
              <a:gd name="T2" fmla="*/ 0 w 76"/>
              <a:gd name="T3" fmla="*/ 0 h 38"/>
              <a:gd name="T4" fmla="*/ 0 w 76"/>
              <a:gd name="T5" fmla="*/ 38 h 38"/>
              <a:gd name="T6" fmla="*/ 76 w 76"/>
              <a:gd name="T7" fmla="*/ 19 h 38"/>
            </a:gdLst>
            <a:ahLst/>
            <a:cxnLst>
              <a:cxn ang="0">
                <a:pos x="T0" y="T1"/>
              </a:cxn>
              <a:cxn ang="0">
                <a:pos x="T2" y="T3"/>
              </a:cxn>
              <a:cxn ang="0">
                <a:pos x="T4" y="T5"/>
              </a:cxn>
              <a:cxn ang="0">
                <a:pos x="T6" y="T7"/>
              </a:cxn>
            </a:cxnLst>
            <a:rect l="0" t="0" r="r" b="b"/>
            <a:pathLst>
              <a:path w="76" h="38">
                <a:moveTo>
                  <a:pt x="76" y="19"/>
                </a:moveTo>
                <a:lnTo>
                  <a:pt x="0" y="0"/>
                </a:lnTo>
                <a:lnTo>
                  <a:pt x="0" y="38"/>
                </a:lnTo>
                <a:lnTo>
                  <a:pt x="76"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61" name="Freeform 317"/>
          <p:cNvSpPr>
            <a:spLocks/>
          </p:cNvSpPr>
          <p:nvPr/>
        </p:nvSpPr>
        <p:spPr bwMode="auto">
          <a:xfrm>
            <a:off x="6394450" y="3016250"/>
            <a:ext cx="166688" cy="80963"/>
          </a:xfrm>
          <a:custGeom>
            <a:avLst/>
            <a:gdLst>
              <a:gd name="T0" fmla="*/ 76 w 76"/>
              <a:gd name="T1" fmla="*/ 18 h 37"/>
              <a:gd name="T2" fmla="*/ 0 w 76"/>
              <a:gd name="T3" fmla="*/ 0 h 37"/>
              <a:gd name="T4" fmla="*/ 0 w 76"/>
              <a:gd name="T5" fmla="*/ 37 h 37"/>
              <a:gd name="T6" fmla="*/ 76 w 76"/>
              <a:gd name="T7" fmla="*/ 18 h 37"/>
            </a:gdLst>
            <a:ahLst/>
            <a:cxnLst>
              <a:cxn ang="0">
                <a:pos x="T0" y="T1"/>
              </a:cxn>
              <a:cxn ang="0">
                <a:pos x="T2" y="T3"/>
              </a:cxn>
              <a:cxn ang="0">
                <a:pos x="T4" y="T5"/>
              </a:cxn>
              <a:cxn ang="0">
                <a:pos x="T6" y="T7"/>
              </a:cxn>
            </a:cxnLst>
            <a:rect l="0" t="0" r="r" b="b"/>
            <a:pathLst>
              <a:path w="76" h="37">
                <a:moveTo>
                  <a:pt x="76" y="18"/>
                </a:moveTo>
                <a:lnTo>
                  <a:pt x="0" y="0"/>
                </a:lnTo>
                <a:lnTo>
                  <a:pt x="0" y="37"/>
                </a:lnTo>
                <a:lnTo>
                  <a:pt x="7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62" name="Freeform 318"/>
          <p:cNvSpPr>
            <a:spLocks/>
          </p:cNvSpPr>
          <p:nvPr/>
        </p:nvSpPr>
        <p:spPr bwMode="auto">
          <a:xfrm>
            <a:off x="5800725" y="1636713"/>
            <a:ext cx="80963" cy="166687"/>
          </a:xfrm>
          <a:custGeom>
            <a:avLst/>
            <a:gdLst>
              <a:gd name="T0" fmla="*/ 19 w 37"/>
              <a:gd name="T1" fmla="*/ 0 h 76"/>
              <a:gd name="T2" fmla="*/ 0 w 37"/>
              <a:gd name="T3" fmla="*/ 76 h 76"/>
              <a:gd name="T4" fmla="*/ 37 w 37"/>
              <a:gd name="T5" fmla="*/ 76 h 76"/>
              <a:gd name="T6" fmla="*/ 19 w 37"/>
              <a:gd name="T7" fmla="*/ 0 h 76"/>
            </a:gdLst>
            <a:ahLst/>
            <a:cxnLst>
              <a:cxn ang="0">
                <a:pos x="T0" y="T1"/>
              </a:cxn>
              <a:cxn ang="0">
                <a:pos x="T2" y="T3"/>
              </a:cxn>
              <a:cxn ang="0">
                <a:pos x="T4" y="T5"/>
              </a:cxn>
              <a:cxn ang="0">
                <a:pos x="T6" y="T7"/>
              </a:cxn>
            </a:cxnLst>
            <a:rect l="0" t="0" r="r" b="b"/>
            <a:pathLst>
              <a:path w="37" h="76">
                <a:moveTo>
                  <a:pt x="19" y="0"/>
                </a:moveTo>
                <a:lnTo>
                  <a:pt x="0" y="76"/>
                </a:lnTo>
                <a:lnTo>
                  <a:pt x="37" y="76"/>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63" name="Freeform 319"/>
          <p:cNvSpPr>
            <a:spLocks/>
          </p:cNvSpPr>
          <p:nvPr/>
        </p:nvSpPr>
        <p:spPr bwMode="auto">
          <a:xfrm>
            <a:off x="3924300" y="2187575"/>
            <a:ext cx="652463" cy="2849563"/>
          </a:xfrm>
          <a:custGeom>
            <a:avLst/>
            <a:gdLst>
              <a:gd name="T0" fmla="*/ 297 w 297"/>
              <a:gd name="T1" fmla="*/ 0 h 1299"/>
              <a:gd name="T2" fmla="*/ 0 w 297"/>
              <a:gd name="T3" fmla="*/ 0 h 1299"/>
              <a:gd name="T4" fmla="*/ 0 w 297"/>
              <a:gd name="T5" fmla="*/ 1299 h 1299"/>
            </a:gdLst>
            <a:ahLst/>
            <a:cxnLst>
              <a:cxn ang="0">
                <a:pos x="T0" y="T1"/>
              </a:cxn>
              <a:cxn ang="0">
                <a:pos x="T2" y="T3"/>
              </a:cxn>
              <a:cxn ang="0">
                <a:pos x="T4" y="T5"/>
              </a:cxn>
            </a:cxnLst>
            <a:rect l="0" t="0" r="r" b="b"/>
            <a:pathLst>
              <a:path w="297" h="1299">
                <a:moveTo>
                  <a:pt x="297" y="0"/>
                </a:moveTo>
                <a:lnTo>
                  <a:pt x="0" y="0"/>
                </a:lnTo>
                <a:lnTo>
                  <a:pt x="0" y="1299"/>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64" name="Freeform 320"/>
          <p:cNvSpPr>
            <a:spLocks/>
          </p:cNvSpPr>
          <p:nvPr/>
        </p:nvSpPr>
        <p:spPr bwMode="auto">
          <a:xfrm>
            <a:off x="4986338" y="1697038"/>
            <a:ext cx="855662" cy="577850"/>
          </a:xfrm>
          <a:custGeom>
            <a:avLst/>
            <a:gdLst>
              <a:gd name="T0" fmla="*/ 0 w 390"/>
              <a:gd name="T1" fmla="*/ 263 h 263"/>
              <a:gd name="T2" fmla="*/ 390 w 390"/>
              <a:gd name="T3" fmla="*/ 263 h 263"/>
              <a:gd name="T4" fmla="*/ 390 w 390"/>
              <a:gd name="T5" fmla="*/ 0 h 263"/>
            </a:gdLst>
            <a:ahLst/>
            <a:cxnLst>
              <a:cxn ang="0">
                <a:pos x="T0" y="T1"/>
              </a:cxn>
              <a:cxn ang="0">
                <a:pos x="T2" y="T3"/>
              </a:cxn>
              <a:cxn ang="0">
                <a:pos x="T4" y="T5"/>
              </a:cxn>
            </a:cxnLst>
            <a:rect l="0" t="0" r="r" b="b"/>
            <a:pathLst>
              <a:path w="390" h="263">
                <a:moveTo>
                  <a:pt x="0" y="263"/>
                </a:moveTo>
                <a:lnTo>
                  <a:pt x="390" y="263"/>
                </a:lnTo>
                <a:lnTo>
                  <a:pt x="39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65" name="Line 321"/>
          <p:cNvSpPr>
            <a:spLocks noChangeShapeType="1"/>
          </p:cNvSpPr>
          <p:nvPr/>
        </p:nvSpPr>
        <p:spPr bwMode="auto">
          <a:xfrm>
            <a:off x="3924300" y="2968625"/>
            <a:ext cx="563563" cy="1588"/>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66" name="Line 322"/>
          <p:cNvSpPr>
            <a:spLocks noChangeShapeType="1"/>
          </p:cNvSpPr>
          <p:nvPr/>
        </p:nvSpPr>
        <p:spPr bwMode="auto">
          <a:xfrm>
            <a:off x="4986338" y="3055938"/>
            <a:ext cx="1497012" cy="158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67" name="Freeform 323"/>
          <p:cNvSpPr>
            <a:spLocks/>
          </p:cNvSpPr>
          <p:nvPr/>
        </p:nvSpPr>
        <p:spPr bwMode="auto">
          <a:xfrm>
            <a:off x="4275138" y="2362200"/>
            <a:ext cx="301625" cy="2679700"/>
          </a:xfrm>
          <a:custGeom>
            <a:avLst/>
            <a:gdLst>
              <a:gd name="T0" fmla="*/ 137 w 137"/>
              <a:gd name="T1" fmla="*/ 0 h 1221"/>
              <a:gd name="T2" fmla="*/ 0 w 137"/>
              <a:gd name="T3" fmla="*/ 0 h 1221"/>
              <a:gd name="T4" fmla="*/ 0 w 137"/>
              <a:gd name="T5" fmla="*/ 1221 h 1221"/>
            </a:gdLst>
            <a:ahLst/>
            <a:cxnLst>
              <a:cxn ang="0">
                <a:pos x="T0" y="T1"/>
              </a:cxn>
              <a:cxn ang="0">
                <a:pos x="T2" y="T3"/>
              </a:cxn>
              <a:cxn ang="0">
                <a:pos x="T4" y="T5"/>
              </a:cxn>
            </a:cxnLst>
            <a:rect l="0" t="0" r="r" b="b"/>
            <a:pathLst>
              <a:path w="137" h="1221">
                <a:moveTo>
                  <a:pt x="137" y="0"/>
                </a:moveTo>
                <a:lnTo>
                  <a:pt x="0" y="0"/>
                </a:lnTo>
                <a:lnTo>
                  <a:pt x="0" y="1221"/>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68" name="Line 324"/>
          <p:cNvSpPr>
            <a:spLocks noChangeShapeType="1"/>
          </p:cNvSpPr>
          <p:nvPr/>
        </p:nvSpPr>
        <p:spPr bwMode="auto">
          <a:xfrm>
            <a:off x="3917950" y="3756025"/>
            <a:ext cx="569913" cy="1588"/>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69" name="Line 325"/>
          <p:cNvSpPr>
            <a:spLocks noChangeShapeType="1"/>
          </p:cNvSpPr>
          <p:nvPr/>
        </p:nvSpPr>
        <p:spPr bwMode="auto">
          <a:xfrm>
            <a:off x="4275138" y="3838575"/>
            <a:ext cx="301625" cy="317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70" name="Line 326"/>
          <p:cNvSpPr>
            <a:spLocks noChangeShapeType="1"/>
          </p:cNvSpPr>
          <p:nvPr/>
        </p:nvSpPr>
        <p:spPr bwMode="auto">
          <a:xfrm>
            <a:off x="3675063" y="3933825"/>
            <a:ext cx="908050" cy="1588"/>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71" name="Line 327"/>
          <p:cNvSpPr>
            <a:spLocks noChangeShapeType="1"/>
          </p:cNvSpPr>
          <p:nvPr/>
        </p:nvSpPr>
        <p:spPr bwMode="auto">
          <a:xfrm>
            <a:off x="3929063" y="4367213"/>
            <a:ext cx="555625" cy="317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72" name="Line 328"/>
          <p:cNvSpPr>
            <a:spLocks noChangeShapeType="1"/>
          </p:cNvSpPr>
          <p:nvPr/>
        </p:nvSpPr>
        <p:spPr bwMode="auto">
          <a:xfrm>
            <a:off x="4275138" y="4456113"/>
            <a:ext cx="301625" cy="158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73" name="Freeform 329"/>
          <p:cNvSpPr>
            <a:spLocks/>
          </p:cNvSpPr>
          <p:nvPr/>
        </p:nvSpPr>
        <p:spPr bwMode="auto">
          <a:xfrm>
            <a:off x="3011488" y="3138488"/>
            <a:ext cx="1476375" cy="1404937"/>
          </a:xfrm>
          <a:custGeom>
            <a:avLst/>
            <a:gdLst>
              <a:gd name="T0" fmla="*/ 673 w 673"/>
              <a:gd name="T1" fmla="*/ 640 h 640"/>
              <a:gd name="T2" fmla="*/ 302 w 673"/>
              <a:gd name="T3" fmla="*/ 640 h 640"/>
              <a:gd name="T4" fmla="*/ 302 w 673"/>
              <a:gd name="T5" fmla="*/ 0 h 640"/>
              <a:gd name="T6" fmla="*/ 0 w 673"/>
              <a:gd name="T7" fmla="*/ 0 h 640"/>
            </a:gdLst>
            <a:ahLst/>
            <a:cxnLst>
              <a:cxn ang="0">
                <a:pos x="T0" y="T1"/>
              </a:cxn>
              <a:cxn ang="0">
                <a:pos x="T2" y="T3"/>
              </a:cxn>
              <a:cxn ang="0">
                <a:pos x="T4" y="T5"/>
              </a:cxn>
              <a:cxn ang="0">
                <a:pos x="T6" y="T7"/>
              </a:cxn>
            </a:cxnLst>
            <a:rect l="0" t="0" r="r" b="b"/>
            <a:pathLst>
              <a:path w="673" h="640">
                <a:moveTo>
                  <a:pt x="673" y="640"/>
                </a:moveTo>
                <a:lnTo>
                  <a:pt x="302" y="640"/>
                </a:lnTo>
                <a:lnTo>
                  <a:pt x="302" y="0"/>
                </a:lnTo>
                <a:lnTo>
                  <a:pt x="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74" name="Line 330"/>
          <p:cNvSpPr>
            <a:spLocks noChangeShapeType="1"/>
          </p:cNvSpPr>
          <p:nvPr/>
        </p:nvSpPr>
        <p:spPr bwMode="auto">
          <a:xfrm>
            <a:off x="3929063" y="3321050"/>
            <a:ext cx="558800" cy="317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75" name="Line 331"/>
          <p:cNvSpPr>
            <a:spLocks noChangeShapeType="1"/>
          </p:cNvSpPr>
          <p:nvPr/>
        </p:nvSpPr>
        <p:spPr bwMode="auto">
          <a:xfrm>
            <a:off x="4275138" y="3408363"/>
            <a:ext cx="301625" cy="317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76" name="Line 332"/>
          <p:cNvSpPr>
            <a:spLocks noChangeShapeType="1"/>
          </p:cNvSpPr>
          <p:nvPr/>
        </p:nvSpPr>
        <p:spPr bwMode="auto">
          <a:xfrm>
            <a:off x="3675063" y="3503613"/>
            <a:ext cx="812800" cy="158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77" name="Freeform 333"/>
          <p:cNvSpPr>
            <a:spLocks/>
          </p:cNvSpPr>
          <p:nvPr/>
        </p:nvSpPr>
        <p:spPr bwMode="auto">
          <a:xfrm>
            <a:off x="3146425" y="3590925"/>
            <a:ext cx="3414713" cy="2457450"/>
          </a:xfrm>
          <a:custGeom>
            <a:avLst/>
            <a:gdLst>
              <a:gd name="T0" fmla="*/ 652 w 1557"/>
              <a:gd name="T1" fmla="*/ 0 h 1120"/>
              <a:gd name="T2" fmla="*/ 0 w 1557"/>
              <a:gd name="T3" fmla="*/ 0 h 1120"/>
              <a:gd name="T4" fmla="*/ 0 w 1557"/>
              <a:gd name="T5" fmla="*/ 1120 h 1120"/>
              <a:gd name="T6" fmla="*/ 1328 w 1557"/>
              <a:gd name="T7" fmla="*/ 1120 h 1120"/>
              <a:gd name="T8" fmla="*/ 1328 w 1557"/>
              <a:gd name="T9" fmla="*/ 430 h 1120"/>
              <a:gd name="T10" fmla="*/ 1557 w 1557"/>
              <a:gd name="T11" fmla="*/ 430 h 1120"/>
            </a:gdLst>
            <a:ahLst/>
            <a:cxnLst>
              <a:cxn ang="0">
                <a:pos x="T0" y="T1"/>
              </a:cxn>
              <a:cxn ang="0">
                <a:pos x="T2" y="T3"/>
              </a:cxn>
              <a:cxn ang="0">
                <a:pos x="T4" y="T5"/>
              </a:cxn>
              <a:cxn ang="0">
                <a:pos x="T6" y="T7"/>
              </a:cxn>
              <a:cxn ang="0">
                <a:pos x="T8" y="T9"/>
              </a:cxn>
              <a:cxn ang="0">
                <a:pos x="T10" y="T11"/>
              </a:cxn>
            </a:cxnLst>
            <a:rect l="0" t="0" r="r" b="b"/>
            <a:pathLst>
              <a:path w="1557" h="1120">
                <a:moveTo>
                  <a:pt x="652" y="0"/>
                </a:moveTo>
                <a:lnTo>
                  <a:pt x="0" y="0"/>
                </a:lnTo>
                <a:lnTo>
                  <a:pt x="0" y="1120"/>
                </a:lnTo>
                <a:lnTo>
                  <a:pt x="1328" y="1120"/>
                </a:lnTo>
                <a:lnTo>
                  <a:pt x="1328" y="430"/>
                </a:lnTo>
                <a:lnTo>
                  <a:pt x="1557" y="43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78" name="Line 334"/>
          <p:cNvSpPr>
            <a:spLocks noChangeShapeType="1"/>
          </p:cNvSpPr>
          <p:nvPr/>
        </p:nvSpPr>
        <p:spPr bwMode="auto">
          <a:xfrm>
            <a:off x="4281488" y="3146425"/>
            <a:ext cx="206375" cy="1588"/>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79" name="Line 335"/>
          <p:cNvSpPr>
            <a:spLocks noChangeShapeType="1"/>
          </p:cNvSpPr>
          <p:nvPr/>
        </p:nvSpPr>
        <p:spPr bwMode="auto">
          <a:xfrm>
            <a:off x="3929063" y="2579688"/>
            <a:ext cx="647700" cy="158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80" name="Line 336"/>
          <p:cNvSpPr>
            <a:spLocks noChangeShapeType="1"/>
          </p:cNvSpPr>
          <p:nvPr/>
        </p:nvSpPr>
        <p:spPr bwMode="auto">
          <a:xfrm>
            <a:off x="4986338" y="2667000"/>
            <a:ext cx="1497012" cy="317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81" name="Freeform 337"/>
          <p:cNvSpPr>
            <a:spLocks/>
          </p:cNvSpPr>
          <p:nvPr/>
        </p:nvSpPr>
        <p:spPr bwMode="auto">
          <a:xfrm>
            <a:off x="6915150" y="2625725"/>
            <a:ext cx="163513" cy="84138"/>
          </a:xfrm>
          <a:custGeom>
            <a:avLst/>
            <a:gdLst>
              <a:gd name="T0" fmla="*/ 75 w 75"/>
              <a:gd name="T1" fmla="*/ 19 h 38"/>
              <a:gd name="T2" fmla="*/ 0 w 75"/>
              <a:gd name="T3" fmla="*/ 0 h 38"/>
              <a:gd name="T4" fmla="*/ 0 w 75"/>
              <a:gd name="T5" fmla="*/ 38 h 38"/>
              <a:gd name="T6" fmla="*/ 75 w 75"/>
              <a:gd name="T7" fmla="*/ 19 h 38"/>
            </a:gdLst>
            <a:ahLst/>
            <a:cxnLst>
              <a:cxn ang="0">
                <a:pos x="T0" y="T1"/>
              </a:cxn>
              <a:cxn ang="0">
                <a:pos x="T2" y="T3"/>
              </a:cxn>
              <a:cxn ang="0">
                <a:pos x="T4" y="T5"/>
              </a:cxn>
              <a:cxn ang="0">
                <a:pos x="T6" y="T7"/>
              </a:cxn>
            </a:cxnLst>
            <a:rect l="0" t="0" r="r" b="b"/>
            <a:pathLst>
              <a:path w="75" h="38">
                <a:moveTo>
                  <a:pt x="75" y="19"/>
                </a:moveTo>
                <a:lnTo>
                  <a:pt x="0" y="0"/>
                </a:lnTo>
                <a:lnTo>
                  <a:pt x="0" y="38"/>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82" name="Freeform 338"/>
          <p:cNvSpPr>
            <a:spLocks/>
          </p:cNvSpPr>
          <p:nvPr/>
        </p:nvSpPr>
        <p:spPr bwMode="auto">
          <a:xfrm>
            <a:off x="6915150" y="2808288"/>
            <a:ext cx="163513" cy="82550"/>
          </a:xfrm>
          <a:custGeom>
            <a:avLst/>
            <a:gdLst>
              <a:gd name="T0" fmla="*/ 75 w 75"/>
              <a:gd name="T1" fmla="*/ 19 h 38"/>
              <a:gd name="T2" fmla="*/ 0 w 75"/>
              <a:gd name="T3" fmla="*/ 0 h 38"/>
              <a:gd name="T4" fmla="*/ 0 w 75"/>
              <a:gd name="T5" fmla="*/ 38 h 38"/>
              <a:gd name="T6" fmla="*/ 75 w 75"/>
              <a:gd name="T7" fmla="*/ 19 h 38"/>
            </a:gdLst>
            <a:ahLst/>
            <a:cxnLst>
              <a:cxn ang="0">
                <a:pos x="T0" y="T1"/>
              </a:cxn>
              <a:cxn ang="0">
                <a:pos x="T2" y="T3"/>
              </a:cxn>
              <a:cxn ang="0">
                <a:pos x="T4" y="T5"/>
              </a:cxn>
              <a:cxn ang="0">
                <a:pos x="T6" y="T7"/>
              </a:cxn>
            </a:cxnLst>
            <a:rect l="0" t="0" r="r" b="b"/>
            <a:pathLst>
              <a:path w="75" h="38">
                <a:moveTo>
                  <a:pt x="75" y="19"/>
                </a:moveTo>
                <a:lnTo>
                  <a:pt x="0" y="0"/>
                </a:lnTo>
                <a:lnTo>
                  <a:pt x="0" y="38"/>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83" name="Freeform 339"/>
          <p:cNvSpPr>
            <a:spLocks/>
          </p:cNvSpPr>
          <p:nvPr/>
        </p:nvSpPr>
        <p:spPr bwMode="auto">
          <a:xfrm>
            <a:off x="6915150" y="3016250"/>
            <a:ext cx="163513" cy="80963"/>
          </a:xfrm>
          <a:custGeom>
            <a:avLst/>
            <a:gdLst>
              <a:gd name="T0" fmla="*/ 75 w 75"/>
              <a:gd name="T1" fmla="*/ 18 h 37"/>
              <a:gd name="T2" fmla="*/ 0 w 75"/>
              <a:gd name="T3" fmla="*/ 0 h 37"/>
              <a:gd name="T4" fmla="*/ 0 w 75"/>
              <a:gd name="T5" fmla="*/ 37 h 37"/>
              <a:gd name="T6" fmla="*/ 75 w 75"/>
              <a:gd name="T7" fmla="*/ 18 h 37"/>
            </a:gdLst>
            <a:ahLst/>
            <a:cxnLst>
              <a:cxn ang="0">
                <a:pos x="T0" y="T1"/>
              </a:cxn>
              <a:cxn ang="0">
                <a:pos x="T2" y="T3"/>
              </a:cxn>
              <a:cxn ang="0">
                <a:pos x="T4" y="T5"/>
              </a:cxn>
              <a:cxn ang="0">
                <a:pos x="T6" y="T7"/>
              </a:cxn>
            </a:cxnLst>
            <a:rect l="0" t="0" r="r" b="b"/>
            <a:pathLst>
              <a:path w="75" h="37">
                <a:moveTo>
                  <a:pt x="75" y="18"/>
                </a:moveTo>
                <a:lnTo>
                  <a:pt x="0" y="0"/>
                </a:lnTo>
                <a:lnTo>
                  <a:pt x="0" y="37"/>
                </a:lnTo>
                <a:lnTo>
                  <a:pt x="75"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84" name="Line 340"/>
          <p:cNvSpPr>
            <a:spLocks noChangeShapeType="1"/>
          </p:cNvSpPr>
          <p:nvPr/>
        </p:nvSpPr>
        <p:spPr bwMode="auto">
          <a:xfrm>
            <a:off x="6565900" y="3055938"/>
            <a:ext cx="436563" cy="158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85" name="Freeform 341"/>
          <p:cNvSpPr>
            <a:spLocks/>
          </p:cNvSpPr>
          <p:nvPr/>
        </p:nvSpPr>
        <p:spPr bwMode="auto">
          <a:xfrm>
            <a:off x="7204075" y="3714750"/>
            <a:ext cx="84138" cy="1666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86" name="Freeform 342"/>
          <p:cNvSpPr>
            <a:spLocks/>
          </p:cNvSpPr>
          <p:nvPr/>
        </p:nvSpPr>
        <p:spPr bwMode="auto">
          <a:xfrm>
            <a:off x="6572250" y="4492625"/>
            <a:ext cx="165100" cy="84138"/>
          </a:xfrm>
          <a:custGeom>
            <a:avLst/>
            <a:gdLst>
              <a:gd name="T0" fmla="*/ 0 w 75"/>
              <a:gd name="T1" fmla="*/ 19 h 38"/>
              <a:gd name="T2" fmla="*/ 75 w 75"/>
              <a:gd name="T3" fmla="*/ 38 h 38"/>
              <a:gd name="T4" fmla="*/ 75 w 75"/>
              <a:gd name="T5" fmla="*/ 0 h 38"/>
              <a:gd name="T6" fmla="*/ 0 w 75"/>
              <a:gd name="T7" fmla="*/ 19 h 38"/>
            </a:gdLst>
            <a:ahLst/>
            <a:cxnLst>
              <a:cxn ang="0">
                <a:pos x="T0" y="T1"/>
              </a:cxn>
              <a:cxn ang="0">
                <a:pos x="T2" y="T3"/>
              </a:cxn>
              <a:cxn ang="0">
                <a:pos x="T4" y="T5"/>
              </a:cxn>
              <a:cxn ang="0">
                <a:pos x="T6" y="T7"/>
              </a:cxn>
            </a:cxnLst>
            <a:rect l="0" t="0" r="r" b="b"/>
            <a:pathLst>
              <a:path w="75" h="38">
                <a:moveTo>
                  <a:pt x="0" y="19"/>
                </a:moveTo>
                <a:lnTo>
                  <a:pt x="75" y="38"/>
                </a:lnTo>
                <a:lnTo>
                  <a:pt x="75" y="0"/>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87" name="Freeform 343"/>
          <p:cNvSpPr>
            <a:spLocks/>
          </p:cNvSpPr>
          <p:nvPr/>
        </p:nvSpPr>
        <p:spPr bwMode="auto">
          <a:xfrm>
            <a:off x="7897813" y="3714750"/>
            <a:ext cx="82550" cy="1666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88" name="Freeform 344"/>
          <p:cNvSpPr>
            <a:spLocks/>
          </p:cNvSpPr>
          <p:nvPr/>
        </p:nvSpPr>
        <p:spPr bwMode="auto">
          <a:xfrm>
            <a:off x="7245350" y="3454400"/>
            <a:ext cx="693738" cy="354013"/>
          </a:xfrm>
          <a:custGeom>
            <a:avLst/>
            <a:gdLst>
              <a:gd name="T0" fmla="*/ 316 w 316"/>
              <a:gd name="T1" fmla="*/ 161 h 161"/>
              <a:gd name="T2" fmla="*/ 316 w 316"/>
              <a:gd name="T3" fmla="*/ 0 h 161"/>
              <a:gd name="T4" fmla="*/ 0 w 316"/>
              <a:gd name="T5" fmla="*/ 0 h 161"/>
              <a:gd name="T6" fmla="*/ 0 w 316"/>
              <a:gd name="T7" fmla="*/ 161 h 161"/>
            </a:gdLst>
            <a:ahLst/>
            <a:cxnLst>
              <a:cxn ang="0">
                <a:pos x="T0" y="T1"/>
              </a:cxn>
              <a:cxn ang="0">
                <a:pos x="T2" y="T3"/>
              </a:cxn>
              <a:cxn ang="0">
                <a:pos x="T4" y="T5"/>
              </a:cxn>
              <a:cxn ang="0">
                <a:pos x="T6" y="T7"/>
              </a:cxn>
            </a:cxnLst>
            <a:rect l="0" t="0" r="r" b="b"/>
            <a:pathLst>
              <a:path w="316" h="161">
                <a:moveTo>
                  <a:pt x="316" y="161"/>
                </a:moveTo>
                <a:lnTo>
                  <a:pt x="316" y="0"/>
                </a:lnTo>
                <a:lnTo>
                  <a:pt x="0" y="0"/>
                </a:lnTo>
                <a:lnTo>
                  <a:pt x="0" y="161"/>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89" name="Freeform 345"/>
          <p:cNvSpPr>
            <a:spLocks/>
          </p:cNvSpPr>
          <p:nvPr/>
        </p:nvSpPr>
        <p:spPr bwMode="auto">
          <a:xfrm>
            <a:off x="6710363" y="1625600"/>
            <a:ext cx="84137" cy="1666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90" name="Line 346"/>
          <p:cNvSpPr>
            <a:spLocks noChangeShapeType="1"/>
          </p:cNvSpPr>
          <p:nvPr/>
        </p:nvSpPr>
        <p:spPr bwMode="auto">
          <a:xfrm flipV="1">
            <a:off x="6753225" y="1501775"/>
            <a:ext cx="1588" cy="217488"/>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91" name="Freeform 347"/>
          <p:cNvSpPr>
            <a:spLocks/>
          </p:cNvSpPr>
          <p:nvPr/>
        </p:nvSpPr>
        <p:spPr bwMode="auto">
          <a:xfrm>
            <a:off x="8513763" y="1625600"/>
            <a:ext cx="84137" cy="1666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92" name="Line 348"/>
          <p:cNvSpPr>
            <a:spLocks noChangeShapeType="1"/>
          </p:cNvSpPr>
          <p:nvPr/>
        </p:nvSpPr>
        <p:spPr bwMode="auto">
          <a:xfrm flipV="1">
            <a:off x="8556625" y="1501775"/>
            <a:ext cx="1588" cy="217488"/>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693" name="Freeform 349"/>
          <p:cNvSpPr>
            <a:spLocks/>
          </p:cNvSpPr>
          <p:nvPr/>
        </p:nvSpPr>
        <p:spPr bwMode="auto">
          <a:xfrm>
            <a:off x="8213725" y="3714750"/>
            <a:ext cx="82550" cy="1666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94" name="Freeform 350"/>
          <p:cNvSpPr>
            <a:spLocks/>
          </p:cNvSpPr>
          <p:nvPr/>
        </p:nvSpPr>
        <p:spPr bwMode="auto">
          <a:xfrm>
            <a:off x="8255000" y="1808163"/>
            <a:ext cx="301625" cy="2000250"/>
          </a:xfrm>
          <a:custGeom>
            <a:avLst/>
            <a:gdLst>
              <a:gd name="T0" fmla="*/ 0 w 137"/>
              <a:gd name="T1" fmla="*/ 912 h 912"/>
              <a:gd name="T2" fmla="*/ 0 w 137"/>
              <a:gd name="T3" fmla="*/ 751 h 912"/>
              <a:gd name="T4" fmla="*/ 137 w 137"/>
              <a:gd name="T5" fmla="*/ 751 h 912"/>
              <a:gd name="T6" fmla="*/ 137 w 137"/>
              <a:gd name="T7" fmla="*/ 0 h 912"/>
            </a:gdLst>
            <a:ahLst/>
            <a:cxnLst>
              <a:cxn ang="0">
                <a:pos x="T0" y="T1"/>
              </a:cxn>
              <a:cxn ang="0">
                <a:pos x="T2" y="T3"/>
              </a:cxn>
              <a:cxn ang="0">
                <a:pos x="T4" y="T5"/>
              </a:cxn>
              <a:cxn ang="0">
                <a:pos x="T6" y="T7"/>
              </a:cxn>
            </a:cxnLst>
            <a:rect l="0" t="0" r="r" b="b"/>
            <a:pathLst>
              <a:path w="137" h="912">
                <a:moveTo>
                  <a:pt x="0" y="912"/>
                </a:moveTo>
                <a:lnTo>
                  <a:pt x="0" y="751"/>
                </a:lnTo>
                <a:lnTo>
                  <a:pt x="137" y="751"/>
                </a:lnTo>
                <a:lnTo>
                  <a:pt x="137"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95" name="Freeform 351"/>
          <p:cNvSpPr>
            <a:spLocks/>
          </p:cNvSpPr>
          <p:nvPr/>
        </p:nvSpPr>
        <p:spPr bwMode="auto">
          <a:xfrm>
            <a:off x="7524750" y="3714750"/>
            <a:ext cx="82550" cy="166688"/>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96" name="Freeform 352"/>
          <p:cNvSpPr>
            <a:spLocks/>
          </p:cNvSpPr>
          <p:nvPr/>
        </p:nvSpPr>
        <p:spPr bwMode="auto">
          <a:xfrm>
            <a:off x="7515225" y="2351088"/>
            <a:ext cx="82550" cy="166687"/>
          </a:xfrm>
          <a:custGeom>
            <a:avLst/>
            <a:gdLst>
              <a:gd name="T0" fmla="*/ 18 w 37"/>
              <a:gd name="T1" fmla="*/ 76 h 76"/>
              <a:gd name="T2" fmla="*/ 37 w 37"/>
              <a:gd name="T3" fmla="*/ 0 h 76"/>
              <a:gd name="T4" fmla="*/ 0 w 37"/>
              <a:gd name="T5" fmla="*/ 0 h 76"/>
              <a:gd name="T6" fmla="*/ 18 w 37"/>
              <a:gd name="T7" fmla="*/ 76 h 76"/>
            </a:gdLst>
            <a:ahLst/>
            <a:cxnLst>
              <a:cxn ang="0">
                <a:pos x="T0" y="T1"/>
              </a:cxn>
              <a:cxn ang="0">
                <a:pos x="T2" y="T3"/>
              </a:cxn>
              <a:cxn ang="0">
                <a:pos x="T4" y="T5"/>
              </a:cxn>
              <a:cxn ang="0">
                <a:pos x="T6" y="T7"/>
              </a:cxn>
            </a:cxnLst>
            <a:rect l="0" t="0" r="r" b="b"/>
            <a:pathLst>
              <a:path w="37" h="76">
                <a:moveTo>
                  <a:pt x="18" y="76"/>
                </a:moveTo>
                <a:lnTo>
                  <a:pt x="37" y="0"/>
                </a:lnTo>
                <a:lnTo>
                  <a:pt x="0" y="0"/>
                </a:lnTo>
                <a:lnTo>
                  <a:pt x="18"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97" name="Freeform 353"/>
          <p:cNvSpPr>
            <a:spLocks/>
          </p:cNvSpPr>
          <p:nvPr/>
        </p:nvSpPr>
        <p:spPr bwMode="auto">
          <a:xfrm>
            <a:off x="7710488" y="2351088"/>
            <a:ext cx="84137" cy="166687"/>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698" name="Freeform 354"/>
          <p:cNvSpPr>
            <a:spLocks/>
          </p:cNvSpPr>
          <p:nvPr/>
        </p:nvSpPr>
        <p:spPr bwMode="auto">
          <a:xfrm>
            <a:off x="6753225" y="1808163"/>
            <a:ext cx="812800" cy="2000250"/>
          </a:xfrm>
          <a:custGeom>
            <a:avLst/>
            <a:gdLst>
              <a:gd name="T0" fmla="*/ 371 w 371"/>
              <a:gd name="T1" fmla="*/ 912 h 912"/>
              <a:gd name="T2" fmla="*/ 371 w 371"/>
              <a:gd name="T3" fmla="*/ 810 h 912"/>
              <a:gd name="T4" fmla="*/ 0 w 371"/>
              <a:gd name="T5" fmla="*/ 810 h 912"/>
              <a:gd name="T6" fmla="*/ 0 w 371"/>
              <a:gd name="T7" fmla="*/ 0 h 912"/>
            </a:gdLst>
            <a:ahLst/>
            <a:cxnLst>
              <a:cxn ang="0">
                <a:pos x="T0" y="T1"/>
              </a:cxn>
              <a:cxn ang="0">
                <a:pos x="T2" y="T3"/>
              </a:cxn>
              <a:cxn ang="0">
                <a:pos x="T4" y="T5"/>
              </a:cxn>
              <a:cxn ang="0">
                <a:pos x="T6" y="T7"/>
              </a:cxn>
            </a:cxnLst>
            <a:rect l="0" t="0" r="r" b="b"/>
            <a:pathLst>
              <a:path w="371" h="912">
                <a:moveTo>
                  <a:pt x="371" y="912"/>
                </a:moveTo>
                <a:lnTo>
                  <a:pt x="371" y="810"/>
                </a:lnTo>
                <a:lnTo>
                  <a:pt x="0" y="810"/>
                </a:lnTo>
                <a:lnTo>
                  <a:pt x="0" y="0"/>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699" name="Line 355"/>
          <p:cNvSpPr>
            <a:spLocks noChangeShapeType="1"/>
          </p:cNvSpPr>
          <p:nvPr/>
        </p:nvSpPr>
        <p:spPr bwMode="auto">
          <a:xfrm>
            <a:off x="6565900" y="2667000"/>
            <a:ext cx="436563" cy="317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00" name="Line 356"/>
          <p:cNvSpPr>
            <a:spLocks noChangeShapeType="1"/>
          </p:cNvSpPr>
          <p:nvPr/>
        </p:nvSpPr>
        <p:spPr bwMode="auto">
          <a:xfrm>
            <a:off x="4281488" y="2755900"/>
            <a:ext cx="206375" cy="1588"/>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01" name="Freeform 357"/>
          <p:cNvSpPr>
            <a:spLocks/>
          </p:cNvSpPr>
          <p:nvPr/>
        </p:nvSpPr>
        <p:spPr bwMode="auto">
          <a:xfrm>
            <a:off x="4986338" y="3451225"/>
            <a:ext cx="176212" cy="103188"/>
          </a:xfrm>
          <a:custGeom>
            <a:avLst/>
            <a:gdLst>
              <a:gd name="T0" fmla="*/ 0 w 80"/>
              <a:gd name="T1" fmla="*/ 0 h 47"/>
              <a:gd name="T2" fmla="*/ 28 w 80"/>
              <a:gd name="T3" fmla="*/ 0 h 47"/>
              <a:gd name="T4" fmla="*/ 28 w 80"/>
              <a:gd name="T5" fmla="*/ 47 h 47"/>
              <a:gd name="T6" fmla="*/ 80 w 80"/>
              <a:gd name="T7" fmla="*/ 47 h 47"/>
            </a:gdLst>
            <a:ahLst/>
            <a:cxnLst>
              <a:cxn ang="0">
                <a:pos x="T0" y="T1"/>
              </a:cxn>
              <a:cxn ang="0">
                <a:pos x="T2" y="T3"/>
              </a:cxn>
              <a:cxn ang="0">
                <a:pos x="T4" y="T5"/>
              </a:cxn>
              <a:cxn ang="0">
                <a:pos x="T6" y="T7"/>
              </a:cxn>
            </a:cxnLst>
            <a:rect l="0" t="0" r="r" b="b"/>
            <a:pathLst>
              <a:path w="80" h="47">
                <a:moveTo>
                  <a:pt x="0" y="0"/>
                </a:moveTo>
                <a:lnTo>
                  <a:pt x="28" y="0"/>
                </a:lnTo>
                <a:lnTo>
                  <a:pt x="28" y="47"/>
                </a:lnTo>
                <a:lnTo>
                  <a:pt x="80" y="47"/>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02" name="Freeform 358"/>
          <p:cNvSpPr>
            <a:spLocks/>
          </p:cNvSpPr>
          <p:nvPr/>
        </p:nvSpPr>
        <p:spPr bwMode="auto">
          <a:xfrm>
            <a:off x="4986338" y="3732213"/>
            <a:ext cx="176212" cy="112712"/>
          </a:xfrm>
          <a:custGeom>
            <a:avLst/>
            <a:gdLst>
              <a:gd name="T0" fmla="*/ 0 w 80"/>
              <a:gd name="T1" fmla="*/ 52 h 52"/>
              <a:gd name="T2" fmla="*/ 28 w 80"/>
              <a:gd name="T3" fmla="*/ 52 h 52"/>
              <a:gd name="T4" fmla="*/ 28 w 80"/>
              <a:gd name="T5" fmla="*/ 0 h 52"/>
              <a:gd name="T6" fmla="*/ 80 w 80"/>
              <a:gd name="T7" fmla="*/ 0 h 52"/>
            </a:gdLst>
            <a:ahLst/>
            <a:cxnLst>
              <a:cxn ang="0">
                <a:pos x="T0" y="T1"/>
              </a:cxn>
              <a:cxn ang="0">
                <a:pos x="T2" y="T3"/>
              </a:cxn>
              <a:cxn ang="0">
                <a:pos x="T4" y="T5"/>
              </a:cxn>
              <a:cxn ang="0">
                <a:pos x="T6" y="T7"/>
              </a:cxn>
            </a:cxnLst>
            <a:rect l="0" t="0" r="r" b="b"/>
            <a:pathLst>
              <a:path w="80" h="52">
                <a:moveTo>
                  <a:pt x="0" y="52"/>
                </a:moveTo>
                <a:lnTo>
                  <a:pt x="28" y="52"/>
                </a:lnTo>
                <a:lnTo>
                  <a:pt x="28" y="0"/>
                </a:lnTo>
                <a:lnTo>
                  <a:pt x="8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03" name="Line 359"/>
          <p:cNvSpPr>
            <a:spLocks noChangeShapeType="1"/>
          </p:cNvSpPr>
          <p:nvPr/>
        </p:nvSpPr>
        <p:spPr bwMode="auto">
          <a:xfrm>
            <a:off x="4281488" y="4146550"/>
            <a:ext cx="792162" cy="1588"/>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04" name="Freeform 360"/>
          <p:cNvSpPr>
            <a:spLocks/>
          </p:cNvSpPr>
          <p:nvPr/>
        </p:nvSpPr>
        <p:spPr bwMode="auto">
          <a:xfrm>
            <a:off x="4986338" y="4321175"/>
            <a:ext cx="176212" cy="134938"/>
          </a:xfrm>
          <a:custGeom>
            <a:avLst/>
            <a:gdLst>
              <a:gd name="T0" fmla="*/ 0 w 80"/>
              <a:gd name="T1" fmla="*/ 61 h 61"/>
              <a:gd name="T2" fmla="*/ 31 w 80"/>
              <a:gd name="T3" fmla="*/ 61 h 61"/>
              <a:gd name="T4" fmla="*/ 31 w 80"/>
              <a:gd name="T5" fmla="*/ 0 h 61"/>
              <a:gd name="T6" fmla="*/ 80 w 80"/>
              <a:gd name="T7" fmla="*/ 0 h 61"/>
            </a:gdLst>
            <a:ahLst/>
            <a:cxnLst>
              <a:cxn ang="0">
                <a:pos x="T0" y="T1"/>
              </a:cxn>
              <a:cxn ang="0">
                <a:pos x="T2" y="T3"/>
              </a:cxn>
              <a:cxn ang="0">
                <a:pos x="T4" y="T5"/>
              </a:cxn>
              <a:cxn ang="0">
                <a:pos x="T6" y="T7"/>
              </a:cxn>
            </a:cxnLst>
            <a:rect l="0" t="0" r="r" b="b"/>
            <a:pathLst>
              <a:path w="80" h="61">
                <a:moveTo>
                  <a:pt x="0" y="61"/>
                </a:moveTo>
                <a:lnTo>
                  <a:pt x="31" y="61"/>
                </a:lnTo>
                <a:lnTo>
                  <a:pt x="31" y="0"/>
                </a:lnTo>
                <a:lnTo>
                  <a:pt x="8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05" name="Oval 361"/>
          <p:cNvSpPr>
            <a:spLocks noChangeArrowheads="1"/>
          </p:cNvSpPr>
          <p:nvPr/>
        </p:nvSpPr>
        <p:spPr bwMode="auto">
          <a:xfrm>
            <a:off x="4233863" y="3373438"/>
            <a:ext cx="79375" cy="80962"/>
          </a:xfrm>
          <a:prstGeom prst="ellipse">
            <a:avLst/>
          </a:prstGeom>
          <a:solidFill>
            <a:srgbClr val="000000"/>
          </a:solidFill>
          <a:ln w="7938">
            <a:solidFill>
              <a:srgbClr val="000000"/>
            </a:solidFill>
            <a:miter lim="800000"/>
            <a:headEnd/>
            <a:tailEnd/>
          </a:ln>
        </p:spPr>
        <p:txBody>
          <a:bodyPr/>
          <a:lstStyle/>
          <a:p>
            <a:endParaRPr lang="en-US"/>
          </a:p>
        </p:txBody>
      </p:sp>
      <p:sp>
        <p:nvSpPr>
          <p:cNvPr id="569706" name="Oval 362"/>
          <p:cNvSpPr>
            <a:spLocks noChangeArrowheads="1"/>
          </p:cNvSpPr>
          <p:nvPr/>
        </p:nvSpPr>
        <p:spPr bwMode="auto">
          <a:xfrm>
            <a:off x="4233863" y="3797300"/>
            <a:ext cx="79375" cy="84138"/>
          </a:xfrm>
          <a:prstGeom prst="ellipse">
            <a:avLst/>
          </a:prstGeom>
          <a:solidFill>
            <a:srgbClr val="000000"/>
          </a:solidFill>
          <a:ln w="7938">
            <a:solidFill>
              <a:srgbClr val="000000"/>
            </a:solidFill>
            <a:miter lim="800000"/>
            <a:headEnd/>
            <a:tailEnd/>
          </a:ln>
        </p:spPr>
        <p:txBody>
          <a:bodyPr/>
          <a:lstStyle/>
          <a:p>
            <a:endParaRPr lang="en-US"/>
          </a:p>
        </p:txBody>
      </p:sp>
      <p:sp>
        <p:nvSpPr>
          <p:cNvPr id="569707" name="Oval 363"/>
          <p:cNvSpPr>
            <a:spLocks noChangeArrowheads="1"/>
          </p:cNvSpPr>
          <p:nvPr/>
        </p:nvSpPr>
        <p:spPr bwMode="auto">
          <a:xfrm>
            <a:off x="3632200" y="3895725"/>
            <a:ext cx="79375" cy="79375"/>
          </a:xfrm>
          <a:prstGeom prst="ellipse">
            <a:avLst/>
          </a:prstGeom>
          <a:solidFill>
            <a:srgbClr val="000000"/>
          </a:solidFill>
          <a:ln w="7938">
            <a:solidFill>
              <a:srgbClr val="000000"/>
            </a:solidFill>
            <a:miter lim="800000"/>
            <a:headEnd/>
            <a:tailEnd/>
          </a:ln>
        </p:spPr>
        <p:txBody>
          <a:bodyPr/>
          <a:lstStyle/>
          <a:p>
            <a:endParaRPr lang="en-US"/>
          </a:p>
        </p:txBody>
      </p:sp>
      <p:sp>
        <p:nvSpPr>
          <p:cNvPr id="569708" name="Oval 364"/>
          <p:cNvSpPr>
            <a:spLocks noChangeArrowheads="1"/>
          </p:cNvSpPr>
          <p:nvPr/>
        </p:nvSpPr>
        <p:spPr bwMode="auto">
          <a:xfrm>
            <a:off x="4233863" y="4421188"/>
            <a:ext cx="79375" cy="76200"/>
          </a:xfrm>
          <a:prstGeom prst="ellipse">
            <a:avLst/>
          </a:prstGeom>
          <a:solidFill>
            <a:srgbClr val="000000"/>
          </a:solidFill>
          <a:ln w="7938">
            <a:solidFill>
              <a:srgbClr val="000000"/>
            </a:solidFill>
            <a:miter lim="800000"/>
            <a:headEnd/>
            <a:tailEnd/>
          </a:ln>
        </p:spPr>
        <p:txBody>
          <a:bodyPr/>
          <a:lstStyle/>
          <a:p>
            <a:endParaRPr lang="en-US"/>
          </a:p>
        </p:txBody>
      </p:sp>
      <p:sp>
        <p:nvSpPr>
          <p:cNvPr id="569709" name="Oval 365"/>
          <p:cNvSpPr>
            <a:spLocks noChangeArrowheads="1"/>
          </p:cNvSpPr>
          <p:nvPr/>
        </p:nvSpPr>
        <p:spPr bwMode="auto">
          <a:xfrm>
            <a:off x="3883025" y="3284538"/>
            <a:ext cx="76200" cy="77787"/>
          </a:xfrm>
          <a:prstGeom prst="ellipse">
            <a:avLst/>
          </a:prstGeom>
          <a:solidFill>
            <a:srgbClr val="000000"/>
          </a:solidFill>
          <a:ln w="7938">
            <a:solidFill>
              <a:srgbClr val="000000"/>
            </a:solidFill>
            <a:miter lim="800000"/>
            <a:headEnd/>
            <a:tailEnd/>
          </a:ln>
        </p:spPr>
        <p:txBody>
          <a:bodyPr/>
          <a:lstStyle/>
          <a:p>
            <a:endParaRPr lang="en-US"/>
          </a:p>
        </p:txBody>
      </p:sp>
      <p:sp>
        <p:nvSpPr>
          <p:cNvPr id="569710" name="Oval 366"/>
          <p:cNvSpPr>
            <a:spLocks noChangeArrowheads="1"/>
          </p:cNvSpPr>
          <p:nvPr/>
        </p:nvSpPr>
        <p:spPr bwMode="auto">
          <a:xfrm>
            <a:off x="3883025" y="3714750"/>
            <a:ext cx="76200" cy="82550"/>
          </a:xfrm>
          <a:prstGeom prst="ellipse">
            <a:avLst/>
          </a:prstGeom>
          <a:solidFill>
            <a:srgbClr val="000000"/>
          </a:solidFill>
          <a:ln w="7938">
            <a:solidFill>
              <a:srgbClr val="000000"/>
            </a:solidFill>
            <a:miter lim="800000"/>
            <a:headEnd/>
            <a:tailEnd/>
          </a:ln>
        </p:spPr>
        <p:txBody>
          <a:bodyPr/>
          <a:lstStyle/>
          <a:p>
            <a:endParaRPr lang="en-US"/>
          </a:p>
        </p:txBody>
      </p:sp>
      <p:sp>
        <p:nvSpPr>
          <p:cNvPr id="569711" name="Oval 367"/>
          <p:cNvSpPr>
            <a:spLocks noChangeArrowheads="1"/>
          </p:cNvSpPr>
          <p:nvPr/>
        </p:nvSpPr>
        <p:spPr bwMode="auto">
          <a:xfrm>
            <a:off x="3638550" y="3465513"/>
            <a:ext cx="77788" cy="79375"/>
          </a:xfrm>
          <a:prstGeom prst="ellipse">
            <a:avLst/>
          </a:prstGeom>
          <a:solidFill>
            <a:srgbClr val="000000"/>
          </a:solidFill>
          <a:ln w="7938">
            <a:solidFill>
              <a:srgbClr val="000000"/>
            </a:solidFill>
            <a:miter lim="800000"/>
            <a:headEnd/>
            <a:tailEnd/>
          </a:ln>
        </p:spPr>
        <p:txBody>
          <a:bodyPr/>
          <a:lstStyle/>
          <a:p>
            <a:endParaRPr lang="en-US"/>
          </a:p>
        </p:txBody>
      </p:sp>
      <p:sp>
        <p:nvSpPr>
          <p:cNvPr id="569712" name="Oval 368"/>
          <p:cNvSpPr>
            <a:spLocks noChangeArrowheads="1"/>
          </p:cNvSpPr>
          <p:nvPr/>
        </p:nvSpPr>
        <p:spPr bwMode="auto">
          <a:xfrm>
            <a:off x="4233863" y="4108450"/>
            <a:ext cx="79375" cy="84138"/>
          </a:xfrm>
          <a:prstGeom prst="ellipse">
            <a:avLst/>
          </a:prstGeom>
          <a:solidFill>
            <a:srgbClr val="000000"/>
          </a:solidFill>
          <a:ln w="7938">
            <a:solidFill>
              <a:srgbClr val="000000"/>
            </a:solidFill>
            <a:miter lim="800000"/>
            <a:headEnd/>
            <a:tailEnd/>
          </a:ln>
        </p:spPr>
        <p:txBody>
          <a:bodyPr/>
          <a:lstStyle/>
          <a:p>
            <a:endParaRPr lang="en-US"/>
          </a:p>
        </p:txBody>
      </p:sp>
      <p:sp>
        <p:nvSpPr>
          <p:cNvPr id="569713" name="Oval 369"/>
          <p:cNvSpPr>
            <a:spLocks noChangeArrowheads="1"/>
          </p:cNvSpPr>
          <p:nvPr/>
        </p:nvSpPr>
        <p:spPr bwMode="auto">
          <a:xfrm>
            <a:off x="3883025" y="4325938"/>
            <a:ext cx="76200" cy="84137"/>
          </a:xfrm>
          <a:prstGeom prst="ellipse">
            <a:avLst/>
          </a:prstGeom>
          <a:solidFill>
            <a:srgbClr val="000000"/>
          </a:solidFill>
          <a:ln w="7938">
            <a:solidFill>
              <a:srgbClr val="000000"/>
            </a:solidFill>
            <a:miter lim="800000"/>
            <a:headEnd/>
            <a:tailEnd/>
          </a:ln>
        </p:spPr>
        <p:txBody>
          <a:bodyPr/>
          <a:lstStyle/>
          <a:p>
            <a:endParaRPr lang="en-US"/>
          </a:p>
        </p:txBody>
      </p:sp>
      <p:sp>
        <p:nvSpPr>
          <p:cNvPr id="569714" name="Oval 370"/>
          <p:cNvSpPr>
            <a:spLocks noChangeArrowheads="1"/>
          </p:cNvSpPr>
          <p:nvPr/>
        </p:nvSpPr>
        <p:spPr bwMode="auto">
          <a:xfrm>
            <a:off x="3883025" y="2925763"/>
            <a:ext cx="76200" cy="84137"/>
          </a:xfrm>
          <a:prstGeom prst="ellipse">
            <a:avLst/>
          </a:prstGeom>
          <a:solidFill>
            <a:srgbClr val="000000"/>
          </a:solidFill>
          <a:ln w="7938">
            <a:solidFill>
              <a:srgbClr val="000000"/>
            </a:solidFill>
            <a:miter lim="800000"/>
            <a:headEnd/>
            <a:tailEnd/>
          </a:ln>
        </p:spPr>
        <p:txBody>
          <a:bodyPr/>
          <a:lstStyle/>
          <a:p>
            <a:endParaRPr lang="en-US"/>
          </a:p>
        </p:txBody>
      </p:sp>
      <p:sp>
        <p:nvSpPr>
          <p:cNvPr id="569715" name="Oval 371"/>
          <p:cNvSpPr>
            <a:spLocks noChangeArrowheads="1"/>
          </p:cNvSpPr>
          <p:nvPr/>
        </p:nvSpPr>
        <p:spPr bwMode="auto">
          <a:xfrm>
            <a:off x="3883025" y="2544763"/>
            <a:ext cx="76200" cy="76200"/>
          </a:xfrm>
          <a:prstGeom prst="ellipse">
            <a:avLst/>
          </a:prstGeom>
          <a:solidFill>
            <a:srgbClr val="000000"/>
          </a:solidFill>
          <a:ln w="7938">
            <a:solidFill>
              <a:srgbClr val="000000"/>
            </a:solidFill>
            <a:miter lim="800000"/>
            <a:headEnd/>
            <a:tailEnd/>
          </a:ln>
        </p:spPr>
        <p:txBody>
          <a:bodyPr/>
          <a:lstStyle/>
          <a:p>
            <a:endParaRPr lang="en-US"/>
          </a:p>
        </p:txBody>
      </p:sp>
      <p:sp>
        <p:nvSpPr>
          <p:cNvPr id="569716" name="Oval 372"/>
          <p:cNvSpPr>
            <a:spLocks noChangeArrowheads="1"/>
          </p:cNvSpPr>
          <p:nvPr/>
        </p:nvSpPr>
        <p:spPr bwMode="auto">
          <a:xfrm>
            <a:off x="4233863" y="2719388"/>
            <a:ext cx="79375" cy="77787"/>
          </a:xfrm>
          <a:prstGeom prst="ellipse">
            <a:avLst/>
          </a:prstGeom>
          <a:solidFill>
            <a:srgbClr val="000000"/>
          </a:solidFill>
          <a:ln w="7938">
            <a:solidFill>
              <a:srgbClr val="000000"/>
            </a:solidFill>
            <a:miter lim="800000"/>
            <a:headEnd/>
            <a:tailEnd/>
          </a:ln>
        </p:spPr>
        <p:txBody>
          <a:bodyPr/>
          <a:lstStyle/>
          <a:p>
            <a:endParaRPr lang="en-US"/>
          </a:p>
        </p:txBody>
      </p:sp>
      <p:sp>
        <p:nvSpPr>
          <p:cNvPr id="569717" name="Oval 373"/>
          <p:cNvSpPr>
            <a:spLocks noChangeArrowheads="1"/>
          </p:cNvSpPr>
          <p:nvPr/>
        </p:nvSpPr>
        <p:spPr bwMode="auto">
          <a:xfrm>
            <a:off x="7718425" y="3413125"/>
            <a:ext cx="76200" cy="79375"/>
          </a:xfrm>
          <a:prstGeom prst="ellipse">
            <a:avLst/>
          </a:prstGeom>
          <a:solidFill>
            <a:srgbClr val="000000"/>
          </a:solidFill>
          <a:ln w="7938">
            <a:solidFill>
              <a:srgbClr val="000000"/>
            </a:solidFill>
            <a:miter lim="800000"/>
            <a:headEnd/>
            <a:tailEnd/>
          </a:ln>
        </p:spPr>
        <p:txBody>
          <a:bodyPr/>
          <a:lstStyle/>
          <a:p>
            <a:endParaRPr lang="en-US"/>
          </a:p>
        </p:txBody>
      </p:sp>
      <p:sp>
        <p:nvSpPr>
          <p:cNvPr id="569718" name="Oval 374"/>
          <p:cNvSpPr>
            <a:spLocks noChangeArrowheads="1"/>
          </p:cNvSpPr>
          <p:nvPr/>
        </p:nvSpPr>
        <p:spPr bwMode="auto">
          <a:xfrm>
            <a:off x="4233863" y="3108325"/>
            <a:ext cx="79375" cy="76200"/>
          </a:xfrm>
          <a:prstGeom prst="ellipse">
            <a:avLst/>
          </a:prstGeom>
          <a:solidFill>
            <a:srgbClr val="000000"/>
          </a:solidFill>
          <a:ln w="7938">
            <a:solidFill>
              <a:srgbClr val="000000"/>
            </a:solidFill>
            <a:miter lim="800000"/>
            <a:headEnd/>
            <a:tailEnd/>
          </a:ln>
        </p:spPr>
        <p:txBody>
          <a:bodyPr/>
          <a:lstStyle/>
          <a:p>
            <a:endParaRPr lang="en-US"/>
          </a:p>
        </p:txBody>
      </p:sp>
      <p:sp>
        <p:nvSpPr>
          <p:cNvPr id="569719" name="Line 375"/>
          <p:cNvSpPr>
            <a:spLocks noChangeShapeType="1"/>
          </p:cNvSpPr>
          <p:nvPr/>
        </p:nvSpPr>
        <p:spPr bwMode="auto">
          <a:xfrm>
            <a:off x="2997200" y="5357813"/>
            <a:ext cx="371475" cy="158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20" name="Freeform 376"/>
          <p:cNvSpPr>
            <a:spLocks/>
          </p:cNvSpPr>
          <p:nvPr/>
        </p:nvSpPr>
        <p:spPr bwMode="auto">
          <a:xfrm>
            <a:off x="3343275" y="5318125"/>
            <a:ext cx="166688" cy="80963"/>
          </a:xfrm>
          <a:custGeom>
            <a:avLst/>
            <a:gdLst>
              <a:gd name="T0" fmla="*/ 76 w 76"/>
              <a:gd name="T1" fmla="*/ 18 h 37"/>
              <a:gd name="T2" fmla="*/ 0 w 76"/>
              <a:gd name="T3" fmla="*/ 0 h 37"/>
              <a:gd name="T4" fmla="*/ 0 w 76"/>
              <a:gd name="T5" fmla="*/ 37 h 37"/>
              <a:gd name="T6" fmla="*/ 76 w 76"/>
              <a:gd name="T7" fmla="*/ 18 h 37"/>
            </a:gdLst>
            <a:ahLst/>
            <a:cxnLst>
              <a:cxn ang="0">
                <a:pos x="T0" y="T1"/>
              </a:cxn>
              <a:cxn ang="0">
                <a:pos x="T2" y="T3"/>
              </a:cxn>
              <a:cxn ang="0">
                <a:pos x="T4" y="T5"/>
              </a:cxn>
              <a:cxn ang="0">
                <a:pos x="T6" y="T7"/>
              </a:cxn>
            </a:cxnLst>
            <a:rect l="0" t="0" r="r" b="b"/>
            <a:pathLst>
              <a:path w="76" h="37">
                <a:moveTo>
                  <a:pt x="76" y="18"/>
                </a:moveTo>
                <a:lnTo>
                  <a:pt x="0" y="0"/>
                </a:lnTo>
                <a:lnTo>
                  <a:pt x="0" y="37"/>
                </a:lnTo>
                <a:lnTo>
                  <a:pt x="76"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21" name="Freeform 377"/>
          <p:cNvSpPr>
            <a:spLocks/>
          </p:cNvSpPr>
          <p:nvPr/>
        </p:nvSpPr>
        <p:spPr bwMode="auto">
          <a:xfrm>
            <a:off x="3924300" y="3641725"/>
            <a:ext cx="1993900" cy="2270125"/>
          </a:xfrm>
          <a:custGeom>
            <a:avLst/>
            <a:gdLst>
              <a:gd name="T0" fmla="*/ 0 w 909"/>
              <a:gd name="T1" fmla="*/ 912 h 1035"/>
              <a:gd name="T2" fmla="*/ 0 w 909"/>
              <a:gd name="T3" fmla="*/ 1035 h 1035"/>
              <a:gd name="T4" fmla="*/ 909 w 909"/>
              <a:gd name="T5" fmla="*/ 1035 h 1035"/>
              <a:gd name="T6" fmla="*/ 909 w 909"/>
              <a:gd name="T7" fmla="*/ 0 h 1035"/>
              <a:gd name="T8" fmla="*/ 706 w 909"/>
              <a:gd name="T9" fmla="*/ 0 h 1035"/>
            </a:gdLst>
            <a:ahLst/>
            <a:cxnLst>
              <a:cxn ang="0">
                <a:pos x="T0" y="T1"/>
              </a:cxn>
              <a:cxn ang="0">
                <a:pos x="T2" y="T3"/>
              </a:cxn>
              <a:cxn ang="0">
                <a:pos x="T4" y="T5"/>
              </a:cxn>
              <a:cxn ang="0">
                <a:pos x="T6" y="T7"/>
              </a:cxn>
              <a:cxn ang="0">
                <a:pos x="T8" y="T9"/>
              </a:cxn>
            </a:cxnLst>
            <a:rect l="0" t="0" r="r" b="b"/>
            <a:pathLst>
              <a:path w="909" h="1035">
                <a:moveTo>
                  <a:pt x="0" y="912"/>
                </a:moveTo>
                <a:lnTo>
                  <a:pt x="0" y="1035"/>
                </a:lnTo>
                <a:lnTo>
                  <a:pt x="909" y="1035"/>
                </a:lnTo>
                <a:lnTo>
                  <a:pt x="909" y="0"/>
                </a:lnTo>
                <a:lnTo>
                  <a:pt x="706"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22" name="Freeform 378"/>
          <p:cNvSpPr>
            <a:spLocks/>
          </p:cNvSpPr>
          <p:nvPr/>
        </p:nvSpPr>
        <p:spPr bwMode="auto">
          <a:xfrm>
            <a:off x="3883025" y="5508625"/>
            <a:ext cx="82550" cy="166688"/>
          </a:xfrm>
          <a:custGeom>
            <a:avLst/>
            <a:gdLst>
              <a:gd name="T0" fmla="*/ 19 w 38"/>
              <a:gd name="T1" fmla="*/ 0 h 76"/>
              <a:gd name="T2" fmla="*/ 0 w 38"/>
              <a:gd name="T3" fmla="*/ 76 h 76"/>
              <a:gd name="T4" fmla="*/ 38 w 38"/>
              <a:gd name="T5" fmla="*/ 76 h 76"/>
              <a:gd name="T6" fmla="*/ 19 w 38"/>
              <a:gd name="T7" fmla="*/ 0 h 76"/>
            </a:gdLst>
            <a:ahLst/>
            <a:cxnLst>
              <a:cxn ang="0">
                <a:pos x="T0" y="T1"/>
              </a:cxn>
              <a:cxn ang="0">
                <a:pos x="T2" y="T3"/>
              </a:cxn>
              <a:cxn ang="0">
                <a:pos x="T4" y="T5"/>
              </a:cxn>
              <a:cxn ang="0">
                <a:pos x="T6" y="T7"/>
              </a:cxn>
            </a:cxnLst>
            <a:rect l="0" t="0" r="r" b="b"/>
            <a:pathLst>
              <a:path w="38" h="76">
                <a:moveTo>
                  <a:pt x="19" y="0"/>
                </a:moveTo>
                <a:lnTo>
                  <a:pt x="0" y="76"/>
                </a:lnTo>
                <a:lnTo>
                  <a:pt x="38" y="76"/>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23" name="Freeform 379"/>
          <p:cNvSpPr>
            <a:spLocks/>
          </p:cNvSpPr>
          <p:nvPr/>
        </p:nvSpPr>
        <p:spPr bwMode="auto">
          <a:xfrm>
            <a:off x="3883025" y="4767263"/>
            <a:ext cx="82550" cy="166687"/>
          </a:xfrm>
          <a:custGeom>
            <a:avLst/>
            <a:gdLst>
              <a:gd name="T0" fmla="*/ 19 w 38"/>
              <a:gd name="T1" fmla="*/ 0 h 76"/>
              <a:gd name="T2" fmla="*/ 0 w 38"/>
              <a:gd name="T3" fmla="*/ 76 h 76"/>
              <a:gd name="T4" fmla="*/ 38 w 38"/>
              <a:gd name="T5" fmla="*/ 76 h 76"/>
              <a:gd name="T6" fmla="*/ 19 w 38"/>
              <a:gd name="T7" fmla="*/ 0 h 76"/>
            </a:gdLst>
            <a:ahLst/>
            <a:cxnLst>
              <a:cxn ang="0">
                <a:pos x="T0" y="T1"/>
              </a:cxn>
              <a:cxn ang="0">
                <a:pos x="T2" y="T3"/>
              </a:cxn>
              <a:cxn ang="0">
                <a:pos x="T4" y="T5"/>
              </a:cxn>
              <a:cxn ang="0">
                <a:pos x="T6" y="T7"/>
              </a:cxn>
            </a:cxnLst>
            <a:rect l="0" t="0" r="r" b="b"/>
            <a:pathLst>
              <a:path w="38" h="76">
                <a:moveTo>
                  <a:pt x="19" y="0"/>
                </a:moveTo>
                <a:lnTo>
                  <a:pt x="0" y="76"/>
                </a:lnTo>
                <a:lnTo>
                  <a:pt x="38" y="76"/>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24" name="Freeform 380"/>
          <p:cNvSpPr>
            <a:spLocks/>
          </p:cNvSpPr>
          <p:nvPr/>
        </p:nvSpPr>
        <p:spPr bwMode="auto">
          <a:xfrm>
            <a:off x="4275138" y="4238625"/>
            <a:ext cx="1519237" cy="1539875"/>
          </a:xfrm>
          <a:custGeom>
            <a:avLst/>
            <a:gdLst>
              <a:gd name="T0" fmla="*/ 0 w 692"/>
              <a:gd name="T1" fmla="*/ 640 h 702"/>
              <a:gd name="T2" fmla="*/ 0 w 692"/>
              <a:gd name="T3" fmla="*/ 702 h 702"/>
              <a:gd name="T4" fmla="*/ 692 w 692"/>
              <a:gd name="T5" fmla="*/ 702 h 702"/>
              <a:gd name="T6" fmla="*/ 692 w 692"/>
              <a:gd name="T7" fmla="*/ 0 h 702"/>
              <a:gd name="T8" fmla="*/ 546 w 692"/>
              <a:gd name="T9" fmla="*/ 0 h 702"/>
            </a:gdLst>
            <a:ahLst/>
            <a:cxnLst>
              <a:cxn ang="0">
                <a:pos x="T0" y="T1"/>
              </a:cxn>
              <a:cxn ang="0">
                <a:pos x="T2" y="T3"/>
              </a:cxn>
              <a:cxn ang="0">
                <a:pos x="T4" y="T5"/>
              </a:cxn>
              <a:cxn ang="0">
                <a:pos x="T6" y="T7"/>
              </a:cxn>
              <a:cxn ang="0">
                <a:pos x="T8" y="T9"/>
              </a:cxn>
            </a:cxnLst>
            <a:rect l="0" t="0" r="r" b="b"/>
            <a:pathLst>
              <a:path w="692" h="702">
                <a:moveTo>
                  <a:pt x="0" y="640"/>
                </a:moveTo>
                <a:lnTo>
                  <a:pt x="0" y="702"/>
                </a:lnTo>
                <a:lnTo>
                  <a:pt x="692" y="702"/>
                </a:lnTo>
                <a:lnTo>
                  <a:pt x="692" y="0"/>
                </a:lnTo>
                <a:lnTo>
                  <a:pt x="546"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25" name="Freeform 381"/>
          <p:cNvSpPr>
            <a:spLocks/>
          </p:cNvSpPr>
          <p:nvPr/>
        </p:nvSpPr>
        <p:spPr bwMode="auto">
          <a:xfrm>
            <a:off x="4233863" y="5508625"/>
            <a:ext cx="84137" cy="166688"/>
          </a:xfrm>
          <a:custGeom>
            <a:avLst/>
            <a:gdLst>
              <a:gd name="T0" fmla="*/ 19 w 38"/>
              <a:gd name="T1" fmla="*/ 0 h 76"/>
              <a:gd name="T2" fmla="*/ 0 w 38"/>
              <a:gd name="T3" fmla="*/ 76 h 76"/>
              <a:gd name="T4" fmla="*/ 38 w 38"/>
              <a:gd name="T5" fmla="*/ 76 h 76"/>
              <a:gd name="T6" fmla="*/ 19 w 38"/>
              <a:gd name="T7" fmla="*/ 0 h 76"/>
            </a:gdLst>
            <a:ahLst/>
            <a:cxnLst>
              <a:cxn ang="0">
                <a:pos x="T0" y="T1"/>
              </a:cxn>
              <a:cxn ang="0">
                <a:pos x="T2" y="T3"/>
              </a:cxn>
              <a:cxn ang="0">
                <a:pos x="T4" y="T5"/>
              </a:cxn>
              <a:cxn ang="0">
                <a:pos x="T6" y="T7"/>
              </a:cxn>
            </a:cxnLst>
            <a:rect l="0" t="0" r="r" b="b"/>
            <a:pathLst>
              <a:path w="38" h="76">
                <a:moveTo>
                  <a:pt x="19" y="0"/>
                </a:moveTo>
                <a:lnTo>
                  <a:pt x="0" y="76"/>
                </a:lnTo>
                <a:lnTo>
                  <a:pt x="38" y="76"/>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26" name="Freeform 382"/>
          <p:cNvSpPr>
            <a:spLocks/>
          </p:cNvSpPr>
          <p:nvPr/>
        </p:nvSpPr>
        <p:spPr bwMode="auto">
          <a:xfrm>
            <a:off x="4054475" y="5513388"/>
            <a:ext cx="82550" cy="166687"/>
          </a:xfrm>
          <a:custGeom>
            <a:avLst/>
            <a:gdLst>
              <a:gd name="T0" fmla="*/ 19 w 38"/>
              <a:gd name="T1" fmla="*/ 0 h 76"/>
              <a:gd name="T2" fmla="*/ 0 w 38"/>
              <a:gd name="T3" fmla="*/ 76 h 76"/>
              <a:gd name="T4" fmla="*/ 38 w 38"/>
              <a:gd name="T5" fmla="*/ 76 h 76"/>
              <a:gd name="T6" fmla="*/ 19 w 38"/>
              <a:gd name="T7" fmla="*/ 0 h 76"/>
            </a:gdLst>
            <a:ahLst/>
            <a:cxnLst>
              <a:cxn ang="0">
                <a:pos x="T0" y="T1"/>
              </a:cxn>
              <a:cxn ang="0">
                <a:pos x="T2" y="T3"/>
              </a:cxn>
              <a:cxn ang="0">
                <a:pos x="T4" y="T5"/>
              </a:cxn>
              <a:cxn ang="0">
                <a:pos x="T6" y="T7"/>
              </a:cxn>
            </a:cxnLst>
            <a:rect l="0" t="0" r="r" b="b"/>
            <a:pathLst>
              <a:path w="38" h="76">
                <a:moveTo>
                  <a:pt x="19" y="0"/>
                </a:moveTo>
                <a:lnTo>
                  <a:pt x="0" y="76"/>
                </a:lnTo>
                <a:lnTo>
                  <a:pt x="38" y="76"/>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27" name="Freeform 383"/>
          <p:cNvSpPr>
            <a:spLocks/>
          </p:cNvSpPr>
          <p:nvPr/>
        </p:nvSpPr>
        <p:spPr bwMode="auto">
          <a:xfrm>
            <a:off x="4233863" y="4767263"/>
            <a:ext cx="84137" cy="166687"/>
          </a:xfrm>
          <a:custGeom>
            <a:avLst/>
            <a:gdLst>
              <a:gd name="T0" fmla="*/ 19 w 38"/>
              <a:gd name="T1" fmla="*/ 0 h 76"/>
              <a:gd name="T2" fmla="*/ 0 w 38"/>
              <a:gd name="T3" fmla="*/ 76 h 76"/>
              <a:gd name="T4" fmla="*/ 38 w 38"/>
              <a:gd name="T5" fmla="*/ 76 h 76"/>
              <a:gd name="T6" fmla="*/ 19 w 38"/>
              <a:gd name="T7" fmla="*/ 0 h 76"/>
            </a:gdLst>
            <a:ahLst/>
            <a:cxnLst>
              <a:cxn ang="0">
                <a:pos x="T0" y="T1"/>
              </a:cxn>
              <a:cxn ang="0">
                <a:pos x="T2" y="T3"/>
              </a:cxn>
              <a:cxn ang="0">
                <a:pos x="T4" y="T5"/>
              </a:cxn>
              <a:cxn ang="0">
                <a:pos x="T6" y="T7"/>
              </a:cxn>
            </a:cxnLst>
            <a:rect l="0" t="0" r="r" b="b"/>
            <a:pathLst>
              <a:path w="38" h="76">
                <a:moveTo>
                  <a:pt x="19" y="0"/>
                </a:moveTo>
                <a:lnTo>
                  <a:pt x="0" y="76"/>
                </a:lnTo>
                <a:lnTo>
                  <a:pt x="38" y="76"/>
                </a:lnTo>
                <a:lnTo>
                  <a:pt x="1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28" name="Freeform 384"/>
          <p:cNvSpPr>
            <a:spLocks/>
          </p:cNvSpPr>
          <p:nvPr/>
        </p:nvSpPr>
        <p:spPr bwMode="auto">
          <a:xfrm>
            <a:off x="6686550" y="1884363"/>
            <a:ext cx="133350" cy="136525"/>
          </a:xfrm>
          <a:custGeom>
            <a:avLst/>
            <a:gdLst>
              <a:gd name="T0" fmla="*/ 61 w 61"/>
              <a:gd name="T1" fmla="*/ 0 h 62"/>
              <a:gd name="T2" fmla="*/ 0 w 61"/>
              <a:gd name="T3" fmla="*/ 62 h 62"/>
              <a:gd name="T4" fmla="*/ 61 w 61"/>
              <a:gd name="T5" fmla="*/ 0 h 62"/>
            </a:gdLst>
            <a:ahLst/>
            <a:cxnLst>
              <a:cxn ang="0">
                <a:pos x="T0" y="T1"/>
              </a:cxn>
              <a:cxn ang="0">
                <a:pos x="T2" y="T3"/>
              </a:cxn>
              <a:cxn ang="0">
                <a:pos x="T4" y="T5"/>
              </a:cxn>
            </a:cxnLst>
            <a:rect l="0" t="0" r="r" b="b"/>
            <a:pathLst>
              <a:path w="61" h="62">
                <a:moveTo>
                  <a:pt x="61" y="0"/>
                </a:moveTo>
                <a:lnTo>
                  <a:pt x="0" y="62"/>
                </a:lnTo>
                <a:lnTo>
                  <a:pt x="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29" name="Line 385"/>
          <p:cNvSpPr>
            <a:spLocks noChangeShapeType="1"/>
          </p:cNvSpPr>
          <p:nvPr/>
        </p:nvSpPr>
        <p:spPr bwMode="auto">
          <a:xfrm flipH="1">
            <a:off x="6686550" y="1884363"/>
            <a:ext cx="133350" cy="13652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30" name="Freeform 386"/>
          <p:cNvSpPr>
            <a:spLocks/>
          </p:cNvSpPr>
          <p:nvPr/>
        </p:nvSpPr>
        <p:spPr bwMode="auto">
          <a:xfrm>
            <a:off x="7685088" y="3252788"/>
            <a:ext cx="136525" cy="136525"/>
          </a:xfrm>
          <a:custGeom>
            <a:avLst/>
            <a:gdLst>
              <a:gd name="T0" fmla="*/ 62 w 62"/>
              <a:gd name="T1" fmla="*/ 0 h 62"/>
              <a:gd name="T2" fmla="*/ 0 w 62"/>
              <a:gd name="T3" fmla="*/ 62 h 62"/>
              <a:gd name="T4" fmla="*/ 62 w 62"/>
              <a:gd name="T5" fmla="*/ 0 h 62"/>
            </a:gdLst>
            <a:ahLst/>
            <a:cxnLst>
              <a:cxn ang="0">
                <a:pos x="T0" y="T1"/>
              </a:cxn>
              <a:cxn ang="0">
                <a:pos x="T2" y="T3"/>
              </a:cxn>
              <a:cxn ang="0">
                <a:pos x="T4" y="T5"/>
              </a:cxn>
            </a:cxnLst>
            <a:rect l="0" t="0" r="r" b="b"/>
            <a:pathLst>
              <a:path w="62" h="62">
                <a:moveTo>
                  <a:pt x="62" y="0"/>
                </a:moveTo>
                <a:lnTo>
                  <a:pt x="0" y="62"/>
                </a:lnTo>
                <a:lnTo>
                  <a:pt x="6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31" name="Line 387"/>
          <p:cNvSpPr>
            <a:spLocks noChangeShapeType="1"/>
          </p:cNvSpPr>
          <p:nvPr/>
        </p:nvSpPr>
        <p:spPr bwMode="auto">
          <a:xfrm flipH="1">
            <a:off x="7685088" y="3252788"/>
            <a:ext cx="136525" cy="13652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32" name="Oval 388"/>
          <p:cNvSpPr>
            <a:spLocks noChangeArrowheads="1"/>
          </p:cNvSpPr>
          <p:nvPr/>
        </p:nvSpPr>
        <p:spPr bwMode="auto">
          <a:xfrm>
            <a:off x="4487863" y="3284538"/>
            <a:ext cx="79375" cy="77787"/>
          </a:xfrm>
          <a:prstGeom prst="ellipse">
            <a:avLst/>
          </a:prstGeom>
          <a:solidFill>
            <a:srgbClr val="FFFFFF"/>
          </a:solidFill>
          <a:ln w="7938">
            <a:solidFill>
              <a:srgbClr val="0078C1"/>
            </a:solidFill>
            <a:miter lim="800000"/>
            <a:headEnd/>
            <a:tailEnd/>
          </a:ln>
        </p:spPr>
        <p:txBody>
          <a:bodyPr/>
          <a:lstStyle/>
          <a:p>
            <a:endParaRPr lang="en-US"/>
          </a:p>
        </p:txBody>
      </p:sp>
      <p:sp>
        <p:nvSpPr>
          <p:cNvPr id="569733" name="Oval 389"/>
          <p:cNvSpPr>
            <a:spLocks noChangeArrowheads="1"/>
          </p:cNvSpPr>
          <p:nvPr/>
        </p:nvSpPr>
        <p:spPr bwMode="auto">
          <a:xfrm>
            <a:off x="4487863" y="2925763"/>
            <a:ext cx="79375" cy="79375"/>
          </a:xfrm>
          <a:prstGeom prst="ellipse">
            <a:avLst/>
          </a:prstGeom>
          <a:solidFill>
            <a:srgbClr val="FFFFFF"/>
          </a:solidFill>
          <a:ln w="7938">
            <a:solidFill>
              <a:srgbClr val="0078C1"/>
            </a:solidFill>
            <a:miter lim="800000"/>
            <a:headEnd/>
            <a:tailEnd/>
          </a:ln>
        </p:spPr>
        <p:txBody>
          <a:bodyPr/>
          <a:lstStyle/>
          <a:p>
            <a:endParaRPr lang="en-US"/>
          </a:p>
        </p:txBody>
      </p:sp>
      <p:sp>
        <p:nvSpPr>
          <p:cNvPr id="569734" name="Oval 390"/>
          <p:cNvSpPr>
            <a:spLocks noChangeArrowheads="1"/>
          </p:cNvSpPr>
          <p:nvPr/>
        </p:nvSpPr>
        <p:spPr bwMode="auto">
          <a:xfrm>
            <a:off x="4487863" y="2719388"/>
            <a:ext cx="79375" cy="77787"/>
          </a:xfrm>
          <a:prstGeom prst="ellipse">
            <a:avLst/>
          </a:prstGeom>
          <a:solidFill>
            <a:srgbClr val="FFFFFF"/>
          </a:solidFill>
          <a:ln w="7938">
            <a:solidFill>
              <a:srgbClr val="0078C1"/>
            </a:solidFill>
            <a:miter lim="800000"/>
            <a:headEnd/>
            <a:tailEnd/>
          </a:ln>
        </p:spPr>
        <p:txBody>
          <a:bodyPr/>
          <a:lstStyle/>
          <a:p>
            <a:endParaRPr lang="en-US"/>
          </a:p>
        </p:txBody>
      </p:sp>
      <p:sp>
        <p:nvSpPr>
          <p:cNvPr id="569735" name="Oval 391"/>
          <p:cNvSpPr>
            <a:spLocks noChangeArrowheads="1"/>
          </p:cNvSpPr>
          <p:nvPr/>
        </p:nvSpPr>
        <p:spPr bwMode="auto">
          <a:xfrm>
            <a:off x="4487863" y="3103563"/>
            <a:ext cx="79375" cy="80962"/>
          </a:xfrm>
          <a:prstGeom prst="ellipse">
            <a:avLst/>
          </a:prstGeom>
          <a:solidFill>
            <a:srgbClr val="FFFFFF"/>
          </a:solidFill>
          <a:ln w="7938">
            <a:solidFill>
              <a:srgbClr val="0078C1"/>
            </a:solidFill>
            <a:miter lim="800000"/>
            <a:headEnd/>
            <a:tailEnd/>
          </a:ln>
        </p:spPr>
        <p:txBody>
          <a:bodyPr/>
          <a:lstStyle/>
          <a:p>
            <a:endParaRPr lang="en-US"/>
          </a:p>
        </p:txBody>
      </p:sp>
      <p:sp>
        <p:nvSpPr>
          <p:cNvPr id="569736" name="Oval 392"/>
          <p:cNvSpPr>
            <a:spLocks noChangeArrowheads="1"/>
          </p:cNvSpPr>
          <p:nvPr/>
        </p:nvSpPr>
        <p:spPr bwMode="auto">
          <a:xfrm>
            <a:off x="4487863" y="3465513"/>
            <a:ext cx="79375" cy="79375"/>
          </a:xfrm>
          <a:prstGeom prst="ellipse">
            <a:avLst/>
          </a:prstGeom>
          <a:solidFill>
            <a:srgbClr val="FFFFFF"/>
          </a:solidFill>
          <a:ln w="7938">
            <a:solidFill>
              <a:srgbClr val="0078C1"/>
            </a:solidFill>
            <a:miter lim="800000"/>
            <a:headEnd/>
            <a:tailEnd/>
          </a:ln>
        </p:spPr>
        <p:txBody>
          <a:bodyPr/>
          <a:lstStyle/>
          <a:p>
            <a:endParaRPr lang="en-US"/>
          </a:p>
        </p:txBody>
      </p:sp>
      <p:sp>
        <p:nvSpPr>
          <p:cNvPr id="569737" name="Oval 393"/>
          <p:cNvSpPr>
            <a:spLocks noChangeArrowheads="1"/>
          </p:cNvSpPr>
          <p:nvPr/>
        </p:nvSpPr>
        <p:spPr bwMode="auto">
          <a:xfrm>
            <a:off x="4487863" y="3714750"/>
            <a:ext cx="79375" cy="77788"/>
          </a:xfrm>
          <a:prstGeom prst="ellipse">
            <a:avLst/>
          </a:prstGeom>
          <a:solidFill>
            <a:srgbClr val="FFFFFF"/>
          </a:solidFill>
          <a:ln w="7938">
            <a:solidFill>
              <a:srgbClr val="0078C1"/>
            </a:solidFill>
            <a:miter lim="800000"/>
            <a:headEnd/>
            <a:tailEnd/>
          </a:ln>
        </p:spPr>
        <p:txBody>
          <a:bodyPr/>
          <a:lstStyle/>
          <a:p>
            <a:endParaRPr lang="en-US"/>
          </a:p>
        </p:txBody>
      </p:sp>
      <p:sp>
        <p:nvSpPr>
          <p:cNvPr id="569738" name="Oval 394"/>
          <p:cNvSpPr>
            <a:spLocks noChangeArrowheads="1"/>
          </p:cNvSpPr>
          <p:nvPr/>
        </p:nvSpPr>
        <p:spPr bwMode="auto">
          <a:xfrm>
            <a:off x="4487863" y="4325938"/>
            <a:ext cx="79375" cy="79375"/>
          </a:xfrm>
          <a:prstGeom prst="ellipse">
            <a:avLst/>
          </a:prstGeom>
          <a:solidFill>
            <a:srgbClr val="FFFFFF"/>
          </a:solidFill>
          <a:ln w="7938">
            <a:solidFill>
              <a:srgbClr val="0078C1"/>
            </a:solidFill>
            <a:miter lim="800000"/>
            <a:headEnd/>
            <a:tailEnd/>
          </a:ln>
        </p:spPr>
        <p:txBody>
          <a:bodyPr/>
          <a:lstStyle/>
          <a:p>
            <a:endParaRPr lang="en-US"/>
          </a:p>
        </p:txBody>
      </p:sp>
      <p:sp>
        <p:nvSpPr>
          <p:cNvPr id="569739" name="Oval 395"/>
          <p:cNvSpPr>
            <a:spLocks noChangeArrowheads="1"/>
          </p:cNvSpPr>
          <p:nvPr/>
        </p:nvSpPr>
        <p:spPr bwMode="auto">
          <a:xfrm>
            <a:off x="5073650" y="4108450"/>
            <a:ext cx="77788" cy="77788"/>
          </a:xfrm>
          <a:prstGeom prst="ellipse">
            <a:avLst/>
          </a:prstGeom>
          <a:solidFill>
            <a:srgbClr val="FFFFFF"/>
          </a:solidFill>
          <a:ln w="7938">
            <a:solidFill>
              <a:srgbClr val="0078C1"/>
            </a:solidFill>
            <a:miter lim="800000"/>
            <a:headEnd/>
            <a:tailEnd/>
          </a:ln>
        </p:spPr>
        <p:txBody>
          <a:bodyPr/>
          <a:lstStyle/>
          <a:p>
            <a:endParaRPr lang="en-US"/>
          </a:p>
        </p:txBody>
      </p:sp>
      <p:sp>
        <p:nvSpPr>
          <p:cNvPr id="569740" name="Oval 396"/>
          <p:cNvSpPr>
            <a:spLocks noChangeArrowheads="1"/>
          </p:cNvSpPr>
          <p:nvPr/>
        </p:nvSpPr>
        <p:spPr bwMode="auto">
          <a:xfrm>
            <a:off x="4487863" y="4503738"/>
            <a:ext cx="79375" cy="80962"/>
          </a:xfrm>
          <a:prstGeom prst="ellipse">
            <a:avLst/>
          </a:prstGeom>
          <a:solidFill>
            <a:srgbClr val="FFFFFF"/>
          </a:solidFill>
          <a:ln w="7938">
            <a:solidFill>
              <a:srgbClr val="0078C1"/>
            </a:solidFill>
            <a:miter lim="800000"/>
            <a:headEnd/>
            <a:tailEnd/>
          </a:ln>
        </p:spPr>
        <p:txBody>
          <a:bodyPr/>
          <a:lstStyle/>
          <a:p>
            <a:endParaRPr lang="en-US"/>
          </a:p>
        </p:txBody>
      </p:sp>
      <p:sp>
        <p:nvSpPr>
          <p:cNvPr id="569741" name="Rectangle 397"/>
          <p:cNvSpPr>
            <a:spLocks noChangeArrowheads="1"/>
          </p:cNvSpPr>
          <p:nvPr/>
        </p:nvSpPr>
        <p:spPr bwMode="auto">
          <a:xfrm>
            <a:off x="3562350" y="1816100"/>
            <a:ext cx="132238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Combinational logic</a:t>
            </a:r>
            <a:endParaRPr lang="en-US" altLang="en-US">
              <a:latin typeface="Arial" panose="020B0604020202020204" pitchFamily="34" charset="0"/>
            </a:endParaRPr>
          </a:p>
        </p:txBody>
      </p:sp>
      <p:sp>
        <p:nvSpPr>
          <p:cNvPr id="569742" name="Rectangle 398"/>
          <p:cNvSpPr>
            <a:spLocks noChangeArrowheads="1"/>
          </p:cNvSpPr>
          <p:nvPr/>
        </p:nvSpPr>
        <p:spPr bwMode="auto">
          <a:xfrm>
            <a:off x="3027363" y="294322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a:latin typeface="Arial" panose="020B0604020202020204" pitchFamily="34" charset="0"/>
            </a:endParaRPr>
          </a:p>
        </p:txBody>
      </p:sp>
      <p:sp>
        <p:nvSpPr>
          <p:cNvPr id="569743" name="Rectangle 399"/>
          <p:cNvSpPr>
            <a:spLocks noChangeArrowheads="1"/>
          </p:cNvSpPr>
          <p:nvPr/>
        </p:nvSpPr>
        <p:spPr bwMode="auto">
          <a:xfrm>
            <a:off x="2941638" y="3338513"/>
            <a:ext cx="4064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tot_lt_s</a:t>
            </a:r>
            <a:endParaRPr lang="en-US" altLang="en-US">
              <a:latin typeface="Arial" panose="020B0604020202020204" pitchFamily="34" charset="0"/>
            </a:endParaRPr>
          </a:p>
        </p:txBody>
      </p:sp>
      <p:sp>
        <p:nvSpPr>
          <p:cNvPr id="569744" name="Rectangle 400"/>
          <p:cNvSpPr>
            <a:spLocks noChangeArrowheads="1"/>
          </p:cNvSpPr>
          <p:nvPr/>
        </p:nvSpPr>
        <p:spPr bwMode="auto">
          <a:xfrm>
            <a:off x="3252788" y="5127625"/>
            <a:ext cx="1555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clk</a:t>
            </a:r>
            <a:endParaRPr lang="en-US" altLang="en-US">
              <a:latin typeface="Arial" panose="020B0604020202020204" pitchFamily="34" charset="0"/>
            </a:endParaRPr>
          </a:p>
        </p:txBody>
      </p:sp>
      <p:sp>
        <p:nvSpPr>
          <p:cNvPr id="569745" name="Rectangle 401"/>
          <p:cNvSpPr>
            <a:spLocks noChangeArrowheads="1"/>
          </p:cNvSpPr>
          <p:nvPr/>
        </p:nvSpPr>
        <p:spPr bwMode="auto">
          <a:xfrm>
            <a:off x="5622925" y="3452813"/>
            <a:ext cx="139700" cy="15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n1</a:t>
            </a:r>
            <a:endParaRPr lang="en-US" altLang="en-US">
              <a:latin typeface="Arial" panose="020B0604020202020204" pitchFamily="34" charset="0"/>
            </a:endParaRPr>
          </a:p>
        </p:txBody>
      </p:sp>
      <p:sp>
        <p:nvSpPr>
          <p:cNvPr id="569746" name="Rectangle 402"/>
          <p:cNvSpPr>
            <a:spLocks noChangeArrowheads="1"/>
          </p:cNvSpPr>
          <p:nvPr/>
        </p:nvSpPr>
        <p:spPr bwMode="auto">
          <a:xfrm>
            <a:off x="5622925" y="2078038"/>
            <a:ext cx="698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
            </a:r>
            <a:endParaRPr lang="en-US" altLang="en-US">
              <a:latin typeface="Arial" panose="020B0604020202020204" pitchFamily="34" charset="0"/>
            </a:endParaRPr>
          </a:p>
        </p:txBody>
      </p:sp>
      <p:sp>
        <p:nvSpPr>
          <p:cNvPr id="569747" name="Rectangle 403"/>
          <p:cNvSpPr>
            <a:spLocks noChangeArrowheads="1"/>
          </p:cNvSpPr>
          <p:nvPr/>
        </p:nvSpPr>
        <p:spPr bwMode="auto">
          <a:xfrm>
            <a:off x="5622925" y="2468563"/>
            <a:ext cx="369888"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tot_ld</a:t>
            </a:r>
            <a:endParaRPr lang="en-US" altLang="en-US">
              <a:latin typeface="Arial" panose="020B0604020202020204" pitchFamily="34" charset="0"/>
            </a:endParaRPr>
          </a:p>
        </p:txBody>
      </p:sp>
      <p:sp>
        <p:nvSpPr>
          <p:cNvPr id="569748" name="Rectangle 404"/>
          <p:cNvSpPr>
            <a:spLocks noChangeArrowheads="1"/>
          </p:cNvSpPr>
          <p:nvPr/>
        </p:nvSpPr>
        <p:spPr bwMode="auto">
          <a:xfrm>
            <a:off x="6003925" y="4313238"/>
            <a:ext cx="40640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tot_lt_s</a:t>
            </a:r>
            <a:endParaRPr lang="en-US" altLang="en-US">
              <a:latin typeface="Arial" panose="020B0604020202020204" pitchFamily="34" charset="0"/>
            </a:endParaRPr>
          </a:p>
        </p:txBody>
      </p:sp>
      <p:sp>
        <p:nvSpPr>
          <p:cNvPr id="569749" name="Rectangle 405"/>
          <p:cNvSpPr>
            <a:spLocks noChangeArrowheads="1"/>
          </p:cNvSpPr>
          <p:nvPr/>
        </p:nvSpPr>
        <p:spPr bwMode="auto">
          <a:xfrm>
            <a:off x="5622925" y="2847975"/>
            <a:ext cx="3492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t</a:t>
            </a:r>
            <a:endParaRPr lang="en-US" altLang="en-US">
              <a:latin typeface="Arial" panose="020B0604020202020204" pitchFamily="34" charset="0"/>
            </a:endParaRPr>
          </a:p>
        </p:txBody>
      </p:sp>
      <p:sp>
        <p:nvSpPr>
          <p:cNvPr id="569750" name="Rectangle 406"/>
          <p:cNvSpPr>
            <a:spLocks noChangeArrowheads="1"/>
          </p:cNvSpPr>
          <p:nvPr/>
        </p:nvSpPr>
        <p:spPr bwMode="auto">
          <a:xfrm>
            <a:off x="5675313" y="2847975"/>
            <a:ext cx="3095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ot_clr</a:t>
            </a:r>
            <a:endParaRPr lang="en-US" altLang="en-US">
              <a:latin typeface="Arial" panose="020B0604020202020204" pitchFamily="34" charset="0"/>
            </a:endParaRPr>
          </a:p>
        </p:txBody>
      </p:sp>
      <p:sp>
        <p:nvSpPr>
          <p:cNvPr id="569751" name="Rectangle 407"/>
          <p:cNvSpPr>
            <a:spLocks noChangeArrowheads="1"/>
          </p:cNvSpPr>
          <p:nvPr/>
        </p:nvSpPr>
        <p:spPr bwMode="auto">
          <a:xfrm>
            <a:off x="4381500" y="4806950"/>
            <a:ext cx="13335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s0</a:t>
            </a:r>
            <a:endParaRPr lang="en-US" altLang="en-US">
              <a:latin typeface="Arial" panose="020B0604020202020204" pitchFamily="34" charset="0"/>
            </a:endParaRPr>
          </a:p>
        </p:txBody>
      </p:sp>
      <p:sp>
        <p:nvSpPr>
          <p:cNvPr id="569752" name="Rectangle 408"/>
          <p:cNvSpPr>
            <a:spLocks noChangeArrowheads="1"/>
          </p:cNvSpPr>
          <p:nvPr/>
        </p:nvSpPr>
        <p:spPr bwMode="auto">
          <a:xfrm>
            <a:off x="3676650" y="4806950"/>
            <a:ext cx="133350"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s1</a:t>
            </a:r>
            <a:endParaRPr lang="en-US" altLang="en-US">
              <a:latin typeface="Arial" panose="020B0604020202020204" pitchFamily="34" charset="0"/>
            </a:endParaRPr>
          </a:p>
        </p:txBody>
      </p:sp>
      <p:sp>
        <p:nvSpPr>
          <p:cNvPr id="569753" name="Rectangle 409"/>
          <p:cNvSpPr>
            <a:spLocks noChangeArrowheads="1"/>
          </p:cNvSpPr>
          <p:nvPr/>
        </p:nvSpPr>
        <p:spPr bwMode="auto">
          <a:xfrm>
            <a:off x="5622925" y="4030663"/>
            <a:ext cx="168275"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n0</a:t>
            </a:r>
            <a:endParaRPr lang="en-US" altLang="en-US">
              <a:latin typeface="Arial" panose="020B0604020202020204" pitchFamily="34" charset="0"/>
            </a:endParaRPr>
          </a:p>
        </p:txBody>
      </p:sp>
      <p:sp>
        <p:nvSpPr>
          <p:cNvPr id="569754" name="Rectangle 410"/>
          <p:cNvSpPr>
            <a:spLocks noChangeArrowheads="1"/>
          </p:cNvSpPr>
          <p:nvPr/>
        </p:nvSpPr>
        <p:spPr bwMode="auto">
          <a:xfrm>
            <a:off x="4044950" y="5157788"/>
            <a:ext cx="9048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State register</a:t>
            </a:r>
            <a:endParaRPr lang="en-US" altLang="en-US">
              <a:latin typeface="Arial" panose="020B0604020202020204" pitchFamily="34" charset="0"/>
            </a:endParaRPr>
          </a:p>
        </p:txBody>
      </p:sp>
      <p:sp>
        <p:nvSpPr>
          <p:cNvPr id="569755" name="Freeform 411"/>
          <p:cNvSpPr>
            <a:spLocks/>
          </p:cNvSpPr>
          <p:nvPr/>
        </p:nvSpPr>
        <p:spPr bwMode="auto">
          <a:xfrm>
            <a:off x="7753350" y="2268538"/>
            <a:ext cx="938213" cy="2270125"/>
          </a:xfrm>
          <a:custGeom>
            <a:avLst/>
            <a:gdLst>
              <a:gd name="T0" fmla="*/ 154 w 428"/>
              <a:gd name="T1" fmla="*/ 952 h 1035"/>
              <a:gd name="T2" fmla="*/ 154 w 428"/>
              <a:gd name="T3" fmla="*/ 1035 h 1035"/>
              <a:gd name="T4" fmla="*/ 428 w 428"/>
              <a:gd name="T5" fmla="*/ 1035 h 1035"/>
              <a:gd name="T6" fmla="*/ 428 w 428"/>
              <a:gd name="T7" fmla="*/ 0 h 1035"/>
              <a:gd name="T8" fmla="*/ 0 w 428"/>
              <a:gd name="T9" fmla="*/ 0 h 1035"/>
              <a:gd name="T10" fmla="*/ 0 w 428"/>
              <a:gd name="T11" fmla="*/ 81 h 1035"/>
            </a:gdLst>
            <a:ahLst/>
            <a:cxnLst>
              <a:cxn ang="0">
                <a:pos x="T0" y="T1"/>
              </a:cxn>
              <a:cxn ang="0">
                <a:pos x="T2" y="T3"/>
              </a:cxn>
              <a:cxn ang="0">
                <a:pos x="T4" y="T5"/>
              </a:cxn>
              <a:cxn ang="0">
                <a:pos x="T6" y="T7"/>
              </a:cxn>
              <a:cxn ang="0">
                <a:pos x="T8" y="T9"/>
              </a:cxn>
              <a:cxn ang="0">
                <a:pos x="T10" y="T11"/>
              </a:cxn>
            </a:cxnLst>
            <a:rect l="0" t="0" r="r" b="b"/>
            <a:pathLst>
              <a:path w="428" h="1035">
                <a:moveTo>
                  <a:pt x="154" y="952"/>
                </a:moveTo>
                <a:lnTo>
                  <a:pt x="154" y="1035"/>
                </a:lnTo>
                <a:lnTo>
                  <a:pt x="428" y="1035"/>
                </a:lnTo>
                <a:lnTo>
                  <a:pt x="428" y="0"/>
                </a:lnTo>
                <a:lnTo>
                  <a:pt x="0" y="0"/>
                </a:lnTo>
                <a:lnTo>
                  <a:pt x="0" y="81"/>
                </a:lnTo>
              </a:path>
            </a:pathLst>
          </a:custGeom>
          <a:noFill/>
          <a:ln w="2222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56" name="Freeform 412"/>
          <p:cNvSpPr>
            <a:spLocks/>
          </p:cNvSpPr>
          <p:nvPr/>
        </p:nvSpPr>
        <p:spPr bwMode="auto">
          <a:xfrm>
            <a:off x="6634163" y="4356100"/>
            <a:ext cx="768350" cy="182563"/>
          </a:xfrm>
          <a:custGeom>
            <a:avLst/>
            <a:gdLst>
              <a:gd name="T0" fmla="*/ 0 w 350"/>
              <a:gd name="T1" fmla="*/ 83 h 83"/>
              <a:gd name="T2" fmla="*/ 350 w 350"/>
              <a:gd name="T3" fmla="*/ 83 h 83"/>
              <a:gd name="T4" fmla="*/ 350 w 350"/>
              <a:gd name="T5" fmla="*/ 0 h 83"/>
            </a:gdLst>
            <a:ahLst/>
            <a:cxnLst>
              <a:cxn ang="0">
                <a:pos x="T0" y="T1"/>
              </a:cxn>
              <a:cxn ang="0">
                <a:pos x="T2" y="T3"/>
              </a:cxn>
              <a:cxn ang="0">
                <a:pos x="T4" y="T5"/>
              </a:cxn>
            </a:cxnLst>
            <a:rect l="0" t="0" r="r" b="b"/>
            <a:pathLst>
              <a:path w="350" h="83">
                <a:moveTo>
                  <a:pt x="0" y="83"/>
                </a:moveTo>
                <a:lnTo>
                  <a:pt x="350" y="83"/>
                </a:lnTo>
                <a:lnTo>
                  <a:pt x="35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57" name="Line 413"/>
          <p:cNvSpPr>
            <a:spLocks noChangeShapeType="1"/>
          </p:cNvSpPr>
          <p:nvPr/>
        </p:nvSpPr>
        <p:spPr bwMode="auto">
          <a:xfrm>
            <a:off x="7753350" y="3211513"/>
            <a:ext cx="1588" cy="239712"/>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58" name="Rectangle 414"/>
          <p:cNvSpPr>
            <a:spLocks noChangeArrowheads="1"/>
          </p:cNvSpPr>
          <p:nvPr/>
        </p:nvSpPr>
        <p:spPr bwMode="auto">
          <a:xfrm>
            <a:off x="6799263" y="1436688"/>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s</a:t>
            </a:r>
            <a:endParaRPr lang="en-US" altLang="en-US">
              <a:latin typeface="Arial" panose="020B0604020202020204" pitchFamily="34" charset="0"/>
            </a:endParaRPr>
          </a:p>
        </p:txBody>
      </p:sp>
      <p:sp>
        <p:nvSpPr>
          <p:cNvPr id="569759" name="Rectangle 415"/>
          <p:cNvSpPr>
            <a:spLocks noChangeArrowheads="1"/>
          </p:cNvSpPr>
          <p:nvPr/>
        </p:nvSpPr>
        <p:spPr bwMode="auto">
          <a:xfrm>
            <a:off x="6842125" y="18637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a:t>
            </a:r>
            <a:endParaRPr lang="en-US" altLang="en-US">
              <a:latin typeface="Arial" panose="020B0604020202020204" pitchFamily="34" charset="0"/>
            </a:endParaRPr>
          </a:p>
        </p:txBody>
      </p:sp>
      <p:sp>
        <p:nvSpPr>
          <p:cNvPr id="569760" name="Freeform 416"/>
          <p:cNvSpPr>
            <a:spLocks/>
          </p:cNvSpPr>
          <p:nvPr/>
        </p:nvSpPr>
        <p:spPr bwMode="auto">
          <a:xfrm>
            <a:off x="8494713" y="1884363"/>
            <a:ext cx="139700" cy="136525"/>
          </a:xfrm>
          <a:custGeom>
            <a:avLst/>
            <a:gdLst>
              <a:gd name="T0" fmla="*/ 64 w 64"/>
              <a:gd name="T1" fmla="*/ 0 h 62"/>
              <a:gd name="T2" fmla="*/ 0 w 64"/>
              <a:gd name="T3" fmla="*/ 62 h 62"/>
              <a:gd name="T4" fmla="*/ 64 w 64"/>
              <a:gd name="T5" fmla="*/ 0 h 62"/>
            </a:gdLst>
            <a:ahLst/>
            <a:cxnLst>
              <a:cxn ang="0">
                <a:pos x="T0" y="T1"/>
              </a:cxn>
              <a:cxn ang="0">
                <a:pos x="T2" y="T3"/>
              </a:cxn>
              <a:cxn ang="0">
                <a:pos x="T4" y="T5"/>
              </a:cxn>
            </a:cxnLst>
            <a:rect l="0" t="0" r="r" b="b"/>
            <a:pathLst>
              <a:path w="64" h="62">
                <a:moveTo>
                  <a:pt x="64" y="0"/>
                </a:moveTo>
                <a:lnTo>
                  <a:pt x="0" y="62"/>
                </a:lnTo>
                <a:lnTo>
                  <a:pt x="6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61" name="Line 417"/>
          <p:cNvSpPr>
            <a:spLocks noChangeShapeType="1"/>
          </p:cNvSpPr>
          <p:nvPr/>
        </p:nvSpPr>
        <p:spPr bwMode="auto">
          <a:xfrm flipH="1">
            <a:off x="8494713" y="1884363"/>
            <a:ext cx="139700" cy="13652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62" name="Rectangle 418"/>
          <p:cNvSpPr>
            <a:spLocks noChangeArrowheads="1"/>
          </p:cNvSpPr>
          <p:nvPr/>
        </p:nvSpPr>
        <p:spPr bwMode="auto">
          <a:xfrm>
            <a:off x="8651875" y="1863725"/>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a:t>
            </a:r>
            <a:endParaRPr lang="en-US" altLang="en-US">
              <a:latin typeface="Arial" panose="020B0604020202020204" pitchFamily="34" charset="0"/>
            </a:endParaRPr>
          </a:p>
        </p:txBody>
      </p:sp>
      <p:sp>
        <p:nvSpPr>
          <p:cNvPr id="569763" name="Rectangle 419"/>
          <p:cNvSpPr>
            <a:spLocks noChangeArrowheads="1"/>
          </p:cNvSpPr>
          <p:nvPr/>
        </p:nvSpPr>
        <p:spPr bwMode="auto">
          <a:xfrm>
            <a:off x="7816850" y="3233738"/>
            <a:ext cx="69850"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8</a:t>
            </a:r>
            <a:endParaRPr lang="en-US" altLang="en-US">
              <a:latin typeface="Arial" panose="020B0604020202020204" pitchFamily="34" charset="0"/>
            </a:endParaRPr>
          </a:p>
        </p:txBody>
      </p:sp>
      <p:sp>
        <p:nvSpPr>
          <p:cNvPr id="569764" name="Freeform 420"/>
          <p:cNvSpPr>
            <a:spLocks/>
          </p:cNvSpPr>
          <p:nvPr/>
        </p:nvSpPr>
        <p:spPr bwMode="auto">
          <a:xfrm>
            <a:off x="8620125" y="4321175"/>
            <a:ext cx="138113" cy="141288"/>
          </a:xfrm>
          <a:custGeom>
            <a:avLst/>
            <a:gdLst>
              <a:gd name="T0" fmla="*/ 63 w 63"/>
              <a:gd name="T1" fmla="*/ 0 h 64"/>
              <a:gd name="T2" fmla="*/ 0 w 63"/>
              <a:gd name="T3" fmla="*/ 64 h 64"/>
              <a:gd name="T4" fmla="*/ 63 w 63"/>
              <a:gd name="T5" fmla="*/ 0 h 64"/>
            </a:gdLst>
            <a:ahLst/>
            <a:cxnLst>
              <a:cxn ang="0">
                <a:pos x="T0" y="T1"/>
              </a:cxn>
              <a:cxn ang="0">
                <a:pos x="T2" y="T3"/>
              </a:cxn>
              <a:cxn ang="0">
                <a:pos x="T4" y="T5"/>
              </a:cxn>
            </a:cxnLst>
            <a:rect l="0" t="0" r="r" b="b"/>
            <a:pathLst>
              <a:path w="63" h="64">
                <a:moveTo>
                  <a:pt x="63" y="0"/>
                </a:moveTo>
                <a:lnTo>
                  <a:pt x="0" y="64"/>
                </a:lnTo>
                <a:lnTo>
                  <a:pt x="6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69765" name="Line 421"/>
          <p:cNvSpPr>
            <a:spLocks noChangeShapeType="1"/>
          </p:cNvSpPr>
          <p:nvPr/>
        </p:nvSpPr>
        <p:spPr bwMode="auto">
          <a:xfrm flipH="1">
            <a:off x="8620125" y="4321175"/>
            <a:ext cx="138113" cy="1412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66" name="Rectangle 422"/>
          <p:cNvSpPr>
            <a:spLocks noChangeArrowheads="1"/>
          </p:cNvSpPr>
          <p:nvPr/>
        </p:nvSpPr>
        <p:spPr bwMode="auto">
          <a:xfrm>
            <a:off x="8772525" y="4303713"/>
            <a:ext cx="71438"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8</a:t>
            </a:r>
            <a:endParaRPr lang="en-US" altLang="en-US">
              <a:latin typeface="Arial" panose="020B0604020202020204" pitchFamily="34" charset="0"/>
            </a:endParaRPr>
          </a:p>
        </p:txBody>
      </p:sp>
      <p:sp>
        <p:nvSpPr>
          <p:cNvPr id="569767" name="Rectangle 423"/>
          <p:cNvSpPr>
            <a:spLocks noChangeArrowheads="1"/>
          </p:cNvSpPr>
          <p:nvPr/>
        </p:nvSpPr>
        <p:spPr bwMode="auto">
          <a:xfrm>
            <a:off x="8604250" y="1436688"/>
            <a:ext cx="8255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a:t>
            </a:r>
            <a:endParaRPr lang="en-US" altLang="en-US">
              <a:latin typeface="Arial" panose="020B0604020202020204" pitchFamily="34" charset="0"/>
            </a:endParaRPr>
          </a:p>
        </p:txBody>
      </p:sp>
      <p:sp>
        <p:nvSpPr>
          <p:cNvPr id="569768" name="Rectangle 424"/>
          <p:cNvSpPr>
            <a:spLocks noChangeArrowheads="1"/>
          </p:cNvSpPr>
          <p:nvPr/>
        </p:nvSpPr>
        <p:spPr bwMode="auto">
          <a:xfrm>
            <a:off x="7135813" y="2579688"/>
            <a:ext cx="100012" cy="15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ld</a:t>
            </a:r>
            <a:endParaRPr lang="en-US" altLang="en-US">
              <a:latin typeface="Arial" panose="020B0604020202020204" pitchFamily="34" charset="0"/>
            </a:endParaRPr>
          </a:p>
        </p:txBody>
      </p:sp>
      <p:sp>
        <p:nvSpPr>
          <p:cNvPr id="569769" name="Rectangle 425"/>
          <p:cNvSpPr>
            <a:spLocks noChangeArrowheads="1"/>
          </p:cNvSpPr>
          <p:nvPr/>
        </p:nvSpPr>
        <p:spPr bwMode="auto">
          <a:xfrm>
            <a:off x="7135813" y="2963863"/>
            <a:ext cx="134937"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clr</a:t>
            </a:r>
            <a:endParaRPr lang="en-US" altLang="en-US">
              <a:latin typeface="Arial" panose="020B0604020202020204" pitchFamily="34" charset="0"/>
            </a:endParaRPr>
          </a:p>
        </p:txBody>
      </p:sp>
      <p:sp>
        <p:nvSpPr>
          <p:cNvPr id="569770" name="Rectangle 426"/>
          <p:cNvSpPr>
            <a:spLocks noChangeArrowheads="1"/>
          </p:cNvSpPr>
          <p:nvPr/>
        </p:nvSpPr>
        <p:spPr bwMode="auto">
          <a:xfrm>
            <a:off x="7654925" y="2770188"/>
            <a:ext cx="169863"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tot</a:t>
            </a:r>
            <a:endParaRPr lang="en-US" altLang="en-US">
              <a:latin typeface="Arial" panose="020B0604020202020204" pitchFamily="34" charset="0"/>
            </a:endParaRPr>
          </a:p>
        </p:txBody>
      </p:sp>
      <p:sp>
        <p:nvSpPr>
          <p:cNvPr id="569771" name="Rectangle 427"/>
          <p:cNvSpPr>
            <a:spLocks noChangeArrowheads="1"/>
          </p:cNvSpPr>
          <p:nvPr/>
        </p:nvSpPr>
        <p:spPr bwMode="auto">
          <a:xfrm>
            <a:off x="6611938" y="4635500"/>
            <a:ext cx="6159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Datapath</a:t>
            </a:r>
            <a:endParaRPr lang="en-US" altLang="en-US">
              <a:latin typeface="Arial" panose="020B0604020202020204" pitchFamily="34" charset="0"/>
            </a:endParaRPr>
          </a:p>
        </p:txBody>
      </p:sp>
      <p:sp>
        <p:nvSpPr>
          <p:cNvPr id="569772" name="Rectangle 428"/>
          <p:cNvSpPr>
            <a:spLocks noChangeArrowheads="1"/>
          </p:cNvSpPr>
          <p:nvPr/>
        </p:nvSpPr>
        <p:spPr bwMode="auto">
          <a:xfrm>
            <a:off x="7242175" y="3937000"/>
            <a:ext cx="295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8-bit</a:t>
            </a:r>
            <a:endParaRPr lang="en-US" altLang="en-US">
              <a:latin typeface="Arial" panose="020B0604020202020204" pitchFamily="34" charset="0"/>
            </a:endParaRPr>
          </a:p>
        </p:txBody>
      </p:sp>
      <p:sp>
        <p:nvSpPr>
          <p:cNvPr id="569773" name="Rectangle 429"/>
          <p:cNvSpPr>
            <a:spLocks noChangeArrowheads="1"/>
          </p:cNvSpPr>
          <p:nvPr/>
        </p:nvSpPr>
        <p:spPr bwMode="auto">
          <a:xfrm>
            <a:off x="7353300" y="4124325"/>
            <a:ext cx="873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&lt;</a:t>
            </a:r>
            <a:endParaRPr lang="en-US" altLang="en-US">
              <a:latin typeface="Arial" panose="020B0604020202020204" pitchFamily="34" charset="0"/>
            </a:endParaRPr>
          </a:p>
        </p:txBody>
      </p:sp>
      <p:sp>
        <p:nvSpPr>
          <p:cNvPr id="569774" name="Rectangle 430"/>
          <p:cNvSpPr>
            <a:spLocks noChangeArrowheads="1"/>
          </p:cNvSpPr>
          <p:nvPr/>
        </p:nvSpPr>
        <p:spPr bwMode="auto">
          <a:xfrm>
            <a:off x="7954963" y="3937000"/>
            <a:ext cx="295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8-bit</a:t>
            </a:r>
            <a:endParaRPr lang="en-US" altLang="en-US">
              <a:latin typeface="Arial" panose="020B0604020202020204" pitchFamily="34" charset="0"/>
            </a:endParaRPr>
          </a:p>
        </p:txBody>
      </p:sp>
      <p:sp>
        <p:nvSpPr>
          <p:cNvPr id="569775" name="Rectangle 431"/>
          <p:cNvSpPr>
            <a:spLocks noChangeArrowheads="1"/>
          </p:cNvSpPr>
          <p:nvPr/>
        </p:nvSpPr>
        <p:spPr bwMode="auto">
          <a:xfrm>
            <a:off x="7915275" y="4124325"/>
            <a:ext cx="3889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adder</a:t>
            </a:r>
            <a:endParaRPr lang="en-US" altLang="en-US">
              <a:latin typeface="Arial" panose="020B0604020202020204" pitchFamily="34" charset="0"/>
            </a:endParaRPr>
          </a:p>
        </p:txBody>
      </p:sp>
      <p:sp>
        <p:nvSpPr>
          <p:cNvPr id="569776" name="Freeform 432"/>
          <p:cNvSpPr>
            <a:spLocks/>
          </p:cNvSpPr>
          <p:nvPr/>
        </p:nvSpPr>
        <p:spPr bwMode="auto">
          <a:xfrm>
            <a:off x="4576763" y="2097088"/>
            <a:ext cx="409575" cy="357187"/>
          </a:xfrm>
          <a:custGeom>
            <a:avLst/>
            <a:gdLst>
              <a:gd name="T0" fmla="*/ 0 w 79"/>
              <a:gd name="T1" fmla="*/ 69 h 69"/>
              <a:gd name="T2" fmla="*/ 44 w 79"/>
              <a:gd name="T3" fmla="*/ 69 h 69"/>
              <a:gd name="T4" fmla="*/ 79 w 79"/>
              <a:gd name="T5" fmla="*/ 34 h 69"/>
              <a:gd name="T6" fmla="*/ 44 w 79"/>
              <a:gd name="T7" fmla="*/ 0 h 69"/>
              <a:gd name="T8" fmla="*/ 0 w 79"/>
              <a:gd name="T9" fmla="*/ 0 h 69"/>
              <a:gd name="T10" fmla="*/ 0 w 79"/>
              <a:gd name="T11" fmla="*/ 69 h 69"/>
            </a:gdLst>
            <a:ahLst/>
            <a:cxnLst>
              <a:cxn ang="0">
                <a:pos x="T0" y="T1"/>
              </a:cxn>
              <a:cxn ang="0">
                <a:pos x="T2" y="T3"/>
              </a:cxn>
              <a:cxn ang="0">
                <a:pos x="T4" y="T5"/>
              </a:cxn>
              <a:cxn ang="0">
                <a:pos x="T6" y="T7"/>
              </a:cxn>
              <a:cxn ang="0">
                <a:pos x="T8" y="T9"/>
              </a:cxn>
              <a:cxn ang="0">
                <a:pos x="T10" y="T11"/>
              </a:cxn>
            </a:cxnLst>
            <a:rect l="0" t="0" r="r" b="b"/>
            <a:pathLst>
              <a:path w="79" h="69">
                <a:moveTo>
                  <a:pt x="0" y="69"/>
                </a:moveTo>
                <a:cubicBezTo>
                  <a:pt x="44" y="69"/>
                  <a:pt x="44" y="69"/>
                  <a:pt x="44" y="69"/>
                </a:cubicBezTo>
                <a:cubicBezTo>
                  <a:pt x="63" y="69"/>
                  <a:pt x="79" y="53"/>
                  <a:pt x="79" y="34"/>
                </a:cubicBezTo>
                <a:cubicBezTo>
                  <a:pt x="79" y="15"/>
                  <a:pt x="63" y="0"/>
                  <a:pt x="44" y="0"/>
                </a:cubicBezTo>
                <a:cubicBezTo>
                  <a:pt x="0" y="0"/>
                  <a:pt x="0" y="0"/>
                  <a:pt x="0" y="0"/>
                </a:cubicBezTo>
                <a:lnTo>
                  <a:pt x="0" y="69"/>
                </a:lnTo>
                <a:close/>
              </a:path>
            </a:pathLst>
          </a:custGeom>
          <a:solidFill>
            <a:srgbClr val="FFFFFF"/>
          </a:solidFill>
          <a:ln w="11113" cap="flat">
            <a:solidFill>
              <a:srgbClr val="0078C1"/>
            </a:solidFill>
            <a:prstDash val="solid"/>
            <a:miter lim="800000"/>
            <a:headEnd/>
            <a:tailEnd/>
          </a:ln>
        </p:spPr>
        <p:txBody>
          <a:bodyPr/>
          <a:lstStyle/>
          <a:p>
            <a:endParaRPr lang="en-US"/>
          </a:p>
        </p:txBody>
      </p:sp>
      <p:sp>
        <p:nvSpPr>
          <p:cNvPr id="569777" name="Freeform 433"/>
          <p:cNvSpPr>
            <a:spLocks/>
          </p:cNvSpPr>
          <p:nvPr/>
        </p:nvSpPr>
        <p:spPr bwMode="auto">
          <a:xfrm>
            <a:off x="4576763" y="2879725"/>
            <a:ext cx="409575" cy="358775"/>
          </a:xfrm>
          <a:custGeom>
            <a:avLst/>
            <a:gdLst>
              <a:gd name="T0" fmla="*/ 0 w 79"/>
              <a:gd name="T1" fmla="*/ 69 h 69"/>
              <a:gd name="T2" fmla="*/ 44 w 79"/>
              <a:gd name="T3" fmla="*/ 69 h 69"/>
              <a:gd name="T4" fmla="*/ 79 w 79"/>
              <a:gd name="T5" fmla="*/ 34 h 69"/>
              <a:gd name="T6" fmla="*/ 44 w 79"/>
              <a:gd name="T7" fmla="*/ 0 h 69"/>
              <a:gd name="T8" fmla="*/ 0 w 79"/>
              <a:gd name="T9" fmla="*/ 0 h 69"/>
              <a:gd name="T10" fmla="*/ 0 w 79"/>
              <a:gd name="T11" fmla="*/ 69 h 69"/>
            </a:gdLst>
            <a:ahLst/>
            <a:cxnLst>
              <a:cxn ang="0">
                <a:pos x="T0" y="T1"/>
              </a:cxn>
              <a:cxn ang="0">
                <a:pos x="T2" y="T3"/>
              </a:cxn>
              <a:cxn ang="0">
                <a:pos x="T4" y="T5"/>
              </a:cxn>
              <a:cxn ang="0">
                <a:pos x="T6" y="T7"/>
              </a:cxn>
              <a:cxn ang="0">
                <a:pos x="T8" y="T9"/>
              </a:cxn>
              <a:cxn ang="0">
                <a:pos x="T10" y="T11"/>
              </a:cxn>
            </a:cxnLst>
            <a:rect l="0" t="0" r="r" b="b"/>
            <a:pathLst>
              <a:path w="79" h="69">
                <a:moveTo>
                  <a:pt x="0" y="69"/>
                </a:moveTo>
                <a:cubicBezTo>
                  <a:pt x="44" y="69"/>
                  <a:pt x="44" y="69"/>
                  <a:pt x="44" y="69"/>
                </a:cubicBezTo>
                <a:cubicBezTo>
                  <a:pt x="63" y="69"/>
                  <a:pt x="79" y="53"/>
                  <a:pt x="79" y="34"/>
                </a:cubicBezTo>
                <a:cubicBezTo>
                  <a:pt x="79" y="15"/>
                  <a:pt x="63" y="0"/>
                  <a:pt x="44" y="0"/>
                </a:cubicBezTo>
                <a:cubicBezTo>
                  <a:pt x="0" y="0"/>
                  <a:pt x="0" y="0"/>
                  <a:pt x="0" y="0"/>
                </a:cubicBezTo>
                <a:lnTo>
                  <a:pt x="0" y="69"/>
                </a:lnTo>
                <a:close/>
              </a:path>
            </a:pathLst>
          </a:custGeom>
          <a:solidFill>
            <a:srgbClr val="FFFFFF"/>
          </a:solidFill>
          <a:ln w="11113" cap="flat">
            <a:solidFill>
              <a:srgbClr val="0078C1"/>
            </a:solidFill>
            <a:prstDash val="solid"/>
            <a:miter lim="800000"/>
            <a:headEnd/>
            <a:tailEnd/>
          </a:ln>
        </p:spPr>
        <p:txBody>
          <a:bodyPr/>
          <a:lstStyle/>
          <a:p>
            <a:endParaRPr lang="en-US"/>
          </a:p>
        </p:txBody>
      </p:sp>
      <p:sp>
        <p:nvSpPr>
          <p:cNvPr id="569778" name="Freeform 434"/>
          <p:cNvSpPr>
            <a:spLocks/>
          </p:cNvSpPr>
          <p:nvPr/>
        </p:nvSpPr>
        <p:spPr bwMode="auto">
          <a:xfrm>
            <a:off x="4576763" y="3668713"/>
            <a:ext cx="409575" cy="357187"/>
          </a:xfrm>
          <a:custGeom>
            <a:avLst/>
            <a:gdLst>
              <a:gd name="T0" fmla="*/ 0 w 79"/>
              <a:gd name="T1" fmla="*/ 69 h 69"/>
              <a:gd name="T2" fmla="*/ 44 w 79"/>
              <a:gd name="T3" fmla="*/ 69 h 69"/>
              <a:gd name="T4" fmla="*/ 79 w 79"/>
              <a:gd name="T5" fmla="*/ 34 h 69"/>
              <a:gd name="T6" fmla="*/ 44 w 79"/>
              <a:gd name="T7" fmla="*/ 0 h 69"/>
              <a:gd name="T8" fmla="*/ 0 w 79"/>
              <a:gd name="T9" fmla="*/ 0 h 69"/>
              <a:gd name="T10" fmla="*/ 0 w 79"/>
              <a:gd name="T11" fmla="*/ 69 h 69"/>
            </a:gdLst>
            <a:ahLst/>
            <a:cxnLst>
              <a:cxn ang="0">
                <a:pos x="T0" y="T1"/>
              </a:cxn>
              <a:cxn ang="0">
                <a:pos x="T2" y="T3"/>
              </a:cxn>
              <a:cxn ang="0">
                <a:pos x="T4" y="T5"/>
              </a:cxn>
              <a:cxn ang="0">
                <a:pos x="T6" y="T7"/>
              </a:cxn>
              <a:cxn ang="0">
                <a:pos x="T8" y="T9"/>
              </a:cxn>
              <a:cxn ang="0">
                <a:pos x="T10" y="T11"/>
              </a:cxn>
            </a:cxnLst>
            <a:rect l="0" t="0" r="r" b="b"/>
            <a:pathLst>
              <a:path w="79" h="69">
                <a:moveTo>
                  <a:pt x="0" y="69"/>
                </a:moveTo>
                <a:cubicBezTo>
                  <a:pt x="44" y="69"/>
                  <a:pt x="44" y="69"/>
                  <a:pt x="44" y="69"/>
                </a:cubicBezTo>
                <a:cubicBezTo>
                  <a:pt x="63" y="69"/>
                  <a:pt x="79" y="53"/>
                  <a:pt x="79" y="34"/>
                </a:cubicBezTo>
                <a:cubicBezTo>
                  <a:pt x="79" y="15"/>
                  <a:pt x="63" y="0"/>
                  <a:pt x="44" y="0"/>
                </a:cubicBezTo>
                <a:cubicBezTo>
                  <a:pt x="0" y="0"/>
                  <a:pt x="0" y="0"/>
                  <a:pt x="0" y="0"/>
                </a:cubicBezTo>
                <a:lnTo>
                  <a:pt x="0" y="69"/>
                </a:lnTo>
                <a:close/>
              </a:path>
            </a:pathLst>
          </a:custGeom>
          <a:solidFill>
            <a:srgbClr val="FFFFFF"/>
          </a:solidFill>
          <a:ln w="11113" cap="flat">
            <a:solidFill>
              <a:srgbClr val="0078C1"/>
            </a:solidFill>
            <a:prstDash val="solid"/>
            <a:miter lim="800000"/>
            <a:headEnd/>
            <a:tailEnd/>
          </a:ln>
        </p:spPr>
        <p:txBody>
          <a:bodyPr/>
          <a:lstStyle/>
          <a:p>
            <a:endParaRPr lang="en-US"/>
          </a:p>
        </p:txBody>
      </p:sp>
      <p:sp>
        <p:nvSpPr>
          <p:cNvPr id="569779" name="Freeform 435"/>
          <p:cNvSpPr>
            <a:spLocks/>
          </p:cNvSpPr>
          <p:nvPr/>
        </p:nvSpPr>
        <p:spPr bwMode="auto">
          <a:xfrm>
            <a:off x="4576763" y="4279900"/>
            <a:ext cx="409575" cy="357188"/>
          </a:xfrm>
          <a:custGeom>
            <a:avLst/>
            <a:gdLst>
              <a:gd name="T0" fmla="*/ 0 w 79"/>
              <a:gd name="T1" fmla="*/ 69 h 69"/>
              <a:gd name="T2" fmla="*/ 44 w 79"/>
              <a:gd name="T3" fmla="*/ 69 h 69"/>
              <a:gd name="T4" fmla="*/ 79 w 79"/>
              <a:gd name="T5" fmla="*/ 34 h 69"/>
              <a:gd name="T6" fmla="*/ 44 w 79"/>
              <a:gd name="T7" fmla="*/ 0 h 69"/>
              <a:gd name="T8" fmla="*/ 0 w 79"/>
              <a:gd name="T9" fmla="*/ 0 h 69"/>
              <a:gd name="T10" fmla="*/ 0 w 79"/>
              <a:gd name="T11" fmla="*/ 69 h 69"/>
            </a:gdLst>
            <a:ahLst/>
            <a:cxnLst>
              <a:cxn ang="0">
                <a:pos x="T0" y="T1"/>
              </a:cxn>
              <a:cxn ang="0">
                <a:pos x="T2" y="T3"/>
              </a:cxn>
              <a:cxn ang="0">
                <a:pos x="T4" y="T5"/>
              </a:cxn>
              <a:cxn ang="0">
                <a:pos x="T6" y="T7"/>
              </a:cxn>
              <a:cxn ang="0">
                <a:pos x="T8" y="T9"/>
              </a:cxn>
              <a:cxn ang="0">
                <a:pos x="T10" y="T11"/>
              </a:cxn>
            </a:cxnLst>
            <a:rect l="0" t="0" r="r" b="b"/>
            <a:pathLst>
              <a:path w="79" h="69">
                <a:moveTo>
                  <a:pt x="0" y="69"/>
                </a:moveTo>
                <a:cubicBezTo>
                  <a:pt x="44" y="69"/>
                  <a:pt x="44" y="69"/>
                  <a:pt x="44" y="69"/>
                </a:cubicBezTo>
                <a:cubicBezTo>
                  <a:pt x="63" y="69"/>
                  <a:pt x="79" y="53"/>
                  <a:pt x="79" y="34"/>
                </a:cubicBezTo>
                <a:cubicBezTo>
                  <a:pt x="79" y="15"/>
                  <a:pt x="63" y="0"/>
                  <a:pt x="44" y="0"/>
                </a:cubicBezTo>
                <a:cubicBezTo>
                  <a:pt x="0" y="0"/>
                  <a:pt x="0" y="0"/>
                  <a:pt x="0" y="0"/>
                </a:cubicBezTo>
                <a:lnTo>
                  <a:pt x="0" y="69"/>
                </a:lnTo>
                <a:close/>
              </a:path>
            </a:pathLst>
          </a:custGeom>
          <a:solidFill>
            <a:srgbClr val="FFFFFF"/>
          </a:solidFill>
          <a:ln w="11113" cap="flat">
            <a:solidFill>
              <a:srgbClr val="0078C1"/>
            </a:solidFill>
            <a:prstDash val="solid"/>
            <a:miter lim="800000"/>
            <a:headEnd/>
            <a:tailEnd/>
          </a:ln>
        </p:spPr>
        <p:txBody>
          <a:bodyPr/>
          <a:lstStyle/>
          <a:p>
            <a:endParaRPr lang="en-US"/>
          </a:p>
        </p:txBody>
      </p:sp>
      <p:sp>
        <p:nvSpPr>
          <p:cNvPr id="569780" name="Freeform 436"/>
          <p:cNvSpPr>
            <a:spLocks/>
          </p:cNvSpPr>
          <p:nvPr/>
        </p:nvSpPr>
        <p:spPr bwMode="auto">
          <a:xfrm>
            <a:off x="4576763" y="2492375"/>
            <a:ext cx="409575" cy="357188"/>
          </a:xfrm>
          <a:custGeom>
            <a:avLst/>
            <a:gdLst>
              <a:gd name="T0" fmla="*/ 0 w 79"/>
              <a:gd name="T1" fmla="*/ 69 h 69"/>
              <a:gd name="T2" fmla="*/ 44 w 79"/>
              <a:gd name="T3" fmla="*/ 69 h 69"/>
              <a:gd name="T4" fmla="*/ 79 w 79"/>
              <a:gd name="T5" fmla="*/ 34 h 69"/>
              <a:gd name="T6" fmla="*/ 44 w 79"/>
              <a:gd name="T7" fmla="*/ 0 h 69"/>
              <a:gd name="T8" fmla="*/ 0 w 79"/>
              <a:gd name="T9" fmla="*/ 0 h 69"/>
              <a:gd name="T10" fmla="*/ 0 w 79"/>
              <a:gd name="T11" fmla="*/ 69 h 69"/>
            </a:gdLst>
            <a:ahLst/>
            <a:cxnLst>
              <a:cxn ang="0">
                <a:pos x="T0" y="T1"/>
              </a:cxn>
              <a:cxn ang="0">
                <a:pos x="T2" y="T3"/>
              </a:cxn>
              <a:cxn ang="0">
                <a:pos x="T4" y="T5"/>
              </a:cxn>
              <a:cxn ang="0">
                <a:pos x="T6" y="T7"/>
              </a:cxn>
              <a:cxn ang="0">
                <a:pos x="T8" y="T9"/>
              </a:cxn>
              <a:cxn ang="0">
                <a:pos x="T10" y="T11"/>
              </a:cxn>
            </a:cxnLst>
            <a:rect l="0" t="0" r="r" b="b"/>
            <a:pathLst>
              <a:path w="79" h="69">
                <a:moveTo>
                  <a:pt x="0" y="69"/>
                </a:moveTo>
                <a:cubicBezTo>
                  <a:pt x="44" y="69"/>
                  <a:pt x="44" y="69"/>
                  <a:pt x="44" y="69"/>
                </a:cubicBezTo>
                <a:cubicBezTo>
                  <a:pt x="63" y="69"/>
                  <a:pt x="79" y="53"/>
                  <a:pt x="79" y="34"/>
                </a:cubicBezTo>
                <a:cubicBezTo>
                  <a:pt x="79" y="15"/>
                  <a:pt x="63" y="0"/>
                  <a:pt x="44" y="0"/>
                </a:cubicBezTo>
                <a:cubicBezTo>
                  <a:pt x="0" y="0"/>
                  <a:pt x="0" y="0"/>
                  <a:pt x="0" y="0"/>
                </a:cubicBezTo>
                <a:lnTo>
                  <a:pt x="0" y="69"/>
                </a:lnTo>
                <a:close/>
              </a:path>
            </a:pathLst>
          </a:custGeom>
          <a:solidFill>
            <a:srgbClr val="FFFFFF"/>
          </a:solidFill>
          <a:ln w="11113" cap="flat">
            <a:solidFill>
              <a:srgbClr val="0078C1"/>
            </a:solidFill>
            <a:prstDash val="solid"/>
            <a:miter lim="800000"/>
            <a:headEnd/>
            <a:tailEnd/>
          </a:ln>
        </p:spPr>
        <p:txBody>
          <a:bodyPr/>
          <a:lstStyle/>
          <a:p>
            <a:endParaRPr lang="en-US"/>
          </a:p>
        </p:txBody>
      </p:sp>
      <p:sp>
        <p:nvSpPr>
          <p:cNvPr id="569781" name="Freeform 437"/>
          <p:cNvSpPr>
            <a:spLocks/>
          </p:cNvSpPr>
          <p:nvPr/>
        </p:nvSpPr>
        <p:spPr bwMode="auto">
          <a:xfrm>
            <a:off x="4576763" y="3275013"/>
            <a:ext cx="409575" cy="357187"/>
          </a:xfrm>
          <a:custGeom>
            <a:avLst/>
            <a:gdLst>
              <a:gd name="T0" fmla="*/ 0 w 79"/>
              <a:gd name="T1" fmla="*/ 69 h 69"/>
              <a:gd name="T2" fmla="*/ 44 w 79"/>
              <a:gd name="T3" fmla="*/ 69 h 69"/>
              <a:gd name="T4" fmla="*/ 79 w 79"/>
              <a:gd name="T5" fmla="*/ 34 h 69"/>
              <a:gd name="T6" fmla="*/ 44 w 79"/>
              <a:gd name="T7" fmla="*/ 0 h 69"/>
              <a:gd name="T8" fmla="*/ 0 w 79"/>
              <a:gd name="T9" fmla="*/ 0 h 69"/>
              <a:gd name="T10" fmla="*/ 0 w 79"/>
              <a:gd name="T11" fmla="*/ 69 h 69"/>
            </a:gdLst>
            <a:ahLst/>
            <a:cxnLst>
              <a:cxn ang="0">
                <a:pos x="T0" y="T1"/>
              </a:cxn>
              <a:cxn ang="0">
                <a:pos x="T2" y="T3"/>
              </a:cxn>
              <a:cxn ang="0">
                <a:pos x="T4" y="T5"/>
              </a:cxn>
              <a:cxn ang="0">
                <a:pos x="T6" y="T7"/>
              </a:cxn>
              <a:cxn ang="0">
                <a:pos x="T8" y="T9"/>
              </a:cxn>
              <a:cxn ang="0">
                <a:pos x="T10" y="T11"/>
              </a:cxn>
            </a:cxnLst>
            <a:rect l="0" t="0" r="r" b="b"/>
            <a:pathLst>
              <a:path w="79" h="69">
                <a:moveTo>
                  <a:pt x="0" y="69"/>
                </a:moveTo>
                <a:cubicBezTo>
                  <a:pt x="44" y="69"/>
                  <a:pt x="44" y="69"/>
                  <a:pt x="44" y="69"/>
                </a:cubicBezTo>
                <a:cubicBezTo>
                  <a:pt x="63" y="69"/>
                  <a:pt x="79" y="53"/>
                  <a:pt x="79" y="34"/>
                </a:cubicBezTo>
                <a:cubicBezTo>
                  <a:pt x="79" y="15"/>
                  <a:pt x="63" y="0"/>
                  <a:pt x="44" y="0"/>
                </a:cubicBezTo>
                <a:cubicBezTo>
                  <a:pt x="0" y="0"/>
                  <a:pt x="0" y="0"/>
                  <a:pt x="0" y="0"/>
                </a:cubicBezTo>
                <a:lnTo>
                  <a:pt x="0" y="69"/>
                </a:lnTo>
                <a:close/>
              </a:path>
            </a:pathLst>
          </a:custGeom>
          <a:solidFill>
            <a:srgbClr val="FFFFFF"/>
          </a:solidFill>
          <a:ln w="11113" cap="flat">
            <a:solidFill>
              <a:srgbClr val="0078C1"/>
            </a:solidFill>
            <a:prstDash val="solid"/>
            <a:miter lim="800000"/>
            <a:headEnd/>
            <a:tailEnd/>
          </a:ln>
        </p:spPr>
        <p:txBody>
          <a:bodyPr/>
          <a:lstStyle/>
          <a:p>
            <a:endParaRPr lang="en-US"/>
          </a:p>
        </p:txBody>
      </p:sp>
      <p:sp>
        <p:nvSpPr>
          <p:cNvPr id="569782" name="Freeform 438"/>
          <p:cNvSpPr>
            <a:spLocks/>
          </p:cNvSpPr>
          <p:nvPr/>
        </p:nvSpPr>
        <p:spPr bwMode="auto">
          <a:xfrm>
            <a:off x="5116513" y="3465513"/>
            <a:ext cx="357187" cy="354012"/>
          </a:xfrm>
          <a:custGeom>
            <a:avLst/>
            <a:gdLst>
              <a:gd name="T0" fmla="*/ 69 w 69"/>
              <a:gd name="T1" fmla="*/ 34 h 68"/>
              <a:gd name="T2" fmla="*/ 0 w 69"/>
              <a:gd name="T3" fmla="*/ 68 h 68"/>
              <a:gd name="T4" fmla="*/ 11 w 69"/>
              <a:gd name="T5" fmla="*/ 35 h 68"/>
              <a:gd name="T6" fmla="*/ 11 w 69"/>
              <a:gd name="T7" fmla="*/ 34 h 68"/>
              <a:gd name="T8" fmla="*/ 0 w 69"/>
              <a:gd name="T9" fmla="*/ 0 h 68"/>
              <a:gd name="T10" fmla="*/ 69 w 69"/>
              <a:gd name="T11" fmla="*/ 34 h 68"/>
            </a:gdLst>
            <a:ahLst/>
            <a:cxnLst>
              <a:cxn ang="0">
                <a:pos x="T0" y="T1"/>
              </a:cxn>
              <a:cxn ang="0">
                <a:pos x="T2" y="T3"/>
              </a:cxn>
              <a:cxn ang="0">
                <a:pos x="T4" y="T5"/>
              </a:cxn>
              <a:cxn ang="0">
                <a:pos x="T6" y="T7"/>
              </a:cxn>
              <a:cxn ang="0">
                <a:pos x="T8" y="T9"/>
              </a:cxn>
              <a:cxn ang="0">
                <a:pos x="T10" y="T11"/>
              </a:cxn>
            </a:cxnLst>
            <a:rect l="0" t="0" r="r" b="b"/>
            <a:pathLst>
              <a:path w="69" h="68">
                <a:moveTo>
                  <a:pt x="69" y="34"/>
                </a:moveTo>
                <a:cubicBezTo>
                  <a:pt x="69" y="34"/>
                  <a:pt x="53" y="68"/>
                  <a:pt x="0" y="68"/>
                </a:cubicBezTo>
                <a:cubicBezTo>
                  <a:pt x="0" y="68"/>
                  <a:pt x="11" y="65"/>
                  <a:pt x="11" y="35"/>
                </a:cubicBezTo>
                <a:cubicBezTo>
                  <a:pt x="11" y="34"/>
                  <a:pt x="11" y="34"/>
                  <a:pt x="11" y="34"/>
                </a:cubicBezTo>
                <a:cubicBezTo>
                  <a:pt x="11" y="4"/>
                  <a:pt x="0" y="0"/>
                  <a:pt x="0" y="0"/>
                </a:cubicBezTo>
                <a:cubicBezTo>
                  <a:pt x="53" y="0"/>
                  <a:pt x="69" y="34"/>
                  <a:pt x="69" y="34"/>
                </a:cubicBezTo>
                <a:close/>
              </a:path>
            </a:pathLst>
          </a:custGeom>
          <a:solidFill>
            <a:srgbClr val="FFFFFF"/>
          </a:solidFill>
          <a:ln w="11113" cap="flat">
            <a:solidFill>
              <a:srgbClr val="0078C1"/>
            </a:solidFill>
            <a:prstDash val="solid"/>
            <a:miter lim="800000"/>
            <a:headEnd/>
            <a:tailEnd/>
          </a:ln>
        </p:spPr>
        <p:txBody>
          <a:bodyPr/>
          <a:lstStyle/>
          <a:p>
            <a:endParaRPr lang="en-US"/>
          </a:p>
        </p:txBody>
      </p:sp>
      <p:sp>
        <p:nvSpPr>
          <p:cNvPr id="569783" name="Freeform 439"/>
          <p:cNvSpPr>
            <a:spLocks/>
          </p:cNvSpPr>
          <p:nvPr/>
        </p:nvSpPr>
        <p:spPr bwMode="auto">
          <a:xfrm>
            <a:off x="5116513" y="4056063"/>
            <a:ext cx="357187" cy="357187"/>
          </a:xfrm>
          <a:custGeom>
            <a:avLst/>
            <a:gdLst>
              <a:gd name="T0" fmla="*/ 69 w 69"/>
              <a:gd name="T1" fmla="*/ 35 h 69"/>
              <a:gd name="T2" fmla="*/ 0 w 69"/>
              <a:gd name="T3" fmla="*/ 69 h 69"/>
              <a:gd name="T4" fmla="*/ 11 w 69"/>
              <a:gd name="T5" fmla="*/ 35 h 69"/>
              <a:gd name="T6" fmla="*/ 11 w 69"/>
              <a:gd name="T7" fmla="*/ 34 h 69"/>
              <a:gd name="T8" fmla="*/ 0 w 69"/>
              <a:gd name="T9" fmla="*/ 0 h 69"/>
              <a:gd name="T10" fmla="*/ 69 w 69"/>
              <a:gd name="T11" fmla="*/ 35 h 69"/>
            </a:gdLst>
            <a:ahLst/>
            <a:cxnLst>
              <a:cxn ang="0">
                <a:pos x="T0" y="T1"/>
              </a:cxn>
              <a:cxn ang="0">
                <a:pos x="T2" y="T3"/>
              </a:cxn>
              <a:cxn ang="0">
                <a:pos x="T4" y="T5"/>
              </a:cxn>
              <a:cxn ang="0">
                <a:pos x="T6" y="T7"/>
              </a:cxn>
              <a:cxn ang="0">
                <a:pos x="T8" y="T9"/>
              </a:cxn>
              <a:cxn ang="0">
                <a:pos x="T10" y="T11"/>
              </a:cxn>
            </a:cxnLst>
            <a:rect l="0" t="0" r="r" b="b"/>
            <a:pathLst>
              <a:path w="69" h="69">
                <a:moveTo>
                  <a:pt x="69" y="35"/>
                </a:moveTo>
                <a:cubicBezTo>
                  <a:pt x="69" y="35"/>
                  <a:pt x="53" y="69"/>
                  <a:pt x="0" y="69"/>
                </a:cubicBezTo>
                <a:cubicBezTo>
                  <a:pt x="0" y="69"/>
                  <a:pt x="11" y="65"/>
                  <a:pt x="11" y="35"/>
                </a:cubicBezTo>
                <a:cubicBezTo>
                  <a:pt x="11" y="34"/>
                  <a:pt x="11" y="34"/>
                  <a:pt x="11" y="34"/>
                </a:cubicBezTo>
                <a:cubicBezTo>
                  <a:pt x="11" y="4"/>
                  <a:pt x="0" y="0"/>
                  <a:pt x="0" y="0"/>
                </a:cubicBezTo>
                <a:cubicBezTo>
                  <a:pt x="53" y="0"/>
                  <a:pt x="69" y="35"/>
                  <a:pt x="69" y="35"/>
                </a:cubicBezTo>
                <a:close/>
              </a:path>
            </a:pathLst>
          </a:custGeom>
          <a:solidFill>
            <a:srgbClr val="FFFFFF"/>
          </a:solidFill>
          <a:ln w="11113" cap="flat">
            <a:solidFill>
              <a:srgbClr val="0078C1"/>
            </a:solidFill>
            <a:prstDash val="solid"/>
            <a:miter lim="800000"/>
            <a:headEnd/>
            <a:tailEnd/>
          </a:ln>
        </p:spPr>
        <p:txBody>
          <a:bodyPr/>
          <a:lstStyle/>
          <a:p>
            <a:endParaRPr lang="en-US"/>
          </a:p>
        </p:txBody>
      </p:sp>
      <p:sp>
        <p:nvSpPr>
          <p:cNvPr id="569784" name="Rectangle 440"/>
          <p:cNvSpPr>
            <a:spLocks noChangeArrowheads="1"/>
          </p:cNvSpPr>
          <p:nvPr/>
        </p:nvSpPr>
        <p:spPr bwMode="auto">
          <a:xfrm>
            <a:off x="7083425" y="3884613"/>
            <a:ext cx="642938" cy="471487"/>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85" name="Rectangle 441"/>
          <p:cNvSpPr>
            <a:spLocks noChangeArrowheads="1"/>
          </p:cNvSpPr>
          <p:nvPr/>
        </p:nvSpPr>
        <p:spPr bwMode="auto">
          <a:xfrm>
            <a:off x="7778750" y="3884613"/>
            <a:ext cx="642938" cy="471487"/>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86" name="Rectangle 442"/>
          <p:cNvSpPr>
            <a:spLocks noChangeArrowheads="1"/>
          </p:cNvSpPr>
          <p:nvPr/>
        </p:nvSpPr>
        <p:spPr bwMode="auto">
          <a:xfrm>
            <a:off x="7083425" y="2522538"/>
            <a:ext cx="1338263" cy="688975"/>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87" name="Rectangle 443"/>
          <p:cNvSpPr>
            <a:spLocks noChangeArrowheads="1"/>
          </p:cNvSpPr>
          <p:nvPr/>
        </p:nvSpPr>
        <p:spPr bwMode="auto">
          <a:xfrm>
            <a:off x="3517900" y="5037138"/>
            <a:ext cx="2058988" cy="460375"/>
          </a:xfrm>
          <a:prstGeom prst="rect">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69788" name="Rectangle 444"/>
          <p:cNvSpPr>
            <a:spLocks noChangeArrowheads="1"/>
          </p:cNvSpPr>
          <p:nvPr/>
        </p:nvSpPr>
        <p:spPr bwMode="auto">
          <a:xfrm>
            <a:off x="6202363" y="3255963"/>
            <a:ext cx="42862"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t>
            </a:r>
            <a:endParaRPr lang="en-US" altLang="en-US">
              <a:latin typeface="Arial" panose="020B0604020202020204" pitchFamily="34" charset="0"/>
            </a:endParaRPr>
          </a:p>
        </p:txBody>
      </p:sp>
      <p:sp>
        <p:nvSpPr>
          <p:cNvPr id="569789" name="Rectangle 445"/>
          <p:cNvSpPr>
            <a:spLocks noChangeArrowheads="1"/>
          </p:cNvSpPr>
          <p:nvPr/>
        </p:nvSpPr>
        <p:spPr bwMode="auto">
          <a:xfrm>
            <a:off x="6249988" y="3255963"/>
            <a:ext cx="6350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a:t>
            </a:r>
            <a:endParaRPr lang="en-US" altLang="en-US">
              <a:latin typeface="Arial" panose="020B0604020202020204" pitchFamily="34" charset="0"/>
            </a:endParaRPr>
          </a:p>
        </p:txBody>
      </p:sp>
      <p:sp>
        <p:nvSpPr>
          <p:cNvPr id="569790" name="Rectangle 446"/>
          <p:cNvSpPr>
            <a:spLocks noChangeArrowheads="1"/>
          </p:cNvSpPr>
          <p:nvPr/>
        </p:nvSpPr>
        <p:spPr bwMode="auto">
          <a:xfrm>
            <a:off x="6324600" y="3255963"/>
            <a:ext cx="44450"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t>
            </a:r>
            <a:endParaRPr lang="en-US" altLang="en-US">
              <a:latin typeface="Arial" panose="020B0604020202020204" pitchFamily="34" charset="0"/>
            </a:endParaRPr>
          </a:p>
        </p:txBody>
      </p:sp>
      <p:sp>
        <p:nvSpPr>
          <p:cNvPr id="569791" name="Rectangle 447"/>
          <p:cNvSpPr>
            <a:spLocks noChangeArrowheads="1"/>
          </p:cNvSpPr>
          <p:nvPr/>
        </p:nvSpPr>
        <p:spPr bwMode="auto">
          <a:xfrm>
            <a:off x="6192838" y="5003800"/>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a:latin typeface="Arial" panose="020B0604020202020204" pitchFamily="34" charset="0"/>
            </a:endParaRPr>
          </a:p>
        </p:txBody>
      </p:sp>
      <p:sp>
        <p:nvSpPr>
          <p:cNvPr id="569792" name="Rectangle 448"/>
          <p:cNvSpPr>
            <a:spLocks noChangeArrowheads="1"/>
          </p:cNvSpPr>
          <p:nvPr/>
        </p:nvSpPr>
        <p:spPr bwMode="auto">
          <a:xfrm>
            <a:off x="6238875" y="500380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b</a:t>
            </a:r>
            <a:endParaRPr lang="en-US" altLang="en-US">
              <a:latin typeface="Arial" panose="020B0604020202020204" pitchFamily="34" charset="0"/>
            </a:endParaRPr>
          </a:p>
        </p:txBody>
      </p:sp>
      <p:sp>
        <p:nvSpPr>
          <p:cNvPr id="569793" name="Rectangle 449"/>
          <p:cNvSpPr>
            <a:spLocks noChangeArrowheads="1"/>
          </p:cNvSpPr>
          <p:nvPr/>
        </p:nvSpPr>
        <p:spPr bwMode="auto">
          <a:xfrm>
            <a:off x="6334125" y="5003800"/>
            <a:ext cx="492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a:latin typeface="Arial" panose="020B0604020202020204" pitchFamily="34" charset="0"/>
            </a:endParaRPr>
          </a:p>
        </p:txBody>
      </p:sp>
      <p:sp>
        <p:nvSpPr>
          <p:cNvPr id="569794" name="Rectangle 450"/>
          <p:cNvSpPr>
            <a:spLocks noChangeArrowheads="1"/>
          </p:cNvSpPr>
          <p:nvPr/>
        </p:nvSpPr>
        <p:spPr bwMode="auto">
          <a:xfrm>
            <a:off x="8086725" y="5003800"/>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a:latin typeface="Arial" panose="020B0604020202020204" pitchFamily="34" charset="0"/>
            </a:endParaRPr>
          </a:p>
        </p:txBody>
      </p:sp>
      <p:sp>
        <p:nvSpPr>
          <p:cNvPr id="569795" name="Rectangle 451"/>
          <p:cNvSpPr>
            <a:spLocks noChangeArrowheads="1"/>
          </p:cNvSpPr>
          <p:nvPr/>
        </p:nvSpPr>
        <p:spPr bwMode="auto">
          <a:xfrm>
            <a:off x="8132763" y="5003800"/>
            <a:ext cx="857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a:t>
            </a:r>
            <a:endParaRPr lang="en-US" altLang="en-US">
              <a:latin typeface="Arial" panose="020B0604020202020204" pitchFamily="34" charset="0"/>
            </a:endParaRPr>
          </a:p>
        </p:txBody>
      </p:sp>
      <p:sp>
        <p:nvSpPr>
          <p:cNvPr id="569796" name="Rectangle 452"/>
          <p:cNvSpPr>
            <a:spLocks noChangeArrowheads="1"/>
          </p:cNvSpPr>
          <p:nvPr/>
        </p:nvSpPr>
        <p:spPr bwMode="auto">
          <a:xfrm>
            <a:off x="8213725" y="5003800"/>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a:latin typeface="Arial" panose="020B0604020202020204" pitchFamily="34" charset="0"/>
            </a:endParaRPr>
          </a:p>
        </p:txBody>
      </p:sp>
      <p:sp>
        <p:nvSpPr>
          <p:cNvPr id="569797" name="Line 453"/>
          <p:cNvSpPr>
            <a:spLocks noChangeShapeType="1"/>
          </p:cNvSpPr>
          <p:nvPr/>
        </p:nvSpPr>
        <p:spPr bwMode="auto">
          <a:xfrm flipH="1" flipV="1">
            <a:off x="6208713" y="2849563"/>
            <a:ext cx="68262" cy="40322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98" name="Line 454"/>
          <p:cNvSpPr>
            <a:spLocks noChangeShapeType="1"/>
          </p:cNvSpPr>
          <p:nvPr/>
        </p:nvSpPr>
        <p:spPr bwMode="auto">
          <a:xfrm flipH="1">
            <a:off x="5851525" y="5108575"/>
            <a:ext cx="315913" cy="3175"/>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69799" name="Line 455"/>
          <p:cNvSpPr>
            <a:spLocks noChangeShapeType="1"/>
          </p:cNvSpPr>
          <p:nvPr/>
        </p:nvSpPr>
        <p:spPr bwMode="auto">
          <a:xfrm flipV="1">
            <a:off x="8162925" y="4600575"/>
            <a:ext cx="73025" cy="395288"/>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pic>
        <p:nvPicPr>
          <p:cNvPr id="569800" name="Picture 4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2688" y="2155825"/>
            <a:ext cx="1228725" cy="2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9801" name="Picture 4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2413" y="2849563"/>
            <a:ext cx="2955925" cy="217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9802" name="Picture 4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400" y="3695700"/>
            <a:ext cx="1771650" cy="2271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Slide Number Placeholder 3"/>
          <p:cNvSpPr>
            <a:spLocks noGrp="1"/>
          </p:cNvSpPr>
          <p:nvPr>
            <p:ph type="sldNum" sz="quarter" idx="10"/>
          </p:nvPr>
        </p:nvSpPr>
        <p:spPr/>
        <p:txBody>
          <a:bodyPr/>
          <a:lstStyle/>
          <a:p>
            <a:fld id="{44A71CF1-BAAD-497B-B8AB-CE7AD33F974F}" type="slidenum">
              <a:rPr lang="en-US" altLang="en-US"/>
              <a:pPr/>
              <a:t>55</a:t>
            </a:fld>
            <a:endParaRPr lang="en-US" altLang="en-US"/>
          </a:p>
        </p:txBody>
      </p:sp>
      <p:sp>
        <p:nvSpPr>
          <p:cNvPr id="570370" name="Rectangle 2"/>
          <p:cNvSpPr>
            <a:spLocks noGrp="1" noChangeArrowheads="1"/>
          </p:cNvSpPr>
          <p:nvPr>
            <p:ph type="title"/>
          </p:nvPr>
        </p:nvSpPr>
        <p:spPr/>
        <p:txBody>
          <a:bodyPr/>
          <a:lstStyle/>
          <a:p>
            <a:r>
              <a:rPr lang="en-US" altLang="en-US" u="sng"/>
              <a:t>Behavioral Level Design: C to Gates</a:t>
            </a:r>
          </a:p>
        </p:txBody>
      </p:sp>
      <p:sp>
        <p:nvSpPr>
          <p:cNvPr id="570371" name="Rectangle 3"/>
          <p:cNvSpPr>
            <a:spLocks noGrp="1" noChangeArrowheads="1"/>
          </p:cNvSpPr>
          <p:nvPr>
            <p:ph type="body" idx="1"/>
          </p:nvPr>
        </p:nvSpPr>
        <p:spPr>
          <a:xfrm>
            <a:off x="228600" y="5089525"/>
            <a:ext cx="8461375" cy="1006475"/>
          </a:xfrm>
        </p:spPr>
        <p:txBody>
          <a:bodyPr/>
          <a:lstStyle/>
          <a:p>
            <a:pPr>
              <a:lnSpc>
                <a:spcPct val="90000"/>
              </a:lnSpc>
            </a:pPr>
            <a:r>
              <a:rPr lang="en-US" altLang="en-US" sz="2000"/>
              <a:t>Earlier sum-of-absolute-differences example</a:t>
            </a:r>
          </a:p>
          <a:p>
            <a:pPr lvl="1">
              <a:lnSpc>
                <a:spcPct val="90000"/>
              </a:lnSpc>
            </a:pPr>
            <a:r>
              <a:rPr lang="en-US" altLang="en-US" sz="1800"/>
              <a:t>Started with high-level state machine</a:t>
            </a:r>
          </a:p>
          <a:p>
            <a:pPr lvl="1">
              <a:lnSpc>
                <a:spcPct val="90000"/>
              </a:lnSpc>
            </a:pPr>
            <a:r>
              <a:rPr lang="en-US" altLang="en-US" sz="1800"/>
              <a:t>C code is an even better starting point -- easier to understand</a:t>
            </a:r>
          </a:p>
        </p:txBody>
      </p:sp>
      <p:sp>
        <p:nvSpPr>
          <p:cNvPr id="570372" name="Text Box 4"/>
          <p:cNvSpPr txBox="1">
            <a:spLocks noChangeArrowheads="1"/>
          </p:cNvSpPr>
          <p:nvPr/>
        </p:nvSpPr>
        <p:spPr bwMode="auto">
          <a:xfrm>
            <a:off x="8458200" y="152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5.5</a:t>
            </a:r>
          </a:p>
        </p:txBody>
      </p:sp>
      <p:grpSp>
        <p:nvGrpSpPr>
          <p:cNvPr id="570419" name="Group 51"/>
          <p:cNvGrpSpPr>
            <a:grpSpLocks/>
          </p:cNvGrpSpPr>
          <p:nvPr/>
        </p:nvGrpSpPr>
        <p:grpSpPr bwMode="auto">
          <a:xfrm>
            <a:off x="190500" y="1384300"/>
            <a:ext cx="4019550" cy="3606800"/>
            <a:chOff x="120" y="872"/>
            <a:chExt cx="2695" cy="2272"/>
          </a:xfrm>
        </p:grpSpPr>
        <p:grpSp>
          <p:nvGrpSpPr>
            <p:cNvPr id="570374" name="Group 6"/>
            <p:cNvGrpSpPr>
              <a:grpSpLocks/>
            </p:cNvGrpSpPr>
            <p:nvPr/>
          </p:nvGrpSpPr>
          <p:grpSpPr bwMode="auto">
            <a:xfrm>
              <a:off x="464" y="872"/>
              <a:ext cx="1299" cy="570"/>
              <a:chOff x="3214" y="1456"/>
              <a:chExt cx="1299" cy="570"/>
            </a:xfrm>
          </p:grpSpPr>
          <p:sp>
            <p:nvSpPr>
              <p:cNvPr id="570375" name="Line 7"/>
              <p:cNvSpPr>
                <a:spLocks noChangeShapeType="1"/>
              </p:cNvSpPr>
              <p:nvPr/>
            </p:nvSpPr>
            <p:spPr bwMode="auto">
              <a:xfrm>
                <a:off x="3741" y="1796"/>
                <a:ext cx="1" cy="149"/>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0376" name="Freeform 8"/>
              <p:cNvSpPr>
                <a:spLocks/>
              </p:cNvSpPr>
              <p:nvPr/>
            </p:nvSpPr>
            <p:spPr bwMode="auto">
              <a:xfrm>
                <a:off x="3702" y="1895"/>
                <a:ext cx="76" cy="131"/>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0377" name="Line 9"/>
              <p:cNvSpPr>
                <a:spLocks noChangeShapeType="1"/>
              </p:cNvSpPr>
              <p:nvPr/>
            </p:nvSpPr>
            <p:spPr bwMode="auto">
              <a:xfrm>
                <a:off x="3214" y="1456"/>
                <a:ext cx="136" cy="8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0378" name="Freeform 10"/>
              <p:cNvSpPr>
                <a:spLocks/>
              </p:cNvSpPr>
              <p:nvPr/>
            </p:nvSpPr>
            <p:spPr bwMode="auto">
              <a:xfrm>
                <a:off x="3304" y="1505"/>
                <a:ext cx="143" cy="103"/>
              </a:xfrm>
              <a:custGeom>
                <a:avLst/>
                <a:gdLst>
                  <a:gd name="T0" fmla="*/ 96 w 96"/>
                  <a:gd name="T1" fmla="*/ 78 h 78"/>
                  <a:gd name="T2" fmla="*/ 31 w 96"/>
                  <a:gd name="T3" fmla="*/ 0 h 78"/>
                  <a:gd name="T4" fmla="*/ 0 w 96"/>
                  <a:gd name="T5" fmla="*/ 41 h 78"/>
                  <a:gd name="T6" fmla="*/ 96 w 96"/>
                  <a:gd name="T7" fmla="*/ 78 h 78"/>
                </a:gdLst>
                <a:ahLst/>
                <a:cxnLst>
                  <a:cxn ang="0">
                    <a:pos x="T0" y="T1"/>
                  </a:cxn>
                  <a:cxn ang="0">
                    <a:pos x="T2" y="T3"/>
                  </a:cxn>
                  <a:cxn ang="0">
                    <a:pos x="T4" y="T5"/>
                  </a:cxn>
                  <a:cxn ang="0">
                    <a:pos x="T6" y="T7"/>
                  </a:cxn>
                </a:cxnLst>
                <a:rect l="0" t="0" r="r" b="b"/>
                <a:pathLst>
                  <a:path w="96" h="78">
                    <a:moveTo>
                      <a:pt x="96" y="78"/>
                    </a:moveTo>
                    <a:lnTo>
                      <a:pt x="31" y="0"/>
                    </a:lnTo>
                    <a:lnTo>
                      <a:pt x="0" y="41"/>
                    </a:lnTo>
                    <a:lnTo>
                      <a:pt x="96"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0379" name="Freeform 11"/>
              <p:cNvSpPr>
                <a:spLocks/>
              </p:cNvSpPr>
              <p:nvPr/>
            </p:nvSpPr>
            <p:spPr bwMode="auto">
              <a:xfrm>
                <a:off x="4011" y="1505"/>
                <a:ext cx="149" cy="90"/>
              </a:xfrm>
              <a:custGeom>
                <a:avLst/>
                <a:gdLst>
                  <a:gd name="T0" fmla="*/ 0 w 100"/>
                  <a:gd name="T1" fmla="*/ 69 h 69"/>
                  <a:gd name="T2" fmla="*/ 100 w 100"/>
                  <a:gd name="T3" fmla="*/ 44 h 69"/>
                  <a:gd name="T4" fmla="*/ 78 w 100"/>
                  <a:gd name="T5" fmla="*/ 0 h 69"/>
                  <a:gd name="T6" fmla="*/ 0 w 100"/>
                  <a:gd name="T7" fmla="*/ 69 h 69"/>
                </a:gdLst>
                <a:ahLst/>
                <a:cxnLst>
                  <a:cxn ang="0">
                    <a:pos x="T0" y="T1"/>
                  </a:cxn>
                  <a:cxn ang="0">
                    <a:pos x="T2" y="T3"/>
                  </a:cxn>
                  <a:cxn ang="0">
                    <a:pos x="T4" y="T5"/>
                  </a:cxn>
                  <a:cxn ang="0">
                    <a:pos x="T6" y="T7"/>
                  </a:cxn>
                </a:cxnLst>
                <a:rect l="0" t="0" r="r" b="b"/>
                <a:pathLst>
                  <a:path w="100" h="69">
                    <a:moveTo>
                      <a:pt x="0" y="69"/>
                    </a:moveTo>
                    <a:lnTo>
                      <a:pt x="100" y="44"/>
                    </a:lnTo>
                    <a:lnTo>
                      <a:pt x="78" y="0"/>
                    </a:lnTo>
                    <a:lnTo>
                      <a:pt x="0" y="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0380" name="Freeform 12"/>
              <p:cNvSpPr>
                <a:spLocks/>
              </p:cNvSpPr>
              <p:nvPr/>
            </p:nvSpPr>
            <p:spPr bwMode="auto">
              <a:xfrm>
                <a:off x="4011" y="1530"/>
                <a:ext cx="279" cy="312"/>
              </a:xfrm>
              <a:custGeom>
                <a:avLst/>
                <a:gdLst>
                  <a:gd name="T0" fmla="*/ 16 w 60"/>
                  <a:gd name="T1" fmla="*/ 3 h 76"/>
                  <a:gd name="T2" fmla="*/ 32 w 60"/>
                  <a:gd name="T3" fmla="*/ 0 h 76"/>
                  <a:gd name="T4" fmla="*/ 60 w 60"/>
                  <a:gd name="T5" fmla="*/ 38 h 76"/>
                  <a:gd name="T6" fmla="*/ 32 w 60"/>
                  <a:gd name="T7" fmla="*/ 76 h 76"/>
                  <a:gd name="T8" fmla="*/ 0 w 60"/>
                  <a:gd name="T9" fmla="*/ 59 h 76"/>
                </a:gdLst>
                <a:ahLst/>
                <a:cxnLst>
                  <a:cxn ang="0">
                    <a:pos x="T0" y="T1"/>
                  </a:cxn>
                  <a:cxn ang="0">
                    <a:pos x="T2" y="T3"/>
                  </a:cxn>
                  <a:cxn ang="0">
                    <a:pos x="T4" y="T5"/>
                  </a:cxn>
                  <a:cxn ang="0">
                    <a:pos x="T6" y="T7"/>
                  </a:cxn>
                  <a:cxn ang="0">
                    <a:pos x="T8" y="T9"/>
                  </a:cxn>
                </a:cxnLst>
                <a:rect l="0" t="0" r="r" b="b"/>
                <a:pathLst>
                  <a:path w="60" h="76">
                    <a:moveTo>
                      <a:pt x="16" y="3"/>
                    </a:moveTo>
                    <a:cubicBezTo>
                      <a:pt x="21" y="1"/>
                      <a:pt x="26" y="0"/>
                      <a:pt x="32" y="0"/>
                    </a:cubicBezTo>
                    <a:cubicBezTo>
                      <a:pt x="53" y="0"/>
                      <a:pt x="60" y="17"/>
                      <a:pt x="60" y="38"/>
                    </a:cubicBezTo>
                    <a:cubicBezTo>
                      <a:pt x="60" y="59"/>
                      <a:pt x="53" y="76"/>
                      <a:pt x="32" y="76"/>
                    </a:cubicBezTo>
                    <a:cubicBezTo>
                      <a:pt x="19" y="76"/>
                      <a:pt x="7" y="70"/>
                      <a:pt x="0" y="59"/>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0381" name="Rectangle 13"/>
              <p:cNvSpPr>
                <a:spLocks noChangeArrowheads="1"/>
              </p:cNvSpPr>
              <p:nvPr/>
            </p:nvSpPr>
            <p:spPr bwMode="auto">
              <a:xfrm>
                <a:off x="4321" y="1611"/>
                <a:ext cx="192"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!go</a:t>
                </a:r>
                <a:endParaRPr lang="en-US" altLang="en-US" sz="3200"/>
              </a:p>
            </p:txBody>
          </p:sp>
          <p:sp>
            <p:nvSpPr>
              <p:cNvPr id="570382" name="Rectangle 14"/>
              <p:cNvSpPr>
                <a:spLocks noChangeArrowheads="1"/>
              </p:cNvSpPr>
              <p:nvPr/>
            </p:nvSpPr>
            <p:spPr bwMode="auto">
              <a:xfrm>
                <a:off x="3669" y="1619"/>
                <a:ext cx="15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S0</a:t>
                </a:r>
                <a:endParaRPr lang="en-US" altLang="en-US" sz="3200"/>
              </a:p>
            </p:txBody>
          </p:sp>
          <p:sp>
            <p:nvSpPr>
              <p:cNvPr id="570383" name="Rectangle 15"/>
              <p:cNvSpPr>
                <a:spLocks noChangeArrowheads="1"/>
              </p:cNvSpPr>
              <p:nvPr/>
            </p:nvSpPr>
            <p:spPr bwMode="auto">
              <a:xfrm>
                <a:off x="3829" y="1822"/>
                <a:ext cx="14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go</a:t>
                </a:r>
                <a:endParaRPr lang="en-US" altLang="en-US" sz="3200"/>
              </a:p>
            </p:txBody>
          </p:sp>
          <p:sp>
            <p:nvSpPr>
              <p:cNvPr id="570384" name="Freeform 16"/>
              <p:cNvSpPr>
                <a:spLocks/>
              </p:cNvSpPr>
              <p:nvPr/>
            </p:nvSpPr>
            <p:spPr bwMode="auto">
              <a:xfrm>
                <a:off x="3424" y="1584"/>
                <a:ext cx="633" cy="205"/>
              </a:xfrm>
              <a:custGeom>
                <a:avLst/>
                <a:gdLst>
                  <a:gd name="T0" fmla="*/ 25 w 136"/>
                  <a:gd name="T1" fmla="*/ 50 h 50"/>
                  <a:gd name="T2" fmla="*/ 0 w 136"/>
                  <a:gd name="T3" fmla="*/ 25 h 50"/>
                  <a:gd name="T4" fmla="*/ 25 w 136"/>
                  <a:gd name="T5" fmla="*/ 0 h 50"/>
                  <a:gd name="T6" fmla="*/ 111 w 136"/>
                  <a:gd name="T7" fmla="*/ 0 h 50"/>
                  <a:gd name="T8" fmla="*/ 136 w 136"/>
                  <a:gd name="T9" fmla="*/ 25 h 50"/>
                  <a:gd name="T10" fmla="*/ 111 w 136"/>
                  <a:gd name="T11" fmla="*/ 50 h 50"/>
                  <a:gd name="T12" fmla="*/ 25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25" y="50"/>
                    </a:move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lnTo>
                      <a:pt x="25" y="50"/>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0385" name="Group 17"/>
            <p:cNvGrpSpPr>
              <a:grpSpLocks/>
            </p:cNvGrpSpPr>
            <p:nvPr/>
          </p:nvGrpSpPr>
          <p:grpSpPr bwMode="auto">
            <a:xfrm>
              <a:off x="674" y="1400"/>
              <a:ext cx="1156" cy="483"/>
              <a:chOff x="3424" y="1984"/>
              <a:chExt cx="1156" cy="483"/>
            </a:xfrm>
          </p:grpSpPr>
          <p:sp>
            <p:nvSpPr>
              <p:cNvPr id="570386" name="Line 18"/>
              <p:cNvSpPr>
                <a:spLocks noChangeShapeType="1"/>
              </p:cNvSpPr>
              <p:nvPr/>
            </p:nvSpPr>
            <p:spPr bwMode="auto">
              <a:xfrm>
                <a:off x="3741" y="2241"/>
                <a:ext cx="1" cy="144"/>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0387" name="Freeform 19"/>
              <p:cNvSpPr>
                <a:spLocks/>
              </p:cNvSpPr>
              <p:nvPr/>
            </p:nvSpPr>
            <p:spPr bwMode="auto">
              <a:xfrm>
                <a:off x="3702" y="2336"/>
                <a:ext cx="76" cy="131"/>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0388" name="Rectangle 20"/>
              <p:cNvSpPr>
                <a:spLocks noChangeArrowheads="1"/>
              </p:cNvSpPr>
              <p:nvPr/>
            </p:nvSpPr>
            <p:spPr bwMode="auto">
              <a:xfrm>
                <a:off x="3669" y="2060"/>
                <a:ext cx="15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S1</a:t>
                </a:r>
                <a:endParaRPr lang="en-US" altLang="en-US" sz="3200"/>
              </a:p>
            </p:txBody>
          </p:sp>
          <p:sp>
            <p:nvSpPr>
              <p:cNvPr id="570389" name="Rectangle 21"/>
              <p:cNvSpPr>
                <a:spLocks noChangeArrowheads="1"/>
              </p:cNvSpPr>
              <p:nvPr/>
            </p:nvSpPr>
            <p:spPr bwMode="auto">
              <a:xfrm>
                <a:off x="4112" y="1984"/>
                <a:ext cx="46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sum = 0</a:t>
                </a:r>
                <a:endParaRPr lang="en-US" altLang="en-US" sz="3200"/>
              </a:p>
            </p:txBody>
          </p:sp>
          <p:sp>
            <p:nvSpPr>
              <p:cNvPr id="570390" name="Rectangle 22"/>
              <p:cNvSpPr>
                <a:spLocks noChangeArrowheads="1"/>
              </p:cNvSpPr>
              <p:nvPr/>
            </p:nvSpPr>
            <p:spPr bwMode="auto">
              <a:xfrm>
                <a:off x="4112" y="2130"/>
                <a:ext cx="26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 = 0</a:t>
                </a:r>
                <a:endParaRPr lang="en-US" altLang="en-US" sz="3200"/>
              </a:p>
            </p:txBody>
          </p:sp>
          <p:sp>
            <p:nvSpPr>
              <p:cNvPr id="570391" name="Freeform 23"/>
              <p:cNvSpPr>
                <a:spLocks/>
              </p:cNvSpPr>
              <p:nvPr/>
            </p:nvSpPr>
            <p:spPr bwMode="auto">
              <a:xfrm>
                <a:off x="3424" y="2031"/>
                <a:ext cx="633" cy="206"/>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0392" name="Group 24"/>
            <p:cNvGrpSpPr>
              <a:grpSpLocks/>
            </p:cNvGrpSpPr>
            <p:nvPr/>
          </p:nvGrpSpPr>
          <p:grpSpPr bwMode="auto">
            <a:xfrm>
              <a:off x="554" y="2077"/>
              <a:ext cx="2261" cy="623"/>
              <a:chOff x="3304" y="2661"/>
              <a:chExt cx="2261" cy="623"/>
            </a:xfrm>
          </p:grpSpPr>
          <p:sp>
            <p:nvSpPr>
              <p:cNvPr id="570393" name="Freeform 25"/>
              <p:cNvSpPr>
                <a:spLocks/>
              </p:cNvSpPr>
              <p:nvPr/>
            </p:nvSpPr>
            <p:spPr bwMode="auto">
              <a:xfrm>
                <a:off x="3304" y="2697"/>
                <a:ext cx="437" cy="587"/>
              </a:xfrm>
              <a:custGeom>
                <a:avLst/>
                <a:gdLst>
                  <a:gd name="T0" fmla="*/ 293 w 293"/>
                  <a:gd name="T1" fmla="*/ 334 h 447"/>
                  <a:gd name="T2" fmla="*/ 293 w 293"/>
                  <a:gd name="T3" fmla="*/ 447 h 447"/>
                  <a:gd name="T4" fmla="*/ 0 w 293"/>
                  <a:gd name="T5" fmla="*/ 447 h 447"/>
                  <a:gd name="T6" fmla="*/ 0 w 293"/>
                  <a:gd name="T7" fmla="*/ 62 h 447"/>
                  <a:gd name="T8" fmla="*/ 65 w 293"/>
                  <a:gd name="T9" fmla="*/ 0 h 447"/>
                </a:gdLst>
                <a:ahLst/>
                <a:cxnLst>
                  <a:cxn ang="0">
                    <a:pos x="T0" y="T1"/>
                  </a:cxn>
                  <a:cxn ang="0">
                    <a:pos x="T2" y="T3"/>
                  </a:cxn>
                  <a:cxn ang="0">
                    <a:pos x="T4" y="T5"/>
                  </a:cxn>
                  <a:cxn ang="0">
                    <a:pos x="T6" y="T7"/>
                  </a:cxn>
                  <a:cxn ang="0">
                    <a:pos x="T8" y="T9"/>
                  </a:cxn>
                </a:cxnLst>
                <a:rect l="0" t="0" r="r" b="b"/>
                <a:pathLst>
                  <a:path w="293" h="447">
                    <a:moveTo>
                      <a:pt x="293" y="334"/>
                    </a:moveTo>
                    <a:lnTo>
                      <a:pt x="293" y="447"/>
                    </a:lnTo>
                    <a:lnTo>
                      <a:pt x="0" y="447"/>
                    </a:lnTo>
                    <a:lnTo>
                      <a:pt x="0" y="62"/>
                    </a:lnTo>
                    <a:lnTo>
                      <a:pt x="65"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0394" name="Freeform 26"/>
              <p:cNvSpPr>
                <a:spLocks/>
              </p:cNvSpPr>
              <p:nvPr/>
            </p:nvSpPr>
            <p:spPr bwMode="auto">
              <a:xfrm>
                <a:off x="3318" y="2661"/>
                <a:ext cx="139" cy="110"/>
              </a:xfrm>
              <a:custGeom>
                <a:avLst/>
                <a:gdLst>
                  <a:gd name="T0" fmla="*/ 94 w 94"/>
                  <a:gd name="T1" fmla="*/ 0 h 84"/>
                  <a:gd name="T2" fmla="*/ 0 w 94"/>
                  <a:gd name="T3" fmla="*/ 47 h 84"/>
                  <a:gd name="T4" fmla="*/ 34 w 94"/>
                  <a:gd name="T5" fmla="*/ 84 h 84"/>
                  <a:gd name="T6" fmla="*/ 94 w 94"/>
                  <a:gd name="T7" fmla="*/ 0 h 84"/>
                </a:gdLst>
                <a:ahLst/>
                <a:cxnLst>
                  <a:cxn ang="0">
                    <a:pos x="T0" y="T1"/>
                  </a:cxn>
                  <a:cxn ang="0">
                    <a:pos x="T2" y="T3"/>
                  </a:cxn>
                  <a:cxn ang="0">
                    <a:pos x="T4" y="T5"/>
                  </a:cxn>
                  <a:cxn ang="0">
                    <a:pos x="T6" y="T7"/>
                  </a:cxn>
                </a:cxnLst>
                <a:rect l="0" t="0" r="r" b="b"/>
                <a:pathLst>
                  <a:path w="94" h="84">
                    <a:moveTo>
                      <a:pt x="94" y="0"/>
                    </a:moveTo>
                    <a:lnTo>
                      <a:pt x="0" y="47"/>
                    </a:lnTo>
                    <a:lnTo>
                      <a:pt x="34" y="84"/>
                    </a:lnTo>
                    <a:lnTo>
                      <a:pt x="9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0395" name="Rectangle 27"/>
              <p:cNvSpPr>
                <a:spLocks noChangeArrowheads="1"/>
              </p:cNvSpPr>
              <p:nvPr/>
            </p:nvSpPr>
            <p:spPr bwMode="auto">
              <a:xfrm>
                <a:off x="3670" y="2947"/>
                <a:ext cx="15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S3</a:t>
                </a:r>
                <a:endParaRPr lang="en-US" altLang="en-US" sz="3200"/>
              </a:p>
            </p:txBody>
          </p:sp>
          <p:sp>
            <p:nvSpPr>
              <p:cNvPr id="570396" name="Rectangle 28"/>
              <p:cNvSpPr>
                <a:spLocks noChangeArrowheads="1"/>
              </p:cNvSpPr>
              <p:nvPr/>
            </p:nvSpPr>
            <p:spPr bwMode="auto">
              <a:xfrm>
                <a:off x="4108" y="2877"/>
                <a:ext cx="145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sum=sum+abs(A[i]-B[i])</a:t>
                </a:r>
                <a:endParaRPr lang="en-US" altLang="en-US" sz="3200"/>
              </a:p>
            </p:txBody>
          </p:sp>
          <p:sp>
            <p:nvSpPr>
              <p:cNvPr id="570397" name="Rectangle 29"/>
              <p:cNvSpPr>
                <a:spLocks noChangeArrowheads="1"/>
              </p:cNvSpPr>
              <p:nvPr/>
            </p:nvSpPr>
            <p:spPr bwMode="auto">
              <a:xfrm>
                <a:off x="4108" y="3027"/>
                <a:ext cx="317"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i=i+1</a:t>
                </a:r>
                <a:endParaRPr lang="en-US" altLang="en-US" sz="3200"/>
              </a:p>
            </p:txBody>
          </p:sp>
          <p:sp>
            <p:nvSpPr>
              <p:cNvPr id="570398" name="Freeform 30"/>
              <p:cNvSpPr>
                <a:spLocks/>
              </p:cNvSpPr>
              <p:nvPr/>
            </p:nvSpPr>
            <p:spPr bwMode="auto">
              <a:xfrm>
                <a:off x="3424" y="2927"/>
                <a:ext cx="633" cy="205"/>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0399" name="Group 31"/>
            <p:cNvGrpSpPr>
              <a:grpSpLocks/>
            </p:cNvGrpSpPr>
            <p:nvPr/>
          </p:nvGrpSpPr>
          <p:grpSpPr bwMode="auto">
            <a:xfrm>
              <a:off x="120" y="1073"/>
              <a:ext cx="2107" cy="2071"/>
              <a:chOff x="2870" y="1657"/>
              <a:chExt cx="2107" cy="2071"/>
            </a:xfrm>
          </p:grpSpPr>
          <p:sp>
            <p:nvSpPr>
              <p:cNvPr id="570400" name="Freeform 32"/>
              <p:cNvSpPr>
                <a:spLocks/>
              </p:cNvSpPr>
              <p:nvPr/>
            </p:nvSpPr>
            <p:spPr bwMode="auto">
              <a:xfrm>
                <a:off x="2870" y="1690"/>
                <a:ext cx="874" cy="2038"/>
              </a:xfrm>
              <a:custGeom>
                <a:avLst/>
                <a:gdLst>
                  <a:gd name="T0" fmla="*/ 281 w 587"/>
                  <a:gd name="T1" fmla="*/ 0 h 1550"/>
                  <a:gd name="T2" fmla="*/ 0 w 587"/>
                  <a:gd name="T3" fmla="*/ 0 h 1550"/>
                  <a:gd name="T4" fmla="*/ 0 w 587"/>
                  <a:gd name="T5" fmla="*/ 1550 h 1550"/>
                  <a:gd name="T6" fmla="*/ 587 w 587"/>
                  <a:gd name="T7" fmla="*/ 1550 h 1550"/>
                  <a:gd name="T8" fmla="*/ 587 w 587"/>
                  <a:gd name="T9" fmla="*/ 1441 h 1550"/>
                </a:gdLst>
                <a:ahLst/>
                <a:cxnLst>
                  <a:cxn ang="0">
                    <a:pos x="T0" y="T1"/>
                  </a:cxn>
                  <a:cxn ang="0">
                    <a:pos x="T2" y="T3"/>
                  </a:cxn>
                  <a:cxn ang="0">
                    <a:pos x="T4" y="T5"/>
                  </a:cxn>
                  <a:cxn ang="0">
                    <a:pos x="T6" y="T7"/>
                  </a:cxn>
                  <a:cxn ang="0">
                    <a:pos x="T8" y="T9"/>
                  </a:cxn>
                </a:cxnLst>
                <a:rect l="0" t="0" r="r" b="b"/>
                <a:pathLst>
                  <a:path w="587" h="1550">
                    <a:moveTo>
                      <a:pt x="281" y="0"/>
                    </a:moveTo>
                    <a:lnTo>
                      <a:pt x="0" y="0"/>
                    </a:lnTo>
                    <a:lnTo>
                      <a:pt x="0" y="1550"/>
                    </a:lnTo>
                    <a:lnTo>
                      <a:pt x="587" y="1550"/>
                    </a:lnTo>
                    <a:lnTo>
                      <a:pt x="587" y="1441"/>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0401" name="Freeform 33"/>
              <p:cNvSpPr>
                <a:spLocks/>
              </p:cNvSpPr>
              <p:nvPr/>
            </p:nvSpPr>
            <p:spPr bwMode="auto">
              <a:xfrm>
                <a:off x="3260" y="1657"/>
                <a:ext cx="150" cy="6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0402" name="Rectangle 34"/>
              <p:cNvSpPr>
                <a:spLocks noChangeArrowheads="1"/>
              </p:cNvSpPr>
              <p:nvPr/>
            </p:nvSpPr>
            <p:spPr bwMode="auto">
              <a:xfrm>
                <a:off x="3669" y="3407"/>
                <a:ext cx="154"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S4</a:t>
                </a:r>
                <a:endParaRPr lang="en-US" altLang="en-US" sz="3200"/>
              </a:p>
            </p:txBody>
          </p:sp>
          <p:sp>
            <p:nvSpPr>
              <p:cNvPr id="570403" name="Rectangle 35"/>
              <p:cNvSpPr>
                <a:spLocks noChangeArrowheads="1"/>
              </p:cNvSpPr>
              <p:nvPr/>
            </p:nvSpPr>
            <p:spPr bwMode="auto">
              <a:xfrm>
                <a:off x="4108" y="3397"/>
                <a:ext cx="265"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sad_</a:t>
                </a:r>
                <a:endParaRPr lang="en-US" altLang="en-US" sz="3200"/>
              </a:p>
            </p:txBody>
          </p:sp>
          <p:sp>
            <p:nvSpPr>
              <p:cNvPr id="570404" name="Rectangle 36"/>
              <p:cNvSpPr>
                <a:spLocks noChangeArrowheads="1"/>
              </p:cNvSpPr>
              <p:nvPr/>
            </p:nvSpPr>
            <p:spPr bwMode="auto">
              <a:xfrm>
                <a:off x="4399" y="3397"/>
                <a:ext cx="48"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r</a:t>
                </a:r>
                <a:endParaRPr lang="en-US" altLang="en-US" sz="3200"/>
              </a:p>
            </p:txBody>
          </p:sp>
          <p:sp>
            <p:nvSpPr>
              <p:cNvPr id="570405" name="Rectangle 37"/>
              <p:cNvSpPr>
                <a:spLocks noChangeArrowheads="1"/>
              </p:cNvSpPr>
              <p:nvPr/>
            </p:nvSpPr>
            <p:spPr bwMode="auto">
              <a:xfrm>
                <a:off x="4444" y="3397"/>
                <a:ext cx="53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eg = sum</a:t>
                </a:r>
                <a:endParaRPr lang="en-US" altLang="en-US" sz="3200"/>
              </a:p>
            </p:txBody>
          </p:sp>
          <p:sp>
            <p:nvSpPr>
              <p:cNvPr id="570406" name="Freeform 38"/>
              <p:cNvSpPr>
                <a:spLocks/>
              </p:cNvSpPr>
              <p:nvPr/>
            </p:nvSpPr>
            <p:spPr bwMode="auto">
              <a:xfrm>
                <a:off x="3424" y="3376"/>
                <a:ext cx="633" cy="205"/>
              </a:xfrm>
              <a:custGeom>
                <a:avLst/>
                <a:gdLst>
                  <a:gd name="T0" fmla="*/ 25 w 136"/>
                  <a:gd name="T1" fmla="*/ 50 h 50"/>
                  <a:gd name="T2" fmla="*/ 0 w 136"/>
                  <a:gd name="T3" fmla="*/ 25 h 50"/>
                  <a:gd name="T4" fmla="*/ 25 w 136"/>
                  <a:gd name="T5" fmla="*/ 0 h 50"/>
                  <a:gd name="T6" fmla="*/ 111 w 136"/>
                  <a:gd name="T7" fmla="*/ 0 h 50"/>
                  <a:gd name="T8" fmla="*/ 136 w 136"/>
                  <a:gd name="T9" fmla="*/ 25 h 50"/>
                  <a:gd name="T10" fmla="*/ 111 w 136"/>
                  <a:gd name="T11" fmla="*/ 50 h 50"/>
                  <a:gd name="T12" fmla="*/ 25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25" y="50"/>
                    </a:move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lnTo>
                      <a:pt x="25" y="50"/>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0407" name="Group 39"/>
            <p:cNvGrpSpPr>
              <a:grpSpLocks/>
            </p:cNvGrpSpPr>
            <p:nvPr/>
          </p:nvGrpSpPr>
          <p:grpSpPr bwMode="auto">
            <a:xfrm>
              <a:off x="286" y="1829"/>
              <a:ext cx="1141" cy="1094"/>
              <a:chOff x="3036" y="2413"/>
              <a:chExt cx="1141" cy="1094"/>
            </a:xfrm>
          </p:grpSpPr>
          <p:sp>
            <p:nvSpPr>
              <p:cNvPr id="570408" name="Line 40"/>
              <p:cNvSpPr>
                <a:spLocks noChangeShapeType="1"/>
              </p:cNvSpPr>
              <p:nvPr/>
            </p:nvSpPr>
            <p:spPr bwMode="auto">
              <a:xfrm>
                <a:off x="3741" y="2690"/>
                <a:ext cx="1" cy="14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0409" name="Freeform 41"/>
              <p:cNvSpPr>
                <a:spLocks/>
              </p:cNvSpPr>
              <p:nvPr/>
            </p:nvSpPr>
            <p:spPr bwMode="auto">
              <a:xfrm>
                <a:off x="3702" y="2788"/>
                <a:ext cx="76" cy="132"/>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0410" name="Freeform 42"/>
              <p:cNvSpPr>
                <a:spLocks/>
              </p:cNvSpPr>
              <p:nvPr/>
            </p:nvSpPr>
            <p:spPr bwMode="auto">
              <a:xfrm>
                <a:off x="3126" y="2581"/>
                <a:ext cx="298" cy="893"/>
              </a:xfrm>
              <a:custGeom>
                <a:avLst/>
                <a:gdLst>
                  <a:gd name="T0" fmla="*/ 109 w 200"/>
                  <a:gd name="T1" fmla="*/ 679 h 679"/>
                  <a:gd name="T2" fmla="*/ 0 w 200"/>
                  <a:gd name="T3" fmla="*/ 679 h 679"/>
                  <a:gd name="T4" fmla="*/ 0 w 200"/>
                  <a:gd name="T5" fmla="*/ 0 h 679"/>
                  <a:gd name="T6" fmla="*/ 200 w 200"/>
                  <a:gd name="T7" fmla="*/ 0 h 679"/>
                </a:gdLst>
                <a:ahLst/>
                <a:cxnLst>
                  <a:cxn ang="0">
                    <a:pos x="T0" y="T1"/>
                  </a:cxn>
                  <a:cxn ang="0">
                    <a:pos x="T2" y="T3"/>
                  </a:cxn>
                  <a:cxn ang="0">
                    <a:pos x="T4" y="T5"/>
                  </a:cxn>
                  <a:cxn ang="0">
                    <a:pos x="T6" y="T7"/>
                  </a:cxn>
                </a:cxnLst>
                <a:rect l="0" t="0" r="r" b="b"/>
                <a:pathLst>
                  <a:path w="200" h="679">
                    <a:moveTo>
                      <a:pt x="109" y="679"/>
                    </a:moveTo>
                    <a:lnTo>
                      <a:pt x="0" y="679"/>
                    </a:lnTo>
                    <a:lnTo>
                      <a:pt x="0" y="0"/>
                    </a:lnTo>
                    <a:lnTo>
                      <a:pt x="20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0411" name="Freeform 43"/>
              <p:cNvSpPr>
                <a:spLocks/>
              </p:cNvSpPr>
              <p:nvPr/>
            </p:nvSpPr>
            <p:spPr bwMode="auto">
              <a:xfrm>
                <a:off x="3260" y="3442"/>
                <a:ext cx="150" cy="6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0412" name="Rectangle 44"/>
              <p:cNvSpPr>
                <a:spLocks noChangeArrowheads="1"/>
              </p:cNvSpPr>
              <p:nvPr/>
            </p:nvSpPr>
            <p:spPr bwMode="auto">
              <a:xfrm>
                <a:off x="3671" y="2505"/>
                <a:ext cx="153"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S2</a:t>
                </a:r>
                <a:endParaRPr lang="en-US" altLang="en-US" sz="3200"/>
              </a:p>
            </p:txBody>
          </p:sp>
          <p:sp>
            <p:nvSpPr>
              <p:cNvPr id="570413" name="Rectangle 45"/>
              <p:cNvSpPr>
                <a:spLocks noChangeArrowheads="1"/>
              </p:cNvSpPr>
              <p:nvPr/>
            </p:nvSpPr>
            <p:spPr bwMode="auto">
              <a:xfrm>
                <a:off x="3838" y="2740"/>
                <a:ext cx="339" cy="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i&lt;256</a:t>
                </a:r>
                <a:endParaRPr lang="en-US" altLang="en-US" sz="3200"/>
              </a:p>
            </p:txBody>
          </p:sp>
          <p:sp>
            <p:nvSpPr>
              <p:cNvPr id="570414" name="Freeform 46"/>
              <p:cNvSpPr>
                <a:spLocks/>
              </p:cNvSpPr>
              <p:nvPr/>
            </p:nvSpPr>
            <p:spPr bwMode="auto">
              <a:xfrm>
                <a:off x="3424" y="2478"/>
                <a:ext cx="633" cy="207"/>
              </a:xfrm>
              <a:custGeom>
                <a:avLst/>
                <a:gdLst>
                  <a:gd name="T0" fmla="*/ 111 w 136"/>
                  <a:gd name="T1" fmla="*/ 50 h 50"/>
                  <a:gd name="T2" fmla="*/ 25 w 136"/>
                  <a:gd name="T3" fmla="*/ 50 h 50"/>
                  <a:gd name="T4" fmla="*/ 0 w 136"/>
                  <a:gd name="T5" fmla="*/ 25 h 50"/>
                  <a:gd name="T6" fmla="*/ 25 w 136"/>
                  <a:gd name="T7" fmla="*/ 0 h 50"/>
                  <a:gd name="T8" fmla="*/ 111 w 136"/>
                  <a:gd name="T9" fmla="*/ 0 h 50"/>
                  <a:gd name="T10" fmla="*/ 136 w 136"/>
                  <a:gd name="T11" fmla="*/ 25 h 50"/>
                  <a:gd name="T12" fmla="*/ 111 w 136"/>
                  <a:gd name="T13" fmla="*/ 50 h 50"/>
                </a:gdLst>
                <a:ahLst/>
                <a:cxnLst>
                  <a:cxn ang="0">
                    <a:pos x="T0" y="T1"/>
                  </a:cxn>
                  <a:cxn ang="0">
                    <a:pos x="T2" y="T3"/>
                  </a:cxn>
                  <a:cxn ang="0">
                    <a:pos x="T4" y="T5"/>
                  </a:cxn>
                  <a:cxn ang="0">
                    <a:pos x="T6" y="T7"/>
                  </a:cxn>
                  <a:cxn ang="0">
                    <a:pos x="T8" y="T9"/>
                  </a:cxn>
                  <a:cxn ang="0">
                    <a:pos x="T10" y="T11"/>
                  </a:cxn>
                  <a:cxn ang="0">
                    <a:pos x="T12" y="T13"/>
                  </a:cxn>
                </a:cxnLst>
                <a:rect l="0" t="0" r="r" b="b"/>
                <a:pathLst>
                  <a:path w="136" h="50">
                    <a:moveTo>
                      <a:pt x="111" y="50"/>
                    </a:moveTo>
                    <a:cubicBezTo>
                      <a:pt x="25" y="50"/>
                      <a:pt x="25" y="50"/>
                      <a:pt x="25" y="50"/>
                    </a:cubicBezTo>
                    <a:cubicBezTo>
                      <a:pt x="11" y="50"/>
                      <a:pt x="0" y="39"/>
                      <a:pt x="0" y="25"/>
                    </a:cubicBezTo>
                    <a:cubicBezTo>
                      <a:pt x="0" y="11"/>
                      <a:pt x="11" y="0"/>
                      <a:pt x="25" y="0"/>
                    </a:cubicBezTo>
                    <a:cubicBezTo>
                      <a:pt x="111" y="0"/>
                      <a:pt x="111" y="0"/>
                      <a:pt x="111" y="0"/>
                    </a:cubicBezTo>
                    <a:cubicBezTo>
                      <a:pt x="125" y="0"/>
                      <a:pt x="136" y="11"/>
                      <a:pt x="136" y="25"/>
                    </a:cubicBezTo>
                    <a:cubicBezTo>
                      <a:pt x="136" y="39"/>
                      <a:pt x="125" y="50"/>
                      <a:pt x="111" y="50"/>
                    </a:cubicBez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0415" name="Rectangle 47"/>
              <p:cNvSpPr>
                <a:spLocks noChangeArrowheads="1"/>
              </p:cNvSpPr>
              <p:nvPr/>
            </p:nvSpPr>
            <p:spPr bwMode="auto">
              <a:xfrm>
                <a:off x="3036" y="2413"/>
                <a:ext cx="43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en-US" sz="1500">
                    <a:solidFill>
                      <a:srgbClr val="000000"/>
                    </a:solidFill>
                    <a:latin typeface="Myriad Roman" charset="0"/>
                  </a:rPr>
                  <a:t>(i&lt;256)’</a:t>
                </a:r>
                <a:endParaRPr lang="en-US" altLang="en-US" sz="2800"/>
              </a:p>
            </p:txBody>
          </p:sp>
        </p:grpSp>
      </p:grpSp>
      <p:sp>
        <p:nvSpPr>
          <p:cNvPr id="570416" name="Text Box 48"/>
          <p:cNvSpPr txBox="1">
            <a:spLocks noChangeArrowheads="1"/>
          </p:cNvSpPr>
          <p:nvPr/>
        </p:nvSpPr>
        <p:spPr bwMode="auto">
          <a:xfrm>
            <a:off x="3651250" y="442277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570420" name="Group 52"/>
          <p:cNvGrpSpPr>
            <a:grpSpLocks/>
          </p:cNvGrpSpPr>
          <p:nvPr/>
        </p:nvGrpSpPr>
        <p:grpSpPr bwMode="auto">
          <a:xfrm>
            <a:off x="200025" y="1303338"/>
            <a:ext cx="3632200" cy="3770312"/>
            <a:chOff x="126" y="821"/>
            <a:chExt cx="2288" cy="2375"/>
          </a:xfrm>
        </p:grpSpPr>
        <p:sp>
          <p:nvSpPr>
            <p:cNvPr id="570417" name="Line 49"/>
            <p:cNvSpPr>
              <a:spLocks noChangeShapeType="1"/>
            </p:cNvSpPr>
            <p:nvPr/>
          </p:nvSpPr>
          <p:spPr bwMode="auto">
            <a:xfrm>
              <a:off x="237" y="860"/>
              <a:ext cx="2106" cy="2201"/>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0418" name="Line 50"/>
            <p:cNvSpPr>
              <a:spLocks noChangeShapeType="1"/>
            </p:cNvSpPr>
            <p:nvPr/>
          </p:nvSpPr>
          <p:spPr bwMode="auto">
            <a:xfrm flipH="1">
              <a:off x="126" y="821"/>
              <a:ext cx="2288" cy="2375"/>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70499" name="Group 131"/>
          <p:cNvGrpSpPr>
            <a:grpSpLocks/>
          </p:cNvGrpSpPr>
          <p:nvPr/>
        </p:nvGrpSpPr>
        <p:grpSpPr bwMode="auto">
          <a:xfrm>
            <a:off x="4241800" y="1320800"/>
            <a:ext cx="4710113" cy="3313113"/>
            <a:chOff x="2672" y="832"/>
            <a:chExt cx="2967" cy="2087"/>
          </a:xfrm>
        </p:grpSpPr>
        <p:grpSp>
          <p:nvGrpSpPr>
            <p:cNvPr id="570497" name="Group 129"/>
            <p:cNvGrpSpPr>
              <a:grpSpLocks/>
            </p:cNvGrpSpPr>
            <p:nvPr/>
          </p:nvGrpSpPr>
          <p:grpSpPr bwMode="auto">
            <a:xfrm>
              <a:off x="2672" y="1098"/>
              <a:ext cx="2967" cy="1821"/>
              <a:chOff x="2672" y="1098"/>
              <a:chExt cx="2967" cy="1821"/>
            </a:xfrm>
          </p:grpSpPr>
          <p:sp>
            <p:nvSpPr>
              <p:cNvPr id="570458" name="AutoShape 90"/>
              <p:cNvSpPr>
                <a:spLocks noChangeAspect="1" noChangeArrowheads="1" noTextEdit="1"/>
              </p:cNvSpPr>
              <p:nvPr/>
            </p:nvSpPr>
            <p:spPr bwMode="auto">
              <a:xfrm>
                <a:off x="2672" y="1102"/>
                <a:ext cx="2967" cy="1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70460" name="Rectangle 92"/>
              <p:cNvSpPr>
                <a:spLocks noChangeArrowheads="1"/>
              </p:cNvSpPr>
              <p:nvPr/>
            </p:nvSpPr>
            <p:spPr bwMode="auto">
              <a:xfrm>
                <a:off x="2675" y="1098"/>
                <a:ext cx="2964" cy="1821"/>
              </a:xfrm>
              <a:prstGeom prst="rect">
                <a:avLst/>
              </a:prstGeom>
              <a:solidFill>
                <a:srgbClr val="D4E0F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70461" name="Rectangle 93"/>
              <p:cNvSpPr>
                <a:spLocks noChangeArrowheads="1"/>
              </p:cNvSpPr>
              <p:nvPr/>
            </p:nvSpPr>
            <p:spPr bwMode="auto">
              <a:xfrm>
                <a:off x="2814" y="1199"/>
                <a:ext cx="2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i</a:t>
                </a:r>
                <a:endParaRPr lang="en-US" altLang="en-US"/>
              </a:p>
            </p:txBody>
          </p:sp>
          <p:sp>
            <p:nvSpPr>
              <p:cNvPr id="570462" name="Rectangle 94"/>
              <p:cNvSpPr>
                <a:spLocks noChangeArrowheads="1"/>
              </p:cNvSpPr>
              <p:nvPr/>
            </p:nvSpPr>
            <p:spPr bwMode="auto">
              <a:xfrm>
                <a:off x="2839" y="1199"/>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n</a:t>
                </a:r>
                <a:endParaRPr lang="en-US" altLang="en-US"/>
              </a:p>
            </p:txBody>
          </p:sp>
          <p:sp>
            <p:nvSpPr>
              <p:cNvPr id="570463" name="Rectangle 95"/>
              <p:cNvSpPr>
                <a:spLocks noChangeArrowheads="1"/>
              </p:cNvSpPr>
              <p:nvPr/>
            </p:nvSpPr>
            <p:spPr bwMode="auto">
              <a:xfrm>
                <a:off x="2900" y="1199"/>
                <a:ext cx="260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t SAD (byte A[256], byte B[256]) // not quite C syntax</a:t>
                </a:r>
                <a:endParaRPr lang="en-US" altLang="en-US"/>
              </a:p>
            </p:txBody>
          </p:sp>
          <p:sp>
            <p:nvSpPr>
              <p:cNvPr id="570476" name="Rectangle 108"/>
              <p:cNvSpPr>
                <a:spLocks noChangeArrowheads="1"/>
              </p:cNvSpPr>
              <p:nvPr/>
            </p:nvSpPr>
            <p:spPr bwMode="auto">
              <a:xfrm>
                <a:off x="2814" y="1350"/>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t>
                </a:r>
                <a:endParaRPr lang="en-US" altLang="en-US"/>
              </a:p>
            </p:txBody>
          </p:sp>
          <p:sp>
            <p:nvSpPr>
              <p:cNvPr id="570477" name="Rectangle 109"/>
              <p:cNvSpPr>
                <a:spLocks noChangeArrowheads="1"/>
              </p:cNvSpPr>
              <p:nvPr/>
            </p:nvSpPr>
            <p:spPr bwMode="auto">
              <a:xfrm>
                <a:off x="2814" y="1499"/>
                <a:ext cx="111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     uint sum; short uint I;</a:t>
                </a:r>
                <a:endParaRPr lang="en-US" altLang="en-US"/>
              </a:p>
            </p:txBody>
          </p:sp>
          <p:sp>
            <p:nvSpPr>
              <p:cNvPr id="570484" name="Rectangle 116"/>
              <p:cNvSpPr>
                <a:spLocks noChangeArrowheads="1"/>
              </p:cNvSpPr>
              <p:nvPr/>
            </p:nvSpPr>
            <p:spPr bwMode="auto">
              <a:xfrm>
                <a:off x="2814" y="1651"/>
                <a:ext cx="58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     sum = 0;</a:t>
                </a:r>
                <a:endParaRPr lang="en-US" altLang="en-US"/>
              </a:p>
            </p:txBody>
          </p:sp>
          <p:sp>
            <p:nvSpPr>
              <p:cNvPr id="570485" name="Rectangle 117"/>
              <p:cNvSpPr>
                <a:spLocks noChangeArrowheads="1"/>
              </p:cNvSpPr>
              <p:nvPr/>
            </p:nvSpPr>
            <p:spPr bwMode="auto">
              <a:xfrm>
                <a:off x="2814" y="1802"/>
                <a:ext cx="40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     i = 0;</a:t>
                </a:r>
                <a:endParaRPr lang="en-US" altLang="en-US"/>
              </a:p>
            </p:txBody>
          </p:sp>
          <p:sp>
            <p:nvSpPr>
              <p:cNvPr id="570486" name="Rectangle 118"/>
              <p:cNvSpPr>
                <a:spLocks noChangeArrowheads="1"/>
              </p:cNvSpPr>
              <p:nvPr/>
            </p:nvSpPr>
            <p:spPr bwMode="auto">
              <a:xfrm>
                <a:off x="2814" y="1952"/>
                <a:ext cx="92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     while (i &lt; 256) {</a:t>
                </a:r>
                <a:endParaRPr lang="en-US" altLang="en-US"/>
              </a:p>
            </p:txBody>
          </p:sp>
          <p:sp>
            <p:nvSpPr>
              <p:cNvPr id="570487" name="Rectangle 119"/>
              <p:cNvSpPr>
                <a:spLocks noChangeArrowheads="1"/>
              </p:cNvSpPr>
              <p:nvPr/>
            </p:nvSpPr>
            <p:spPr bwMode="auto">
              <a:xfrm>
                <a:off x="2814" y="2103"/>
                <a:ext cx="162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          sum = sum + abs(A[i] – B[i]);</a:t>
                </a:r>
                <a:endParaRPr lang="en-US" altLang="en-US"/>
              </a:p>
            </p:txBody>
          </p:sp>
          <p:sp>
            <p:nvSpPr>
              <p:cNvPr id="570490" name="Rectangle 122"/>
              <p:cNvSpPr>
                <a:spLocks noChangeArrowheads="1"/>
              </p:cNvSpPr>
              <p:nvPr/>
            </p:nvSpPr>
            <p:spPr bwMode="auto">
              <a:xfrm>
                <a:off x="2814" y="2253"/>
                <a:ext cx="70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          i = i + 1;</a:t>
                </a:r>
                <a:endParaRPr lang="en-US" altLang="en-US"/>
              </a:p>
            </p:txBody>
          </p:sp>
          <p:sp>
            <p:nvSpPr>
              <p:cNvPr id="570491" name="Rectangle 123"/>
              <p:cNvSpPr>
                <a:spLocks noChangeArrowheads="1"/>
              </p:cNvSpPr>
              <p:nvPr/>
            </p:nvSpPr>
            <p:spPr bwMode="auto">
              <a:xfrm>
                <a:off x="2814" y="2404"/>
                <a:ext cx="19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     }</a:t>
                </a:r>
                <a:endParaRPr lang="en-US" altLang="en-US"/>
              </a:p>
            </p:txBody>
          </p:sp>
          <p:sp>
            <p:nvSpPr>
              <p:cNvPr id="570492" name="Rectangle 124"/>
              <p:cNvSpPr>
                <a:spLocks noChangeArrowheads="1"/>
              </p:cNvSpPr>
              <p:nvPr/>
            </p:nvSpPr>
            <p:spPr bwMode="auto">
              <a:xfrm>
                <a:off x="2930" y="2553"/>
                <a:ext cx="56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return sum;</a:t>
                </a:r>
                <a:endParaRPr lang="en-US" altLang="en-US"/>
              </a:p>
            </p:txBody>
          </p:sp>
          <p:sp>
            <p:nvSpPr>
              <p:cNvPr id="570496" name="Rectangle 128"/>
              <p:cNvSpPr>
                <a:spLocks noChangeArrowheads="1"/>
              </p:cNvSpPr>
              <p:nvPr/>
            </p:nvSpPr>
            <p:spPr bwMode="auto">
              <a:xfrm>
                <a:off x="2814" y="2705"/>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t>
                </a:r>
                <a:endParaRPr lang="en-US" altLang="en-US"/>
              </a:p>
            </p:txBody>
          </p:sp>
        </p:grpSp>
        <p:sp>
          <p:nvSpPr>
            <p:cNvPr id="570498" name="Text Box 130"/>
            <p:cNvSpPr txBox="1">
              <a:spLocks noChangeArrowheads="1"/>
            </p:cNvSpPr>
            <p:nvPr/>
          </p:nvSpPr>
          <p:spPr bwMode="auto">
            <a:xfrm>
              <a:off x="3458" y="832"/>
              <a:ext cx="56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C code</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70420"/>
                                        </p:tgtEl>
                                        <p:attrNameLst>
                                          <p:attrName>style.visibility</p:attrName>
                                        </p:attrNameLst>
                                      </p:cBhvr>
                                      <p:to>
                                        <p:strVal val="visible"/>
                                      </p:to>
                                    </p:set>
                                    <p:anim calcmode="lin" valueType="num">
                                      <p:cBhvr additive="base">
                                        <p:cTn id="7" dur="500" fill="hold"/>
                                        <p:tgtEl>
                                          <p:spTgt spid="570420"/>
                                        </p:tgtEl>
                                        <p:attrNameLst>
                                          <p:attrName>ppt_x</p:attrName>
                                        </p:attrNameLst>
                                      </p:cBhvr>
                                      <p:tavLst>
                                        <p:tav tm="0">
                                          <p:val>
                                            <p:strVal val="1+#ppt_w/2"/>
                                          </p:val>
                                        </p:tav>
                                        <p:tav tm="100000">
                                          <p:val>
                                            <p:strVal val="#ppt_x"/>
                                          </p:val>
                                        </p:tav>
                                      </p:tavLst>
                                    </p:anim>
                                    <p:anim calcmode="lin" valueType="num">
                                      <p:cBhvr additive="base">
                                        <p:cTn id="8" dur="500" fill="hold"/>
                                        <p:tgtEl>
                                          <p:spTgt spid="57042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499"/>
                                          </p:stCondLst>
                                        </p:cTn>
                                        <p:tgtEl>
                                          <p:spTgt spid="5704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3"/>
          <p:cNvSpPr>
            <a:spLocks noGrp="1"/>
          </p:cNvSpPr>
          <p:nvPr>
            <p:ph type="sldNum" sz="quarter" idx="10"/>
          </p:nvPr>
        </p:nvSpPr>
        <p:spPr/>
        <p:txBody>
          <a:bodyPr/>
          <a:lstStyle/>
          <a:p>
            <a:fld id="{AD9FF409-A7D3-4DF3-831E-79E4AAF03687}" type="slidenum">
              <a:rPr lang="en-US" altLang="en-US"/>
              <a:pPr/>
              <a:t>56</a:t>
            </a:fld>
            <a:endParaRPr lang="en-US" altLang="en-US"/>
          </a:p>
        </p:txBody>
      </p:sp>
      <p:sp>
        <p:nvSpPr>
          <p:cNvPr id="571394" name="Rectangle 2"/>
          <p:cNvSpPr>
            <a:spLocks noGrp="1" noChangeArrowheads="1"/>
          </p:cNvSpPr>
          <p:nvPr>
            <p:ph type="title"/>
          </p:nvPr>
        </p:nvSpPr>
        <p:spPr/>
        <p:txBody>
          <a:bodyPr/>
          <a:lstStyle/>
          <a:p>
            <a:r>
              <a:rPr lang="en-US" altLang="en-US"/>
              <a:t>Behavioral-Level Design: Start with C (or Similar Language)</a:t>
            </a:r>
          </a:p>
        </p:txBody>
      </p:sp>
      <p:sp>
        <p:nvSpPr>
          <p:cNvPr id="571395" name="Rectangle 3"/>
          <p:cNvSpPr>
            <a:spLocks noGrp="1" noChangeArrowheads="1"/>
          </p:cNvSpPr>
          <p:nvPr>
            <p:ph type="body" idx="1"/>
          </p:nvPr>
        </p:nvSpPr>
        <p:spPr>
          <a:xfrm>
            <a:off x="228600" y="1357313"/>
            <a:ext cx="8610600" cy="817562"/>
          </a:xfrm>
        </p:spPr>
        <p:txBody>
          <a:bodyPr/>
          <a:lstStyle/>
          <a:p>
            <a:pPr>
              <a:lnSpc>
                <a:spcPct val="90000"/>
              </a:lnSpc>
            </a:pPr>
            <a:r>
              <a:rPr lang="en-US" altLang="en-US" sz="2000"/>
              <a:t>Replace first step of RTL design method by two steps</a:t>
            </a:r>
          </a:p>
          <a:p>
            <a:pPr lvl="1">
              <a:lnSpc>
                <a:spcPct val="90000"/>
              </a:lnSpc>
            </a:pPr>
            <a:r>
              <a:rPr lang="en-US" altLang="en-US" sz="1800"/>
              <a:t>Capture in C, then convert C to high-level state machine</a:t>
            </a:r>
          </a:p>
          <a:p>
            <a:pPr lvl="1">
              <a:lnSpc>
                <a:spcPct val="90000"/>
              </a:lnSpc>
            </a:pPr>
            <a:r>
              <a:rPr lang="en-US" altLang="en-US" sz="1800"/>
              <a:t>How convert from C to high-level state machine?</a:t>
            </a:r>
          </a:p>
        </p:txBody>
      </p:sp>
      <p:pic>
        <p:nvPicPr>
          <p:cNvPr id="5713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525" y="3230563"/>
            <a:ext cx="8159750" cy="2732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71402" name="Group 10"/>
          <p:cNvGrpSpPr>
            <a:grpSpLocks/>
          </p:cNvGrpSpPr>
          <p:nvPr/>
        </p:nvGrpSpPr>
        <p:grpSpPr bwMode="auto">
          <a:xfrm>
            <a:off x="863600" y="2354263"/>
            <a:ext cx="7629525" cy="2005012"/>
            <a:chOff x="544" y="1404"/>
            <a:chExt cx="4806" cy="1342"/>
          </a:xfrm>
        </p:grpSpPr>
        <p:sp>
          <p:nvSpPr>
            <p:cNvPr id="571397" name="Text Box 5"/>
            <p:cNvSpPr txBox="1">
              <a:spLocks noChangeArrowheads="1"/>
            </p:cNvSpPr>
            <p:nvPr/>
          </p:nvSpPr>
          <p:spPr bwMode="auto">
            <a:xfrm>
              <a:off x="552" y="1404"/>
              <a:ext cx="4797" cy="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i="1"/>
                <a:t>Step 1A: Capture in C</a:t>
              </a:r>
            </a:p>
            <a:p>
              <a:pPr>
                <a:spcBef>
                  <a:spcPct val="50000"/>
                </a:spcBef>
              </a:pPr>
              <a:r>
                <a:rPr lang="en-US" altLang="en-US" i="1"/>
                <a:t>Step 1B: Convert to high-level state machine</a:t>
              </a:r>
            </a:p>
          </p:txBody>
        </p:sp>
        <p:grpSp>
          <p:nvGrpSpPr>
            <p:cNvPr id="571400" name="Group 8"/>
            <p:cNvGrpSpPr>
              <a:grpSpLocks/>
            </p:cNvGrpSpPr>
            <p:nvPr/>
          </p:nvGrpSpPr>
          <p:grpSpPr bwMode="auto">
            <a:xfrm>
              <a:off x="544" y="2233"/>
              <a:ext cx="4806" cy="513"/>
              <a:chOff x="544" y="2233"/>
              <a:chExt cx="4806" cy="513"/>
            </a:xfrm>
          </p:grpSpPr>
          <p:sp>
            <p:nvSpPr>
              <p:cNvPr id="571398" name="Line 6"/>
              <p:cNvSpPr>
                <a:spLocks noChangeShapeType="1"/>
              </p:cNvSpPr>
              <p:nvPr/>
            </p:nvSpPr>
            <p:spPr bwMode="auto">
              <a:xfrm>
                <a:off x="544" y="2233"/>
                <a:ext cx="4806" cy="466"/>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1399" name="Line 7"/>
              <p:cNvSpPr>
                <a:spLocks noChangeShapeType="1"/>
              </p:cNvSpPr>
              <p:nvPr/>
            </p:nvSpPr>
            <p:spPr bwMode="auto">
              <a:xfrm flipV="1">
                <a:off x="560" y="2265"/>
                <a:ext cx="4782" cy="481"/>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571403" name="Text Box 11"/>
          <p:cNvSpPr txBox="1">
            <a:spLocks noChangeArrowheads="1"/>
          </p:cNvSpPr>
          <p:nvPr/>
        </p:nvSpPr>
        <p:spPr bwMode="auto">
          <a:xfrm>
            <a:off x="8310563" y="274320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571402"/>
                                        </p:tgtEl>
                                        <p:attrNameLst>
                                          <p:attrName>style.visibility</p:attrName>
                                        </p:attrNameLst>
                                      </p:cBhvr>
                                      <p:to>
                                        <p:strVal val="visible"/>
                                      </p:to>
                                    </p:set>
                                    <p:anim calcmode="lin" valueType="num">
                                      <p:cBhvr additive="base">
                                        <p:cTn id="7" dur="500" fill="hold"/>
                                        <p:tgtEl>
                                          <p:spTgt spid="571402"/>
                                        </p:tgtEl>
                                        <p:attrNameLst>
                                          <p:attrName>ppt_x</p:attrName>
                                        </p:attrNameLst>
                                      </p:cBhvr>
                                      <p:tavLst>
                                        <p:tav tm="0">
                                          <p:val>
                                            <p:strVal val="#ppt_x"/>
                                          </p:val>
                                        </p:tav>
                                        <p:tav tm="100000">
                                          <p:val>
                                            <p:strVal val="#ppt_x"/>
                                          </p:val>
                                        </p:tav>
                                      </p:tavLst>
                                    </p:anim>
                                    <p:anim calcmode="lin" valueType="num">
                                      <p:cBhvr additive="base">
                                        <p:cTn id="8" dur="500" fill="hold"/>
                                        <p:tgtEl>
                                          <p:spTgt spid="571402"/>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Slide Number Placeholder 3"/>
          <p:cNvSpPr>
            <a:spLocks noGrp="1"/>
          </p:cNvSpPr>
          <p:nvPr>
            <p:ph type="sldNum" sz="quarter" idx="10"/>
          </p:nvPr>
        </p:nvSpPr>
        <p:spPr/>
        <p:txBody>
          <a:bodyPr/>
          <a:lstStyle/>
          <a:p>
            <a:fld id="{33CFCF48-BAA2-4D42-AB46-DA5DD91D0592}" type="slidenum">
              <a:rPr lang="en-US" altLang="en-US"/>
              <a:pPr/>
              <a:t>57</a:t>
            </a:fld>
            <a:endParaRPr lang="en-US" altLang="en-US"/>
          </a:p>
        </p:txBody>
      </p:sp>
      <p:sp>
        <p:nvSpPr>
          <p:cNvPr id="572418" name="Rectangle 2"/>
          <p:cNvSpPr>
            <a:spLocks noGrp="1" noChangeArrowheads="1"/>
          </p:cNvSpPr>
          <p:nvPr>
            <p:ph type="title"/>
          </p:nvPr>
        </p:nvSpPr>
        <p:spPr/>
        <p:txBody>
          <a:bodyPr/>
          <a:lstStyle/>
          <a:p>
            <a:r>
              <a:rPr lang="en-US" altLang="en-US"/>
              <a:t>Converting from C to High-Level State Machine</a:t>
            </a:r>
          </a:p>
        </p:txBody>
      </p:sp>
      <p:sp>
        <p:nvSpPr>
          <p:cNvPr id="572419" name="Rectangle 3"/>
          <p:cNvSpPr>
            <a:spLocks noGrp="1" noChangeArrowheads="1"/>
          </p:cNvSpPr>
          <p:nvPr>
            <p:ph type="body" idx="1"/>
          </p:nvPr>
        </p:nvSpPr>
        <p:spPr>
          <a:xfrm>
            <a:off x="228600" y="1219200"/>
            <a:ext cx="4502150" cy="4876800"/>
          </a:xfrm>
        </p:spPr>
        <p:txBody>
          <a:bodyPr/>
          <a:lstStyle/>
          <a:p>
            <a:r>
              <a:rPr lang="en-US" altLang="en-US"/>
              <a:t>Convert each C construct to equivalent states and transitions</a:t>
            </a:r>
          </a:p>
          <a:p>
            <a:r>
              <a:rPr lang="en-US" altLang="en-US" i="1"/>
              <a:t>Assignment</a:t>
            </a:r>
            <a:r>
              <a:rPr lang="en-US" altLang="en-US"/>
              <a:t> statement</a:t>
            </a:r>
          </a:p>
          <a:p>
            <a:pPr lvl="1"/>
            <a:r>
              <a:rPr lang="en-US" altLang="en-US"/>
              <a:t>Becomes one state with assignment</a:t>
            </a:r>
          </a:p>
          <a:p>
            <a:r>
              <a:rPr lang="en-US" altLang="en-US" i="1"/>
              <a:t>If-then</a:t>
            </a:r>
            <a:r>
              <a:rPr lang="en-US" altLang="en-US"/>
              <a:t> statement</a:t>
            </a:r>
          </a:p>
          <a:p>
            <a:pPr lvl="1"/>
            <a:r>
              <a:rPr lang="en-US" altLang="en-US"/>
              <a:t>Becomes state with condition check, transitioning to “then” statements if condition true, otherwise to ending state</a:t>
            </a:r>
          </a:p>
          <a:p>
            <a:pPr lvl="2"/>
            <a:r>
              <a:rPr lang="en-US" altLang="en-US"/>
              <a:t>“then” statements would also be converted to states</a:t>
            </a:r>
          </a:p>
          <a:p>
            <a:pPr lvl="2"/>
            <a:endParaRPr lang="en-US" altLang="en-US"/>
          </a:p>
        </p:txBody>
      </p:sp>
      <p:sp>
        <p:nvSpPr>
          <p:cNvPr id="572511" name="Rectangle 95"/>
          <p:cNvSpPr>
            <a:spLocks noChangeArrowheads="1"/>
          </p:cNvSpPr>
          <p:nvPr/>
        </p:nvSpPr>
        <p:spPr bwMode="auto">
          <a:xfrm>
            <a:off x="5041900" y="2865438"/>
            <a:ext cx="14589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target = expression;</a:t>
            </a:r>
            <a:endParaRPr lang="en-US" altLang="en-US"/>
          </a:p>
        </p:txBody>
      </p:sp>
      <p:grpSp>
        <p:nvGrpSpPr>
          <p:cNvPr id="572520" name="Group 104"/>
          <p:cNvGrpSpPr>
            <a:grpSpLocks/>
          </p:cNvGrpSpPr>
          <p:nvPr/>
        </p:nvGrpSpPr>
        <p:grpSpPr bwMode="auto">
          <a:xfrm>
            <a:off x="7067550" y="2524125"/>
            <a:ext cx="1500188" cy="877888"/>
            <a:chOff x="4452" y="1590"/>
            <a:chExt cx="945" cy="553"/>
          </a:xfrm>
        </p:grpSpPr>
        <p:sp>
          <p:nvSpPr>
            <p:cNvPr id="572499" name="Line 83"/>
            <p:cNvSpPr>
              <a:spLocks noChangeShapeType="1"/>
            </p:cNvSpPr>
            <p:nvPr/>
          </p:nvSpPr>
          <p:spPr bwMode="auto">
            <a:xfrm>
              <a:off x="4646" y="1590"/>
              <a:ext cx="1" cy="11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2500" name="Freeform 84"/>
            <p:cNvSpPr>
              <a:spLocks/>
            </p:cNvSpPr>
            <p:nvPr/>
          </p:nvSpPr>
          <p:spPr bwMode="auto">
            <a:xfrm>
              <a:off x="4621" y="1665"/>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2501" name="Line 85"/>
            <p:cNvSpPr>
              <a:spLocks noChangeShapeType="1"/>
            </p:cNvSpPr>
            <p:nvPr/>
          </p:nvSpPr>
          <p:spPr bwMode="auto">
            <a:xfrm>
              <a:off x="4646" y="1968"/>
              <a:ext cx="1" cy="1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2502" name="Freeform 86"/>
            <p:cNvSpPr>
              <a:spLocks/>
            </p:cNvSpPr>
            <p:nvPr/>
          </p:nvSpPr>
          <p:spPr bwMode="auto">
            <a:xfrm>
              <a:off x="4621" y="2043"/>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2504" name="Rectangle 88"/>
            <p:cNvSpPr>
              <a:spLocks noChangeArrowheads="1"/>
            </p:cNvSpPr>
            <p:nvPr/>
          </p:nvSpPr>
          <p:spPr bwMode="auto">
            <a:xfrm>
              <a:off x="4893" y="1750"/>
              <a:ext cx="3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target=</a:t>
              </a:r>
              <a:endParaRPr lang="en-US" altLang="en-US"/>
            </a:p>
          </p:txBody>
        </p:sp>
        <p:sp>
          <p:nvSpPr>
            <p:cNvPr id="572507" name="Rectangle 91"/>
            <p:cNvSpPr>
              <a:spLocks noChangeArrowheads="1"/>
            </p:cNvSpPr>
            <p:nvPr/>
          </p:nvSpPr>
          <p:spPr bwMode="auto">
            <a:xfrm>
              <a:off x="4893" y="1861"/>
              <a:ext cx="5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expression</a:t>
              </a:r>
              <a:endParaRPr lang="en-US" altLang="en-US"/>
            </a:p>
          </p:txBody>
        </p:sp>
        <p:sp>
          <p:nvSpPr>
            <p:cNvPr id="572518" name="Oval 102"/>
            <p:cNvSpPr>
              <a:spLocks noChangeArrowheads="1"/>
            </p:cNvSpPr>
            <p:nvPr/>
          </p:nvSpPr>
          <p:spPr bwMode="auto">
            <a:xfrm>
              <a:off x="4452" y="1774"/>
              <a:ext cx="388" cy="1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72519" name="Freeform 103"/>
          <p:cNvSpPr>
            <a:spLocks/>
          </p:cNvSpPr>
          <p:nvPr/>
        </p:nvSpPr>
        <p:spPr bwMode="auto">
          <a:xfrm>
            <a:off x="6567488" y="2830513"/>
            <a:ext cx="352425" cy="274637"/>
          </a:xfrm>
          <a:custGeom>
            <a:avLst/>
            <a:gdLst>
              <a:gd name="T0" fmla="*/ 222 w 222"/>
              <a:gd name="T1" fmla="*/ 85 h 173"/>
              <a:gd name="T2" fmla="*/ 109 w 222"/>
              <a:gd name="T3" fmla="*/ 0 h 173"/>
              <a:gd name="T4" fmla="*/ 109 w 222"/>
              <a:gd name="T5" fmla="*/ 47 h 173"/>
              <a:gd name="T6" fmla="*/ 0 w 222"/>
              <a:gd name="T7" fmla="*/ 47 h 173"/>
              <a:gd name="T8" fmla="*/ 0 w 222"/>
              <a:gd name="T9" fmla="*/ 126 h 173"/>
              <a:gd name="T10" fmla="*/ 109 w 222"/>
              <a:gd name="T11" fmla="*/ 126 h 173"/>
              <a:gd name="T12" fmla="*/ 109 w 222"/>
              <a:gd name="T13" fmla="*/ 173 h 173"/>
              <a:gd name="T14" fmla="*/ 222 w 222"/>
              <a:gd name="T15" fmla="*/ 85 h 1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173">
                <a:moveTo>
                  <a:pt x="222" y="85"/>
                </a:moveTo>
                <a:lnTo>
                  <a:pt x="109" y="0"/>
                </a:lnTo>
                <a:lnTo>
                  <a:pt x="109" y="47"/>
                </a:lnTo>
                <a:lnTo>
                  <a:pt x="0" y="47"/>
                </a:lnTo>
                <a:lnTo>
                  <a:pt x="0" y="126"/>
                </a:lnTo>
                <a:lnTo>
                  <a:pt x="109" y="126"/>
                </a:lnTo>
                <a:lnTo>
                  <a:pt x="109" y="173"/>
                </a:lnTo>
                <a:lnTo>
                  <a:pt x="222" y="85"/>
                </a:lnTo>
                <a:close/>
              </a:path>
            </a:pathLst>
          </a:custGeom>
          <a:solidFill>
            <a:srgbClr val="0078C1"/>
          </a:solidFill>
          <a:ln w="9525" cap="flat">
            <a:solidFill>
              <a:srgbClr val="0078C1"/>
            </a:solidFill>
            <a:prstDash val="solid"/>
            <a:miter lim="800000"/>
            <a:headEnd/>
            <a:tailEnd/>
          </a:ln>
        </p:spPr>
        <p:txBody>
          <a:bodyPr/>
          <a:lstStyle/>
          <a:p>
            <a:endParaRPr lang="en-US"/>
          </a:p>
        </p:txBody>
      </p:sp>
      <p:grpSp>
        <p:nvGrpSpPr>
          <p:cNvPr id="572523" name="Group 107"/>
          <p:cNvGrpSpPr>
            <a:grpSpLocks/>
          </p:cNvGrpSpPr>
          <p:nvPr/>
        </p:nvGrpSpPr>
        <p:grpSpPr bwMode="auto">
          <a:xfrm>
            <a:off x="6954838" y="4719638"/>
            <a:ext cx="874712" cy="468312"/>
            <a:chOff x="4381" y="2973"/>
            <a:chExt cx="551" cy="295"/>
          </a:xfrm>
        </p:grpSpPr>
        <p:sp>
          <p:nvSpPr>
            <p:cNvPr id="572429" name="Line 13"/>
            <p:cNvSpPr>
              <a:spLocks noChangeShapeType="1"/>
            </p:cNvSpPr>
            <p:nvPr/>
          </p:nvSpPr>
          <p:spPr bwMode="auto">
            <a:xfrm>
              <a:off x="4646" y="3096"/>
              <a:ext cx="1" cy="11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2430" name="Freeform 14"/>
            <p:cNvSpPr>
              <a:spLocks/>
            </p:cNvSpPr>
            <p:nvPr/>
          </p:nvSpPr>
          <p:spPr bwMode="auto">
            <a:xfrm>
              <a:off x="4621" y="3168"/>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2440" name="Rectangle 24"/>
            <p:cNvSpPr>
              <a:spLocks noChangeArrowheads="1"/>
            </p:cNvSpPr>
            <p:nvPr/>
          </p:nvSpPr>
          <p:spPr bwMode="auto">
            <a:xfrm>
              <a:off x="4381" y="2973"/>
              <a:ext cx="5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(then stmts)</a:t>
              </a:r>
              <a:endParaRPr lang="en-US" altLang="en-US" sz="2400"/>
            </a:p>
          </p:txBody>
        </p:sp>
      </p:grpSp>
      <p:grpSp>
        <p:nvGrpSpPr>
          <p:cNvPr id="572521" name="Group 105"/>
          <p:cNvGrpSpPr>
            <a:grpSpLocks/>
          </p:cNvGrpSpPr>
          <p:nvPr/>
        </p:nvGrpSpPr>
        <p:grpSpPr bwMode="auto">
          <a:xfrm>
            <a:off x="4968875" y="4525963"/>
            <a:ext cx="1085850" cy="635000"/>
            <a:chOff x="3130" y="2851"/>
            <a:chExt cx="684" cy="400"/>
          </a:xfrm>
        </p:grpSpPr>
        <p:sp>
          <p:nvSpPr>
            <p:cNvPr id="572444" name="Rectangle 28"/>
            <p:cNvSpPr>
              <a:spLocks noChangeArrowheads="1"/>
            </p:cNvSpPr>
            <p:nvPr/>
          </p:nvSpPr>
          <p:spPr bwMode="auto">
            <a:xfrm>
              <a:off x="3130" y="2851"/>
              <a:ext cx="4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if (cond) {</a:t>
              </a:r>
              <a:endParaRPr lang="en-US" altLang="en-US" sz="2400"/>
            </a:p>
          </p:txBody>
        </p:sp>
        <p:sp>
          <p:nvSpPr>
            <p:cNvPr id="572447" name="Rectangle 31"/>
            <p:cNvSpPr>
              <a:spLocks noChangeArrowheads="1"/>
            </p:cNvSpPr>
            <p:nvPr/>
          </p:nvSpPr>
          <p:spPr bwMode="auto">
            <a:xfrm>
              <a:off x="3130" y="2988"/>
              <a:ext cx="68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    // then stmts</a:t>
              </a:r>
              <a:endParaRPr lang="en-US" altLang="en-US" sz="2400"/>
            </a:p>
          </p:txBody>
        </p:sp>
        <p:sp>
          <p:nvSpPr>
            <p:cNvPr id="572450" name="Rectangle 34"/>
            <p:cNvSpPr>
              <a:spLocks noChangeArrowheads="1"/>
            </p:cNvSpPr>
            <p:nvPr/>
          </p:nvSpPr>
          <p:spPr bwMode="auto">
            <a:xfrm>
              <a:off x="3130" y="3126"/>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t>
              </a:r>
              <a:endParaRPr lang="en-US" altLang="en-US" sz="2400"/>
            </a:p>
          </p:txBody>
        </p:sp>
      </p:grpSp>
      <p:grpSp>
        <p:nvGrpSpPr>
          <p:cNvPr id="572522" name="Group 106"/>
          <p:cNvGrpSpPr>
            <a:grpSpLocks/>
          </p:cNvGrpSpPr>
          <p:nvPr/>
        </p:nvGrpSpPr>
        <p:grpSpPr bwMode="auto">
          <a:xfrm>
            <a:off x="7067550" y="3852863"/>
            <a:ext cx="1098550" cy="879475"/>
            <a:chOff x="4452" y="2427"/>
            <a:chExt cx="692" cy="554"/>
          </a:xfrm>
        </p:grpSpPr>
        <p:sp>
          <p:nvSpPr>
            <p:cNvPr id="572425" name="Line 9"/>
            <p:cNvSpPr>
              <a:spLocks noChangeShapeType="1"/>
            </p:cNvSpPr>
            <p:nvPr/>
          </p:nvSpPr>
          <p:spPr bwMode="auto">
            <a:xfrm>
              <a:off x="4646" y="2427"/>
              <a:ext cx="1" cy="1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2426" name="Freeform 10"/>
            <p:cNvSpPr>
              <a:spLocks/>
            </p:cNvSpPr>
            <p:nvPr/>
          </p:nvSpPr>
          <p:spPr bwMode="auto">
            <a:xfrm>
              <a:off x="4621" y="250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2427" name="Line 11"/>
            <p:cNvSpPr>
              <a:spLocks noChangeShapeType="1"/>
            </p:cNvSpPr>
            <p:nvPr/>
          </p:nvSpPr>
          <p:spPr bwMode="auto">
            <a:xfrm>
              <a:off x="4646" y="2805"/>
              <a:ext cx="1" cy="1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2428" name="Freeform 12"/>
            <p:cNvSpPr>
              <a:spLocks/>
            </p:cNvSpPr>
            <p:nvPr/>
          </p:nvSpPr>
          <p:spPr bwMode="auto">
            <a:xfrm>
              <a:off x="4621" y="2881"/>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2433" name="Rectangle 17"/>
            <p:cNvSpPr>
              <a:spLocks noChangeArrowheads="1"/>
            </p:cNvSpPr>
            <p:nvPr/>
          </p:nvSpPr>
          <p:spPr bwMode="auto">
            <a:xfrm>
              <a:off x="4889" y="2580"/>
              <a:ext cx="25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!cond</a:t>
              </a:r>
              <a:endParaRPr lang="en-US" altLang="en-US" sz="2400"/>
            </a:p>
          </p:txBody>
        </p:sp>
        <p:sp>
          <p:nvSpPr>
            <p:cNvPr id="572436" name="Rectangle 20"/>
            <p:cNvSpPr>
              <a:spLocks noChangeArrowheads="1"/>
            </p:cNvSpPr>
            <p:nvPr/>
          </p:nvSpPr>
          <p:spPr bwMode="auto">
            <a:xfrm>
              <a:off x="4705" y="2799"/>
              <a:ext cx="2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cond</a:t>
              </a:r>
              <a:endParaRPr lang="en-US" altLang="en-US" sz="2400"/>
            </a:p>
          </p:txBody>
        </p:sp>
        <p:sp>
          <p:nvSpPr>
            <p:cNvPr id="572451" name="Oval 35"/>
            <p:cNvSpPr>
              <a:spLocks noChangeArrowheads="1"/>
            </p:cNvSpPr>
            <p:nvPr/>
          </p:nvSpPr>
          <p:spPr bwMode="auto">
            <a:xfrm>
              <a:off x="4452" y="2612"/>
              <a:ext cx="388" cy="193"/>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2524" name="Group 108"/>
          <p:cNvGrpSpPr>
            <a:grpSpLocks/>
          </p:cNvGrpSpPr>
          <p:nvPr/>
        </p:nvGrpSpPr>
        <p:grpSpPr bwMode="auto">
          <a:xfrm>
            <a:off x="6678613" y="4300538"/>
            <a:ext cx="1604962" cy="1487487"/>
            <a:chOff x="4207" y="2709"/>
            <a:chExt cx="1011" cy="937"/>
          </a:xfrm>
        </p:grpSpPr>
        <p:sp>
          <p:nvSpPr>
            <p:cNvPr id="572422" name="Freeform 6"/>
            <p:cNvSpPr>
              <a:spLocks/>
            </p:cNvSpPr>
            <p:nvPr/>
          </p:nvSpPr>
          <p:spPr bwMode="auto">
            <a:xfrm>
              <a:off x="4840" y="2709"/>
              <a:ext cx="378" cy="665"/>
            </a:xfrm>
            <a:custGeom>
              <a:avLst/>
              <a:gdLst>
                <a:gd name="T0" fmla="*/ 87 w 378"/>
                <a:gd name="T1" fmla="*/ 665 h 665"/>
                <a:gd name="T2" fmla="*/ 378 w 378"/>
                <a:gd name="T3" fmla="*/ 665 h 665"/>
                <a:gd name="T4" fmla="*/ 378 w 378"/>
                <a:gd name="T5" fmla="*/ 0 h 665"/>
                <a:gd name="T6" fmla="*/ 0 w 378"/>
                <a:gd name="T7" fmla="*/ 0 h 665"/>
              </a:gdLst>
              <a:ahLst/>
              <a:cxnLst>
                <a:cxn ang="0">
                  <a:pos x="T0" y="T1"/>
                </a:cxn>
                <a:cxn ang="0">
                  <a:pos x="T2" y="T3"/>
                </a:cxn>
                <a:cxn ang="0">
                  <a:pos x="T4" y="T5"/>
                </a:cxn>
                <a:cxn ang="0">
                  <a:pos x="T6" y="T7"/>
                </a:cxn>
              </a:cxnLst>
              <a:rect l="0" t="0" r="r" b="b"/>
              <a:pathLst>
                <a:path w="378" h="665">
                  <a:moveTo>
                    <a:pt x="87" y="665"/>
                  </a:moveTo>
                  <a:lnTo>
                    <a:pt x="378" y="665"/>
                  </a:lnTo>
                  <a:lnTo>
                    <a:pt x="378"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2423" name="Freeform 7"/>
            <p:cNvSpPr>
              <a:spLocks/>
            </p:cNvSpPr>
            <p:nvPr/>
          </p:nvSpPr>
          <p:spPr bwMode="auto">
            <a:xfrm>
              <a:off x="4846" y="3349"/>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2431" name="Line 15"/>
            <p:cNvSpPr>
              <a:spLocks noChangeShapeType="1"/>
            </p:cNvSpPr>
            <p:nvPr/>
          </p:nvSpPr>
          <p:spPr bwMode="auto">
            <a:xfrm>
              <a:off x="4646" y="3474"/>
              <a:ext cx="1" cy="11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2432" name="Freeform 16"/>
            <p:cNvSpPr>
              <a:spLocks/>
            </p:cNvSpPr>
            <p:nvPr/>
          </p:nvSpPr>
          <p:spPr bwMode="auto">
            <a:xfrm>
              <a:off x="4621" y="3546"/>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2438" name="Rectangle 22"/>
            <p:cNvSpPr>
              <a:spLocks noChangeArrowheads="1"/>
            </p:cNvSpPr>
            <p:nvPr/>
          </p:nvSpPr>
          <p:spPr bwMode="auto">
            <a:xfrm>
              <a:off x="4207" y="3323"/>
              <a:ext cx="24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(end)</a:t>
              </a:r>
              <a:endParaRPr lang="en-US" altLang="en-US" sz="2400"/>
            </a:p>
          </p:txBody>
        </p:sp>
        <p:sp>
          <p:nvSpPr>
            <p:cNvPr id="572452" name="Oval 36"/>
            <p:cNvSpPr>
              <a:spLocks noChangeArrowheads="1"/>
            </p:cNvSpPr>
            <p:nvPr/>
          </p:nvSpPr>
          <p:spPr bwMode="auto">
            <a:xfrm>
              <a:off x="4452" y="3277"/>
              <a:ext cx="388" cy="194"/>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72453" name="Freeform 37"/>
          <p:cNvSpPr>
            <a:spLocks/>
          </p:cNvSpPr>
          <p:nvPr/>
        </p:nvSpPr>
        <p:spPr bwMode="auto">
          <a:xfrm>
            <a:off x="6324600" y="4583113"/>
            <a:ext cx="350838" cy="273050"/>
          </a:xfrm>
          <a:custGeom>
            <a:avLst/>
            <a:gdLst>
              <a:gd name="T0" fmla="*/ 221 w 221"/>
              <a:gd name="T1" fmla="*/ 87 h 172"/>
              <a:gd name="T2" fmla="*/ 109 w 221"/>
              <a:gd name="T3" fmla="*/ 0 h 172"/>
              <a:gd name="T4" fmla="*/ 109 w 221"/>
              <a:gd name="T5" fmla="*/ 47 h 172"/>
              <a:gd name="T6" fmla="*/ 0 w 221"/>
              <a:gd name="T7" fmla="*/ 47 h 172"/>
              <a:gd name="T8" fmla="*/ 0 w 221"/>
              <a:gd name="T9" fmla="*/ 125 h 172"/>
              <a:gd name="T10" fmla="*/ 109 w 221"/>
              <a:gd name="T11" fmla="*/ 125 h 172"/>
              <a:gd name="T12" fmla="*/ 109 w 221"/>
              <a:gd name="T13" fmla="*/ 172 h 172"/>
              <a:gd name="T14" fmla="*/ 221 w 221"/>
              <a:gd name="T15" fmla="*/ 87 h 1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1" h="172">
                <a:moveTo>
                  <a:pt x="221" y="87"/>
                </a:moveTo>
                <a:lnTo>
                  <a:pt x="109" y="0"/>
                </a:lnTo>
                <a:lnTo>
                  <a:pt x="109" y="47"/>
                </a:lnTo>
                <a:lnTo>
                  <a:pt x="0" y="47"/>
                </a:lnTo>
                <a:lnTo>
                  <a:pt x="0" y="125"/>
                </a:lnTo>
                <a:lnTo>
                  <a:pt x="109" y="125"/>
                </a:lnTo>
                <a:lnTo>
                  <a:pt x="109" y="172"/>
                </a:lnTo>
                <a:lnTo>
                  <a:pt x="221" y="87"/>
                </a:lnTo>
                <a:close/>
              </a:path>
            </a:pathLst>
          </a:custGeom>
          <a:solidFill>
            <a:srgbClr val="0078C1"/>
          </a:solidFill>
          <a:ln w="9525" cap="flat">
            <a:solidFill>
              <a:srgbClr val="0078C1"/>
            </a:solidFill>
            <a:prstDash val="solid"/>
            <a:miter lim="800000"/>
            <a:headEnd/>
            <a:tailEnd/>
          </a:ln>
        </p:spPr>
        <p:txBody>
          <a:bodyPr/>
          <a:lstStyle/>
          <a:p>
            <a:endParaRPr lang="en-US"/>
          </a:p>
        </p:txBody>
      </p:sp>
      <p:sp>
        <p:nvSpPr>
          <p:cNvPr id="572525" name="Text Box 109"/>
          <p:cNvSpPr txBox="1">
            <a:spLocks noChangeArrowheads="1"/>
          </p:cNvSpPr>
          <p:nvPr/>
        </p:nvSpPr>
        <p:spPr bwMode="auto">
          <a:xfrm>
            <a:off x="8672513" y="27797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72526" name="Text Box 110"/>
          <p:cNvSpPr txBox="1">
            <a:spLocks noChangeArrowheads="1"/>
          </p:cNvSpPr>
          <p:nvPr/>
        </p:nvSpPr>
        <p:spPr bwMode="auto">
          <a:xfrm>
            <a:off x="8672513" y="465772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725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7251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7252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7252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7245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7252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57252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5725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511"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Slide Number Placeholder 3"/>
          <p:cNvSpPr>
            <a:spLocks noGrp="1"/>
          </p:cNvSpPr>
          <p:nvPr>
            <p:ph type="sldNum" sz="quarter" idx="10"/>
          </p:nvPr>
        </p:nvSpPr>
        <p:spPr/>
        <p:txBody>
          <a:bodyPr/>
          <a:lstStyle/>
          <a:p>
            <a:fld id="{1047B1C7-4237-4DE7-B30B-59304B6C8974}" type="slidenum">
              <a:rPr lang="en-US" altLang="en-US"/>
              <a:pPr/>
              <a:t>58</a:t>
            </a:fld>
            <a:endParaRPr lang="en-US" altLang="en-US"/>
          </a:p>
        </p:txBody>
      </p:sp>
      <p:sp>
        <p:nvSpPr>
          <p:cNvPr id="573442" name="Rectangle 2"/>
          <p:cNvSpPr>
            <a:spLocks noGrp="1" noChangeArrowheads="1"/>
          </p:cNvSpPr>
          <p:nvPr>
            <p:ph type="title"/>
          </p:nvPr>
        </p:nvSpPr>
        <p:spPr/>
        <p:txBody>
          <a:bodyPr/>
          <a:lstStyle/>
          <a:p>
            <a:r>
              <a:rPr lang="en-US" altLang="en-US"/>
              <a:t>Converting from C to High-Level State Machine</a:t>
            </a:r>
          </a:p>
        </p:txBody>
      </p:sp>
      <p:sp>
        <p:nvSpPr>
          <p:cNvPr id="573443" name="Rectangle 3"/>
          <p:cNvSpPr>
            <a:spLocks noGrp="1" noChangeArrowheads="1"/>
          </p:cNvSpPr>
          <p:nvPr>
            <p:ph type="body" idx="1"/>
          </p:nvPr>
        </p:nvSpPr>
        <p:spPr>
          <a:xfrm>
            <a:off x="228600" y="1219200"/>
            <a:ext cx="4502150" cy="4876800"/>
          </a:xfrm>
        </p:spPr>
        <p:txBody>
          <a:bodyPr/>
          <a:lstStyle/>
          <a:p>
            <a:r>
              <a:rPr lang="en-US" altLang="en-US" i="1"/>
              <a:t>If-then-else</a:t>
            </a:r>
          </a:p>
          <a:p>
            <a:pPr lvl="1"/>
            <a:r>
              <a:rPr lang="en-US" altLang="en-US"/>
              <a:t>Becomes state with condition check, transitioning to “then” statements if condition true, or to “else” statements if condition false</a:t>
            </a:r>
          </a:p>
          <a:p>
            <a:pPr lvl="1"/>
            <a:endParaRPr lang="en-US" altLang="en-US"/>
          </a:p>
          <a:p>
            <a:pPr lvl="1"/>
            <a:endParaRPr lang="en-US" altLang="en-US"/>
          </a:p>
          <a:p>
            <a:r>
              <a:rPr lang="en-US" altLang="en-US" i="1"/>
              <a:t>While loop </a:t>
            </a:r>
            <a:r>
              <a:rPr lang="en-US" altLang="en-US"/>
              <a:t>statement</a:t>
            </a:r>
          </a:p>
          <a:p>
            <a:pPr lvl="1"/>
            <a:r>
              <a:rPr lang="en-US" altLang="en-US"/>
              <a:t>Becomes state with condition check, transitioning to while loop’s statements if true, then transitioning back to condition check</a:t>
            </a:r>
          </a:p>
        </p:txBody>
      </p:sp>
      <p:grpSp>
        <p:nvGrpSpPr>
          <p:cNvPr id="573555" name="Group 115"/>
          <p:cNvGrpSpPr>
            <a:grpSpLocks/>
          </p:cNvGrpSpPr>
          <p:nvPr/>
        </p:nvGrpSpPr>
        <p:grpSpPr bwMode="auto">
          <a:xfrm>
            <a:off x="5049838" y="1898650"/>
            <a:ext cx="1085850" cy="1292225"/>
            <a:chOff x="3181" y="1196"/>
            <a:chExt cx="684" cy="814"/>
          </a:xfrm>
        </p:grpSpPr>
        <p:sp>
          <p:nvSpPr>
            <p:cNvPr id="573508" name="Rectangle 68"/>
            <p:cNvSpPr>
              <a:spLocks noChangeArrowheads="1"/>
            </p:cNvSpPr>
            <p:nvPr/>
          </p:nvSpPr>
          <p:spPr bwMode="auto">
            <a:xfrm>
              <a:off x="3181" y="1196"/>
              <a:ext cx="44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if (cond) {</a:t>
              </a:r>
              <a:endParaRPr lang="en-US" altLang="en-US" sz="2400"/>
            </a:p>
          </p:txBody>
        </p:sp>
        <p:sp>
          <p:nvSpPr>
            <p:cNvPr id="573511" name="Rectangle 71"/>
            <p:cNvSpPr>
              <a:spLocks noChangeArrowheads="1"/>
            </p:cNvSpPr>
            <p:nvPr/>
          </p:nvSpPr>
          <p:spPr bwMode="auto">
            <a:xfrm>
              <a:off x="3181" y="1335"/>
              <a:ext cx="68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    // then stmts</a:t>
              </a:r>
              <a:endParaRPr lang="en-US" altLang="en-US" sz="2400"/>
            </a:p>
          </p:txBody>
        </p:sp>
        <p:sp>
          <p:nvSpPr>
            <p:cNvPr id="573514" name="Rectangle 74"/>
            <p:cNvSpPr>
              <a:spLocks noChangeArrowheads="1"/>
            </p:cNvSpPr>
            <p:nvPr/>
          </p:nvSpPr>
          <p:spPr bwMode="auto">
            <a:xfrm>
              <a:off x="3181" y="1471"/>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t>
              </a:r>
              <a:endParaRPr lang="en-US" altLang="en-US" sz="2400"/>
            </a:p>
          </p:txBody>
        </p:sp>
        <p:sp>
          <p:nvSpPr>
            <p:cNvPr id="573515" name="Rectangle 75"/>
            <p:cNvSpPr>
              <a:spLocks noChangeArrowheads="1"/>
            </p:cNvSpPr>
            <p:nvPr/>
          </p:nvSpPr>
          <p:spPr bwMode="auto">
            <a:xfrm>
              <a:off x="3181" y="1610"/>
              <a:ext cx="25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else {</a:t>
              </a:r>
              <a:endParaRPr lang="en-US" altLang="en-US" sz="2400"/>
            </a:p>
          </p:txBody>
        </p:sp>
        <p:sp>
          <p:nvSpPr>
            <p:cNvPr id="573516" name="Rectangle 76"/>
            <p:cNvSpPr>
              <a:spLocks noChangeArrowheads="1"/>
            </p:cNvSpPr>
            <p:nvPr/>
          </p:nvSpPr>
          <p:spPr bwMode="auto">
            <a:xfrm>
              <a:off x="3181" y="1746"/>
              <a:ext cx="64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   // else stmts</a:t>
              </a:r>
              <a:endParaRPr lang="en-US" altLang="en-US" sz="2400"/>
            </a:p>
          </p:txBody>
        </p:sp>
        <p:sp>
          <p:nvSpPr>
            <p:cNvPr id="573519" name="Rectangle 79"/>
            <p:cNvSpPr>
              <a:spLocks noChangeArrowheads="1"/>
            </p:cNvSpPr>
            <p:nvPr/>
          </p:nvSpPr>
          <p:spPr bwMode="auto">
            <a:xfrm>
              <a:off x="3181" y="1885"/>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t>
              </a:r>
              <a:endParaRPr lang="en-US" altLang="en-US" sz="2400"/>
            </a:p>
          </p:txBody>
        </p:sp>
      </p:grpSp>
      <p:grpSp>
        <p:nvGrpSpPr>
          <p:cNvPr id="573556" name="Group 116"/>
          <p:cNvGrpSpPr>
            <a:grpSpLocks/>
          </p:cNvGrpSpPr>
          <p:nvPr/>
        </p:nvGrpSpPr>
        <p:grpSpPr bwMode="auto">
          <a:xfrm>
            <a:off x="6759575" y="1371600"/>
            <a:ext cx="2038350" cy="1935163"/>
            <a:chOff x="4258" y="864"/>
            <a:chExt cx="1284" cy="1219"/>
          </a:xfrm>
        </p:grpSpPr>
        <p:sp>
          <p:nvSpPr>
            <p:cNvPr id="573479" name="Freeform 39"/>
            <p:cNvSpPr>
              <a:spLocks/>
            </p:cNvSpPr>
            <p:nvPr/>
          </p:nvSpPr>
          <p:spPr bwMode="auto">
            <a:xfrm>
              <a:off x="4890" y="1145"/>
              <a:ext cx="378" cy="216"/>
            </a:xfrm>
            <a:custGeom>
              <a:avLst/>
              <a:gdLst>
                <a:gd name="T0" fmla="*/ 378 w 378"/>
                <a:gd name="T1" fmla="*/ 216 h 216"/>
                <a:gd name="T2" fmla="*/ 378 w 378"/>
                <a:gd name="T3" fmla="*/ 0 h 216"/>
                <a:gd name="T4" fmla="*/ 0 w 378"/>
                <a:gd name="T5" fmla="*/ 0 h 216"/>
              </a:gdLst>
              <a:ahLst/>
              <a:cxnLst>
                <a:cxn ang="0">
                  <a:pos x="T0" y="T1"/>
                </a:cxn>
                <a:cxn ang="0">
                  <a:pos x="T2" y="T3"/>
                </a:cxn>
                <a:cxn ang="0">
                  <a:pos x="T4" y="T5"/>
                </a:cxn>
              </a:cxnLst>
              <a:rect l="0" t="0" r="r" b="b"/>
              <a:pathLst>
                <a:path w="378" h="216">
                  <a:moveTo>
                    <a:pt x="378" y="216"/>
                  </a:moveTo>
                  <a:lnTo>
                    <a:pt x="378" y="0"/>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3480" name="Freeform 40"/>
            <p:cNvSpPr>
              <a:spLocks/>
            </p:cNvSpPr>
            <p:nvPr/>
          </p:nvSpPr>
          <p:spPr bwMode="auto">
            <a:xfrm>
              <a:off x="4978" y="1521"/>
              <a:ext cx="290" cy="290"/>
            </a:xfrm>
            <a:custGeom>
              <a:avLst/>
              <a:gdLst>
                <a:gd name="T0" fmla="*/ 0 w 290"/>
                <a:gd name="T1" fmla="*/ 290 h 290"/>
                <a:gd name="T2" fmla="*/ 290 w 290"/>
                <a:gd name="T3" fmla="*/ 290 h 290"/>
                <a:gd name="T4" fmla="*/ 290 w 290"/>
                <a:gd name="T5" fmla="*/ 0 h 290"/>
              </a:gdLst>
              <a:ahLst/>
              <a:cxnLst>
                <a:cxn ang="0">
                  <a:pos x="T0" y="T1"/>
                </a:cxn>
                <a:cxn ang="0">
                  <a:pos x="T2" y="T3"/>
                </a:cxn>
                <a:cxn ang="0">
                  <a:pos x="T4" y="T5"/>
                </a:cxn>
              </a:cxnLst>
              <a:rect l="0" t="0" r="r" b="b"/>
              <a:pathLst>
                <a:path w="290" h="290">
                  <a:moveTo>
                    <a:pt x="0" y="290"/>
                  </a:moveTo>
                  <a:lnTo>
                    <a:pt x="290" y="290"/>
                  </a:lnTo>
                  <a:lnTo>
                    <a:pt x="29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3481" name="Freeform 41"/>
            <p:cNvSpPr>
              <a:spLocks/>
            </p:cNvSpPr>
            <p:nvPr/>
          </p:nvSpPr>
          <p:spPr bwMode="auto">
            <a:xfrm>
              <a:off x="4896" y="1786"/>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483" name="Line 43"/>
            <p:cNvSpPr>
              <a:spLocks noChangeShapeType="1"/>
            </p:cNvSpPr>
            <p:nvPr/>
          </p:nvSpPr>
          <p:spPr bwMode="auto">
            <a:xfrm>
              <a:off x="4696" y="864"/>
              <a:ext cx="1" cy="11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3484" name="Freeform 44"/>
            <p:cNvSpPr>
              <a:spLocks/>
            </p:cNvSpPr>
            <p:nvPr/>
          </p:nvSpPr>
          <p:spPr bwMode="auto">
            <a:xfrm>
              <a:off x="4671" y="939"/>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485" name="Line 45"/>
            <p:cNvSpPr>
              <a:spLocks noChangeShapeType="1"/>
            </p:cNvSpPr>
            <p:nvPr/>
          </p:nvSpPr>
          <p:spPr bwMode="auto">
            <a:xfrm>
              <a:off x="4696" y="1242"/>
              <a:ext cx="1" cy="11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3486" name="Freeform 46"/>
            <p:cNvSpPr>
              <a:spLocks/>
            </p:cNvSpPr>
            <p:nvPr/>
          </p:nvSpPr>
          <p:spPr bwMode="auto">
            <a:xfrm>
              <a:off x="4671" y="1317"/>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487" name="Freeform 47"/>
            <p:cNvSpPr>
              <a:spLocks/>
            </p:cNvSpPr>
            <p:nvPr/>
          </p:nvSpPr>
          <p:spPr bwMode="auto">
            <a:xfrm>
              <a:off x="5243" y="1317"/>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488" name="Line 48"/>
            <p:cNvSpPr>
              <a:spLocks noChangeShapeType="1"/>
            </p:cNvSpPr>
            <p:nvPr/>
          </p:nvSpPr>
          <p:spPr bwMode="auto">
            <a:xfrm>
              <a:off x="4696" y="1533"/>
              <a:ext cx="1" cy="109"/>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3489" name="Freeform 49"/>
            <p:cNvSpPr>
              <a:spLocks/>
            </p:cNvSpPr>
            <p:nvPr/>
          </p:nvSpPr>
          <p:spPr bwMode="auto">
            <a:xfrm>
              <a:off x="4671" y="1605"/>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490" name="Line 50"/>
            <p:cNvSpPr>
              <a:spLocks noChangeShapeType="1"/>
            </p:cNvSpPr>
            <p:nvPr/>
          </p:nvSpPr>
          <p:spPr bwMode="auto">
            <a:xfrm>
              <a:off x="4696" y="1911"/>
              <a:ext cx="1" cy="11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3491" name="Freeform 51"/>
            <p:cNvSpPr>
              <a:spLocks/>
            </p:cNvSpPr>
            <p:nvPr/>
          </p:nvSpPr>
          <p:spPr bwMode="auto">
            <a:xfrm>
              <a:off x="4671" y="1983"/>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492" name="Rectangle 52"/>
            <p:cNvSpPr>
              <a:spLocks noChangeArrowheads="1"/>
            </p:cNvSpPr>
            <p:nvPr/>
          </p:nvSpPr>
          <p:spPr bwMode="auto">
            <a:xfrm>
              <a:off x="4939" y="1017"/>
              <a:ext cx="25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!cond</a:t>
              </a:r>
              <a:endParaRPr lang="en-US" altLang="en-US" sz="2400"/>
            </a:p>
          </p:txBody>
        </p:sp>
        <p:sp>
          <p:nvSpPr>
            <p:cNvPr id="573495" name="Rectangle 55"/>
            <p:cNvSpPr>
              <a:spLocks noChangeArrowheads="1"/>
            </p:cNvSpPr>
            <p:nvPr/>
          </p:nvSpPr>
          <p:spPr bwMode="auto">
            <a:xfrm>
              <a:off x="4756" y="1239"/>
              <a:ext cx="2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cond</a:t>
              </a:r>
              <a:endParaRPr lang="en-US" altLang="en-US" sz="2400"/>
            </a:p>
          </p:txBody>
        </p:sp>
        <p:sp>
          <p:nvSpPr>
            <p:cNvPr id="573497" name="Rectangle 57"/>
            <p:cNvSpPr>
              <a:spLocks noChangeArrowheads="1"/>
            </p:cNvSpPr>
            <p:nvPr/>
          </p:nvSpPr>
          <p:spPr bwMode="auto">
            <a:xfrm>
              <a:off x="4258" y="1760"/>
              <a:ext cx="24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(end)</a:t>
              </a:r>
              <a:endParaRPr lang="en-US" altLang="en-US" sz="2400"/>
            </a:p>
          </p:txBody>
        </p:sp>
        <p:sp>
          <p:nvSpPr>
            <p:cNvPr id="573498" name="Rectangle 58"/>
            <p:cNvSpPr>
              <a:spLocks noChangeArrowheads="1"/>
            </p:cNvSpPr>
            <p:nvPr/>
          </p:nvSpPr>
          <p:spPr bwMode="auto">
            <a:xfrm>
              <a:off x="4415" y="1410"/>
              <a:ext cx="5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(then stmts)</a:t>
              </a:r>
              <a:endParaRPr lang="en-US" altLang="en-US" sz="2400"/>
            </a:p>
          </p:txBody>
        </p:sp>
        <p:sp>
          <p:nvSpPr>
            <p:cNvPr id="573503" name="Rectangle 63"/>
            <p:cNvSpPr>
              <a:spLocks noChangeArrowheads="1"/>
            </p:cNvSpPr>
            <p:nvPr/>
          </p:nvSpPr>
          <p:spPr bwMode="auto">
            <a:xfrm>
              <a:off x="5003" y="1410"/>
              <a:ext cx="53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(else stmts)</a:t>
              </a:r>
              <a:endParaRPr lang="en-US" altLang="en-US" sz="2400"/>
            </a:p>
          </p:txBody>
        </p:sp>
        <p:sp>
          <p:nvSpPr>
            <p:cNvPr id="573520" name="Oval 80"/>
            <p:cNvSpPr>
              <a:spLocks noChangeArrowheads="1"/>
            </p:cNvSpPr>
            <p:nvPr/>
          </p:nvSpPr>
          <p:spPr bwMode="auto">
            <a:xfrm>
              <a:off x="4503" y="1048"/>
              <a:ext cx="387" cy="1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3521" name="Oval 81"/>
            <p:cNvSpPr>
              <a:spLocks noChangeArrowheads="1"/>
            </p:cNvSpPr>
            <p:nvPr/>
          </p:nvSpPr>
          <p:spPr bwMode="auto">
            <a:xfrm>
              <a:off x="4503" y="1714"/>
              <a:ext cx="387" cy="1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73522" name="Freeform 82"/>
          <p:cNvSpPr>
            <a:spLocks/>
          </p:cNvSpPr>
          <p:nvPr/>
        </p:nvSpPr>
        <p:spPr bwMode="auto">
          <a:xfrm>
            <a:off x="6413500" y="2106613"/>
            <a:ext cx="352425" cy="268287"/>
          </a:xfrm>
          <a:custGeom>
            <a:avLst/>
            <a:gdLst>
              <a:gd name="T0" fmla="*/ 222 w 222"/>
              <a:gd name="T1" fmla="*/ 84 h 169"/>
              <a:gd name="T2" fmla="*/ 109 w 222"/>
              <a:gd name="T3" fmla="*/ 0 h 169"/>
              <a:gd name="T4" fmla="*/ 109 w 222"/>
              <a:gd name="T5" fmla="*/ 47 h 169"/>
              <a:gd name="T6" fmla="*/ 0 w 222"/>
              <a:gd name="T7" fmla="*/ 47 h 169"/>
              <a:gd name="T8" fmla="*/ 0 w 222"/>
              <a:gd name="T9" fmla="*/ 122 h 169"/>
              <a:gd name="T10" fmla="*/ 109 w 222"/>
              <a:gd name="T11" fmla="*/ 122 h 169"/>
              <a:gd name="T12" fmla="*/ 109 w 222"/>
              <a:gd name="T13" fmla="*/ 169 h 169"/>
              <a:gd name="T14" fmla="*/ 222 w 22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2" h="169">
                <a:moveTo>
                  <a:pt x="222" y="84"/>
                </a:moveTo>
                <a:lnTo>
                  <a:pt x="109" y="0"/>
                </a:lnTo>
                <a:lnTo>
                  <a:pt x="109" y="47"/>
                </a:lnTo>
                <a:lnTo>
                  <a:pt x="0" y="47"/>
                </a:lnTo>
                <a:lnTo>
                  <a:pt x="0" y="122"/>
                </a:lnTo>
                <a:lnTo>
                  <a:pt x="109" y="122"/>
                </a:lnTo>
                <a:lnTo>
                  <a:pt x="109" y="169"/>
                </a:lnTo>
                <a:lnTo>
                  <a:pt x="222" y="84"/>
                </a:lnTo>
                <a:close/>
              </a:path>
            </a:pathLst>
          </a:custGeom>
          <a:solidFill>
            <a:srgbClr val="0078C1"/>
          </a:solidFill>
          <a:ln w="9525" cap="flat">
            <a:solidFill>
              <a:srgbClr val="0078C1"/>
            </a:solidFill>
            <a:prstDash val="solid"/>
            <a:miter lim="800000"/>
            <a:headEnd/>
            <a:tailEnd/>
          </a:ln>
        </p:spPr>
        <p:txBody>
          <a:bodyPr/>
          <a:lstStyle/>
          <a:p>
            <a:endParaRPr lang="en-US"/>
          </a:p>
        </p:txBody>
      </p:sp>
      <p:grpSp>
        <p:nvGrpSpPr>
          <p:cNvPr id="573557" name="Group 117"/>
          <p:cNvGrpSpPr>
            <a:grpSpLocks/>
          </p:cNvGrpSpPr>
          <p:nvPr/>
        </p:nvGrpSpPr>
        <p:grpSpPr bwMode="auto">
          <a:xfrm>
            <a:off x="5180013" y="4533900"/>
            <a:ext cx="1139825" cy="635000"/>
            <a:chOff x="3263" y="2856"/>
            <a:chExt cx="718" cy="400"/>
          </a:xfrm>
        </p:grpSpPr>
        <p:sp>
          <p:nvSpPr>
            <p:cNvPr id="573544" name="Rectangle 104"/>
            <p:cNvSpPr>
              <a:spLocks noChangeArrowheads="1"/>
            </p:cNvSpPr>
            <p:nvPr/>
          </p:nvSpPr>
          <p:spPr bwMode="auto">
            <a:xfrm>
              <a:off x="3263" y="2856"/>
              <a:ext cx="62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while (cond) {</a:t>
              </a:r>
              <a:endParaRPr lang="en-US" altLang="en-US" sz="2400"/>
            </a:p>
          </p:txBody>
        </p:sp>
        <p:sp>
          <p:nvSpPr>
            <p:cNvPr id="573547" name="Rectangle 107"/>
            <p:cNvSpPr>
              <a:spLocks noChangeArrowheads="1"/>
            </p:cNvSpPr>
            <p:nvPr/>
          </p:nvSpPr>
          <p:spPr bwMode="auto">
            <a:xfrm>
              <a:off x="3263" y="2992"/>
              <a:ext cx="7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    // while stmts</a:t>
              </a:r>
              <a:endParaRPr lang="en-US" altLang="en-US" sz="2400"/>
            </a:p>
          </p:txBody>
        </p:sp>
        <p:sp>
          <p:nvSpPr>
            <p:cNvPr id="573550" name="Rectangle 110"/>
            <p:cNvSpPr>
              <a:spLocks noChangeArrowheads="1"/>
            </p:cNvSpPr>
            <p:nvPr/>
          </p:nvSpPr>
          <p:spPr bwMode="auto">
            <a:xfrm>
              <a:off x="3263" y="3131"/>
              <a:ext cx="5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t>
              </a:r>
              <a:endParaRPr lang="en-US" altLang="en-US" sz="2400"/>
            </a:p>
          </p:txBody>
        </p:sp>
      </p:grpSp>
      <p:sp>
        <p:nvSpPr>
          <p:cNvPr id="573552" name="Freeform 112"/>
          <p:cNvSpPr>
            <a:spLocks/>
          </p:cNvSpPr>
          <p:nvPr/>
        </p:nvSpPr>
        <p:spPr bwMode="auto">
          <a:xfrm>
            <a:off x="6410325" y="4589463"/>
            <a:ext cx="357188" cy="271462"/>
          </a:xfrm>
          <a:custGeom>
            <a:avLst/>
            <a:gdLst>
              <a:gd name="T0" fmla="*/ 225 w 225"/>
              <a:gd name="T1" fmla="*/ 87 h 171"/>
              <a:gd name="T2" fmla="*/ 113 w 225"/>
              <a:gd name="T3" fmla="*/ 0 h 171"/>
              <a:gd name="T4" fmla="*/ 113 w 225"/>
              <a:gd name="T5" fmla="*/ 46 h 171"/>
              <a:gd name="T6" fmla="*/ 0 w 225"/>
              <a:gd name="T7" fmla="*/ 46 h 171"/>
              <a:gd name="T8" fmla="*/ 0 w 225"/>
              <a:gd name="T9" fmla="*/ 125 h 171"/>
              <a:gd name="T10" fmla="*/ 113 w 225"/>
              <a:gd name="T11" fmla="*/ 125 h 171"/>
              <a:gd name="T12" fmla="*/ 113 w 225"/>
              <a:gd name="T13" fmla="*/ 171 h 171"/>
              <a:gd name="T14" fmla="*/ 225 w 225"/>
              <a:gd name="T15" fmla="*/ 87 h 17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171">
                <a:moveTo>
                  <a:pt x="225" y="87"/>
                </a:moveTo>
                <a:lnTo>
                  <a:pt x="113" y="0"/>
                </a:lnTo>
                <a:lnTo>
                  <a:pt x="113" y="46"/>
                </a:lnTo>
                <a:lnTo>
                  <a:pt x="0" y="46"/>
                </a:lnTo>
                <a:lnTo>
                  <a:pt x="0" y="125"/>
                </a:lnTo>
                <a:lnTo>
                  <a:pt x="113" y="125"/>
                </a:lnTo>
                <a:lnTo>
                  <a:pt x="113" y="171"/>
                </a:lnTo>
                <a:lnTo>
                  <a:pt x="225" y="87"/>
                </a:lnTo>
                <a:close/>
              </a:path>
            </a:pathLst>
          </a:custGeom>
          <a:solidFill>
            <a:srgbClr val="0078C1"/>
          </a:solidFill>
          <a:ln w="9525" cap="flat">
            <a:solidFill>
              <a:srgbClr val="0078C1"/>
            </a:solidFill>
            <a:prstDash val="solid"/>
            <a:miter lim="800000"/>
            <a:headEnd/>
            <a:tailEnd/>
          </a:ln>
        </p:spPr>
        <p:txBody>
          <a:bodyPr/>
          <a:lstStyle/>
          <a:p>
            <a:endParaRPr lang="en-US"/>
          </a:p>
        </p:txBody>
      </p:sp>
      <p:grpSp>
        <p:nvGrpSpPr>
          <p:cNvPr id="573559" name="Group 119"/>
          <p:cNvGrpSpPr>
            <a:grpSpLocks/>
          </p:cNvGrpSpPr>
          <p:nvPr/>
        </p:nvGrpSpPr>
        <p:grpSpPr bwMode="auto">
          <a:xfrm>
            <a:off x="6975475" y="3859213"/>
            <a:ext cx="1373188" cy="1651000"/>
            <a:chOff x="4394" y="2431"/>
            <a:chExt cx="865" cy="1040"/>
          </a:xfrm>
        </p:grpSpPr>
        <p:sp>
          <p:nvSpPr>
            <p:cNvPr id="573525" name="Line 85"/>
            <p:cNvSpPr>
              <a:spLocks noChangeShapeType="1"/>
            </p:cNvSpPr>
            <p:nvPr/>
          </p:nvSpPr>
          <p:spPr bwMode="auto">
            <a:xfrm>
              <a:off x="4779" y="2431"/>
              <a:ext cx="1" cy="11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3526" name="Freeform 86"/>
            <p:cNvSpPr>
              <a:spLocks/>
            </p:cNvSpPr>
            <p:nvPr/>
          </p:nvSpPr>
          <p:spPr bwMode="auto">
            <a:xfrm>
              <a:off x="4754" y="2506"/>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527" name="Line 87"/>
            <p:cNvSpPr>
              <a:spLocks noChangeShapeType="1"/>
            </p:cNvSpPr>
            <p:nvPr/>
          </p:nvSpPr>
          <p:spPr bwMode="auto">
            <a:xfrm>
              <a:off x="4779" y="2809"/>
              <a:ext cx="1" cy="11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3528" name="Freeform 88"/>
            <p:cNvSpPr>
              <a:spLocks/>
            </p:cNvSpPr>
            <p:nvPr/>
          </p:nvSpPr>
          <p:spPr bwMode="auto">
            <a:xfrm>
              <a:off x="4754" y="2884"/>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529" name="Line 89"/>
            <p:cNvSpPr>
              <a:spLocks noChangeShapeType="1"/>
            </p:cNvSpPr>
            <p:nvPr/>
          </p:nvSpPr>
          <p:spPr bwMode="auto">
            <a:xfrm>
              <a:off x="4779" y="3100"/>
              <a:ext cx="1" cy="109"/>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3530" name="Freeform 90"/>
            <p:cNvSpPr>
              <a:spLocks/>
            </p:cNvSpPr>
            <p:nvPr/>
          </p:nvSpPr>
          <p:spPr bwMode="auto">
            <a:xfrm>
              <a:off x="4754" y="3172"/>
              <a:ext cx="50" cy="100"/>
            </a:xfrm>
            <a:custGeom>
              <a:avLst/>
              <a:gdLst>
                <a:gd name="T0" fmla="*/ 25 w 50"/>
                <a:gd name="T1" fmla="*/ 100 h 100"/>
                <a:gd name="T2" fmla="*/ 50 w 50"/>
                <a:gd name="T3" fmla="*/ 0 h 100"/>
                <a:gd name="T4" fmla="*/ 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50" y="0"/>
                  </a:lnTo>
                  <a:lnTo>
                    <a:pt x="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531" name="Rectangle 91"/>
            <p:cNvSpPr>
              <a:spLocks noChangeArrowheads="1"/>
            </p:cNvSpPr>
            <p:nvPr/>
          </p:nvSpPr>
          <p:spPr bwMode="auto">
            <a:xfrm>
              <a:off x="5022" y="2584"/>
              <a:ext cx="23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!cond</a:t>
              </a:r>
              <a:endParaRPr lang="en-US" altLang="en-US" sz="2400"/>
            </a:p>
          </p:txBody>
        </p:sp>
        <p:sp>
          <p:nvSpPr>
            <p:cNvPr id="573534" name="Rectangle 94"/>
            <p:cNvSpPr>
              <a:spLocks noChangeArrowheads="1"/>
            </p:cNvSpPr>
            <p:nvPr/>
          </p:nvSpPr>
          <p:spPr bwMode="auto">
            <a:xfrm>
              <a:off x="4838" y="2804"/>
              <a:ext cx="20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cond</a:t>
              </a:r>
              <a:endParaRPr lang="en-US" altLang="en-US" sz="2400"/>
            </a:p>
          </p:txBody>
        </p:sp>
        <p:sp>
          <p:nvSpPr>
            <p:cNvPr id="573537" name="Freeform 97"/>
            <p:cNvSpPr>
              <a:spLocks/>
            </p:cNvSpPr>
            <p:nvPr/>
          </p:nvSpPr>
          <p:spPr bwMode="auto">
            <a:xfrm>
              <a:off x="4394" y="2712"/>
              <a:ext cx="188" cy="666"/>
            </a:xfrm>
            <a:custGeom>
              <a:avLst/>
              <a:gdLst>
                <a:gd name="T0" fmla="*/ 100 w 188"/>
                <a:gd name="T1" fmla="*/ 0 h 666"/>
                <a:gd name="T2" fmla="*/ 0 w 188"/>
                <a:gd name="T3" fmla="*/ 0 h 666"/>
                <a:gd name="T4" fmla="*/ 0 w 188"/>
                <a:gd name="T5" fmla="*/ 666 h 666"/>
                <a:gd name="T6" fmla="*/ 188 w 188"/>
                <a:gd name="T7" fmla="*/ 666 h 666"/>
              </a:gdLst>
              <a:ahLst/>
              <a:cxnLst>
                <a:cxn ang="0">
                  <a:pos x="T0" y="T1"/>
                </a:cxn>
                <a:cxn ang="0">
                  <a:pos x="T2" y="T3"/>
                </a:cxn>
                <a:cxn ang="0">
                  <a:pos x="T4" y="T5"/>
                </a:cxn>
                <a:cxn ang="0">
                  <a:pos x="T6" y="T7"/>
                </a:cxn>
              </a:cxnLst>
              <a:rect l="0" t="0" r="r" b="b"/>
              <a:pathLst>
                <a:path w="188" h="666">
                  <a:moveTo>
                    <a:pt x="100" y="0"/>
                  </a:moveTo>
                  <a:lnTo>
                    <a:pt x="0" y="0"/>
                  </a:lnTo>
                  <a:lnTo>
                    <a:pt x="0" y="666"/>
                  </a:lnTo>
                  <a:lnTo>
                    <a:pt x="188" y="666"/>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3538" name="Freeform 98"/>
            <p:cNvSpPr>
              <a:spLocks/>
            </p:cNvSpPr>
            <p:nvPr/>
          </p:nvSpPr>
          <p:spPr bwMode="auto">
            <a:xfrm>
              <a:off x="4476" y="2687"/>
              <a:ext cx="100" cy="50"/>
            </a:xfrm>
            <a:custGeom>
              <a:avLst/>
              <a:gdLst>
                <a:gd name="T0" fmla="*/ 100 w 100"/>
                <a:gd name="T1" fmla="*/ 25 h 50"/>
                <a:gd name="T2" fmla="*/ 0 w 100"/>
                <a:gd name="T3" fmla="*/ 50 h 50"/>
                <a:gd name="T4" fmla="*/ 0 w 100"/>
                <a:gd name="T5" fmla="*/ 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50"/>
                  </a:lnTo>
                  <a:lnTo>
                    <a:pt x="0" y="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539" name="Rectangle 99"/>
            <p:cNvSpPr>
              <a:spLocks noChangeArrowheads="1"/>
            </p:cNvSpPr>
            <p:nvPr/>
          </p:nvSpPr>
          <p:spPr bwMode="auto">
            <a:xfrm>
              <a:off x="4518" y="2977"/>
              <a:ext cx="54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(while stmts)</a:t>
              </a:r>
              <a:endParaRPr lang="en-US" altLang="en-US" sz="2400"/>
            </a:p>
          </p:txBody>
        </p:sp>
        <p:sp>
          <p:nvSpPr>
            <p:cNvPr id="573551" name="Oval 111"/>
            <p:cNvSpPr>
              <a:spLocks noChangeArrowheads="1"/>
            </p:cNvSpPr>
            <p:nvPr/>
          </p:nvSpPr>
          <p:spPr bwMode="auto">
            <a:xfrm>
              <a:off x="4585" y="2615"/>
              <a:ext cx="388" cy="1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3553" name="Oval 113"/>
            <p:cNvSpPr>
              <a:spLocks noChangeArrowheads="1"/>
            </p:cNvSpPr>
            <p:nvPr/>
          </p:nvSpPr>
          <p:spPr bwMode="auto">
            <a:xfrm>
              <a:off x="4593" y="3277"/>
              <a:ext cx="388" cy="1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3560" name="Group 120"/>
          <p:cNvGrpSpPr>
            <a:grpSpLocks/>
          </p:cNvGrpSpPr>
          <p:nvPr/>
        </p:nvGrpSpPr>
        <p:grpSpPr bwMode="auto">
          <a:xfrm>
            <a:off x="6883400" y="4305300"/>
            <a:ext cx="1611313" cy="1631950"/>
            <a:chOff x="4336" y="2712"/>
            <a:chExt cx="1015" cy="1028"/>
          </a:xfrm>
        </p:grpSpPr>
        <p:sp>
          <p:nvSpPr>
            <p:cNvPr id="573523" name="Freeform 83"/>
            <p:cNvSpPr>
              <a:spLocks/>
            </p:cNvSpPr>
            <p:nvPr/>
          </p:nvSpPr>
          <p:spPr bwMode="auto">
            <a:xfrm>
              <a:off x="4973" y="2712"/>
              <a:ext cx="378" cy="901"/>
            </a:xfrm>
            <a:custGeom>
              <a:avLst/>
              <a:gdLst>
                <a:gd name="T0" fmla="*/ 87 w 378"/>
                <a:gd name="T1" fmla="*/ 901 h 901"/>
                <a:gd name="T2" fmla="*/ 378 w 378"/>
                <a:gd name="T3" fmla="*/ 901 h 901"/>
                <a:gd name="T4" fmla="*/ 378 w 378"/>
                <a:gd name="T5" fmla="*/ 0 h 901"/>
                <a:gd name="T6" fmla="*/ 0 w 378"/>
                <a:gd name="T7" fmla="*/ 0 h 901"/>
              </a:gdLst>
              <a:ahLst/>
              <a:cxnLst>
                <a:cxn ang="0">
                  <a:pos x="T0" y="T1"/>
                </a:cxn>
                <a:cxn ang="0">
                  <a:pos x="T2" y="T3"/>
                </a:cxn>
                <a:cxn ang="0">
                  <a:pos x="T4" y="T5"/>
                </a:cxn>
                <a:cxn ang="0">
                  <a:pos x="T6" y="T7"/>
                </a:cxn>
              </a:cxnLst>
              <a:rect l="0" t="0" r="r" b="b"/>
              <a:pathLst>
                <a:path w="378" h="901">
                  <a:moveTo>
                    <a:pt x="87" y="901"/>
                  </a:moveTo>
                  <a:lnTo>
                    <a:pt x="378" y="901"/>
                  </a:lnTo>
                  <a:lnTo>
                    <a:pt x="378" y="0"/>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3524" name="Freeform 84"/>
            <p:cNvSpPr>
              <a:spLocks/>
            </p:cNvSpPr>
            <p:nvPr/>
          </p:nvSpPr>
          <p:spPr bwMode="auto">
            <a:xfrm>
              <a:off x="4979" y="3588"/>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3536" name="Rectangle 96"/>
            <p:cNvSpPr>
              <a:spLocks noChangeArrowheads="1"/>
            </p:cNvSpPr>
            <p:nvPr/>
          </p:nvSpPr>
          <p:spPr bwMode="auto">
            <a:xfrm>
              <a:off x="4336" y="3555"/>
              <a:ext cx="22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(end)</a:t>
              </a:r>
              <a:endParaRPr lang="en-US" altLang="en-US" sz="2400"/>
            </a:p>
          </p:txBody>
        </p:sp>
        <p:sp>
          <p:nvSpPr>
            <p:cNvPr id="573554" name="Oval 114"/>
            <p:cNvSpPr>
              <a:spLocks noChangeArrowheads="1"/>
            </p:cNvSpPr>
            <p:nvPr/>
          </p:nvSpPr>
          <p:spPr bwMode="auto">
            <a:xfrm>
              <a:off x="4609" y="3546"/>
              <a:ext cx="388" cy="19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73561" name="Text Box 121"/>
          <p:cNvSpPr txBox="1">
            <a:spLocks noChangeArrowheads="1"/>
          </p:cNvSpPr>
          <p:nvPr/>
        </p:nvSpPr>
        <p:spPr bwMode="auto">
          <a:xfrm>
            <a:off x="8720138" y="251460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73562" name="Text Box 122"/>
          <p:cNvSpPr txBox="1">
            <a:spLocks noChangeArrowheads="1"/>
          </p:cNvSpPr>
          <p:nvPr/>
        </p:nvSpPr>
        <p:spPr bwMode="auto">
          <a:xfrm>
            <a:off x="8707438" y="475297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7355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7352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7355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7355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7355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73559"/>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5735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lide Number Placeholder 3"/>
          <p:cNvSpPr>
            <a:spLocks noGrp="1"/>
          </p:cNvSpPr>
          <p:nvPr>
            <p:ph type="sldNum" sz="quarter" idx="10"/>
          </p:nvPr>
        </p:nvSpPr>
        <p:spPr/>
        <p:txBody>
          <a:bodyPr/>
          <a:lstStyle/>
          <a:p>
            <a:fld id="{2D74C465-C94A-4C94-83EE-DD1485D4EAFA}" type="slidenum">
              <a:rPr lang="en-US" altLang="en-US"/>
              <a:pPr/>
              <a:t>59</a:t>
            </a:fld>
            <a:endParaRPr lang="en-US" altLang="en-US"/>
          </a:p>
        </p:txBody>
      </p:sp>
      <p:sp>
        <p:nvSpPr>
          <p:cNvPr id="574466" name="Rectangle 2"/>
          <p:cNvSpPr>
            <a:spLocks noGrp="1" noChangeArrowheads="1"/>
          </p:cNvSpPr>
          <p:nvPr>
            <p:ph type="title"/>
          </p:nvPr>
        </p:nvSpPr>
        <p:spPr/>
        <p:txBody>
          <a:bodyPr/>
          <a:lstStyle/>
          <a:p>
            <a:r>
              <a:rPr lang="en-US" altLang="en-US"/>
              <a:t>Simple Example of Converting from C to High-Level State Machine</a:t>
            </a:r>
          </a:p>
        </p:txBody>
      </p:sp>
      <p:sp>
        <p:nvSpPr>
          <p:cNvPr id="574467" name="Rectangle 3"/>
          <p:cNvSpPr>
            <a:spLocks noGrp="1" noChangeArrowheads="1"/>
          </p:cNvSpPr>
          <p:nvPr>
            <p:ph type="body" idx="1"/>
          </p:nvPr>
        </p:nvSpPr>
        <p:spPr>
          <a:xfrm>
            <a:off x="228600" y="4826000"/>
            <a:ext cx="8610600" cy="1270000"/>
          </a:xfrm>
        </p:spPr>
        <p:txBody>
          <a:bodyPr/>
          <a:lstStyle/>
          <a:p>
            <a:r>
              <a:rPr lang="en-US" altLang="en-US"/>
              <a:t>Simple example: Computing the maximum of two numbers</a:t>
            </a:r>
          </a:p>
          <a:p>
            <a:pPr lvl="1"/>
            <a:r>
              <a:rPr lang="en-US" altLang="en-US"/>
              <a:t>Convert if-then-else statement to states (b)</a:t>
            </a:r>
          </a:p>
          <a:p>
            <a:pPr lvl="1"/>
            <a:r>
              <a:rPr lang="en-US" altLang="en-US"/>
              <a:t>Then convert assignment statements to states (c)</a:t>
            </a:r>
          </a:p>
        </p:txBody>
      </p:sp>
      <p:grpSp>
        <p:nvGrpSpPr>
          <p:cNvPr id="574650" name="Group 186"/>
          <p:cNvGrpSpPr>
            <a:grpSpLocks/>
          </p:cNvGrpSpPr>
          <p:nvPr/>
        </p:nvGrpSpPr>
        <p:grpSpPr bwMode="auto">
          <a:xfrm>
            <a:off x="5745163" y="1338263"/>
            <a:ext cx="2351087" cy="3536950"/>
            <a:chOff x="3619" y="843"/>
            <a:chExt cx="1481" cy="2228"/>
          </a:xfrm>
        </p:grpSpPr>
        <p:sp>
          <p:nvSpPr>
            <p:cNvPr id="574604" name="Freeform 140"/>
            <p:cNvSpPr>
              <a:spLocks/>
            </p:cNvSpPr>
            <p:nvPr/>
          </p:nvSpPr>
          <p:spPr bwMode="auto">
            <a:xfrm>
              <a:off x="4560" y="1222"/>
              <a:ext cx="511" cy="233"/>
            </a:xfrm>
            <a:custGeom>
              <a:avLst/>
              <a:gdLst>
                <a:gd name="T0" fmla="*/ 286 w 286"/>
                <a:gd name="T1" fmla="*/ 130 h 130"/>
                <a:gd name="T2" fmla="*/ 286 w 286"/>
                <a:gd name="T3" fmla="*/ 0 h 130"/>
                <a:gd name="T4" fmla="*/ 0 w 286"/>
                <a:gd name="T5" fmla="*/ 0 h 130"/>
              </a:gdLst>
              <a:ahLst/>
              <a:cxnLst>
                <a:cxn ang="0">
                  <a:pos x="T0" y="T1"/>
                </a:cxn>
                <a:cxn ang="0">
                  <a:pos x="T2" y="T3"/>
                </a:cxn>
                <a:cxn ang="0">
                  <a:pos x="T4" y="T5"/>
                </a:cxn>
              </a:cxnLst>
              <a:rect l="0" t="0" r="r" b="b"/>
              <a:pathLst>
                <a:path w="286" h="130">
                  <a:moveTo>
                    <a:pt x="286" y="130"/>
                  </a:moveTo>
                  <a:lnTo>
                    <a:pt x="286" y="0"/>
                  </a:lnTo>
                  <a:lnTo>
                    <a:pt x="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605" name="Freeform 141"/>
            <p:cNvSpPr>
              <a:spLocks/>
            </p:cNvSpPr>
            <p:nvPr/>
          </p:nvSpPr>
          <p:spPr bwMode="auto">
            <a:xfrm>
              <a:off x="4678" y="2232"/>
              <a:ext cx="393" cy="354"/>
            </a:xfrm>
            <a:custGeom>
              <a:avLst/>
              <a:gdLst>
                <a:gd name="T0" fmla="*/ 0 w 220"/>
                <a:gd name="T1" fmla="*/ 198 h 198"/>
                <a:gd name="T2" fmla="*/ 220 w 220"/>
                <a:gd name="T3" fmla="*/ 198 h 198"/>
                <a:gd name="T4" fmla="*/ 220 w 220"/>
                <a:gd name="T5" fmla="*/ 0 h 198"/>
              </a:gdLst>
              <a:ahLst/>
              <a:cxnLst>
                <a:cxn ang="0">
                  <a:pos x="T0" y="T1"/>
                </a:cxn>
                <a:cxn ang="0">
                  <a:pos x="T2" y="T3"/>
                </a:cxn>
                <a:cxn ang="0">
                  <a:pos x="T4" y="T5"/>
                </a:cxn>
              </a:cxnLst>
              <a:rect l="0" t="0" r="r" b="b"/>
              <a:pathLst>
                <a:path w="220" h="198">
                  <a:moveTo>
                    <a:pt x="0" y="198"/>
                  </a:moveTo>
                  <a:lnTo>
                    <a:pt x="220" y="198"/>
                  </a:lnTo>
                  <a:lnTo>
                    <a:pt x="22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606" name="Freeform 142"/>
            <p:cNvSpPr>
              <a:spLocks/>
            </p:cNvSpPr>
            <p:nvPr/>
          </p:nvSpPr>
          <p:spPr bwMode="auto">
            <a:xfrm>
              <a:off x="4563" y="2556"/>
              <a:ext cx="136" cy="68"/>
            </a:xfrm>
            <a:custGeom>
              <a:avLst/>
              <a:gdLst>
                <a:gd name="T0" fmla="*/ 0 w 76"/>
                <a:gd name="T1" fmla="*/ 19 h 38"/>
                <a:gd name="T2" fmla="*/ 76 w 76"/>
                <a:gd name="T3" fmla="*/ 0 h 38"/>
                <a:gd name="T4" fmla="*/ 76 w 76"/>
                <a:gd name="T5" fmla="*/ 38 h 38"/>
                <a:gd name="T6" fmla="*/ 0 w 76"/>
                <a:gd name="T7" fmla="*/ 19 h 38"/>
              </a:gdLst>
              <a:ahLst/>
              <a:cxnLst>
                <a:cxn ang="0">
                  <a:pos x="T0" y="T1"/>
                </a:cxn>
                <a:cxn ang="0">
                  <a:pos x="T2" y="T3"/>
                </a:cxn>
                <a:cxn ang="0">
                  <a:pos x="T4" y="T5"/>
                </a:cxn>
                <a:cxn ang="0">
                  <a:pos x="T6" y="T7"/>
                </a:cxn>
              </a:cxnLst>
              <a:rect l="0" t="0" r="r" b="b"/>
              <a:pathLst>
                <a:path w="76" h="38">
                  <a:moveTo>
                    <a:pt x="0" y="19"/>
                  </a:moveTo>
                  <a:lnTo>
                    <a:pt x="76" y="0"/>
                  </a:lnTo>
                  <a:lnTo>
                    <a:pt x="76" y="38"/>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07" name="Line 143"/>
            <p:cNvSpPr>
              <a:spLocks noChangeShapeType="1"/>
            </p:cNvSpPr>
            <p:nvPr/>
          </p:nvSpPr>
          <p:spPr bwMode="auto">
            <a:xfrm>
              <a:off x="4297" y="843"/>
              <a:ext cx="2" cy="152"/>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608" name="Freeform 144"/>
            <p:cNvSpPr>
              <a:spLocks/>
            </p:cNvSpPr>
            <p:nvPr/>
          </p:nvSpPr>
          <p:spPr bwMode="auto">
            <a:xfrm>
              <a:off x="4263" y="943"/>
              <a:ext cx="68" cy="13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09" name="Line 145"/>
            <p:cNvSpPr>
              <a:spLocks noChangeShapeType="1"/>
            </p:cNvSpPr>
            <p:nvPr/>
          </p:nvSpPr>
          <p:spPr bwMode="auto">
            <a:xfrm>
              <a:off x="4297" y="1353"/>
              <a:ext cx="2" cy="110"/>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610" name="Freeform 146"/>
            <p:cNvSpPr>
              <a:spLocks/>
            </p:cNvSpPr>
            <p:nvPr/>
          </p:nvSpPr>
          <p:spPr bwMode="auto">
            <a:xfrm>
              <a:off x="4263" y="1412"/>
              <a:ext cx="68" cy="13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15" name="Line 151"/>
            <p:cNvSpPr>
              <a:spLocks noChangeShapeType="1"/>
            </p:cNvSpPr>
            <p:nvPr/>
          </p:nvSpPr>
          <p:spPr bwMode="auto">
            <a:xfrm>
              <a:off x="4297" y="2232"/>
              <a:ext cx="2" cy="134"/>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616" name="Freeform 152"/>
            <p:cNvSpPr>
              <a:spLocks/>
            </p:cNvSpPr>
            <p:nvPr/>
          </p:nvSpPr>
          <p:spPr bwMode="auto">
            <a:xfrm>
              <a:off x="4263" y="2316"/>
              <a:ext cx="68" cy="13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17" name="Freeform 153"/>
            <p:cNvSpPr>
              <a:spLocks/>
            </p:cNvSpPr>
            <p:nvPr/>
          </p:nvSpPr>
          <p:spPr bwMode="auto">
            <a:xfrm>
              <a:off x="5032" y="1404"/>
              <a:ext cx="68" cy="13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18" name="Line 154"/>
            <p:cNvSpPr>
              <a:spLocks noChangeShapeType="1"/>
            </p:cNvSpPr>
            <p:nvPr/>
          </p:nvSpPr>
          <p:spPr bwMode="auto">
            <a:xfrm>
              <a:off x="4297" y="2722"/>
              <a:ext cx="2" cy="152"/>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619" name="Freeform 155"/>
            <p:cNvSpPr>
              <a:spLocks/>
            </p:cNvSpPr>
            <p:nvPr/>
          </p:nvSpPr>
          <p:spPr bwMode="auto">
            <a:xfrm>
              <a:off x="4263" y="2822"/>
              <a:ext cx="68" cy="13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20" name="Rectangle 156"/>
            <p:cNvSpPr>
              <a:spLocks noChangeArrowheads="1"/>
            </p:cNvSpPr>
            <p:nvPr/>
          </p:nvSpPr>
          <p:spPr bwMode="auto">
            <a:xfrm>
              <a:off x="3619" y="2501"/>
              <a:ext cx="2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(end)</a:t>
              </a:r>
              <a:endParaRPr lang="en-US" altLang="en-US" sz="2400">
                <a:latin typeface="Arial" panose="020B0604020202020204" pitchFamily="34" charset="0"/>
              </a:endParaRPr>
            </a:p>
          </p:txBody>
        </p:sp>
        <p:sp>
          <p:nvSpPr>
            <p:cNvPr id="574621" name="Oval 157"/>
            <p:cNvSpPr>
              <a:spLocks noChangeArrowheads="1"/>
            </p:cNvSpPr>
            <p:nvPr/>
          </p:nvSpPr>
          <p:spPr bwMode="auto">
            <a:xfrm>
              <a:off x="4030" y="1092"/>
              <a:ext cx="530" cy="261"/>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623" name="Oval 159"/>
            <p:cNvSpPr>
              <a:spLocks noChangeArrowheads="1"/>
            </p:cNvSpPr>
            <p:nvPr/>
          </p:nvSpPr>
          <p:spPr bwMode="auto">
            <a:xfrm>
              <a:off x="4030" y="2459"/>
              <a:ext cx="530" cy="263"/>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624" name="Rectangle 160"/>
            <p:cNvSpPr>
              <a:spLocks noChangeArrowheads="1"/>
            </p:cNvSpPr>
            <p:nvPr/>
          </p:nvSpPr>
          <p:spPr bwMode="auto">
            <a:xfrm>
              <a:off x="4488" y="2957"/>
              <a:ext cx="113"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sz="2400">
                <a:latin typeface="Arial" panose="020B0604020202020204" pitchFamily="34" charset="0"/>
              </a:endParaRPr>
            </a:p>
          </p:txBody>
        </p:sp>
        <p:sp>
          <p:nvSpPr>
            <p:cNvPr id="574632" name="Rectangle 168"/>
            <p:cNvSpPr>
              <a:spLocks noChangeArrowheads="1"/>
            </p:cNvSpPr>
            <p:nvPr/>
          </p:nvSpPr>
          <p:spPr bwMode="auto">
            <a:xfrm>
              <a:off x="4379" y="1379"/>
              <a:ext cx="21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X&gt;Y</a:t>
              </a:r>
              <a:endParaRPr lang="en-US" altLang="en-US" sz="2400">
                <a:latin typeface="Arial" panose="020B0604020202020204" pitchFamily="34" charset="0"/>
              </a:endParaRPr>
            </a:p>
          </p:txBody>
        </p:sp>
        <p:sp>
          <p:nvSpPr>
            <p:cNvPr id="574634" name="Rectangle 170"/>
            <p:cNvSpPr>
              <a:spLocks noChangeArrowheads="1"/>
            </p:cNvSpPr>
            <p:nvPr/>
          </p:nvSpPr>
          <p:spPr bwMode="auto">
            <a:xfrm>
              <a:off x="4637" y="1059"/>
              <a:ext cx="2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!(X&gt;Y)</a:t>
              </a:r>
              <a:endParaRPr lang="en-US" altLang="en-US" sz="2400">
                <a:latin typeface="Arial" panose="020B0604020202020204" pitchFamily="34" charset="0"/>
              </a:endParaRPr>
            </a:p>
          </p:txBody>
        </p:sp>
      </p:grpSp>
      <p:grpSp>
        <p:nvGrpSpPr>
          <p:cNvPr id="574647" name="Group 183"/>
          <p:cNvGrpSpPr>
            <a:grpSpLocks/>
          </p:cNvGrpSpPr>
          <p:nvPr/>
        </p:nvGrpSpPr>
        <p:grpSpPr bwMode="auto">
          <a:xfrm>
            <a:off x="2730500" y="1338263"/>
            <a:ext cx="2552700" cy="3536950"/>
            <a:chOff x="1720" y="843"/>
            <a:chExt cx="1608" cy="2228"/>
          </a:xfrm>
        </p:grpSpPr>
        <p:sp>
          <p:nvSpPr>
            <p:cNvPr id="574585" name="Freeform 121"/>
            <p:cNvSpPr>
              <a:spLocks/>
            </p:cNvSpPr>
            <p:nvPr/>
          </p:nvSpPr>
          <p:spPr bwMode="auto">
            <a:xfrm>
              <a:off x="2598" y="1222"/>
              <a:ext cx="512" cy="283"/>
            </a:xfrm>
            <a:custGeom>
              <a:avLst/>
              <a:gdLst>
                <a:gd name="T0" fmla="*/ 286 w 286"/>
                <a:gd name="T1" fmla="*/ 158 h 158"/>
                <a:gd name="T2" fmla="*/ 286 w 286"/>
                <a:gd name="T3" fmla="*/ 0 h 158"/>
                <a:gd name="T4" fmla="*/ 0 w 286"/>
                <a:gd name="T5" fmla="*/ 0 h 158"/>
              </a:gdLst>
              <a:ahLst/>
              <a:cxnLst>
                <a:cxn ang="0">
                  <a:pos x="T0" y="T1"/>
                </a:cxn>
                <a:cxn ang="0">
                  <a:pos x="T2" y="T3"/>
                </a:cxn>
                <a:cxn ang="0">
                  <a:pos x="T4" y="T5"/>
                </a:cxn>
              </a:cxnLst>
              <a:rect l="0" t="0" r="r" b="b"/>
              <a:pathLst>
                <a:path w="286" h="158">
                  <a:moveTo>
                    <a:pt x="286" y="158"/>
                  </a:moveTo>
                  <a:lnTo>
                    <a:pt x="286" y="0"/>
                  </a:lnTo>
                  <a:lnTo>
                    <a:pt x="0"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586" name="Freeform 122"/>
            <p:cNvSpPr>
              <a:spLocks/>
            </p:cNvSpPr>
            <p:nvPr/>
          </p:nvSpPr>
          <p:spPr bwMode="auto">
            <a:xfrm>
              <a:off x="2718" y="2198"/>
              <a:ext cx="392" cy="388"/>
            </a:xfrm>
            <a:custGeom>
              <a:avLst/>
              <a:gdLst>
                <a:gd name="T0" fmla="*/ 0 w 219"/>
                <a:gd name="T1" fmla="*/ 217 h 217"/>
                <a:gd name="T2" fmla="*/ 219 w 219"/>
                <a:gd name="T3" fmla="*/ 217 h 217"/>
                <a:gd name="T4" fmla="*/ 219 w 219"/>
                <a:gd name="T5" fmla="*/ 0 h 217"/>
              </a:gdLst>
              <a:ahLst/>
              <a:cxnLst>
                <a:cxn ang="0">
                  <a:pos x="T0" y="T1"/>
                </a:cxn>
                <a:cxn ang="0">
                  <a:pos x="T2" y="T3"/>
                </a:cxn>
                <a:cxn ang="0">
                  <a:pos x="T4" y="T5"/>
                </a:cxn>
              </a:cxnLst>
              <a:rect l="0" t="0" r="r" b="b"/>
              <a:pathLst>
                <a:path w="219" h="217">
                  <a:moveTo>
                    <a:pt x="0" y="217"/>
                  </a:moveTo>
                  <a:lnTo>
                    <a:pt x="219" y="217"/>
                  </a:lnTo>
                  <a:lnTo>
                    <a:pt x="219" y="0"/>
                  </a:lnTo>
                </a:path>
              </a:pathLst>
            </a:custGeom>
            <a:noFill/>
            <a:ln w="15875"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587" name="Freeform 123"/>
            <p:cNvSpPr>
              <a:spLocks/>
            </p:cNvSpPr>
            <p:nvPr/>
          </p:nvSpPr>
          <p:spPr bwMode="auto">
            <a:xfrm>
              <a:off x="2604" y="2556"/>
              <a:ext cx="134" cy="68"/>
            </a:xfrm>
            <a:custGeom>
              <a:avLst/>
              <a:gdLst>
                <a:gd name="T0" fmla="*/ 0 w 75"/>
                <a:gd name="T1" fmla="*/ 19 h 38"/>
                <a:gd name="T2" fmla="*/ 75 w 75"/>
                <a:gd name="T3" fmla="*/ 0 h 38"/>
                <a:gd name="T4" fmla="*/ 75 w 75"/>
                <a:gd name="T5" fmla="*/ 38 h 38"/>
                <a:gd name="T6" fmla="*/ 0 w 75"/>
                <a:gd name="T7" fmla="*/ 19 h 38"/>
              </a:gdLst>
              <a:ahLst/>
              <a:cxnLst>
                <a:cxn ang="0">
                  <a:pos x="T0" y="T1"/>
                </a:cxn>
                <a:cxn ang="0">
                  <a:pos x="T2" y="T3"/>
                </a:cxn>
                <a:cxn ang="0">
                  <a:pos x="T4" y="T5"/>
                </a:cxn>
                <a:cxn ang="0">
                  <a:pos x="T6" y="T7"/>
                </a:cxn>
              </a:cxnLst>
              <a:rect l="0" t="0" r="r" b="b"/>
              <a:pathLst>
                <a:path w="75" h="38">
                  <a:moveTo>
                    <a:pt x="0" y="19"/>
                  </a:moveTo>
                  <a:lnTo>
                    <a:pt x="75" y="0"/>
                  </a:lnTo>
                  <a:lnTo>
                    <a:pt x="75" y="38"/>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588" name="Line 124"/>
            <p:cNvSpPr>
              <a:spLocks noChangeShapeType="1"/>
            </p:cNvSpPr>
            <p:nvPr/>
          </p:nvSpPr>
          <p:spPr bwMode="auto">
            <a:xfrm>
              <a:off x="2337" y="843"/>
              <a:ext cx="2" cy="152"/>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589" name="Freeform 125"/>
            <p:cNvSpPr>
              <a:spLocks/>
            </p:cNvSpPr>
            <p:nvPr/>
          </p:nvSpPr>
          <p:spPr bwMode="auto">
            <a:xfrm>
              <a:off x="2303" y="943"/>
              <a:ext cx="68" cy="13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590" name="Line 126"/>
            <p:cNvSpPr>
              <a:spLocks noChangeShapeType="1"/>
            </p:cNvSpPr>
            <p:nvPr/>
          </p:nvSpPr>
          <p:spPr bwMode="auto">
            <a:xfrm>
              <a:off x="2337" y="1353"/>
              <a:ext cx="2" cy="152"/>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591" name="Freeform 127"/>
            <p:cNvSpPr>
              <a:spLocks/>
            </p:cNvSpPr>
            <p:nvPr/>
          </p:nvSpPr>
          <p:spPr bwMode="auto">
            <a:xfrm>
              <a:off x="2303" y="1455"/>
              <a:ext cx="68" cy="135"/>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592" name="Freeform 128"/>
            <p:cNvSpPr>
              <a:spLocks/>
            </p:cNvSpPr>
            <p:nvPr/>
          </p:nvSpPr>
          <p:spPr bwMode="auto">
            <a:xfrm>
              <a:off x="3072" y="1455"/>
              <a:ext cx="68" cy="135"/>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593" name="Line 129"/>
            <p:cNvSpPr>
              <a:spLocks noChangeShapeType="1"/>
            </p:cNvSpPr>
            <p:nvPr/>
          </p:nvSpPr>
          <p:spPr bwMode="auto">
            <a:xfrm>
              <a:off x="2337" y="2211"/>
              <a:ext cx="2" cy="152"/>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594" name="Freeform 130"/>
            <p:cNvSpPr>
              <a:spLocks/>
            </p:cNvSpPr>
            <p:nvPr/>
          </p:nvSpPr>
          <p:spPr bwMode="auto">
            <a:xfrm>
              <a:off x="2303" y="2311"/>
              <a:ext cx="68" cy="13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595" name="Line 131"/>
            <p:cNvSpPr>
              <a:spLocks noChangeShapeType="1"/>
            </p:cNvSpPr>
            <p:nvPr/>
          </p:nvSpPr>
          <p:spPr bwMode="auto">
            <a:xfrm>
              <a:off x="2337" y="2722"/>
              <a:ext cx="2" cy="152"/>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596" name="Freeform 132"/>
            <p:cNvSpPr>
              <a:spLocks/>
            </p:cNvSpPr>
            <p:nvPr/>
          </p:nvSpPr>
          <p:spPr bwMode="auto">
            <a:xfrm>
              <a:off x="2303" y="2822"/>
              <a:ext cx="68" cy="13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597" name="Rectangle 133"/>
            <p:cNvSpPr>
              <a:spLocks noChangeArrowheads="1"/>
            </p:cNvSpPr>
            <p:nvPr/>
          </p:nvSpPr>
          <p:spPr bwMode="auto">
            <a:xfrm>
              <a:off x="1720" y="2501"/>
              <a:ext cx="2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(end)</a:t>
              </a:r>
              <a:endParaRPr lang="en-US" altLang="en-US" sz="2400">
                <a:latin typeface="Arial" panose="020B0604020202020204" pitchFamily="34" charset="0"/>
              </a:endParaRPr>
            </a:p>
          </p:txBody>
        </p:sp>
        <p:sp>
          <p:nvSpPr>
            <p:cNvPr id="574598" name="Rectangle 134"/>
            <p:cNvSpPr>
              <a:spLocks noChangeArrowheads="1"/>
            </p:cNvSpPr>
            <p:nvPr/>
          </p:nvSpPr>
          <p:spPr bwMode="auto">
            <a:xfrm>
              <a:off x="1826" y="1819"/>
              <a:ext cx="59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(then stmts)</a:t>
              </a:r>
              <a:endParaRPr lang="en-US" altLang="en-US" sz="2400">
                <a:latin typeface="Arial" panose="020B0604020202020204" pitchFamily="34" charset="0"/>
              </a:endParaRPr>
            </a:p>
          </p:txBody>
        </p:sp>
        <p:sp>
          <p:nvSpPr>
            <p:cNvPr id="574599" name="Rectangle 135"/>
            <p:cNvSpPr>
              <a:spLocks noChangeArrowheads="1"/>
            </p:cNvSpPr>
            <p:nvPr/>
          </p:nvSpPr>
          <p:spPr bwMode="auto">
            <a:xfrm>
              <a:off x="2750" y="1819"/>
              <a:ext cx="57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(else stmts)</a:t>
              </a:r>
              <a:endParaRPr lang="en-US" altLang="en-US" sz="2400">
                <a:latin typeface="Arial" panose="020B0604020202020204" pitchFamily="34" charset="0"/>
              </a:endParaRPr>
            </a:p>
          </p:txBody>
        </p:sp>
        <p:sp>
          <p:nvSpPr>
            <p:cNvPr id="574600" name="Oval 136"/>
            <p:cNvSpPr>
              <a:spLocks noChangeArrowheads="1"/>
            </p:cNvSpPr>
            <p:nvPr/>
          </p:nvSpPr>
          <p:spPr bwMode="auto">
            <a:xfrm>
              <a:off x="2071" y="1092"/>
              <a:ext cx="527" cy="261"/>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601" name="Oval 137"/>
            <p:cNvSpPr>
              <a:spLocks noChangeArrowheads="1"/>
            </p:cNvSpPr>
            <p:nvPr/>
          </p:nvSpPr>
          <p:spPr bwMode="auto">
            <a:xfrm>
              <a:off x="2071" y="2459"/>
              <a:ext cx="527" cy="263"/>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602" name="Rectangle 138"/>
            <p:cNvSpPr>
              <a:spLocks noChangeArrowheads="1"/>
            </p:cNvSpPr>
            <p:nvPr/>
          </p:nvSpPr>
          <p:spPr bwMode="auto">
            <a:xfrm>
              <a:off x="2503" y="2957"/>
              <a:ext cx="117"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(b)</a:t>
              </a:r>
              <a:endParaRPr lang="en-US" altLang="en-US" sz="2400">
                <a:latin typeface="Arial" panose="020B0604020202020204" pitchFamily="34" charset="0"/>
              </a:endParaRPr>
            </a:p>
          </p:txBody>
        </p:sp>
        <p:sp>
          <p:nvSpPr>
            <p:cNvPr id="574633" name="Rectangle 169"/>
            <p:cNvSpPr>
              <a:spLocks noChangeArrowheads="1"/>
            </p:cNvSpPr>
            <p:nvPr/>
          </p:nvSpPr>
          <p:spPr bwMode="auto">
            <a:xfrm>
              <a:off x="2432" y="1379"/>
              <a:ext cx="215"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X&gt;Y</a:t>
              </a:r>
              <a:endParaRPr lang="en-US" altLang="en-US" sz="2400">
                <a:latin typeface="Arial" panose="020B0604020202020204" pitchFamily="34" charset="0"/>
              </a:endParaRPr>
            </a:p>
          </p:txBody>
        </p:sp>
        <p:sp>
          <p:nvSpPr>
            <p:cNvPr id="574635" name="Rectangle 171"/>
            <p:cNvSpPr>
              <a:spLocks noChangeArrowheads="1"/>
            </p:cNvSpPr>
            <p:nvPr/>
          </p:nvSpPr>
          <p:spPr bwMode="auto">
            <a:xfrm>
              <a:off x="2686" y="1059"/>
              <a:ext cx="2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!(X&gt;Y)</a:t>
              </a:r>
              <a:endParaRPr lang="en-US" altLang="en-US" sz="2400">
                <a:latin typeface="Arial" panose="020B0604020202020204" pitchFamily="34" charset="0"/>
              </a:endParaRPr>
            </a:p>
          </p:txBody>
        </p:sp>
      </p:grpSp>
      <p:grpSp>
        <p:nvGrpSpPr>
          <p:cNvPr id="574649" name="Group 185"/>
          <p:cNvGrpSpPr>
            <a:grpSpLocks/>
          </p:cNvGrpSpPr>
          <p:nvPr/>
        </p:nvGrpSpPr>
        <p:grpSpPr bwMode="auto">
          <a:xfrm>
            <a:off x="687388" y="2451100"/>
            <a:ext cx="7939087" cy="1652588"/>
            <a:chOff x="433" y="1544"/>
            <a:chExt cx="5001" cy="1041"/>
          </a:xfrm>
        </p:grpSpPr>
        <p:grpSp>
          <p:nvGrpSpPr>
            <p:cNvPr id="574648" name="Group 184"/>
            <p:cNvGrpSpPr>
              <a:grpSpLocks/>
            </p:cNvGrpSpPr>
            <p:nvPr/>
          </p:nvGrpSpPr>
          <p:grpSpPr bwMode="auto">
            <a:xfrm>
              <a:off x="3952" y="1544"/>
              <a:ext cx="1482" cy="697"/>
              <a:chOff x="3952" y="1544"/>
              <a:chExt cx="1482" cy="697"/>
            </a:xfrm>
          </p:grpSpPr>
          <p:pic>
            <p:nvPicPr>
              <p:cNvPr id="574583" name="Picture 1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 y="1544"/>
                <a:ext cx="710" cy="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4584" name="Picture 1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 y="1544"/>
                <a:ext cx="710" cy="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4611" name="Line 147"/>
              <p:cNvSpPr>
                <a:spLocks noChangeShapeType="1"/>
              </p:cNvSpPr>
              <p:nvPr/>
            </p:nvSpPr>
            <p:spPr bwMode="auto">
              <a:xfrm>
                <a:off x="4297" y="1548"/>
                <a:ext cx="2" cy="135"/>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612" name="Freeform 148"/>
              <p:cNvSpPr>
                <a:spLocks/>
              </p:cNvSpPr>
              <p:nvPr/>
            </p:nvSpPr>
            <p:spPr bwMode="auto">
              <a:xfrm>
                <a:off x="4263" y="1632"/>
                <a:ext cx="68" cy="135"/>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13" name="Line 149"/>
              <p:cNvSpPr>
                <a:spLocks noChangeShapeType="1"/>
              </p:cNvSpPr>
              <p:nvPr/>
            </p:nvSpPr>
            <p:spPr bwMode="auto">
              <a:xfrm>
                <a:off x="4297" y="2041"/>
                <a:ext cx="2" cy="106"/>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614" name="Freeform 150"/>
              <p:cNvSpPr>
                <a:spLocks/>
              </p:cNvSpPr>
              <p:nvPr/>
            </p:nvSpPr>
            <p:spPr bwMode="auto">
              <a:xfrm>
                <a:off x="4263" y="2096"/>
                <a:ext cx="68" cy="13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22" name="Oval 158"/>
              <p:cNvSpPr>
                <a:spLocks noChangeArrowheads="1"/>
              </p:cNvSpPr>
              <p:nvPr/>
            </p:nvSpPr>
            <p:spPr bwMode="auto">
              <a:xfrm>
                <a:off x="4030" y="1776"/>
                <a:ext cx="530" cy="261"/>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625" name="Rectangle 161"/>
              <p:cNvSpPr>
                <a:spLocks noChangeArrowheads="1"/>
              </p:cNvSpPr>
              <p:nvPr/>
            </p:nvSpPr>
            <p:spPr bwMode="auto">
              <a:xfrm>
                <a:off x="4097" y="1825"/>
                <a:ext cx="35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Max=X</a:t>
                </a:r>
                <a:endParaRPr lang="en-US" altLang="en-US" sz="2400">
                  <a:latin typeface="Arial" panose="020B0604020202020204" pitchFamily="34" charset="0"/>
                </a:endParaRPr>
              </a:p>
            </p:txBody>
          </p:sp>
          <p:sp>
            <p:nvSpPr>
              <p:cNvPr id="574626" name="Line 162"/>
              <p:cNvSpPr>
                <a:spLocks noChangeShapeType="1"/>
              </p:cNvSpPr>
              <p:nvPr/>
            </p:nvSpPr>
            <p:spPr bwMode="auto">
              <a:xfrm>
                <a:off x="5066" y="1548"/>
                <a:ext cx="1" cy="135"/>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627" name="Freeform 163"/>
              <p:cNvSpPr>
                <a:spLocks/>
              </p:cNvSpPr>
              <p:nvPr/>
            </p:nvSpPr>
            <p:spPr bwMode="auto">
              <a:xfrm>
                <a:off x="5032" y="1632"/>
                <a:ext cx="68" cy="135"/>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28" name="Line 164"/>
              <p:cNvSpPr>
                <a:spLocks noChangeShapeType="1"/>
              </p:cNvSpPr>
              <p:nvPr/>
            </p:nvSpPr>
            <p:spPr bwMode="auto">
              <a:xfrm>
                <a:off x="5066" y="2041"/>
                <a:ext cx="1" cy="106"/>
              </a:xfrm>
              <a:prstGeom prst="line">
                <a:avLst/>
              </a:prstGeom>
              <a:noFill/>
              <a:ln w="158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4629" name="Freeform 165"/>
              <p:cNvSpPr>
                <a:spLocks/>
              </p:cNvSpPr>
              <p:nvPr/>
            </p:nvSpPr>
            <p:spPr bwMode="auto">
              <a:xfrm>
                <a:off x="5032" y="2096"/>
                <a:ext cx="68" cy="13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4630" name="Oval 166"/>
              <p:cNvSpPr>
                <a:spLocks noChangeArrowheads="1"/>
              </p:cNvSpPr>
              <p:nvPr/>
            </p:nvSpPr>
            <p:spPr bwMode="auto">
              <a:xfrm>
                <a:off x="4805" y="1776"/>
                <a:ext cx="524" cy="261"/>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4631" name="Rectangle 167"/>
              <p:cNvSpPr>
                <a:spLocks noChangeArrowheads="1"/>
              </p:cNvSpPr>
              <p:nvPr/>
            </p:nvSpPr>
            <p:spPr bwMode="auto">
              <a:xfrm>
                <a:off x="4876" y="1825"/>
                <a:ext cx="35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Max=Y</a:t>
                </a:r>
                <a:endParaRPr lang="en-US" altLang="en-US" sz="2400">
                  <a:latin typeface="Arial" panose="020B0604020202020204" pitchFamily="34" charset="0"/>
                </a:endParaRPr>
              </a:p>
            </p:txBody>
          </p:sp>
        </p:grpSp>
        <p:pic>
          <p:nvPicPr>
            <p:cNvPr id="574581" name="Picture 1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 y="1744"/>
              <a:ext cx="91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4582" name="Picture 1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 y="2345"/>
              <a:ext cx="912" cy="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74646" name="Group 182"/>
          <p:cNvGrpSpPr>
            <a:grpSpLocks/>
          </p:cNvGrpSpPr>
          <p:nvPr/>
        </p:nvGrpSpPr>
        <p:grpSpPr bwMode="auto">
          <a:xfrm>
            <a:off x="633413" y="1468438"/>
            <a:ext cx="1304925" cy="3408362"/>
            <a:chOff x="399" y="925"/>
            <a:chExt cx="822" cy="2147"/>
          </a:xfrm>
        </p:grpSpPr>
        <p:sp>
          <p:nvSpPr>
            <p:cNvPr id="574603" name="Rectangle 139"/>
            <p:cNvSpPr>
              <a:spLocks noChangeArrowheads="1"/>
            </p:cNvSpPr>
            <p:nvPr/>
          </p:nvSpPr>
          <p:spPr bwMode="auto">
            <a:xfrm>
              <a:off x="875" y="2957"/>
              <a:ext cx="10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a:t>
              </a:r>
              <a:endParaRPr lang="en-US" altLang="en-US" sz="2400">
                <a:latin typeface="Arial" panose="020B0604020202020204" pitchFamily="34" charset="0"/>
              </a:endParaRPr>
            </a:p>
          </p:txBody>
        </p:sp>
        <p:sp>
          <p:nvSpPr>
            <p:cNvPr id="574636" name="Rectangle 172"/>
            <p:cNvSpPr>
              <a:spLocks noChangeArrowheads="1"/>
            </p:cNvSpPr>
            <p:nvPr/>
          </p:nvSpPr>
          <p:spPr bwMode="auto">
            <a:xfrm>
              <a:off x="399" y="925"/>
              <a:ext cx="75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Inputs: uint X, Y</a:t>
              </a:r>
              <a:endParaRPr lang="en-US" altLang="en-US" sz="2400">
                <a:latin typeface="Arial" panose="020B0604020202020204" pitchFamily="34" charset="0"/>
              </a:endParaRPr>
            </a:p>
          </p:txBody>
        </p:sp>
        <p:sp>
          <p:nvSpPr>
            <p:cNvPr id="574637" name="Rectangle 173"/>
            <p:cNvSpPr>
              <a:spLocks noChangeArrowheads="1"/>
            </p:cNvSpPr>
            <p:nvPr/>
          </p:nvSpPr>
          <p:spPr bwMode="auto">
            <a:xfrm>
              <a:off x="399" y="1077"/>
              <a:ext cx="82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Outputs: uint Max</a:t>
              </a:r>
              <a:endParaRPr lang="en-US" altLang="en-US" sz="2400">
                <a:latin typeface="Arial" panose="020B0604020202020204" pitchFamily="34" charset="0"/>
              </a:endParaRPr>
            </a:p>
          </p:txBody>
        </p:sp>
        <p:sp>
          <p:nvSpPr>
            <p:cNvPr id="574638" name="Rectangle 174"/>
            <p:cNvSpPr>
              <a:spLocks noChangeArrowheads="1"/>
            </p:cNvSpPr>
            <p:nvPr/>
          </p:nvSpPr>
          <p:spPr bwMode="auto">
            <a:xfrm>
              <a:off x="399" y="1589"/>
              <a:ext cx="53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if (X &gt; Y) {</a:t>
              </a:r>
              <a:endParaRPr lang="en-US" altLang="en-US" sz="2400">
                <a:latin typeface="Arial" panose="020B0604020202020204" pitchFamily="34" charset="0"/>
              </a:endParaRPr>
            </a:p>
          </p:txBody>
        </p:sp>
        <p:sp>
          <p:nvSpPr>
            <p:cNvPr id="574639" name="Rectangle 175"/>
            <p:cNvSpPr>
              <a:spLocks noChangeArrowheads="1"/>
            </p:cNvSpPr>
            <p:nvPr/>
          </p:nvSpPr>
          <p:spPr bwMode="auto">
            <a:xfrm>
              <a:off x="399" y="2011"/>
              <a:ext cx="5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t>
              </a:r>
              <a:endParaRPr lang="en-US" altLang="en-US" sz="2400">
                <a:latin typeface="Arial" panose="020B0604020202020204" pitchFamily="34" charset="0"/>
              </a:endParaRPr>
            </a:p>
          </p:txBody>
        </p:sp>
        <p:sp>
          <p:nvSpPr>
            <p:cNvPr id="574640" name="Rectangle 176"/>
            <p:cNvSpPr>
              <a:spLocks noChangeArrowheads="1"/>
            </p:cNvSpPr>
            <p:nvPr/>
          </p:nvSpPr>
          <p:spPr bwMode="auto">
            <a:xfrm>
              <a:off x="399" y="2197"/>
              <a:ext cx="25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else {</a:t>
              </a:r>
              <a:endParaRPr lang="en-US" altLang="en-US" sz="2400">
                <a:latin typeface="Arial" panose="020B0604020202020204" pitchFamily="34" charset="0"/>
              </a:endParaRPr>
            </a:p>
          </p:txBody>
        </p:sp>
        <p:sp>
          <p:nvSpPr>
            <p:cNvPr id="574641" name="Rectangle 177"/>
            <p:cNvSpPr>
              <a:spLocks noChangeArrowheads="1"/>
            </p:cNvSpPr>
            <p:nvPr/>
          </p:nvSpPr>
          <p:spPr bwMode="auto">
            <a:xfrm>
              <a:off x="399" y="2626"/>
              <a:ext cx="4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sz="2400">
                <a:latin typeface="Arial" panose="020B0604020202020204" pitchFamily="34" charset="0"/>
              </a:endParaRPr>
            </a:p>
          </p:txBody>
        </p:sp>
        <p:sp>
          <p:nvSpPr>
            <p:cNvPr id="574642" name="Rectangle 178"/>
            <p:cNvSpPr>
              <a:spLocks noChangeArrowheads="1"/>
            </p:cNvSpPr>
            <p:nvPr/>
          </p:nvSpPr>
          <p:spPr bwMode="auto">
            <a:xfrm>
              <a:off x="619" y="1805"/>
              <a:ext cx="4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Max = X;</a:t>
              </a:r>
              <a:endParaRPr lang="en-US" altLang="en-US" sz="2400">
                <a:latin typeface="Arial" panose="020B0604020202020204" pitchFamily="34" charset="0"/>
              </a:endParaRPr>
            </a:p>
          </p:txBody>
        </p:sp>
        <p:sp>
          <p:nvSpPr>
            <p:cNvPr id="574643" name="Rectangle 179"/>
            <p:cNvSpPr>
              <a:spLocks noChangeArrowheads="1"/>
            </p:cNvSpPr>
            <p:nvPr/>
          </p:nvSpPr>
          <p:spPr bwMode="auto">
            <a:xfrm>
              <a:off x="626" y="2413"/>
              <a:ext cx="4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Max = Y;</a:t>
              </a:r>
              <a:endParaRPr lang="en-US" altLang="en-US" sz="2400">
                <a:latin typeface="Arial" panose="020B0604020202020204" pitchFamily="34" charset="0"/>
              </a:endParaRPr>
            </a:p>
          </p:txBody>
        </p:sp>
      </p:grpSp>
      <p:sp>
        <p:nvSpPr>
          <p:cNvPr id="574651" name="Text Box 187"/>
          <p:cNvSpPr txBox="1">
            <a:spLocks noChangeArrowheads="1"/>
          </p:cNvSpPr>
          <p:nvPr/>
        </p:nvSpPr>
        <p:spPr bwMode="auto">
          <a:xfrm>
            <a:off x="4918075" y="434340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74652" name="Text Box 188"/>
          <p:cNvSpPr txBox="1">
            <a:spLocks noChangeArrowheads="1"/>
          </p:cNvSpPr>
          <p:nvPr/>
        </p:nvSpPr>
        <p:spPr bwMode="auto">
          <a:xfrm>
            <a:off x="8189913" y="433070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7464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7465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nodeType="clickEffect">
                                  <p:stCondLst>
                                    <p:cond delay="0"/>
                                  </p:stCondLst>
                                  <p:childTnLst>
                                    <p:set>
                                      <p:cBhvr>
                                        <p:cTn id="14" dur="1" fill="hold">
                                          <p:stCondLst>
                                            <p:cond delay="0"/>
                                          </p:stCondLst>
                                        </p:cTn>
                                        <p:tgtEl>
                                          <p:spTgt spid="574649"/>
                                        </p:tgtEl>
                                        <p:attrNameLst>
                                          <p:attrName>style.visibility</p:attrName>
                                        </p:attrNameLst>
                                      </p:cBhvr>
                                      <p:to>
                                        <p:strVal val="visible"/>
                                      </p:to>
                                    </p:set>
                                    <p:anim calcmode="lin" valueType="num">
                                      <p:cBhvr additive="base">
                                        <p:cTn id="15" dur="500" fill="hold"/>
                                        <p:tgtEl>
                                          <p:spTgt spid="574649"/>
                                        </p:tgtEl>
                                        <p:attrNameLst>
                                          <p:attrName>ppt_x</p:attrName>
                                        </p:attrNameLst>
                                      </p:cBhvr>
                                      <p:tavLst>
                                        <p:tav tm="0">
                                          <p:val>
                                            <p:strVal val="0-#ppt_w/2"/>
                                          </p:val>
                                        </p:tav>
                                        <p:tav tm="100000">
                                          <p:val>
                                            <p:strVal val="#ppt_x"/>
                                          </p:val>
                                        </p:tav>
                                      </p:tavLst>
                                    </p:anim>
                                    <p:anim calcmode="lin" valueType="num">
                                      <p:cBhvr additive="base">
                                        <p:cTn id="16" dur="500" fill="hold"/>
                                        <p:tgtEl>
                                          <p:spTgt spid="5746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Slide Number Placeholder 3"/>
          <p:cNvSpPr>
            <a:spLocks noGrp="1"/>
          </p:cNvSpPr>
          <p:nvPr>
            <p:ph type="sldNum" sz="quarter" idx="10"/>
          </p:nvPr>
        </p:nvSpPr>
        <p:spPr/>
        <p:txBody>
          <a:bodyPr/>
          <a:lstStyle/>
          <a:p>
            <a:fld id="{F3113E3A-EFCC-489D-A435-ED8099D1945C}" type="slidenum">
              <a:rPr lang="en-US" altLang="en-US"/>
              <a:pPr/>
              <a:t>60</a:t>
            </a:fld>
            <a:endParaRPr lang="en-US" altLang="en-US"/>
          </a:p>
        </p:txBody>
      </p:sp>
      <p:sp>
        <p:nvSpPr>
          <p:cNvPr id="575490" name="Rectangle 2"/>
          <p:cNvSpPr>
            <a:spLocks noGrp="1" noChangeArrowheads="1"/>
          </p:cNvSpPr>
          <p:nvPr>
            <p:ph type="title"/>
          </p:nvPr>
        </p:nvSpPr>
        <p:spPr/>
        <p:txBody>
          <a:bodyPr/>
          <a:lstStyle/>
          <a:p>
            <a:r>
              <a:rPr lang="en-US" altLang="en-US"/>
              <a:t>Example: </a:t>
            </a:r>
            <a:r>
              <a:rPr lang="en-US" altLang="en-US" sz="3200"/>
              <a:t>Converting Sum-of-Absolute-Differences C code to High-Level State Machine</a:t>
            </a:r>
          </a:p>
        </p:txBody>
      </p:sp>
      <p:sp>
        <p:nvSpPr>
          <p:cNvPr id="575491" name="Rectangle 3"/>
          <p:cNvSpPr>
            <a:spLocks noGrp="1" noChangeArrowheads="1"/>
          </p:cNvSpPr>
          <p:nvPr>
            <p:ph type="body" idx="1"/>
          </p:nvPr>
        </p:nvSpPr>
        <p:spPr>
          <a:xfrm>
            <a:off x="0" y="1268413"/>
            <a:ext cx="3716338" cy="4633912"/>
          </a:xfrm>
        </p:spPr>
        <p:txBody>
          <a:bodyPr/>
          <a:lstStyle/>
          <a:p>
            <a:pPr>
              <a:lnSpc>
                <a:spcPct val="90000"/>
              </a:lnSpc>
            </a:pPr>
            <a:r>
              <a:rPr lang="en-US" altLang="en-US" sz="2000"/>
              <a:t>Convert each construct to states</a:t>
            </a:r>
          </a:p>
          <a:p>
            <a:pPr lvl="1">
              <a:lnSpc>
                <a:spcPct val="90000"/>
              </a:lnSpc>
            </a:pPr>
            <a:r>
              <a:rPr lang="en-US" altLang="en-US" sz="1800"/>
              <a:t>Simplify when possible, e.g., merge states</a:t>
            </a:r>
          </a:p>
          <a:p>
            <a:pPr>
              <a:lnSpc>
                <a:spcPct val="90000"/>
              </a:lnSpc>
            </a:pPr>
            <a:r>
              <a:rPr lang="en-US" altLang="en-US" sz="2000"/>
              <a:t>From high-level state machine, follow RTL design method to create circuit</a:t>
            </a:r>
          </a:p>
          <a:p>
            <a:pPr>
              <a:lnSpc>
                <a:spcPct val="90000"/>
              </a:lnSpc>
            </a:pPr>
            <a:r>
              <a:rPr lang="en-US" altLang="en-US" sz="2000"/>
              <a:t>Thus, can convert C to gates using straightforward automatable process</a:t>
            </a:r>
          </a:p>
          <a:p>
            <a:pPr lvl="1">
              <a:lnSpc>
                <a:spcPct val="90000"/>
              </a:lnSpc>
            </a:pPr>
            <a:r>
              <a:rPr lang="en-US" altLang="en-US" sz="1800"/>
              <a:t>Not all C constructs can be efficiently converted</a:t>
            </a:r>
          </a:p>
          <a:p>
            <a:pPr lvl="1">
              <a:lnSpc>
                <a:spcPct val="90000"/>
              </a:lnSpc>
            </a:pPr>
            <a:r>
              <a:rPr lang="en-US" altLang="en-US" sz="1800"/>
              <a:t>Use C subset if intended for circuit</a:t>
            </a:r>
          </a:p>
          <a:p>
            <a:pPr lvl="1">
              <a:lnSpc>
                <a:spcPct val="90000"/>
              </a:lnSpc>
            </a:pPr>
            <a:r>
              <a:rPr lang="en-US" altLang="en-US" sz="1800"/>
              <a:t>Can use languages other than C, of course</a:t>
            </a:r>
          </a:p>
        </p:txBody>
      </p:sp>
      <p:grpSp>
        <p:nvGrpSpPr>
          <p:cNvPr id="575694" name="Group 206"/>
          <p:cNvGrpSpPr>
            <a:grpSpLocks/>
          </p:cNvGrpSpPr>
          <p:nvPr/>
        </p:nvGrpSpPr>
        <p:grpSpPr bwMode="auto">
          <a:xfrm>
            <a:off x="3794125" y="1285875"/>
            <a:ext cx="2109788" cy="2681288"/>
            <a:chOff x="2390" y="810"/>
            <a:chExt cx="1329" cy="1689"/>
          </a:xfrm>
        </p:grpSpPr>
        <p:sp>
          <p:nvSpPr>
            <p:cNvPr id="575576" name="Rectangle 88"/>
            <p:cNvSpPr>
              <a:spLocks noChangeArrowheads="1"/>
            </p:cNvSpPr>
            <p:nvPr/>
          </p:nvSpPr>
          <p:spPr bwMode="auto">
            <a:xfrm>
              <a:off x="2642" y="1934"/>
              <a:ext cx="107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    sum = sum + abs(A[i] - B[i]);</a:t>
              </a:r>
              <a:endParaRPr lang="en-US" altLang="en-US" sz="1800">
                <a:latin typeface="Arial" panose="020B0604020202020204" pitchFamily="34" charset="0"/>
              </a:endParaRPr>
            </a:p>
          </p:txBody>
        </p:sp>
        <p:sp>
          <p:nvSpPr>
            <p:cNvPr id="575537" name="Rectangle 49"/>
            <p:cNvSpPr>
              <a:spLocks noChangeArrowheads="1"/>
            </p:cNvSpPr>
            <p:nvPr/>
          </p:nvSpPr>
          <p:spPr bwMode="auto">
            <a:xfrm>
              <a:off x="2480" y="2403"/>
              <a:ext cx="9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a:t>
              </a:r>
              <a:endParaRPr lang="en-US" altLang="en-US" sz="1800">
                <a:latin typeface="Arial" panose="020B0604020202020204" pitchFamily="34" charset="0"/>
              </a:endParaRPr>
            </a:p>
          </p:txBody>
        </p:sp>
        <p:sp>
          <p:nvSpPr>
            <p:cNvPr id="575565" name="Rectangle 77"/>
            <p:cNvSpPr>
              <a:spLocks noChangeArrowheads="1"/>
            </p:cNvSpPr>
            <p:nvPr/>
          </p:nvSpPr>
          <p:spPr bwMode="auto">
            <a:xfrm>
              <a:off x="2400" y="810"/>
              <a:ext cx="87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Inputs: byte A[256, B[256]</a:t>
              </a:r>
              <a:endParaRPr lang="en-US" altLang="en-US" sz="1800">
                <a:latin typeface="Arial" panose="020B0604020202020204" pitchFamily="34" charset="0"/>
              </a:endParaRPr>
            </a:p>
          </p:txBody>
        </p:sp>
        <p:sp>
          <p:nvSpPr>
            <p:cNvPr id="575566" name="Rectangle 78"/>
            <p:cNvSpPr>
              <a:spLocks noChangeArrowheads="1"/>
            </p:cNvSpPr>
            <p:nvPr/>
          </p:nvSpPr>
          <p:spPr bwMode="auto">
            <a:xfrm>
              <a:off x="2673" y="895"/>
              <a:ext cx="20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bit go;</a:t>
              </a:r>
              <a:endParaRPr lang="en-US" altLang="en-US" sz="1800">
                <a:latin typeface="Arial" panose="020B0604020202020204" pitchFamily="34" charset="0"/>
              </a:endParaRPr>
            </a:p>
          </p:txBody>
        </p:sp>
        <p:sp>
          <p:nvSpPr>
            <p:cNvPr id="575567" name="Rectangle 79"/>
            <p:cNvSpPr>
              <a:spLocks noChangeArrowheads="1"/>
            </p:cNvSpPr>
            <p:nvPr/>
          </p:nvSpPr>
          <p:spPr bwMode="auto">
            <a:xfrm>
              <a:off x="2400" y="980"/>
              <a:ext cx="47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Output: int sad</a:t>
              </a:r>
              <a:endParaRPr lang="en-US" altLang="en-US" sz="1800">
                <a:latin typeface="Arial" panose="020B0604020202020204" pitchFamily="34" charset="0"/>
              </a:endParaRPr>
            </a:p>
          </p:txBody>
        </p:sp>
        <p:sp>
          <p:nvSpPr>
            <p:cNvPr id="575568" name="Rectangle 80"/>
            <p:cNvSpPr>
              <a:spLocks noChangeArrowheads="1"/>
            </p:cNvSpPr>
            <p:nvPr/>
          </p:nvSpPr>
          <p:spPr bwMode="auto">
            <a:xfrm>
              <a:off x="2400" y="1065"/>
              <a:ext cx="21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main()</a:t>
              </a:r>
              <a:endParaRPr lang="en-US" altLang="en-US" sz="1800">
                <a:latin typeface="Arial" panose="020B0604020202020204" pitchFamily="34" charset="0"/>
              </a:endParaRPr>
            </a:p>
          </p:txBody>
        </p:sp>
        <p:sp>
          <p:nvSpPr>
            <p:cNvPr id="575569" name="Rectangle 81"/>
            <p:cNvSpPr>
              <a:spLocks noChangeArrowheads="1"/>
            </p:cNvSpPr>
            <p:nvPr/>
          </p:nvSpPr>
          <p:spPr bwMode="auto">
            <a:xfrm>
              <a:off x="2400" y="1150"/>
              <a:ext cx="3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t>
              </a:r>
              <a:endParaRPr lang="en-US" altLang="en-US" sz="1800">
                <a:latin typeface="Arial" panose="020B0604020202020204" pitchFamily="34" charset="0"/>
              </a:endParaRPr>
            </a:p>
          </p:txBody>
        </p:sp>
        <p:sp>
          <p:nvSpPr>
            <p:cNvPr id="575570" name="Rectangle 82"/>
            <p:cNvSpPr>
              <a:spLocks noChangeArrowheads="1"/>
            </p:cNvSpPr>
            <p:nvPr/>
          </p:nvSpPr>
          <p:spPr bwMode="auto">
            <a:xfrm>
              <a:off x="2400" y="1235"/>
              <a:ext cx="75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   uint sum; short uint I;</a:t>
              </a:r>
              <a:endParaRPr lang="en-US" altLang="en-US" sz="1800">
                <a:latin typeface="Arial" panose="020B0604020202020204" pitchFamily="34" charset="0"/>
              </a:endParaRPr>
            </a:p>
          </p:txBody>
        </p:sp>
        <p:sp>
          <p:nvSpPr>
            <p:cNvPr id="575571" name="Rectangle 83"/>
            <p:cNvSpPr>
              <a:spLocks noChangeArrowheads="1"/>
            </p:cNvSpPr>
            <p:nvPr/>
          </p:nvSpPr>
          <p:spPr bwMode="auto">
            <a:xfrm>
              <a:off x="2400" y="1320"/>
              <a:ext cx="41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   while (1) {</a:t>
              </a:r>
              <a:endParaRPr lang="en-US" altLang="en-US" sz="1800">
                <a:latin typeface="Arial" panose="020B0604020202020204" pitchFamily="34" charset="0"/>
              </a:endParaRPr>
            </a:p>
          </p:txBody>
        </p:sp>
        <p:sp>
          <p:nvSpPr>
            <p:cNvPr id="575572" name="Rectangle 84"/>
            <p:cNvSpPr>
              <a:spLocks noChangeArrowheads="1"/>
            </p:cNvSpPr>
            <p:nvPr/>
          </p:nvSpPr>
          <p:spPr bwMode="auto">
            <a:xfrm>
              <a:off x="2646" y="1616"/>
              <a:ext cx="28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sum = 0;</a:t>
              </a:r>
              <a:endParaRPr lang="en-US" altLang="en-US" sz="1800">
                <a:latin typeface="Arial" panose="020B0604020202020204" pitchFamily="34" charset="0"/>
              </a:endParaRPr>
            </a:p>
          </p:txBody>
        </p:sp>
        <p:sp>
          <p:nvSpPr>
            <p:cNvPr id="575573" name="Rectangle 85"/>
            <p:cNvSpPr>
              <a:spLocks noChangeArrowheads="1"/>
            </p:cNvSpPr>
            <p:nvPr/>
          </p:nvSpPr>
          <p:spPr bwMode="auto">
            <a:xfrm>
              <a:off x="2646" y="1701"/>
              <a:ext cx="16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i = 0;</a:t>
              </a:r>
              <a:endParaRPr lang="en-US" altLang="en-US" sz="1800">
                <a:latin typeface="Arial" panose="020B0604020202020204" pitchFamily="34" charset="0"/>
              </a:endParaRPr>
            </a:p>
          </p:txBody>
        </p:sp>
        <p:sp>
          <p:nvSpPr>
            <p:cNvPr id="575574" name="Rectangle 86"/>
            <p:cNvSpPr>
              <a:spLocks noChangeArrowheads="1"/>
            </p:cNvSpPr>
            <p:nvPr/>
          </p:nvSpPr>
          <p:spPr bwMode="auto">
            <a:xfrm>
              <a:off x="2642" y="1501"/>
              <a:ext cx="34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while (!go);</a:t>
              </a:r>
              <a:endParaRPr lang="en-US" altLang="en-US" sz="1800">
                <a:latin typeface="Arial" panose="020B0604020202020204" pitchFamily="34" charset="0"/>
              </a:endParaRPr>
            </a:p>
          </p:txBody>
        </p:sp>
        <p:sp>
          <p:nvSpPr>
            <p:cNvPr id="575575" name="Rectangle 87"/>
            <p:cNvSpPr>
              <a:spLocks noChangeArrowheads="1"/>
            </p:cNvSpPr>
            <p:nvPr/>
          </p:nvSpPr>
          <p:spPr bwMode="auto">
            <a:xfrm>
              <a:off x="2642" y="1841"/>
              <a:ext cx="53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while (i &lt; 256) {</a:t>
              </a:r>
              <a:endParaRPr lang="en-US" altLang="en-US" sz="1800">
                <a:latin typeface="Arial" panose="020B0604020202020204" pitchFamily="34" charset="0"/>
              </a:endParaRPr>
            </a:p>
          </p:txBody>
        </p:sp>
        <p:sp>
          <p:nvSpPr>
            <p:cNvPr id="575577" name="Rectangle 89"/>
            <p:cNvSpPr>
              <a:spLocks noChangeArrowheads="1"/>
            </p:cNvSpPr>
            <p:nvPr/>
          </p:nvSpPr>
          <p:spPr bwMode="auto">
            <a:xfrm>
              <a:off x="2642" y="2030"/>
              <a:ext cx="35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    i = i + 1;</a:t>
              </a:r>
              <a:endParaRPr lang="en-US" altLang="en-US" sz="1800">
                <a:latin typeface="Arial" panose="020B0604020202020204" pitchFamily="34" charset="0"/>
              </a:endParaRPr>
            </a:p>
          </p:txBody>
        </p:sp>
        <p:sp>
          <p:nvSpPr>
            <p:cNvPr id="575578" name="Rectangle 90"/>
            <p:cNvSpPr>
              <a:spLocks noChangeArrowheads="1"/>
            </p:cNvSpPr>
            <p:nvPr/>
          </p:nvSpPr>
          <p:spPr bwMode="auto">
            <a:xfrm>
              <a:off x="2642" y="2123"/>
              <a:ext cx="3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t>
              </a:r>
              <a:endParaRPr lang="en-US" altLang="en-US" sz="1800">
                <a:latin typeface="Arial" panose="020B0604020202020204" pitchFamily="34" charset="0"/>
              </a:endParaRPr>
            </a:p>
          </p:txBody>
        </p:sp>
        <p:sp>
          <p:nvSpPr>
            <p:cNvPr id="575579" name="Rectangle 91"/>
            <p:cNvSpPr>
              <a:spLocks noChangeArrowheads="1"/>
            </p:cNvSpPr>
            <p:nvPr/>
          </p:nvSpPr>
          <p:spPr bwMode="auto">
            <a:xfrm>
              <a:off x="2642" y="2219"/>
              <a:ext cx="313"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sad = sum;</a:t>
              </a:r>
              <a:endParaRPr lang="en-US" altLang="en-US" sz="1800">
                <a:latin typeface="Arial" panose="020B0604020202020204" pitchFamily="34" charset="0"/>
              </a:endParaRPr>
            </a:p>
          </p:txBody>
        </p:sp>
        <p:sp>
          <p:nvSpPr>
            <p:cNvPr id="575580" name="Rectangle 92"/>
            <p:cNvSpPr>
              <a:spLocks noChangeArrowheads="1"/>
            </p:cNvSpPr>
            <p:nvPr/>
          </p:nvSpPr>
          <p:spPr bwMode="auto">
            <a:xfrm>
              <a:off x="2488" y="2246"/>
              <a:ext cx="3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t>
              </a:r>
              <a:endParaRPr lang="en-US" altLang="en-US" sz="1800">
                <a:latin typeface="Arial" panose="020B0604020202020204" pitchFamily="34" charset="0"/>
              </a:endParaRPr>
            </a:p>
          </p:txBody>
        </p:sp>
        <p:sp>
          <p:nvSpPr>
            <p:cNvPr id="575581" name="Rectangle 93"/>
            <p:cNvSpPr>
              <a:spLocks noChangeArrowheads="1"/>
            </p:cNvSpPr>
            <p:nvPr/>
          </p:nvSpPr>
          <p:spPr bwMode="auto">
            <a:xfrm>
              <a:off x="2390" y="2342"/>
              <a:ext cx="35"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a:t>
              </a:r>
              <a:endParaRPr lang="en-US" altLang="en-US" sz="1800">
                <a:latin typeface="Arial" panose="020B0604020202020204" pitchFamily="34" charset="0"/>
              </a:endParaRPr>
            </a:p>
          </p:txBody>
        </p:sp>
      </p:grpSp>
      <p:grpSp>
        <p:nvGrpSpPr>
          <p:cNvPr id="575706" name="Group 218"/>
          <p:cNvGrpSpPr>
            <a:grpSpLocks/>
          </p:cNvGrpSpPr>
          <p:nvPr/>
        </p:nvGrpSpPr>
        <p:grpSpPr bwMode="auto">
          <a:xfrm>
            <a:off x="8140700" y="1362075"/>
            <a:ext cx="735013" cy="1268413"/>
            <a:chOff x="5128" y="858"/>
            <a:chExt cx="463" cy="799"/>
          </a:xfrm>
        </p:grpSpPr>
        <p:sp>
          <p:nvSpPr>
            <p:cNvPr id="575554" name="Rectangle 66"/>
            <p:cNvSpPr>
              <a:spLocks noChangeArrowheads="1"/>
            </p:cNvSpPr>
            <p:nvPr/>
          </p:nvSpPr>
          <p:spPr bwMode="auto">
            <a:xfrm>
              <a:off x="5340" y="1561"/>
              <a:ext cx="9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
              </a:r>
              <a:endParaRPr lang="en-US" altLang="en-US" sz="1800">
                <a:latin typeface="Arial" panose="020B0604020202020204" pitchFamily="34" charset="0"/>
              </a:endParaRPr>
            </a:p>
          </p:txBody>
        </p:sp>
        <p:sp>
          <p:nvSpPr>
            <p:cNvPr id="575555" name="Freeform 67"/>
            <p:cNvSpPr>
              <a:spLocks/>
            </p:cNvSpPr>
            <p:nvPr/>
          </p:nvSpPr>
          <p:spPr bwMode="auto">
            <a:xfrm>
              <a:off x="5454" y="943"/>
              <a:ext cx="137" cy="215"/>
            </a:xfrm>
            <a:custGeom>
              <a:avLst/>
              <a:gdLst>
                <a:gd name="T0" fmla="*/ 75 w 137"/>
                <a:gd name="T1" fmla="*/ 0 h 215"/>
                <a:gd name="T2" fmla="*/ 137 w 137"/>
                <a:gd name="T3" fmla="*/ 0 h 215"/>
                <a:gd name="T4" fmla="*/ 137 w 137"/>
                <a:gd name="T5" fmla="*/ 130 h 215"/>
                <a:gd name="T6" fmla="*/ 0 w 137"/>
                <a:gd name="T7" fmla="*/ 215 h 215"/>
              </a:gdLst>
              <a:ahLst/>
              <a:cxnLst>
                <a:cxn ang="0">
                  <a:pos x="T0" y="T1"/>
                </a:cxn>
                <a:cxn ang="0">
                  <a:pos x="T2" y="T3"/>
                </a:cxn>
                <a:cxn ang="0">
                  <a:pos x="T4" y="T5"/>
                </a:cxn>
                <a:cxn ang="0">
                  <a:pos x="T6" y="T7"/>
                </a:cxn>
              </a:cxnLst>
              <a:rect l="0" t="0" r="r" b="b"/>
              <a:pathLst>
                <a:path w="137" h="215">
                  <a:moveTo>
                    <a:pt x="75" y="0"/>
                  </a:moveTo>
                  <a:lnTo>
                    <a:pt x="137" y="0"/>
                  </a:lnTo>
                  <a:lnTo>
                    <a:pt x="137" y="130"/>
                  </a:lnTo>
                  <a:lnTo>
                    <a:pt x="0" y="215"/>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56" name="Line 68"/>
            <p:cNvSpPr>
              <a:spLocks noChangeShapeType="1"/>
            </p:cNvSpPr>
            <p:nvPr/>
          </p:nvSpPr>
          <p:spPr bwMode="auto">
            <a:xfrm>
              <a:off x="5237" y="1271"/>
              <a:ext cx="1"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57" name="Freeform 69"/>
            <p:cNvSpPr>
              <a:spLocks/>
            </p:cNvSpPr>
            <p:nvPr/>
          </p:nvSpPr>
          <p:spPr bwMode="auto">
            <a:xfrm>
              <a:off x="5395" y="1139"/>
              <a:ext cx="75" cy="54"/>
            </a:xfrm>
            <a:custGeom>
              <a:avLst/>
              <a:gdLst>
                <a:gd name="T0" fmla="*/ 0 w 75"/>
                <a:gd name="T1" fmla="*/ 54 h 54"/>
                <a:gd name="T2" fmla="*/ 56 w 75"/>
                <a:gd name="T3" fmla="*/ 0 h 54"/>
                <a:gd name="T4" fmla="*/ 75 w 75"/>
                <a:gd name="T5" fmla="*/ 33 h 54"/>
                <a:gd name="T6" fmla="*/ 0 w 75"/>
                <a:gd name="T7" fmla="*/ 54 h 54"/>
              </a:gdLst>
              <a:ahLst/>
              <a:cxnLst>
                <a:cxn ang="0">
                  <a:pos x="T0" y="T1"/>
                </a:cxn>
                <a:cxn ang="0">
                  <a:pos x="T2" y="T3"/>
                </a:cxn>
                <a:cxn ang="0">
                  <a:pos x="T4" y="T5"/>
                </a:cxn>
                <a:cxn ang="0">
                  <a:pos x="T6" y="T7"/>
                </a:cxn>
              </a:cxnLst>
              <a:rect l="0" t="0" r="r" b="b"/>
              <a:pathLst>
                <a:path w="75" h="54">
                  <a:moveTo>
                    <a:pt x="0" y="54"/>
                  </a:moveTo>
                  <a:lnTo>
                    <a:pt x="56" y="0"/>
                  </a:lnTo>
                  <a:lnTo>
                    <a:pt x="75" y="33"/>
                  </a:lnTo>
                  <a:lnTo>
                    <a:pt x="0"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58" name="Line 70"/>
            <p:cNvSpPr>
              <a:spLocks noChangeShapeType="1"/>
            </p:cNvSpPr>
            <p:nvPr/>
          </p:nvSpPr>
          <p:spPr bwMode="auto">
            <a:xfrm>
              <a:off x="5383" y="1425"/>
              <a:ext cx="1" cy="82"/>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59" name="Freeform 71"/>
            <p:cNvSpPr>
              <a:spLocks/>
            </p:cNvSpPr>
            <p:nvPr/>
          </p:nvSpPr>
          <p:spPr bwMode="auto">
            <a:xfrm>
              <a:off x="5364" y="1479"/>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60" name="Rectangle 72"/>
            <p:cNvSpPr>
              <a:spLocks noChangeArrowheads="1"/>
            </p:cNvSpPr>
            <p:nvPr/>
          </p:nvSpPr>
          <p:spPr bwMode="auto">
            <a:xfrm>
              <a:off x="5142" y="1025"/>
              <a:ext cx="10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561" name="Rectangle 73"/>
            <p:cNvSpPr>
              <a:spLocks noChangeArrowheads="1"/>
            </p:cNvSpPr>
            <p:nvPr/>
          </p:nvSpPr>
          <p:spPr bwMode="auto">
            <a:xfrm>
              <a:off x="5453" y="1025"/>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562" name="Rectangle 74"/>
            <p:cNvSpPr>
              <a:spLocks noChangeArrowheads="1"/>
            </p:cNvSpPr>
            <p:nvPr/>
          </p:nvSpPr>
          <p:spPr bwMode="auto">
            <a:xfrm>
              <a:off x="5273" y="1235"/>
              <a:ext cx="21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sum=0</a:t>
              </a:r>
              <a:endParaRPr lang="en-US" altLang="en-US" sz="1800">
                <a:latin typeface="Arial" panose="020B0604020202020204" pitchFamily="34" charset="0"/>
              </a:endParaRPr>
            </a:p>
          </p:txBody>
        </p:sp>
        <p:sp>
          <p:nvSpPr>
            <p:cNvPr id="575563" name="Rectangle 75"/>
            <p:cNvSpPr>
              <a:spLocks noChangeArrowheads="1"/>
            </p:cNvSpPr>
            <p:nvPr/>
          </p:nvSpPr>
          <p:spPr bwMode="auto">
            <a:xfrm>
              <a:off x="5331" y="1320"/>
              <a:ext cx="9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i=0</a:t>
              </a:r>
              <a:endParaRPr lang="en-US" altLang="en-US" sz="1800">
                <a:latin typeface="Arial" panose="020B0604020202020204" pitchFamily="34" charset="0"/>
              </a:endParaRPr>
            </a:p>
          </p:txBody>
        </p:sp>
        <p:sp>
          <p:nvSpPr>
            <p:cNvPr id="575564" name="Oval 76"/>
            <p:cNvSpPr>
              <a:spLocks noChangeArrowheads="1"/>
            </p:cNvSpPr>
            <p:nvPr/>
          </p:nvSpPr>
          <p:spPr bwMode="auto">
            <a:xfrm>
              <a:off x="5215" y="1196"/>
              <a:ext cx="326" cy="226"/>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82" name="Freeform 94"/>
            <p:cNvSpPr>
              <a:spLocks/>
            </p:cNvSpPr>
            <p:nvPr/>
          </p:nvSpPr>
          <p:spPr bwMode="auto">
            <a:xfrm>
              <a:off x="5185" y="858"/>
              <a:ext cx="78" cy="38"/>
            </a:xfrm>
            <a:custGeom>
              <a:avLst/>
              <a:gdLst>
                <a:gd name="T0" fmla="*/ 78 w 78"/>
                <a:gd name="T1" fmla="*/ 38 h 38"/>
                <a:gd name="T2" fmla="*/ 0 w 78"/>
                <a:gd name="T3" fmla="*/ 35 h 38"/>
                <a:gd name="T4" fmla="*/ 9 w 78"/>
                <a:gd name="T5" fmla="*/ 0 h 38"/>
                <a:gd name="T6" fmla="*/ 78 w 78"/>
                <a:gd name="T7" fmla="*/ 38 h 38"/>
              </a:gdLst>
              <a:ahLst/>
              <a:cxnLst>
                <a:cxn ang="0">
                  <a:pos x="T0" y="T1"/>
                </a:cxn>
                <a:cxn ang="0">
                  <a:pos x="T2" y="T3"/>
                </a:cxn>
                <a:cxn ang="0">
                  <a:pos x="T4" y="T5"/>
                </a:cxn>
                <a:cxn ang="0">
                  <a:pos x="T6" y="T7"/>
                </a:cxn>
              </a:cxnLst>
              <a:rect l="0" t="0" r="r" b="b"/>
              <a:pathLst>
                <a:path w="78" h="38">
                  <a:moveTo>
                    <a:pt x="78" y="38"/>
                  </a:moveTo>
                  <a:lnTo>
                    <a:pt x="0" y="35"/>
                  </a:lnTo>
                  <a:lnTo>
                    <a:pt x="9" y="0"/>
                  </a:lnTo>
                  <a:lnTo>
                    <a:pt x="78"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83" name="Freeform 95"/>
            <p:cNvSpPr>
              <a:spLocks/>
            </p:cNvSpPr>
            <p:nvPr/>
          </p:nvSpPr>
          <p:spPr bwMode="auto">
            <a:xfrm>
              <a:off x="5128" y="877"/>
              <a:ext cx="123" cy="132"/>
            </a:xfrm>
            <a:custGeom>
              <a:avLst/>
              <a:gdLst>
                <a:gd name="T0" fmla="*/ 52 w 52"/>
                <a:gd name="T1" fmla="*/ 42 h 56"/>
                <a:gd name="T2" fmla="*/ 28 w 52"/>
                <a:gd name="T3" fmla="*/ 56 h 56"/>
                <a:gd name="T4" fmla="*/ 0 w 52"/>
                <a:gd name="T5" fmla="*/ 28 h 56"/>
                <a:gd name="T6" fmla="*/ 28 w 52"/>
                <a:gd name="T7" fmla="*/ 0 h 56"/>
                <a:gd name="T8" fmla="*/ 39 w 52"/>
                <a:gd name="T9" fmla="*/ 2 h 56"/>
              </a:gdLst>
              <a:ahLst/>
              <a:cxnLst>
                <a:cxn ang="0">
                  <a:pos x="T0" y="T1"/>
                </a:cxn>
                <a:cxn ang="0">
                  <a:pos x="T2" y="T3"/>
                </a:cxn>
                <a:cxn ang="0">
                  <a:pos x="T4" y="T5"/>
                </a:cxn>
                <a:cxn ang="0">
                  <a:pos x="T6" y="T7"/>
                </a:cxn>
                <a:cxn ang="0">
                  <a:pos x="T8" y="T9"/>
                </a:cxn>
              </a:cxnLst>
              <a:rect l="0" t="0" r="r" b="b"/>
              <a:pathLst>
                <a:path w="52" h="56">
                  <a:moveTo>
                    <a:pt x="52" y="42"/>
                  </a:moveTo>
                  <a:cubicBezTo>
                    <a:pt x="48" y="51"/>
                    <a:pt x="38" y="56"/>
                    <a:pt x="28" y="56"/>
                  </a:cubicBezTo>
                  <a:cubicBezTo>
                    <a:pt x="12" y="56"/>
                    <a:pt x="0" y="44"/>
                    <a:pt x="0" y="28"/>
                  </a:cubicBezTo>
                  <a:cubicBezTo>
                    <a:pt x="0" y="12"/>
                    <a:pt x="12" y="0"/>
                    <a:pt x="28" y="0"/>
                  </a:cubicBezTo>
                  <a:cubicBezTo>
                    <a:pt x="32" y="0"/>
                    <a:pt x="36" y="1"/>
                    <a:pt x="39" y="2"/>
                  </a:cubicBez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54" name="Oval 166"/>
            <p:cNvSpPr>
              <a:spLocks noChangeArrowheads="1"/>
            </p:cNvSpPr>
            <p:nvPr/>
          </p:nvSpPr>
          <p:spPr bwMode="auto">
            <a:xfrm>
              <a:off x="5237" y="867"/>
              <a:ext cx="292" cy="149"/>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5715" name="Group 227"/>
          <p:cNvGrpSpPr>
            <a:grpSpLocks/>
          </p:cNvGrpSpPr>
          <p:nvPr/>
        </p:nvGrpSpPr>
        <p:grpSpPr bwMode="auto">
          <a:xfrm>
            <a:off x="7296150" y="3181350"/>
            <a:ext cx="1195388" cy="2889250"/>
            <a:chOff x="4596" y="2004"/>
            <a:chExt cx="753" cy="1820"/>
          </a:xfrm>
        </p:grpSpPr>
        <p:sp>
          <p:nvSpPr>
            <p:cNvPr id="575655" name="Freeform 167"/>
            <p:cNvSpPr>
              <a:spLocks/>
            </p:cNvSpPr>
            <p:nvPr/>
          </p:nvSpPr>
          <p:spPr bwMode="auto">
            <a:xfrm>
              <a:off x="5085" y="2887"/>
              <a:ext cx="225" cy="636"/>
            </a:xfrm>
            <a:custGeom>
              <a:avLst/>
              <a:gdLst>
                <a:gd name="T0" fmla="*/ 67 w 225"/>
                <a:gd name="T1" fmla="*/ 636 h 636"/>
                <a:gd name="T2" fmla="*/ 225 w 225"/>
                <a:gd name="T3" fmla="*/ 636 h 636"/>
                <a:gd name="T4" fmla="*/ 225 w 225"/>
                <a:gd name="T5" fmla="*/ 206 h 636"/>
                <a:gd name="T6" fmla="*/ 225 w 225"/>
                <a:gd name="T7" fmla="*/ 130 h 636"/>
                <a:gd name="T8" fmla="*/ 225 w 225"/>
                <a:gd name="T9" fmla="*/ 0 h 636"/>
                <a:gd name="T10" fmla="*/ 0 w 225"/>
                <a:gd name="T11" fmla="*/ 0 h 636"/>
              </a:gdLst>
              <a:ahLst/>
              <a:cxnLst>
                <a:cxn ang="0">
                  <a:pos x="T0" y="T1"/>
                </a:cxn>
                <a:cxn ang="0">
                  <a:pos x="T2" y="T3"/>
                </a:cxn>
                <a:cxn ang="0">
                  <a:pos x="T4" y="T5"/>
                </a:cxn>
                <a:cxn ang="0">
                  <a:pos x="T6" y="T7"/>
                </a:cxn>
                <a:cxn ang="0">
                  <a:pos x="T8" y="T9"/>
                </a:cxn>
                <a:cxn ang="0">
                  <a:pos x="T10" y="T11"/>
                </a:cxn>
              </a:cxnLst>
              <a:rect l="0" t="0" r="r" b="b"/>
              <a:pathLst>
                <a:path w="225" h="636">
                  <a:moveTo>
                    <a:pt x="67" y="636"/>
                  </a:moveTo>
                  <a:lnTo>
                    <a:pt x="225" y="636"/>
                  </a:lnTo>
                  <a:lnTo>
                    <a:pt x="225" y="206"/>
                  </a:lnTo>
                  <a:lnTo>
                    <a:pt x="225" y="130"/>
                  </a:lnTo>
                  <a:lnTo>
                    <a:pt x="225" y="0"/>
                  </a:lnTo>
                  <a:lnTo>
                    <a:pt x="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56" name="Freeform 168"/>
            <p:cNvSpPr>
              <a:spLocks/>
            </p:cNvSpPr>
            <p:nvPr/>
          </p:nvSpPr>
          <p:spPr bwMode="auto">
            <a:xfrm>
              <a:off x="5090" y="3504"/>
              <a:ext cx="76" cy="38"/>
            </a:xfrm>
            <a:custGeom>
              <a:avLst/>
              <a:gdLst>
                <a:gd name="T0" fmla="*/ 0 w 76"/>
                <a:gd name="T1" fmla="*/ 19 h 38"/>
                <a:gd name="T2" fmla="*/ 76 w 76"/>
                <a:gd name="T3" fmla="*/ 0 h 38"/>
                <a:gd name="T4" fmla="*/ 76 w 76"/>
                <a:gd name="T5" fmla="*/ 38 h 38"/>
                <a:gd name="T6" fmla="*/ 0 w 76"/>
                <a:gd name="T7" fmla="*/ 19 h 38"/>
              </a:gdLst>
              <a:ahLst/>
              <a:cxnLst>
                <a:cxn ang="0">
                  <a:pos x="T0" y="T1"/>
                </a:cxn>
                <a:cxn ang="0">
                  <a:pos x="T2" y="T3"/>
                </a:cxn>
                <a:cxn ang="0">
                  <a:pos x="T4" y="T5"/>
                </a:cxn>
                <a:cxn ang="0">
                  <a:pos x="T6" y="T7"/>
                </a:cxn>
              </a:cxnLst>
              <a:rect l="0" t="0" r="r" b="b"/>
              <a:pathLst>
                <a:path w="76" h="38">
                  <a:moveTo>
                    <a:pt x="0" y="19"/>
                  </a:moveTo>
                  <a:lnTo>
                    <a:pt x="76" y="0"/>
                  </a:lnTo>
                  <a:lnTo>
                    <a:pt x="76" y="38"/>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57" name="Freeform 169"/>
            <p:cNvSpPr>
              <a:spLocks/>
            </p:cNvSpPr>
            <p:nvPr/>
          </p:nvSpPr>
          <p:spPr bwMode="auto">
            <a:xfrm>
              <a:off x="4684" y="2887"/>
              <a:ext cx="250" cy="520"/>
            </a:xfrm>
            <a:custGeom>
              <a:avLst/>
              <a:gdLst>
                <a:gd name="T0" fmla="*/ 42 w 250"/>
                <a:gd name="T1" fmla="*/ 0 h 520"/>
                <a:gd name="T2" fmla="*/ 0 w 250"/>
                <a:gd name="T3" fmla="*/ 0 h 520"/>
                <a:gd name="T4" fmla="*/ 0 w 250"/>
                <a:gd name="T5" fmla="*/ 246 h 520"/>
                <a:gd name="T6" fmla="*/ 0 w 250"/>
                <a:gd name="T7" fmla="*/ 520 h 520"/>
                <a:gd name="T8" fmla="*/ 250 w 250"/>
                <a:gd name="T9" fmla="*/ 520 h 520"/>
                <a:gd name="T10" fmla="*/ 250 w 250"/>
                <a:gd name="T11" fmla="*/ 461 h 520"/>
              </a:gdLst>
              <a:ahLst/>
              <a:cxnLst>
                <a:cxn ang="0">
                  <a:pos x="T0" y="T1"/>
                </a:cxn>
                <a:cxn ang="0">
                  <a:pos x="T2" y="T3"/>
                </a:cxn>
                <a:cxn ang="0">
                  <a:pos x="T4" y="T5"/>
                </a:cxn>
                <a:cxn ang="0">
                  <a:pos x="T6" y="T7"/>
                </a:cxn>
                <a:cxn ang="0">
                  <a:pos x="T8" y="T9"/>
                </a:cxn>
                <a:cxn ang="0">
                  <a:pos x="T10" y="T11"/>
                </a:cxn>
              </a:cxnLst>
              <a:rect l="0" t="0" r="r" b="b"/>
              <a:pathLst>
                <a:path w="250" h="520">
                  <a:moveTo>
                    <a:pt x="42" y="0"/>
                  </a:moveTo>
                  <a:lnTo>
                    <a:pt x="0" y="0"/>
                  </a:lnTo>
                  <a:lnTo>
                    <a:pt x="0" y="246"/>
                  </a:lnTo>
                  <a:lnTo>
                    <a:pt x="0" y="520"/>
                  </a:lnTo>
                  <a:lnTo>
                    <a:pt x="250" y="520"/>
                  </a:lnTo>
                  <a:lnTo>
                    <a:pt x="250" y="461"/>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58" name="Freeform 170"/>
            <p:cNvSpPr>
              <a:spLocks/>
            </p:cNvSpPr>
            <p:nvPr/>
          </p:nvSpPr>
          <p:spPr bwMode="auto">
            <a:xfrm>
              <a:off x="4715" y="2866"/>
              <a:ext cx="75" cy="38"/>
            </a:xfrm>
            <a:custGeom>
              <a:avLst/>
              <a:gdLst>
                <a:gd name="T0" fmla="*/ 75 w 75"/>
                <a:gd name="T1" fmla="*/ 19 h 38"/>
                <a:gd name="T2" fmla="*/ 0 w 75"/>
                <a:gd name="T3" fmla="*/ 38 h 38"/>
                <a:gd name="T4" fmla="*/ 0 w 75"/>
                <a:gd name="T5" fmla="*/ 0 h 38"/>
                <a:gd name="T6" fmla="*/ 75 w 75"/>
                <a:gd name="T7" fmla="*/ 19 h 38"/>
              </a:gdLst>
              <a:ahLst/>
              <a:cxnLst>
                <a:cxn ang="0">
                  <a:pos x="T0" y="T1"/>
                </a:cxn>
                <a:cxn ang="0">
                  <a:pos x="T2" y="T3"/>
                </a:cxn>
                <a:cxn ang="0">
                  <a:pos x="T4" y="T5"/>
                </a:cxn>
                <a:cxn ang="0">
                  <a:pos x="T6" y="T7"/>
                </a:cxn>
              </a:cxnLst>
              <a:rect l="0" t="0" r="r" b="b"/>
              <a:pathLst>
                <a:path w="75" h="38">
                  <a:moveTo>
                    <a:pt x="75" y="19"/>
                  </a:moveTo>
                  <a:lnTo>
                    <a:pt x="0" y="38"/>
                  </a:lnTo>
                  <a:lnTo>
                    <a:pt x="0" y="0"/>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59" name="Line 171"/>
            <p:cNvSpPr>
              <a:spLocks noChangeShapeType="1"/>
            </p:cNvSpPr>
            <p:nvPr/>
          </p:nvSpPr>
          <p:spPr bwMode="auto">
            <a:xfrm>
              <a:off x="4939" y="2963"/>
              <a:ext cx="1" cy="8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60" name="Freeform 172"/>
            <p:cNvSpPr>
              <a:spLocks/>
            </p:cNvSpPr>
            <p:nvPr/>
          </p:nvSpPr>
          <p:spPr bwMode="auto">
            <a:xfrm>
              <a:off x="4920" y="3022"/>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61" name="Rectangle 173"/>
            <p:cNvSpPr>
              <a:spLocks noChangeArrowheads="1"/>
            </p:cNvSpPr>
            <p:nvPr/>
          </p:nvSpPr>
          <p:spPr bwMode="auto">
            <a:xfrm>
              <a:off x="4898" y="3728"/>
              <a:ext cx="9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(g)</a:t>
              </a:r>
              <a:endParaRPr lang="en-US" altLang="en-US" sz="1800">
                <a:latin typeface="Arial" panose="020B0604020202020204" pitchFamily="34" charset="0"/>
              </a:endParaRPr>
            </a:p>
          </p:txBody>
        </p:sp>
        <p:sp>
          <p:nvSpPr>
            <p:cNvPr id="575662" name="Freeform 174"/>
            <p:cNvSpPr>
              <a:spLocks/>
            </p:cNvSpPr>
            <p:nvPr/>
          </p:nvSpPr>
          <p:spPr bwMode="auto">
            <a:xfrm>
              <a:off x="5005" y="2202"/>
              <a:ext cx="137" cy="218"/>
            </a:xfrm>
            <a:custGeom>
              <a:avLst/>
              <a:gdLst>
                <a:gd name="T0" fmla="*/ 76 w 137"/>
                <a:gd name="T1" fmla="*/ 0 h 218"/>
                <a:gd name="T2" fmla="*/ 137 w 137"/>
                <a:gd name="T3" fmla="*/ 0 h 218"/>
                <a:gd name="T4" fmla="*/ 137 w 137"/>
                <a:gd name="T5" fmla="*/ 130 h 218"/>
                <a:gd name="T6" fmla="*/ 0 w 137"/>
                <a:gd name="T7" fmla="*/ 218 h 218"/>
              </a:gdLst>
              <a:ahLst/>
              <a:cxnLst>
                <a:cxn ang="0">
                  <a:pos x="T0" y="T1"/>
                </a:cxn>
                <a:cxn ang="0">
                  <a:pos x="T2" y="T3"/>
                </a:cxn>
                <a:cxn ang="0">
                  <a:pos x="T4" y="T5"/>
                </a:cxn>
                <a:cxn ang="0">
                  <a:pos x="T6" y="T7"/>
                </a:cxn>
              </a:cxnLst>
              <a:rect l="0" t="0" r="r" b="b"/>
              <a:pathLst>
                <a:path w="137" h="218">
                  <a:moveTo>
                    <a:pt x="76" y="0"/>
                  </a:moveTo>
                  <a:lnTo>
                    <a:pt x="137" y="0"/>
                  </a:lnTo>
                  <a:lnTo>
                    <a:pt x="137" y="130"/>
                  </a:lnTo>
                  <a:lnTo>
                    <a:pt x="0" y="218"/>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63" name="Line 175"/>
            <p:cNvSpPr>
              <a:spLocks noChangeShapeType="1"/>
            </p:cNvSpPr>
            <p:nvPr/>
          </p:nvSpPr>
          <p:spPr bwMode="auto">
            <a:xfrm>
              <a:off x="4788" y="2531"/>
              <a:ext cx="1"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64" name="Freeform 176"/>
            <p:cNvSpPr>
              <a:spLocks/>
            </p:cNvSpPr>
            <p:nvPr/>
          </p:nvSpPr>
          <p:spPr bwMode="auto">
            <a:xfrm>
              <a:off x="4792" y="2065"/>
              <a:ext cx="57" cy="76"/>
            </a:xfrm>
            <a:custGeom>
              <a:avLst/>
              <a:gdLst>
                <a:gd name="T0" fmla="*/ 57 w 57"/>
                <a:gd name="T1" fmla="*/ 76 h 76"/>
                <a:gd name="T2" fmla="*/ 0 w 57"/>
                <a:gd name="T3" fmla="*/ 22 h 76"/>
                <a:gd name="T4" fmla="*/ 34 w 57"/>
                <a:gd name="T5" fmla="*/ 0 h 76"/>
                <a:gd name="T6" fmla="*/ 57 w 57"/>
                <a:gd name="T7" fmla="*/ 76 h 76"/>
              </a:gdLst>
              <a:ahLst/>
              <a:cxnLst>
                <a:cxn ang="0">
                  <a:pos x="T0" y="T1"/>
                </a:cxn>
                <a:cxn ang="0">
                  <a:pos x="T2" y="T3"/>
                </a:cxn>
                <a:cxn ang="0">
                  <a:pos x="T4" y="T5"/>
                </a:cxn>
                <a:cxn ang="0">
                  <a:pos x="T6" y="T7"/>
                </a:cxn>
              </a:cxnLst>
              <a:rect l="0" t="0" r="r" b="b"/>
              <a:pathLst>
                <a:path w="57" h="76">
                  <a:moveTo>
                    <a:pt x="57" y="76"/>
                  </a:moveTo>
                  <a:lnTo>
                    <a:pt x="0" y="22"/>
                  </a:lnTo>
                  <a:lnTo>
                    <a:pt x="34" y="0"/>
                  </a:lnTo>
                  <a:lnTo>
                    <a:pt x="57"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65" name="Freeform 177"/>
            <p:cNvSpPr>
              <a:spLocks/>
            </p:cNvSpPr>
            <p:nvPr/>
          </p:nvSpPr>
          <p:spPr bwMode="auto">
            <a:xfrm>
              <a:off x="4946" y="2398"/>
              <a:ext cx="76" cy="55"/>
            </a:xfrm>
            <a:custGeom>
              <a:avLst/>
              <a:gdLst>
                <a:gd name="T0" fmla="*/ 0 w 76"/>
                <a:gd name="T1" fmla="*/ 55 h 55"/>
                <a:gd name="T2" fmla="*/ 57 w 76"/>
                <a:gd name="T3" fmla="*/ 0 h 55"/>
                <a:gd name="T4" fmla="*/ 76 w 76"/>
                <a:gd name="T5" fmla="*/ 33 h 55"/>
                <a:gd name="T6" fmla="*/ 0 w 76"/>
                <a:gd name="T7" fmla="*/ 55 h 55"/>
              </a:gdLst>
              <a:ahLst/>
              <a:cxnLst>
                <a:cxn ang="0">
                  <a:pos x="T0" y="T1"/>
                </a:cxn>
                <a:cxn ang="0">
                  <a:pos x="T2" y="T3"/>
                </a:cxn>
                <a:cxn ang="0">
                  <a:pos x="T4" y="T5"/>
                </a:cxn>
                <a:cxn ang="0">
                  <a:pos x="T6" y="T7"/>
                </a:cxn>
              </a:cxnLst>
              <a:rect l="0" t="0" r="r" b="b"/>
              <a:pathLst>
                <a:path w="76" h="55">
                  <a:moveTo>
                    <a:pt x="0" y="55"/>
                  </a:moveTo>
                  <a:lnTo>
                    <a:pt x="57" y="0"/>
                  </a:lnTo>
                  <a:lnTo>
                    <a:pt x="76" y="33"/>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66" name="Rectangle 178"/>
            <p:cNvSpPr>
              <a:spLocks noChangeArrowheads="1"/>
            </p:cNvSpPr>
            <p:nvPr/>
          </p:nvSpPr>
          <p:spPr bwMode="auto">
            <a:xfrm>
              <a:off x="4695" y="2285"/>
              <a:ext cx="10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667" name="Rectangle 179"/>
            <p:cNvSpPr>
              <a:spLocks noChangeArrowheads="1"/>
            </p:cNvSpPr>
            <p:nvPr/>
          </p:nvSpPr>
          <p:spPr bwMode="auto">
            <a:xfrm>
              <a:off x="5004" y="2285"/>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668" name="Rectangle 180"/>
            <p:cNvSpPr>
              <a:spLocks noChangeArrowheads="1"/>
            </p:cNvSpPr>
            <p:nvPr/>
          </p:nvSpPr>
          <p:spPr bwMode="auto">
            <a:xfrm>
              <a:off x="4824" y="2495"/>
              <a:ext cx="24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sum=0</a:t>
              </a:r>
              <a:endParaRPr lang="en-US" altLang="en-US" sz="1800">
                <a:latin typeface="Arial" panose="020B0604020202020204" pitchFamily="34" charset="0"/>
              </a:endParaRPr>
            </a:p>
          </p:txBody>
        </p:sp>
        <p:sp>
          <p:nvSpPr>
            <p:cNvPr id="575669" name="Rectangle 181"/>
            <p:cNvSpPr>
              <a:spLocks noChangeArrowheads="1"/>
            </p:cNvSpPr>
            <p:nvPr/>
          </p:nvSpPr>
          <p:spPr bwMode="auto">
            <a:xfrm>
              <a:off x="4882" y="2580"/>
              <a:ext cx="10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i=0</a:t>
              </a:r>
              <a:endParaRPr lang="en-US" altLang="en-US" sz="1800">
                <a:latin typeface="Arial" panose="020B0604020202020204" pitchFamily="34" charset="0"/>
              </a:endParaRPr>
            </a:p>
          </p:txBody>
        </p:sp>
        <p:sp>
          <p:nvSpPr>
            <p:cNvPr id="575670" name="Rectangle 182"/>
            <p:cNvSpPr>
              <a:spLocks noChangeArrowheads="1"/>
            </p:cNvSpPr>
            <p:nvPr/>
          </p:nvSpPr>
          <p:spPr bwMode="auto">
            <a:xfrm>
              <a:off x="5103" y="2792"/>
              <a:ext cx="24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!(i&lt;256)</a:t>
              </a:r>
              <a:endParaRPr lang="en-US" altLang="en-US" sz="1800">
                <a:latin typeface="Arial" panose="020B0604020202020204" pitchFamily="34" charset="0"/>
              </a:endParaRPr>
            </a:p>
          </p:txBody>
        </p:sp>
        <p:sp>
          <p:nvSpPr>
            <p:cNvPr id="575671" name="Rectangle 183"/>
            <p:cNvSpPr>
              <a:spLocks noChangeArrowheads="1"/>
            </p:cNvSpPr>
            <p:nvPr/>
          </p:nvSpPr>
          <p:spPr bwMode="auto">
            <a:xfrm>
              <a:off x="4993" y="2988"/>
              <a:ext cx="19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i&lt;256</a:t>
              </a:r>
              <a:endParaRPr lang="en-US" altLang="en-US" sz="1800">
                <a:latin typeface="Arial" panose="020B0604020202020204" pitchFamily="34" charset="0"/>
              </a:endParaRPr>
            </a:p>
          </p:txBody>
        </p:sp>
        <p:sp>
          <p:nvSpPr>
            <p:cNvPr id="575672" name="Freeform 184"/>
            <p:cNvSpPr>
              <a:spLocks/>
            </p:cNvSpPr>
            <p:nvPr/>
          </p:nvSpPr>
          <p:spPr bwMode="auto">
            <a:xfrm>
              <a:off x="4596" y="2004"/>
              <a:ext cx="343" cy="1677"/>
            </a:xfrm>
            <a:custGeom>
              <a:avLst/>
              <a:gdLst>
                <a:gd name="T0" fmla="*/ 145 w 145"/>
                <a:gd name="T1" fmla="*/ 675 h 710"/>
                <a:gd name="T2" fmla="*/ 145 w 145"/>
                <a:gd name="T3" fmla="*/ 710 h 710"/>
                <a:gd name="T4" fmla="*/ 3 w 145"/>
                <a:gd name="T5" fmla="*/ 710 h 710"/>
                <a:gd name="T6" fmla="*/ 3 w 145"/>
                <a:gd name="T7" fmla="*/ 57 h 710"/>
                <a:gd name="T8" fmla="*/ 35 w 145"/>
                <a:gd name="T9" fmla="*/ 7 h 710"/>
                <a:gd name="T10" fmla="*/ 91 w 145"/>
                <a:gd name="T11" fmla="*/ 32 h 710"/>
              </a:gdLst>
              <a:ahLst/>
              <a:cxnLst>
                <a:cxn ang="0">
                  <a:pos x="T0" y="T1"/>
                </a:cxn>
                <a:cxn ang="0">
                  <a:pos x="T2" y="T3"/>
                </a:cxn>
                <a:cxn ang="0">
                  <a:pos x="T4" y="T5"/>
                </a:cxn>
                <a:cxn ang="0">
                  <a:pos x="T6" y="T7"/>
                </a:cxn>
                <a:cxn ang="0">
                  <a:pos x="T8" y="T9"/>
                </a:cxn>
                <a:cxn ang="0">
                  <a:pos x="T10" y="T11"/>
                </a:cxn>
              </a:cxnLst>
              <a:rect l="0" t="0" r="r" b="b"/>
              <a:pathLst>
                <a:path w="145" h="710">
                  <a:moveTo>
                    <a:pt x="145" y="675"/>
                  </a:moveTo>
                  <a:cubicBezTo>
                    <a:pt x="145" y="710"/>
                    <a:pt x="145" y="710"/>
                    <a:pt x="145" y="710"/>
                  </a:cubicBezTo>
                  <a:cubicBezTo>
                    <a:pt x="3" y="710"/>
                    <a:pt x="3" y="710"/>
                    <a:pt x="3" y="710"/>
                  </a:cubicBezTo>
                  <a:cubicBezTo>
                    <a:pt x="3" y="57"/>
                    <a:pt x="3" y="57"/>
                    <a:pt x="3" y="57"/>
                  </a:cubicBezTo>
                  <a:cubicBezTo>
                    <a:pt x="3" y="57"/>
                    <a:pt x="0" y="12"/>
                    <a:pt x="35" y="7"/>
                  </a:cubicBezTo>
                  <a:cubicBezTo>
                    <a:pt x="35" y="7"/>
                    <a:pt x="70" y="0"/>
                    <a:pt x="91" y="32"/>
                  </a:cubicBez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73" name="Freeform 185"/>
            <p:cNvSpPr>
              <a:spLocks/>
            </p:cNvSpPr>
            <p:nvPr/>
          </p:nvSpPr>
          <p:spPr bwMode="auto">
            <a:xfrm>
              <a:off x="5069" y="2122"/>
              <a:ext cx="78" cy="45"/>
            </a:xfrm>
            <a:custGeom>
              <a:avLst/>
              <a:gdLst>
                <a:gd name="T0" fmla="*/ 0 w 78"/>
                <a:gd name="T1" fmla="*/ 45 h 45"/>
                <a:gd name="T2" fmla="*/ 78 w 78"/>
                <a:gd name="T3" fmla="*/ 35 h 45"/>
                <a:gd name="T4" fmla="*/ 64 w 78"/>
                <a:gd name="T5" fmla="*/ 0 h 45"/>
                <a:gd name="T6" fmla="*/ 0 w 78"/>
                <a:gd name="T7" fmla="*/ 45 h 45"/>
              </a:gdLst>
              <a:ahLst/>
              <a:cxnLst>
                <a:cxn ang="0">
                  <a:pos x="T0" y="T1"/>
                </a:cxn>
                <a:cxn ang="0">
                  <a:pos x="T2" y="T3"/>
                </a:cxn>
                <a:cxn ang="0">
                  <a:pos x="T4" y="T5"/>
                </a:cxn>
                <a:cxn ang="0">
                  <a:pos x="T6" y="T7"/>
                </a:cxn>
              </a:cxnLst>
              <a:rect l="0" t="0" r="r" b="b"/>
              <a:pathLst>
                <a:path w="78" h="45">
                  <a:moveTo>
                    <a:pt x="0" y="45"/>
                  </a:moveTo>
                  <a:lnTo>
                    <a:pt x="78" y="35"/>
                  </a:lnTo>
                  <a:lnTo>
                    <a:pt x="64" y="0"/>
                  </a:lnTo>
                  <a:lnTo>
                    <a:pt x="0"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74" name="Line 186"/>
            <p:cNvSpPr>
              <a:spLocks noChangeShapeType="1"/>
            </p:cNvSpPr>
            <p:nvPr/>
          </p:nvSpPr>
          <p:spPr bwMode="auto">
            <a:xfrm flipH="1">
              <a:off x="5088" y="2101"/>
              <a:ext cx="172" cy="59"/>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75" name="Oval 187"/>
            <p:cNvSpPr>
              <a:spLocks noChangeArrowheads="1"/>
            </p:cNvSpPr>
            <p:nvPr/>
          </p:nvSpPr>
          <p:spPr bwMode="auto">
            <a:xfrm>
              <a:off x="4764" y="2455"/>
              <a:ext cx="328" cy="22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76" name="Oval 188"/>
            <p:cNvSpPr>
              <a:spLocks noChangeArrowheads="1"/>
            </p:cNvSpPr>
            <p:nvPr/>
          </p:nvSpPr>
          <p:spPr bwMode="auto">
            <a:xfrm>
              <a:off x="4792" y="3450"/>
              <a:ext cx="293" cy="146"/>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77" name="Rectangle 189"/>
            <p:cNvSpPr>
              <a:spLocks noChangeArrowheads="1"/>
            </p:cNvSpPr>
            <p:nvPr/>
          </p:nvSpPr>
          <p:spPr bwMode="auto">
            <a:xfrm>
              <a:off x="4862" y="3453"/>
              <a:ext cx="17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sad =</a:t>
              </a:r>
              <a:endParaRPr lang="en-US" altLang="en-US" sz="1800">
                <a:latin typeface="Arial" panose="020B0604020202020204" pitchFamily="34" charset="0"/>
              </a:endParaRPr>
            </a:p>
          </p:txBody>
        </p:sp>
        <p:sp>
          <p:nvSpPr>
            <p:cNvPr id="575678" name="Rectangle 190"/>
            <p:cNvSpPr>
              <a:spLocks noChangeArrowheads="1"/>
            </p:cNvSpPr>
            <p:nvPr/>
          </p:nvSpPr>
          <p:spPr bwMode="auto">
            <a:xfrm>
              <a:off x="4878" y="3510"/>
              <a:ext cx="1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sum</a:t>
              </a:r>
              <a:endParaRPr lang="en-US" altLang="en-US" sz="1800">
                <a:latin typeface="Arial" panose="020B0604020202020204" pitchFamily="34" charset="0"/>
              </a:endParaRPr>
            </a:p>
          </p:txBody>
        </p:sp>
        <p:sp>
          <p:nvSpPr>
            <p:cNvPr id="575679" name="Rectangle 191"/>
            <p:cNvSpPr>
              <a:spLocks noChangeArrowheads="1"/>
            </p:cNvSpPr>
            <p:nvPr/>
          </p:nvSpPr>
          <p:spPr bwMode="auto">
            <a:xfrm>
              <a:off x="4800" y="3131"/>
              <a:ext cx="31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sum=sum</a:t>
              </a:r>
              <a:endParaRPr lang="en-US" altLang="en-US" sz="1800">
                <a:latin typeface="Arial" panose="020B0604020202020204" pitchFamily="34" charset="0"/>
              </a:endParaRPr>
            </a:p>
          </p:txBody>
        </p:sp>
        <p:sp>
          <p:nvSpPr>
            <p:cNvPr id="575680" name="Rectangle 192"/>
            <p:cNvSpPr>
              <a:spLocks noChangeArrowheads="1"/>
            </p:cNvSpPr>
            <p:nvPr/>
          </p:nvSpPr>
          <p:spPr bwMode="auto">
            <a:xfrm>
              <a:off x="4836" y="3186"/>
              <a:ext cx="19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 + abs</a:t>
              </a:r>
              <a:endParaRPr lang="en-US" altLang="en-US" sz="1800">
                <a:latin typeface="Arial" panose="020B0604020202020204" pitchFamily="34" charset="0"/>
              </a:endParaRPr>
            </a:p>
          </p:txBody>
        </p:sp>
        <p:sp>
          <p:nvSpPr>
            <p:cNvPr id="575681" name="Rectangle 193"/>
            <p:cNvSpPr>
              <a:spLocks noChangeArrowheads="1"/>
            </p:cNvSpPr>
            <p:nvPr/>
          </p:nvSpPr>
          <p:spPr bwMode="auto">
            <a:xfrm>
              <a:off x="4838" y="3244"/>
              <a:ext cx="23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 = i + 1</a:t>
              </a:r>
              <a:endParaRPr lang="en-US" altLang="en-US" sz="1800">
                <a:latin typeface="Arial" panose="020B0604020202020204" pitchFamily="34" charset="0"/>
              </a:endParaRPr>
            </a:p>
          </p:txBody>
        </p:sp>
        <p:sp>
          <p:nvSpPr>
            <p:cNvPr id="575682" name="Line 194"/>
            <p:cNvSpPr>
              <a:spLocks noChangeShapeType="1"/>
            </p:cNvSpPr>
            <p:nvPr/>
          </p:nvSpPr>
          <p:spPr bwMode="auto">
            <a:xfrm>
              <a:off x="4934" y="2684"/>
              <a:ext cx="1" cy="83"/>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83" name="Freeform 195"/>
            <p:cNvSpPr>
              <a:spLocks/>
            </p:cNvSpPr>
            <p:nvPr/>
          </p:nvSpPr>
          <p:spPr bwMode="auto">
            <a:xfrm>
              <a:off x="4915" y="2741"/>
              <a:ext cx="38" cy="7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84" name="Oval 196"/>
            <p:cNvSpPr>
              <a:spLocks noChangeArrowheads="1"/>
            </p:cNvSpPr>
            <p:nvPr/>
          </p:nvSpPr>
          <p:spPr bwMode="auto">
            <a:xfrm>
              <a:off x="4792" y="2814"/>
              <a:ext cx="293"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85" name="Oval 197"/>
            <p:cNvSpPr>
              <a:spLocks noChangeArrowheads="1"/>
            </p:cNvSpPr>
            <p:nvPr/>
          </p:nvSpPr>
          <p:spPr bwMode="auto">
            <a:xfrm>
              <a:off x="4757" y="3098"/>
              <a:ext cx="361" cy="250"/>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86" name="Freeform 198"/>
            <p:cNvSpPr>
              <a:spLocks/>
            </p:cNvSpPr>
            <p:nvPr/>
          </p:nvSpPr>
          <p:spPr bwMode="auto">
            <a:xfrm>
              <a:off x="4731" y="2115"/>
              <a:ext cx="78" cy="38"/>
            </a:xfrm>
            <a:custGeom>
              <a:avLst/>
              <a:gdLst>
                <a:gd name="T0" fmla="*/ 78 w 78"/>
                <a:gd name="T1" fmla="*/ 38 h 38"/>
                <a:gd name="T2" fmla="*/ 0 w 78"/>
                <a:gd name="T3" fmla="*/ 35 h 38"/>
                <a:gd name="T4" fmla="*/ 10 w 78"/>
                <a:gd name="T5" fmla="*/ 0 h 38"/>
                <a:gd name="T6" fmla="*/ 78 w 78"/>
                <a:gd name="T7" fmla="*/ 38 h 38"/>
              </a:gdLst>
              <a:ahLst/>
              <a:cxnLst>
                <a:cxn ang="0">
                  <a:pos x="T0" y="T1"/>
                </a:cxn>
                <a:cxn ang="0">
                  <a:pos x="T2" y="T3"/>
                </a:cxn>
                <a:cxn ang="0">
                  <a:pos x="T4" y="T5"/>
                </a:cxn>
                <a:cxn ang="0">
                  <a:pos x="T6" y="T7"/>
                </a:cxn>
              </a:cxnLst>
              <a:rect l="0" t="0" r="r" b="b"/>
              <a:pathLst>
                <a:path w="78" h="38">
                  <a:moveTo>
                    <a:pt x="78" y="38"/>
                  </a:moveTo>
                  <a:lnTo>
                    <a:pt x="0" y="35"/>
                  </a:lnTo>
                  <a:lnTo>
                    <a:pt x="10" y="0"/>
                  </a:lnTo>
                  <a:lnTo>
                    <a:pt x="78"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87" name="Freeform 199"/>
            <p:cNvSpPr>
              <a:spLocks/>
            </p:cNvSpPr>
            <p:nvPr/>
          </p:nvSpPr>
          <p:spPr bwMode="auto">
            <a:xfrm>
              <a:off x="4674" y="2134"/>
              <a:ext cx="123" cy="132"/>
            </a:xfrm>
            <a:custGeom>
              <a:avLst/>
              <a:gdLst>
                <a:gd name="T0" fmla="*/ 52 w 52"/>
                <a:gd name="T1" fmla="*/ 42 h 56"/>
                <a:gd name="T2" fmla="*/ 28 w 52"/>
                <a:gd name="T3" fmla="*/ 56 h 56"/>
                <a:gd name="T4" fmla="*/ 0 w 52"/>
                <a:gd name="T5" fmla="*/ 28 h 56"/>
                <a:gd name="T6" fmla="*/ 28 w 52"/>
                <a:gd name="T7" fmla="*/ 0 h 56"/>
                <a:gd name="T8" fmla="*/ 39 w 52"/>
                <a:gd name="T9" fmla="*/ 2 h 56"/>
              </a:gdLst>
              <a:ahLst/>
              <a:cxnLst>
                <a:cxn ang="0">
                  <a:pos x="T0" y="T1"/>
                </a:cxn>
                <a:cxn ang="0">
                  <a:pos x="T2" y="T3"/>
                </a:cxn>
                <a:cxn ang="0">
                  <a:pos x="T4" y="T5"/>
                </a:cxn>
                <a:cxn ang="0">
                  <a:pos x="T6" y="T7"/>
                </a:cxn>
                <a:cxn ang="0">
                  <a:pos x="T8" y="T9"/>
                </a:cxn>
              </a:cxnLst>
              <a:rect l="0" t="0" r="r" b="b"/>
              <a:pathLst>
                <a:path w="52" h="56">
                  <a:moveTo>
                    <a:pt x="52" y="42"/>
                  </a:moveTo>
                  <a:cubicBezTo>
                    <a:pt x="48" y="51"/>
                    <a:pt x="38" y="56"/>
                    <a:pt x="28" y="56"/>
                  </a:cubicBezTo>
                  <a:cubicBezTo>
                    <a:pt x="12" y="56"/>
                    <a:pt x="0" y="44"/>
                    <a:pt x="0" y="28"/>
                  </a:cubicBezTo>
                  <a:cubicBezTo>
                    <a:pt x="0" y="12"/>
                    <a:pt x="12" y="0"/>
                    <a:pt x="28" y="0"/>
                  </a:cubicBezTo>
                  <a:cubicBezTo>
                    <a:pt x="32" y="0"/>
                    <a:pt x="36" y="1"/>
                    <a:pt x="39" y="2"/>
                  </a:cubicBez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88" name="Oval 200"/>
            <p:cNvSpPr>
              <a:spLocks noChangeArrowheads="1"/>
            </p:cNvSpPr>
            <p:nvPr/>
          </p:nvSpPr>
          <p:spPr bwMode="auto">
            <a:xfrm>
              <a:off x="4785" y="2129"/>
              <a:ext cx="296"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5705" name="Group 217"/>
          <p:cNvGrpSpPr>
            <a:grpSpLocks/>
          </p:cNvGrpSpPr>
          <p:nvPr/>
        </p:nvGrpSpPr>
        <p:grpSpPr bwMode="auto">
          <a:xfrm>
            <a:off x="7226300" y="1901825"/>
            <a:ext cx="463550" cy="884238"/>
            <a:chOff x="4552" y="1198"/>
            <a:chExt cx="292" cy="557"/>
          </a:xfrm>
        </p:grpSpPr>
        <p:sp>
          <p:nvSpPr>
            <p:cNvPr id="575541" name="Line 53"/>
            <p:cNvSpPr>
              <a:spLocks noChangeShapeType="1"/>
            </p:cNvSpPr>
            <p:nvPr/>
          </p:nvSpPr>
          <p:spPr bwMode="auto">
            <a:xfrm>
              <a:off x="4552" y="1271"/>
              <a:ext cx="1"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43" name="Line 55"/>
            <p:cNvSpPr>
              <a:spLocks noChangeShapeType="1"/>
            </p:cNvSpPr>
            <p:nvPr/>
          </p:nvSpPr>
          <p:spPr bwMode="auto">
            <a:xfrm>
              <a:off x="4698" y="1623"/>
              <a:ext cx="1" cy="8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44" name="Freeform 56"/>
            <p:cNvSpPr>
              <a:spLocks/>
            </p:cNvSpPr>
            <p:nvPr/>
          </p:nvSpPr>
          <p:spPr bwMode="auto">
            <a:xfrm>
              <a:off x="4679" y="1680"/>
              <a:ext cx="38" cy="7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45" name="Line 57"/>
            <p:cNvSpPr>
              <a:spLocks noChangeShapeType="1"/>
            </p:cNvSpPr>
            <p:nvPr/>
          </p:nvSpPr>
          <p:spPr bwMode="auto">
            <a:xfrm>
              <a:off x="4698" y="1347"/>
              <a:ext cx="1" cy="82"/>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46" name="Freeform 58"/>
            <p:cNvSpPr>
              <a:spLocks/>
            </p:cNvSpPr>
            <p:nvPr/>
          </p:nvSpPr>
          <p:spPr bwMode="auto">
            <a:xfrm>
              <a:off x="4679" y="1401"/>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48" name="Oval 60"/>
            <p:cNvSpPr>
              <a:spLocks noChangeArrowheads="1"/>
            </p:cNvSpPr>
            <p:nvPr/>
          </p:nvSpPr>
          <p:spPr bwMode="auto">
            <a:xfrm>
              <a:off x="4552" y="1198"/>
              <a:ext cx="292" cy="146"/>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49" name="Oval 61"/>
            <p:cNvSpPr>
              <a:spLocks noChangeArrowheads="1"/>
            </p:cNvSpPr>
            <p:nvPr/>
          </p:nvSpPr>
          <p:spPr bwMode="auto">
            <a:xfrm>
              <a:off x="4552" y="1477"/>
              <a:ext cx="292" cy="146"/>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52" name="Rectangle 64"/>
            <p:cNvSpPr>
              <a:spLocks noChangeArrowheads="1"/>
            </p:cNvSpPr>
            <p:nvPr/>
          </p:nvSpPr>
          <p:spPr bwMode="auto">
            <a:xfrm>
              <a:off x="4588" y="1224"/>
              <a:ext cx="21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sum=0</a:t>
              </a:r>
              <a:endParaRPr lang="en-US" altLang="en-US" sz="1800">
                <a:latin typeface="Arial" panose="020B0604020202020204" pitchFamily="34" charset="0"/>
              </a:endParaRPr>
            </a:p>
          </p:txBody>
        </p:sp>
        <p:sp>
          <p:nvSpPr>
            <p:cNvPr id="575553" name="Rectangle 65"/>
            <p:cNvSpPr>
              <a:spLocks noChangeArrowheads="1"/>
            </p:cNvSpPr>
            <p:nvPr/>
          </p:nvSpPr>
          <p:spPr bwMode="auto">
            <a:xfrm>
              <a:off x="4646" y="1501"/>
              <a:ext cx="10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i=0</a:t>
              </a:r>
              <a:endParaRPr lang="en-US" altLang="en-US" sz="1800">
                <a:latin typeface="Arial" panose="020B0604020202020204" pitchFamily="34" charset="0"/>
              </a:endParaRPr>
            </a:p>
          </p:txBody>
        </p:sp>
      </p:grpSp>
      <p:grpSp>
        <p:nvGrpSpPr>
          <p:cNvPr id="575702" name="Group 214"/>
          <p:cNvGrpSpPr>
            <a:grpSpLocks/>
          </p:cNvGrpSpPr>
          <p:nvPr/>
        </p:nvGrpSpPr>
        <p:grpSpPr bwMode="auto">
          <a:xfrm>
            <a:off x="3970338" y="1179513"/>
            <a:ext cx="2790825" cy="1814512"/>
            <a:chOff x="2501" y="743"/>
            <a:chExt cx="1758" cy="1143"/>
          </a:xfrm>
        </p:grpSpPr>
        <p:sp>
          <p:nvSpPr>
            <p:cNvPr id="575522" name="Freeform 34"/>
            <p:cNvSpPr>
              <a:spLocks/>
            </p:cNvSpPr>
            <p:nvPr/>
          </p:nvSpPr>
          <p:spPr bwMode="auto">
            <a:xfrm>
              <a:off x="3994" y="943"/>
              <a:ext cx="225" cy="564"/>
            </a:xfrm>
            <a:custGeom>
              <a:avLst/>
              <a:gdLst>
                <a:gd name="T0" fmla="*/ 66 w 225"/>
                <a:gd name="T1" fmla="*/ 564 h 564"/>
                <a:gd name="T2" fmla="*/ 225 w 225"/>
                <a:gd name="T3" fmla="*/ 564 h 564"/>
                <a:gd name="T4" fmla="*/ 225 w 225"/>
                <a:gd name="T5" fmla="*/ 366 h 564"/>
                <a:gd name="T6" fmla="*/ 225 w 225"/>
                <a:gd name="T7" fmla="*/ 130 h 564"/>
                <a:gd name="T8" fmla="*/ 225 w 225"/>
                <a:gd name="T9" fmla="*/ 0 h 564"/>
                <a:gd name="T10" fmla="*/ 0 w 225"/>
                <a:gd name="T11" fmla="*/ 0 h 564"/>
              </a:gdLst>
              <a:ahLst/>
              <a:cxnLst>
                <a:cxn ang="0">
                  <a:pos x="T0" y="T1"/>
                </a:cxn>
                <a:cxn ang="0">
                  <a:pos x="T2" y="T3"/>
                </a:cxn>
                <a:cxn ang="0">
                  <a:pos x="T4" y="T5"/>
                </a:cxn>
                <a:cxn ang="0">
                  <a:pos x="T6" y="T7"/>
                </a:cxn>
                <a:cxn ang="0">
                  <a:pos x="T8" y="T9"/>
                </a:cxn>
                <a:cxn ang="0">
                  <a:pos x="T10" y="T11"/>
                </a:cxn>
              </a:cxnLst>
              <a:rect l="0" t="0" r="r" b="b"/>
              <a:pathLst>
                <a:path w="225" h="564">
                  <a:moveTo>
                    <a:pt x="66" y="564"/>
                  </a:moveTo>
                  <a:lnTo>
                    <a:pt x="225" y="564"/>
                  </a:lnTo>
                  <a:lnTo>
                    <a:pt x="225" y="366"/>
                  </a:lnTo>
                  <a:lnTo>
                    <a:pt x="225" y="130"/>
                  </a:lnTo>
                  <a:lnTo>
                    <a:pt x="225" y="0"/>
                  </a:lnTo>
                  <a:lnTo>
                    <a:pt x="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23" name="Freeform 35"/>
            <p:cNvSpPr>
              <a:spLocks/>
            </p:cNvSpPr>
            <p:nvPr/>
          </p:nvSpPr>
          <p:spPr bwMode="auto">
            <a:xfrm>
              <a:off x="3999" y="1489"/>
              <a:ext cx="75" cy="37"/>
            </a:xfrm>
            <a:custGeom>
              <a:avLst/>
              <a:gdLst>
                <a:gd name="T0" fmla="*/ 0 w 75"/>
                <a:gd name="T1" fmla="*/ 18 h 37"/>
                <a:gd name="T2" fmla="*/ 75 w 75"/>
                <a:gd name="T3" fmla="*/ 0 h 37"/>
                <a:gd name="T4" fmla="*/ 75 w 75"/>
                <a:gd name="T5" fmla="*/ 37 h 37"/>
                <a:gd name="T6" fmla="*/ 0 w 75"/>
                <a:gd name="T7" fmla="*/ 18 h 37"/>
              </a:gdLst>
              <a:ahLst/>
              <a:cxnLst>
                <a:cxn ang="0">
                  <a:pos x="T0" y="T1"/>
                </a:cxn>
                <a:cxn ang="0">
                  <a:pos x="T2" y="T3"/>
                </a:cxn>
                <a:cxn ang="0">
                  <a:pos x="T4" y="T5"/>
                </a:cxn>
                <a:cxn ang="0">
                  <a:pos x="T6" y="T7"/>
                </a:cxn>
              </a:cxnLst>
              <a:rect l="0" t="0" r="r" b="b"/>
              <a:pathLst>
                <a:path w="75" h="37">
                  <a:moveTo>
                    <a:pt x="0" y="18"/>
                  </a:moveTo>
                  <a:lnTo>
                    <a:pt x="75" y="0"/>
                  </a:lnTo>
                  <a:lnTo>
                    <a:pt x="75" y="37"/>
                  </a:lnTo>
                  <a:lnTo>
                    <a:pt x="0"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24" name="Freeform 36"/>
            <p:cNvSpPr>
              <a:spLocks/>
            </p:cNvSpPr>
            <p:nvPr/>
          </p:nvSpPr>
          <p:spPr bwMode="auto">
            <a:xfrm>
              <a:off x="3593" y="941"/>
              <a:ext cx="108" cy="382"/>
            </a:xfrm>
            <a:custGeom>
              <a:avLst/>
              <a:gdLst>
                <a:gd name="T0" fmla="*/ 42 w 108"/>
                <a:gd name="T1" fmla="*/ 0 h 382"/>
                <a:gd name="T2" fmla="*/ 0 w 108"/>
                <a:gd name="T3" fmla="*/ 0 h 382"/>
                <a:gd name="T4" fmla="*/ 0 w 108"/>
                <a:gd name="T5" fmla="*/ 198 h 382"/>
                <a:gd name="T6" fmla="*/ 0 w 108"/>
                <a:gd name="T7" fmla="*/ 382 h 382"/>
                <a:gd name="T8" fmla="*/ 108 w 108"/>
                <a:gd name="T9" fmla="*/ 382 h 382"/>
              </a:gdLst>
              <a:ahLst/>
              <a:cxnLst>
                <a:cxn ang="0">
                  <a:pos x="T0" y="T1"/>
                </a:cxn>
                <a:cxn ang="0">
                  <a:pos x="T2" y="T3"/>
                </a:cxn>
                <a:cxn ang="0">
                  <a:pos x="T4" y="T5"/>
                </a:cxn>
                <a:cxn ang="0">
                  <a:pos x="T6" y="T7"/>
                </a:cxn>
                <a:cxn ang="0">
                  <a:pos x="T8" y="T9"/>
                </a:cxn>
              </a:cxnLst>
              <a:rect l="0" t="0" r="r" b="b"/>
              <a:pathLst>
                <a:path w="108" h="382">
                  <a:moveTo>
                    <a:pt x="42" y="0"/>
                  </a:moveTo>
                  <a:lnTo>
                    <a:pt x="0" y="0"/>
                  </a:lnTo>
                  <a:lnTo>
                    <a:pt x="0" y="198"/>
                  </a:lnTo>
                  <a:lnTo>
                    <a:pt x="0" y="382"/>
                  </a:lnTo>
                  <a:lnTo>
                    <a:pt x="108" y="382"/>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25" name="Freeform 37"/>
            <p:cNvSpPr>
              <a:spLocks/>
            </p:cNvSpPr>
            <p:nvPr/>
          </p:nvSpPr>
          <p:spPr bwMode="auto">
            <a:xfrm>
              <a:off x="3623" y="922"/>
              <a:ext cx="76" cy="37"/>
            </a:xfrm>
            <a:custGeom>
              <a:avLst/>
              <a:gdLst>
                <a:gd name="T0" fmla="*/ 76 w 76"/>
                <a:gd name="T1" fmla="*/ 19 h 37"/>
                <a:gd name="T2" fmla="*/ 0 w 76"/>
                <a:gd name="T3" fmla="*/ 37 h 37"/>
                <a:gd name="T4" fmla="*/ 0 w 76"/>
                <a:gd name="T5" fmla="*/ 0 h 37"/>
                <a:gd name="T6" fmla="*/ 76 w 76"/>
                <a:gd name="T7" fmla="*/ 19 h 37"/>
              </a:gdLst>
              <a:ahLst/>
              <a:cxnLst>
                <a:cxn ang="0">
                  <a:pos x="T0" y="T1"/>
                </a:cxn>
                <a:cxn ang="0">
                  <a:pos x="T2" y="T3"/>
                </a:cxn>
                <a:cxn ang="0">
                  <a:pos x="T4" y="T5"/>
                </a:cxn>
                <a:cxn ang="0">
                  <a:pos x="T6" y="T7"/>
                </a:cxn>
              </a:cxnLst>
              <a:rect l="0" t="0" r="r" b="b"/>
              <a:pathLst>
                <a:path w="76" h="37">
                  <a:moveTo>
                    <a:pt x="76" y="19"/>
                  </a:moveTo>
                  <a:lnTo>
                    <a:pt x="0" y="37"/>
                  </a:lnTo>
                  <a:lnTo>
                    <a:pt x="0" y="0"/>
                  </a:lnTo>
                  <a:lnTo>
                    <a:pt x="76"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26" name="Line 38"/>
            <p:cNvSpPr>
              <a:spLocks noChangeShapeType="1"/>
            </p:cNvSpPr>
            <p:nvPr/>
          </p:nvSpPr>
          <p:spPr bwMode="auto">
            <a:xfrm>
              <a:off x="3848" y="1016"/>
              <a:ext cx="1" cy="59"/>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27" name="Freeform 39"/>
            <p:cNvSpPr>
              <a:spLocks/>
            </p:cNvSpPr>
            <p:nvPr/>
          </p:nvSpPr>
          <p:spPr bwMode="auto">
            <a:xfrm>
              <a:off x="3829" y="1049"/>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28" name="Line 40"/>
            <p:cNvSpPr>
              <a:spLocks noChangeShapeType="1"/>
            </p:cNvSpPr>
            <p:nvPr/>
          </p:nvSpPr>
          <p:spPr bwMode="auto">
            <a:xfrm>
              <a:off x="3848" y="1125"/>
              <a:ext cx="1" cy="73"/>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29" name="Freeform 41"/>
            <p:cNvSpPr>
              <a:spLocks/>
            </p:cNvSpPr>
            <p:nvPr/>
          </p:nvSpPr>
          <p:spPr bwMode="auto">
            <a:xfrm>
              <a:off x="3829" y="1172"/>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30" name="Line 42"/>
            <p:cNvSpPr>
              <a:spLocks noChangeShapeType="1"/>
            </p:cNvSpPr>
            <p:nvPr/>
          </p:nvSpPr>
          <p:spPr bwMode="auto">
            <a:xfrm>
              <a:off x="3848" y="1583"/>
              <a:ext cx="1" cy="83"/>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31" name="Freeform 43"/>
            <p:cNvSpPr>
              <a:spLocks/>
            </p:cNvSpPr>
            <p:nvPr/>
          </p:nvSpPr>
          <p:spPr bwMode="auto">
            <a:xfrm>
              <a:off x="3829" y="1640"/>
              <a:ext cx="38" cy="7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32" name="Oval 44"/>
            <p:cNvSpPr>
              <a:spLocks noChangeArrowheads="1"/>
            </p:cNvSpPr>
            <p:nvPr/>
          </p:nvSpPr>
          <p:spPr bwMode="auto">
            <a:xfrm>
              <a:off x="3701" y="867"/>
              <a:ext cx="293" cy="149"/>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33" name="Oval 45"/>
            <p:cNvSpPr>
              <a:spLocks noChangeArrowheads="1"/>
            </p:cNvSpPr>
            <p:nvPr/>
          </p:nvSpPr>
          <p:spPr bwMode="auto">
            <a:xfrm>
              <a:off x="3701" y="1250"/>
              <a:ext cx="293" cy="149"/>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34" name="Oval 46"/>
            <p:cNvSpPr>
              <a:spLocks noChangeArrowheads="1"/>
            </p:cNvSpPr>
            <p:nvPr/>
          </p:nvSpPr>
          <p:spPr bwMode="auto">
            <a:xfrm>
              <a:off x="3701" y="1434"/>
              <a:ext cx="293" cy="149"/>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36" name="Rectangle 48"/>
            <p:cNvSpPr>
              <a:spLocks noChangeArrowheads="1"/>
            </p:cNvSpPr>
            <p:nvPr/>
          </p:nvSpPr>
          <p:spPr bwMode="auto">
            <a:xfrm>
              <a:off x="3861" y="1800"/>
              <a:ext cx="8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(b)</a:t>
              </a:r>
              <a:endParaRPr lang="en-US" altLang="en-US" sz="1800">
                <a:latin typeface="Arial" panose="020B0604020202020204" pitchFamily="34" charset="0"/>
              </a:endParaRPr>
            </a:p>
          </p:txBody>
        </p:sp>
        <p:sp>
          <p:nvSpPr>
            <p:cNvPr id="575538" name="Rectangle 50"/>
            <p:cNvSpPr>
              <a:spLocks noChangeArrowheads="1"/>
            </p:cNvSpPr>
            <p:nvPr/>
          </p:nvSpPr>
          <p:spPr bwMode="auto">
            <a:xfrm>
              <a:off x="4027" y="846"/>
              <a:ext cx="16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539" name="Rectangle 51"/>
            <p:cNvSpPr>
              <a:spLocks noChangeArrowheads="1"/>
            </p:cNvSpPr>
            <p:nvPr/>
          </p:nvSpPr>
          <p:spPr bwMode="auto">
            <a:xfrm>
              <a:off x="3892" y="1031"/>
              <a:ext cx="10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!go</a:t>
              </a:r>
              <a:endParaRPr lang="en-US" altLang="en-US" sz="1800">
                <a:latin typeface="Arial" panose="020B0604020202020204" pitchFamily="34" charset="0"/>
              </a:endParaRPr>
            </a:p>
          </p:txBody>
        </p:sp>
        <p:pic>
          <p:nvPicPr>
            <p:cNvPr id="575689" name="Picture 2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7" y="1236"/>
              <a:ext cx="34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5697" name="Rectangle 209"/>
            <p:cNvSpPr>
              <a:spLocks noChangeArrowheads="1"/>
            </p:cNvSpPr>
            <p:nvPr/>
          </p:nvSpPr>
          <p:spPr bwMode="auto">
            <a:xfrm>
              <a:off x="2501" y="1463"/>
              <a:ext cx="697" cy="151"/>
            </a:xfrm>
            <a:prstGeom prst="rect">
              <a:avLst/>
            </a:prstGeom>
            <a:noFill/>
            <a:ln w="12700">
              <a:solidFill>
                <a:srgbClr val="3399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5700" name="Rectangle 212"/>
            <p:cNvSpPr>
              <a:spLocks noChangeArrowheads="1"/>
            </p:cNvSpPr>
            <p:nvPr/>
          </p:nvSpPr>
          <p:spPr bwMode="auto">
            <a:xfrm>
              <a:off x="3456" y="743"/>
              <a:ext cx="803" cy="1000"/>
            </a:xfrm>
            <a:prstGeom prst="rect">
              <a:avLst/>
            </a:prstGeom>
            <a:noFill/>
            <a:ln w="12700">
              <a:solidFill>
                <a:srgbClr val="3399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75704" name="Group 216"/>
          <p:cNvGrpSpPr>
            <a:grpSpLocks/>
          </p:cNvGrpSpPr>
          <p:nvPr/>
        </p:nvGrpSpPr>
        <p:grpSpPr bwMode="auto">
          <a:xfrm>
            <a:off x="6735763" y="1263650"/>
            <a:ext cx="1181100" cy="1670050"/>
            <a:chOff x="4243" y="796"/>
            <a:chExt cx="744" cy="1052"/>
          </a:xfrm>
        </p:grpSpPr>
        <p:sp>
          <p:nvSpPr>
            <p:cNvPr id="575535" name="Rectangle 47"/>
            <p:cNvSpPr>
              <a:spLocks noChangeArrowheads="1"/>
            </p:cNvSpPr>
            <p:nvPr/>
          </p:nvSpPr>
          <p:spPr bwMode="auto">
            <a:xfrm>
              <a:off x="4659" y="1762"/>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(c)</a:t>
              </a:r>
              <a:endParaRPr lang="en-US" altLang="en-US" sz="1800">
                <a:latin typeface="Arial" panose="020B0604020202020204" pitchFamily="34" charset="0"/>
              </a:endParaRPr>
            </a:p>
          </p:txBody>
        </p:sp>
        <p:sp>
          <p:nvSpPr>
            <p:cNvPr id="575540" name="Freeform 52"/>
            <p:cNvSpPr>
              <a:spLocks/>
            </p:cNvSpPr>
            <p:nvPr/>
          </p:nvSpPr>
          <p:spPr bwMode="auto">
            <a:xfrm>
              <a:off x="4769" y="943"/>
              <a:ext cx="137" cy="215"/>
            </a:xfrm>
            <a:custGeom>
              <a:avLst/>
              <a:gdLst>
                <a:gd name="T0" fmla="*/ 75 w 137"/>
                <a:gd name="T1" fmla="*/ 0 h 215"/>
                <a:gd name="T2" fmla="*/ 137 w 137"/>
                <a:gd name="T3" fmla="*/ 0 h 215"/>
                <a:gd name="T4" fmla="*/ 137 w 137"/>
                <a:gd name="T5" fmla="*/ 130 h 215"/>
                <a:gd name="T6" fmla="*/ 0 w 137"/>
                <a:gd name="T7" fmla="*/ 215 h 215"/>
              </a:gdLst>
              <a:ahLst/>
              <a:cxnLst>
                <a:cxn ang="0">
                  <a:pos x="T0" y="T1"/>
                </a:cxn>
                <a:cxn ang="0">
                  <a:pos x="T2" y="T3"/>
                </a:cxn>
                <a:cxn ang="0">
                  <a:pos x="T4" y="T5"/>
                </a:cxn>
                <a:cxn ang="0">
                  <a:pos x="T6" y="T7"/>
                </a:cxn>
              </a:cxnLst>
              <a:rect l="0" t="0" r="r" b="b"/>
              <a:pathLst>
                <a:path w="137" h="215">
                  <a:moveTo>
                    <a:pt x="75" y="0"/>
                  </a:moveTo>
                  <a:lnTo>
                    <a:pt x="137" y="0"/>
                  </a:lnTo>
                  <a:lnTo>
                    <a:pt x="137" y="130"/>
                  </a:lnTo>
                  <a:lnTo>
                    <a:pt x="0" y="215"/>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42" name="Freeform 54"/>
            <p:cNvSpPr>
              <a:spLocks/>
            </p:cNvSpPr>
            <p:nvPr/>
          </p:nvSpPr>
          <p:spPr bwMode="auto">
            <a:xfrm>
              <a:off x="4710" y="1139"/>
              <a:ext cx="75" cy="54"/>
            </a:xfrm>
            <a:custGeom>
              <a:avLst/>
              <a:gdLst>
                <a:gd name="T0" fmla="*/ 0 w 75"/>
                <a:gd name="T1" fmla="*/ 54 h 54"/>
                <a:gd name="T2" fmla="*/ 57 w 75"/>
                <a:gd name="T3" fmla="*/ 0 h 54"/>
                <a:gd name="T4" fmla="*/ 75 w 75"/>
                <a:gd name="T5" fmla="*/ 33 h 54"/>
                <a:gd name="T6" fmla="*/ 0 w 75"/>
                <a:gd name="T7" fmla="*/ 54 h 54"/>
              </a:gdLst>
              <a:ahLst/>
              <a:cxnLst>
                <a:cxn ang="0">
                  <a:pos x="T0" y="T1"/>
                </a:cxn>
                <a:cxn ang="0">
                  <a:pos x="T2" y="T3"/>
                </a:cxn>
                <a:cxn ang="0">
                  <a:pos x="T4" y="T5"/>
                </a:cxn>
                <a:cxn ang="0">
                  <a:pos x="T6" y="T7"/>
                </a:cxn>
              </a:cxnLst>
              <a:rect l="0" t="0" r="r" b="b"/>
              <a:pathLst>
                <a:path w="75" h="54">
                  <a:moveTo>
                    <a:pt x="0" y="54"/>
                  </a:moveTo>
                  <a:lnTo>
                    <a:pt x="57" y="0"/>
                  </a:lnTo>
                  <a:lnTo>
                    <a:pt x="75" y="33"/>
                  </a:lnTo>
                  <a:lnTo>
                    <a:pt x="0"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47" name="Oval 59"/>
            <p:cNvSpPr>
              <a:spLocks noChangeArrowheads="1"/>
            </p:cNvSpPr>
            <p:nvPr/>
          </p:nvSpPr>
          <p:spPr bwMode="auto">
            <a:xfrm>
              <a:off x="4552" y="867"/>
              <a:ext cx="292" cy="149"/>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50" name="Rectangle 62"/>
            <p:cNvSpPr>
              <a:spLocks noChangeArrowheads="1"/>
            </p:cNvSpPr>
            <p:nvPr/>
          </p:nvSpPr>
          <p:spPr bwMode="auto">
            <a:xfrm>
              <a:off x="4450" y="1025"/>
              <a:ext cx="9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551" name="Rectangle 63"/>
            <p:cNvSpPr>
              <a:spLocks noChangeArrowheads="1"/>
            </p:cNvSpPr>
            <p:nvPr/>
          </p:nvSpPr>
          <p:spPr bwMode="auto">
            <a:xfrm>
              <a:off x="4769" y="1025"/>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584" name="Freeform 96"/>
            <p:cNvSpPr>
              <a:spLocks/>
            </p:cNvSpPr>
            <p:nvPr/>
          </p:nvSpPr>
          <p:spPr bwMode="auto">
            <a:xfrm>
              <a:off x="4500" y="858"/>
              <a:ext cx="78" cy="38"/>
            </a:xfrm>
            <a:custGeom>
              <a:avLst/>
              <a:gdLst>
                <a:gd name="T0" fmla="*/ 78 w 78"/>
                <a:gd name="T1" fmla="*/ 38 h 38"/>
                <a:gd name="T2" fmla="*/ 0 w 78"/>
                <a:gd name="T3" fmla="*/ 35 h 38"/>
                <a:gd name="T4" fmla="*/ 9 w 78"/>
                <a:gd name="T5" fmla="*/ 0 h 38"/>
                <a:gd name="T6" fmla="*/ 78 w 78"/>
                <a:gd name="T7" fmla="*/ 38 h 38"/>
              </a:gdLst>
              <a:ahLst/>
              <a:cxnLst>
                <a:cxn ang="0">
                  <a:pos x="T0" y="T1"/>
                </a:cxn>
                <a:cxn ang="0">
                  <a:pos x="T2" y="T3"/>
                </a:cxn>
                <a:cxn ang="0">
                  <a:pos x="T4" y="T5"/>
                </a:cxn>
                <a:cxn ang="0">
                  <a:pos x="T6" y="T7"/>
                </a:cxn>
              </a:cxnLst>
              <a:rect l="0" t="0" r="r" b="b"/>
              <a:pathLst>
                <a:path w="78" h="38">
                  <a:moveTo>
                    <a:pt x="78" y="38"/>
                  </a:moveTo>
                  <a:lnTo>
                    <a:pt x="0" y="35"/>
                  </a:lnTo>
                  <a:lnTo>
                    <a:pt x="9" y="0"/>
                  </a:lnTo>
                  <a:lnTo>
                    <a:pt x="78"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85" name="Freeform 97"/>
            <p:cNvSpPr>
              <a:spLocks/>
            </p:cNvSpPr>
            <p:nvPr/>
          </p:nvSpPr>
          <p:spPr bwMode="auto">
            <a:xfrm>
              <a:off x="4441" y="877"/>
              <a:ext cx="125" cy="132"/>
            </a:xfrm>
            <a:custGeom>
              <a:avLst/>
              <a:gdLst>
                <a:gd name="T0" fmla="*/ 53 w 53"/>
                <a:gd name="T1" fmla="*/ 42 h 56"/>
                <a:gd name="T2" fmla="*/ 29 w 53"/>
                <a:gd name="T3" fmla="*/ 56 h 56"/>
                <a:gd name="T4" fmla="*/ 0 w 53"/>
                <a:gd name="T5" fmla="*/ 28 h 56"/>
                <a:gd name="T6" fmla="*/ 29 w 53"/>
                <a:gd name="T7" fmla="*/ 0 h 56"/>
                <a:gd name="T8" fmla="*/ 40 w 53"/>
                <a:gd name="T9" fmla="*/ 2 h 56"/>
              </a:gdLst>
              <a:ahLst/>
              <a:cxnLst>
                <a:cxn ang="0">
                  <a:pos x="T0" y="T1"/>
                </a:cxn>
                <a:cxn ang="0">
                  <a:pos x="T2" y="T3"/>
                </a:cxn>
                <a:cxn ang="0">
                  <a:pos x="T4" y="T5"/>
                </a:cxn>
                <a:cxn ang="0">
                  <a:pos x="T6" y="T7"/>
                </a:cxn>
                <a:cxn ang="0">
                  <a:pos x="T8" y="T9"/>
                </a:cxn>
              </a:cxnLst>
              <a:rect l="0" t="0" r="r" b="b"/>
              <a:pathLst>
                <a:path w="53" h="56">
                  <a:moveTo>
                    <a:pt x="53" y="42"/>
                  </a:moveTo>
                  <a:cubicBezTo>
                    <a:pt x="48" y="51"/>
                    <a:pt x="39" y="56"/>
                    <a:pt x="29" y="56"/>
                  </a:cubicBezTo>
                  <a:cubicBezTo>
                    <a:pt x="13" y="56"/>
                    <a:pt x="0" y="44"/>
                    <a:pt x="0" y="28"/>
                  </a:cubicBezTo>
                  <a:cubicBezTo>
                    <a:pt x="0" y="12"/>
                    <a:pt x="13" y="0"/>
                    <a:pt x="29" y="0"/>
                  </a:cubicBezTo>
                  <a:cubicBezTo>
                    <a:pt x="32" y="0"/>
                    <a:pt x="36" y="1"/>
                    <a:pt x="40" y="2"/>
                  </a:cubicBez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pic>
          <p:nvPicPr>
            <p:cNvPr id="575691" name="Picture 20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3" y="1150"/>
              <a:ext cx="134" cy="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5703" name="Rectangle 215"/>
            <p:cNvSpPr>
              <a:spLocks noChangeArrowheads="1"/>
            </p:cNvSpPr>
            <p:nvPr/>
          </p:nvSpPr>
          <p:spPr bwMode="auto">
            <a:xfrm>
              <a:off x="4365" y="796"/>
              <a:ext cx="622" cy="394"/>
            </a:xfrm>
            <a:prstGeom prst="rect">
              <a:avLst/>
            </a:prstGeom>
            <a:noFill/>
            <a:ln w="12700">
              <a:solidFill>
                <a:srgbClr val="3399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nvGrpSpPr>
          <p:cNvPr id="575710" name="Group 222"/>
          <p:cNvGrpSpPr>
            <a:grpSpLocks/>
          </p:cNvGrpSpPr>
          <p:nvPr/>
        </p:nvGrpSpPr>
        <p:grpSpPr bwMode="auto">
          <a:xfrm>
            <a:off x="3970338" y="2887663"/>
            <a:ext cx="1912937" cy="3500437"/>
            <a:chOff x="2501" y="1819"/>
            <a:chExt cx="1205" cy="2205"/>
          </a:xfrm>
        </p:grpSpPr>
        <p:sp>
          <p:nvSpPr>
            <p:cNvPr id="575624" name="Freeform 136"/>
            <p:cNvSpPr>
              <a:spLocks/>
            </p:cNvSpPr>
            <p:nvPr/>
          </p:nvSpPr>
          <p:spPr bwMode="auto">
            <a:xfrm>
              <a:off x="3130" y="3144"/>
              <a:ext cx="224" cy="659"/>
            </a:xfrm>
            <a:custGeom>
              <a:avLst/>
              <a:gdLst>
                <a:gd name="T0" fmla="*/ 66 w 224"/>
                <a:gd name="T1" fmla="*/ 659 h 659"/>
                <a:gd name="T2" fmla="*/ 224 w 224"/>
                <a:gd name="T3" fmla="*/ 659 h 659"/>
                <a:gd name="T4" fmla="*/ 224 w 224"/>
                <a:gd name="T5" fmla="*/ 461 h 659"/>
                <a:gd name="T6" fmla="*/ 224 w 224"/>
                <a:gd name="T7" fmla="*/ 130 h 659"/>
                <a:gd name="T8" fmla="*/ 224 w 224"/>
                <a:gd name="T9" fmla="*/ 0 h 659"/>
                <a:gd name="T10" fmla="*/ 0 w 224"/>
                <a:gd name="T11" fmla="*/ 0 h 659"/>
              </a:gdLst>
              <a:ahLst/>
              <a:cxnLst>
                <a:cxn ang="0">
                  <a:pos x="T0" y="T1"/>
                </a:cxn>
                <a:cxn ang="0">
                  <a:pos x="T2" y="T3"/>
                </a:cxn>
                <a:cxn ang="0">
                  <a:pos x="T4" y="T5"/>
                </a:cxn>
                <a:cxn ang="0">
                  <a:pos x="T6" y="T7"/>
                </a:cxn>
                <a:cxn ang="0">
                  <a:pos x="T8" y="T9"/>
                </a:cxn>
                <a:cxn ang="0">
                  <a:pos x="T10" y="T11"/>
                </a:cxn>
              </a:cxnLst>
              <a:rect l="0" t="0" r="r" b="b"/>
              <a:pathLst>
                <a:path w="224" h="659">
                  <a:moveTo>
                    <a:pt x="66" y="659"/>
                  </a:moveTo>
                  <a:lnTo>
                    <a:pt x="224" y="659"/>
                  </a:lnTo>
                  <a:lnTo>
                    <a:pt x="224" y="461"/>
                  </a:lnTo>
                  <a:lnTo>
                    <a:pt x="224" y="130"/>
                  </a:lnTo>
                  <a:lnTo>
                    <a:pt x="224" y="0"/>
                  </a:lnTo>
                  <a:lnTo>
                    <a:pt x="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25" name="Freeform 137"/>
            <p:cNvSpPr>
              <a:spLocks/>
            </p:cNvSpPr>
            <p:nvPr/>
          </p:nvSpPr>
          <p:spPr bwMode="auto">
            <a:xfrm>
              <a:off x="3134" y="3784"/>
              <a:ext cx="76" cy="38"/>
            </a:xfrm>
            <a:custGeom>
              <a:avLst/>
              <a:gdLst>
                <a:gd name="T0" fmla="*/ 0 w 76"/>
                <a:gd name="T1" fmla="*/ 19 h 38"/>
                <a:gd name="T2" fmla="*/ 76 w 76"/>
                <a:gd name="T3" fmla="*/ 0 h 38"/>
                <a:gd name="T4" fmla="*/ 76 w 76"/>
                <a:gd name="T5" fmla="*/ 38 h 38"/>
                <a:gd name="T6" fmla="*/ 0 w 76"/>
                <a:gd name="T7" fmla="*/ 19 h 38"/>
              </a:gdLst>
              <a:ahLst/>
              <a:cxnLst>
                <a:cxn ang="0">
                  <a:pos x="T0" y="T1"/>
                </a:cxn>
                <a:cxn ang="0">
                  <a:pos x="T2" y="T3"/>
                </a:cxn>
                <a:cxn ang="0">
                  <a:pos x="T4" y="T5"/>
                </a:cxn>
                <a:cxn ang="0">
                  <a:pos x="T6" y="T7"/>
                </a:cxn>
              </a:cxnLst>
              <a:rect l="0" t="0" r="r" b="b"/>
              <a:pathLst>
                <a:path w="76" h="38">
                  <a:moveTo>
                    <a:pt x="0" y="19"/>
                  </a:moveTo>
                  <a:lnTo>
                    <a:pt x="76" y="0"/>
                  </a:lnTo>
                  <a:lnTo>
                    <a:pt x="76" y="38"/>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26" name="Freeform 138"/>
            <p:cNvSpPr>
              <a:spLocks/>
            </p:cNvSpPr>
            <p:nvPr/>
          </p:nvSpPr>
          <p:spPr bwMode="auto">
            <a:xfrm>
              <a:off x="2728" y="3144"/>
              <a:ext cx="109" cy="477"/>
            </a:xfrm>
            <a:custGeom>
              <a:avLst/>
              <a:gdLst>
                <a:gd name="T0" fmla="*/ 43 w 109"/>
                <a:gd name="T1" fmla="*/ 0 h 477"/>
                <a:gd name="T2" fmla="*/ 0 w 109"/>
                <a:gd name="T3" fmla="*/ 0 h 477"/>
                <a:gd name="T4" fmla="*/ 0 w 109"/>
                <a:gd name="T5" fmla="*/ 199 h 477"/>
                <a:gd name="T6" fmla="*/ 0 w 109"/>
                <a:gd name="T7" fmla="*/ 477 h 477"/>
                <a:gd name="T8" fmla="*/ 109 w 109"/>
                <a:gd name="T9" fmla="*/ 477 h 477"/>
              </a:gdLst>
              <a:ahLst/>
              <a:cxnLst>
                <a:cxn ang="0">
                  <a:pos x="T0" y="T1"/>
                </a:cxn>
                <a:cxn ang="0">
                  <a:pos x="T2" y="T3"/>
                </a:cxn>
                <a:cxn ang="0">
                  <a:pos x="T4" y="T5"/>
                </a:cxn>
                <a:cxn ang="0">
                  <a:pos x="T6" y="T7"/>
                </a:cxn>
                <a:cxn ang="0">
                  <a:pos x="T8" y="T9"/>
                </a:cxn>
              </a:cxnLst>
              <a:rect l="0" t="0" r="r" b="b"/>
              <a:pathLst>
                <a:path w="109" h="477">
                  <a:moveTo>
                    <a:pt x="43" y="0"/>
                  </a:moveTo>
                  <a:lnTo>
                    <a:pt x="0" y="0"/>
                  </a:lnTo>
                  <a:lnTo>
                    <a:pt x="0" y="199"/>
                  </a:lnTo>
                  <a:lnTo>
                    <a:pt x="0" y="477"/>
                  </a:lnTo>
                  <a:lnTo>
                    <a:pt x="109" y="477"/>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27" name="Freeform 139"/>
            <p:cNvSpPr>
              <a:spLocks/>
            </p:cNvSpPr>
            <p:nvPr/>
          </p:nvSpPr>
          <p:spPr bwMode="auto">
            <a:xfrm>
              <a:off x="2759" y="3123"/>
              <a:ext cx="75" cy="38"/>
            </a:xfrm>
            <a:custGeom>
              <a:avLst/>
              <a:gdLst>
                <a:gd name="T0" fmla="*/ 75 w 75"/>
                <a:gd name="T1" fmla="*/ 19 h 38"/>
                <a:gd name="T2" fmla="*/ 0 w 75"/>
                <a:gd name="T3" fmla="*/ 38 h 38"/>
                <a:gd name="T4" fmla="*/ 0 w 75"/>
                <a:gd name="T5" fmla="*/ 0 h 38"/>
                <a:gd name="T6" fmla="*/ 75 w 75"/>
                <a:gd name="T7" fmla="*/ 19 h 38"/>
              </a:gdLst>
              <a:ahLst/>
              <a:cxnLst>
                <a:cxn ang="0">
                  <a:pos x="T0" y="T1"/>
                </a:cxn>
                <a:cxn ang="0">
                  <a:pos x="T2" y="T3"/>
                </a:cxn>
                <a:cxn ang="0">
                  <a:pos x="T4" y="T5"/>
                </a:cxn>
                <a:cxn ang="0">
                  <a:pos x="T6" y="T7"/>
                </a:cxn>
              </a:cxnLst>
              <a:rect l="0" t="0" r="r" b="b"/>
              <a:pathLst>
                <a:path w="75" h="38">
                  <a:moveTo>
                    <a:pt x="75" y="19"/>
                  </a:moveTo>
                  <a:lnTo>
                    <a:pt x="0" y="38"/>
                  </a:lnTo>
                  <a:lnTo>
                    <a:pt x="0" y="0"/>
                  </a:lnTo>
                  <a:lnTo>
                    <a:pt x="75"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28" name="Line 140"/>
            <p:cNvSpPr>
              <a:spLocks noChangeShapeType="1"/>
            </p:cNvSpPr>
            <p:nvPr/>
          </p:nvSpPr>
          <p:spPr bwMode="auto">
            <a:xfrm>
              <a:off x="2983" y="3218"/>
              <a:ext cx="1" cy="6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29" name="Freeform 141"/>
            <p:cNvSpPr>
              <a:spLocks/>
            </p:cNvSpPr>
            <p:nvPr/>
          </p:nvSpPr>
          <p:spPr bwMode="auto">
            <a:xfrm>
              <a:off x="2964" y="3251"/>
              <a:ext cx="38" cy="7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30" name="Line 142"/>
            <p:cNvSpPr>
              <a:spLocks noChangeShapeType="1"/>
            </p:cNvSpPr>
            <p:nvPr/>
          </p:nvSpPr>
          <p:spPr bwMode="auto">
            <a:xfrm>
              <a:off x="2983" y="3406"/>
              <a:ext cx="1" cy="90"/>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31" name="Freeform 143"/>
            <p:cNvSpPr>
              <a:spLocks/>
            </p:cNvSpPr>
            <p:nvPr/>
          </p:nvSpPr>
          <p:spPr bwMode="auto">
            <a:xfrm>
              <a:off x="2964" y="3468"/>
              <a:ext cx="38" cy="7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32" name="Rectangle 144"/>
            <p:cNvSpPr>
              <a:spLocks noChangeArrowheads="1"/>
            </p:cNvSpPr>
            <p:nvPr/>
          </p:nvSpPr>
          <p:spPr bwMode="auto">
            <a:xfrm>
              <a:off x="2838" y="3928"/>
              <a:ext cx="9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a:t>
              </a:r>
              <a:endParaRPr lang="en-US" altLang="en-US" sz="1800">
                <a:latin typeface="Arial" panose="020B0604020202020204" pitchFamily="34" charset="0"/>
              </a:endParaRPr>
            </a:p>
          </p:txBody>
        </p:sp>
        <p:sp>
          <p:nvSpPr>
            <p:cNvPr id="575633" name="Freeform 145"/>
            <p:cNvSpPr>
              <a:spLocks/>
            </p:cNvSpPr>
            <p:nvPr/>
          </p:nvSpPr>
          <p:spPr bwMode="auto">
            <a:xfrm>
              <a:off x="3049" y="2459"/>
              <a:ext cx="137" cy="218"/>
            </a:xfrm>
            <a:custGeom>
              <a:avLst/>
              <a:gdLst>
                <a:gd name="T0" fmla="*/ 76 w 137"/>
                <a:gd name="T1" fmla="*/ 0 h 218"/>
                <a:gd name="T2" fmla="*/ 137 w 137"/>
                <a:gd name="T3" fmla="*/ 0 h 218"/>
                <a:gd name="T4" fmla="*/ 137 w 137"/>
                <a:gd name="T5" fmla="*/ 130 h 218"/>
                <a:gd name="T6" fmla="*/ 0 w 137"/>
                <a:gd name="T7" fmla="*/ 218 h 218"/>
              </a:gdLst>
              <a:ahLst/>
              <a:cxnLst>
                <a:cxn ang="0">
                  <a:pos x="T0" y="T1"/>
                </a:cxn>
                <a:cxn ang="0">
                  <a:pos x="T2" y="T3"/>
                </a:cxn>
                <a:cxn ang="0">
                  <a:pos x="T4" y="T5"/>
                </a:cxn>
                <a:cxn ang="0">
                  <a:pos x="T6" y="T7"/>
                </a:cxn>
              </a:cxnLst>
              <a:rect l="0" t="0" r="r" b="b"/>
              <a:pathLst>
                <a:path w="137" h="218">
                  <a:moveTo>
                    <a:pt x="76" y="0"/>
                  </a:moveTo>
                  <a:lnTo>
                    <a:pt x="137" y="0"/>
                  </a:lnTo>
                  <a:lnTo>
                    <a:pt x="137" y="130"/>
                  </a:lnTo>
                  <a:lnTo>
                    <a:pt x="0" y="218"/>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34" name="Line 146"/>
            <p:cNvSpPr>
              <a:spLocks noChangeShapeType="1"/>
            </p:cNvSpPr>
            <p:nvPr/>
          </p:nvSpPr>
          <p:spPr bwMode="auto">
            <a:xfrm>
              <a:off x="2832" y="2788"/>
              <a:ext cx="1"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35" name="Freeform 147"/>
            <p:cNvSpPr>
              <a:spLocks/>
            </p:cNvSpPr>
            <p:nvPr/>
          </p:nvSpPr>
          <p:spPr bwMode="auto">
            <a:xfrm>
              <a:off x="2990" y="2655"/>
              <a:ext cx="76" cy="55"/>
            </a:xfrm>
            <a:custGeom>
              <a:avLst/>
              <a:gdLst>
                <a:gd name="T0" fmla="*/ 0 w 76"/>
                <a:gd name="T1" fmla="*/ 55 h 55"/>
                <a:gd name="T2" fmla="*/ 57 w 76"/>
                <a:gd name="T3" fmla="*/ 0 h 55"/>
                <a:gd name="T4" fmla="*/ 76 w 76"/>
                <a:gd name="T5" fmla="*/ 33 h 55"/>
                <a:gd name="T6" fmla="*/ 0 w 76"/>
                <a:gd name="T7" fmla="*/ 55 h 55"/>
              </a:gdLst>
              <a:ahLst/>
              <a:cxnLst>
                <a:cxn ang="0">
                  <a:pos x="T0" y="T1"/>
                </a:cxn>
                <a:cxn ang="0">
                  <a:pos x="T2" y="T3"/>
                </a:cxn>
                <a:cxn ang="0">
                  <a:pos x="T4" y="T5"/>
                </a:cxn>
                <a:cxn ang="0">
                  <a:pos x="T6" y="T7"/>
                </a:cxn>
              </a:cxnLst>
              <a:rect l="0" t="0" r="r" b="b"/>
              <a:pathLst>
                <a:path w="76" h="55">
                  <a:moveTo>
                    <a:pt x="0" y="55"/>
                  </a:moveTo>
                  <a:lnTo>
                    <a:pt x="57" y="0"/>
                  </a:lnTo>
                  <a:lnTo>
                    <a:pt x="76" y="33"/>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36" name="Oval 148"/>
            <p:cNvSpPr>
              <a:spLocks noChangeArrowheads="1"/>
            </p:cNvSpPr>
            <p:nvPr/>
          </p:nvSpPr>
          <p:spPr bwMode="auto">
            <a:xfrm>
              <a:off x="2830" y="2386"/>
              <a:ext cx="295"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37" name="Rectangle 149"/>
            <p:cNvSpPr>
              <a:spLocks noChangeArrowheads="1"/>
            </p:cNvSpPr>
            <p:nvPr/>
          </p:nvSpPr>
          <p:spPr bwMode="auto">
            <a:xfrm>
              <a:off x="2737" y="2542"/>
              <a:ext cx="10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638" name="Rectangle 150"/>
            <p:cNvSpPr>
              <a:spLocks noChangeArrowheads="1"/>
            </p:cNvSpPr>
            <p:nvPr/>
          </p:nvSpPr>
          <p:spPr bwMode="auto">
            <a:xfrm>
              <a:off x="3048" y="2542"/>
              <a:ext cx="8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639" name="Rectangle 151"/>
            <p:cNvSpPr>
              <a:spLocks noChangeArrowheads="1"/>
            </p:cNvSpPr>
            <p:nvPr/>
          </p:nvSpPr>
          <p:spPr bwMode="auto">
            <a:xfrm>
              <a:off x="2868" y="2752"/>
              <a:ext cx="24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sum=0</a:t>
              </a:r>
              <a:endParaRPr lang="en-US" altLang="en-US" sz="1800">
                <a:latin typeface="Arial" panose="020B0604020202020204" pitchFamily="34" charset="0"/>
              </a:endParaRPr>
            </a:p>
          </p:txBody>
        </p:sp>
        <p:sp>
          <p:nvSpPr>
            <p:cNvPr id="575640" name="Rectangle 152"/>
            <p:cNvSpPr>
              <a:spLocks noChangeArrowheads="1"/>
            </p:cNvSpPr>
            <p:nvPr/>
          </p:nvSpPr>
          <p:spPr bwMode="auto">
            <a:xfrm>
              <a:off x="2926" y="2837"/>
              <a:ext cx="10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i=0</a:t>
              </a:r>
              <a:endParaRPr lang="en-US" altLang="en-US" sz="1800">
                <a:latin typeface="Arial" panose="020B0604020202020204" pitchFamily="34" charset="0"/>
              </a:endParaRPr>
            </a:p>
          </p:txBody>
        </p:sp>
        <p:sp>
          <p:nvSpPr>
            <p:cNvPr id="575641" name="Rectangle 153"/>
            <p:cNvSpPr>
              <a:spLocks noChangeArrowheads="1"/>
            </p:cNvSpPr>
            <p:nvPr/>
          </p:nvSpPr>
          <p:spPr bwMode="auto">
            <a:xfrm>
              <a:off x="2804" y="3316"/>
              <a:ext cx="395"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while stmts</a:t>
              </a:r>
              <a:endParaRPr lang="en-US" altLang="en-US" sz="1800">
                <a:latin typeface="Arial" panose="020B0604020202020204" pitchFamily="34" charset="0"/>
              </a:endParaRPr>
            </a:p>
          </p:txBody>
        </p:sp>
        <p:sp>
          <p:nvSpPr>
            <p:cNvPr id="575642" name="Rectangle 154"/>
            <p:cNvSpPr>
              <a:spLocks noChangeArrowheads="1"/>
            </p:cNvSpPr>
            <p:nvPr/>
          </p:nvSpPr>
          <p:spPr bwMode="auto">
            <a:xfrm>
              <a:off x="3147" y="3049"/>
              <a:ext cx="24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!(i&lt;256)</a:t>
              </a:r>
              <a:endParaRPr lang="en-US" altLang="en-US" sz="1800">
                <a:latin typeface="Arial" panose="020B0604020202020204" pitchFamily="34" charset="0"/>
              </a:endParaRPr>
            </a:p>
          </p:txBody>
        </p:sp>
        <p:sp>
          <p:nvSpPr>
            <p:cNvPr id="575643" name="Rectangle 155"/>
            <p:cNvSpPr>
              <a:spLocks noChangeArrowheads="1"/>
            </p:cNvSpPr>
            <p:nvPr/>
          </p:nvSpPr>
          <p:spPr bwMode="auto">
            <a:xfrm>
              <a:off x="3045" y="3224"/>
              <a:ext cx="17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i&lt;256</a:t>
              </a:r>
              <a:endParaRPr lang="en-US" altLang="en-US" sz="1800">
                <a:latin typeface="Arial" panose="020B0604020202020204" pitchFamily="34" charset="0"/>
              </a:endParaRPr>
            </a:p>
          </p:txBody>
        </p:sp>
        <p:sp>
          <p:nvSpPr>
            <p:cNvPr id="575644" name="Line 156"/>
            <p:cNvSpPr>
              <a:spLocks noChangeShapeType="1"/>
            </p:cNvSpPr>
            <p:nvPr/>
          </p:nvSpPr>
          <p:spPr bwMode="auto">
            <a:xfrm>
              <a:off x="2979" y="2941"/>
              <a:ext cx="1" cy="83"/>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45" name="Freeform 157"/>
            <p:cNvSpPr>
              <a:spLocks/>
            </p:cNvSpPr>
            <p:nvPr/>
          </p:nvSpPr>
          <p:spPr bwMode="auto">
            <a:xfrm>
              <a:off x="2960" y="2998"/>
              <a:ext cx="37" cy="75"/>
            </a:xfrm>
            <a:custGeom>
              <a:avLst/>
              <a:gdLst>
                <a:gd name="T0" fmla="*/ 19 w 37"/>
                <a:gd name="T1" fmla="*/ 75 h 75"/>
                <a:gd name="T2" fmla="*/ 37 w 37"/>
                <a:gd name="T3" fmla="*/ 0 h 75"/>
                <a:gd name="T4" fmla="*/ 0 w 37"/>
                <a:gd name="T5" fmla="*/ 0 h 75"/>
                <a:gd name="T6" fmla="*/ 19 w 37"/>
                <a:gd name="T7" fmla="*/ 75 h 75"/>
              </a:gdLst>
              <a:ahLst/>
              <a:cxnLst>
                <a:cxn ang="0">
                  <a:pos x="T0" y="T1"/>
                </a:cxn>
                <a:cxn ang="0">
                  <a:pos x="T2" y="T3"/>
                </a:cxn>
                <a:cxn ang="0">
                  <a:pos x="T4" y="T5"/>
                </a:cxn>
                <a:cxn ang="0">
                  <a:pos x="T6" y="T7"/>
                </a:cxn>
              </a:cxnLst>
              <a:rect l="0" t="0" r="r" b="b"/>
              <a:pathLst>
                <a:path w="37" h="75">
                  <a:moveTo>
                    <a:pt x="19" y="75"/>
                  </a:moveTo>
                  <a:lnTo>
                    <a:pt x="37"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46" name="Line 158"/>
            <p:cNvSpPr>
              <a:spLocks noChangeShapeType="1"/>
            </p:cNvSpPr>
            <p:nvPr/>
          </p:nvSpPr>
          <p:spPr bwMode="auto">
            <a:xfrm>
              <a:off x="2983" y="3879"/>
              <a:ext cx="1" cy="8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47" name="Freeform 159"/>
            <p:cNvSpPr>
              <a:spLocks/>
            </p:cNvSpPr>
            <p:nvPr/>
          </p:nvSpPr>
          <p:spPr bwMode="auto">
            <a:xfrm>
              <a:off x="2964" y="3936"/>
              <a:ext cx="38" cy="7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48" name="Oval 160"/>
            <p:cNvSpPr>
              <a:spLocks noChangeArrowheads="1"/>
            </p:cNvSpPr>
            <p:nvPr/>
          </p:nvSpPr>
          <p:spPr bwMode="auto">
            <a:xfrm>
              <a:off x="2837" y="3071"/>
              <a:ext cx="293"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49" name="Oval 161"/>
            <p:cNvSpPr>
              <a:spLocks noChangeArrowheads="1"/>
            </p:cNvSpPr>
            <p:nvPr/>
          </p:nvSpPr>
          <p:spPr bwMode="auto">
            <a:xfrm>
              <a:off x="2837" y="3548"/>
              <a:ext cx="293"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50" name="Oval 162"/>
            <p:cNvSpPr>
              <a:spLocks noChangeArrowheads="1"/>
            </p:cNvSpPr>
            <p:nvPr/>
          </p:nvSpPr>
          <p:spPr bwMode="auto">
            <a:xfrm>
              <a:off x="2808" y="2712"/>
              <a:ext cx="329" cy="22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51" name="Oval 163"/>
            <p:cNvSpPr>
              <a:spLocks noChangeArrowheads="1"/>
            </p:cNvSpPr>
            <p:nvPr/>
          </p:nvSpPr>
          <p:spPr bwMode="auto">
            <a:xfrm>
              <a:off x="2837" y="3732"/>
              <a:ext cx="293"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52" name="Freeform 164"/>
            <p:cNvSpPr>
              <a:spLocks/>
            </p:cNvSpPr>
            <p:nvPr/>
          </p:nvSpPr>
          <p:spPr bwMode="auto">
            <a:xfrm>
              <a:off x="2778" y="2374"/>
              <a:ext cx="78" cy="38"/>
            </a:xfrm>
            <a:custGeom>
              <a:avLst/>
              <a:gdLst>
                <a:gd name="T0" fmla="*/ 78 w 78"/>
                <a:gd name="T1" fmla="*/ 38 h 38"/>
                <a:gd name="T2" fmla="*/ 0 w 78"/>
                <a:gd name="T3" fmla="*/ 36 h 38"/>
                <a:gd name="T4" fmla="*/ 9 w 78"/>
                <a:gd name="T5" fmla="*/ 0 h 38"/>
                <a:gd name="T6" fmla="*/ 78 w 78"/>
                <a:gd name="T7" fmla="*/ 38 h 38"/>
              </a:gdLst>
              <a:ahLst/>
              <a:cxnLst>
                <a:cxn ang="0">
                  <a:pos x="T0" y="T1"/>
                </a:cxn>
                <a:cxn ang="0">
                  <a:pos x="T2" y="T3"/>
                </a:cxn>
                <a:cxn ang="0">
                  <a:pos x="T4" y="T5"/>
                </a:cxn>
                <a:cxn ang="0">
                  <a:pos x="T6" y="T7"/>
                </a:cxn>
              </a:cxnLst>
              <a:rect l="0" t="0" r="r" b="b"/>
              <a:pathLst>
                <a:path w="78" h="38">
                  <a:moveTo>
                    <a:pt x="78" y="38"/>
                  </a:moveTo>
                  <a:lnTo>
                    <a:pt x="0" y="36"/>
                  </a:lnTo>
                  <a:lnTo>
                    <a:pt x="9" y="0"/>
                  </a:lnTo>
                  <a:lnTo>
                    <a:pt x="78"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53" name="Freeform 165"/>
            <p:cNvSpPr>
              <a:spLocks/>
            </p:cNvSpPr>
            <p:nvPr/>
          </p:nvSpPr>
          <p:spPr bwMode="auto">
            <a:xfrm>
              <a:off x="2721" y="2393"/>
              <a:ext cx="123" cy="132"/>
            </a:xfrm>
            <a:custGeom>
              <a:avLst/>
              <a:gdLst>
                <a:gd name="T0" fmla="*/ 52 w 52"/>
                <a:gd name="T1" fmla="*/ 42 h 56"/>
                <a:gd name="T2" fmla="*/ 28 w 52"/>
                <a:gd name="T3" fmla="*/ 56 h 56"/>
                <a:gd name="T4" fmla="*/ 0 w 52"/>
                <a:gd name="T5" fmla="*/ 28 h 56"/>
                <a:gd name="T6" fmla="*/ 28 w 52"/>
                <a:gd name="T7" fmla="*/ 0 h 56"/>
                <a:gd name="T8" fmla="*/ 39 w 52"/>
                <a:gd name="T9" fmla="*/ 2 h 56"/>
              </a:gdLst>
              <a:ahLst/>
              <a:cxnLst>
                <a:cxn ang="0">
                  <a:pos x="T0" y="T1"/>
                </a:cxn>
                <a:cxn ang="0">
                  <a:pos x="T2" y="T3"/>
                </a:cxn>
                <a:cxn ang="0">
                  <a:pos x="T4" y="T5"/>
                </a:cxn>
                <a:cxn ang="0">
                  <a:pos x="T6" y="T7"/>
                </a:cxn>
                <a:cxn ang="0">
                  <a:pos x="T8" y="T9"/>
                </a:cxn>
              </a:cxnLst>
              <a:rect l="0" t="0" r="r" b="b"/>
              <a:pathLst>
                <a:path w="52" h="56">
                  <a:moveTo>
                    <a:pt x="52" y="42"/>
                  </a:moveTo>
                  <a:cubicBezTo>
                    <a:pt x="48" y="51"/>
                    <a:pt x="38" y="56"/>
                    <a:pt x="28" y="56"/>
                  </a:cubicBezTo>
                  <a:cubicBezTo>
                    <a:pt x="12" y="56"/>
                    <a:pt x="0" y="44"/>
                    <a:pt x="0" y="28"/>
                  </a:cubicBezTo>
                  <a:cubicBezTo>
                    <a:pt x="0" y="12"/>
                    <a:pt x="12" y="0"/>
                    <a:pt x="28" y="0"/>
                  </a:cubicBezTo>
                  <a:cubicBezTo>
                    <a:pt x="32" y="0"/>
                    <a:pt x="36" y="1"/>
                    <a:pt x="39" y="2"/>
                  </a:cubicBez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707" name="Rectangle 219"/>
            <p:cNvSpPr>
              <a:spLocks noChangeArrowheads="1"/>
            </p:cNvSpPr>
            <p:nvPr/>
          </p:nvSpPr>
          <p:spPr bwMode="auto">
            <a:xfrm>
              <a:off x="2501" y="1819"/>
              <a:ext cx="1205" cy="409"/>
            </a:xfrm>
            <a:prstGeom prst="rect">
              <a:avLst/>
            </a:prstGeom>
            <a:noFill/>
            <a:ln w="12700">
              <a:solidFill>
                <a:srgbClr val="3399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5708" name="Rectangle 220"/>
            <p:cNvSpPr>
              <a:spLocks noChangeArrowheads="1"/>
            </p:cNvSpPr>
            <p:nvPr/>
          </p:nvSpPr>
          <p:spPr bwMode="auto">
            <a:xfrm>
              <a:off x="2630" y="3009"/>
              <a:ext cx="796" cy="901"/>
            </a:xfrm>
            <a:prstGeom prst="rect">
              <a:avLst/>
            </a:prstGeom>
            <a:noFill/>
            <a:ln w="12700">
              <a:solidFill>
                <a:srgbClr val="3399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75709" name="Line 221"/>
            <p:cNvSpPr>
              <a:spLocks noChangeShapeType="1"/>
            </p:cNvSpPr>
            <p:nvPr/>
          </p:nvSpPr>
          <p:spPr bwMode="auto">
            <a:xfrm flipH="1">
              <a:off x="3312" y="2228"/>
              <a:ext cx="174" cy="766"/>
            </a:xfrm>
            <a:prstGeom prst="line">
              <a:avLst/>
            </a:prstGeom>
            <a:noFill/>
            <a:ln w="127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75717" name="Group 229"/>
          <p:cNvGrpSpPr>
            <a:grpSpLocks/>
          </p:cNvGrpSpPr>
          <p:nvPr/>
        </p:nvGrpSpPr>
        <p:grpSpPr bwMode="auto">
          <a:xfrm>
            <a:off x="6070600" y="6064250"/>
            <a:ext cx="468313" cy="611188"/>
            <a:chOff x="3824" y="3820"/>
            <a:chExt cx="295" cy="385"/>
          </a:xfrm>
        </p:grpSpPr>
        <p:sp>
          <p:nvSpPr>
            <p:cNvPr id="575616" name="Line 128"/>
            <p:cNvSpPr>
              <a:spLocks noChangeShapeType="1"/>
            </p:cNvSpPr>
            <p:nvPr/>
          </p:nvSpPr>
          <p:spPr bwMode="auto">
            <a:xfrm>
              <a:off x="3973" y="3820"/>
              <a:ext cx="1" cy="85"/>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05" name="Line 117"/>
            <p:cNvSpPr>
              <a:spLocks noChangeShapeType="1"/>
            </p:cNvSpPr>
            <p:nvPr/>
          </p:nvSpPr>
          <p:spPr bwMode="auto">
            <a:xfrm>
              <a:off x="3973" y="4099"/>
              <a:ext cx="1" cy="83"/>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06" name="Freeform 118"/>
            <p:cNvSpPr>
              <a:spLocks/>
            </p:cNvSpPr>
            <p:nvPr/>
          </p:nvSpPr>
          <p:spPr bwMode="auto">
            <a:xfrm>
              <a:off x="3954" y="4129"/>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08" name="Oval 120"/>
            <p:cNvSpPr>
              <a:spLocks noChangeArrowheads="1"/>
            </p:cNvSpPr>
            <p:nvPr/>
          </p:nvSpPr>
          <p:spPr bwMode="auto">
            <a:xfrm>
              <a:off x="3824" y="3950"/>
              <a:ext cx="295"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09" name="Rectangle 121"/>
            <p:cNvSpPr>
              <a:spLocks noChangeArrowheads="1"/>
            </p:cNvSpPr>
            <p:nvPr/>
          </p:nvSpPr>
          <p:spPr bwMode="auto">
            <a:xfrm>
              <a:off x="3895" y="3954"/>
              <a:ext cx="155"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sad =</a:t>
              </a:r>
              <a:endParaRPr lang="en-US" altLang="en-US" sz="1800">
                <a:latin typeface="Arial" panose="020B0604020202020204" pitchFamily="34" charset="0"/>
              </a:endParaRPr>
            </a:p>
          </p:txBody>
        </p:sp>
        <p:sp>
          <p:nvSpPr>
            <p:cNvPr id="575610" name="Rectangle 122"/>
            <p:cNvSpPr>
              <a:spLocks noChangeArrowheads="1"/>
            </p:cNvSpPr>
            <p:nvPr/>
          </p:nvSpPr>
          <p:spPr bwMode="auto">
            <a:xfrm>
              <a:off x="3911" y="4011"/>
              <a:ext cx="12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sum</a:t>
              </a:r>
              <a:endParaRPr lang="en-US" altLang="en-US" sz="1800">
                <a:latin typeface="Arial" panose="020B0604020202020204" pitchFamily="34" charset="0"/>
              </a:endParaRPr>
            </a:p>
          </p:txBody>
        </p:sp>
        <p:sp>
          <p:nvSpPr>
            <p:cNvPr id="575617" name="Freeform 129"/>
            <p:cNvSpPr>
              <a:spLocks/>
            </p:cNvSpPr>
            <p:nvPr/>
          </p:nvSpPr>
          <p:spPr bwMode="auto">
            <a:xfrm>
              <a:off x="3954" y="3877"/>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575713" name="Group 225"/>
          <p:cNvGrpSpPr>
            <a:grpSpLocks/>
          </p:cNvGrpSpPr>
          <p:nvPr/>
        </p:nvGrpSpPr>
        <p:grpSpPr bwMode="auto">
          <a:xfrm>
            <a:off x="5424488" y="3357563"/>
            <a:ext cx="1685925" cy="3332162"/>
            <a:chOff x="3417" y="2115"/>
            <a:chExt cx="1062" cy="2099"/>
          </a:xfrm>
        </p:grpSpPr>
        <p:sp>
          <p:nvSpPr>
            <p:cNvPr id="575594" name="Rectangle 106"/>
            <p:cNvSpPr>
              <a:spLocks noChangeArrowheads="1"/>
            </p:cNvSpPr>
            <p:nvPr/>
          </p:nvSpPr>
          <p:spPr bwMode="auto">
            <a:xfrm>
              <a:off x="3841" y="4118"/>
              <a:ext cx="8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(f)</a:t>
              </a:r>
              <a:endParaRPr lang="en-US" altLang="en-US" sz="1800">
                <a:latin typeface="Arial" panose="020B0604020202020204" pitchFamily="34" charset="0"/>
              </a:endParaRPr>
            </a:p>
          </p:txBody>
        </p:sp>
        <p:pic>
          <p:nvPicPr>
            <p:cNvPr id="575521"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7" y="3214"/>
              <a:ext cx="255" cy="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5586" name="Freeform 98"/>
            <p:cNvSpPr>
              <a:spLocks/>
            </p:cNvSpPr>
            <p:nvPr/>
          </p:nvSpPr>
          <p:spPr bwMode="auto">
            <a:xfrm>
              <a:off x="4119" y="2887"/>
              <a:ext cx="225" cy="858"/>
            </a:xfrm>
            <a:custGeom>
              <a:avLst/>
              <a:gdLst>
                <a:gd name="T0" fmla="*/ 66 w 225"/>
                <a:gd name="T1" fmla="*/ 858 h 858"/>
                <a:gd name="T2" fmla="*/ 225 w 225"/>
                <a:gd name="T3" fmla="*/ 858 h 858"/>
                <a:gd name="T4" fmla="*/ 225 w 225"/>
                <a:gd name="T5" fmla="*/ 659 h 858"/>
                <a:gd name="T6" fmla="*/ 225 w 225"/>
                <a:gd name="T7" fmla="*/ 130 h 858"/>
                <a:gd name="T8" fmla="*/ 225 w 225"/>
                <a:gd name="T9" fmla="*/ 0 h 858"/>
                <a:gd name="T10" fmla="*/ 0 w 225"/>
                <a:gd name="T11" fmla="*/ 0 h 858"/>
              </a:gdLst>
              <a:ahLst/>
              <a:cxnLst>
                <a:cxn ang="0">
                  <a:pos x="T0" y="T1"/>
                </a:cxn>
                <a:cxn ang="0">
                  <a:pos x="T2" y="T3"/>
                </a:cxn>
                <a:cxn ang="0">
                  <a:pos x="T4" y="T5"/>
                </a:cxn>
                <a:cxn ang="0">
                  <a:pos x="T6" y="T7"/>
                </a:cxn>
                <a:cxn ang="0">
                  <a:pos x="T8" y="T9"/>
                </a:cxn>
                <a:cxn ang="0">
                  <a:pos x="T10" y="T11"/>
                </a:cxn>
              </a:cxnLst>
              <a:rect l="0" t="0" r="r" b="b"/>
              <a:pathLst>
                <a:path w="225" h="858">
                  <a:moveTo>
                    <a:pt x="66" y="858"/>
                  </a:moveTo>
                  <a:lnTo>
                    <a:pt x="225" y="858"/>
                  </a:lnTo>
                  <a:lnTo>
                    <a:pt x="225" y="659"/>
                  </a:lnTo>
                  <a:lnTo>
                    <a:pt x="225" y="130"/>
                  </a:lnTo>
                  <a:lnTo>
                    <a:pt x="225" y="0"/>
                  </a:lnTo>
                  <a:lnTo>
                    <a:pt x="0" y="0"/>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87" name="Freeform 99"/>
            <p:cNvSpPr>
              <a:spLocks/>
            </p:cNvSpPr>
            <p:nvPr/>
          </p:nvSpPr>
          <p:spPr bwMode="auto">
            <a:xfrm>
              <a:off x="4124" y="3726"/>
              <a:ext cx="76" cy="38"/>
            </a:xfrm>
            <a:custGeom>
              <a:avLst/>
              <a:gdLst>
                <a:gd name="T0" fmla="*/ 0 w 76"/>
                <a:gd name="T1" fmla="*/ 19 h 38"/>
                <a:gd name="T2" fmla="*/ 76 w 76"/>
                <a:gd name="T3" fmla="*/ 0 h 38"/>
                <a:gd name="T4" fmla="*/ 76 w 76"/>
                <a:gd name="T5" fmla="*/ 38 h 38"/>
                <a:gd name="T6" fmla="*/ 0 w 76"/>
                <a:gd name="T7" fmla="*/ 19 h 38"/>
              </a:gdLst>
              <a:ahLst/>
              <a:cxnLst>
                <a:cxn ang="0">
                  <a:pos x="T0" y="T1"/>
                </a:cxn>
                <a:cxn ang="0">
                  <a:pos x="T2" y="T3"/>
                </a:cxn>
                <a:cxn ang="0">
                  <a:pos x="T4" y="T5"/>
                </a:cxn>
                <a:cxn ang="0">
                  <a:pos x="T6" y="T7"/>
                </a:cxn>
              </a:cxnLst>
              <a:rect l="0" t="0" r="r" b="b"/>
              <a:pathLst>
                <a:path w="76" h="38">
                  <a:moveTo>
                    <a:pt x="0" y="19"/>
                  </a:moveTo>
                  <a:lnTo>
                    <a:pt x="76" y="0"/>
                  </a:lnTo>
                  <a:lnTo>
                    <a:pt x="76" y="38"/>
                  </a:lnTo>
                  <a:lnTo>
                    <a:pt x="0"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88" name="Freeform 100"/>
            <p:cNvSpPr>
              <a:spLocks/>
            </p:cNvSpPr>
            <p:nvPr/>
          </p:nvSpPr>
          <p:spPr bwMode="auto">
            <a:xfrm>
              <a:off x="3718" y="2887"/>
              <a:ext cx="108" cy="676"/>
            </a:xfrm>
            <a:custGeom>
              <a:avLst/>
              <a:gdLst>
                <a:gd name="T0" fmla="*/ 42 w 108"/>
                <a:gd name="T1" fmla="*/ 0 h 676"/>
                <a:gd name="T2" fmla="*/ 0 w 108"/>
                <a:gd name="T3" fmla="*/ 0 h 676"/>
                <a:gd name="T4" fmla="*/ 0 w 108"/>
                <a:gd name="T5" fmla="*/ 246 h 676"/>
                <a:gd name="T6" fmla="*/ 0 w 108"/>
                <a:gd name="T7" fmla="*/ 676 h 676"/>
                <a:gd name="T8" fmla="*/ 108 w 108"/>
                <a:gd name="T9" fmla="*/ 676 h 676"/>
              </a:gdLst>
              <a:ahLst/>
              <a:cxnLst>
                <a:cxn ang="0">
                  <a:pos x="T0" y="T1"/>
                </a:cxn>
                <a:cxn ang="0">
                  <a:pos x="T2" y="T3"/>
                </a:cxn>
                <a:cxn ang="0">
                  <a:pos x="T4" y="T5"/>
                </a:cxn>
                <a:cxn ang="0">
                  <a:pos x="T6" y="T7"/>
                </a:cxn>
                <a:cxn ang="0">
                  <a:pos x="T8" y="T9"/>
                </a:cxn>
              </a:cxnLst>
              <a:rect l="0" t="0" r="r" b="b"/>
              <a:pathLst>
                <a:path w="108" h="676">
                  <a:moveTo>
                    <a:pt x="42" y="0"/>
                  </a:moveTo>
                  <a:lnTo>
                    <a:pt x="0" y="0"/>
                  </a:lnTo>
                  <a:lnTo>
                    <a:pt x="0" y="246"/>
                  </a:lnTo>
                  <a:lnTo>
                    <a:pt x="0" y="676"/>
                  </a:lnTo>
                  <a:lnTo>
                    <a:pt x="108" y="676"/>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89" name="Freeform 101"/>
            <p:cNvSpPr>
              <a:spLocks/>
            </p:cNvSpPr>
            <p:nvPr/>
          </p:nvSpPr>
          <p:spPr bwMode="auto">
            <a:xfrm>
              <a:off x="3746" y="2866"/>
              <a:ext cx="76" cy="38"/>
            </a:xfrm>
            <a:custGeom>
              <a:avLst/>
              <a:gdLst>
                <a:gd name="T0" fmla="*/ 76 w 76"/>
                <a:gd name="T1" fmla="*/ 19 h 38"/>
                <a:gd name="T2" fmla="*/ 0 w 76"/>
                <a:gd name="T3" fmla="*/ 38 h 38"/>
                <a:gd name="T4" fmla="*/ 0 w 76"/>
                <a:gd name="T5" fmla="*/ 0 h 38"/>
                <a:gd name="T6" fmla="*/ 76 w 76"/>
                <a:gd name="T7" fmla="*/ 19 h 38"/>
              </a:gdLst>
              <a:ahLst/>
              <a:cxnLst>
                <a:cxn ang="0">
                  <a:pos x="T0" y="T1"/>
                </a:cxn>
                <a:cxn ang="0">
                  <a:pos x="T2" y="T3"/>
                </a:cxn>
                <a:cxn ang="0">
                  <a:pos x="T4" y="T5"/>
                </a:cxn>
                <a:cxn ang="0">
                  <a:pos x="T6" y="T7"/>
                </a:cxn>
              </a:cxnLst>
              <a:rect l="0" t="0" r="r" b="b"/>
              <a:pathLst>
                <a:path w="76" h="38">
                  <a:moveTo>
                    <a:pt x="76" y="19"/>
                  </a:moveTo>
                  <a:lnTo>
                    <a:pt x="0" y="38"/>
                  </a:lnTo>
                  <a:lnTo>
                    <a:pt x="0" y="0"/>
                  </a:lnTo>
                  <a:lnTo>
                    <a:pt x="76"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90" name="Line 102"/>
            <p:cNvSpPr>
              <a:spLocks noChangeShapeType="1"/>
            </p:cNvSpPr>
            <p:nvPr/>
          </p:nvSpPr>
          <p:spPr bwMode="auto">
            <a:xfrm>
              <a:off x="3973" y="3348"/>
              <a:ext cx="1" cy="90"/>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91" name="Freeform 103"/>
            <p:cNvSpPr>
              <a:spLocks/>
            </p:cNvSpPr>
            <p:nvPr/>
          </p:nvSpPr>
          <p:spPr bwMode="auto">
            <a:xfrm>
              <a:off x="3954" y="3409"/>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92" name="Line 104"/>
            <p:cNvSpPr>
              <a:spLocks noChangeShapeType="1"/>
            </p:cNvSpPr>
            <p:nvPr/>
          </p:nvSpPr>
          <p:spPr bwMode="auto">
            <a:xfrm>
              <a:off x="3973" y="2963"/>
              <a:ext cx="1" cy="87"/>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93" name="Freeform 105"/>
            <p:cNvSpPr>
              <a:spLocks/>
            </p:cNvSpPr>
            <p:nvPr/>
          </p:nvSpPr>
          <p:spPr bwMode="auto">
            <a:xfrm>
              <a:off x="3954" y="3022"/>
              <a:ext cx="38" cy="76"/>
            </a:xfrm>
            <a:custGeom>
              <a:avLst/>
              <a:gdLst>
                <a:gd name="T0" fmla="*/ 19 w 38"/>
                <a:gd name="T1" fmla="*/ 76 h 76"/>
                <a:gd name="T2" fmla="*/ 38 w 38"/>
                <a:gd name="T3" fmla="*/ 0 h 76"/>
                <a:gd name="T4" fmla="*/ 0 w 38"/>
                <a:gd name="T5" fmla="*/ 0 h 76"/>
                <a:gd name="T6" fmla="*/ 19 w 38"/>
                <a:gd name="T7" fmla="*/ 76 h 76"/>
              </a:gdLst>
              <a:ahLst/>
              <a:cxnLst>
                <a:cxn ang="0">
                  <a:pos x="T0" y="T1"/>
                </a:cxn>
                <a:cxn ang="0">
                  <a:pos x="T2" y="T3"/>
                </a:cxn>
                <a:cxn ang="0">
                  <a:pos x="T4" y="T5"/>
                </a:cxn>
                <a:cxn ang="0">
                  <a:pos x="T6" y="T7"/>
                </a:cxn>
              </a:cxnLst>
              <a:rect l="0" t="0" r="r" b="b"/>
              <a:pathLst>
                <a:path w="38" h="76">
                  <a:moveTo>
                    <a:pt x="19" y="76"/>
                  </a:moveTo>
                  <a:lnTo>
                    <a:pt x="38" y="0"/>
                  </a:lnTo>
                  <a:lnTo>
                    <a:pt x="0" y="0"/>
                  </a:lnTo>
                  <a:lnTo>
                    <a:pt x="19" y="7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95" name="Freeform 107"/>
            <p:cNvSpPr>
              <a:spLocks/>
            </p:cNvSpPr>
            <p:nvPr/>
          </p:nvSpPr>
          <p:spPr bwMode="auto">
            <a:xfrm>
              <a:off x="4037" y="2202"/>
              <a:ext cx="139" cy="218"/>
            </a:xfrm>
            <a:custGeom>
              <a:avLst/>
              <a:gdLst>
                <a:gd name="T0" fmla="*/ 78 w 139"/>
                <a:gd name="T1" fmla="*/ 0 h 218"/>
                <a:gd name="T2" fmla="*/ 139 w 139"/>
                <a:gd name="T3" fmla="*/ 0 h 218"/>
                <a:gd name="T4" fmla="*/ 139 w 139"/>
                <a:gd name="T5" fmla="*/ 130 h 218"/>
                <a:gd name="T6" fmla="*/ 0 w 139"/>
                <a:gd name="T7" fmla="*/ 218 h 218"/>
              </a:gdLst>
              <a:ahLst/>
              <a:cxnLst>
                <a:cxn ang="0">
                  <a:pos x="T0" y="T1"/>
                </a:cxn>
                <a:cxn ang="0">
                  <a:pos x="T2" y="T3"/>
                </a:cxn>
                <a:cxn ang="0">
                  <a:pos x="T4" y="T5"/>
                </a:cxn>
                <a:cxn ang="0">
                  <a:pos x="T6" y="T7"/>
                </a:cxn>
              </a:cxnLst>
              <a:rect l="0" t="0" r="r" b="b"/>
              <a:pathLst>
                <a:path w="139" h="218">
                  <a:moveTo>
                    <a:pt x="78" y="0"/>
                  </a:moveTo>
                  <a:lnTo>
                    <a:pt x="139" y="0"/>
                  </a:lnTo>
                  <a:lnTo>
                    <a:pt x="139" y="130"/>
                  </a:lnTo>
                  <a:lnTo>
                    <a:pt x="0" y="218"/>
                  </a:ln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96" name="Line 108"/>
            <p:cNvSpPr>
              <a:spLocks noChangeShapeType="1"/>
            </p:cNvSpPr>
            <p:nvPr/>
          </p:nvSpPr>
          <p:spPr bwMode="auto">
            <a:xfrm>
              <a:off x="3822" y="2531"/>
              <a:ext cx="1" cy="1"/>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597" name="Freeform 109"/>
            <p:cNvSpPr>
              <a:spLocks/>
            </p:cNvSpPr>
            <p:nvPr/>
          </p:nvSpPr>
          <p:spPr bwMode="auto">
            <a:xfrm>
              <a:off x="3980" y="2398"/>
              <a:ext cx="73" cy="55"/>
            </a:xfrm>
            <a:custGeom>
              <a:avLst/>
              <a:gdLst>
                <a:gd name="T0" fmla="*/ 0 w 73"/>
                <a:gd name="T1" fmla="*/ 55 h 55"/>
                <a:gd name="T2" fmla="*/ 54 w 73"/>
                <a:gd name="T3" fmla="*/ 0 h 55"/>
                <a:gd name="T4" fmla="*/ 73 w 73"/>
                <a:gd name="T5" fmla="*/ 33 h 55"/>
                <a:gd name="T6" fmla="*/ 0 w 73"/>
                <a:gd name="T7" fmla="*/ 55 h 55"/>
              </a:gdLst>
              <a:ahLst/>
              <a:cxnLst>
                <a:cxn ang="0">
                  <a:pos x="T0" y="T1"/>
                </a:cxn>
                <a:cxn ang="0">
                  <a:pos x="T2" y="T3"/>
                </a:cxn>
                <a:cxn ang="0">
                  <a:pos x="T4" y="T5"/>
                </a:cxn>
                <a:cxn ang="0">
                  <a:pos x="T6" y="T7"/>
                </a:cxn>
              </a:cxnLst>
              <a:rect l="0" t="0" r="r" b="b"/>
              <a:pathLst>
                <a:path w="73" h="55">
                  <a:moveTo>
                    <a:pt x="0" y="55"/>
                  </a:moveTo>
                  <a:lnTo>
                    <a:pt x="54" y="0"/>
                  </a:lnTo>
                  <a:lnTo>
                    <a:pt x="73" y="33"/>
                  </a:lnTo>
                  <a:lnTo>
                    <a:pt x="0" y="5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598" name="Oval 110"/>
            <p:cNvSpPr>
              <a:spLocks noChangeArrowheads="1"/>
            </p:cNvSpPr>
            <p:nvPr/>
          </p:nvSpPr>
          <p:spPr bwMode="auto">
            <a:xfrm>
              <a:off x="3819" y="2129"/>
              <a:ext cx="296"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599" name="Rectangle 111"/>
            <p:cNvSpPr>
              <a:spLocks noChangeArrowheads="1"/>
            </p:cNvSpPr>
            <p:nvPr/>
          </p:nvSpPr>
          <p:spPr bwMode="auto">
            <a:xfrm>
              <a:off x="3724" y="2285"/>
              <a:ext cx="96"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600" name="Rectangle 112"/>
            <p:cNvSpPr>
              <a:spLocks noChangeArrowheads="1"/>
            </p:cNvSpPr>
            <p:nvPr/>
          </p:nvSpPr>
          <p:spPr bwMode="auto">
            <a:xfrm>
              <a:off x="4037" y="2285"/>
              <a:ext cx="72"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go</a:t>
              </a:r>
              <a:endParaRPr lang="en-US" altLang="en-US" sz="1800">
                <a:latin typeface="Arial" panose="020B0604020202020204" pitchFamily="34" charset="0"/>
              </a:endParaRPr>
            </a:p>
          </p:txBody>
        </p:sp>
        <p:sp>
          <p:nvSpPr>
            <p:cNvPr id="575601" name="Rectangle 113"/>
            <p:cNvSpPr>
              <a:spLocks noChangeArrowheads="1"/>
            </p:cNvSpPr>
            <p:nvPr/>
          </p:nvSpPr>
          <p:spPr bwMode="auto">
            <a:xfrm>
              <a:off x="3857" y="2495"/>
              <a:ext cx="21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sum=0</a:t>
              </a:r>
              <a:endParaRPr lang="en-US" altLang="en-US" sz="1800">
                <a:latin typeface="Arial" panose="020B0604020202020204" pitchFamily="34" charset="0"/>
              </a:endParaRPr>
            </a:p>
          </p:txBody>
        </p:sp>
        <p:sp>
          <p:nvSpPr>
            <p:cNvPr id="575602" name="Rectangle 114"/>
            <p:cNvSpPr>
              <a:spLocks noChangeArrowheads="1"/>
            </p:cNvSpPr>
            <p:nvPr/>
          </p:nvSpPr>
          <p:spPr bwMode="auto">
            <a:xfrm>
              <a:off x="3915" y="2580"/>
              <a:ext cx="10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i=0</a:t>
              </a:r>
              <a:endParaRPr lang="en-US" altLang="en-US" sz="1800">
                <a:latin typeface="Arial" panose="020B0604020202020204" pitchFamily="34" charset="0"/>
              </a:endParaRPr>
            </a:p>
          </p:txBody>
        </p:sp>
        <p:sp>
          <p:nvSpPr>
            <p:cNvPr id="575603" name="Rectangle 115"/>
            <p:cNvSpPr>
              <a:spLocks noChangeArrowheads="1"/>
            </p:cNvSpPr>
            <p:nvPr/>
          </p:nvSpPr>
          <p:spPr bwMode="auto">
            <a:xfrm>
              <a:off x="4136" y="2792"/>
              <a:ext cx="241"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!(i&lt;256)</a:t>
              </a:r>
              <a:endParaRPr lang="en-US" altLang="en-US" sz="1800">
                <a:latin typeface="Arial" panose="020B0604020202020204" pitchFamily="34" charset="0"/>
              </a:endParaRPr>
            </a:p>
          </p:txBody>
        </p:sp>
        <p:sp>
          <p:nvSpPr>
            <p:cNvPr id="575604" name="Rectangle 116"/>
            <p:cNvSpPr>
              <a:spLocks noChangeArrowheads="1"/>
            </p:cNvSpPr>
            <p:nvPr/>
          </p:nvSpPr>
          <p:spPr bwMode="auto">
            <a:xfrm>
              <a:off x="4024" y="2988"/>
              <a:ext cx="18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i&lt;256</a:t>
              </a:r>
              <a:endParaRPr lang="en-US" altLang="en-US" sz="1800">
                <a:latin typeface="Arial" panose="020B0604020202020204" pitchFamily="34" charset="0"/>
              </a:endParaRPr>
            </a:p>
          </p:txBody>
        </p:sp>
        <p:sp>
          <p:nvSpPr>
            <p:cNvPr id="575607" name="Oval 119"/>
            <p:cNvSpPr>
              <a:spLocks noChangeArrowheads="1"/>
            </p:cNvSpPr>
            <p:nvPr/>
          </p:nvSpPr>
          <p:spPr bwMode="auto">
            <a:xfrm>
              <a:off x="3798" y="2455"/>
              <a:ext cx="328" cy="22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11" name="Rectangle 123"/>
            <p:cNvSpPr>
              <a:spLocks noChangeArrowheads="1"/>
            </p:cNvSpPr>
            <p:nvPr/>
          </p:nvSpPr>
          <p:spPr bwMode="auto">
            <a:xfrm>
              <a:off x="3833" y="3131"/>
              <a:ext cx="281"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sum=sum</a:t>
              </a:r>
              <a:endParaRPr lang="en-US" altLang="en-US" sz="1800">
                <a:latin typeface="Arial" panose="020B0604020202020204" pitchFamily="34" charset="0"/>
              </a:endParaRPr>
            </a:p>
          </p:txBody>
        </p:sp>
        <p:sp>
          <p:nvSpPr>
            <p:cNvPr id="575612" name="Rectangle 124"/>
            <p:cNvSpPr>
              <a:spLocks noChangeArrowheads="1"/>
            </p:cNvSpPr>
            <p:nvPr/>
          </p:nvSpPr>
          <p:spPr bwMode="auto">
            <a:xfrm>
              <a:off x="3870" y="3186"/>
              <a:ext cx="173"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 + abs</a:t>
              </a:r>
              <a:endParaRPr lang="en-US" altLang="en-US" sz="1800">
                <a:latin typeface="Arial" panose="020B0604020202020204" pitchFamily="34" charset="0"/>
              </a:endParaRPr>
            </a:p>
          </p:txBody>
        </p:sp>
        <p:sp>
          <p:nvSpPr>
            <p:cNvPr id="575613" name="Rectangle 125"/>
            <p:cNvSpPr>
              <a:spLocks noChangeArrowheads="1"/>
            </p:cNvSpPr>
            <p:nvPr/>
          </p:nvSpPr>
          <p:spPr bwMode="auto">
            <a:xfrm>
              <a:off x="3871" y="3244"/>
              <a:ext cx="23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900">
                  <a:solidFill>
                    <a:srgbClr val="000000"/>
                  </a:solidFill>
                  <a:latin typeface="Myriad Roman" charset="0"/>
                </a:rPr>
                <a:t>i = i + 1</a:t>
              </a:r>
              <a:endParaRPr lang="en-US" altLang="en-US" sz="1800">
                <a:latin typeface="Arial" panose="020B0604020202020204" pitchFamily="34" charset="0"/>
              </a:endParaRPr>
            </a:p>
          </p:txBody>
        </p:sp>
        <p:sp>
          <p:nvSpPr>
            <p:cNvPr id="575614" name="Line 126"/>
            <p:cNvSpPr>
              <a:spLocks noChangeShapeType="1"/>
            </p:cNvSpPr>
            <p:nvPr/>
          </p:nvSpPr>
          <p:spPr bwMode="auto">
            <a:xfrm>
              <a:off x="3966" y="2684"/>
              <a:ext cx="1" cy="83"/>
            </a:xfrm>
            <a:prstGeom prst="line">
              <a:avLst/>
            </a:prstGeom>
            <a:noFill/>
            <a:ln w="1428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5615" name="Freeform 127"/>
            <p:cNvSpPr>
              <a:spLocks/>
            </p:cNvSpPr>
            <p:nvPr/>
          </p:nvSpPr>
          <p:spPr bwMode="auto">
            <a:xfrm>
              <a:off x="3947" y="2741"/>
              <a:ext cx="38" cy="75"/>
            </a:xfrm>
            <a:custGeom>
              <a:avLst/>
              <a:gdLst>
                <a:gd name="T0" fmla="*/ 19 w 38"/>
                <a:gd name="T1" fmla="*/ 75 h 75"/>
                <a:gd name="T2" fmla="*/ 38 w 38"/>
                <a:gd name="T3" fmla="*/ 0 h 75"/>
                <a:gd name="T4" fmla="*/ 0 w 38"/>
                <a:gd name="T5" fmla="*/ 0 h 75"/>
                <a:gd name="T6" fmla="*/ 19 w 38"/>
                <a:gd name="T7" fmla="*/ 75 h 75"/>
              </a:gdLst>
              <a:ahLst/>
              <a:cxnLst>
                <a:cxn ang="0">
                  <a:pos x="T0" y="T1"/>
                </a:cxn>
                <a:cxn ang="0">
                  <a:pos x="T2" y="T3"/>
                </a:cxn>
                <a:cxn ang="0">
                  <a:pos x="T4" y="T5"/>
                </a:cxn>
                <a:cxn ang="0">
                  <a:pos x="T6" y="T7"/>
                </a:cxn>
              </a:cxnLst>
              <a:rect l="0" t="0" r="r" b="b"/>
              <a:pathLst>
                <a:path w="38" h="75">
                  <a:moveTo>
                    <a:pt x="19" y="75"/>
                  </a:moveTo>
                  <a:lnTo>
                    <a:pt x="38" y="0"/>
                  </a:lnTo>
                  <a:lnTo>
                    <a:pt x="0" y="0"/>
                  </a:lnTo>
                  <a:lnTo>
                    <a:pt x="19" y="7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18" name="Oval 130"/>
            <p:cNvSpPr>
              <a:spLocks noChangeArrowheads="1"/>
            </p:cNvSpPr>
            <p:nvPr/>
          </p:nvSpPr>
          <p:spPr bwMode="auto">
            <a:xfrm>
              <a:off x="3824" y="2814"/>
              <a:ext cx="295" cy="147"/>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19" name="Oval 131"/>
            <p:cNvSpPr>
              <a:spLocks noChangeArrowheads="1"/>
            </p:cNvSpPr>
            <p:nvPr/>
          </p:nvSpPr>
          <p:spPr bwMode="auto">
            <a:xfrm>
              <a:off x="3824" y="3490"/>
              <a:ext cx="295" cy="146"/>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20" name="Oval 132"/>
            <p:cNvSpPr>
              <a:spLocks noChangeArrowheads="1"/>
            </p:cNvSpPr>
            <p:nvPr/>
          </p:nvSpPr>
          <p:spPr bwMode="auto">
            <a:xfrm>
              <a:off x="3789" y="3098"/>
              <a:ext cx="361" cy="250"/>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21" name="Oval 133"/>
            <p:cNvSpPr>
              <a:spLocks noChangeArrowheads="1"/>
            </p:cNvSpPr>
            <p:nvPr/>
          </p:nvSpPr>
          <p:spPr bwMode="auto">
            <a:xfrm>
              <a:off x="3824" y="3674"/>
              <a:ext cx="295" cy="146"/>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622" name="Freeform 134"/>
            <p:cNvSpPr>
              <a:spLocks/>
            </p:cNvSpPr>
            <p:nvPr/>
          </p:nvSpPr>
          <p:spPr bwMode="auto">
            <a:xfrm>
              <a:off x="3765" y="2115"/>
              <a:ext cx="78" cy="38"/>
            </a:xfrm>
            <a:custGeom>
              <a:avLst/>
              <a:gdLst>
                <a:gd name="T0" fmla="*/ 78 w 78"/>
                <a:gd name="T1" fmla="*/ 38 h 38"/>
                <a:gd name="T2" fmla="*/ 0 w 78"/>
                <a:gd name="T3" fmla="*/ 35 h 38"/>
                <a:gd name="T4" fmla="*/ 10 w 78"/>
                <a:gd name="T5" fmla="*/ 0 h 38"/>
                <a:gd name="T6" fmla="*/ 78 w 78"/>
                <a:gd name="T7" fmla="*/ 38 h 38"/>
              </a:gdLst>
              <a:ahLst/>
              <a:cxnLst>
                <a:cxn ang="0">
                  <a:pos x="T0" y="T1"/>
                </a:cxn>
                <a:cxn ang="0">
                  <a:pos x="T2" y="T3"/>
                </a:cxn>
                <a:cxn ang="0">
                  <a:pos x="T4" y="T5"/>
                </a:cxn>
                <a:cxn ang="0">
                  <a:pos x="T6" y="T7"/>
                </a:cxn>
              </a:cxnLst>
              <a:rect l="0" t="0" r="r" b="b"/>
              <a:pathLst>
                <a:path w="78" h="38">
                  <a:moveTo>
                    <a:pt x="78" y="38"/>
                  </a:moveTo>
                  <a:lnTo>
                    <a:pt x="0" y="35"/>
                  </a:lnTo>
                  <a:lnTo>
                    <a:pt x="10" y="0"/>
                  </a:lnTo>
                  <a:lnTo>
                    <a:pt x="78"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5623" name="Freeform 135"/>
            <p:cNvSpPr>
              <a:spLocks/>
            </p:cNvSpPr>
            <p:nvPr/>
          </p:nvSpPr>
          <p:spPr bwMode="auto">
            <a:xfrm>
              <a:off x="3708" y="2134"/>
              <a:ext cx="123" cy="132"/>
            </a:xfrm>
            <a:custGeom>
              <a:avLst/>
              <a:gdLst>
                <a:gd name="T0" fmla="*/ 52 w 52"/>
                <a:gd name="T1" fmla="*/ 42 h 56"/>
                <a:gd name="T2" fmla="*/ 28 w 52"/>
                <a:gd name="T3" fmla="*/ 56 h 56"/>
                <a:gd name="T4" fmla="*/ 0 w 52"/>
                <a:gd name="T5" fmla="*/ 28 h 56"/>
                <a:gd name="T6" fmla="*/ 28 w 52"/>
                <a:gd name="T7" fmla="*/ 0 h 56"/>
                <a:gd name="T8" fmla="*/ 39 w 52"/>
                <a:gd name="T9" fmla="*/ 2 h 56"/>
              </a:gdLst>
              <a:ahLst/>
              <a:cxnLst>
                <a:cxn ang="0">
                  <a:pos x="T0" y="T1"/>
                </a:cxn>
                <a:cxn ang="0">
                  <a:pos x="T2" y="T3"/>
                </a:cxn>
                <a:cxn ang="0">
                  <a:pos x="T4" y="T5"/>
                </a:cxn>
                <a:cxn ang="0">
                  <a:pos x="T6" y="T7"/>
                </a:cxn>
                <a:cxn ang="0">
                  <a:pos x="T8" y="T9"/>
                </a:cxn>
              </a:cxnLst>
              <a:rect l="0" t="0" r="r" b="b"/>
              <a:pathLst>
                <a:path w="52" h="56">
                  <a:moveTo>
                    <a:pt x="52" y="42"/>
                  </a:moveTo>
                  <a:cubicBezTo>
                    <a:pt x="48" y="51"/>
                    <a:pt x="38" y="56"/>
                    <a:pt x="28" y="56"/>
                  </a:cubicBezTo>
                  <a:cubicBezTo>
                    <a:pt x="12" y="56"/>
                    <a:pt x="0" y="44"/>
                    <a:pt x="0" y="28"/>
                  </a:cubicBezTo>
                  <a:cubicBezTo>
                    <a:pt x="0" y="12"/>
                    <a:pt x="12" y="0"/>
                    <a:pt x="28" y="0"/>
                  </a:cubicBezTo>
                  <a:cubicBezTo>
                    <a:pt x="32" y="0"/>
                    <a:pt x="36" y="1"/>
                    <a:pt x="39" y="2"/>
                  </a:cubicBezTo>
                </a:path>
              </a:pathLst>
            </a:custGeom>
            <a:noFill/>
            <a:ln w="1428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5711" name="Rectangle 223"/>
            <p:cNvSpPr>
              <a:spLocks noChangeArrowheads="1"/>
            </p:cNvSpPr>
            <p:nvPr/>
          </p:nvSpPr>
          <p:spPr bwMode="auto">
            <a:xfrm>
              <a:off x="3668" y="2759"/>
              <a:ext cx="811" cy="1099"/>
            </a:xfrm>
            <a:prstGeom prst="rect">
              <a:avLst/>
            </a:prstGeom>
            <a:noFill/>
            <a:ln w="12700">
              <a:solidFill>
                <a:srgbClr val="3399FF"/>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575718" name="Text Box 230"/>
          <p:cNvSpPr txBox="1">
            <a:spLocks noChangeArrowheads="1"/>
          </p:cNvSpPr>
          <p:nvPr/>
        </p:nvSpPr>
        <p:spPr bwMode="auto">
          <a:xfrm>
            <a:off x="8682038" y="370522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7570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7570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7570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7570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499"/>
                                          </p:stCondLst>
                                        </p:cTn>
                                        <p:tgtEl>
                                          <p:spTgt spid="57571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7571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575717"/>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499"/>
                                          </p:stCondLst>
                                        </p:cTn>
                                        <p:tgtEl>
                                          <p:spTgt spid="5757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Slide Number Placeholder 3"/>
          <p:cNvSpPr>
            <a:spLocks noGrp="1"/>
          </p:cNvSpPr>
          <p:nvPr>
            <p:ph type="sldNum" sz="quarter" idx="10"/>
          </p:nvPr>
        </p:nvSpPr>
        <p:spPr/>
        <p:txBody>
          <a:bodyPr/>
          <a:lstStyle/>
          <a:p>
            <a:fld id="{36E213D6-AD2C-4FB0-AF47-D5A1C014BA71}" type="slidenum">
              <a:rPr lang="en-US" altLang="en-US"/>
              <a:pPr/>
              <a:t>61</a:t>
            </a:fld>
            <a:endParaRPr lang="en-US" altLang="en-US"/>
          </a:p>
        </p:txBody>
      </p:sp>
      <p:sp>
        <p:nvSpPr>
          <p:cNvPr id="576514" name="Rectangle 2"/>
          <p:cNvSpPr>
            <a:spLocks noGrp="1" noChangeArrowheads="1"/>
          </p:cNvSpPr>
          <p:nvPr>
            <p:ph type="title"/>
          </p:nvPr>
        </p:nvSpPr>
        <p:spPr/>
        <p:txBody>
          <a:bodyPr/>
          <a:lstStyle/>
          <a:p>
            <a:r>
              <a:rPr lang="en-US" altLang="en-US" u="sng"/>
              <a:t>Memory Components</a:t>
            </a:r>
          </a:p>
        </p:txBody>
      </p:sp>
      <p:sp>
        <p:nvSpPr>
          <p:cNvPr id="576515" name="Rectangle 3"/>
          <p:cNvSpPr>
            <a:spLocks noGrp="1" noChangeArrowheads="1"/>
          </p:cNvSpPr>
          <p:nvPr>
            <p:ph type="body" idx="1"/>
          </p:nvPr>
        </p:nvSpPr>
        <p:spPr>
          <a:xfrm>
            <a:off x="228600" y="1219200"/>
            <a:ext cx="4440238" cy="4876800"/>
          </a:xfrm>
        </p:spPr>
        <p:txBody>
          <a:bodyPr/>
          <a:lstStyle/>
          <a:p>
            <a:r>
              <a:rPr lang="en-US" altLang="en-US"/>
              <a:t>Register-transfer level design instantiates datapath components to create datapath, controlled by a controller</a:t>
            </a:r>
          </a:p>
          <a:p>
            <a:pPr lvl="1"/>
            <a:r>
              <a:rPr lang="en-US" altLang="en-US"/>
              <a:t>A few more components are often used outside the controller and datapath</a:t>
            </a:r>
          </a:p>
          <a:p>
            <a:r>
              <a:rPr lang="en-US" altLang="en-US" b="1" i="1">
                <a:solidFill>
                  <a:srgbClr val="0033CC"/>
                </a:solidFill>
              </a:rPr>
              <a:t>MxN memory</a:t>
            </a:r>
          </a:p>
          <a:p>
            <a:pPr lvl="1"/>
            <a:r>
              <a:rPr lang="en-US" altLang="en-US"/>
              <a:t>M words, N bits wide each</a:t>
            </a:r>
          </a:p>
          <a:p>
            <a:r>
              <a:rPr lang="en-US" altLang="en-US"/>
              <a:t>Several varieties of memory, which we now introduce</a:t>
            </a:r>
          </a:p>
          <a:p>
            <a:pPr lvl="1"/>
            <a:endParaRPr lang="en-US" altLang="en-US" b="1" i="1">
              <a:solidFill>
                <a:srgbClr val="0033CC"/>
              </a:solidFill>
            </a:endParaRPr>
          </a:p>
        </p:txBody>
      </p:sp>
      <p:sp>
        <p:nvSpPr>
          <p:cNvPr id="576516" name="Text Box 4"/>
          <p:cNvSpPr txBox="1">
            <a:spLocks noChangeArrowheads="1"/>
          </p:cNvSpPr>
          <p:nvPr/>
        </p:nvSpPr>
        <p:spPr bwMode="auto">
          <a:xfrm>
            <a:off x="8458200" y="152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5.6</a:t>
            </a:r>
          </a:p>
        </p:txBody>
      </p:sp>
      <p:sp>
        <p:nvSpPr>
          <p:cNvPr id="576518" name="Rectangle 6"/>
          <p:cNvSpPr>
            <a:spLocks noChangeArrowheads="1"/>
          </p:cNvSpPr>
          <p:nvPr/>
        </p:nvSpPr>
        <p:spPr bwMode="auto">
          <a:xfrm>
            <a:off x="5676900" y="1430338"/>
            <a:ext cx="3052763" cy="4233862"/>
          </a:xfrm>
          <a:prstGeom prst="rect">
            <a:avLst/>
          </a:prstGeom>
          <a:noFill/>
          <a:ln w="25400">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6519" name="Rectangle 7"/>
          <p:cNvSpPr>
            <a:spLocks noChangeArrowheads="1"/>
          </p:cNvSpPr>
          <p:nvPr/>
        </p:nvSpPr>
        <p:spPr bwMode="auto">
          <a:xfrm>
            <a:off x="6623050" y="1662113"/>
            <a:ext cx="1152525" cy="1382712"/>
          </a:xfrm>
          <a:prstGeom prst="rect">
            <a:avLst/>
          </a:prstGeom>
          <a:solidFill>
            <a:srgbClr val="C7D8F0"/>
          </a:solidFill>
          <a:ln w="25400">
            <a:solidFill>
              <a:srgbClr val="0078C1"/>
            </a:solidFill>
            <a:miter lim="800000"/>
            <a:headEnd/>
            <a:tailEnd/>
          </a:ln>
        </p:spPr>
        <p:txBody>
          <a:bodyPr/>
          <a:lstStyle/>
          <a:p>
            <a:endParaRPr lang="en-US"/>
          </a:p>
        </p:txBody>
      </p:sp>
      <p:sp>
        <p:nvSpPr>
          <p:cNvPr id="576520" name="Line 8"/>
          <p:cNvSpPr>
            <a:spLocks noChangeShapeType="1"/>
          </p:cNvSpPr>
          <p:nvPr/>
        </p:nvSpPr>
        <p:spPr bwMode="auto">
          <a:xfrm>
            <a:off x="6615113" y="2122488"/>
            <a:ext cx="1152525" cy="1587"/>
          </a:xfrm>
          <a:prstGeom prst="line">
            <a:avLst/>
          </a:prstGeom>
          <a:noFill/>
          <a:ln w="25400">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6521" name="Line 9"/>
          <p:cNvSpPr>
            <a:spLocks noChangeShapeType="1"/>
          </p:cNvSpPr>
          <p:nvPr/>
        </p:nvSpPr>
        <p:spPr bwMode="auto">
          <a:xfrm>
            <a:off x="6615113" y="2584450"/>
            <a:ext cx="1152525" cy="1588"/>
          </a:xfrm>
          <a:prstGeom prst="line">
            <a:avLst/>
          </a:prstGeom>
          <a:noFill/>
          <a:ln w="25400">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6522" name="Rectangle 10"/>
          <p:cNvSpPr>
            <a:spLocks noChangeArrowheads="1"/>
          </p:cNvSpPr>
          <p:nvPr/>
        </p:nvSpPr>
        <p:spPr bwMode="auto">
          <a:xfrm>
            <a:off x="6623050" y="3556000"/>
            <a:ext cx="1152525" cy="922338"/>
          </a:xfrm>
          <a:prstGeom prst="rect">
            <a:avLst/>
          </a:prstGeom>
          <a:solidFill>
            <a:srgbClr val="C7D8F0"/>
          </a:solidFill>
          <a:ln w="25400">
            <a:solidFill>
              <a:srgbClr val="0078C1"/>
            </a:solidFill>
            <a:miter lim="800000"/>
            <a:headEnd/>
            <a:tailEnd/>
          </a:ln>
        </p:spPr>
        <p:txBody>
          <a:bodyPr/>
          <a:lstStyle/>
          <a:p>
            <a:endParaRPr lang="en-US"/>
          </a:p>
        </p:txBody>
      </p:sp>
      <p:sp>
        <p:nvSpPr>
          <p:cNvPr id="576523" name="Line 11"/>
          <p:cNvSpPr>
            <a:spLocks noChangeShapeType="1"/>
          </p:cNvSpPr>
          <p:nvPr/>
        </p:nvSpPr>
        <p:spPr bwMode="auto">
          <a:xfrm>
            <a:off x="6615113" y="4017963"/>
            <a:ext cx="1152525" cy="1587"/>
          </a:xfrm>
          <a:prstGeom prst="line">
            <a:avLst/>
          </a:prstGeom>
          <a:noFill/>
          <a:ln w="25400">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6524" name="Oval 12"/>
          <p:cNvSpPr>
            <a:spLocks noChangeArrowheads="1"/>
          </p:cNvSpPr>
          <p:nvPr/>
        </p:nvSpPr>
        <p:spPr bwMode="auto">
          <a:xfrm>
            <a:off x="7018338" y="3276600"/>
            <a:ext cx="65087" cy="57150"/>
          </a:xfrm>
          <a:prstGeom prst="ellipse">
            <a:avLst/>
          </a:prstGeom>
          <a:solidFill>
            <a:srgbClr val="000000"/>
          </a:solidFill>
          <a:ln w="25400">
            <a:solidFill>
              <a:srgbClr val="000000"/>
            </a:solidFill>
            <a:miter lim="800000"/>
            <a:headEnd/>
            <a:tailEnd/>
          </a:ln>
        </p:spPr>
        <p:txBody>
          <a:bodyPr/>
          <a:lstStyle/>
          <a:p>
            <a:endParaRPr lang="en-US"/>
          </a:p>
        </p:txBody>
      </p:sp>
      <p:sp>
        <p:nvSpPr>
          <p:cNvPr id="576525" name="Oval 13"/>
          <p:cNvSpPr>
            <a:spLocks noChangeArrowheads="1"/>
          </p:cNvSpPr>
          <p:nvPr/>
        </p:nvSpPr>
        <p:spPr bwMode="auto">
          <a:xfrm>
            <a:off x="7165975" y="3276600"/>
            <a:ext cx="57150" cy="57150"/>
          </a:xfrm>
          <a:prstGeom prst="ellipse">
            <a:avLst/>
          </a:prstGeom>
          <a:solidFill>
            <a:srgbClr val="000000"/>
          </a:solidFill>
          <a:ln w="25400">
            <a:solidFill>
              <a:srgbClr val="000000"/>
            </a:solidFill>
            <a:miter lim="800000"/>
            <a:headEnd/>
            <a:tailEnd/>
          </a:ln>
        </p:spPr>
        <p:txBody>
          <a:bodyPr/>
          <a:lstStyle/>
          <a:p>
            <a:endParaRPr lang="en-US"/>
          </a:p>
        </p:txBody>
      </p:sp>
      <p:sp>
        <p:nvSpPr>
          <p:cNvPr id="576526" name="Oval 14"/>
          <p:cNvSpPr>
            <a:spLocks noChangeArrowheads="1"/>
          </p:cNvSpPr>
          <p:nvPr/>
        </p:nvSpPr>
        <p:spPr bwMode="auto">
          <a:xfrm>
            <a:off x="7315200" y="3276600"/>
            <a:ext cx="57150" cy="57150"/>
          </a:xfrm>
          <a:prstGeom prst="ellipse">
            <a:avLst/>
          </a:prstGeom>
          <a:solidFill>
            <a:srgbClr val="000000"/>
          </a:solidFill>
          <a:ln w="25400">
            <a:solidFill>
              <a:srgbClr val="000000"/>
            </a:solidFill>
            <a:miter lim="800000"/>
            <a:headEnd/>
            <a:tailEnd/>
          </a:ln>
        </p:spPr>
        <p:txBody>
          <a:bodyPr/>
          <a:lstStyle/>
          <a:p>
            <a:endParaRPr lang="en-US"/>
          </a:p>
        </p:txBody>
      </p:sp>
      <p:grpSp>
        <p:nvGrpSpPr>
          <p:cNvPr id="576565" name="Group 53"/>
          <p:cNvGrpSpPr>
            <a:grpSpLocks/>
          </p:cNvGrpSpPr>
          <p:nvPr/>
        </p:nvGrpSpPr>
        <p:grpSpPr bwMode="auto">
          <a:xfrm>
            <a:off x="6691313" y="4535488"/>
            <a:ext cx="1169987" cy="609600"/>
            <a:chOff x="4215" y="2857"/>
            <a:chExt cx="737" cy="384"/>
          </a:xfrm>
        </p:grpSpPr>
        <p:sp>
          <p:nvSpPr>
            <p:cNvPr id="576527" name="Rectangle 15"/>
            <p:cNvSpPr>
              <a:spLocks noChangeArrowheads="1"/>
            </p:cNvSpPr>
            <p:nvPr/>
          </p:nvSpPr>
          <p:spPr bwMode="auto">
            <a:xfrm>
              <a:off x="4345" y="2857"/>
              <a:ext cx="45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N-bits</a:t>
              </a:r>
              <a:endParaRPr lang="en-US" altLang="en-US"/>
            </a:p>
          </p:txBody>
        </p:sp>
        <p:sp>
          <p:nvSpPr>
            <p:cNvPr id="576528" name="Rectangle 16"/>
            <p:cNvSpPr>
              <a:spLocks noChangeArrowheads="1"/>
            </p:cNvSpPr>
            <p:nvPr/>
          </p:nvSpPr>
          <p:spPr bwMode="auto">
            <a:xfrm>
              <a:off x="4215" y="3044"/>
              <a:ext cx="737"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wide each</a:t>
              </a:r>
              <a:endParaRPr lang="en-US" altLang="en-US"/>
            </a:p>
          </p:txBody>
        </p:sp>
      </p:grpSp>
      <p:sp>
        <p:nvSpPr>
          <p:cNvPr id="576529" name="Rectangle 17"/>
          <p:cNvSpPr>
            <a:spLocks noChangeArrowheads="1"/>
          </p:cNvSpPr>
          <p:nvPr/>
        </p:nvSpPr>
        <p:spPr bwMode="auto">
          <a:xfrm>
            <a:off x="6510338" y="5265738"/>
            <a:ext cx="30480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M</a:t>
            </a:r>
            <a:endParaRPr lang="en-US" altLang="en-US"/>
          </a:p>
        </p:txBody>
      </p:sp>
      <p:sp>
        <p:nvSpPr>
          <p:cNvPr id="576530" name="Rectangle 18"/>
          <p:cNvSpPr>
            <a:spLocks noChangeArrowheads="1"/>
          </p:cNvSpPr>
          <p:nvPr/>
        </p:nvSpPr>
        <p:spPr bwMode="auto">
          <a:xfrm>
            <a:off x="6700838" y="5240338"/>
            <a:ext cx="13652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rPr>
              <a:t>×</a:t>
            </a:r>
            <a:endParaRPr lang="en-US" altLang="en-US"/>
          </a:p>
        </p:txBody>
      </p:sp>
      <p:sp>
        <p:nvSpPr>
          <p:cNvPr id="576531" name="Rectangle 19"/>
          <p:cNvSpPr>
            <a:spLocks noChangeArrowheads="1"/>
          </p:cNvSpPr>
          <p:nvPr/>
        </p:nvSpPr>
        <p:spPr bwMode="auto">
          <a:xfrm>
            <a:off x="6831013" y="5265738"/>
            <a:ext cx="27940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N</a:t>
            </a:r>
            <a:endParaRPr lang="en-US" altLang="en-US"/>
          </a:p>
        </p:txBody>
      </p:sp>
      <p:sp>
        <p:nvSpPr>
          <p:cNvPr id="576532" name="Rectangle 20"/>
          <p:cNvSpPr>
            <a:spLocks noChangeArrowheads="1"/>
          </p:cNvSpPr>
          <p:nvPr/>
        </p:nvSpPr>
        <p:spPr bwMode="auto">
          <a:xfrm>
            <a:off x="6986588" y="5265738"/>
            <a:ext cx="83185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 memo</a:t>
            </a:r>
            <a:endParaRPr lang="en-US" altLang="en-US"/>
          </a:p>
        </p:txBody>
      </p:sp>
      <p:sp>
        <p:nvSpPr>
          <p:cNvPr id="576533" name="Rectangle 21"/>
          <p:cNvSpPr>
            <a:spLocks noChangeArrowheads="1"/>
          </p:cNvSpPr>
          <p:nvPr/>
        </p:nvSpPr>
        <p:spPr bwMode="auto">
          <a:xfrm>
            <a:off x="7681913" y="5265738"/>
            <a:ext cx="188912"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r</a:t>
            </a:r>
            <a:endParaRPr lang="en-US" altLang="en-US"/>
          </a:p>
        </p:txBody>
      </p:sp>
      <p:sp>
        <p:nvSpPr>
          <p:cNvPr id="576534" name="Rectangle 22"/>
          <p:cNvSpPr>
            <a:spLocks noChangeArrowheads="1"/>
          </p:cNvSpPr>
          <p:nvPr/>
        </p:nvSpPr>
        <p:spPr bwMode="auto">
          <a:xfrm>
            <a:off x="7766050" y="5265738"/>
            <a:ext cx="222250"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900">
                <a:solidFill>
                  <a:srgbClr val="000000"/>
                </a:solidFill>
                <a:latin typeface="Myriad Roman" charset="0"/>
              </a:rPr>
              <a:t>y</a:t>
            </a:r>
            <a:endParaRPr lang="en-US" altLang="en-US"/>
          </a:p>
        </p:txBody>
      </p:sp>
      <p:sp>
        <p:nvSpPr>
          <p:cNvPr id="576564" name="Text Box 52"/>
          <p:cNvSpPr txBox="1">
            <a:spLocks noChangeArrowheads="1"/>
          </p:cNvSpPr>
          <p:nvPr/>
        </p:nvSpPr>
        <p:spPr bwMode="auto">
          <a:xfrm rot="-5400000">
            <a:off x="5771357" y="3064669"/>
            <a:ext cx="10937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M words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Slide Number Placeholder 3"/>
          <p:cNvSpPr>
            <a:spLocks noGrp="1"/>
          </p:cNvSpPr>
          <p:nvPr>
            <p:ph type="sldNum" sz="quarter" idx="10"/>
          </p:nvPr>
        </p:nvSpPr>
        <p:spPr/>
        <p:txBody>
          <a:bodyPr/>
          <a:lstStyle/>
          <a:p>
            <a:fld id="{2C84EB35-D612-4F29-91A8-0523541A3CB9}" type="slidenum">
              <a:rPr lang="en-US" altLang="en-US"/>
              <a:pPr/>
              <a:t>62</a:t>
            </a:fld>
            <a:endParaRPr lang="en-US" altLang="en-US"/>
          </a:p>
        </p:txBody>
      </p:sp>
      <p:sp>
        <p:nvSpPr>
          <p:cNvPr id="577538" name="Rectangle 2"/>
          <p:cNvSpPr>
            <a:spLocks noGrp="1" noChangeArrowheads="1"/>
          </p:cNvSpPr>
          <p:nvPr>
            <p:ph type="title"/>
          </p:nvPr>
        </p:nvSpPr>
        <p:spPr/>
        <p:txBody>
          <a:bodyPr/>
          <a:lstStyle/>
          <a:p>
            <a:r>
              <a:rPr lang="en-US" altLang="en-US"/>
              <a:t>Random Access Memory (RAM)</a:t>
            </a:r>
          </a:p>
        </p:txBody>
      </p:sp>
      <p:sp>
        <p:nvSpPr>
          <p:cNvPr id="577539" name="Rectangle 3"/>
          <p:cNvSpPr>
            <a:spLocks noGrp="1" noChangeArrowheads="1"/>
          </p:cNvSpPr>
          <p:nvPr>
            <p:ph type="body" idx="1"/>
          </p:nvPr>
        </p:nvSpPr>
        <p:spPr>
          <a:xfrm>
            <a:off x="228600" y="1219200"/>
            <a:ext cx="5927725" cy="4876800"/>
          </a:xfrm>
        </p:spPr>
        <p:txBody>
          <a:bodyPr/>
          <a:lstStyle/>
          <a:p>
            <a:r>
              <a:rPr lang="en-US" altLang="en-US" sz="2000"/>
              <a:t>RAM – Readable and writable memory</a:t>
            </a:r>
          </a:p>
          <a:p>
            <a:pPr lvl="1"/>
            <a:r>
              <a:rPr lang="en-US" altLang="en-US" sz="1800"/>
              <a:t>“Random access memory”</a:t>
            </a:r>
          </a:p>
          <a:p>
            <a:pPr lvl="2"/>
            <a:r>
              <a:rPr lang="en-US" altLang="en-US" sz="1600"/>
              <a:t>Strange name – Created several decades ago to contrast with sequentially-accessed storage like tape drives</a:t>
            </a:r>
          </a:p>
          <a:p>
            <a:pPr lvl="1"/>
            <a:r>
              <a:rPr lang="en-US" altLang="en-US" sz="1800"/>
              <a:t>Logically same as register file – Memory with address inputs, data inputs/outputs, and control</a:t>
            </a:r>
          </a:p>
          <a:p>
            <a:pPr lvl="2"/>
            <a:r>
              <a:rPr lang="en-US" altLang="en-US" sz="1600"/>
              <a:t>RAM usually just one port; register file usually two or more</a:t>
            </a:r>
          </a:p>
          <a:p>
            <a:pPr lvl="1"/>
            <a:r>
              <a:rPr lang="en-US" altLang="en-US" sz="1800"/>
              <a:t>RAM vs. register file</a:t>
            </a:r>
          </a:p>
          <a:p>
            <a:pPr lvl="2"/>
            <a:r>
              <a:rPr lang="en-US" altLang="en-US" sz="1600"/>
              <a:t>RAM typically larger than </a:t>
            </a:r>
            <a:r>
              <a:rPr lang="en-US" altLang="en-US" sz="1600" i="1"/>
              <a:t>roughly</a:t>
            </a:r>
            <a:r>
              <a:rPr lang="en-US" altLang="en-US" sz="1600"/>
              <a:t> 512 or 1024 words</a:t>
            </a:r>
          </a:p>
          <a:p>
            <a:pPr lvl="2"/>
            <a:r>
              <a:rPr lang="en-US" altLang="en-US" sz="1600"/>
              <a:t>RAM typically stores bits using a bit storage approach that is more efficient than a flip flop</a:t>
            </a:r>
          </a:p>
          <a:p>
            <a:pPr lvl="2"/>
            <a:r>
              <a:rPr lang="en-US" altLang="en-US" sz="1600"/>
              <a:t>RAM typically implemented on a chip in a square rather than rectangular shape – keeps longest wires (hence delay) short</a:t>
            </a:r>
          </a:p>
        </p:txBody>
      </p:sp>
      <p:sp>
        <p:nvSpPr>
          <p:cNvPr id="577540" name="Rectangle 4"/>
          <p:cNvSpPr>
            <a:spLocks noChangeArrowheads="1"/>
          </p:cNvSpPr>
          <p:nvPr/>
        </p:nvSpPr>
        <p:spPr bwMode="auto">
          <a:xfrm>
            <a:off x="7037388" y="3856038"/>
            <a:ext cx="1697037" cy="167798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7541" name="Line 5"/>
          <p:cNvSpPr>
            <a:spLocks noChangeShapeType="1"/>
          </p:cNvSpPr>
          <p:nvPr/>
        </p:nvSpPr>
        <p:spPr bwMode="auto">
          <a:xfrm flipH="1">
            <a:off x="6550025" y="4103688"/>
            <a:ext cx="179388" cy="158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42" name="Freeform 6"/>
          <p:cNvSpPr>
            <a:spLocks/>
          </p:cNvSpPr>
          <p:nvPr/>
        </p:nvSpPr>
        <p:spPr bwMode="auto">
          <a:xfrm>
            <a:off x="6411913" y="4064000"/>
            <a:ext cx="158750" cy="79375"/>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43" name="Line 7"/>
          <p:cNvSpPr>
            <a:spLocks noChangeShapeType="1"/>
          </p:cNvSpPr>
          <p:nvPr/>
        </p:nvSpPr>
        <p:spPr bwMode="auto">
          <a:xfrm>
            <a:off x="6729413" y="4103688"/>
            <a:ext cx="177800" cy="158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44" name="Freeform 8"/>
          <p:cNvSpPr>
            <a:spLocks/>
          </p:cNvSpPr>
          <p:nvPr/>
        </p:nvSpPr>
        <p:spPr bwMode="auto">
          <a:xfrm>
            <a:off x="6878638" y="4064000"/>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45" name="Line 9"/>
          <p:cNvSpPr>
            <a:spLocks noChangeShapeType="1"/>
          </p:cNvSpPr>
          <p:nvPr/>
        </p:nvSpPr>
        <p:spPr bwMode="auto">
          <a:xfrm>
            <a:off x="6461125" y="4427538"/>
            <a:ext cx="446088" cy="158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46" name="Freeform 10"/>
          <p:cNvSpPr>
            <a:spLocks/>
          </p:cNvSpPr>
          <p:nvPr/>
        </p:nvSpPr>
        <p:spPr bwMode="auto">
          <a:xfrm>
            <a:off x="6878638" y="4392613"/>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47" name="Line 11"/>
          <p:cNvSpPr>
            <a:spLocks noChangeShapeType="1"/>
          </p:cNvSpPr>
          <p:nvPr/>
        </p:nvSpPr>
        <p:spPr bwMode="auto">
          <a:xfrm>
            <a:off x="6461125" y="4754563"/>
            <a:ext cx="446088"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48" name="Freeform 12"/>
          <p:cNvSpPr>
            <a:spLocks/>
          </p:cNvSpPr>
          <p:nvPr/>
        </p:nvSpPr>
        <p:spPr bwMode="auto">
          <a:xfrm>
            <a:off x="6878638" y="4714875"/>
            <a:ext cx="158750" cy="7937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49" name="Line 13"/>
          <p:cNvSpPr>
            <a:spLocks noChangeShapeType="1"/>
          </p:cNvSpPr>
          <p:nvPr/>
        </p:nvSpPr>
        <p:spPr bwMode="auto">
          <a:xfrm>
            <a:off x="6461125" y="5081588"/>
            <a:ext cx="446088"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50" name="Freeform 14"/>
          <p:cNvSpPr>
            <a:spLocks/>
          </p:cNvSpPr>
          <p:nvPr/>
        </p:nvSpPr>
        <p:spPr bwMode="auto">
          <a:xfrm>
            <a:off x="6878638" y="5041900"/>
            <a:ext cx="158750" cy="80963"/>
          </a:xfrm>
          <a:custGeom>
            <a:avLst/>
            <a:gdLst>
              <a:gd name="T0" fmla="*/ 100 w 100"/>
              <a:gd name="T1" fmla="*/ 25 h 51"/>
              <a:gd name="T2" fmla="*/ 0 w 100"/>
              <a:gd name="T3" fmla="*/ 0 h 51"/>
              <a:gd name="T4" fmla="*/ 0 w 100"/>
              <a:gd name="T5" fmla="*/ 51 h 51"/>
              <a:gd name="T6" fmla="*/ 100 w 100"/>
              <a:gd name="T7" fmla="*/ 25 h 51"/>
            </a:gdLst>
            <a:ahLst/>
            <a:cxnLst>
              <a:cxn ang="0">
                <a:pos x="T0" y="T1"/>
              </a:cxn>
              <a:cxn ang="0">
                <a:pos x="T2" y="T3"/>
              </a:cxn>
              <a:cxn ang="0">
                <a:pos x="T4" y="T5"/>
              </a:cxn>
              <a:cxn ang="0">
                <a:pos x="T6" y="T7"/>
              </a:cxn>
            </a:cxnLst>
            <a:rect l="0" t="0" r="r" b="b"/>
            <a:pathLst>
              <a:path w="100" h="51">
                <a:moveTo>
                  <a:pt x="100" y="25"/>
                </a:moveTo>
                <a:lnTo>
                  <a:pt x="0" y="0"/>
                </a:lnTo>
                <a:lnTo>
                  <a:pt x="0" y="51"/>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51" name="Freeform 15"/>
          <p:cNvSpPr>
            <a:spLocks/>
          </p:cNvSpPr>
          <p:nvPr/>
        </p:nvSpPr>
        <p:spPr bwMode="auto">
          <a:xfrm>
            <a:off x="7037388" y="5281613"/>
            <a:ext cx="163512" cy="168275"/>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7552" name="Freeform 16"/>
          <p:cNvSpPr>
            <a:spLocks/>
          </p:cNvSpPr>
          <p:nvPr/>
        </p:nvSpPr>
        <p:spPr bwMode="auto">
          <a:xfrm>
            <a:off x="6669088" y="4040188"/>
            <a:ext cx="134937" cy="128587"/>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53" name="Line 17"/>
          <p:cNvSpPr>
            <a:spLocks noChangeShapeType="1"/>
          </p:cNvSpPr>
          <p:nvPr/>
        </p:nvSpPr>
        <p:spPr bwMode="auto">
          <a:xfrm flipH="1">
            <a:off x="6669088" y="4040188"/>
            <a:ext cx="134937" cy="12858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54" name="Freeform 18"/>
          <p:cNvSpPr>
            <a:spLocks/>
          </p:cNvSpPr>
          <p:nvPr/>
        </p:nvSpPr>
        <p:spPr bwMode="auto">
          <a:xfrm>
            <a:off x="6669088" y="4357688"/>
            <a:ext cx="134937" cy="133350"/>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55" name="Line 19"/>
          <p:cNvSpPr>
            <a:spLocks noChangeShapeType="1"/>
          </p:cNvSpPr>
          <p:nvPr/>
        </p:nvSpPr>
        <p:spPr bwMode="auto">
          <a:xfrm flipH="1">
            <a:off x="6669088" y="4357688"/>
            <a:ext cx="134937" cy="13335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56" name="Rectangle 20"/>
          <p:cNvSpPr>
            <a:spLocks noChangeArrowheads="1"/>
          </p:cNvSpPr>
          <p:nvPr/>
        </p:nvSpPr>
        <p:spPr bwMode="auto">
          <a:xfrm>
            <a:off x="6672263" y="385762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32</a:t>
            </a:r>
            <a:endParaRPr lang="en-US" altLang="en-US" sz="2400"/>
          </a:p>
        </p:txBody>
      </p:sp>
      <p:sp>
        <p:nvSpPr>
          <p:cNvPr id="577557" name="Rectangle 21"/>
          <p:cNvSpPr>
            <a:spLocks noChangeArrowheads="1"/>
          </p:cNvSpPr>
          <p:nvPr/>
        </p:nvSpPr>
        <p:spPr bwMode="auto">
          <a:xfrm>
            <a:off x="6672263" y="4178300"/>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10</a:t>
            </a:r>
            <a:endParaRPr lang="en-US" altLang="en-US" sz="2400"/>
          </a:p>
        </p:txBody>
      </p:sp>
      <p:sp>
        <p:nvSpPr>
          <p:cNvPr id="577558" name="Rectangle 22"/>
          <p:cNvSpPr>
            <a:spLocks noChangeArrowheads="1"/>
          </p:cNvSpPr>
          <p:nvPr/>
        </p:nvSpPr>
        <p:spPr bwMode="auto">
          <a:xfrm>
            <a:off x="7089775" y="4006850"/>
            <a:ext cx="3222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sz="2400"/>
          </a:p>
        </p:txBody>
      </p:sp>
      <p:sp>
        <p:nvSpPr>
          <p:cNvPr id="577561" name="Rectangle 25"/>
          <p:cNvSpPr>
            <a:spLocks noChangeArrowheads="1"/>
          </p:cNvSpPr>
          <p:nvPr/>
        </p:nvSpPr>
        <p:spPr bwMode="auto">
          <a:xfrm>
            <a:off x="7089775" y="4332288"/>
            <a:ext cx="2936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a:t>
            </a:r>
            <a:endParaRPr lang="en-US" altLang="en-US" sz="2400"/>
          </a:p>
        </p:txBody>
      </p:sp>
      <p:sp>
        <p:nvSpPr>
          <p:cNvPr id="577562" name="Rectangle 26"/>
          <p:cNvSpPr>
            <a:spLocks noChangeArrowheads="1"/>
          </p:cNvSpPr>
          <p:nvPr/>
        </p:nvSpPr>
        <p:spPr bwMode="auto">
          <a:xfrm>
            <a:off x="7089775" y="4654550"/>
            <a:ext cx="555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577563" name="Rectangle 27"/>
          <p:cNvSpPr>
            <a:spLocks noChangeArrowheads="1"/>
          </p:cNvSpPr>
          <p:nvPr/>
        </p:nvSpPr>
        <p:spPr bwMode="auto">
          <a:xfrm>
            <a:off x="7145338" y="4654550"/>
            <a:ext cx="1190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a:t>
            </a:r>
            <a:endParaRPr lang="en-US" altLang="en-US" sz="2400"/>
          </a:p>
        </p:txBody>
      </p:sp>
      <p:sp>
        <p:nvSpPr>
          <p:cNvPr id="577564" name="Rectangle 28"/>
          <p:cNvSpPr>
            <a:spLocks noChangeArrowheads="1"/>
          </p:cNvSpPr>
          <p:nvPr/>
        </p:nvSpPr>
        <p:spPr bwMode="auto">
          <a:xfrm>
            <a:off x="7089775" y="4984750"/>
            <a:ext cx="1555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t>
            </a:r>
            <a:endParaRPr lang="en-US" altLang="en-US" sz="2400"/>
          </a:p>
        </p:txBody>
      </p:sp>
      <p:sp>
        <p:nvSpPr>
          <p:cNvPr id="577565" name="Rectangle 29"/>
          <p:cNvSpPr>
            <a:spLocks noChangeArrowheads="1"/>
          </p:cNvSpPr>
          <p:nvPr/>
        </p:nvSpPr>
        <p:spPr bwMode="auto">
          <a:xfrm>
            <a:off x="7561263" y="4522788"/>
            <a:ext cx="3302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1024</a:t>
            </a:r>
            <a:endParaRPr lang="en-US" altLang="en-US" sz="2400"/>
          </a:p>
        </p:txBody>
      </p:sp>
      <p:sp>
        <p:nvSpPr>
          <p:cNvPr id="577566" name="Rectangle 30"/>
          <p:cNvSpPr>
            <a:spLocks noChangeArrowheads="1"/>
          </p:cNvSpPr>
          <p:nvPr/>
        </p:nvSpPr>
        <p:spPr bwMode="auto">
          <a:xfrm>
            <a:off x="7920038" y="4506913"/>
            <a:ext cx="936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rPr>
              <a:t>×</a:t>
            </a:r>
            <a:endParaRPr lang="en-US" altLang="en-US" sz="2400"/>
          </a:p>
        </p:txBody>
      </p:sp>
      <p:sp>
        <p:nvSpPr>
          <p:cNvPr id="577567" name="Rectangle 31"/>
          <p:cNvSpPr>
            <a:spLocks noChangeArrowheads="1"/>
          </p:cNvSpPr>
          <p:nvPr/>
        </p:nvSpPr>
        <p:spPr bwMode="auto">
          <a:xfrm>
            <a:off x="8047038" y="4522788"/>
            <a:ext cx="1651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32</a:t>
            </a:r>
            <a:endParaRPr lang="en-US" altLang="en-US" sz="2400"/>
          </a:p>
        </p:txBody>
      </p:sp>
      <p:sp>
        <p:nvSpPr>
          <p:cNvPr id="577568" name="Rectangle 32"/>
          <p:cNvSpPr>
            <a:spLocks noChangeArrowheads="1"/>
          </p:cNvSpPr>
          <p:nvPr/>
        </p:nvSpPr>
        <p:spPr bwMode="auto">
          <a:xfrm>
            <a:off x="7731125" y="4699000"/>
            <a:ext cx="10953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sz="2400"/>
          </a:p>
        </p:txBody>
      </p:sp>
      <p:sp>
        <p:nvSpPr>
          <p:cNvPr id="577569" name="Rectangle 33"/>
          <p:cNvSpPr>
            <a:spLocks noChangeArrowheads="1"/>
          </p:cNvSpPr>
          <p:nvPr/>
        </p:nvSpPr>
        <p:spPr bwMode="auto">
          <a:xfrm>
            <a:off x="7816850" y="4699000"/>
            <a:ext cx="1190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t>
            </a:r>
            <a:endParaRPr lang="en-US" altLang="en-US" sz="2400"/>
          </a:p>
        </p:txBody>
      </p:sp>
      <p:sp>
        <p:nvSpPr>
          <p:cNvPr id="577570" name="Rectangle 34"/>
          <p:cNvSpPr>
            <a:spLocks noChangeArrowheads="1"/>
          </p:cNvSpPr>
          <p:nvPr/>
        </p:nvSpPr>
        <p:spPr bwMode="auto">
          <a:xfrm>
            <a:off x="7913688" y="4699000"/>
            <a:ext cx="1460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M</a:t>
            </a:r>
            <a:endParaRPr lang="en-US" altLang="en-US" sz="2400"/>
          </a:p>
        </p:txBody>
      </p:sp>
      <p:grpSp>
        <p:nvGrpSpPr>
          <p:cNvPr id="577571" name="Group 35"/>
          <p:cNvGrpSpPr>
            <a:grpSpLocks/>
          </p:cNvGrpSpPr>
          <p:nvPr/>
        </p:nvGrpSpPr>
        <p:grpSpPr bwMode="auto">
          <a:xfrm>
            <a:off x="6161088" y="1323975"/>
            <a:ext cx="2719387" cy="1547813"/>
            <a:chOff x="167" y="1379"/>
            <a:chExt cx="1713" cy="975"/>
          </a:xfrm>
        </p:grpSpPr>
        <p:sp>
          <p:nvSpPr>
            <p:cNvPr id="577572" name="Line 36"/>
            <p:cNvSpPr>
              <a:spLocks noChangeShapeType="1"/>
            </p:cNvSpPr>
            <p:nvPr/>
          </p:nvSpPr>
          <p:spPr bwMode="auto">
            <a:xfrm>
              <a:off x="167" y="1553"/>
              <a:ext cx="212"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73" name="Freeform 37"/>
            <p:cNvSpPr>
              <a:spLocks/>
            </p:cNvSpPr>
            <p:nvPr/>
          </p:nvSpPr>
          <p:spPr bwMode="auto">
            <a:xfrm>
              <a:off x="364" y="152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74" name="Line 38"/>
            <p:cNvSpPr>
              <a:spLocks noChangeShapeType="1"/>
            </p:cNvSpPr>
            <p:nvPr/>
          </p:nvSpPr>
          <p:spPr bwMode="auto">
            <a:xfrm flipH="1">
              <a:off x="220" y="1503"/>
              <a:ext cx="100" cy="1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75" name="Line 39"/>
            <p:cNvSpPr>
              <a:spLocks noChangeShapeType="1"/>
            </p:cNvSpPr>
            <p:nvPr/>
          </p:nvSpPr>
          <p:spPr bwMode="auto">
            <a:xfrm>
              <a:off x="167" y="1797"/>
              <a:ext cx="212"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76" name="Freeform 40"/>
            <p:cNvSpPr>
              <a:spLocks/>
            </p:cNvSpPr>
            <p:nvPr/>
          </p:nvSpPr>
          <p:spPr bwMode="auto">
            <a:xfrm>
              <a:off x="364" y="1772"/>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77" name="Line 41"/>
            <p:cNvSpPr>
              <a:spLocks noChangeShapeType="1"/>
            </p:cNvSpPr>
            <p:nvPr/>
          </p:nvSpPr>
          <p:spPr bwMode="auto">
            <a:xfrm flipH="1">
              <a:off x="220" y="1750"/>
              <a:ext cx="100" cy="1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78" name="Line 42"/>
            <p:cNvSpPr>
              <a:spLocks noChangeShapeType="1"/>
            </p:cNvSpPr>
            <p:nvPr/>
          </p:nvSpPr>
          <p:spPr bwMode="auto">
            <a:xfrm flipH="1">
              <a:off x="1714" y="1750"/>
              <a:ext cx="103" cy="1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79" name="Line 43"/>
            <p:cNvSpPr>
              <a:spLocks noChangeShapeType="1"/>
            </p:cNvSpPr>
            <p:nvPr/>
          </p:nvSpPr>
          <p:spPr bwMode="auto">
            <a:xfrm>
              <a:off x="167" y="2044"/>
              <a:ext cx="212"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80" name="Freeform 44"/>
            <p:cNvSpPr>
              <a:spLocks/>
            </p:cNvSpPr>
            <p:nvPr/>
          </p:nvSpPr>
          <p:spPr bwMode="auto">
            <a:xfrm>
              <a:off x="364" y="2019"/>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81" name="Line 45"/>
            <p:cNvSpPr>
              <a:spLocks noChangeShapeType="1"/>
            </p:cNvSpPr>
            <p:nvPr/>
          </p:nvSpPr>
          <p:spPr bwMode="auto">
            <a:xfrm flipH="1">
              <a:off x="1664" y="1797"/>
              <a:ext cx="216"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82" name="Freeform 46"/>
            <p:cNvSpPr>
              <a:spLocks/>
            </p:cNvSpPr>
            <p:nvPr/>
          </p:nvSpPr>
          <p:spPr bwMode="auto">
            <a:xfrm>
              <a:off x="1583" y="1772"/>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83" name="Line 47"/>
            <p:cNvSpPr>
              <a:spLocks noChangeShapeType="1"/>
            </p:cNvSpPr>
            <p:nvPr/>
          </p:nvSpPr>
          <p:spPr bwMode="auto">
            <a:xfrm flipH="1">
              <a:off x="1664" y="2044"/>
              <a:ext cx="216"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84" name="Freeform 48"/>
            <p:cNvSpPr>
              <a:spLocks/>
            </p:cNvSpPr>
            <p:nvPr/>
          </p:nvSpPr>
          <p:spPr bwMode="auto">
            <a:xfrm>
              <a:off x="1583" y="2019"/>
              <a:ext cx="100"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85" name="Freeform 49"/>
            <p:cNvSpPr>
              <a:spLocks/>
            </p:cNvSpPr>
            <p:nvPr/>
          </p:nvSpPr>
          <p:spPr bwMode="auto">
            <a:xfrm>
              <a:off x="467" y="2191"/>
              <a:ext cx="103" cy="103"/>
            </a:xfrm>
            <a:custGeom>
              <a:avLst/>
              <a:gdLst>
                <a:gd name="T0" fmla="*/ 0 w 103"/>
                <a:gd name="T1" fmla="*/ 103 h 103"/>
                <a:gd name="T2" fmla="*/ 103 w 103"/>
                <a:gd name="T3" fmla="*/ 50 h 103"/>
                <a:gd name="T4" fmla="*/ 0 w 103"/>
                <a:gd name="T5" fmla="*/ 0 h 103"/>
              </a:gdLst>
              <a:ahLst/>
              <a:cxnLst>
                <a:cxn ang="0">
                  <a:pos x="T0" y="T1"/>
                </a:cxn>
                <a:cxn ang="0">
                  <a:pos x="T2" y="T3"/>
                </a:cxn>
                <a:cxn ang="0">
                  <a:pos x="T4" y="T5"/>
                </a:cxn>
              </a:cxnLst>
              <a:rect l="0" t="0" r="r" b="b"/>
              <a:pathLst>
                <a:path w="103" h="103">
                  <a:moveTo>
                    <a:pt x="0" y="103"/>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7586" name="Rectangle 50"/>
            <p:cNvSpPr>
              <a:spLocks noChangeArrowheads="1"/>
            </p:cNvSpPr>
            <p:nvPr/>
          </p:nvSpPr>
          <p:spPr bwMode="auto">
            <a:xfrm>
              <a:off x="227" y="1379"/>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32</a:t>
              </a:r>
              <a:endParaRPr lang="en-US" altLang="en-US" sz="2400"/>
            </a:p>
          </p:txBody>
        </p:sp>
        <p:sp>
          <p:nvSpPr>
            <p:cNvPr id="577587" name="Rectangle 51"/>
            <p:cNvSpPr>
              <a:spLocks noChangeArrowheads="1"/>
            </p:cNvSpPr>
            <p:nvPr/>
          </p:nvSpPr>
          <p:spPr bwMode="auto">
            <a:xfrm>
              <a:off x="253" y="165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4</a:t>
              </a:r>
              <a:endParaRPr lang="en-US" altLang="en-US" sz="2400"/>
            </a:p>
          </p:txBody>
        </p:sp>
        <p:sp>
          <p:nvSpPr>
            <p:cNvPr id="577588" name="Line 52"/>
            <p:cNvSpPr>
              <a:spLocks noChangeShapeType="1"/>
            </p:cNvSpPr>
            <p:nvPr/>
          </p:nvSpPr>
          <p:spPr bwMode="auto">
            <a:xfrm>
              <a:off x="1573" y="1553"/>
              <a:ext cx="216"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89" name="Freeform 53"/>
            <p:cNvSpPr>
              <a:spLocks/>
            </p:cNvSpPr>
            <p:nvPr/>
          </p:nvSpPr>
          <p:spPr bwMode="auto">
            <a:xfrm>
              <a:off x="1770" y="1528"/>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7590" name="Line 54"/>
            <p:cNvSpPr>
              <a:spLocks noChangeShapeType="1"/>
            </p:cNvSpPr>
            <p:nvPr/>
          </p:nvSpPr>
          <p:spPr bwMode="auto">
            <a:xfrm flipH="1">
              <a:off x="1627" y="1503"/>
              <a:ext cx="103" cy="1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7591" name="Rectangle 55"/>
            <p:cNvSpPr>
              <a:spLocks noChangeArrowheads="1"/>
            </p:cNvSpPr>
            <p:nvPr/>
          </p:nvSpPr>
          <p:spPr bwMode="auto">
            <a:xfrm>
              <a:off x="1636" y="1379"/>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32</a:t>
              </a:r>
              <a:endParaRPr lang="en-US" altLang="en-US" sz="2400"/>
            </a:p>
          </p:txBody>
        </p:sp>
        <p:sp>
          <p:nvSpPr>
            <p:cNvPr id="577592" name="Rectangle 56"/>
            <p:cNvSpPr>
              <a:spLocks noChangeArrowheads="1"/>
            </p:cNvSpPr>
            <p:nvPr/>
          </p:nvSpPr>
          <p:spPr bwMode="auto">
            <a:xfrm>
              <a:off x="1726" y="165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4</a:t>
              </a:r>
              <a:endParaRPr lang="en-US" altLang="en-US" sz="2400"/>
            </a:p>
          </p:txBody>
        </p:sp>
        <p:sp>
          <p:nvSpPr>
            <p:cNvPr id="577593" name="Rectangle 57"/>
            <p:cNvSpPr>
              <a:spLocks noChangeArrowheads="1"/>
            </p:cNvSpPr>
            <p:nvPr/>
          </p:nvSpPr>
          <p:spPr bwMode="auto">
            <a:xfrm>
              <a:off x="495" y="1499"/>
              <a:ext cx="32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W_data</a:t>
              </a:r>
              <a:endParaRPr lang="en-US" altLang="en-US" sz="2400"/>
            </a:p>
          </p:txBody>
        </p:sp>
        <p:sp>
          <p:nvSpPr>
            <p:cNvPr id="577594" name="Rectangle 58"/>
            <p:cNvSpPr>
              <a:spLocks noChangeArrowheads="1"/>
            </p:cNvSpPr>
            <p:nvPr/>
          </p:nvSpPr>
          <p:spPr bwMode="auto">
            <a:xfrm>
              <a:off x="495" y="1746"/>
              <a:ext cx="3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W_addr</a:t>
              </a:r>
              <a:endParaRPr lang="en-US" altLang="en-US" sz="2400"/>
            </a:p>
          </p:txBody>
        </p:sp>
        <p:sp>
          <p:nvSpPr>
            <p:cNvPr id="577595" name="Rectangle 59"/>
            <p:cNvSpPr>
              <a:spLocks noChangeArrowheads="1"/>
            </p:cNvSpPr>
            <p:nvPr/>
          </p:nvSpPr>
          <p:spPr bwMode="auto">
            <a:xfrm>
              <a:off x="495" y="1989"/>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W_en</a:t>
              </a:r>
              <a:endParaRPr lang="en-US" altLang="en-US" sz="2400"/>
            </a:p>
          </p:txBody>
        </p:sp>
        <p:sp>
          <p:nvSpPr>
            <p:cNvPr id="577596" name="Rectangle 60"/>
            <p:cNvSpPr>
              <a:spLocks noChangeArrowheads="1"/>
            </p:cNvSpPr>
            <p:nvPr/>
          </p:nvSpPr>
          <p:spPr bwMode="auto">
            <a:xfrm>
              <a:off x="1201" y="1499"/>
              <a:ext cx="29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R_data</a:t>
              </a:r>
              <a:endParaRPr lang="en-US" altLang="en-US" sz="2400"/>
            </a:p>
          </p:txBody>
        </p:sp>
        <p:sp>
          <p:nvSpPr>
            <p:cNvPr id="577597" name="Rectangle 61"/>
            <p:cNvSpPr>
              <a:spLocks noChangeArrowheads="1"/>
            </p:cNvSpPr>
            <p:nvPr/>
          </p:nvSpPr>
          <p:spPr bwMode="auto">
            <a:xfrm>
              <a:off x="1219" y="1746"/>
              <a:ext cx="30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R_addr</a:t>
              </a:r>
              <a:endParaRPr lang="en-US" altLang="en-US" sz="2400"/>
            </a:p>
          </p:txBody>
        </p:sp>
        <p:sp>
          <p:nvSpPr>
            <p:cNvPr id="577598" name="Rectangle 62"/>
            <p:cNvSpPr>
              <a:spLocks noChangeArrowheads="1"/>
            </p:cNvSpPr>
            <p:nvPr/>
          </p:nvSpPr>
          <p:spPr bwMode="auto">
            <a:xfrm>
              <a:off x="1313" y="1989"/>
              <a:ext cx="21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R_en</a:t>
              </a:r>
              <a:endParaRPr lang="en-US" altLang="en-US" sz="2400"/>
            </a:p>
          </p:txBody>
        </p:sp>
        <p:sp>
          <p:nvSpPr>
            <p:cNvPr id="577599" name="Rectangle 63"/>
            <p:cNvSpPr>
              <a:spLocks noChangeArrowheads="1"/>
            </p:cNvSpPr>
            <p:nvPr/>
          </p:nvSpPr>
          <p:spPr bwMode="auto">
            <a:xfrm>
              <a:off x="467" y="1384"/>
              <a:ext cx="1106" cy="97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7600" name="Rectangle 64"/>
            <p:cNvSpPr>
              <a:spLocks noChangeArrowheads="1"/>
            </p:cNvSpPr>
            <p:nvPr/>
          </p:nvSpPr>
          <p:spPr bwMode="auto">
            <a:xfrm>
              <a:off x="890" y="2108"/>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577601" name="Rectangle 65"/>
            <p:cNvSpPr>
              <a:spLocks noChangeArrowheads="1"/>
            </p:cNvSpPr>
            <p:nvPr/>
          </p:nvSpPr>
          <p:spPr bwMode="auto">
            <a:xfrm>
              <a:off x="993" y="2098"/>
              <a:ext cx="5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rPr>
                <a:t>×</a:t>
              </a:r>
              <a:endParaRPr lang="en-US" altLang="en-US" sz="2400"/>
            </a:p>
          </p:txBody>
        </p:sp>
        <p:sp>
          <p:nvSpPr>
            <p:cNvPr id="577602" name="Rectangle 66"/>
            <p:cNvSpPr>
              <a:spLocks noChangeArrowheads="1"/>
            </p:cNvSpPr>
            <p:nvPr/>
          </p:nvSpPr>
          <p:spPr bwMode="auto">
            <a:xfrm>
              <a:off x="1048" y="2108"/>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32</a:t>
              </a:r>
              <a:endParaRPr lang="en-US" altLang="en-US" sz="2400"/>
            </a:p>
          </p:txBody>
        </p:sp>
        <p:sp>
          <p:nvSpPr>
            <p:cNvPr id="577603" name="Rectangle 67"/>
            <p:cNvSpPr>
              <a:spLocks noChangeArrowheads="1"/>
            </p:cNvSpPr>
            <p:nvPr/>
          </p:nvSpPr>
          <p:spPr bwMode="auto">
            <a:xfrm>
              <a:off x="789" y="2219"/>
              <a:ext cx="4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register file</a:t>
              </a:r>
              <a:endParaRPr lang="en-US" altLang="en-US" sz="2400"/>
            </a:p>
          </p:txBody>
        </p:sp>
      </p:grpSp>
      <p:sp>
        <p:nvSpPr>
          <p:cNvPr id="577604" name="Text Box 68"/>
          <p:cNvSpPr txBox="1">
            <a:spLocks noChangeArrowheads="1"/>
          </p:cNvSpPr>
          <p:nvPr/>
        </p:nvSpPr>
        <p:spPr bwMode="auto">
          <a:xfrm>
            <a:off x="6465888" y="2897188"/>
            <a:ext cx="22844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Register file from Chpt. 4</a:t>
            </a:r>
          </a:p>
        </p:txBody>
      </p:sp>
      <p:sp>
        <p:nvSpPr>
          <p:cNvPr id="577605" name="Text Box 69"/>
          <p:cNvSpPr txBox="1">
            <a:spLocks noChangeArrowheads="1"/>
          </p:cNvSpPr>
          <p:nvPr/>
        </p:nvSpPr>
        <p:spPr bwMode="auto">
          <a:xfrm>
            <a:off x="6923088" y="5580063"/>
            <a:ext cx="18002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RAM block symbol</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Slide Number Placeholder 3"/>
          <p:cNvSpPr>
            <a:spLocks noGrp="1"/>
          </p:cNvSpPr>
          <p:nvPr>
            <p:ph type="sldNum" sz="quarter" idx="10"/>
          </p:nvPr>
        </p:nvSpPr>
        <p:spPr/>
        <p:txBody>
          <a:bodyPr/>
          <a:lstStyle/>
          <a:p>
            <a:fld id="{6583A298-DF75-4465-B97E-2C60EBE719E3}" type="slidenum">
              <a:rPr lang="en-US" altLang="en-US"/>
              <a:pPr/>
              <a:t>63</a:t>
            </a:fld>
            <a:endParaRPr lang="en-US" altLang="en-US"/>
          </a:p>
        </p:txBody>
      </p:sp>
      <p:sp>
        <p:nvSpPr>
          <p:cNvPr id="578562" name="Rectangle 2"/>
          <p:cNvSpPr>
            <a:spLocks noGrp="1" noChangeArrowheads="1"/>
          </p:cNvSpPr>
          <p:nvPr>
            <p:ph type="title"/>
          </p:nvPr>
        </p:nvSpPr>
        <p:spPr/>
        <p:txBody>
          <a:bodyPr/>
          <a:lstStyle/>
          <a:p>
            <a:r>
              <a:rPr lang="en-US" altLang="en-US"/>
              <a:t>RAM Internal Structure</a:t>
            </a:r>
          </a:p>
        </p:txBody>
      </p:sp>
      <p:sp>
        <p:nvSpPr>
          <p:cNvPr id="578563" name="Rectangle 3"/>
          <p:cNvSpPr>
            <a:spLocks noGrp="1" noChangeArrowheads="1"/>
          </p:cNvSpPr>
          <p:nvPr>
            <p:ph type="body" idx="1"/>
          </p:nvPr>
        </p:nvSpPr>
        <p:spPr>
          <a:xfrm>
            <a:off x="2033588" y="4948238"/>
            <a:ext cx="6721475" cy="1147762"/>
          </a:xfrm>
        </p:spPr>
        <p:txBody>
          <a:bodyPr/>
          <a:lstStyle/>
          <a:p>
            <a:pPr>
              <a:lnSpc>
                <a:spcPct val="90000"/>
              </a:lnSpc>
            </a:pPr>
            <a:r>
              <a:rPr lang="en-US" altLang="en-US" sz="2000"/>
              <a:t>Similar internal structure as register file</a:t>
            </a:r>
          </a:p>
          <a:p>
            <a:pPr lvl="1">
              <a:lnSpc>
                <a:spcPct val="90000"/>
              </a:lnSpc>
            </a:pPr>
            <a:r>
              <a:rPr lang="en-US" altLang="en-US" sz="1800"/>
              <a:t>Decoder enables appropriate word based on address inputs</a:t>
            </a:r>
          </a:p>
          <a:p>
            <a:pPr lvl="1">
              <a:lnSpc>
                <a:spcPct val="90000"/>
              </a:lnSpc>
            </a:pPr>
            <a:r>
              <a:rPr lang="en-US" altLang="en-US" sz="1800"/>
              <a:t>rw controls whether cell is written or read</a:t>
            </a:r>
          </a:p>
          <a:p>
            <a:pPr lvl="1">
              <a:lnSpc>
                <a:spcPct val="90000"/>
              </a:lnSpc>
            </a:pPr>
            <a:r>
              <a:rPr lang="en-US" altLang="en-US" sz="1800"/>
              <a:t>Let’s see what’s inside each RAM cell</a:t>
            </a:r>
          </a:p>
          <a:p>
            <a:pPr lvl="1">
              <a:lnSpc>
                <a:spcPct val="90000"/>
              </a:lnSpc>
            </a:pPr>
            <a:endParaRPr lang="en-US" altLang="en-US" sz="1800"/>
          </a:p>
        </p:txBody>
      </p:sp>
      <p:grpSp>
        <p:nvGrpSpPr>
          <p:cNvPr id="579243" name="Group 683"/>
          <p:cNvGrpSpPr>
            <a:grpSpLocks/>
          </p:cNvGrpSpPr>
          <p:nvPr/>
        </p:nvGrpSpPr>
        <p:grpSpPr bwMode="auto">
          <a:xfrm>
            <a:off x="168275" y="1281113"/>
            <a:ext cx="1673225" cy="1160462"/>
            <a:chOff x="106" y="807"/>
            <a:chExt cx="1054" cy="731"/>
          </a:xfrm>
        </p:grpSpPr>
        <p:sp>
          <p:nvSpPr>
            <p:cNvPr id="578564" name="Rectangle 4"/>
            <p:cNvSpPr>
              <a:spLocks noChangeArrowheads="1"/>
            </p:cNvSpPr>
            <p:nvPr/>
          </p:nvSpPr>
          <p:spPr bwMode="auto">
            <a:xfrm>
              <a:off x="390" y="807"/>
              <a:ext cx="770" cy="73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8565" name="Line 5"/>
            <p:cNvSpPr>
              <a:spLocks noChangeShapeType="1"/>
            </p:cNvSpPr>
            <p:nvPr/>
          </p:nvSpPr>
          <p:spPr bwMode="auto">
            <a:xfrm flipH="1">
              <a:off x="169" y="915"/>
              <a:ext cx="8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8566" name="Freeform 6"/>
            <p:cNvSpPr>
              <a:spLocks/>
            </p:cNvSpPr>
            <p:nvPr/>
          </p:nvSpPr>
          <p:spPr bwMode="auto">
            <a:xfrm>
              <a:off x="106" y="898"/>
              <a:ext cx="72" cy="34"/>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8567" name="Line 7"/>
            <p:cNvSpPr>
              <a:spLocks noChangeShapeType="1"/>
            </p:cNvSpPr>
            <p:nvPr/>
          </p:nvSpPr>
          <p:spPr bwMode="auto">
            <a:xfrm>
              <a:off x="250" y="915"/>
              <a:ext cx="8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8568" name="Freeform 8"/>
            <p:cNvSpPr>
              <a:spLocks/>
            </p:cNvSpPr>
            <p:nvPr/>
          </p:nvSpPr>
          <p:spPr bwMode="auto">
            <a:xfrm>
              <a:off x="318" y="898"/>
              <a:ext cx="72"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8569" name="Line 9"/>
            <p:cNvSpPr>
              <a:spLocks noChangeShapeType="1"/>
            </p:cNvSpPr>
            <p:nvPr/>
          </p:nvSpPr>
          <p:spPr bwMode="auto">
            <a:xfrm>
              <a:off x="128" y="1056"/>
              <a:ext cx="203"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8570" name="Freeform 10"/>
            <p:cNvSpPr>
              <a:spLocks/>
            </p:cNvSpPr>
            <p:nvPr/>
          </p:nvSpPr>
          <p:spPr bwMode="auto">
            <a:xfrm>
              <a:off x="318" y="1041"/>
              <a:ext cx="72"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8571" name="Line 11"/>
            <p:cNvSpPr>
              <a:spLocks noChangeShapeType="1"/>
            </p:cNvSpPr>
            <p:nvPr/>
          </p:nvSpPr>
          <p:spPr bwMode="auto">
            <a:xfrm>
              <a:off x="128" y="1198"/>
              <a:ext cx="20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8572" name="Freeform 12"/>
            <p:cNvSpPr>
              <a:spLocks/>
            </p:cNvSpPr>
            <p:nvPr/>
          </p:nvSpPr>
          <p:spPr bwMode="auto">
            <a:xfrm>
              <a:off x="318" y="1181"/>
              <a:ext cx="72" cy="3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8573" name="Line 13"/>
            <p:cNvSpPr>
              <a:spLocks noChangeShapeType="1"/>
            </p:cNvSpPr>
            <p:nvPr/>
          </p:nvSpPr>
          <p:spPr bwMode="auto">
            <a:xfrm>
              <a:off x="128" y="1341"/>
              <a:ext cx="20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8574" name="Freeform 14"/>
            <p:cNvSpPr>
              <a:spLocks/>
            </p:cNvSpPr>
            <p:nvPr/>
          </p:nvSpPr>
          <p:spPr bwMode="auto">
            <a:xfrm>
              <a:off x="318" y="1324"/>
              <a:ext cx="72" cy="35"/>
            </a:xfrm>
            <a:custGeom>
              <a:avLst/>
              <a:gdLst>
                <a:gd name="T0" fmla="*/ 100 w 100"/>
                <a:gd name="T1" fmla="*/ 25 h 51"/>
                <a:gd name="T2" fmla="*/ 0 w 100"/>
                <a:gd name="T3" fmla="*/ 0 h 51"/>
                <a:gd name="T4" fmla="*/ 0 w 100"/>
                <a:gd name="T5" fmla="*/ 51 h 51"/>
                <a:gd name="T6" fmla="*/ 100 w 100"/>
                <a:gd name="T7" fmla="*/ 25 h 51"/>
              </a:gdLst>
              <a:ahLst/>
              <a:cxnLst>
                <a:cxn ang="0">
                  <a:pos x="T0" y="T1"/>
                </a:cxn>
                <a:cxn ang="0">
                  <a:pos x="T2" y="T3"/>
                </a:cxn>
                <a:cxn ang="0">
                  <a:pos x="T4" y="T5"/>
                </a:cxn>
                <a:cxn ang="0">
                  <a:pos x="T6" y="T7"/>
                </a:cxn>
              </a:cxnLst>
              <a:rect l="0" t="0" r="r" b="b"/>
              <a:pathLst>
                <a:path w="100" h="51">
                  <a:moveTo>
                    <a:pt x="100" y="25"/>
                  </a:moveTo>
                  <a:lnTo>
                    <a:pt x="0" y="0"/>
                  </a:lnTo>
                  <a:lnTo>
                    <a:pt x="0" y="51"/>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8575" name="Freeform 15"/>
            <p:cNvSpPr>
              <a:spLocks/>
            </p:cNvSpPr>
            <p:nvPr/>
          </p:nvSpPr>
          <p:spPr bwMode="auto">
            <a:xfrm>
              <a:off x="390" y="1428"/>
              <a:ext cx="74" cy="73"/>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8576" name="Freeform 16"/>
            <p:cNvSpPr>
              <a:spLocks/>
            </p:cNvSpPr>
            <p:nvPr/>
          </p:nvSpPr>
          <p:spPr bwMode="auto">
            <a:xfrm>
              <a:off x="223" y="887"/>
              <a:ext cx="61" cy="56"/>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8577" name="Line 17"/>
            <p:cNvSpPr>
              <a:spLocks noChangeShapeType="1"/>
            </p:cNvSpPr>
            <p:nvPr/>
          </p:nvSpPr>
          <p:spPr bwMode="auto">
            <a:xfrm flipH="1">
              <a:off x="223" y="887"/>
              <a:ext cx="61" cy="56"/>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8578" name="Freeform 18"/>
            <p:cNvSpPr>
              <a:spLocks/>
            </p:cNvSpPr>
            <p:nvPr/>
          </p:nvSpPr>
          <p:spPr bwMode="auto">
            <a:xfrm>
              <a:off x="223" y="1026"/>
              <a:ext cx="61" cy="58"/>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8579" name="Line 19"/>
            <p:cNvSpPr>
              <a:spLocks noChangeShapeType="1"/>
            </p:cNvSpPr>
            <p:nvPr/>
          </p:nvSpPr>
          <p:spPr bwMode="auto">
            <a:xfrm flipH="1">
              <a:off x="223" y="1026"/>
              <a:ext cx="61" cy="5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8580" name="Rectangle 20"/>
            <p:cNvSpPr>
              <a:spLocks noChangeArrowheads="1"/>
            </p:cNvSpPr>
            <p:nvPr/>
          </p:nvSpPr>
          <p:spPr bwMode="auto">
            <a:xfrm>
              <a:off x="224" y="808"/>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32</a:t>
              </a:r>
              <a:endParaRPr lang="en-US" altLang="en-US" sz="1800"/>
            </a:p>
          </p:txBody>
        </p:sp>
        <p:sp>
          <p:nvSpPr>
            <p:cNvPr id="578581" name="Rectangle 21"/>
            <p:cNvSpPr>
              <a:spLocks noChangeArrowheads="1"/>
            </p:cNvSpPr>
            <p:nvPr/>
          </p:nvSpPr>
          <p:spPr bwMode="auto">
            <a:xfrm>
              <a:off x="224" y="947"/>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a:t>
              </a:r>
              <a:endParaRPr lang="en-US" altLang="en-US" sz="1800"/>
            </a:p>
          </p:txBody>
        </p:sp>
        <p:sp>
          <p:nvSpPr>
            <p:cNvPr id="578582" name="Rectangle 22"/>
            <p:cNvSpPr>
              <a:spLocks noChangeArrowheads="1"/>
            </p:cNvSpPr>
            <p:nvPr/>
          </p:nvSpPr>
          <p:spPr bwMode="auto">
            <a:xfrm>
              <a:off x="414" y="873"/>
              <a:ext cx="15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data</a:t>
              </a:r>
              <a:endParaRPr lang="en-US" altLang="en-US" sz="1800"/>
            </a:p>
          </p:txBody>
        </p:sp>
        <p:sp>
          <p:nvSpPr>
            <p:cNvPr id="578585" name="Rectangle 25"/>
            <p:cNvSpPr>
              <a:spLocks noChangeArrowheads="1"/>
            </p:cNvSpPr>
            <p:nvPr/>
          </p:nvSpPr>
          <p:spPr bwMode="auto">
            <a:xfrm>
              <a:off x="414" y="1014"/>
              <a:ext cx="15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addr</a:t>
              </a:r>
              <a:endParaRPr lang="en-US" altLang="en-US" sz="1800"/>
            </a:p>
          </p:txBody>
        </p:sp>
        <p:sp>
          <p:nvSpPr>
            <p:cNvPr id="578586" name="Rectangle 26"/>
            <p:cNvSpPr>
              <a:spLocks noChangeArrowheads="1"/>
            </p:cNvSpPr>
            <p:nvPr/>
          </p:nvSpPr>
          <p:spPr bwMode="auto">
            <a:xfrm>
              <a:off x="414" y="1155"/>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578587" name="Rectangle 27"/>
            <p:cNvSpPr>
              <a:spLocks noChangeArrowheads="1"/>
            </p:cNvSpPr>
            <p:nvPr/>
          </p:nvSpPr>
          <p:spPr bwMode="auto">
            <a:xfrm>
              <a:off x="439" y="1155"/>
              <a:ext cx="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w</a:t>
              </a:r>
              <a:endParaRPr lang="en-US" altLang="en-US" sz="1800"/>
            </a:p>
          </p:txBody>
        </p:sp>
        <p:sp>
          <p:nvSpPr>
            <p:cNvPr id="578588" name="Rectangle 28"/>
            <p:cNvSpPr>
              <a:spLocks noChangeArrowheads="1"/>
            </p:cNvSpPr>
            <p:nvPr/>
          </p:nvSpPr>
          <p:spPr bwMode="auto">
            <a:xfrm>
              <a:off x="414" y="1299"/>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en</a:t>
              </a:r>
              <a:endParaRPr lang="en-US" altLang="en-US" sz="1800"/>
            </a:p>
          </p:txBody>
        </p:sp>
        <p:sp>
          <p:nvSpPr>
            <p:cNvPr id="578589" name="Rectangle 29"/>
            <p:cNvSpPr>
              <a:spLocks noChangeArrowheads="1"/>
            </p:cNvSpPr>
            <p:nvPr/>
          </p:nvSpPr>
          <p:spPr bwMode="auto">
            <a:xfrm>
              <a:off x="628" y="1097"/>
              <a:ext cx="30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1024x32</a:t>
              </a:r>
              <a:endParaRPr lang="en-US" altLang="en-US" sz="1800"/>
            </a:p>
          </p:txBody>
        </p:sp>
        <p:sp>
          <p:nvSpPr>
            <p:cNvPr id="578592" name="Rectangle 32"/>
            <p:cNvSpPr>
              <a:spLocks noChangeArrowheads="1"/>
            </p:cNvSpPr>
            <p:nvPr/>
          </p:nvSpPr>
          <p:spPr bwMode="auto">
            <a:xfrm>
              <a:off x="705" y="1174"/>
              <a:ext cx="17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RAM</a:t>
              </a:r>
              <a:endParaRPr lang="en-US" altLang="en-US" sz="1800"/>
            </a:p>
          </p:txBody>
        </p:sp>
      </p:grpSp>
      <p:sp>
        <p:nvSpPr>
          <p:cNvPr id="578669" name="Line 109"/>
          <p:cNvSpPr>
            <a:spLocks noChangeShapeType="1"/>
          </p:cNvSpPr>
          <p:nvPr/>
        </p:nvSpPr>
        <p:spPr bwMode="auto">
          <a:xfrm>
            <a:off x="1443038" y="1552575"/>
            <a:ext cx="1168400" cy="6127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9038" name="Rectangle 478"/>
          <p:cNvSpPr>
            <a:spLocks noChangeArrowheads="1"/>
          </p:cNvSpPr>
          <p:nvPr/>
        </p:nvSpPr>
        <p:spPr bwMode="auto">
          <a:xfrm>
            <a:off x="2705100" y="1846263"/>
            <a:ext cx="3959225" cy="240030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041" name="Line 481"/>
          <p:cNvSpPr>
            <a:spLocks noChangeShapeType="1"/>
          </p:cNvSpPr>
          <p:nvPr/>
        </p:nvSpPr>
        <p:spPr bwMode="auto">
          <a:xfrm>
            <a:off x="4865688" y="1674813"/>
            <a:ext cx="1587" cy="1873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47" name="Line 487"/>
          <p:cNvSpPr>
            <a:spLocks noChangeShapeType="1"/>
          </p:cNvSpPr>
          <p:nvPr/>
        </p:nvSpPr>
        <p:spPr bwMode="auto">
          <a:xfrm>
            <a:off x="2566988" y="2571750"/>
            <a:ext cx="24447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48" name="Freeform 488"/>
          <p:cNvSpPr>
            <a:spLocks/>
          </p:cNvSpPr>
          <p:nvPr/>
        </p:nvSpPr>
        <p:spPr bwMode="auto">
          <a:xfrm>
            <a:off x="2779713" y="2528888"/>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49" name="Line 489"/>
          <p:cNvSpPr>
            <a:spLocks noChangeShapeType="1"/>
          </p:cNvSpPr>
          <p:nvPr/>
        </p:nvSpPr>
        <p:spPr bwMode="auto">
          <a:xfrm>
            <a:off x="2566988" y="2747963"/>
            <a:ext cx="244475"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50" name="Freeform 490"/>
          <p:cNvSpPr>
            <a:spLocks/>
          </p:cNvSpPr>
          <p:nvPr/>
        </p:nvSpPr>
        <p:spPr bwMode="auto">
          <a:xfrm>
            <a:off x="2779713" y="2705100"/>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51" name="Line 491"/>
          <p:cNvSpPr>
            <a:spLocks noChangeShapeType="1"/>
          </p:cNvSpPr>
          <p:nvPr/>
        </p:nvSpPr>
        <p:spPr bwMode="auto">
          <a:xfrm>
            <a:off x="2566988" y="3216275"/>
            <a:ext cx="24447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52" name="Freeform 492"/>
          <p:cNvSpPr>
            <a:spLocks/>
          </p:cNvSpPr>
          <p:nvPr/>
        </p:nvSpPr>
        <p:spPr bwMode="auto">
          <a:xfrm>
            <a:off x="2779713" y="3175000"/>
            <a:ext cx="171450" cy="84138"/>
          </a:xfrm>
          <a:custGeom>
            <a:avLst/>
            <a:gdLst>
              <a:gd name="T0" fmla="*/ 108 w 108"/>
              <a:gd name="T1" fmla="*/ 26 h 53"/>
              <a:gd name="T2" fmla="*/ 0 w 108"/>
              <a:gd name="T3" fmla="*/ 0 h 53"/>
              <a:gd name="T4" fmla="*/ 0 w 108"/>
              <a:gd name="T5" fmla="*/ 53 h 53"/>
              <a:gd name="T6" fmla="*/ 108 w 108"/>
              <a:gd name="T7" fmla="*/ 26 h 53"/>
            </a:gdLst>
            <a:ahLst/>
            <a:cxnLst>
              <a:cxn ang="0">
                <a:pos x="T0" y="T1"/>
              </a:cxn>
              <a:cxn ang="0">
                <a:pos x="T2" y="T3"/>
              </a:cxn>
              <a:cxn ang="0">
                <a:pos x="T4" y="T5"/>
              </a:cxn>
              <a:cxn ang="0">
                <a:pos x="T6" y="T7"/>
              </a:cxn>
            </a:cxnLst>
            <a:rect l="0" t="0" r="r" b="b"/>
            <a:pathLst>
              <a:path w="108" h="53">
                <a:moveTo>
                  <a:pt x="108" y="26"/>
                </a:moveTo>
                <a:lnTo>
                  <a:pt x="0" y="0"/>
                </a:lnTo>
                <a:lnTo>
                  <a:pt x="0" y="53"/>
                </a:lnTo>
                <a:lnTo>
                  <a:pt x="108"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53" name="Line 493"/>
          <p:cNvSpPr>
            <a:spLocks noChangeShapeType="1"/>
          </p:cNvSpPr>
          <p:nvPr/>
        </p:nvSpPr>
        <p:spPr bwMode="auto">
          <a:xfrm>
            <a:off x="2576513" y="4140200"/>
            <a:ext cx="533400"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54" name="Freeform 494"/>
          <p:cNvSpPr>
            <a:spLocks/>
          </p:cNvSpPr>
          <p:nvPr/>
        </p:nvSpPr>
        <p:spPr bwMode="auto">
          <a:xfrm>
            <a:off x="3078163" y="4097338"/>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55" name="Freeform 495"/>
          <p:cNvSpPr>
            <a:spLocks/>
          </p:cNvSpPr>
          <p:nvPr/>
        </p:nvSpPr>
        <p:spPr bwMode="auto">
          <a:xfrm>
            <a:off x="2582863" y="3910013"/>
            <a:ext cx="644525" cy="101600"/>
          </a:xfrm>
          <a:custGeom>
            <a:avLst/>
            <a:gdLst>
              <a:gd name="T0" fmla="*/ 406 w 406"/>
              <a:gd name="T1" fmla="*/ 0 h 64"/>
              <a:gd name="T2" fmla="*/ 406 w 406"/>
              <a:gd name="T3" fmla="*/ 64 h 64"/>
              <a:gd name="T4" fmla="*/ 0 w 406"/>
              <a:gd name="T5" fmla="*/ 64 h 64"/>
            </a:gdLst>
            <a:ahLst/>
            <a:cxnLst>
              <a:cxn ang="0">
                <a:pos x="T0" y="T1"/>
              </a:cxn>
              <a:cxn ang="0">
                <a:pos x="T2" y="T3"/>
              </a:cxn>
              <a:cxn ang="0">
                <a:pos x="T4" y="T5"/>
              </a:cxn>
            </a:cxnLst>
            <a:rect l="0" t="0" r="r" b="b"/>
            <a:pathLst>
              <a:path w="406" h="64">
                <a:moveTo>
                  <a:pt x="406" y="0"/>
                </a:moveTo>
                <a:lnTo>
                  <a:pt x="406" y="64"/>
                </a:lnTo>
                <a:lnTo>
                  <a:pt x="0" y="64"/>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056" name="Freeform 496"/>
          <p:cNvSpPr>
            <a:spLocks/>
          </p:cNvSpPr>
          <p:nvPr/>
        </p:nvSpPr>
        <p:spPr bwMode="auto">
          <a:xfrm>
            <a:off x="3184525" y="3771900"/>
            <a:ext cx="85725" cy="169863"/>
          </a:xfrm>
          <a:custGeom>
            <a:avLst/>
            <a:gdLst>
              <a:gd name="T0" fmla="*/ 27 w 54"/>
              <a:gd name="T1" fmla="*/ 0 h 107"/>
              <a:gd name="T2" fmla="*/ 0 w 54"/>
              <a:gd name="T3" fmla="*/ 107 h 107"/>
              <a:gd name="T4" fmla="*/ 54 w 54"/>
              <a:gd name="T5" fmla="*/ 107 h 107"/>
              <a:gd name="T6" fmla="*/ 27 w 54"/>
              <a:gd name="T7" fmla="*/ 0 h 107"/>
            </a:gdLst>
            <a:ahLst/>
            <a:cxnLst>
              <a:cxn ang="0">
                <a:pos x="T0" y="T1"/>
              </a:cxn>
              <a:cxn ang="0">
                <a:pos x="T2" y="T3"/>
              </a:cxn>
              <a:cxn ang="0">
                <a:pos x="T4" y="T5"/>
              </a:cxn>
              <a:cxn ang="0">
                <a:pos x="T6" y="T7"/>
              </a:cxn>
            </a:cxnLst>
            <a:rect l="0" t="0" r="r" b="b"/>
            <a:pathLst>
              <a:path w="54" h="107">
                <a:moveTo>
                  <a:pt x="27" y="0"/>
                </a:moveTo>
                <a:lnTo>
                  <a:pt x="0" y="107"/>
                </a:lnTo>
                <a:lnTo>
                  <a:pt x="54" y="107"/>
                </a:lnTo>
                <a:lnTo>
                  <a:pt x="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57" name="Line 497"/>
          <p:cNvSpPr>
            <a:spLocks noChangeShapeType="1"/>
          </p:cNvSpPr>
          <p:nvPr/>
        </p:nvSpPr>
        <p:spPr bwMode="auto">
          <a:xfrm>
            <a:off x="2374900" y="3771900"/>
            <a:ext cx="185738"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58" name="Freeform 498"/>
          <p:cNvSpPr>
            <a:spLocks/>
          </p:cNvSpPr>
          <p:nvPr/>
        </p:nvSpPr>
        <p:spPr bwMode="auto">
          <a:xfrm>
            <a:off x="2533650" y="3729038"/>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59" name="Freeform 499"/>
          <p:cNvSpPr>
            <a:spLocks/>
          </p:cNvSpPr>
          <p:nvPr/>
        </p:nvSpPr>
        <p:spPr bwMode="auto">
          <a:xfrm>
            <a:off x="2700338" y="3686175"/>
            <a:ext cx="176212" cy="176213"/>
          </a:xfrm>
          <a:custGeom>
            <a:avLst/>
            <a:gdLst>
              <a:gd name="T0" fmla="*/ 0 w 111"/>
              <a:gd name="T1" fmla="*/ 111 h 111"/>
              <a:gd name="T2" fmla="*/ 111 w 111"/>
              <a:gd name="T3" fmla="*/ 54 h 111"/>
              <a:gd name="T4" fmla="*/ 0 w 111"/>
              <a:gd name="T5" fmla="*/ 0 h 111"/>
            </a:gdLst>
            <a:ahLst/>
            <a:cxnLst>
              <a:cxn ang="0">
                <a:pos x="T0" y="T1"/>
              </a:cxn>
              <a:cxn ang="0">
                <a:pos x="T2" y="T3"/>
              </a:cxn>
              <a:cxn ang="0">
                <a:pos x="T4" y="T5"/>
              </a:cxn>
            </a:cxnLst>
            <a:rect l="0" t="0" r="r" b="b"/>
            <a:pathLst>
              <a:path w="111" h="111">
                <a:moveTo>
                  <a:pt x="0" y="111"/>
                </a:moveTo>
                <a:lnTo>
                  <a:pt x="111" y="54"/>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069" name="Oval 509"/>
          <p:cNvSpPr>
            <a:spLocks noChangeArrowheads="1"/>
          </p:cNvSpPr>
          <p:nvPr/>
        </p:nvSpPr>
        <p:spPr bwMode="auto">
          <a:xfrm>
            <a:off x="2849563" y="2955925"/>
            <a:ext cx="36512" cy="42863"/>
          </a:xfrm>
          <a:prstGeom prst="ellipse">
            <a:avLst/>
          </a:prstGeom>
          <a:solidFill>
            <a:srgbClr val="000000"/>
          </a:solidFill>
          <a:ln w="15875">
            <a:solidFill>
              <a:srgbClr val="000000"/>
            </a:solidFill>
            <a:miter lim="800000"/>
            <a:headEnd/>
            <a:tailEnd/>
          </a:ln>
        </p:spPr>
        <p:txBody>
          <a:bodyPr/>
          <a:lstStyle/>
          <a:p>
            <a:endParaRPr lang="en-US"/>
          </a:p>
        </p:txBody>
      </p:sp>
      <p:sp>
        <p:nvSpPr>
          <p:cNvPr id="579075" name="Line 515"/>
          <p:cNvSpPr>
            <a:spLocks noChangeShapeType="1"/>
          </p:cNvSpPr>
          <p:nvPr/>
        </p:nvSpPr>
        <p:spPr bwMode="auto">
          <a:xfrm>
            <a:off x="4865688" y="3686175"/>
            <a:ext cx="1587" cy="6889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76" name="Freeform 516"/>
          <p:cNvSpPr>
            <a:spLocks/>
          </p:cNvSpPr>
          <p:nvPr/>
        </p:nvSpPr>
        <p:spPr bwMode="auto">
          <a:xfrm>
            <a:off x="4822825" y="4310063"/>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83" name="Line 523"/>
          <p:cNvSpPr>
            <a:spLocks noChangeShapeType="1"/>
          </p:cNvSpPr>
          <p:nvPr/>
        </p:nvSpPr>
        <p:spPr bwMode="auto">
          <a:xfrm>
            <a:off x="5468938" y="1674813"/>
            <a:ext cx="1587" cy="1873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90" name="Line 530"/>
          <p:cNvSpPr>
            <a:spLocks noChangeShapeType="1"/>
          </p:cNvSpPr>
          <p:nvPr/>
        </p:nvSpPr>
        <p:spPr bwMode="auto">
          <a:xfrm>
            <a:off x="5468938" y="3686175"/>
            <a:ext cx="1587" cy="6889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91" name="Freeform 531"/>
          <p:cNvSpPr>
            <a:spLocks/>
          </p:cNvSpPr>
          <p:nvPr/>
        </p:nvSpPr>
        <p:spPr bwMode="auto">
          <a:xfrm>
            <a:off x="5426075" y="4310063"/>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05" name="Line 545"/>
          <p:cNvSpPr>
            <a:spLocks noChangeShapeType="1"/>
          </p:cNvSpPr>
          <p:nvPr/>
        </p:nvSpPr>
        <p:spPr bwMode="auto">
          <a:xfrm>
            <a:off x="6242050" y="3686175"/>
            <a:ext cx="1588" cy="6889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106" name="Freeform 546"/>
          <p:cNvSpPr>
            <a:spLocks/>
          </p:cNvSpPr>
          <p:nvPr/>
        </p:nvSpPr>
        <p:spPr bwMode="auto">
          <a:xfrm>
            <a:off x="6199188" y="4310063"/>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11" name="Rectangle 551"/>
          <p:cNvSpPr>
            <a:spLocks noChangeArrowheads="1"/>
          </p:cNvSpPr>
          <p:nvPr/>
        </p:nvSpPr>
        <p:spPr bwMode="auto">
          <a:xfrm>
            <a:off x="2125663" y="2476500"/>
            <a:ext cx="4238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addr0</a:t>
            </a:r>
            <a:endParaRPr lang="en-US" altLang="en-US"/>
          </a:p>
        </p:txBody>
      </p:sp>
      <p:sp>
        <p:nvSpPr>
          <p:cNvPr id="579112" name="Rectangle 552"/>
          <p:cNvSpPr>
            <a:spLocks noChangeArrowheads="1"/>
          </p:cNvSpPr>
          <p:nvPr/>
        </p:nvSpPr>
        <p:spPr bwMode="auto">
          <a:xfrm>
            <a:off x="2125663" y="2651125"/>
            <a:ext cx="4238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addr1</a:t>
            </a:r>
            <a:endParaRPr lang="en-US" altLang="en-US"/>
          </a:p>
        </p:txBody>
      </p:sp>
      <p:sp>
        <p:nvSpPr>
          <p:cNvPr id="579113" name="Rectangle 553"/>
          <p:cNvSpPr>
            <a:spLocks noChangeArrowheads="1"/>
          </p:cNvSpPr>
          <p:nvPr/>
        </p:nvSpPr>
        <p:spPr bwMode="auto">
          <a:xfrm>
            <a:off x="1778000" y="3098800"/>
            <a:ext cx="7477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addr(A-1)</a:t>
            </a:r>
            <a:endParaRPr lang="en-US" altLang="en-US"/>
          </a:p>
        </p:txBody>
      </p:sp>
      <p:sp>
        <p:nvSpPr>
          <p:cNvPr id="579117" name="Rectangle 557"/>
          <p:cNvSpPr>
            <a:spLocks noChangeArrowheads="1"/>
          </p:cNvSpPr>
          <p:nvPr/>
        </p:nvSpPr>
        <p:spPr bwMode="auto">
          <a:xfrm>
            <a:off x="2151063" y="3660775"/>
            <a:ext cx="2016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clk</a:t>
            </a:r>
            <a:endParaRPr lang="en-US" altLang="en-US"/>
          </a:p>
        </p:txBody>
      </p:sp>
      <p:sp>
        <p:nvSpPr>
          <p:cNvPr id="579118" name="Rectangle 558"/>
          <p:cNvSpPr>
            <a:spLocks noChangeArrowheads="1"/>
          </p:cNvSpPr>
          <p:nvPr/>
        </p:nvSpPr>
        <p:spPr bwMode="auto">
          <a:xfrm>
            <a:off x="2352675" y="3903663"/>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t>
            </a:r>
            <a:endParaRPr lang="en-US" altLang="en-US"/>
          </a:p>
        </p:txBody>
      </p:sp>
      <p:sp>
        <p:nvSpPr>
          <p:cNvPr id="579119" name="Rectangle 559"/>
          <p:cNvSpPr>
            <a:spLocks noChangeArrowheads="1"/>
          </p:cNvSpPr>
          <p:nvPr/>
        </p:nvSpPr>
        <p:spPr bwMode="auto">
          <a:xfrm>
            <a:off x="2346325" y="4035425"/>
            <a:ext cx="587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a:t>
            </a:r>
            <a:endParaRPr lang="en-US" altLang="en-US"/>
          </a:p>
        </p:txBody>
      </p:sp>
      <p:sp>
        <p:nvSpPr>
          <p:cNvPr id="579120" name="Rectangle 560"/>
          <p:cNvSpPr>
            <a:spLocks noChangeArrowheads="1"/>
          </p:cNvSpPr>
          <p:nvPr/>
        </p:nvSpPr>
        <p:spPr bwMode="auto">
          <a:xfrm>
            <a:off x="2406650" y="4035425"/>
            <a:ext cx="1285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a:t>
            </a:r>
            <a:endParaRPr lang="en-US" altLang="en-US"/>
          </a:p>
        </p:txBody>
      </p:sp>
      <p:sp>
        <p:nvSpPr>
          <p:cNvPr id="579121" name="Rectangle 561"/>
          <p:cNvSpPr>
            <a:spLocks noChangeArrowheads="1"/>
          </p:cNvSpPr>
          <p:nvPr/>
        </p:nvSpPr>
        <p:spPr bwMode="auto">
          <a:xfrm>
            <a:off x="1906588" y="3076575"/>
            <a:ext cx="1587"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addr</a:t>
            </a:r>
            <a:endParaRPr lang="en-US" altLang="en-US"/>
          </a:p>
        </p:txBody>
      </p:sp>
      <p:sp>
        <p:nvSpPr>
          <p:cNvPr id="579123" name="Rectangle 563"/>
          <p:cNvSpPr>
            <a:spLocks noChangeArrowheads="1"/>
          </p:cNvSpPr>
          <p:nvPr/>
        </p:nvSpPr>
        <p:spPr bwMode="auto">
          <a:xfrm>
            <a:off x="2770188" y="1555750"/>
            <a:ext cx="10636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Let A = log</a:t>
            </a:r>
            <a:r>
              <a:rPr lang="en-US" altLang="en-US" sz="1400" baseline="-25000">
                <a:solidFill>
                  <a:srgbClr val="000000"/>
                </a:solidFill>
                <a:latin typeface="Myriad Roman" charset="0"/>
              </a:rPr>
              <a:t>2</a:t>
            </a:r>
            <a:r>
              <a:rPr lang="en-US" altLang="en-US" sz="1400">
                <a:solidFill>
                  <a:srgbClr val="000000"/>
                </a:solidFill>
                <a:latin typeface="Myriad Roman" charset="0"/>
              </a:rPr>
              <a:t>M</a:t>
            </a:r>
            <a:endParaRPr lang="en-US" altLang="en-US"/>
          </a:p>
        </p:txBody>
      </p:sp>
      <p:sp>
        <p:nvSpPr>
          <p:cNvPr id="579149" name="Rectangle 589"/>
          <p:cNvSpPr>
            <a:spLocks noChangeArrowheads="1"/>
          </p:cNvSpPr>
          <p:nvPr/>
        </p:nvSpPr>
        <p:spPr bwMode="auto">
          <a:xfrm>
            <a:off x="3292475" y="4044950"/>
            <a:ext cx="7254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all cells</a:t>
            </a:r>
            <a:endParaRPr lang="en-US" altLang="en-US"/>
          </a:p>
        </p:txBody>
      </p:sp>
      <p:sp>
        <p:nvSpPr>
          <p:cNvPr id="579153" name="Rectangle 593"/>
          <p:cNvSpPr>
            <a:spLocks noChangeArrowheads="1"/>
          </p:cNvSpPr>
          <p:nvPr/>
        </p:nvSpPr>
        <p:spPr bwMode="auto">
          <a:xfrm>
            <a:off x="4173538" y="1479550"/>
            <a:ext cx="8763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wdata(N-1)</a:t>
            </a:r>
            <a:endParaRPr lang="en-US" altLang="en-US"/>
          </a:p>
        </p:txBody>
      </p:sp>
      <p:sp>
        <p:nvSpPr>
          <p:cNvPr id="579157" name="Rectangle 597"/>
          <p:cNvSpPr>
            <a:spLocks noChangeArrowheads="1"/>
          </p:cNvSpPr>
          <p:nvPr/>
        </p:nvSpPr>
        <p:spPr bwMode="auto">
          <a:xfrm>
            <a:off x="4237038" y="4486275"/>
            <a:ext cx="8064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rdata(N-1)</a:t>
            </a:r>
            <a:endParaRPr lang="en-US" altLang="en-US"/>
          </a:p>
        </p:txBody>
      </p:sp>
      <p:sp>
        <p:nvSpPr>
          <p:cNvPr id="579161" name="Rectangle 601"/>
          <p:cNvSpPr>
            <a:spLocks noChangeArrowheads="1"/>
          </p:cNvSpPr>
          <p:nvPr/>
        </p:nvSpPr>
        <p:spPr bwMode="auto">
          <a:xfrm>
            <a:off x="5113338" y="1479550"/>
            <a:ext cx="8763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wdata(N-2)</a:t>
            </a:r>
            <a:endParaRPr lang="en-US" altLang="en-US"/>
          </a:p>
        </p:txBody>
      </p:sp>
      <p:sp>
        <p:nvSpPr>
          <p:cNvPr id="579165" name="Rectangle 605"/>
          <p:cNvSpPr>
            <a:spLocks noChangeArrowheads="1"/>
          </p:cNvSpPr>
          <p:nvPr/>
        </p:nvSpPr>
        <p:spPr bwMode="auto">
          <a:xfrm>
            <a:off x="5145088" y="4486275"/>
            <a:ext cx="8064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rdata(N-2)</a:t>
            </a:r>
            <a:endParaRPr lang="en-US" altLang="en-US"/>
          </a:p>
        </p:txBody>
      </p:sp>
      <p:sp>
        <p:nvSpPr>
          <p:cNvPr id="579169" name="Rectangle 609"/>
          <p:cNvSpPr>
            <a:spLocks noChangeArrowheads="1"/>
          </p:cNvSpPr>
          <p:nvPr/>
        </p:nvSpPr>
        <p:spPr bwMode="auto">
          <a:xfrm>
            <a:off x="6003925" y="1479550"/>
            <a:ext cx="5715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wdata0</a:t>
            </a:r>
            <a:endParaRPr lang="en-US" altLang="en-US"/>
          </a:p>
        </p:txBody>
      </p:sp>
      <p:sp>
        <p:nvSpPr>
          <p:cNvPr id="579173" name="Rectangle 613"/>
          <p:cNvSpPr>
            <a:spLocks noChangeArrowheads="1"/>
          </p:cNvSpPr>
          <p:nvPr/>
        </p:nvSpPr>
        <p:spPr bwMode="auto">
          <a:xfrm>
            <a:off x="6035675" y="4486275"/>
            <a:ext cx="5016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rdata0</a:t>
            </a:r>
            <a:endParaRPr lang="en-US" altLang="en-US"/>
          </a:p>
        </p:txBody>
      </p:sp>
      <p:grpSp>
        <p:nvGrpSpPr>
          <p:cNvPr id="579246" name="Group 686"/>
          <p:cNvGrpSpPr>
            <a:grpSpLocks/>
          </p:cNvGrpSpPr>
          <p:nvPr/>
        </p:nvGrpSpPr>
        <p:grpSpPr bwMode="auto">
          <a:xfrm>
            <a:off x="4549775" y="1674813"/>
            <a:ext cx="3073400" cy="1246187"/>
            <a:chOff x="2866" y="1055"/>
            <a:chExt cx="1936" cy="785"/>
          </a:xfrm>
        </p:grpSpPr>
        <p:pic>
          <p:nvPicPr>
            <p:cNvPr id="579031" name="Picture 47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6" y="1578"/>
              <a:ext cx="1320" cy="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9098" name="Line 538"/>
            <p:cNvSpPr>
              <a:spLocks noChangeShapeType="1"/>
            </p:cNvSpPr>
            <p:nvPr/>
          </p:nvSpPr>
          <p:spPr bwMode="auto">
            <a:xfrm>
              <a:off x="3932" y="1055"/>
              <a:ext cx="1" cy="11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177" name="Rectangle 617"/>
            <p:cNvSpPr>
              <a:spLocks noChangeArrowheads="1"/>
            </p:cNvSpPr>
            <p:nvPr/>
          </p:nvSpPr>
          <p:spPr bwMode="auto">
            <a:xfrm>
              <a:off x="4309" y="1130"/>
              <a:ext cx="48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bit storage</a:t>
              </a:r>
              <a:endParaRPr lang="en-US" altLang="en-US"/>
            </a:p>
          </p:txBody>
        </p:sp>
        <p:sp>
          <p:nvSpPr>
            <p:cNvPr id="579182" name="Rectangle 622"/>
            <p:cNvSpPr>
              <a:spLocks noChangeArrowheads="1"/>
            </p:cNvSpPr>
            <p:nvPr/>
          </p:nvSpPr>
          <p:spPr bwMode="auto">
            <a:xfrm>
              <a:off x="4309" y="1251"/>
              <a:ext cx="24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block</a:t>
              </a:r>
              <a:endParaRPr lang="en-US" altLang="en-US"/>
            </a:p>
          </p:txBody>
        </p:sp>
        <p:sp>
          <p:nvSpPr>
            <p:cNvPr id="579183" name="Rectangle 623"/>
            <p:cNvSpPr>
              <a:spLocks noChangeArrowheads="1"/>
            </p:cNvSpPr>
            <p:nvPr/>
          </p:nvSpPr>
          <p:spPr bwMode="auto">
            <a:xfrm>
              <a:off x="4309" y="1372"/>
              <a:ext cx="49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(aka “cell”)</a:t>
              </a:r>
              <a:endParaRPr lang="en-US" altLang="en-US"/>
            </a:p>
          </p:txBody>
        </p:sp>
        <p:sp>
          <p:nvSpPr>
            <p:cNvPr id="579188" name="Rectangle 628"/>
            <p:cNvSpPr>
              <a:spLocks noChangeArrowheads="1"/>
            </p:cNvSpPr>
            <p:nvPr/>
          </p:nvSpPr>
          <p:spPr bwMode="auto">
            <a:xfrm>
              <a:off x="4309" y="1557"/>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a:t>
              </a:r>
              <a:endParaRPr lang="en-US" altLang="en-US"/>
            </a:p>
          </p:txBody>
        </p:sp>
        <p:sp>
          <p:nvSpPr>
            <p:cNvPr id="579189" name="Rectangle 629"/>
            <p:cNvSpPr>
              <a:spLocks noChangeArrowheads="1"/>
            </p:cNvSpPr>
            <p:nvPr/>
          </p:nvSpPr>
          <p:spPr bwMode="auto">
            <a:xfrm>
              <a:off x="4387" y="1557"/>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a:t>
              </a:r>
              <a:endParaRPr lang="en-US" altLang="en-US"/>
            </a:p>
          </p:txBody>
        </p:sp>
        <p:sp>
          <p:nvSpPr>
            <p:cNvPr id="579190" name="Rectangle 630"/>
            <p:cNvSpPr>
              <a:spLocks noChangeArrowheads="1"/>
            </p:cNvSpPr>
            <p:nvPr/>
          </p:nvSpPr>
          <p:spPr bwMode="auto">
            <a:xfrm>
              <a:off x="4446" y="1557"/>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a:p>
          </p:txBody>
        </p:sp>
        <p:sp>
          <p:nvSpPr>
            <p:cNvPr id="579191" name="Rectangle 631"/>
            <p:cNvSpPr>
              <a:spLocks noChangeArrowheads="1"/>
            </p:cNvSpPr>
            <p:nvPr/>
          </p:nvSpPr>
          <p:spPr bwMode="auto">
            <a:xfrm>
              <a:off x="4480" y="1557"/>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a:p>
          </p:txBody>
        </p:sp>
        <p:sp>
          <p:nvSpPr>
            <p:cNvPr id="579194" name="Line 634"/>
            <p:cNvSpPr>
              <a:spLocks noChangeShapeType="1"/>
            </p:cNvSpPr>
            <p:nvPr/>
          </p:nvSpPr>
          <p:spPr bwMode="auto">
            <a:xfrm flipH="1">
              <a:off x="4080" y="1203"/>
              <a:ext cx="212" cy="13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195" name="Line 635"/>
            <p:cNvSpPr>
              <a:spLocks noChangeShapeType="1"/>
            </p:cNvSpPr>
            <p:nvPr/>
          </p:nvSpPr>
          <p:spPr bwMode="auto">
            <a:xfrm flipH="1">
              <a:off x="4191" y="1640"/>
              <a:ext cx="101" cy="6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79245" name="Group 685"/>
          <p:cNvGrpSpPr>
            <a:grpSpLocks/>
          </p:cNvGrpSpPr>
          <p:nvPr/>
        </p:nvGrpSpPr>
        <p:grpSpPr bwMode="auto">
          <a:xfrm>
            <a:off x="4162425" y="1798638"/>
            <a:ext cx="2305050" cy="1882775"/>
            <a:chOff x="2622" y="1133"/>
            <a:chExt cx="1452" cy="1186"/>
          </a:xfrm>
        </p:grpSpPr>
        <p:pic>
          <p:nvPicPr>
            <p:cNvPr id="579010" name="Picture 4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2" y="2106"/>
              <a:ext cx="8"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11" name="Picture 45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2" y="2106"/>
              <a:ext cx="9"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12" name="Picture 45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4" y="2106"/>
              <a:ext cx="8"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13" name="Picture 45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2" y="1250"/>
              <a:ext cx="8"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14" name="Picture 45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42" y="1250"/>
              <a:ext cx="9"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15" name="Picture 45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64" y="1250"/>
              <a:ext cx="8"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19" name="Picture 45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4" y="2275"/>
              <a:ext cx="22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0" name="Picture 46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2" y="2275"/>
              <a:ext cx="23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1" name="Picture 4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3" y="2275"/>
              <a:ext cx="231"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2" name="Picture 46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7" y="2275"/>
              <a:ext cx="23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3" name="Picture 4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4" y="1772"/>
              <a:ext cx="22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4" name="Picture 46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2" y="1772"/>
              <a:ext cx="23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5" name="Picture 4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3" y="1772"/>
              <a:ext cx="231"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6" name="Picture 4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7" y="1772"/>
              <a:ext cx="23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7" name="Picture 4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94" y="1413"/>
              <a:ext cx="22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8" name="Picture 46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2" y="1413"/>
              <a:ext cx="23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29" name="Picture 4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3" y="1413"/>
              <a:ext cx="231"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30" name="Picture 4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7" y="1413"/>
              <a:ext cx="232"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32" name="Picture 47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32" y="1627"/>
              <a:ext cx="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33" name="Picture 47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45" y="1627"/>
              <a:ext cx="9"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34" name="Picture 4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4" y="1627"/>
              <a:ext cx="8"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9039" name="Line 479"/>
            <p:cNvSpPr>
              <a:spLocks noChangeShapeType="1"/>
            </p:cNvSpPr>
            <p:nvPr/>
          </p:nvSpPr>
          <p:spPr bwMode="auto">
            <a:xfrm>
              <a:off x="3065" y="1459"/>
              <a:ext cx="1" cy="8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40" name="Freeform 480"/>
            <p:cNvSpPr>
              <a:spLocks/>
            </p:cNvSpPr>
            <p:nvPr/>
          </p:nvSpPr>
          <p:spPr bwMode="auto">
            <a:xfrm>
              <a:off x="3038" y="1499"/>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42" name="Freeform 482"/>
            <p:cNvSpPr>
              <a:spLocks/>
            </p:cNvSpPr>
            <p:nvPr/>
          </p:nvSpPr>
          <p:spPr bwMode="auto">
            <a:xfrm>
              <a:off x="3038" y="1133"/>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60" name="Oval 500"/>
            <p:cNvSpPr>
              <a:spLocks noChangeArrowheads="1"/>
            </p:cNvSpPr>
            <p:nvPr/>
          </p:nvSpPr>
          <p:spPr bwMode="auto">
            <a:xfrm>
              <a:off x="3650" y="1328"/>
              <a:ext cx="27" cy="23"/>
            </a:xfrm>
            <a:prstGeom prst="ellipse">
              <a:avLst/>
            </a:prstGeom>
            <a:solidFill>
              <a:srgbClr val="000000"/>
            </a:solidFill>
            <a:ln w="15875">
              <a:solidFill>
                <a:srgbClr val="000000"/>
              </a:solidFill>
              <a:miter lim="800000"/>
              <a:headEnd/>
              <a:tailEnd/>
            </a:ln>
          </p:spPr>
          <p:txBody>
            <a:bodyPr/>
            <a:lstStyle/>
            <a:p>
              <a:endParaRPr lang="en-US"/>
            </a:p>
          </p:txBody>
        </p:sp>
        <p:sp>
          <p:nvSpPr>
            <p:cNvPr id="579061" name="Oval 501"/>
            <p:cNvSpPr>
              <a:spLocks noChangeArrowheads="1"/>
            </p:cNvSpPr>
            <p:nvPr/>
          </p:nvSpPr>
          <p:spPr bwMode="auto">
            <a:xfrm>
              <a:off x="3710" y="1328"/>
              <a:ext cx="24" cy="23"/>
            </a:xfrm>
            <a:prstGeom prst="ellipse">
              <a:avLst/>
            </a:prstGeom>
            <a:solidFill>
              <a:srgbClr val="000000"/>
            </a:solidFill>
            <a:ln w="15875">
              <a:solidFill>
                <a:srgbClr val="000000"/>
              </a:solidFill>
              <a:miter lim="800000"/>
              <a:headEnd/>
              <a:tailEnd/>
            </a:ln>
          </p:spPr>
          <p:txBody>
            <a:bodyPr/>
            <a:lstStyle/>
            <a:p>
              <a:endParaRPr lang="en-US"/>
            </a:p>
          </p:txBody>
        </p:sp>
        <p:sp>
          <p:nvSpPr>
            <p:cNvPr id="579062" name="Oval 502"/>
            <p:cNvSpPr>
              <a:spLocks noChangeArrowheads="1"/>
            </p:cNvSpPr>
            <p:nvPr/>
          </p:nvSpPr>
          <p:spPr bwMode="auto">
            <a:xfrm>
              <a:off x="3771" y="1328"/>
              <a:ext cx="23" cy="23"/>
            </a:xfrm>
            <a:prstGeom prst="ellipse">
              <a:avLst/>
            </a:prstGeom>
            <a:solidFill>
              <a:srgbClr val="000000"/>
            </a:solidFill>
            <a:ln w="15875">
              <a:solidFill>
                <a:srgbClr val="000000"/>
              </a:solidFill>
              <a:miter lim="800000"/>
              <a:headEnd/>
              <a:tailEnd/>
            </a:ln>
          </p:spPr>
          <p:txBody>
            <a:bodyPr/>
            <a:lstStyle/>
            <a:p>
              <a:endParaRPr lang="en-US"/>
            </a:p>
          </p:txBody>
        </p:sp>
        <p:sp>
          <p:nvSpPr>
            <p:cNvPr id="579063" name="Oval 503"/>
            <p:cNvSpPr>
              <a:spLocks noChangeArrowheads="1"/>
            </p:cNvSpPr>
            <p:nvPr/>
          </p:nvSpPr>
          <p:spPr bwMode="auto">
            <a:xfrm>
              <a:off x="3650" y="1670"/>
              <a:ext cx="27" cy="24"/>
            </a:xfrm>
            <a:prstGeom prst="ellipse">
              <a:avLst/>
            </a:prstGeom>
            <a:solidFill>
              <a:srgbClr val="000000"/>
            </a:solidFill>
            <a:ln w="15875">
              <a:solidFill>
                <a:srgbClr val="000000"/>
              </a:solidFill>
              <a:miter lim="800000"/>
              <a:headEnd/>
              <a:tailEnd/>
            </a:ln>
          </p:spPr>
          <p:txBody>
            <a:bodyPr/>
            <a:lstStyle/>
            <a:p>
              <a:endParaRPr lang="en-US"/>
            </a:p>
          </p:txBody>
        </p:sp>
        <p:sp>
          <p:nvSpPr>
            <p:cNvPr id="579064" name="Oval 504"/>
            <p:cNvSpPr>
              <a:spLocks noChangeArrowheads="1"/>
            </p:cNvSpPr>
            <p:nvPr/>
          </p:nvSpPr>
          <p:spPr bwMode="auto">
            <a:xfrm>
              <a:off x="3710" y="1670"/>
              <a:ext cx="24" cy="24"/>
            </a:xfrm>
            <a:prstGeom prst="ellipse">
              <a:avLst/>
            </a:prstGeom>
            <a:solidFill>
              <a:srgbClr val="000000"/>
            </a:solidFill>
            <a:ln w="15875">
              <a:solidFill>
                <a:srgbClr val="000000"/>
              </a:solidFill>
              <a:miter lim="800000"/>
              <a:headEnd/>
              <a:tailEnd/>
            </a:ln>
          </p:spPr>
          <p:txBody>
            <a:bodyPr/>
            <a:lstStyle/>
            <a:p>
              <a:endParaRPr lang="en-US"/>
            </a:p>
          </p:txBody>
        </p:sp>
        <p:sp>
          <p:nvSpPr>
            <p:cNvPr id="579065" name="Oval 505"/>
            <p:cNvSpPr>
              <a:spLocks noChangeArrowheads="1"/>
            </p:cNvSpPr>
            <p:nvPr/>
          </p:nvSpPr>
          <p:spPr bwMode="auto">
            <a:xfrm>
              <a:off x="3771" y="1670"/>
              <a:ext cx="23" cy="24"/>
            </a:xfrm>
            <a:prstGeom prst="ellipse">
              <a:avLst/>
            </a:prstGeom>
            <a:solidFill>
              <a:srgbClr val="000000"/>
            </a:solidFill>
            <a:ln w="15875">
              <a:solidFill>
                <a:srgbClr val="000000"/>
              </a:solidFill>
              <a:miter lim="800000"/>
              <a:headEnd/>
              <a:tailEnd/>
            </a:ln>
          </p:spPr>
          <p:txBody>
            <a:bodyPr/>
            <a:lstStyle/>
            <a:p>
              <a:endParaRPr lang="en-US"/>
            </a:p>
          </p:txBody>
        </p:sp>
        <p:sp>
          <p:nvSpPr>
            <p:cNvPr id="579066" name="Oval 506"/>
            <p:cNvSpPr>
              <a:spLocks noChangeArrowheads="1"/>
            </p:cNvSpPr>
            <p:nvPr/>
          </p:nvSpPr>
          <p:spPr bwMode="auto">
            <a:xfrm>
              <a:off x="3512" y="1959"/>
              <a:ext cx="24" cy="27"/>
            </a:xfrm>
            <a:prstGeom prst="ellipse">
              <a:avLst/>
            </a:prstGeom>
            <a:solidFill>
              <a:srgbClr val="000000"/>
            </a:solidFill>
            <a:ln w="15875">
              <a:solidFill>
                <a:srgbClr val="000000"/>
              </a:solidFill>
              <a:miter lim="800000"/>
              <a:headEnd/>
              <a:tailEnd/>
            </a:ln>
          </p:spPr>
          <p:txBody>
            <a:bodyPr/>
            <a:lstStyle/>
            <a:p>
              <a:endParaRPr lang="en-US"/>
            </a:p>
          </p:txBody>
        </p:sp>
        <p:sp>
          <p:nvSpPr>
            <p:cNvPr id="579067" name="Oval 507"/>
            <p:cNvSpPr>
              <a:spLocks noChangeArrowheads="1"/>
            </p:cNvSpPr>
            <p:nvPr/>
          </p:nvSpPr>
          <p:spPr bwMode="auto">
            <a:xfrm>
              <a:off x="3569" y="1959"/>
              <a:ext cx="27" cy="27"/>
            </a:xfrm>
            <a:prstGeom prst="ellipse">
              <a:avLst/>
            </a:prstGeom>
            <a:solidFill>
              <a:srgbClr val="000000"/>
            </a:solidFill>
            <a:ln w="15875">
              <a:solidFill>
                <a:srgbClr val="000000"/>
              </a:solidFill>
              <a:miter lim="800000"/>
              <a:headEnd/>
              <a:tailEnd/>
            </a:ln>
          </p:spPr>
          <p:txBody>
            <a:bodyPr/>
            <a:lstStyle/>
            <a:p>
              <a:endParaRPr lang="en-US"/>
            </a:p>
          </p:txBody>
        </p:sp>
        <p:sp>
          <p:nvSpPr>
            <p:cNvPr id="579068" name="Oval 508"/>
            <p:cNvSpPr>
              <a:spLocks noChangeArrowheads="1"/>
            </p:cNvSpPr>
            <p:nvPr/>
          </p:nvSpPr>
          <p:spPr bwMode="auto">
            <a:xfrm>
              <a:off x="3630" y="1959"/>
              <a:ext cx="27" cy="27"/>
            </a:xfrm>
            <a:prstGeom prst="ellipse">
              <a:avLst/>
            </a:prstGeom>
            <a:solidFill>
              <a:srgbClr val="000000"/>
            </a:solidFill>
            <a:ln w="15875">
              <a:solidFill>
                <a:srgbClr val="000000"/>
              </a:solidFill>
              <a:miter lim="800000"/>
              <a:headEnd/>
              <a:tailEnd/>
            </a:ln>
          </p:spPr>
          <p:txBody>
            <a:bodyPr/>
            <a:lstStyle/>
            <a:p>
              <a:endParaRPr lang="en-US"/>
            </a:p>
          </p:txBody>
        </p:sp>
        <p:sp>
          <p:nvSpPr>
            <p:cNvPr id="579074" name="Rectangle 514"/>
            <p:cNvSpPr>
              <a:spLocks noChangeArrowheads="1"/>
            </p:cNvSpPr>
            <p:nvPr/>
          </p:nvSpPr>
          <p:spPr bwMode="auto">
            <a:xfrm>
              <a:off x="2974" y="1606"/>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077" name="Line 517"/>
            <p:cNvSpPr>
              <a:spLocks noChangeShapeType="1"/>
            </p:cNvSpPr>
            <p:nvPr/>
          </p:nvSpPr>
          <p:spPr bwMode="auto">
            <a:xfrm>
              <a:off x="3065" y="1916"/>
              <a:ext cx="1" cy="12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78" name="Freeform 518"/>
            <p:cNvSpPr>
              <a:spLocks/>
            </p:cNvSpPr>
            <p:nvPr/>
          </p:nvSpPr>
          <p:spPr bwMode="auto">
            <a:xfrm>
              <a:off x="3038" y="1996"/>
              <a:ext cx="54" cy="108"/>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81" name="Line 521"/>
            <p:cNvSpPr>
              <a:spLocks noChangeShapeType="1"/>
            </p:cNvSpPr>
            <p:nvPr/>
          </p:nvSpPr>
          <p:spPr bwMode="auto">
            <a:xfrm>
              <a:off x="3445" y="1459"/>
              <a:ext cx="1" cy="8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82" name="Freeform 522"/>
            <p:cNvSpPr>
              <a:spLocks/>
            </p:cNvSpPr>
            <p:nvPr/>
          </p:nvSpPr>
          <p:spPr bwMode="auto">
            <a:xfrm>
              <a:off x="3418" y="1499"/>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84" name="Freeform 524"/>
            <p:cNvSpPr>
              <a:spLocks/>
            </p:cNvSpPr>
            <p:nvPr/>
          </p:nvSpPr>
          <p:spPr bwMode="auto">
            <a:xfrm>
              <a:off x="3418" y="1133"/>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85" name="Line 525"/>
            <p:cNvSpPr>
              <a:spLocks noChangeShapeType="1"/>
            </p:cNvSpPr>
            <p:nvPr/>
          </p:nvSpPr>
          <p:spPr bwMode="auto">
            <a:xfrm>
              <a:off x="3206" y="1418"/>
              <a:ext cx="5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86" name="Freeform 526"/>
            <p:cNvSpPr>
              <a:spLocks/>
            </p:cNvSpPr>
            <p:nvPr/>
          </p:nvSpPr>
          <p:spPr bwMode="auto">
            <a:xfrm>
              <a:off x="3240" y="1391"/>
              <a:ext cx="107" cy="54"/>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87" name="Line 527"/>
            <p:cNvSpPr>
              <a:spLocks noChangeShapeType="1"/>
            </p:cNvSpPr>
            <p:nvPr/>
          </p:nvSpPr>
          <p:spPr bwMode="auto">
            <a:xfrm>
              <a:off x="3206" y="1778"/>
              <a:ext cx="5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88" name="Freeform 528"/>
            <p:cNvSpPr>
              <a:spLocks/>
            </p:cNvSpPr>
            <p:nvPr/>
          </p:nvSpPr>
          <p:spPr bwMode="auto">
            <a:xfrm>
              <a:off x="3240" y="1751"/>
              <a:ext cx="107" cy="54"/>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89" name="Rectangle 529"/>
            <p:cNvSpPr>
              <a:spLocks noChangeArrowheads="1"/>
            </p:cNvSpPr>
            <p:nvPr/>
          </p:nvSpPr>
          <p:spPr bwMode="auto">
            <a:xfrm>
              <a:off x="3354" y="1606"/>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092" name="Line 532"/>
            <p:cNvSpPr>
              <a:spLocks noChangeShapeType="1"/>
            </p:cNvSpPr>
            <p:nvPr/>
          </p:nvSpPr>
          <p:spPr bwMode="auto">
            <a:xfrm>
              <a:off x="3445" y="1916"/>
              <a:ext cx="1" cy="12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93" name="Freeform 533"/>
            <p:cNvSpPr>
              <a:spLocks/>
            </p:cNvSpPr>
            <p:nvPr/>
          </p:nvSpPr>
          <p:spPr bwMode="auto">
            <a:xfrm>
              <a:off x="3418" y="1996"/>
              <a:ext cx="54" cy="108"/>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94" name="Line 534"/>
            <p:cNvSpPr>
              <a:spLocks noChangeShapeType="1"/>
            </p:cNvSpPr>
            <p:nvPr/>
          </p:nvSpPr>
          <p:spPr bwMode="auto">
            <a:xfrm>
              <a:off x="3206" y="2282"/>
              <a:ext cx="5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95" name="Freeform 535"/>
            <p:cNvSpPr>
              <a:spLocks/>
            </p:cNvSpPr>
            <p:nvPr/>
          </p:nvSpPr>
          <p:spPr bwMode="auto">
            <a:xfrm>
              <a:off x="3240" y="2255"/>
              <a:ext cx="107" cy="54"/>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96" name="Line 536"/>
            <p:cNvSpPr>
              <a:spLocks noChangeShapeType="1"/>
            </p:cNvSpPr>
            <p:nvPr/>
          </p:nvSpPr>
          <p:spPr bwMode="auto">
            <a:xfrm>
              <a:off x="3932" y="1459"/>
              <a:ext cx="1" cy="8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97" name="Freeform 537"/>
            <p:cNvSpPr>
              <a:spLocks/>
            </p:cNvSpPr>
            <p:nvPr/>
          </p:nvSpPr>
          <p:spPr bwMode="auto">
            <a:xfrm>
              <a:off x="3905" y="1499"/>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99" name="Freeform 539"/>
            <p:cNvSpPr>
              <a:spLocks/>
            </p:cNvSpPr>
            <p:nvPr/>
          </p:nvSpPr>
          <p:spPr bwMode="auto">
            <a:xfrm>
              <a:off x="3905" y="1133"/>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00" name="Line 540"/>
            <p:cNvSpPr>
              <a:spLocks noChangeShapeType="1"/>
            </p:cNvSpPr>
            <p:nvPr/>
          </p:nvSpPr>
          <p:spPr bwMode="auto">
            <a:xfrm>
              <a:off x="3693" y="1418"/>
              <a:ext cx="5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101" name="Freeform 541"/>
            <p:cNvSpPr>
              <a:spLocks/>
            </p:cNvSpPr>
            <p:nvPr/>
          </p:nvSpPr>
          <p:spPr bwMode="auto">
            <a:xfrm>
              <a:off x="3727" y="1391"/>
              <a:ext cx="108" cy="54"/>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02" name="Line 542"/>
            <p:cNvSpPr>
              <a:spLocks noChangeShapeType="1"/>
            </p:cNvSpPr>
            <p:nvPr/>
          </p:nvSpPr>
          <p:spPr bwMode="auto">
            <a:xfrm>
              <a:off x="3693" y="1778"/>
              <a:ext cx="5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103" name="Freeform 543"/>
            <p:cNvSpPr>
              <a:spLocks/>
            </p:cNvSpPr>
            <p:nvPr/>
          </p:nvSpPr>
          <p:spPr bwMode="auto">
            <a:xfrm>
              <a:off x="3727" y="1751"/>
              <a:ext cx="108" cy="54"/>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04" name="Rectangle 544"/>
            <p:cNvSpPr>
              <a:spLocks noChangeArrowheads="1"/>
            </p:cNvSpPr>
            <p:nvPr/>
          </p:nvSpPr>
          <p:spPr bwMode="auto">
            <a:xfrm>
              <a:off x="3841" y="1606"/>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107" name="Line 547"/>
            <p:cNvSpPr>
              <a:spLocks noChangeShapeType="1"/>
            </p:cNvSpPr>
            <p:nvPr/>
          </p:nvSpPr>
          <p:spPr bwMode="auto">
            <a:xfrm>
              <a:off x="3932" y="1916"/>
              <a:ext cx="1" cy="12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108" name="Freeform 548"/>
            <p:cNvSpPr>
              <a:spLocks/>
            </p:cNvSpPr>
            <p:nvPr/>
          </p:nvSpPr>
          <p:spPr bwMode="auto">
            <a:xfrm>
              <a:off x="3905" y="1996"/>
              <a:ext cx="54" cy="108"/>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09" name="Line 549"/>
            <p:cNvSpPr>
              <a:spLocks noChangeShapeType="1"/>
            </p:cNvSpPr>
            <p:nvPr/>
          </p:nvSpPr>
          <p:spPr bwMode="auto">
            <a:xfrm>
              <a:off x="3693" y="2282"/>
              <a:ext cx="5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110" name="Freeform 550"/>
            <p:cNvSpPr>
              <a:spLocks/>
            </p:cNvSpPr>
            <p:nvPr/>
          </p:nvSpPr>
          <p:spPr bwMode="auto">
            <a:xfrm>
              <a:off x="3727" y="2255"/>
              <a:ext cx="108" cy="54"/>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44" name="Rectangle 584"/>
            <p:cNvSpPr>
              <a:spLocks noChangeArrowheads="1"/>
            </p:cNvSpPr>
            <p:nvPr/>
          </p:nvSpPr>
          <p:spPr bwMode="auto">
            <a:xfrm>
              <a:off x="2622" y="1151"/>
              <a:ext cx="24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word</a:t>
              </a:r>
              <a:endParaRPr lang="en-US" altLang="en-US"/>
            </a:p>
          </p:txBody>
        </p:sp>
        <p:sp>
          <p:nvSpPr>
            <p:cNvPr id="579223" name="Rectangle 663"/>
            <p:cNvSpPr>
              <a:spLocks noChangeArrowheads="1"/>
            </p:cNvSpPr>
            <p:nvPr/>
          </p:nvSpPr>
          <p:spPr bwMode="auto">
            <a:xfrm>
              <a:off x="2974" y="1247"/>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224" name="Rectangle 664"/>
            <p:cNvSpPr>
              <a:spLocks noChangeArrowheads="1"/>
            </p:cNvSpPr>
            <p:nvPr/>
          </p:nvSpPr>
          <p:spPr bwMode="auto">
            <a:xfrm>
              <a:off x="2974" y="2107"/>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225" name="Rectangle 665"/>
            <p:cNvSpPr>
              <a:spLocks noChangeArrowheads="1"/>
            </p:cNvSpPr>
            <p:nvPr/>
          </p:nvSpPr>
          <p:spPr bwMode="auto">
            <a:xfrm>
              <a:off x="3354" y="1247"/>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226" name="Rectangle 666"/>
            <p:cNvSpPr>
              <a:spLocks noChangeArrowheads="1"/>
            </p:cNvSpPr>
            <p:nvPr/>
          </p:nvSpPr>
          <p:spPr bwMode="auto">
            <a:xfrm>
              <a:off x="3354" y="2107"/>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227" name="Rectangle 667"/>
            <p:cNvSpPr>
              <a:spLocks noChangeArrowheads="1"/>
            </p:cNvSpPr>
            <p:nvPr/>
          </p:nvSpPr>
          <p:spPr bwMode="auto">
            <a:xfrm>
              <a:off x="3841" y="1247"/>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228" name="Rectangle 668"/>
            <p:cNvSpPr>
              <a:spLocks noChangeArrowheads="1"/>
            </p:cNvSpPr>
            <p:nvPr/>
          </p:nvSpPr>
          <p:spPr bwMode="auto">
            <a:xfrm>
              <a:off x="3841" y="2107"/>
              <a:ext cx="232" cy="21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579248" name="Group 688"/>
          <p:cNvGrpSpPr>
            <a:grpSpLocks/>
          </p:cNvGrpSpPr>
          <p:nvPr/>
        </p:nvGrpSpPr>
        <p:grpSpPr bwMode="auto">
          <a:xfrm>
            <a:off x="6465888" y="2667000"/>
            <a:ext cx="2465387" cy="2009775"/>
            <a:chOff x="4073" y="1680"/>
            <a:chExt cx="1553" cy="1266"/>
          </a:xfrm>
        </p:grpSpPr>
        <p:sp>
          <p:nvSpPr>
            <p:cNvPr id="578670" name="Text Box 110"/>
            <p:cNvSpPr txBox="1">
              <a:spLocks noChangeArrowheads="1"/>
            </p:cNvSpPr>
            <p:nvPr/>
          </p:nvSpPr>
          <p:spPr bwMode="auto">
            <a:xfrm>
              <a:off x="4375" y="2696"/>
              <a:ext cx="75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RAM cell</a:t>
              </a:r>
            </a:p>
          </p:txBody>
        </p:sp>
        <p:sp>
          <p:nvSpPr>
            <p:cNvPr id="578671" name="Line 111"/>
            <p:cNvSpPr>
              <a:spLocks noChangeShapeType="1"/>
            </p:cNvSpPr>
            <p:nvPr/>
          </p:nvSpPr>
          <p:spPr bwMode="auto">
            <a:xfrm flipV="1">
              <a:off x="4729" y="2622"/>
              <a:ext cx="250" cy="129"/>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79005" name="Picture 44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3" y="1891"/>
              <a:ext cx="10" cy="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9006" name="Picture 4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35" y="2261"/>
              <a:ext cx="676" cy="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79196" name="Line 636"/>
            <p:cNvSpPr>
              <a:spLocks noChangeShapeType="1"/>
            </p:cNvSpPr>
            <p:nvPr/>
          </p:nvSpPr>
          <p:spPr bwMode="auto">
            <a:xfrm>
              <a:off x="4524" y="2268"/>
              <a:ext cx="11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197" name="Freeform 637"/>
            <p:cNvSpPr>
              <a:spLocks/>
            </p:cNvSpPr>
            <p:nvPr/>
          </p:nvSpPr>
          <p:spPr bwMode="auto">
            <a:xfrm>
              <a:off x="4624" y="2242"/>
              <a:ext cx="108" cy="53"/>
            </a:xfrm>
            <a:custGeom>
              <a:avLst/>
              <a:gdLst>
                <a:gd name="T0" fmla="*/ 108 w 108"/>
                <a:gd name="T1" fmla="*/ 26 h 53"/>
                <a:gd name="T2" fmla="*/ 0 w 108"/>
                <a:gd name="T3" fmla="*/ 0 h 53"/>
                <a:gd name="T4" fmla="*/ 0 w 108"/>
                <a:gd name="T5" fmla="*/ 53 h 53"/>
                <a:gd name="T6" fmla="*/ 108 w 108"/>
                <a:gd name="T7" fmla="*/ 26 h 53"/>
              </a:gdLst>
              <a:ahLst/>
              <a:cxnLst>
                <a:cxn ang="0">
                  <a:pos x="T0" y="T1"/>
                </a:cxn>
                <a:cxn ang="0">
                  <a:pos x="T2" y="T3"/>
                </a:cxn>
                <a:cxn ang="0">
                  <a:pos x="T4" y="T5"/>
                </a:cxn>
                <a:cxn ang="0">
                  <a:pos x="T6" y="T7"/>
                </a:cxn>
              </a:cxnLst>
              <a:rect l="0" t="0" r="r" b="b"/>
              <a:pathLst>
                <a:path w="108" h="53">
                  <a:moveTo>
                    <a:pt x="108" y="26"/>
                  </a:moveTo>
                  <a:lnTo>
                    <a:pt x="0" y="0"/>
                  </a:lnTo>
                  <a:lnTo>
                    <a:pt x="0" y="53"/>
                  </a:lnTo>
                  <a:lnTo>
                    <a:pt x="108"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98" name="Freeform 638"/>
            <p:cNvSpPr>
              <a:spLocks/>
            </p:cNvSpPr>
            <p:nvPr/>
          </p:nvSpPr>
          <p:spPr bwMode="auto">
            <a:xfrm>
              <a:off x="4624" y="2450"/>
              <a:ext cx="108" cy="54"/>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99" name="Line 639"/>
            <p:cNvSpPr>
              <a:spLocks noChangeShapeType="1"/>
            </p:cNvSpPr>
            <p:nvPr/>
          </p:nvSpPr>
          <p:spPr bwMode="auto">
            <a:xfrm>
              <a:off x="5417" y="2268"/>
              <a:ext cx="12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200" name="Freeform 640"/>
            <p:cNvSpPr>
              <a:spLocks/>
            </p:cNvSpPr>
            <p:nvPr/>
          </p:nvSpPr>
          <p:spPr bwMode="auto">
            <a:xfrm>
              <a:off x="5518" y="2242"/>
              <a:ext cx="108" cy="53"/>
            </a:xfrm>
            <a:custGeom>
              <a:avLst/>
              <a:gdLst>
                <a:gd name="T0" fmla="*/ 108 w 108"/>
                <a:gd name="T1" fmla="*/ 26 h 53"/>
                <a:gd name="T2" fmla="*/ 0 w 108"/>
                <a:gd name="T3" fmla="*/ 0 h 53"/>
                <a:gd name="T4" fmla="*/ 0 w 108"/>
                <a:gd name="T5" fmla="*/ 53 h 53"/>
                <a:gd name="T6" fmla="*/ 108 w 108"/>
                <a:gd name="T7" fmla="*/ 26 h 53"/>
              </a:gdLst>
              <a:ahLst/>
              <a:cxnLst>
                <a:cxn ang="0">
                  <a:pos x="T0" y="T1"/>
                </a:cxn>
                <a:cxn ang="0">
                  <a:pos x="T2" y="T3"/>
                </a:cxn>
                <a:cxn ang="0">
                  <a:pos x="T4" y="T5"/>
                </a:cxn>
                <a:cxn ang="0">
                  <a:pos x="T6" y="T7"/>
                </a:cxn>
              </a:cxnLst>
              <a:rect l="0" t="0" r="r" b="b"/>
              <a:pathLst>
                <a:path w="108" h="53">
                  <a:moveTo>
                    <a:pt x="108" y="26"/>
                  </a:moveTo>
                  <a:lnTo>
                    <a:pt x="0" y="0"/>
                  </a:lnTo>
                  <a:lnTo>
                    <a:pt x="0" y="53"/>
                  </a:lnTo>
                  <a:lnTo>
                    <a:pt x="108"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201" name="Line 641"/>
            <p:cNvSpPr>
              <a:spLocks noChangeShapeType="1"/>
            </p:cNvSpPr>
            <p:nvPr/>
          </p:nvSpPr>
          <p:spPr bwMode="auto">
            <a:xfrm>
              <a:off x="5078" y="1680"/>
              <a:ext cx="1" cy="11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202" name="Freeform 642"/>
            <p:cNvSpPr>
              <a:spLocks/>
            </p:cNvSpPr>
            <p:nvPr/>
          </p:nvSpPr>
          <p:spPr bwMode="auto">
            <a:xfrm>
              <a:off x="5051" y="1778"/>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203" name="Line 643"/>
            <p:cNvSpPr>
              <a:spLocks noChangeShapeType="1"/>
            </p:cNvSpPr>
            <p:nvPr/>
          </p:nvSpPr>
          <p:spPr bwMode="auto">
            <a:xfrm>
              <a:off x="5078" y="2537"/>
              <a:ext cx="1" cy="11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204" name="Freeform 644"/>
            <p:cNvSpPr>
              <a:spLocks/>
            </p:cNvSpPr>
            <p:nvPr/>
          </p:nvSpPr>
          <p:spPr bwMode="auto">
            <a:xfrm>
              <a:off x="5051" y="2635"/>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207" name="Rectangle 647"/>
            <p:cNvSpPr>
              <a:spLocks noChangeArrowheads="1"/>
            </p:cNvSpPr>
            <p:nvPr/>
          </p:nvSpPr>
          <p:spPr bwMode="auto">
            <a:xfrm>
              <a:off x="4780" y="2141"/>
              <a:ext cx="2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word</a:t>
              </a:r>
              <a:endParaRPr lang="en-US" altLang="en-US"/>
            </a:p>
          </p:txBody>
        </p:sp>
        <p:sp>
          <p:nvSpPr>
            <p:cNvPr id="579211" name="Rectangle 651"/>
            <p:cNvSpPr>
              <a:spLocks noChangeArrowheads="1"/>
            </p:cNvSpPr>
            <p:nvPr/>
          </p:nvSpPr>
          <p:spPr bwMode="auto">
            <a:xfrm>
              <a:off x="4747" y="2262"/>
              <a:ext cx="2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enable</a:t>
              </a:r>
              <a:endParaRPr lang="en-US" altLang="en-US"/>
            </a:p>
          </p:txBody>
        </p:sp>
        <p:sp>
          <p:nvSpPr>
            <p:cNvPr id="579212" name="Rectangle 652"/>
            <p:cNvSpPr>
              <a:spLocks noChangeArrowheads="1"/>
            </p:cNvSpPr>
            <p:nvPr/>
          </p:nvSpPr>
          <p:spPr bwMode="auto">
            <a:xfrm>
              <a:off x="5127" y="2141"/>
              <a:ext cx="23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word</a:t>
              </a:r>
              <a:endParaRPr lang="en-US" altLang="en-US"/>
            </a:p>
          </p:txBody>
        </p:sp>
        <p:sp>
          <p:nvSpPr>
            <p:cNvPr id="579216" name="Rectangle 656"/>
            <p:cNvSpPr>
              <a:spLocks noChangeArrowheads="1"/>
            </p:cNvSpPr>
            <p:nvPr/>
          </p:nvSpPr>
          <p:spPr bwMode="auto">
            <a:xfrm>
              <a:off x="5094" y="2262"/>
              <a:ext cx="29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enable</a:t>
              </a:r>
              <a:endParaRPr lang="en-US" altLang="en-US"/>
            </a:p>
          </p:txBody>
        </p:sp>
        <p:sp>
          <p:nvSpPr>
            <p:cNvPr id="579217" name="Rectangle 657"/>
            <p:cNvSpPr>
              <a:spLocks noChangeArrowheads="1"/>
            </p:cNvSpPr>
            <p:nvPr/>
          </p:nvSpPr>
          <p:spPr bwMode="auto">
            <a:xfrm>
              <a:off x="4754" y="2403"/>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a:t>
              </a:r>
              <a:endParaRPr lang="en-US" altLang="en-US"/>
            </a:p>
          </p:txBody>
        </p:sp>
        <p:sp>
          <p:nvSpPr>
            <p:cNvPr id="579218" name="Rectangle 658"/>
            <p:cNvSpPr>
              <a:spLocks noChangeArrowheads="1"/>
            </p:cNvSpPr>
            <p:nvPr/>
          </p:nvSpPr>
          <p:spPr bwMode="auto">
            <a:xfrm>
              <a:off x="4788" y="2403"/>
              <a:ext cx="8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a:t>
              </a:r>
              <a:endParaRPr lang="en-US" altLang="en-US"/>
            </a:p>
          </p:txBody>
        </p:sp>
        <p:sp>
          <p:nvSpPr>
            <p:cNvPr id="579219" name="Freeform 659"/>
            <p:cNvSpPr>
              <a:spLocks/>
            </p:cNvSpPr>
            <p:nvPr/>
          </p:nvSpPr>
          <p:spPr bwMode="auto">
            <a:xfrm>
              <a:off x="4073" y="1889"/>
              <a:ext cx="662" cy="218"/>
            </a:xfrm>
            <a:custGeom>
              <a:avLst/>
              <a:gdLst>
                <a:gd name="T0" fmla="*/ 0 w 662"/>
                <a:gd name="T1" fmla="*/ 218 h 218"/>
                <a:gd name="T2" fmla="*/ 662 w 662"/>
                <a:gd name="T3" fmla="*/ 0 h 218"/>
                <a:gd name="T4" fmla="*/ 0 w 662"/>
                <a:gd name="T5" fmla="*/ 218 h 218"/>
              </a:gdLst>
              <a:ahLst/>
              <a:cxnLst>
                <a:cxn ang="0">
                  <a:pos x="T0" y="T1"/>
                </a:cxn>
                <a:cxn ang="0">
                  <a:pos x="T2" y="T3"/>
                </a:cxn>
                <a:cxn ang="0">
                  <a:pos x="T4" y="T5"/>
                </a:cxn>
              </a:cxnLst>
              <a:rect l="0" t="0" r="r" b="b"/>
              <a:pathLst>
                <a:path w="662" h="218">
                  <a:moveTo>
                    <a:pt x="0" y="218"/>
                  </a:moveTo>
                  <a:lnTo>
                    <a:pt x="662" y="0"/>
                  </a:lnTo>
                  <a:lnTo>
                    <a:pt x="0" y="2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220" name="Line 660"/>
            <p:cNvSpPr>
              <a:spLocks noChangeShapeType="1"/>
            </p:cNvSpPr>
            <p:nvPr/>
          </p:nvSpPr>
          <p:spPr bwMode="auto">
            <a:xfrm flipV="1">
              <a:off x="4073" y="1889"/>
              <a:ext cx="662" cy="218"/>
            </a:xfrm>
            <a:prstGeom prst="line">
              <a:avLst/>
            </a:prstGeom>
            <a:noFill/>
            <a:ln w="111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221" name="Freeform 661"/>
            <p:cNvSpPr>
              <a:spLocks/>
            </p:cNvSpPr>
            <p:nvPr/>
          </p:nvSpPr>
          <p:spPr bwMode="auto">
            <a:xfrm>
              <a:off x="4073" y="2319"/>
              <a:ext cx="662" cy="215"/>
            </a:xfrm>
            <a:custGeom>
              <a:avLst/>
              <a:gdLst>
                <a:gd name="T0" fmla="*/ 0 w 662"/>
                <a:gd name="T1" fmla="*/ 0 h 215"/>
                <a:gd name="T2" fmla="*/ 662 w 662"/>
                <a:gd name="T3" fmla="*/ 215 h 215"/>
                <a:gd name="T4" fmla="*/ 0 w 662"/>
                <a:gd name="T5" fmla="*/ 0 h 215"/>
              </a:gdLst>
              <a:ahLst/>
              <a:cxnLst>
                <a:cxn ang="0">
                  <a:pos x="T0" y="T1"/>
                </a:cxn>
                <a:cxn ang="0">
                  <a:pos x="T2" y="T3"/>
                </a:cxn>
                <a:cxn ang="0">
                  <a:pos x="T4" y="T5"/>
                </a:cxn>
              </a:cxnLst>
              <a:rect l="0" t="0" r="r" b="b"/>
              <a:pathLst>
                <a:path w="662" h="215">
                  <a:moveTo>
                    <a:pt x="0" y="0"/>
                  </a:moveTo>
                  <a:lnTo>
                    <a:pt x="662" y="21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222" name="Line 662"/>
            <p:cNvSpPr>
              <a:spLocks noChangeShapeType="1"/>
            </p:cNvSpPr>
            <p:nvPr/>
          </p:nvSpPr>
          <p:spPr bwMode="auto">
            <a:xfrm>
              <a:off x="4073" y="2319"/>
              <a:ext cx="662" cy="215"/>
            </a:xfrm>
            <a:prstGeom prst="line">
              <a:avLst/>
            </a:prstGeom>
            <a:noFill/>
            <a:ln w="111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229" name="Rectangle 669"/>
            <p:cNvSpPr>
              <a:spLocks noChangeArrowheads="1"/>
            </p:cNvSpPr>
            <p:nvPr/>
          </p:nvSpPr>
          <p:spPr bwMode="auto">
            <a:xfrm>
              <a:off x="4735" y="1889"/>
              <a:ext cx="682" cy="64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230" name="Line 670"/>
            <p:cNvSpPr>
              <a:spLocks noChangeShapeType="1"/>
            </p:cNvSpPr>
            <p:nvPr/>
          </p:nvSpPr>
          <p:spPr bwMode="auto">
            <a:xfrm>
              <a:off x="4524" y="2473"/>
              <a:ext cx="11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231" name="Rectangle 671"/>
            <p:cNvSpPr>
              <a:spLocks noChangeArrowheads="1"/>
            </p:cNvSpPr>
            <p:nvPr/>
          </p:nvSpPr>
          <p:spPr bwMode="auto">
            <a:xfrm>
              <a:off x="5051" y="1939"/>
              <a:ext cx="44" cy="10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79233" name="Rectangle 673"/>
            <p:cNvSpPr>
              <a:spLocks noChangeArrowheads="1"/>
            </p:cNvSpPr>
            <p:nvPr/>
          </p:nvSpPr>
          <p:spPr bwMode="auto">
            <a:xfrm>
              <a:off x="4963" y="1918"/>
              <a:ext cx="37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 cell</a:t>
              </a:r>
              <a:endParaRPr lang="en-US" altLang="en-US"/>
            </a:p>
          </p:txBody>
        </p:sp>
        <p:sp>
          <p:nvSpPr>
            <p:cNvPr id="579236" name="Rectangle 676"/>
            <p:cNvSpPr>
              <a:spLocks noChangeArrowheads="1"/>
            </p:cNvSpPr>
            <p:nvPr/>
          </p:nvSpPr>
          <p:spPr bwMode="auto">
            <a:xfrm>
              <a:off x="4987" y="2405"/>
              <a:ext cx="18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a:t>
              </a:r>
              <a:endParaRPr lang="en-US" altLang="en-US"/>
            </a:p>
          </p:txBody>
        </p:sp>
      </p:grpSp>
      <p:grpSp>
        <p:nvGrpSpPr>
          <p:cNvPr id="579244" name="Group 684"/>
          <p:cNvGrpSpPr>
            <a:grpSpLocks/>
          </p:cNvGrpSpPr>
          <p:nvPr/>
        </p:nvGrpSpPr>
        <p:grpSpPr bwMode="auto">
          <a:xfrm>
            <a:off x="2940050" y="1974850"/>
            <a:ext cx="1771650" cy="1811338"/>
            <a:chOff x="1852" y="1244"/>
            <a:chExt cx="1116" cy="1141"/>
          </a:xfrm>
        </p:grpSpPr>
        <p:sp>
          <p:nvSpPr>
            <p:cNvPr id="579043" name="Line 483"/>
            <p:cNvSpPr>
              <a:spLocks noChangeShapeType="1"/>
            </p:cNvSpPr>
            <p:nvPr/>
          </p:nvSpPr>
          <p:spPr bwMode="auto">
            <a:xfrm>
              <a:off x="2541" y="1418"/>
              <a:ext cx="33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44" name="Freeform 484"/>
            <p:cNvSpPr>
              <a:spLocks/>
            </p:cNvSpPr>
            <p:nvPr/>
          </p:nvSpPr>
          <p:spPr bwMode="auto">
            <a:xfrm>
              <a:off x="2860" y="1391"/>
              <a:ext cx="108" cy="54"/>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45" name="Line 485"/>
            <p:cNvSpPr>
              <a:spLocks noChangeShapeType="1"/>
            </p:cNvSpPr>
            <p:nvPr/>
          </p:nvSpPr>
          <p:spPr bwMode="auto">
            <a:xfrm>
              <a:off x="2541" y="1778"/>
              <a:ext cx="33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46" name="Freeform 486"/>
            <p:cNvSpPr>
              <a:spLocks/>
            </p:cNvSpPr>
            <p:nvPr/>
          </p:nvSpPr>
          <p:spPr bwMode="auto">
            <a:xfrm>
              <a:off x="2860" y="1751"/>
              <a:ext cx="108" cy="54"/>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070" name="Oval 510"/>
            <p:cNvSpPr>
              <a:spLocks noChangeArrowheads="1"/>
            </p:cNvSpPr>
            <p:nvPr/>
          </p:nvSpPr>
          <p:spPr bwMode="auto">
            <a:xfrm>
              <a:off x="1852" y="1862"/>
              <a:ext cx="27" cy="27"/>
            </a:xfrm>
            <a:prstGeom prst="ellipse">
              <a:avLst/>
            </a:prstGeom>
            <a:solidFill>
              <a:srgbClr val="000000"/>
            </a:solidFill>
            <a:ln w="15875">
              <a:solidFill>
                <a:srgbClr val="000000"/>
              </a:solidFill>
              <a:miter lim="800000"/>
              <a:headEnd/>
              <a:tailEnd/>
            </a:ln>
          </p:spPr>
          <p:txBody>
            <a:bodyPr/>
            <a:lstStyle/>
            <a:p>
              <a:endParaRPr lang="en-US"/>
            </a:p>
          </p:txBody>
        </p:sp>
        <p:sp>
          <p:nvSpPr>
            <p:cNvPr id="579071" name="Oval 511"/>
            <p:cNvSpPr>
              <a:spLocks noChangeArrowheads="1"/>
            </p:cNvSpPr>
            <p:nvPr/>
          </p:nvSpPr>
          <p:spPr bwMode="auto">
            <a:xfrm>
              <a:off x="1912" y="1862"/>
              <a:ext cx="27" cy="27"/>
            </a:xfrm>
            <a:prstGeom prst="ellipse">
              <a:avLst/>
            </a:prstGeom>
            <a:solidFill>
              <a:srgbClr val="000000"/>
            </a:solidFill>
            <a:ln w="15875">
              <a:solidFill>
                <a:srgbClr val="000000"/>
              </a:solidFill>
              <a:miter lim="800000"/>
              <a:headEnd/>
              <a:tailEnd/>
            </a:ln>
          </p:spPr>
          <p:txBody>
            <a:bodyPr/>
            <a:lstStyle/>
            <a:p>
              <a:endParaRPr lang="en-US"/>
            </a:p>
          </p:txBody>
        </p:sp>
        <p:sp>
          <p:nvSpPr>
            <p:cNvPr id="579072" name="Freeform 512"/>
            <p:cNvSpPr>
              <a:spLocks/>
            </p:cNvSpPr>
            <p:nvPr/>
          </p:nvSpPr>
          <p:spPr bwMode="auto">
            <a:xfrm>
              <a:off x="1865" y="1919"/>
              <a:ext cx="672" cy="457"/>
            </a:xfrm>
            <a:custGeom>
              <a:avLst/>
              <a:gdLst>
                <a:gd name="T0" fmla="*/ 672 w 672"/>
                <a:gd name="T1" fmla="*/ 91 h 457"/>
                <a:gd name="T2" fmla="*/ 672 w 672"/>
                <a:gd name="T3" fmla="*/ 457 h 457"/>
                <a:gd name="T4" fmla="*/ 0 w 672"/>
                <a:gd name="T5" fmla="*/ 457 h 457"/>
                <a:gd name="T6" fmla="*/ 0 w 672"/>
                <a:gd name="T7" fmla="*/ 0 h 457"/>
              </a:gdLst>
              <a:ahLst/>
              <a:cxnLst>
                <a:cxn ang="0">
                  <a:pos x="T0" y="T1"/>
                </a:cxn>
                <a:cxn ang="0">
                  <a:pos x="T2" y="T3"/>
                </a:cxn>
                <a:cxn ang="0">
                  <a:pos x="T4" y="T5"/>
                </a:cxn>
                <a:cxn ang="0">
                  <a:pos x="T6" y="T7"/>
                </a:cxn>
              </a:cxnLst>
              <a:rect l="0" t="0" r="r" b="b"/>
              <a:pathLst>
                <a:path w="672" h="457">
                  <a:moveTo>
                    <a:pt x="672" y="91"/>
                  </a:moveTo>
                  <a:lnTo>
                    <a:pt x="672" y="457"/>
                  </a:lnTo>
                  <a:lnTo>
                    <a:pt x="0" y="457"/>
                  </a:lnTo>
                  <a:lnTo>
                    <a:pt x="0" y="0"/>
                  </a:lnTo>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073" name="Freeform 513"/>
            <p:cNvSpPr>
              <a:spLocks/>
            </p:cNvSpPr>
            <p:nvPr/>
          </p:nvSpPr>
          <p:spPr bwMode="auto">
            <a:xfrm>
              <a:off x="1865" y="1244"/>
              <a:ext cx="672" cy="685"/>
            </a:xfrm>
            <a:custGeom>
              <a:avLst/>
              <a:gdLst>
                <a:gd name="T0" fmla="*/ 0 w 672"/>
                <a:gd name="T1" fmla="*/ 594 h 685"/>
                <a:gd name="T2" fmla="*/ 0 w 672"/>
                <a:gd name="T3" fmla="*/ 0 h 685"/>
                <a:gd name="T4" fmla="*/ 672 w 672"/>
                <a:gd name="T5" fmla="*/ 0 h 685"/>
                <a:gd name="T6" fmla="*/ 672 w 672"/>
                <a:gd name="T7" fmla="*/ 685 h 685"/>
              </a:gdLst>
              <a:ahLst/>
              <a:cxnLst>
                <a:cxn ang="0">
                  <a:pos x="T0" y="T1"/>
                </a:cxn>
                <a:cxn ang="0">
                  <a:pos x="T2" y="T3"/>
                </a:cxn>
                <a:cxn ang="0">
                  <a:pos x="T4" y="T5"/>
                </a:cxn>
                <a:cxn ang="0">
                  <a:pos x="T6" y="T7"/>
                </a:cxn>
              </a:cxnLst>
              <a:rect l="0" t="0" r="r" b="b"/>
              <a:pathLst>
                <a:path w="672" h="685">
                  <a:moveTo>
                    <a:pt x="0" y="594"/>
                  </a:moveTo>
                  <a:lnTo>
                    <a:pt x="0" y="0"/>
                  </a:lnTo>
                  <a:lnTo>
                    <a:pt x="672" y="0"/>
                  </a:lnTo>
                  <a:lnTo>
                    <a:pt x="672" y="685"/>
                  </a:lnTo>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79079" name="Line 519"/>
            <p:cNvSpPr>
              <a:spLocks noChangeShapeType="1"/>
            </p:cNvSpPr>
            <p:nvPr/>
          </p:nvSpPr>
          <p:spPr bwMode="auto">
            <a:xfrm>
              <a:off x="2541" y="2282"/>
              <a:ext cx="339"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79080" name="Freeform 520"/>
            <p:cNvSpPr>
              <a:spLocks/>
            </p:cNvSpPr>
            <p:nvPr/>
          </p:nvSpPr>
          <p:spPr bwMode="auto">
            <a:xfrm>
              <a:off x="2860" y="2255"/>
              <a:ext cx="108" cy="54"/>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79126" name="Rectangle 566"/>
            <p:cNvSpPr>
              <a:spLocks noChangeArrowheads="1"/>
            </p:cNvSpPr>
            <p:nvPr/>
          </p:nvSpPr>
          <p:spPr bwMode="auto">
            <a:xfrm>
              <a:off x="1893" y="1547"/>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a0</a:t>
              </a:r>
              <a:endParaRPr lang="en-US" altLang="en-US"/>
            </a:p>
          </p:txBody>
        </p:sp>
        <p:sp>
          <p:nvSpPr>
            <p:cNvPr id="579127" name="Rectangle 567"/>
            <p:cNvSpPr>
              <a:spLocks noChangeArrowheads="1"/>
            </p:cNvSpPr>
            <p:nvPr/>
          </p:nvSpPr>
          <p:spPr bwMode="auto">
            <a:xfrm>
              <a:off x="1893" y="1661"/>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a1</a:t>
              </a:r>
              <a:endParaRPr lang="en-US" altLang="en-US"/>
            </a:p>
          </p:txBody>
        </p:sp>
        <p:sp>
          <p:nvSpPr>
            <p:cNvPr id="579128" name="Rectangle 568"/>
            <p:cNvSpPr>
              <a:spLocks noChangeArrowheads="1"/>
            </p:cNvSpPr>
            <p:nvPr/>
          </p:nvSpPr>
          <p:spPr bwMode="auto">
            <a:xfrm>
              <a:off x="2407" y="1363"/>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d0</a:t>
              </a:r>
              <a:endParaRPr lang="en-US" altLang="en-US"/>
            </a:p>
          </p:txBody>
        </p:sp>
        <p:sp>
          <p:nvSpPr>
            <p:cNvPr id="579129" name="Rectangle 569"/>
            <p:cNvSpPr>
              <a:spLocks noChangeArrowheads="1"/>
            </p:cNvSpPr>
            <p:nvPr/>
          </p:nvSpPr>
          <p:spPr bwMode="auto">
            <a:xfrm>
              <a:off x="2407" y="1720"/>
              <a:ext cx="124"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d1</a:t>
              </a:r>
              <a:endParaRPr lang="en-US" altLang="en-US"/>
            </a:p>
          </p:txBody>
        </p:sp>
        <p:sp>
          <p:nvSpPr>
            <p:cNvPr id="579130" name="Rectangle 570"/>
            <p:cNvSpPr>
              <a:spLocks noChangeArrowheads="1"/>
            </p:cNvSpPr>
            <p:nvPr/>
          </p:nvSpPr>
          <p:spPr bwMode="auto">
            <a:xfrm>
              <a:off x="2208" y="2221"/>
              <a:ext cx="30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d(M-1)</a:t>
              </a:r>
              <a:endParaRPr lang="en-US" altLang="en-US"/>
            </a:p>
          </p:txBody>
        </p:sp>
        <p:sp>
          <p:nvSpPr>
            <p:cNvPr id="579133" name="Rectangle 573"/>
            <p:cNvSpPr>
              <a:spLocks noChangeArrowheads="1"/>
            </p:cNvSpPr>
            <p:nvPr/>
          </p:nvSpPr>
          <p:spPr bwMode="auto">
            <a:xfrm>
              <a:off x="1893" y="1959"/>
              <a:ext cx="29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a(A-1)</a:t>
              </a:r>
              <a:endParaRPr lang="en-US" altLang="en-US"/>
            </a:p>
          </p:txBody>
        </p:sp>
        <p:sp>
          <p:nvSpPr>
            <p:cNvPr id="579137" name="Rectangle 577"/>
            <p:cNvSpPr>
              <a:spLocks noChangeArrowheads="1"/>
            </p:cNvSpPr>
            <p:nvPr/>
          </p:nvSpPr>
          <p:spPr bwMode="auto">
            <a:xfrm>
              <a:off x="2008" y="225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a:t>
              </a:r>
              <a:endParaRPr lang="en-US" altLang="en-US"/>
            </a:p>
          </p:txBody>
        </p:sp>
        <p:sp>
          <p:nvSpPr>
            <p:cNvPr id="579138" name="Rectangle 578"/>
            <p:cNvSpPr>
              <a:spLocks noChangeArrowheads="1"/>
            </p:cNvSpPr>
            <p:nvPr/>
          </p:nvSpPr>
          <p:spPr bwMode="auto">
            <a:xfrm>
              <a:off x="2087" y="1690"/>
              <a:ext cx="20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AxM</a:t>
              </a:r>
              <a:endParaRPr lang="en-US" altLang="en-US"/>
            </a:p>
          </p:txBody>
        </p:sp>
        <p:sp>
          <p:nvSpPr>
            <p:cNvPr id="579141" name="Rectangle 581"/>
            <p:cNvSpPr>
              <a:spLocks noChangeArrowheads="1"/>
            </p:cNvSpPr>
            <p:nvPr/>
          </p:nvSpPr>
          <p:spPr bwMode="auto">
            <a:xfrm>
              <a:off x="2017" y="1811"/>
              <a:ext cx="3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decoder</a:t>
              </a:r>
              <a:endParaRPr lang="en-US" altLang="en-US"/>
            </a:p>
          </p:txBody>
        </p:sp>
        <p:sp>
          <p:nvSpPr>
            <p:cNvPr id="579148" name="Rectangle 588"/>
            <p:cNvSpPr>
              <a:spLocks noChangeArrowheads="1"/>
            </p:cNvSpPr>
            <p:nvPr/>
          </p:nvSpPr>
          <p:spPr bwMode="auto">
            <a:xfrm>
              <a:off x="2585" y="1272"/>
              <a:ext cx="33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enable</a:t>
              </a:r>
              <a:endParaRPr lang="en-US" altLang="en-US"/>
            </a:p>
          </p:txBody>
        </p:sp>
        <p:sp>
          <p:nvSpPr>
            <p:cNvPr id="579240" name="Oval 680"/>
            <p:cNvSpPr>
              <a:spLocks noChangeArrowheads="1"/>
            </p:cNvSpPr>
            <p:nvPr/>
          </p:nvSpPr>
          <p:spPr bwMode="auto">
            <a:xfrm>
              <a:off x="2467" y="1959"/>
              <a:ext cx="27" cy="27"/>
            </a:xfrm>
            <a:prstGeom prst="ellipse">
              <a:avLst/>
            </a:prstGeom>
            <a:solidFill>
              <a:srgbClr val="000000"/>
            </a:solidFill>
            <a:ln w="15875">
              <a:solidFill>
                <a:srgbClr val="000000"/>
              </a:solidFill>
              <a:miter lim="800000"/>
              <a:headEnd/>
              <a:tailEnd/>
            </a:ln>
          </p:spPr>
          <p:txBody>
            <a:bodyPr/>
            <a:lstStyle/>
            <a:p>
              <a:endParaRPr lang="en-US"/>
            </a:p>
          </p:txBody>
        </p:sp>
        <p:sp>
          <p:nvSpPr>
            <p:cNvPr id="579241" name="Oval 681"/>
            <p:cNvSpPr>
              <a:spLocks noChangeArrowheads="1"/>
            </p:cNvSpPr>
            <p:nvPr/>
          </p:nvSpPr>
          <p:spPr bwMode="auto">
            <a:xfrm>
              <a:off x="2527" y="1959"/>
              <a:ext cx="24" cy="27"/>
            </a:xfrm>
            <a:prstGeom prst="ellipse">
              <a:avLst/>
            </a:prstGeom>
            <a:solidFill>
              <a:srgbClr val="000000"/>
            </a:solidFill>
            <a:ln w="15875">
              <a:solidFill>
                <a:srgbClr val="000000"/>
              </a:solidFill>
              <a:miter lim="800000"/>
              <a:headEnd/>
              <a:tailEnd/>
            </a:ln>
          </p:spPr>
          <p:txBody>
            <a:bodyPr/>
            <a:lstStyle/>
            <a:p>
              <a:endParaRPr lang="en-US"/>
            </a:p>
          </p:txBody>
        </p:sp>
        <p:sp>
          <p:nvSpPr>
            <p:cNvPr id="579242" name="Oval 682"/>
            <p:cNvSpPr>
              <a:spLocks noChangeArrowheads="1"/>
            </p:cNvSpPr>
            <p:nvPr/>
          </p:nvSpPr>
          <p:spPr bwMode="auto">
            <a:xfrm>
              <a:off x="2584" y="1959"/>
              <a:ext cx="27" cy="27"/>
            </a:xfrm>
            <a:prstGeom prst="ellipse">
              <a:avLst/>
            </a:prstGeom>
            <a:solidFill>
              <a:srgbClr val="000000"/>
            </a:solidFill>
            <a:ln w="15875">
              <a:solidFill>
                <a:srgbClr val="000000"/>
              </a:solidFill>
              <a:miter lim="800000"/>
              <a:headEnd/>
              <a:tailEnd/>
            </a:ln>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792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7924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7924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792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Slide Number Placeholder 3"/>
          <p:cNvSpPr>
            <a:spLocks noGrp="1"/>
          </p:cNvSpPr>
          <p:nvPr>
            <p:ph type="sldNum" sz="quarter" idx="10"/>
          </p:nvPr>
        </p:nvSpPr>
        <p:spPr/>
        <p:txBody>
          <a:bodyPr/>
          <a:lstStyle/>
          <a:p>
            <a:fld id="{E9FA44EC-CE76-47AD-BE11-33E0231F0778}" type="slidenum">
              <a:rPr lang="en-US" altLang="en-US"/>
              <a:pPr/>
              <a:t>64</a:t>
            </a:fld>
            <a:endParaRPr lang="en-US" altLang="en-US"/>
          </a:p>
        </p:txBody>
      </p:sp>
      <p:sp>
        <p:nvSpPr>
          <p:cNvPr id="581634" name="Rectangle 2"/>
          <p:cNvSpPr>
            <a:spLocks noGrp="1" noChangeArrowheads="1"/>
          </p:cNvSpPr>
          <p:nvPr>
            <p:ph type="title"/>
          </p:nvPr>
        </p:nvSpPr>
        <p:spPr/>
        <p:txBody>
          <a:bodyPr/>
          <a:lstStyle/>
          <a:p>
            <a:r>
              <a:rPr lang="en-US" altLang="en-US"/>
              <a:t>Static RAM (SRAM)</a:t>
            </a:r>
          </a:p>
        </p:txBody>
      </p:sp>
      <p:sp>
        <p:nvSpPr>
          <p:cNvPr id="581635" name="Rectangle 3"/>
          <p:cNvSpPr>
            <a:spLocks noGrp="1" noChangeArrowheads="1"/>
          </p:cNvSpPr>
          <p:nvPr>
            <p:ph type="body" idx="1"/>
          </p:nvPr>
        </p:nvSpPr>
        <p:spPr>
          <a:xfrm>
            <a:off x="180975" y="3132138"/>
            <a:ext cx="5375275" cy="2735262"/>
          </a:xfrm>
        </p:spPr>
        <p:txBody>
          <a:bodyPr/>
          <a:lstStyle/>
          <a:p>
            <a:pPr>
              <a:lnSpc>
                <a:spcPct val="90000"/>
              </a:lnSpc>
            </a:pPr>
            <a:r>
              <a:rPr lang="en-US" altLang="en-US" sz="2000"/>
              <a:t>“Static” RAM cell</a:t>
            </a:r>
          </a:p>
          <a:p>
            <a:pPr lvl="1">
              <a:lnSpc>
                <a:spcPct val="90000"/>
              </a:lnSpc>
            </a:pPr>
            <a:r>
              <a:rPr lang="en-US" altLang="en-US" sz="1800"/>
              <a:t>6 transistors </a:t>
            </a:r>
            <a:r>
              <a:rPr lang="en-US" altLang="en-US" sz="1400"/>
              <a:t>(recall inverter is 2 transistors)</a:t>
            </a:r>
          </a:p>
          <a:p>
            <a:pPr lvl="1">
              <a:lnSpc>
                <a:spcPct val="90000"/>
              </a:lnSpc>
            </a:pPr>
            <a:r>
              <a:rPr lang="en-US" altLang="en-US" sz="1800"/>
              <a:t>Writing this cell</a:t>
            </a:r>
          </a:p>
          <a:p>
            <a:pPr lvl="2">
              <a:lnSpc>
                <a:spcPct val="90000"/>
              </a:lnSpc>
            </a:pPr>
            <a:r>
              <a:rPr lang="en-US" altLang="en-US" sz="1600" i="1"/>
              <a:t>word enable</a:t>
            </a:r>
            <a:r>
              <a:rPr lang="en-US" altLang="en-US" sz="1600"/>
              <a:t> input comes from decoder</a:t>
            </a:r>
          </a:p>
          <a:p>
            <a:pPr lvl="2">
              <a:lnSpc>
                <a:spcPct val="90000"/>
              </a:lnSpc>
            </a:pPr>
            <a:r>
              <a:rPr lang="en-US" altLang="en-US" sz="1600"/>
              <a:t>When </a:t>
            </a:r>
            <a:r>
              <a:rPr lang="en-US" altLang="en-US" sz="1600">
                <a:solidFill>
                  <a:srgbClr val="00FF00"/>
                </a:solidFill>
              </a:rPr>
              <a:t>0</a:t>
            </a:r>
            <a:r>
              <a:rPr lang="en-US" altLang="en-US" sz="1600"/>
              <a:t>, value </a:t>
            </a:r>
            <a:r>
              <a:rPr lang="en-US" altLang="en-US" sz="1600" i="1"/>
              <a:t>d</a:t>
            </a:r>
            <a:r>
              <a:rPr lang="en-US" altLang="en-US" sz="1600"/>
              <a:t> loops around inverters</a:t>
            </a:r>
          </a:p>
          <a:p>
            <a:pPr lvl="3">
              <a:lnSpc>
                <a:spcPct val="90000"/>
              </a:lnSpc>
            </a:pPr>
            <a:r>
              <a:rPr lang="en-US" altLang="en-US" sz="1400"/>
              <a:t>That loop is where a bit stays stored</a:t>
            </a:r>
          </a:p>
          <a:p>
            <a:pPr lvl="2">
              <a:lnSpc>
                <a:spcPct val="90000"/>
              </a:lnSpc>
            </a:pPr>
            <a:r>
              <a:rPr lang="en-US" altLang="en-US" sz="1600"/>
              <a:t>When </a:t>
            </a:r>
            <a:r>
              <a:rPr lang="en-US" altLang="en-US" sz="1600">
                <a:solidFill>
                  <a:srgbClr val="00FF00"/>
                </a:solidFill>
              </a:rPr>
              <a:t>1</a:t>
            </a:r>
            <a:r>
              <a:rPr lang="en-US" altLang="en-US" sz="1600"/>
              <a:t>, the </a:t>
            </a:r>
            <a:r>
              <a:rPr lang="en-US" altLang="en-US" sz="1600" i="1"/>
              <a:t>data</a:t>
            </a:r>
            <a:r>
              <a:rPr lang="en-US" altLang="en-US" sz="1600"/>
              <a:t> bit value enters the loop</a:t>
            </a:r>
          </a:p>
          <a:p>
            <a:pPr lvl="3">
              <a:lnSpc>
                <a:spcPct val="90000"/>
              </a:lnSpc>
            </a:pPr>
            <a:r>
              <a:rPr lang="en-US" altLang="en-US" sz="1400" i="1"/>
              <a:t>data</a:t>
            </a:r>
            <a:r>
              <a:rPr lang="en-US" altLang="en-US" sz="1400"/>
              <a:t> is the bit to be stored in this cell</a:t>
            </a:r>
            <a:r>
              <a:rPr lang="en-US" altLang="en-US" sz="1400" i="1"/>
              <a:t> </a:t>
            </a:r>
          </a:p>
          <a:p>
            <a:pPr lvl="3">
              <a:lnSpc>
                <a:spcPct val="90000"/>
              </a:lnSpc>
            </a:pPr>
            <a:r>
              <a:rPr lang="en-US" altLang="en-US" sz="1400" i="1"/>
              <a:t>data’</a:t>
            </a:r>
            <a:r>
              <a:rPr lang="en-US" altLang="en-US" sz="1400"/>
              <a:t> enters on other side</a:t>
            </a:r>
          </a:p>
          <a:p>
            <a:pPr lvl="3">
              <a:lnSpc>
                <a:spcPct val="90000"/>
              </a:lnSpc>
            </a:pPr>
            <a:r>
              <a:rPr lang="en-US" altLang="en-US" sz="1400"/>
              <a:t>Example shows a “</a:t>
            </a:r>
            <a:r>
              <a:rPr lang="en-US" altLang="en-US" sz="1400">
                <a:solidFill>
                  <a:srgbClr val="0033CC"/>
                </a:solidFill>
              </a:rPr>
              <a:t>1</a:t>
            </a:r>
            <a:r>
              <a:rPr lang="en-US" altLang="en-US" sz="1400"/>
              <a:t>” being written into cell</a:t>
            </a:r>
          </a:p>
          <a:p>
            <a:pPr lvl="1">
              <a:lnSpc>
                <a:spcPct val="90000"/>
              </a:lnSpc>
            </a:pPr>
            <a:endParaRPr lang="en-US" altLang="en-US" sz="1800"/>
          </a:p>
        </p:txBody>
      </p:sp>
      <p:pic>
        <p:nvPicPr>
          <p:cNvPr id="581668" name="Picture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963" y="1228725"/>
            <a:ext cx="3322637"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1669" name="Line 37"/>
          <p:cNvSpPr>
            <a:spLocks noChangeShapeType="1"/>
          </p:cNvSpPr>
          <p:nvPr/>
        </p:nvSpPr>
        <p:spPr bwMode="auto">
          <a:xfrm>
            <a:off x="1708150" y="1431925"/>
            <a:ext cx="1143000" cy="2159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1672" name="Text Box 40"/>
          <p:cNvSpPr txBox="1">
            <a:spLocks noChangeArrowheads="1"/>
          </p:cNvSpPr>
          <p:nvPr/>
        </p:nvSpPr>
        <p:spPr bwMode="auto">
          <a:xfrm>
            <a:off x="8874125" y="211772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81673" name="Text Box 41"/>
          <p:cNvSpPr txBox="1">
            <a:spLocks noChangeArrowheads="1"/>
          </p:cNvSpPr>
          <p:nvPr/>
        </p:nvSpPr>
        <p:spPr bwMode="auto">
          <a:xfrm>
            <a:off x="5683250" y="97313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FF0000"/>
                </a:solidFill>
              </a:rPr>
              <a:t>SRAM</a:t>
            </a:r>
            <a:r>
              <a:rPr lang="en-US" altLang="en-US" sz="1800"/>
              <a:t> cell</a:t>
            </a:r>
          </a:p>
        </p:txBody>
      </p:sp>
      <p:sp>
        <p:nvSpPr>
          <p:cNvPr id="581758" name="Rectangle 126"/>
          <p:cNvSpPr>
            <a:spLocks noChangeArrowheads="1"/>
          </p:cNvSpPr>
          <p:nvPr/>
        </p:nvSpPr>
        <p:spPr bwMode="auto">
          <a:xfrm>
            <a:off x="6407150" y="1539875"/>
            <a:ext cx="2227263" cy="141287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759" name="Freeform 127"/>
          <p:cNvSpPr>
            <a:spLocks/>
          </p:cNvSpPr>
          <p:nvPr/>
        </p:nvSpPr>
        <p:spPr bwMode="auto">
          <a:xfrm>
            <a:off x="7354888" y="2100263"/>
            <a:ext cx="317500" cy="401637"/>
          </a:xfrm>
          <a:custGeom>
            <a:avLst/>
            <a:gdLst>
              <a:gd name="T0" fmla="*/ 0 w 200"/>
              <a:gd name="T1" fmla="*/ 253 h 253"/>
              <a:gd name="T2" fmla="*/ 200 w 200"/>
              <a:gd name="T3" fmla="*/ 126 h 253"/>
              <a:gd name="T4" fmla="*/ 0 w 200"/>
              <a:gd name="T5" fmla="*/ 0 h 253"/>
              <a:gd name="T6" fmla="*/ 0 w 200"/>
              <a:gd name="T7" fmla="*/ 253 h 253"/>
            </a:gdLst>
            <a:ahLst/>
            <a:cxnLst>
              <a:cxn ang="0">
                <a:pos x="T0" y="T1"/>
              </a:cxn>
              <a:cxn ang="0">
                <a:pos x="T2" y="T3"/>
              </a:cxn>
              <a:cxn ang="0">
                <a:pos x="T4" y="T5"/>
              </a:cxn>
              <a:cxn ang="0">
                <a:pos x="T6" y="T7"/>
              </a:cxn>
            </a:cxnLst>
            <a:rect l="0" t="0" r="r" b="b"/>
            <a:pathLst>
              <a:path w="200" h="253">
                <a:moveTo>
                  <a:pt x="0" y="253"/>
                </a:moveTo>
                <a:lnTo>
                  <a:pt x="200" y="126"/>
                </a:lnTo>
                <a:lnTo>
                  <a:pt x="0" y="0"/>
                </a:lnTo>
                <a:lnTo>
                  <a:pt x="0" y="253"/>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760" name="Oval 128"/>
          <p:cNvSpPr>
            <a:spLocks noChangeArrowheads="1"/>
          </p:cNvSpPr>
          <p:nvPr/>
        </p:nvSpPr>
        <p:spPr bwMode="auto">
          <a:xfrm>
            <a:off x="7678738" y="2262188"/>
            <a:ext cx="73025" cy="73025"/>
          </a:xfrm>
          <a:prstGeom prst="ellipse">
            <a:avLst/>
          </a:prstGeom>
          <a:solidFill>
            <a:srgbClr val="FFFFFF"/>
          </a:solidFill>
          <a:ln w="11113">
            <a:solidFill>
              <a:srgbClr val="0078C1"/>
            </a:solidFill>
            <a:miter lim="800000"/>
            <a:headEnd/>
            <a:tailEnd/>
          </a:ln>
        </p:spPr>
        <p:txBody>
          <a:bodyPr/>
          <a:lstStyle/>
          <a:p>
            <a:endParaRPr lang="en-US"/>
          </a:p>
        </p:txBody>
      </p:sp>
      <p:sp>
        <p:nvSpPr>
          <p:cNvPr id="581761" name="Freeform 129"/>
          <p:cNvSpPr>
            <a:spLocks/>
          </p:cNvSpPr>
          <p:nvPr/>
        </p:nvSpPr>
        <p:spPr bwMode="auto">
          <a:xfrm>
            <a:off x="7167563" y="1922463"/>
            <a:ext cx="192087" cy="373062"/>
          </a:xfrm>
          <a:custGeom>
            <a:avLst/>
            <a:gdLst>
              <a:gd name="T0" fmla="*/ 121 w 121"/>
              <a:gd name="T1" fmla="*/ 0 h 235"/>
              <a:gd name="T2" fmla="*/ 0 w 121"/>
              <a:gd name="T3" fmla="*/ 0 h 235"/>
              <a:gd name="T4" fmla="*/ 0 w 121"/>
              <a:gd name="T5" fmla="*/ 235 h 235"/>
            </a:gdLst>
            <a:ahLst/>
            <a:cxnLst>
              <a:cxn ang="0">
                <a:pos x="T0" y="T1"/>
              </a:cxn>
              <a:cxn ang="0">
                <a:pos x="T2" y="T3"/>
              </a:cxn>
              <a:cxn ang="0">
                <a:pos x="T4" y="T5"/>
              </a:cxn>
            </a:cxnLst>
            <a:rect l="0" t="0" r="r" b="b"/>
            <a:pathLst>
              <a:path w="121" h="235">
                <a:moveTo>
                  <a:pt x="121" y="0"/>
                </a:moveTo>
                <a:lnTo>
                  <a:pt x="0" y="0"/>
                </a:lnTo>
                <a:lnTo>
                  <a:pt x="0" y="235"/>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762" name="Freeform 130"/>
          <p:cNvSpPr>
            <a:spLocks/>
          </p:cNvSpPr>
          <p:nvPr/>
        </p:nvSpPr>
        <p:spPr bwMode="auto">
          <a:xfrm>
            <a:off x="7702550" y="1922463"/>
            <a:ext cx="192088" cy="373062"/>
          </a:xfrm>
          <a:custGeom>
            <a:avLst/>
            <a:gdLst>
              <a:gd name="T0" fmla="*/ 0 w 121"/>
              <a:gd name="T1" fmla="*/ 0 h 235"/>
              <a:gd name="T2" fmla="*/ 121 w 121"/>
              <a:gd name="T3" fmla="*/ 0 h 235"/>
              <a:gd name="T4" fmla="*/ 121 w 121"/>
              <a:gd name="T5" fmla="*/ 235 h 235"/>
            </a:gdLst>
            <a:ahLst/>
            <a:cxnLst>
              <a:cxn ang="0">
                <a:pos x="T0" y="T1"/>
              </a:cxn>
              <a:cxn ang="0">
                <a:pos x="T2" y="T3"/>
              </a:cxn>
              <a:cxn ang="0">
                <a:pos x="T4" y="T5"/>
              </a:cxn>
            </a:cxnLst>
            <a:rect l="0" t="0" r="r" b="b"/>
            <a:pathLst>
              <a:path w="121" h="235">
                <a:moveTo>
                  <a:pt x="0" y="0"/>
                </a:moveTo>
                <a:lnTo>
                  <a:pt x="121" y="0"/>
                </a:lnTo>
                <a:lnTo>
                  <a:pt x="121" y="235"/>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763" name="Freeform 131"/>
          <p:cNvSpPr>
            <a:spLocks/>
          </p:cNvSpPr>
          <p:nvPr/>
        </p:nvSpPr>
        <p:spPr bwMode="auto">
          <a:xfrm>
            <a:off x="7383463" y="1722438"/>
            <a:ext cx="319087" cy="406400"/>
          </a:xfrm>
          <a:custGeom>
            <a:avLst/>
            <a:gdLst>
              <a:gd name="T0" fmla="*/ 201 w 201"/>
              <a:gd name="T1" fmla="*/ 256 h 256"/>
              <a:gd name="T2" fmla="*/ 0 w 201"/>
              <a:gd name="T3" fmla="*/ 130 h 256"/>
              <a:gd name="T4" fmla="*/ 201 w 201"/>
              <a:gd name="T5" fmla="*/ 0 h 256"/>
              <a:gd name="T6" fmla="*/ 201 w 201"/>
              <a:gd name="T7" fmla="*/ 256 h 256"/>
            </a:gdLst>
            <a:ahLst/>
            <a:cxnLst>
              <a:cxn ang="0">
                <a:pos x="T0" y="T1"/>
              </a:cxn>
              <a:cxn ang="0">
                <a:pos x="T2" y="T3"/>
              </a:cxn>
              <a:cxn ang="0">
                <a:pos x="T4" y="T5"/>
              </a:cxn>
              <a:cxn ang="0">
                <a:pos x="T6" y="T7"/>
              </a:cxn>
            </a:cxnLst>
            <a:rect l="0" t="0" r="r" b="b"/>
            <a:pathLst>
              <a:path w="201" h="256">
                <a:moveTo>
                  <a:pt x="201" y="256"/>
                </a:moveTo>
                <a:lnTo>
                  <a:pt x="0" y="130"/>
                </a:lnTo>
                <a:lnTo>
                  <a:pt x="201" y="0"/>
                </a:lnTo>
                <a:lnTo>
                  <a:pt x="201" y="256"/>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764" name="Oval 132"/>
          <p:cNvSpPr>
            <a:spLocks noChangeArrowheads="1"/>
          </p:cNvSpPr>
          <p:nvPr/>
        </p:nvSpPr>
        <p:spPr bwMode="auto">
          <a:xfrm>
            <a:off x="7305675" y="1889125"/>
            <a:ext cx="73025" cy="73025"/>
          </a:xfrm>
          <a:prstGeom prst="ellipse">
            <a:avLst/>
          </a:prstGeom>
          <a:solidFill>
            <a:srgbClr val="FFFFFF"/>
          </a:solidFill>
          <a:ln w="11113">
            <a:solidFill>
              <a:srgbClr val="0078C1"/>
            </a:solidFill>
            <a:miter lim="800000"/>
            <a:headEnd/>
            <a:tailEnd/>
          </a:ln>
        </p:spPr>
        <p:txBody>
          <a:bodyPr/>
          <a:lstStyle/>
          <a:p>
            <a:endParaRPr lang="en-US"/>
          </a:p>
        </p:txBody>
      </p:sp>
      <p:sp>
        <p:nvSpPr>
          <p:cNvPr id="581765" name="Oval 133"/>
          <p:cNvSpPr>
            <a:spLocks noChangeArrowheads="1"/>
          </p:cNvSpPr>
          <p:nvPr/>
        </p:nvSpPr>
        <p:spPr bwMode="auto">
          <a:xfrm>
            <a:off x="6545263" y="2262188"/>
            <a:ext cx="73025" cy="73025"/>
          </a:xfrm>
          <a:prstGeom prst="ellipse">
            <a:avLst/>
          </a:prstGeom>
          <a:solidFill>
            <a:srgbClr val="000000"/>
          </a:solidFill>
          <a:ln w="11113">
            <a:solidFill>
              <a:srgbClr val="000000"/>
            </a:solidFill>
            <a:miter lim="800000"/>
            <a:headEnd/>
            <a:tailEnd/>
          </a:ln>
        </p:spPr>
        <p:txBody>
          <a:bodyPr/>
          <a:lstStyle/>
          <a:p>
            <a:endParaRPr lang="en-US"/>
          </a:p>
        </p:txBody>
      </p:sp>
      <p:sp>
        <p:nvSpPr>
          <p:cNvPr id="581766" name="Oval 134"/>
          <p:cNvSpPr>
            <a:spLocks noChangeArrowheads="1"/>
          </p:cNvSpPr>
          <p:nvPr/>
        </p:nvSpPr>
        <p:spPr bwMode="auto">
          <a:xfrm>
            <a:off x="7132638" y="2262188"/>
            <a:ext cx="74612" cy="73025"/>
          </a:xfrm>
          <a:prstGeom prst="ellipse">
            <a:avLst/>
          </a:prstGeom>
          <a:solidFill>
            <a:srgbClr val="000000"/>
          </a:solidFill>
          <a:ln w="11113">
            <a:solidFill>
              <a:srgbClr val="000000"/>
            </a:solidFill>
            <a:miter lim="800000"/>
            <a:headEnd/>
            <a:tailEnd/>
          </a:ln>
        </p:spPr>
        <p:txBody>
          <a:bodyPr/>
          <a:lstStyle/>
          <a:p>
            <a:endParaRPr lang="en-US"/>
          </a:p>
        </p:txBody>
      </p:sp>
      <p:sp>
        <p:nvSpPr>
          <p:cNvPr id="581767" name="Oval 135"/>
          <p:cNvSpPr>
            <a:spLocks noChangeArrowheads="1"/>
          </p:cNvSpPr>
          <p:nvPr/>
        </p:nvSpPr>
        <p:spPr bwMode="auto">
          <a:xfrm>
            <a:off x="7854950" y="2262188"/>
            <a:ext cx="73025" cy="73025"/>
          </a:xfrm>
          <a:prstGeom prst="ellipse">
            <a:avLst/>
          </a:prstGeom>
          <a:solidFill>
            <a:srgbClr val="000000"/>
          </a:solidFill>
          <a:ln w="11113">
            <a:solidFill>
              <a:srgbClr val="000000"/>
            </a:solidFill>
            <a:miter lim="800000"/>
            <a:headEnd/>
            <a:tailEnd/>
          </a:ln>
        </p:spPr>
        <p:txBody>
          <a:bodyPr/>
          <a:lstStyle/>
          <a:p>
            <a:endParaRPr lang="en-US"/>
          </a:p>
        </p:txBody>
      </p:sp>
      <p:sp>
        <p:nvSpPr>
          <p:cNvPr id="581768" name="Oval 136"/>
          <p:cNvSpPr>
            <a:spLocks noChangeArrowheads="1"/>
          </p:cNvSpPr>
          <p:nvPr/>
        </p:nvSpPr>
        <p:spPr bwMode="auto">
          <a:xfrm>
            <a:off x="8467725" y="2262188"/>
            <a:ext cx="74613" cy="73025"/>
          </a:xfrm>
          <a:prstGeom prst="ellipse">
            <a:avLst/>
          </a:prstGeom>
          <a:solidFill>
            <a:srgbClr val="000000"/>
          </a:solidFill>
          <a:ln w="11113">
            <a:solidFill>
              <a:srgbClr val="000000"/>
            </a:solidFill>
            <a:miter lim="800000"/>
            <a:headEnd/>
            <a:tailEnd/>
          </a:ln>
        </p:spPr>
        <p:txBody>
          <a:bodyPr/>
          <a:lstStyle/>
          <a:p>
            <a:endParaRPr lang="en-US"/>
          </a:p>
        </p:txBody>
      </p:sp>
      <p:sp>
        <p:nvSpPr>
          <p:cNvPr id="581769" name="Oval 137"/>
          <p:cNvSpPr>
            <a:spLocks noChangeArrowheads="1"/>
          </p:cNvSpPr>
          <p:nvPr/>
        </p:nvSpPr>
        <p:spPr bwMode="auto">
          <a:xfrm>
            <a:off x="8174038" y="2835275"/>
            <a:ext cx="77787" cy="74613"/>
          </a:xfrm>
          <a:prstGeom prst="ellipse">
            <a:avLst/>
          </a:prstGeom>
          <a:solidFill>
            <a:srgbClr val="000000"/>
          </a:solidFill>
          <a:ln w="11113">
            <a:solidFill>
              <a:srgbClr val="000000"/>
            </a:solidFill>
            <a:miter lim="800000"/>
            <a:headEnd/>
            <a:tailEnd/>
          </a:ln>
        </p:spPr>
        <p:txBody>
          <a:bodyPr/>
          <a:lstStyle/>
          <a:p>
            <a:endParaRPr lang="en-US"/>
          </a:p>
        </p:txBody>
      </p:sp>
      <p:sp>
        <p:nvSpPr>
          <p:cNvPr id="581770" name="Oval 138"/>
          <p:cNvSpPr>
            <a:spLocks noChangeArrowheads="1"/>
          </p:cNvSpPr>
          <p:nvPr/>
        </p:nvSpPr>
        <p:spPr bwMode="auto">
          <a:xfrm>
            <a:off x="6873875" y="2835275"/>
            <a:ext cx="73025" cy="74613"/>
          </a:xfrm>
          <a:prstGeom prst="ellipse">
            <a:avLst/>
          </a:prstGeom>
          <a:solidFill>
            <a:srgbClr val="000000"/>
          </a:solidFill>
          <a:ln w="11113">
            <a:solidFill>
              <a:srgbClr val="000000"/>
            </a:solidFill>
            <a:miter lim="800000"/>
            <a:headEnd/>
            <a:tailEnd/>
          </a:ln>
        </p:spPr>
        <p:txBody>
          <a:bodyPr/>
          <a:lstStyle/>
          <a:p>
            <a:endParaRPr lang="en-US"/>
          </a:p>
        </p:txBody>
      </p:sp>
      <p:sp>
        <p:nvSpPr>
          <p:cNvPr id="581771" name="Line 139"/>
          <p:cNvSpPr>
            <a:spLocks noChangeShapeType="1"/>
          </p:cNvSpPr>
          <p:nvPr/>
        </p:nvSpPr>
        <p:spPr bwMode="auto">
          <a:xfrm flipV="1">
            <a:off x="6911975" y="2516188"/>
            <a:ext cx="1588" cy="36353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772" name="Freeform 140"/>
          <p:cNvSpPr>
            <a:spLocks/>
          </p:cNvSpPr>
          <p:nvPr/>
        </p:nvSpPr>
        <p:spPr bwMode="auto">
          <a:xfrm>
            <a:off x="6550025" y="2300288"/>
            <a:ext cx="798513" cy="138112"/>
          </a:xfrm>
          <a:custGeom>
            <a:avLst/>
            <a:gdLst>
              <a:gd name="T0" fmla="*/ 503 w 503"/>
              <a:gd name="T1" fmla="*/ 0 h 87"/>
              <a:gd name="T2" fmla="*/ 309 w 503"/>
              <a:gd name="T3" fmla="*/ 0 h 87"/>
              <a:gd name="T4" fmla="*/ 309 w 503"/>
              <a:gd name="T5" fmla="*/ 87 h 87"/>
              <a:gd name="T6" fmla="*/ 148 w 503"/>
              <a:gd name="T7" fmla="*/ 87 h 87"/>
              <a:gd name="T8" fmla="*/ 148 w 503"/>
              <a:gd name="T9" fmla="*/ 0 h 87"/>
              <a:gd name="T10" fmla="*/ 0 w 503"/>
              <a:gd name="T11" fmla="*/ 0 h 87"/>
            </a:gdLst>
            <a:ahLst/>
            <a:cxnLst>
              <a:cxn ang="0">
                <a:pos x="T0" y="T1"/>
              </a:cxn>
              <a:cxn ang="0">
                <a:pos x="T2" y="T3"/>
              </a:cxn>
              <a:cxn ang="0">
                <a:pos x="T4" y="T5"/>
              </a:cxn>
              <a:cxn ang="0">
                <a:pos x="T6" y="T7"/>
              </a:cxn>
              <a:cxn ang="0">
                <a:pos x="T8" y="T9"/>
              </a:cxn>
              <a:cxn ang="0">
                <a:pos x="T10" y="T11"/>
              </a:cxn>
            </a:cxnLst>
            <a:rect l="0" t="0" r="r" b="b"/>
            <a:pathLst>
              <a:path w="503" h="87">
                <a:moveTo>
                  <a:pt x="503" y="0"/>
                </a:moveTo>
                <a:lnTo>
                  <a:pt x="309" y="0"/>
                </a:lnTo>
                <a:lnTo>
                  <a:pt x="309" y="87"/>
                </a:lnTo>
                <a:lnTo>
                  <a:pt x="148" y="87"/>
                </a:lnTo>
                <a:lnTo>
                  <a:pt x="148"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773" name="Line 141"/>
          <p:cNvSpPr>
            <a:spLocks noChangeShapeType="1"/>
          </p:cNvSpPr>
          <p:nvPr/>
        </p:nvSpPr>
        <p:spPr bwMode="auto">
          <a:xfrm flipH="1">
            <a:off x="6775450" y="2506663"/>
            <a:ext cx="274638"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774" name="Line 142"/>
          <p:cNvSpPr>
            <a:spLocks noChangeShapeType="1"/>
          </p:cNvSpPr>
          <p:nvPr/>
        </p:nvSpPr>
        <p:spPr bwMode="auto">
          <a:xfrm flipV="1">
            <a:off x="8212138" y="2516188"/>
            <a:ext cx="1587" cy="36353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775" name="Freeform 143"/>
          <p:cNvSpPr>
            <a:spLocks/>
          </p:cNvSpPr>
          <p:nvPr/>
        </p:nvSpPr>
        <p:spPr bwMode="auto">
          <a:xfrm>
            <a:off x="7751763" y="2300288"/>
            <a:ext cx="755650" cy="138112"/>
          </a:xfrm>
          <a:custGeom>
            <a:avLst/>
            <a:gdLst>
              <a:gd name="T0" fmla="*/ 476 w 476"/>
              <a:gd name="T1" fmla="*/ 0 h 87"/>
              <a:gd name="T2" fmla="*/ 371 w 476"/>
              <a:gd name="T3" fmla="*/ 0 h 87"/>
              <a:gd name="T4" fmla="*/ 371 w 476"/>
              <a:gd name="T5" fmla="*/ 87 h 87"/>
              <a:gd name="T6" fmla="*/ 210 w 476"/>
              <a:gd name="T7" fmla="*/ 87 h 87"/>
              <a:gd name="T8" fmla="*/ 210 w 476"/>
              <a:gd name="T9" fmla="*/ 0 h 87"/>
              <a:gd name="T10" fmla="*/ 0 w 476"/>
              <a:gd name="T11" fmla="*/ 0 h 87"/>
            </a:gdLst>
            <a:ahLst/>
            <a:cxnLst>
              <a:cxn ang="0">
                <a:pos x="T0" y="T1"/>
              </a:cxn>
              <a:cxn ang="0">
                <a:pos x="T2" y="T3"/>
              </a:cxn>
              <a:cxn ang="0">
                <a:pos x="T4" y="T5"/>
              </a:cxn>
              <a:cxn ang="0">
                <a:pos x="T6" y="T7"/>
              </a:cxn>
              <a:cxn ang="0">
                <a:pos x="T8" y="T9"/>
              </a:cxn>
              <a:cxn ang="0">
                <a:pos x="T10" y="T11"/>
              </a:cxn>
            </a:cxnLst>
            <a:rect l="0" t="0" r="r" b="b"/>
            <a:pathLst>
              <a:path w="476" h="87">
                <a:moveTo>
                  <a:pt x="476" y="0"/>
                </a:moveTo>
                <a:lnTo>
                  <a:pt x="371" y="0"/>
                </a:lnTo>
                <a:lnTo>
                  <a:pt x="371" y="87"/>
                </a:lnTo>
                <a:lnTo>
                  <a:pt x="210" y="87"/>
                </a:lnTo>
                <a:lnTo>
                  <a:pt x="210"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776" name="Line 144"/>
          <p:cNvSpPr>
            <a:spLocks noChangeShapeType="1"/>
          </p:cNvSpPr>
          <p:nvPr/>
        </p:nvSpPr>
        <p:spPr bwMode="auto">
          <a:xfrm flipH="1">
            <a:off x="8075613" y="2506663"/>
            <a:ext cx="274637"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777" name="Line 145"/>
          <p:cNvSpPr>
            <a:spLocks noChangeShapeType="1"/>
          </p:cNvSpPr>
          <p:nvPr/>
        </p:nvSpPr>
        <p:spPr bwMode="auto">
          <a:xfrm>
            <a:off x="6294438" y="2879725"/>
            <a:ext cx="249237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778" name="Line 146"/>
          <p:cNvSpPr>
            <a:spLocks noChangeShapeType="1"/>
          </p:cNvSpPr>
          <p:nvPr/>
        </p:nvSpPr>
        <p:spPr bwMode="auto">
          <a:xfrm>
            <a:off x="8502650" y="1490663"/>
            <a:ext cx="1588" cy="15763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779" name="Line 147"/>
          <p:cNvSpPr>
            <a:spLocks noChangeShapeType="1"/>
          </p:cNvSpPr>
          <p:nvPr/>
        </p:nvSpPr>
        <p:spPr bwMode="auto">
          <a:xfrm>
            <a:off x="6578600" y="1490663"/>
            <a:ext cx="1588" cy="15763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780" name="Rectangle 148"/>
          <p:cNvSpPr>
            <a:spLocks noChangeArrowheads="1"/>
          </p:cNvSpPr>
          <p:nvPr/>
        </p:nvSpPr>
        <p:spPr bwMode="auto">
          <a:xfrm>
            <a:off x="6434138" y="1314450"/>
            <a:ext cx="2952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a:t>
            </a:r>
            <a:endParaRPr lang="en-US" altLang="en-US"/>
          </a:p>
        </p:txBody>
      </p:sp>
      <p:sp>
        <p:nvSpPr>
          <p:cNvPr id="581783" name="Rectangle 151"/>
          <p:cNvSpPr>
            <a:spLocks noChangeArrowheads="1"/>
          </p:cNvSpPr>
          <p:nvPr/>
        </p:nvSpPr>
        <p:spPr bwMode="auto">
          <a:xfrm>
            <a:off x="8350250" y="1314450"/>
            <a:ext cx="3286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a:t>
            </a:r>
            <a:endParaRPr lang="en-US" altLang="en-US"/>
          </a:p>
        </p:txBody>
      </p:sp>
      <p:sp>
        <p:nvSpPr>
          <p:cNvPr id="581788" name="Rectangle 156"/>
          <p:cNvSpPr>
            <a:spLocks noChangeArrowheads="1"/>
          </p:cNvSpPr>
          <p:nvPr/>
        </p:nvSpPr>
        <p:spPr bwMode="auto">
          <a:xfrm>
            <a:off x="7977188" y="1743075"/>
            <a:ext cx="1174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a:p>
        </p:txBody>
      </p:sp>
      <p:sp>
        <p:nvSpPr>
          <p:cNvPr id="581790" name="Rectangle 158"/>
          <p:cNvSpPr>
            <a:spLocks noChangeArrowheads="1"/>
          </p:cNvSpPr>
          <p:nvPr/>
        </p:nvSpPr>
        <p:spPr bwMode="auto">
          <a:xfrm>
            <a:off x="7059613" y="1701800"/>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a:p>
        </p:txBody>
      </p:sp>
      <p:sp>
        <p:nvSpPr>
          <p:cNvPr id="581791" name="Rectangle 159"/>
          <p:cNvSpPr>
            <a:spLocks noChangeArrowheads="1"/>
          </p:cNvSpPr>
          <p:nvPr/>
        </p:nvSpPr>
        <p:spPr bwMode="auto">
          <a:xfrm>
            <a:off x="8140700" y="1571625"/>
            <a:ext cx="2270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cell</a:t>
            </a:r>
            <a:endParaRPr lang="en-US" altLang="en-US"/>
          </a:p>
        </p:txBody>
      </p:sp>
      <p:sp>
        <p:nvSpPr>
          <p:cNvPr id="581793" name="Rectangle 161"/>
          <p:cNvSpPr>
            <a:spLocks noChangeArrowheads="1"/>
          </p:cNvSpPr>
          <p:nvPr/>
        </p:nvSpPr>
        <p:spPr bwMode="auto">
          <a:xfrm>
            <a:off x="7151688" y="2697163"/>
            <a:ext cx="762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FF00"/>
                </a:solidFill>
                <a:latin typeface="Myriad Roman" charset="0"/>
              </a:rPr>
              <a:t>0</a:t>
            </a:r>
            <a:endParaRPr lang="en-US" altLang="en-US">
              <a:solidFill>
                <a:srgbClr val="00FF00"/>
              </a:solidFill>
            </a:endParaRPr>
          </a:p>
        </p:txBody>
      </p:sp>
      <p:sp>
        <p:nvSpPr>
          <p:cNvPr id="581794" name="Rectangle 162"/>
          <p:cNvSpPr>
            <a:spLocks noChangeArrowheads="1"/>
          </p:cNvSpPr>
          <p:nvPr/>
        </p:nvSpPr>
        <p:spPr bwMode="auto">
          <a:xfrm>
            <a:off x="5875338" y="2719388"/>
            <a:ext cx="328612"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word</a:t>
            </a:r>
            <a:endParaRPr lang="en-US" altLang="en-US"/>
          </a:p>
        </p:txBody>
      </p:sp>
      <p:sp>
        <p:nvSpPr>
          <p:cNvPr id="581798" name="Rectangle 166"/>
          <p:cNvSpPr>
            <a:spLocks noChangeArrowheads="1"/>
          </p:cNvSpPr>
          <p:nvPr/>
        </p:nvSpPr>
        <p:spPr bwMode="auto">
          <a:xfrm>
            <a:off x="5821363" y="2894013"/>
            <a:ext cx="4540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enable</a:t>
            </a:r>
            <a:endParaRPr lang="en-US" altLang="en-US"/>
          </a:p>
        </p:txBody>
      </p:sp>
      <p:sp>
        <p:nvSpPr>
          <p:cNvPr id="581799" name="Freeform 167"/>
          <p:cNvSpPr>
            <a:spLocks/>
          </p:cNvSpPr>
          <p:nvPr/>
        </p:nvSpPr>
        <p:spPr bwMode="auto">
          <a:xfrm>
            <a:off x="5759450" y="1260475"/>
            <a:ext cx="3111500" cy="1879600"/>
          </a:xfrm>
          <a:custGeom>
            <a:avLst/>
            <a:gdLst>
              <a:gd name="T0" fmla="*/ 1960 w 1960"/>
              <a:gd name="T1" fmla="*/ 1181 h 1184"/>
              <a:gd name="T2" fmla="*/ 0 w 1960"/>
              <a:gd name="T3" fmla="*/ 1184 h 1184"/>
              <a:gd name="T4" fmla="*/ 0 w 1960"/>
              <a:gd name="T5" fmla="*/ 3 h 1184"/>
              <a:gd name="T6" fmla="*/ 1960 w 1960"/>
              <a:gd name="T7" fmla="*/ 0 h 1184"/>
              <a:gd name="T8" fmla="*/ 1960 w 1960"/>
              <a:gd name="T9" fmla="*/ 1181 h 1184"/>
            </a:gdLst>
            <a:ahLst/>
            <a:cxnLst>
              <a:cxn ang="0">
                <a:pos x="T0" y="T1"/>
              </a:cxn>
              <a:cxn ang="0">
                <a:pos x="T2" y="T3"/>
              </a:cxn>
              <a:cxn ang="0">
                <a:pos x="T4" y="T5"/>
              </a:cxn>
              <a:cxn ang="0">
                <a:pos x="T6" y="T7"/>
              </a:cxn>
              <a:cxn ang="0">
                <a:pos x="T8" y="T9"/>
              </a:cxn>
            </a:cxnLst>
            <a:rect l="0" t="0" r="r" b="b"/>
            <a:pathLst>
              <a:path w="1960" h="1184">
                <a:moveTo>
                  <a:pt x="1960" y="1181"/>
                </a:moveTo>
                <a:lnTo>
                  <a:pt x="0" y="1184"/>
                </a:lnTo>
                <a:lnTo>
                  <a:pt x="0" y="3"/>
                </a:lnTo>
                <a:lnTo>
                  <a:pt x="1960" y="0"/>
                </a:lnTo>
                <a:lnTo>
                  <a:pt x="1960" y="1181"/>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81879" name="Group 247"/>
          <p:cNvGrpSpPr>
            <a:grpSpLocks/>
          </p:cNvGrpSpPr>
          <p:nvPr/>
        </p:nvGrpSpPr>
        <p:grpSpPr bwMode="auto">
          <a:xfrm>
            <a:off x="6434138" y="3716338"/>
            <a:ext cx="2203450" cy="1376362"/>
            <a:chOff x="4053" y="2500"/>
            <a:chExt cx="1388" cy="867"/>
          </a:xfrm>
        </p:grpSpPr>
        <p:sp>
          <p:nvSpPr>
            <p:cNvPr id="581834" name="Rectangle 202"/>
            <p:cNvSpPr>
              <a:spLocks noChangeArrowheads="1"/>
            </p:cNvSpPr>
            <p:nvPr/>
          </p:nvSpPr>
          <p:spPr bwMode="auto">
            <a:xfrm>
              <a:off x="4440" y="3252"/>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FF00"/>
                  </a:solidFill>
                  <a:latin typeface="Myriad Roman" charset="0"/>
                </a:rPr>
                <a:t>1</a:t>
              </a:r>
              <a:endParaRPr lang="en-US" altLang="en-US">
                <a:solidFill>
                  <a:srgbClr val="00FF00"/>
                </a:solidFill>
              </a:endParaRPr>
            </a:p>
          </p:txBody>
        </p:sp>
        <p:sp>
          <p:nvSpPr>
            <p:cNvPr id="581833" name="Rectangle 201"/>
            <p:cNvSpPr>
              <a:spLocks noChangeArrowheads="1"/>
            </p:cNvSpPr>
            <p:nvPr/>
          </p:nvSpPr>
          <p:spPr bwMode="auto">
            <a:xfrm>
              <a:off x="4440" y="2883"/>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1</a:t>
              </a:r>
              <a:endParaRPr lang="en-US" altLang="en-US">
                <a:solidFill>
                  <a:srgbClr val="0033CC"/>
                </a:solidFill>
              </a:endParaRPr>
            </a:p>
          </p:txBody>
        </p:sp>
        <p:sp>
          <p:nvSpPr>
            <p:cNvPr id="581835" name="Rectangle 203"/>
            <p:cNvSpPr>
              <a:spLocks noChangeArrowheads="1"/>
            </p:cNvSpPr>
            <p:nvPr/>
          </p:nvSpPr>
          <p:spPr bwMode="auto">
            <a:xfrm>
              <a:off x="4053" y="250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33CC"/>
                  </a:solidFill>
                  <a:latin typeface="Myriad Roman" charset="0"/>
                </a:rPr>
                <a:t>1</a:t>
              </a:r>
              <a:endParaRPr lang="en-US" altLang="en-US">
                <a:solidFill>
                  <a:srgbClr val="0033CC"/>
                </a:solidFill>
              </a:endParaRPr>
            </a:p>
          </p:txBody>
        </p:sp>
        <p:sp>
          <p:nvSpPr>
            <p:cNvPr id="581836" name="Rectangle 204"/>
            <p:cNvSpPr>
              <a:spLocks noChangeArrowheads="1"/>
            </p:cNvSpPr>
            <p:nvPr/>
          </p:nvSpPr>
          <p:spPr bwMode="auto">
            <a:xfrm>
              <a:off x="5009" y="289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0</a:t>
              </a:r>
              <a:endParaRPr lang="en-US" altLang="en-US"/>
            </a:p>
          </p:txBody>
        </p:sp>
        <p:sp>
          <p:nvSpPr>
            <p:cNvPr id="581837" name="Rectangle 205"/>
            <p:cNvSpPr>
              <a:spLocks noChangeArrowheads="1"/>
            </p:cNvSpPr>
            <p:nvPr/>
          </p:nvSpPr>
          <p:spPr bwMode="auto">
            <a:xfrm>
              <a:off x="5393" y="251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0</a:t>
              </a:r>
              <a:endParaRPr lang="en-US" altLang="en-US"/>
            </a:p>
          </p:txBody>
        </p:sp>
        <p:pic>
          <p:nvPicPr>
            <p:cNvPr id="581844" name="Picture 2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4" y="2619"/>
              <a:ext cx="350" cy="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1845" name="Picture 2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75" y="2620"/>
              <a:ext cx="358" cy="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81846" name="Group 214"/>
          <p:cNvGrpSpPr>
            <a:grpSpLocks/>
          </p:cNvGrpSpPr>
          <p:nvPr/>
        </p:nvGrpSpPr>
        <p:grpSpPr bwMode="auto">
          <a:xfrm>
            <a:off x="168275" y="1281113"/>
            <a:ext cx="1673225" cy="1160462"/>
            <a:chOff x="106" y="807"/>
            <a:chExt cx="1054" cy="731"/>
          </a:xfrm>
        </p:grpSpPr>
        <p:sp>
          <p:nvSpPr>
            <p:cNvPr id="581847" name="Rectangle 215"/>
            <p:cNvSpPr>
              <a:spLocks noChangeArrowheads="1"/>
            </p:cNvSpPr>
            <p:nvPr/>
          </p:nvSpPr>
          <p:spPr bwMode="auto">
            <a:xfrm>
              <a:off x="390" y="807"/>
              <a:ext cx="770" cy="73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48" name="Line 216"/>
            <p:cNvSpPr>
              <a:spLocks noChangeShapeType="1"/>
            </p:cNvSpPr>
            <p:nvPr/>
          </p:nvSpPr>
          <p:spPr bwMode="auto">
            <a:xfrm flipH="1">
              <a:off x="169" y="915"/>
              <a:ext cx="8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49" name="Freeform 217"/>
            <p:cNvSpPr>
              <a:spLocks/>
            </p:cNvSpPr>
            <p:nvPr/>
          </p:nvSpPr>
          <p:spPr bwMode="auto">
            <a:xfrm>
              <a:off x="106" y="898"/>
              <a:ext cx="72" cy="34"/>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1850" name="Line 218"/>
            <p:cNvSpPr>
              <a:spLocks noChangeShapeType="1"/>
            </p:cNvSpPr>
            <p:nvPr/>
          </p:nvSpPr>
          <p:spPr bwMode="auto">
            <a:xfrm>
              <a:off x="250" y="915"/>
              <a:ext cx="8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51" name="Freeform 219"/>
            <p:cNvSpPr>
              <a:spLocks/>
            </p:cNvSpPr>
            <p:nvPr/>
          </p:nvSpPr>
          <p:spPr bwMode="auto">
            <a:xfrm>
              <a:off x="318" y="898"/>
              <a:ext cx="72"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1852" name="Line 220"/>
            <p:cNvSpPr>
              <a:spLocks noChangeShapeType="1"/>
            </p:cNvSpPr>
            <p:nvPr/>
          </p:nvSpPr>
          <p:spPr bwMode="auto">
            <a:xfrm>
              <a:off x="128" y="1056"/>
              <a:ext cx="203"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53" name="Freeform 221"/>
            <p:cNvSpPr>
              <a:spLocks/>
            </p:cNvSpPr>
            <p:nvPr/>
          </p:nvSpPr>
          <p:spPr bwMode="auto">
            <a:xfrm>
              <a:off x="318" y="1041"/>
              <a:ext cx="72"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1854" name="Line 222"/>
            <p:cNvSpPr>
              <a:spLocks noChangeShapeType="1"/>
            </p:cNvSpPr>
            <p:nvPr/>
          </p:nvSpPr>
          <p:spPr bwMode="auto">
            <a:xfrm>
              <a:off x="128" y="1198"/>
              <a:ext cx="20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55" name="Freeform 223"/>
            <p:cNvSpPr>
              <a:spLocks/>
            </p:cNvSpPr>
            <p:nvPr/>
          </p:nvSpPr>
          <p:spPr bwMode="auto">
            <a:xfrm>
              <a:off x="318" y="1181"/>
              <a:ext cx="72" cy="3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1856" name="Line 224"/>
            <p:cNvSpPr>
              <a:spLocks noChangeShapeType="1"/>
            </p:cNvSpPr>
            <p:nvPr/>
          </p:nvSpPr>
          <p:spPr bwMode="auto">
            <a:xfrm>
              <a:off x="128" y="1341"/>
              <a:ext cx="20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57" name="Freeform 225"/>
            <p:cNvSpPr>
              <a:spLocks/>
            </p:cNvSpPr>
            <p:nvPr/>
          </p:nvSpPr>
          <p:spPr bwMode="auto">
            <a:xfrm>
              <a:off x="318" y="1324"/>
              <a:ext cx="72" cy="35"/>
            </a:xfrm>
            <a:custGeom>
              <a:avLst/>
              <a:gdLst>
                <a:gd name="T0" fmla="*/ 100 w 100"/>
                <a:gd name="T1" fmla="*/ 25 h 51"/>
                <a:gd name="T2" fmla="*/ 0 w 100"/>
                <a:gd name="T3" fmla="*/ 0 h 51"/>
                <a:gd name="T4" fmla="*/ 0 w 100"/>
                <a:gd name="T5" fmla="*/ 51 h 51"/>
                <a:gd name="T6" fmla="*/ 100 w 100"/>
                <a:gd name="T7" fmla="*/ 25 h 51"/>
              </a:gdLst>
              <a:ahLst/>
              <a:cxnLst>
                <a:cxn ang="0">
                  <a:pos x="T0" y="T1"/>
                </a:cxn>
                <a:cxn ang="0">
                  <a:pos x="T2" y="T3"/>
                </a:cxn>
                <a:cxn ang="0">
                  <a:pos x="T4" y="T5"/>
                </a:cxn>
                <a:cxn ang="0">
                  <a:pos x="T6" y="T7"/>
                </a:cxn>
              </a:cxnLst>
              <a:rect l="0" t="0" r="r" b="b"/>
              <a:pathLst>
                <a:path w="100" h="51">
                  <a:moveTo>
                    <a:pt x="100" y="25"/>
                  </a:moveTo>
                  <a:lnTo>
                    <a:pt x="0" y="0"/>
                  </a:lnTo>
                  <a:lnTo>
                    <a:pt x="0" y="51"/>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1858" name="Freeform 226"/>
            <p:cNvSpPr>
              <a:spLocks/>
            </p:cNvSpPr>
            <p:nvPr/>
          </p:nvSpPr>
          <p:spPr bwMode="auto">
            <a:xfrm>
              <a:off x="390" y="1428"/>
              <a:ext cx="74" cy="73"/>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59" name="Freeform 227"/>
            <p:cNvSpPr>
              <a:spLocks/>
            </p:cNvSpPr>
            <p:nvPr/>
          </p:nvSpPr>
          <p:spPr bwMode="auto">
            <a:xfrm>
              <a:off x="223" y="887"/>
              <a:ext cx="61" cy="56"/>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1860" name="Line 228"/>
            <p:cNvSpPr>
              <a:spLocks noChangeShapeType="1"/>
            </p:cNvSpPr>
            <p:nvPr/>
          </p:nvSpPr>
          <p:spPr bwMode="auto">
            <a:xfrm flipH="1">
              <a:off x="223" y="887"/>
              <a:ext cx="61" cy="56"/>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61" name="Freeform 229"/>
            <p:cNvSpPr>
              <a:spLocks/>
            </p:cNvSpPr>
            <p:nvPr/>
          </p:nvSpPr>
          <p:spPr bwMode="auto">
            <a:xfrm>
              <a:off x="223" y="1026"/>
              <a:ext cx="61" cy="58"/>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1862" name="Line 230"/>
            <p:cNvSpPr>
              <a:spLocks noChangeShapeType="1"/>
            </p:cNvSpPr>
            <p:nvPr/>
          </p:nvSpPr>
          <p:spPr bwMode="auto">
            <a:xfrm flipH="1">
              <a:off x="223" y="1026"/>
              <a:ext cx="61" cy="5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63" name="Rectangle 231"/>
            <p:cNvSpPr>
              <a:spLocks noChangeArrowheads="1"/>
            </p:cNvSpPr>
            <p:nvPr/>
          </p:nvSpPr>
          <p:spPr bwMode="auto">
            <a:xfrm>
              <a:off x="224" y="808"/>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32</a:t>
              </a:r>
              <a:endParaRPr lang="en-US" altLang="en-US" sz="1800"/>
            </a:p>
          </p:txBody>
        </p:sp>
        <p:sp>
          <p:nvSpPr>
            <p:cNvPr id="581864" name="Rectangle 232"/>
            <p:cNvSpPr>
              <a:spLocks noChangeArrowheads="1"/>
            </p:cNvSpPr>
            <p:nvPr/>
          </p:nvSpPr>
          <p:spPr bwMode="auto">
            <a:xfrm>
              <a:off x="224" y="947"/>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a:t>
              </a:r>
              <a:endParaRPr lang="en-US" altLang="en-US" sz="1800"/>
            </a:p>
          </p:txBody>
        </p:sp>
        <p:sp>
          <p:nvSpPr>
            <p:cNvPr id="581865" name="Rectangle 233"/>
            <p:cNvSpPr>
              <a:spLocks noChangeArrowheads="1"/>
            </p:cNvSpPr>
            <p:nvPr/>
          </p:nvSpPr>
          <p:spPr bwMode="auto">
            <a:xfrm>
              <a:off x="414" y="873"/>
              <a:ext cx="15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data</a:t>
              </a:r>
              <a:endParaRPr lang="en-US" altLang="en-US" sz="1800"/>
            </a:p>
          </p:txBody>
        </p:sp>
        <p:sp>
          <p:nvSpPr>
            <p:cNvPr id="581866" name="Rectangle 234"/>
            <p:cNvSpPr>
              <a:spLocks noChangeArrowheads="1"/>
            </p:cNvSpPr>
            <p:nvPr/>
          </p:nvSpPr>
          <p:spPr bwMode="auto">
            <a:xfrm>
              <a:off x="414" y="1014"/>
              <a:ext cx="15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addr</a:t>
              </a:r>
              <a:endParaRPr lang="en-US" altLang="en-US" sz="1800"/>
            </a:p>
          </p:txBody>
        </p:sp>
        <p:sp>
          <p:nvSpPr>
            <p:cNvPr id="581867" name="Rectangle 235"/>
            <p:cNvSpPr>
              <a:spLocks noChangeArrowheads="1"/>
            </p:cNvSpPr>
            <p:nvPr/>
          </p:nvSpPr>
          <p:spPr bwMode="auto">
            <a:xfrm>
              <a:off x="414" y="1155"/>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581868" name="Rectangle 236"/>
            <p:cNvSpPr>
              <a:spLocks noChangeArrowheads="1"/>
            </p:cNvSpPr>
            <p:nvPr/>
          </p:nvSpPr>
          <p:spPr bwMode="auto">
            <a:xfrm>
              <a:off x="439" y="1155"/>
              <a:ext cx="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w</a:t>
              </a:r>
              <a:endParaRPr lang="en-US" altLang="en-US" sz="1800"/>
            </a:p>
          </p:txBody>
        </p:sp>
        <p:sp>
          <p:nvSpPr>
            <p:cNvPr id="581869" name="Rectangle 237"/>
            <p:cNvSpPr>
              <a:spLocks noChangeArrowheads="1"/>
            </p:cNvSpPr>
            <p:nvPr/>
          </p:nvSpPr>
          <p:spPr bwMode="auto">
            <a:xfrm>
              <a:off x="414" y="1299"/>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en</a:t>
              </a:r>
              <a:endParaRPr lang="en-US" altLang="en-US" sz="1800"/>
            </a:p>
          </p:txBody>
        </p:sp>
        <p:sp>
          <p:nvSpPr>
            <p:cNvPr id="581870" name="Rectangle 238"/>
            <p:cNvSpPr>
              <a:spLocks noChangeArrowheads="1"/>
            </p:cNvSpPr>
            <p:nvPr/>
          </p:nvSpPr>
          <p:spPr bwMode="auto">
            <a:xfrm>
              <a:off x="628" y="1097"/>
              <a:ext cx="30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1024x32</a:t>
              </a:r>
              <a:endParaRPr lang="en-US" altLang="en-US" sz="1800"/>
            </a:p>
          </p:txBody>
        </p:sp>
        <p:sp>
          <p:nvSpPr>
            <p:cNvPr id="581871" name="Rectangle 239"/>
            <p:cNvSpPr>
              <a:spLocks noChangeArrowheads="1"/>
            </p:cNvSpPr>
            <p:nvPr/>
          </p:nvSpPr>
          <p:spPr bwMode="auto">
            <a:xfrm>
              <a:off x="705" y="1174"/>
              <a:ext cx="17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RAM</a:t>
              </a:r>
              <a:endParaRPr lang="en-US" altLang="en-US" sz="1800"/>
            </a:p>
          </p:txBody>
        </p:sp>
      </p:grpSp>
      <p:sp>
        <p:nvSpPr>
          <p:cNvPr id="581875" name="Freeform 243"/>
          <p:cNvSpPr>
            <a:spLocks/>
          </p:cNvSpPr>
          <p:nvPr/>
        </p:nvSpPr>
        <p:spPr bwMode="auto">
          <a:xfrm>
            <a:off x="7004050" y="1665288"/>
            <a:ext cx="1068388" cy="984250"/>
          </a:xfrm>
          <a:custGeom>
            <a:avLst/>
            <a:gdLst>
              <a:gd name="T0" fmla="*/ 14 w 673"/>
              <a:gd name="T1" fmla="*/ 180 h 620"/>
              <a:gd name="T2" fmla="*/ 36 w 673"/>
              <a:gd name="T3" fmla="*/ 423 h 620"/>
              <a:gd name="T4" fmla="*/ 233 w 673"/>
              <a:gd name="T5" fmla="*/ 597 h 620"/>
              <a:gd name="T6" fmla="*/ 590 w 673"/>
              <a:gd name="T7" fmla="*/ 559 h 620"/>
              <a:gd name="T8" fmla="*/ 665 w 673"/>
              <a:gd name="T9" fmla="*/ 279 h 620"/>
              <a:gd name="T10" fmla="*/ 544 w 673"/>
              <a:gd name="T11" fmla="*/ 67 h 620"/>
              <a:gd name="T12" fmla="*/ 340 w 673"/>
              <a:gd name="T13" fmla="*/ 6 h 620"/>
              <a:gd name="T14" fmla="*/ 188 w 673"/>
              <a:gd name="T15" fmla="*/ 29 h 620"/>
              <a:gd name="T16" fmla="*/ 112 w 673"/>
              <a:gd name="T17" fmla="*/ 74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3" h="620">
                <a:moveTo>
                  <a:pt x="14" y="180"/>
                </a:moveTo>
                <a:cubicBezTo>
                  <a:pt x="7" y="267"/>
                  <a:pt x="0" y="354"/>
                  <a:pt x="36" y="423"/>
                </a:cubicBezTo>
                <a:cubicBezTo>
                  <a:pt x="72" y="492"/>
                  <a:pt x="141" y="574"/>
                  <a:pt x="233" y="597"/>
                </a:cubicBezTo>
                <a:cubicBezTo>
                  <a:pt x="325" y="620"/>
                  <a:pt x="518" y="612"/>
                  <a:pt x="590" y="559"/>
                </a:cubicBezTo>
                <a:cubicBezTo>
                  <a:pt x="662" y="506"/>
                  <a:pt x="673" y="361"/>
                  <a:pt x="665" y="279"/>
                </a:cubicBezTo>
                <a:cubicBezTo>
                  <a:pt x="657" y="197"/>
                  <a:pt x="598" y="113"/>
                  <a:pt x="544" y="67"/>
                </a:cubicBezTo>
                <a:cubicBezTo>
                  <a:pt x="490" y="21"/>
                  <a:pt x="399" y="12"/>
                  <a:pt x="340" y="6"/>
                </a:cubicBezTo>
                <a:cubicBezTo>
                  <a:pt x="281" y="0"/>
                  <a:pt x="226" y="18"/>
                  <a:pt x="188" y="29"/>
                </a:cubicBezTo>
                <a:cubicBezTo>
                  <a:pt x="150" y="40"/>
                  <a:pt x="131" y="57"/>
                  <a:pt x="112" y="74"/>
                </a:cubicBezTo>
              </a:path>
            </a:pathLst>
          </a:custGeom>
          <a:noFill/>
          <a:ln w="12700" cap="flat">
            <a:solidFill>
              <a:srgbClr val="FF0000"/>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81881" name="Group 249"/>
          <p:cNvGrpSpPr>
            <a:grpSpLocks/>
          </p:cNvGrpSpPr>
          <p:nvPr/>
        </p:nvGrpSpPr>
        <p:grpSpPr bwMode="auto">
          <a:xfrm>
            <a:off x="5670550" y="3175000"/>
            <a:ext cx="3203575" cy="2190750"/>
            <a:chOff x="3572" y="2159"/>
            <a:chExt cx="2018" cy="1380"/>
          </a:xfrm>
        </p:grpSpPr>
        <p:sp>
          <p:nvSpPr>
            <p:cNvPr id="581674" name="Text Box 42"/>
            <p:cNvSpPr txBox="1">
              <a:spLocks noChangeArrowheads="1"/>
            </p:cNvSpPr>
            <p:nvPr/>
          </p:nvSpPr>
          <p:spPr bwMode="auto">
            <a:xfrm>
              <a:off x="3572" y="2159"/>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FF0000"/>
                  </a:solidFill>
                </a:rPr>
                <a:t>SRAM</a:t>
              </a:r>
              <a:r>
                <a:rPr lang="en-US" altLang="en-US" sz="1800"/>
                <a:t> cell</a:t>
              </a:r>
            </a:p>
          </p:txBody>
        </p:sp>
        <p:sp>
          <p:nvSpPr>
            <p:cNvPr id="581805" name="Freeform 173"/>
            <p:cNvSpPr>
              <a:spLocks/>
            </p:cNvSpPr>
            <p:nvPr/>
          </p:nvSpPr>
          <p:spPr bwMode="auto">
            <a:xfrm>
              <a:off x="4633" y="2883"/>
              <a:ext cx="201" cy="254"/>
            </a:xfrm>
            <a:custGeom>
              <a:avLst/>
              <a:gdLst>
                <a:gd name="T0" fmla="*/ 0 w 201"/>
                <a:gd name="T1" fmla="*/ 254 h 254"/>
                <a:gd name="T2" fmla="*/ 201 w 201"/>
                <a:gd name="T3" fmla="*/ 127 h 254"/>
                <a:gd name="T4" fmla="*/ 0 w 201"/>
                <a:gd name="T5" fmla="*/ 0 h 254"/>
                <a:gd name="T6" fmla="*/ 0 w 201"/>
                <a:gd name="T7" fmla="*/ 254 h 254"/>
              </a:gdLst>
              <a:ahLst/>
              <a:cxnLst>
                <a:cxn ang="0">
                  <a:pos x="T0" y="T1"/>
                </a:cxn>
                <a:cxn ang="0">
                  <a:pos x="T2" y="T3"/>
                </a:cxn>
                <a:cxn ang="0">
                  <a:pos x="T4" y="T5"/>
                </a:cxn>
                <a:cxn ang="0">
                  <a:pos x="T6" y="T7"/>
                </a:cxn>
              </a:cxnLst>
              <a:rect l="0" t="0" r="r" b="b"/>
              <a:pathLst>
                <a:path w="201" h="254">
                  <a:moveTo>
                    <a:pt x="0" y="254"/>
                  </a:moveTo>
                  <a:lnTo>
                    <a:pt x="201" y="127"/>
                  </a:lnTo>
                  <a:lnTo>
                    <a:pt x="0" y="0"/>
                  </a:lnTo>
                  <a:lnTo>
                    <a:pt x="0" y="254"/>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06" name="Oval 174"/>
            <p:cNvSpPr>
              <a:spLocks noChangeArrowheads="1"/>
            </p:cNvSpPr>
            <p:nvPr/>
          </p:nvSpPr>
          <p:spPr bwMode="auto">
            <a:xfrm>
              <a:off x="4837" y="2985"/>
              <a:ext cx="47" cy="46"/>
            </a:xfrm>
            <a:prstGeom prst="ellipse">
              <a:avLst/>
            </a:prstGeom>
            <a:solidFill>
              <a:srgbClr val="FFFFFF"/>
            </a:solidFill>
            <a:ln w="9525">
              <a:solidFill>
                <a:srgbClr val="0078C1"/>
              </a:solidFill>
              <a:miter lim="800000"/>
              <a:headEnd/>
              <a:tailEnd/>
            </a:ln>
          </p:spPr>
          <p:txBody>
            <a:bodyPr/>
            <a:lstStyle/>
            <a:p>
              <a:endParaRPr lang="en-US"/>
            </a:p>
          </p:txBody>
        </p:sp>
        <p:sp>
          <p:nvSpPr>
            <p:cNvPr id="581807" name="Freeform 175"/>
            <p:cNvSpPr>
              <a:spLocks/>
            </p:cNvSpPr>
            <p:nvPr/>
          </p:nvSpPr>
          <p:spPr bwMode="auto">
            <a:xfrm>
              <a:off x="4515" y="2771"/>
              <a:ext cx="121" cy="235"/>
            </a:xfrm>
            <a:custGeom>
              <a:avLst/>
              <a:gdLst>
                <a:gd name="T0" fmla="*/ 121 w 121"/>
                <a:gd name="T1" fmla="*/ 0 h 235"/>
                <a:gd name="T2" fmla="*/ 0 w 121"/>
                <a:gd name="T3" fmla="*/ 0 h 235"/>
                <a:gd name="T4" fmla="*/ 0 w 121"/>
                <a:gd name="T5" fmla="*/ 235 h 235"/>
              </a:gdLst>
              <a:ahLst/>
              <a:cxnLst>
                <a:cxn ang="0">
                  <a:pos x="T0" y="T1"/>
                </a:cxn>
                <a:cxn ang="0">
                  <a:pos x="T2" y="T3"/>
                </a:cxn>
                <a:cxn ang="0">
                  <a:pos x="T4" y="T5"/>
                </a:cxn>
              </a:cxnLst>
              <a:rect l="0" t="0" r="r" b="b"/>
              <a:pathLst>
                <a:path w="121" h="235">
                  <a:moveTo>
                    <a:pt x="121" y="0"/>
                  </a:moveTo>
                  <a:lnTo>
                    <a:pt x="0" y="0"/>
                  </a:lnTo>
                  <a:lnTo>
                    <a:pt x="0" y="235"/>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08" name="Freeform 176"/>
            <p:cNvSpPr>
              <a:spLocks/>
            </p:cNvSpPr>
            <p:nvPr/>
          </p:nvSpPr>
          <p:spPr bwMode="auto">
            <a:xfrm>
              <a:off x="4853" y="2771"/>
              <a:ext cx="121" cy="235"/>
            </a:xfrm>
            <a:custGeom>
              <a:avLst/>
              <a:gdLst>
                <a:gd name="T0" fmla="*/ 0 w 121"/>
                <a:gd name="T1" fmla="*/ 0 h 235"/>
                <a:gd name="T2" fmla="*/ 121 w 121"/>
                <a:gd name="T3" fmla="*/ 0 h 235"/>
                <a:gd name="T4" fmla="*/ 121 w 121"/>
                <a:gd name="T5" fmla="*/ 235 h 235"/>
              </a:gdLst>
              <a:ahLst/>
              <a:cxnLst>
                <a:cxn ang="0">
                  <a:pos x="T0" y="T1"/>
                </a:cxn>
                <a:cxn ang="0">
                  <a:pos x="T2" y="T3"/>
                </a:cxn>
                <a:cxn ang="0">
                  <a:pos x="T4" y="T5"/>
                </a:cxn>
              </a:cxnLst>
              <a:rect l="0" t="0" r="r" b="b"/>
              <a:pathLst>
                <a:path w="121" h="235">
                  <a:moveTo>
                    <a:pt x="0" y="0"/>
                  </a:moveTo>
                  <a:lnTo>
                    <a:pt x="121" y="0"/>
                  </a:lnTo>
                  <a:lnTo>
                    <a:pt x="121" y="235"/>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09" name="Freeform 177"/>
            <p:cNvSpPr>
              <a:spLocks/>
            </p:cNvSpPr>
            <p:nvPr/>
          </p:nvSpPr>
          <p:spPr bwMode="auto">
            <a:xfrm>
              <a:off x="4652" y="2644"/>
              <a:ext cx="201" cy="257"/>
            </a:xfrm>
            <a:custGeom>
              <a:avLst/>
              <a:gdLst>
                <a:gd name="T0" fmla="*/ 201 w 201"/>
                <a:gd name="T1" fmla="*/ 257 h 257"/>
                <a:gd name="T2" fmla="*/ 0 w 201"/>
                <a:gd name="T3" fmla="*/ 130 h 257"/>
                <a:gd name="T4" fmla="*/ 201 w 201"/>
                <a:gd name="T5" fmla="*/ 0 h 257"/>
                <a:gd name="T6" fmla="*/ 201 w 201"/>
                <a:gd name="T7" fmla="*/ 257 h 257"/>
              </a:gdLst>
              <a:ahLst/>
              <a:cxnLst>
                <a:cxn ang="0">
                  <a:pos x="T0" y="T1"/>
                </a:cxn>
                <a:cxn ang="0">
                  <a:pos x="T2" y="T3"/>
                </a:cxn>
                <a:cxn ang="0">
                  <a:pos x="T4" y="T5"/>
                </a:cxn>
                <a:cxn ang="0">
                  <a:pos x="T6" y="T7"/>
                </a:cxn>
              </a:cxnLst>
              <a:rect l="0" t="0" r="r" b="b"/>
              <a:pathLst>
                <a:path w="201" h="257">
                  <a:moveTo>
                    <a:pt x="201" y="257"/>
                  </a:moveTo>
                  <a:lnTo>
                    <a:pt x="0" y="130"/>
                  </a:lnTo>
                  <a:lnTo>
                    <a:pt x="201" y="0"/>
                  </a:lnTo>
                  <a:lnTo>
                    <a:pt x="201" y="257"/>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10" name="Oval 178"/>
            <p:cNvSpPr>
              <a:spLocks noChangeArrowheads="1"/>
            </p:cNvSpPr>
            <p:nvPr/>
          </p:nvSpPr>
          <p:spPr bwMode="auto">
            <a:xfrm>
              <a:off x="4602" y="2750"/>
              <a:ext cx="47" cy="46"/>
            </a:xfrm>
            <a:prstGeom prst="ellipse">
              <a:avLst/>
            </a:prstGeom>
            <a:solidFill>
              <a:srgbClr val="FFFFFF"/>
            </a:solidFill>
            <a:ln w="9525">
              <a:solidFill>
                <a:srgbClr val="0078C1"/>
              </a:solidFill>
              <a:miter lim="800000"/>
              <a:headEnd/>
              <a:tailEnd/>
            </a:ln>
          </p:spPr>
          <p:txBody>
            <a:bodyPr/>
            <a:lstStyle/>
            <a:p>
              <a:endParaRPr lang="en-US"/>
            </a:p>
          </p:txBody>
        </p:sp>
        <p:sp>
          <p:nvSpPr>
            <p:cNvPr id="581811" name="Oval 179"/>
            <p:cNvSpPr>
              <a:spLocks noChangeArrowheads="1"/>
            </p:cNvSpPr>
            <p:nvPr/>
          </p:nvSpPr>
          <p:spPr bwMode="auto">
            <a:xfrm>
              <a:off x="4122" y="2985"/>
              <a:ext cx="47" cy="46"/>
            </a:xfrm>
            <a:prstGeom prst="ellipse">
              <a:avLst/>
            </a:prstGeom>
            <a:solidFill>
              <a:srgbClr val="000000"/>
            </a:solidFill>
            <a:ln w="9525">
              <a:solidFill>
                <a:srgbClr val="000000"/>
              </a:solidFill>
              <a:miter lim="800000"/>
              <a:headEnd/>
              <a:tailEnd/>
            </a:ln>
          </p:spPr>
          <p:txBody>
            <a:bodyPr/>
            <a:lstStyle/>
            <a:p>
              <a:endParaRPr lang="en-US"/>
            </a:p>
          </p:txBody>
        </p:sp>
        <p:sp>
          <p:nvSpPr>
            <p:cNvPr id="581812" name="Oval 180"/>
            <p:cNvSpPr>
              <a:spLocks noChangeArrowheads="1"/>
            </p:cNvSpPr>
            <p:nvPr/>
          </p:nvSpPr>
          <p:spPr bwMode="auto">
            <a:xfrm>
              <a:off x="4494" y="2985"/>
              <a:ext cx="46" cy="46"/>
            </a:xfrm>
            <a:prstGeom prst="ellipse">
              <a:avLst/>
            </a:prstGeom>
            <a:solidFill>
              <a:srgbClr val="000000"/>
            </a:solidFill>
            <a:ln w="9525">
              <a:solidFill>
                <a:srgbClr val="000000"/>
              </a:solidFill>
              <a:miter lim="800000"/>
              <a:headEnd/>
              <a:tailEnd/>
            </a:ln>
          </p:spPr>
          <p:txBody>
            <a:bodyPr/>
            <a:lstStyle/>
            <a:p>
              <a:endParaRPr lang="en-US"/>
            </a:p>
          </p:txBody>
        </p:sp>
        <p:sp>
          <p:nvSpPr>
            <p:cNvPr id="581813" name="Oval 181"/>
            <p:cNvSpPr>
              <a:spLocks noChangeArrowheads="1"/>
            </p:cNvSpPr>
            <p:nvPr/>
          </p:nvSpPr>
          <p:spPr bwMode="auto">
            <a:xfrm>
              <a:off x="4949" y="2985"/>
              <a:ext cx="46" cy="46"/>
            </a:xfrm>
            <a:prstGeom prst="ellipse">
              <a:avLst/>
            </a:prstGeom>
            <a:solidFill>
              <a:srgbClr val="000000"/>
            </a:solidFill>
            <a:ln w="9525">
              <a:solidFill>
                <a:srgbClr val="000000"/>
              </a:solidFill>
              <a:miter lim="800000"/>
              <a:headEnd/>
              <a:tailEnd/>
            </a:ln>
          </p:spPr>
          <p:txBody>
            <a:bodyPr/>
            <a:lstStyle/>
            <a:p>
              <a:endParaRPr lang="en-US"/>
            </a:p>
          </p:txBody>
        </p:sp>
        <p:sp>
          <p:nvSpPr>
            <p:cNvPr id="581814" name="Oval 182"/>
            <p:cNvSpPr>
              <a:spLocks noChangeArrowheads="1"/>
            </p:cNvSpPr>
            <p:nvPr/>
          </p:nvSpPr>
          <p:spPr bwMode="auto">
            <a:xfrm>
              <a:off x="5336" y="2985"/>
              <a:ext cx="46" cy="46"/>
            </a:xfrm>
            <a:prstGeom prst="ellipse">
              <a:avLst/>
            </a:prstGeom>
            <a:solidFill>
              <a:srgbClr val="000000"/>
            </a:solidFill>
            <a:ln w="9525">
              <a:solidFill>
                <a:srgbClr val="000000"/>
              </a:solidFill>
              <a:miter lim="800000"/>
              <a:headEnd/>
              <a:tailEnd/>
            </a:ln>
          </p:spPr>
          <p:txBody>
            <a:bodyPr/>
            <a:lstStyle/>
            <a:p>
              <a:endParaRPr lang="en-US"/>
            </a:p>
          </p:txBody>
        </p:sp>
        <p:sp>
          <p:nvSpPr>
            <p:cNvPr id="581815" name="Oval 183"/>
            <p:cNvSpPr>
              <a:spLocks noChangeArrowheads="1"/>
            </p:cNvSpPr>
            <p:nvPr/>
          </p:nvSpPr>
          <p:spPr bwMode="auto">
            <a:xfrm>
              <a:off x="4330" y="3347"/>
              <a:ext cx="46" cy="46"/>
            </a:xfrm>
            <a:prstGeom prst="ellipse">
              <a:avLst/>
            </a:prstGeom>
            <a:solidFill>
              <a:srgbClr val="000000"/>
            </a:solidFill>
            <a:ln w="9525">
              <a:solidFill>
                <a:srgbClr val="000000"/>
              </a:solidFill>
              <a:miter lim="800000"/>
              <a:headEnd/>
              <a:tailEnd/>
            </a:ln>
          </p:spPr>
          <p:txBody>
            <a:bodyPr/>
            <a:lstStyle/>
            <a:p>
              <a:endParaRPr lang="en-US"/>
            </a:p>
          </p:txBody>
        </p:sp>
        <p:sp>
          <p:nvSpPr>
            <p:cNvPr id="581816" name="Line 184"/>
            <p:cNvSpPr>
              <a:spLocks noChangeShapeType="1"/>
            </p:cNvSpPr>
            <p:nvPr/>
          </p:nvSpPr>
          <p:spPr bwMode="auto">
            <a:xfrm flipV="1">
              <a:off x="4355" y="3146"/>
              <a:ext cx="1" cy="229"/>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17" name="Freeform 185"/>
            <p:cNvSpPr>
              <a:spLocks/>
            </p:cNvSpPr>
            <p:nvPr/>
          </p:nvSpPr>
          <p:spPr bwMode="auto">
            <a:xfrm>
              <a:off x="4125" y="3010"/>
              <a:ext cx="505" cy="86"/>
            </a:xfrm>
            <a:custGeom>
              <a:avLst/>
              <a:gdLst>
                <a:gd name="T0" fmla="*/ 505 w 505"/>
                <a:gd name="T1" fmla="*/ 0 h 86"/>
                <a:gd name="T2" fmla="*/ 310 w 505"/>
                <a:gd name="T3" fmla="*/ 0 h 86"/>
                <a:gd name="T4" fmla="*/ 310 w 505"/>
                <a:gd name="T5" fmla="*/ 86 h 86"/>
                <a:gd name="T6" fmla="*/ 149 w 505"/>
                <a:gd name="T7" fmla="*/ 86 h 86"/>
                <a:gd name="T8" fmla="*/ 149 w 505"/>
                <a:gd name="T9" fmla="*/ 0 h 86"/>
                <a:gd name="T10" fmla="*/ 0 w 505"/>
                <a:gd name="T11" fmla="*/ 0 h 86"/>
              </a:gdLst>
              <a:ahLst/>
              <a:cxnLst>
                <a:cxn ang="0">
                  <a:pos x="T0" y="T1"/>
                </a:cxn>
                <a:cxn ang="0">
                  <a:pos x="T2" y="T3"/>
                </a:cxn>
                <a:cxn ang="0">
                  <a:pos x="T4" y="T5"/>
                </a:cxn>
                <a:cxn ang="0">
                  <a:pos x="T6" y="T7"/>
                </a:cxn>
                <a:cxn ang="0">
                  <a:pos x="T8" y="T9"/>
                </a:cxn>
                <a:cxn ang="0">
                  <a:pos x="T10" y="T11"/>
                </a:cxn>
              </a:cxnLst>
              <a:rect l="0" t="0" r="r" b="b"/>
              <a:pathLst>
                <a:path w="505" h="86">
                  <a:moveTo>
                    <a:pt x="505" y="0"/>
                  </a:moveTo>
                  <a:lnTo>
                    <a:pt x="310" y="0"/>
                  </a:lnTo>
                  <a:lnTo>
                    <a:pt x="310" y="86"/>
                  </a:lnTo>
                  <a:lnTo>
                    <a:pt x="149" y="86"/>
                  </a:lnTo>
                  <a:lnTo>
                    <a:pt x="149"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18" name="Line 186"/>
            <p:cNvSpPr>
              <a:spLocks noChangeShapeType="1"/>
            </p:cNvSpPr>
            <p:nvPr/>
          </p:nvSpPr>
          <p:spPr bwMode="auto">
            <a:xfrm flipH="1">
              <a:off x="4268" y="3140"/>
              <a:ext cx="17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19" name="Freeform 187"/>
            <p:cNvSpPr>
              <a:spLocks/>
            </p:cNvSpPr>
            <p:nvPr/>
          </p:nvSpPr>
          <p:spPr bwMode="auto">
            <a:xfrm>
              <a:off x="4884" y="3010"/>
              <a:ext cx="477" cy="86"/>
            </a:xfrm>
            <a:custGeom>
              <a:avLst/>
              <a:gdLst>
                <a:gd name="T0" fmla="*/ 477 w 477"/>
                <a:gd name="T1" fmla="*/ 0 h 86"/>
                <a:gd name="T2" fmla="*/ 371 w 477"/>
                <a:gd name="T3" fmla="*/ 0 h 86"/>
                <a:gd name="T4" fmla="*/ 371 w 477"/>
                <a:gd name="T5" fmla="*/ 86 h 86"/>
                <a:gd name="T6" fmla="*/ 210 w 477"/>
                <a:gd name="T7" fmla="*/ 86 h 86"/>
                <a:gd name="T8" fmla="*/ 210 w 477"/>
                <a:gd name="T9" fmla="*/ 0 h 86"/>
                <a:gd name="T10" fmla="*/ 0 w 477"/>
                <a:gd name="T11" fmla="*/ 0 h 86"/>
              </a:gdLst>
              <a:ahLst/>
              <a:cxnLst>
                <a:cxn ang="0">
                  <a:pos x="T0" y="T1"/>
                </a:cxn>
                <a:cxn ang="0">
                  <a:pos x="T2" y="T3"/>
                </a:cxn>
                <a:cxn ang="0">
                  <a:pos x="T4" y="T5"/>
                </a:cxn>
                <a:cxn ang="0">
                  <a:pos x="T6" y="T7"/>
                </a:cxn>
                <a:cxn ang="0">
                  <a:pos x="T8" y="T9"/>
                </a:cxn>
                <a:cxn ang="0">
                  <a:pos x="T10" y="T11"/>
                </a:cxn>
              </a:cxnLst>
              <a:rect l="0" t="0" r="r" b="b"/>
              <a:pathLst>
                <a:path w="477" h="86">
                  <a:moveTo>
                    <a:pt x="477" y="0"/>
                  </a:moveTo>
                  <a:lnTo>
                    <a:pt x="371" y="0"/>
                  </a:lnTo>
                  <a:lnTo>
                    <a:pt x="371" y="86"/>
                  </a:lnTo>
                  <a:lnTo>
                    <a:pt x="210" y="86"/>
                  </a:lnTo>
                  <a:lnTo>
                    <a:pt x="210"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20" name="Line 188"/>
            <p:cNvSpPr>
              <a:spLocks noChangeShapeType="1"/>
            </p:cNvSpPr>
            <p:nvPr/>
          </p:nvSpPr>
          <p:spPr bwMode="auto">
            <a:xfrm flipH="1">
              <a:off x="5088" y="3140"/>
              <a:ext cx="17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21" name="Freeform 189"/>
            <p:cNvSpPr>
              <a:spLocks/>
            </p:cNvSpPr>
            <p:nvPr/>
          </p:nvSpPr>
          <p:spPr bwMode="auto">
            <a:xfrm>
              <a:off x="3964" y="3146"/>
              <a:ext cx="1211" cy="229"/>
            </a:xfrm>
            <a:custGeom>
              <a:avLst/>
              <a:gdLst>
                <a:gd name="T0" fmla="*/ 0 w 1211"/>
                <a:gd name="T1" fmla="*/ 229 h 229"/>
                <a:gd name="T2" fmla="*/ 1186 w 1211"/>
                <a:gd name="T3" fmla="*/ 229 h 229"/>
                <a:gd name="T4" fmla="*/ 1211 w 1211"/>
                <a:gd name="T5" fmla="*/ 229 h 229"/>
                <a:gd name="T6" fmla="*/ 1211 w 1211"/>
                <a:gd name="T7" fmla="*/ 0 h 229"/>
              </a:gdLst>
              <a:ahLst/>
              <a:cxnLst>
                <a:cxn ang="0">
                  <a:pos x="T0" y="T1"/>
                </a:cxn>
                <a:cxn ang="0">
                  <a:pos x="T2" y="T3"/>
                </a:cxn>
                <a:cxn ang="0">
                  <a:pos x="T4" y="T5"/>
                </a:cxn>
                <a:cxn ang="0">
                  <a:pos x="T6" y="T7"/>
                </a:cxn>
              </a:cxnLst>
              <a:rect l="0" t="0" r="r" b="b"/>
              <a:pathLst>
                <a:path w="1211" h="229">
                  <a:moveTo>
                    <a:pt x="0" y="229"/>
                  </a:moveTo>
                  <a:lnTo>
                    <a:pt x="1186" y="229"/>
                  </a:lnTo>
                  <a:lnTo>
                    <a:pt x="1211" y="229"/>
                  </a:lnTo>
                  <a:lnTo>
                    <a:pt x="1211"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22" name="Line 190"/>
            <p:cNvSpPr>
              <a:spLocks noChangeShapeType="1"/>
            </p:cNvSpPr>
            <p:nvPr/>
          </p:nvSpPr>
          <p:spPr bwMode="auto">
            <a:xfrm>
              <a:off x="5357" y="2499"/>
              <a:ext cx="1" cy="644"/>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23" name="Line 191"/>
            <p:cNvSpPr>
              <a:spLocks noChangeShapeType="1"/>
            </p:cNvSpPr>
            <p:nvPr/>
          </p:nvSpPr>
          <p:spPr bwMode="auto">
            <a:xfrm>
              <a:off x="4144" y="2499"/>
              <a:ext cx="1" cy="644"/>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24" name="Rectangle 192"/>
            <p:cNvSpPr>
              <a:spLocks noChangeArrowheads="1"/>
            </p:cNvSpPr>
            <p:nvPr/>
          </p:nvSpPr>
          <p:spPr bwMode="auto">
            <a:xfrm>
              <a:off x="4052" y="2387"/>
              <a:ext cx="16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a:t>
              </a:r>
              <a:endParaRPr lang="en-US" altLang="en-US"/>
            </a:p>
          </p:txBody>
        </p:sp>
        <p:sp>
          <p:nvSpPr>
            <p:cNvPr id="581827" name="Rectangle 195"/>
            <p:cNvSpPr>
              <a:spLocks noChangeArrowheads="1"/>
            </p:cNvSpPr>
            <p:nvPr/>
          </p:nvSpPr>
          <p:spPr bwMode="auto">
            <a:xfrm>
              <a:off x="5261" y="2387"/>
              <a:ext cx="19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a:t>
              </a:r>
              <a:endParaRPr lang="en-US" altLang="en-US"/>
            </a:p>
          </p:txBody>
        </p:sp>
        <p:sp>
          <p:nvSpPr>
            <p:cNvPr id="581832" name="Rectangle 200"/>
            <p:cNvSpPr>
              <a:spLocks noChangeArrowheads="1"/>
            </p:cNvSpPr>
            <p:nvPr/>
          </p:nvSpPr>
          <p:spPr bwMode="auto">
            <a:xfrm>
              <a:off x="4447" y="2633"/>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a:p>
          </p:txBody>
        </p:sp>
        <p:sp>
          <p:nvSpPr>
            <p:cNvPr id="581838" name="Rectangle 206"/>
            <p:cNvSpPr>
              <a:spLocks noChangeArrowheads="1"/>
            </p:cNvSpPr>
            <p:nvPr/>
          </p:nvSpPr>
          <p:spPr bwMode="auto">
            <a:xfrm>
              <a:off x="3700" y="3274"/>
              <a:ext cx="19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word</a:t>
              </a:r>
              <a:endParaRPr lang="en-US" altLang="en-US"/>
            </a:p>
          </p:txBody>
        </p:sp>
        <p:sp>
          <p:nvSpPr>
            <p:cNvPr id="581842" name="Rectangle 210"/>
            <p:cNvSpPr>
              <a:spLocks noChangeArrowheads="1"/>
            </p:cNvSpPr>
            <p:nvPr/>
          </p:nvSpPr>
          <p:spPr bwMode="auto">
            <a:xfrm>
              <a:off x="3666" y="3384"/>
              <a:ext cx="25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enable</a:t>
              </a:r>
              <a:endParaRPr lang="en-US" altLang="en-US"/>
            </a:p>
          </p:txBody>
        </p:sp>
        <p:sp>
          <p:nvSpPr>
            <p:cNvPr id="581843" name="Freeform 211"/>
            <p:cNvSpPr>
              <a:spLocks/>
            </p:cNvSpPr>
            <p:nvPr/>
          </p:nvSpPr>
          <p:spPr bwMode="auto">
            <a:xfrm>
              <a:off x="3627" y="2353"/>
              <a:ext cx="1963" cy="1186"/>
            </a:xfrm>
            <a:custGeom>
              <a:avLst/>
              <a:gdLst>
                <a:gd name="T0" fmla="*/ 1963 w 1963"/>
                <a:gd name="T1" fmla="*/ 1183 h 1186"/>
                <a:gd name="T2" fmla="*/ 0 w 1963"/>
                <a:gd name="T3" fmla="*/ 1186 h 1186"/>
                <a:gd name="T4" fmla="*/ 0 w 1963"/>
                <a:gd name="T5" fmla="*/ 3 h 1186"/>
                <a:gd name="T6" fmla="*/ 1963 w 1963"/>
                <a:gd name="T7" fmla="*/ 0 h 1186"/>
                <a:gd name="T8" fmla="*/ 1963 w 1963"/>
                <a:gd name="T9" fmla="*/ 1183 h 1186"/>
              </a:gdLst>
              <a:ahLst/>
              <a:cxnLst>
                <a:cxn ang="0">
                  <a:pos x="T0" y="T1"/>
                </a:cxn>
                <a:cxn ang="0">
                  <a:pos x="T2" y="T3"/>
                </a:cxn>
                <a:cxn ang="0">
                  <a:pos x="T4" y="T5"/>
                </a:cxn>
                <a:cxn ang="0">
                  <a:pos x="T6" y="T7"/>
                </a:cxn>
                <a:cxn ang="0">
                  <a:pos x="T8" y="T9"/>
                </a:cxn>
              </a:cxnLst>
              <a:rect l="0" t="0" r="r" b="b"/>
              <a:pathLst>
                <a:path w="1963" h="1186">
                  <a:moveTo>
                    <a:pt x="1963" y="1183"/>
                  </a:moveTo>
                  <a:lnTo>
                    <a:pt x="0" y="1186"/>
                  </a:lnTo>
                  <a:lnTo>
                    <a:pt x="0" y="3"/>
                  </a:lnTo>
                  <a:lnTo>
                    <a:pt x="1963" y="0"/>
                  </a:lnTo>
                  <a:lnTo>
                    <a:pt x="1963" y="1183"/>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81877" name="Freeform 245"/>
          <p:cNvSpPr>
            <a:spLocks/>
          </p:cNvSpPr>
          <p:nvPr/>
        </p:nvSpPr>
        <p:spPr bwMode="auto">
          <a:xfrm>
            <a:off x="7027863" y="3868738"/>
            <a:ext cx="1068387" cy="984250"/>
          </a:xfrm>
          <a:custGeom>
            <a:avLst/>
            <a:gdLst>
              <a:gd name="T0" fmla="*/ 14 w 673"/>
              <a:gd name="T1" fmla="*/ 180 h 620"/>
              <a:gd name="T2" fmla="*/ 36 w 673"/>
              <a:gd name="T3" fmla="*/ 423 h 620"/>
              <a:gd name="T4" fmla="*/ 233 w 673"/>
              <a:gd name="T5" fmla="*/ 597 h 620"/>
              <a:gd name="T6" fmla="*/ 590 w 673"/>
              <a:gd name="T7" fmla="*/ 559 h 620"/>
              <a:gd name="T8" fmla="*/ 665 w 673"/>
              <a:gd name="T9" fmla="*/ 279 h 620"/>
              <a:gd name="T10" fmla="*/ 544 w 673"/>
              <a:gd name="T11" fmla="*/ 67 h 620"/>
              <a:gd name="T12" fmla="*/ 340 w 673"/>
              <a:gd name="T13" fmla="*/ 6 h 620"/>
              <a:gd name="T14" fmla="*/ 188 w 673"/>
              <a:gd name="T15" fmla="*/ 29 h 620"/>
              <a:gd name="T16" fmla="*/ 112 w 673"/>
              <a:gd name="T17" fmla="*/ 74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3" h="620">
                <a:moveTo>
                  <a:pt x="14" y="180"/>
                </a:moveTo>
                <a:cubicBezTo>
                  <a:pt x="7" y="267"/>
                  <a:pt x="0" y="354"/>
                  <a:pt x="36" y="423"/>
                </a:cubicBezTo>
                <a:cubicBezTo>
                  <a:pt x="72" y="492"/>
                  <a:pt x="141" y="574"/>
                  <a:pt x="233" y="597"/>
                </a:cubicBezTo>
                <a:cubicBezTo>
                  <a:pt x="325" y="620"/>
                  <a:pt x="518" y="612"/>
                  <a:pt x="590" y="559"/>
                </a:cubicBezTo>
                <a:cubicBezTo>
                  <a:pt x="662" y="506"/>
                  <a:pt x="673" y="361"/>
                  <a:pt x="665" y="279"/>
                </a:cubicBezTo>
                <a:cubicBezTo>
                  <a:pt x="657" y="197"/>
                  <a:pt x="598" y="113"/>
                  <a:pt x="544" y="67"/>
                </a:cubicBezTo>
                <a:cubicBezTo>
                  <a:pt x="490" y="21"/>
                  <a:pt x="399" y="12"/>
                  <a:pt x="340" y="6"/>
                </a:cubicBezTo>
                <a:cubicBezTo>
                  <a:pt x="281" y="0"/>
                  <a:pt x="226" y="18"/>
                  <a:pt x="188" y="29"/>
                </a:cubicBezTo>
                <a:cubicBezTo>
                  <a:pt x="150" y="40"/>
                  <a:pt x="131" y="57"/>
                  <a:pt x="112" y="74"/>
                </a:cubicBezTo>
              </a:path>
            </a:pathLst>
          </a:custGeom>
          <a:noFill/>
          <a:ln w="12700" cap="flat">
            <a:solidFill>
              <a:srgbClr val="FF0000"/>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81918" name="Group 286"/>
          <p:cNvGrpSpPr>
            <a:grpSpLocks/>
          </p:cNvGrpSpPr>
          <p:nvPr/>
        </p:nvGrpSpPr>
        <p:grpSpPr bwMode="auto">
          <a:xfrm>
            <a:off x="5019675" y="5497513"/>
            <a:ext cx="2014538" cy="1244600"/>
            <a:chOff x="3162" y="3463"/>
            <a:chExt cx="1269" cy="784"/>
          </a:xfrm>
        </p:grpSpPr>
        <p:sp>
          <p:nvSpPr>
            <p:cNvPr id="581883" name="Rectangle 251"/>
            <p:cNvSpPr>
              <a:spLocks noChangeArrowheads="1"/>
            </p:cNvSpPr>
            <p:nvPr/>
          </p:nvSpPr>
          <p:spPr bwMode="auto">
            <a:xfrm>
              <a:off x="3411" y="3558"/>
              <a:ext cx="947" cy="599"/>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84" name="Freeform 252"/>
            <p:cNvSpPr>
              <a:spLocks/>
            </p:cNvSpPr>
            <p:nvPr/>
          </p:nvSpPr>
          <p:spPr bwMode="auto">
            <a:xfrm>
              <a:off x="3814" y="3796"/>
              <a:ext cx="135" cy="170"/>
            </a:xfrm>
            <a:custGeom>
              <a:avLst/>
              <a:gdLst>
                <a:gd name="T0" fmla="*/ 0 w 200"/>
                <a:gd name="T1" fmla="*/ 253 h 253"/>
                <a:gd name="T2" fmla="*/ 200 w 200"/>
                <a:gd name="T3" fmla="*/ 126 h 253"/>
                <a:gd name="T4" fmla="*/ 0 w 200"/>
                <a:gd name="T5" fmla="*/ 0 h 253"/>
                <a:gd name="T6" fmla="*/ 0 w 200"/>
                <a:gd name="T7" fmla="*/ 253 h 253"/>
              </a:gdLst>
              <a:ahLst/>
              <a:cxnLst>
                <a:cxn ang="0">
                  <a:pos x="T0" y="T1"/>
                </a:cxn>
                <a:cxn ang="0">
                  <a:pos x="T2" y="T3"/>
                </a:cxn>
                <a:cxn ang="0">
                  <a:pos x="T4" y="T5"/>
                </a:cxn>
                <a:cxn ang="0">
                  <a:pos x="T6" y="T7"/>
                </a:cxn>
              </a:cxnLst>
              <a:rect l="0" t="0" r="r" b="b"/>
              <a:pathLst>
                <a:path w="200" h="253">
                  <a:moveTo>
                    <a:pt x="0" y="253"/>
                  </a:moveTo>
                  <a:lnTo>
                    <a:pt x="200" y="126"/>
                  </a:lnTo>
                  <a:lnTo>
                    <a:pt x="0" y="0"/>
                  </a:lnTo>
                  <a:lnTo>
                    <a:pt x="0" y="253"/>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85" name="Oval 253"/>
            <p:cNvSpPr>
              <a:spLocks noChangeArrowheads="1"/>
            </p:cNvSpPr>
            <p:nvPr/>
          </p:nvSpPr>
          <p:spPr bwMode="auto">
            <a:xfrm>
              <a:off x="3952" y="3864"/>
              <a:ext cx="31" cy="31"/>
            </a:xfrm>
            <a:prstGeom prst="ellipse">
              <a:avLst/>
            </a:prstGeom>
            <a:solidFill>
              <a:srgbClr val="FFFFFF"/>
            </a:solidFill>
            <a:ln w="11113">
              <a:solidFill>
                <a:srgbClr val="0078C1"/>
              </a:solidFill>
              <a:miter lim="800000"/>
              <a:headEnd/>
              <a:tailEnd/>
            </a:ln>
          </p:spPr>
          <p:txBody>
            <a:bodyPr/>
            <a:lstStyle/>
            <a:p>
              <a:endParaRPr lang="en-US"/>
            </a:p>
          </p:txBody>
        </p:sp>
        <p:sp>
          <p:nvSpPr>
            <p:cNvPr id="581886" name="Freeform 254"/>
            <p:cNvSpPr>
              <a:spLocks/>
            </p:cNvSpPr>
            <p:nvPr/>
          </p:nvSpPr>
          <p:spPr bwMode="auto">
            <a:xfrm>
              <a:off x="3734" y="3720"/>
              <a:ext cx="82" cy="158"/>
            </a:xfrm>
            <a:custGeom>
              <a:avLst/>
              <a:gdLst>
                <a:gd name="T0" fmla="*/ 121 w 121"/>
                <a:gd name="T1" fmla="*/ 0 h 235"/>
                <a:gd name="T2" fmla="*/ 0 w 121"/>
                <a:gd name="T3" fmla="*/ 0 h 235"/>
                <a:gd name="T4" fmla="*/ 0 w 121"/>
                <a:gd name="T5" fmla="*/ 235 h 235"/>
              </a:gdLst>
              <a:ahLst/>
              <a:cxnLst>
                <a:cxn ang="0">
                  <a:pos x="T0" y="T1"/>
                </a:cxn>
                <a:cxn ang="0">
                  <a:pos x="T2" y="T3"/>
                </a:cxn>
                <a:cxn ang="0">
                  <a:pos x="T4" y="T5"/>
                </a:cxn>
              </a:cxnLst>
              <a:rect l="0" t="0" r="r" b="b"/>
              <a:pathLst>
                <a:path w="121" h="235">
                  <a:moveTo>
                    <a:pt x="121" y="0"/>
                  </a:moveTo>
                  <a:lnTo>
                    <a:pt x="0" y="0"/>
                  </a:lnTo>
                  <a:lnTo>
                    <a:pt x="0" y="235"/>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87" name="Freeform 255"/>
            <p:cNvSpPr>
              <a:spLocks/>
            </p:cNvSpPr>
            <p:nvPr/>
          </p:nvSpPr>
          <p:spPr bwMode="auto">
            <a:xfrm>
              <a:off x="3962" y="3720"/>
              <a:ext cx="82" cy="158"/>
            </a:xfrm>
            <a:custGeom>
              <a:avLst/>
              <a:gdLst>
                <a:gd name="T0" fmla="*/ 0 w 121"/>
                <a:gd name="T1" fmla="*/ 0 h 235"/>
                <a:gd name="T2" fmla="*/ 121 w 121"/>
                <a:gd name="T3" fmla="*/ 0 h 235"/>
                <a:gd name="T4" fmla="*/ 121 w 121"/>
                <a:gd name="T5" fmla="*/ 235 h 235"/>
              </a:gdLst>
              <a:ahLst/>
              <a:cxnLst>
                <a:cxn ang="0">
                  <a:pos x="T0" y="T1"/>
                </a:cxn>
                <a:cxn ang="0">
                  <a:pos x="T2" y="T3"/>
                </a:cxn>
                <a:cxn ang="0">
                  <a:pos x="T4" y="T5"/>
                </a:cxn>
              </a:cxnLst>
              <a:rect l="0" t="0" r="r" b="b"/>
              <a:pathLst>
                <a:path w="121" h="235">
                  <a:moveTo>
                    <a:pt x="0" y="0"/>
                  </a:moveTo>
                  <a:lnTo>
                    <a:pt x="121" y="0"/>
                  </a:lnTo>
                  <a:lnTo>
                    <a:pt x="121" y="235"/>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88" name="Freeform 256"/>
            <p:cNvSpPr>
              <a:spLocks/>
            </p:cNvSpPr>
            <p:nvPr/>
          </p:nvSpPr>
          <p:spPr bwMode="auto">
            <a:xfrm>
              <a:off x="3826" y="3636"/>
              <a:ext cx="136" cy="172"/>
            </a:xfrm>
            <a:custGeom>
              <a:avLst/>
              <a:gdLst>
                <a:gd name="T0" fmla="*/ 201 w 201"/>
                <a:gd name="T1" fmla="*/ 256 h 256"/>
                <a:gd name="T2" fmla="*/ 0 w 201"/>
                <a:gd name="T3" fmla="*/ 130 h 256"/>
                <a:gd name="T4" fmla="*/ 201 w 201"/>
                <a:gd name="T5" fmla="*/ 0 h 256"/>
                <a:gd name="T6" fmla="*/ 201 w 201"/>
                <a:gd name="T7" fmla="*/ 256 h 256"/>
              </a:gdLst>
              <a:ahLst/>
              <a:cxnLst>
                <a:cxn ang="0">
                  <a:pos x="T0" y="T1"/>
                </a:cxn>
                <a:cxn ang="0">
                  <a:pos x="T2" y="T3"/>
                </a:cxn>
                <a:cxn ang="0">
                  <a:pos x="T4" y="T5"/>
                </a:cxn>
                <a:cxn ang="0">
                  <a:pos x="T6" y="T7"/>
                </a:cxn>
              </a:cxnLst>
              <a:rect l="0" t="0" r="r" b="b"/>
              <a:pathLst>
                <a:path w="201" h="256">
                  <a:moveTo>
                    <a:pt x="201" y="256"/>
                  </a:moveTo>
                  <a:lnTo>
                    <a:pt x="0" y="130"/>
                  </a:lnTo>
                  <a:lnTo>
                    <a:pt x="201" y="0"/>
                  </a:lnTo>
                  <a:lnTo>
                    <a:pt x="201" y="256"/>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89" name="Oval 257"/>
            <p:cNvSpPr>
              <a:spLocks noChangeArrowheads="1"/>
            </p:cNvSpPr>
            <p:nvPr/>
          </p:nvSpPr>
          <p:spPr bwMode="auto">
            <a:xfrm>
              <a:off x="3793" y="3706"/>
              <a:ext cx="31" cy="31"/>
            </a:xfrm>
            <a:prstGeom prst="ellipse">
              <a:avLst/>
            </a:prstGeom>
            <a:solidFill>
              <a:srgbClr val="FFFFFF"/>
            </a:solidFill>
            <a:ln w="11113">
              <a:solidFill>
                <a:srgbClr val="0078C1"/>
              </a:solidFill>
              <a:miter lim="800000"/>
              <a:headEnd/>
              <a:tailEnd/>
            </a:ln>
          </p:spPr>
          <p:txBody>
            <a:bodyPr/>
            <a:lstStyle/>
            <a:p>
              <a:endParaRPr lang="en-US"/>
            </a:p>
          </p:txBody>
        </p:sp>
        <p:sp>
          <p:nvSpPr>
            <p:cNvPr id="581890" name="Oval 258"/>
            <p:cNvSpPr>
              <a:spLocks noChangeArrowheads="1"/>
            </p:cNvSpPr>
            <p:nvPr/>
          </p:nvSpPr>
          <p:spPr bwMode="auto">
            <a:xfrm>
              <a:off x="3470" y="3864"/>
              <a:ext cx="31" cy="31"/>
            </a:xfrm>
            <a:prstGeom prst="ellipse">
              <a:avLst/>
            </a:prstGeom>
            <a:solidFill>
              <a:srgbClr val="000000"/>
            </a:solidFill>
            <a:ln w="11113">
              <a:solidFill>
                <a:srgbClr val="000000"/>
              </a:solidFill>
              <a:miter lim="800000"/>
              <a:headEnd/>
              <a:tailEnd/>
            </a:ln>
          </p:spPr>
          <p:txBody>
            <a:bodyPr/>
            <a:lstStyle/>
            <a:p>
              <a:endParaRPr lang="en-US"/>
            </a:p>
          </p:txBody>
        </p:sp>
        <p:sp>
          <p:nvSpPr>
            <p:cNvPr id="581891" name="Oval 259"/>
            <p:cNvSpPr>
              <a:spLocks noChangeArrowheads="1"/>
            </p:cNvSpPr>
            <p:nvPr/>
          </p:nvSpPr>
          <p:spPr bwMode="auto">
            <a:xfrm>
              <a:off x="3720" y="3864"/>
              <a:ext cx="31" cy="31"/>
            </a:xfrm>
            <a:prstGeom prst="ellipse">
              <a:avLst/>
            </a:prstGeom>
            <a:solidFill>
              <a:srgbClr val="000000"/>
            </a:solidFill>
            <a:ln w="11113">
              <a:solidFill>
                <a:srgbClr val="000000"/>
              </a:solidFill>
              <a:miter lim="800000"/>
              <a:headEnd/>
              <a:tailEnd/>
            </a:ln>
          </p:spPr>
          <p:txBody>
            <a:bodyPr/>
            <a:lstStyle/>
            <a:p>
              <a:endParaRPr lang="en-US"/>
            </a:p>
          </p:txBody>
        </p:sp>
        <p:sp>
          <p:nvSpPr>
            <p:cNvPr id="581892" name="Oval 260"/>
            <p:cNvSpPr>
              <a:spLocks noChangeArrowheads="1"/>
            </p:cNvSpPr>
            <p:nvPr/>
          </p:nvSpPr>
          <p:spPr bwMode="auto">
            <a:xfrm>
              <a:off x="4027" y="3864"/>
              <a:ext cx="31" cy="31"/>
            </a:xfrm>
            <a:prstGeom prst="ellipse">
              <a:avLst/>
            </a:prstGeom>
            <a:solidFill>
              <a:srgbClr val="000000"/>
            </a:solidFill>
            <a:ln w="11113">
              <a:solidFill>
                <a:srgbClr val="000000"/>
              </a:solidFill>
              <a:miter lim="800000"/>
              <a:headEnd/>
              <a:tailEnd/>
            </a:ln>
          </p:spPr>
          <p:txBody>
            <a:bodyPr/>
            <a:lstStyle/>
            <a:p>
              <a:endParaRPr lang="en-US"/>
            </a:p>
          </p:txBody>
        </p:sp>
        <p:sp>
          <p:nvSpPr>
            <p:cNvPr id="581893" name="Oval 261"/>
            <p:cNvSpPr>
              <a:spLocks noChangeArrowheads="1"/>
            </p:cNvSpPr>
            <p:nvPr/>
          </p:nvSpPr>
          <p:spPr bwMode="auto">
            <a:xfrm>
              <a:off x="4287" y="3864"/>
              <a:ext cx="32" cy="31"/>
            </a:xfrm>
            <a:prstGeom prst="ellipse">
              <a:avLst/>
            </a:prstGeom>
            <a:solidFill>
              <a:srgbClr val="000000"/>
            </a:solidFill>
            <a:ln w="11113">
              <a:solidFill>
                <a:srgbClr val="000000"/>
              </a:solidFill>
              <a:miter lim="800000"/>
              <a:headEnd/>
              <a:tailEnd/>
            </a:ln>
          </p:spPr>
          <p:txBody>
            <a:bodyPr/>
            <a:lstStyle/>
            <a:p>
              <a:endParaRPr lang="en-US"/>
            </a:p>
          </p:txBody>
        </p:sp>
        <p:sp>
          <p:nvSpPr>
            <p:cNvPr id="581894" name="Oval 262"/>
            <p:cNvSpPr>
              <a:spLocks noChangeArrowheads="1"/>
            </p:cNvSpPr>
            <p:nvPr/>
          </p:nvSpPr>
          <p:spPr bwMode="auto">
            <a:xfrm>
              <a:off x="4163" y="4107"/>
              <a:ext cx="33" cy="32"/>
            </a:xfrm>
            <a:prstGeom prst="ellipse">
              <a:avLst/>
            </a:prstGeom>
            <a:solidFill>
              <a:srgbClr val="000000"/>
            </a:solidFill>
            <a:ln w="11113">
              <a:solidFill>
                <a:srgbClr val="000000"/>
              </a:solidFill>
              <a:miter lim="800000"/>
              <a:headEnd/>
              <a:tailEnd/>
            </a:ln>
          </p:spPr>
          <p:txBody>
            <a:bodyPr/>
            <a:lstStyle/>
            <a:p>
              <a:endParaRPr lang="en-US"/>
            </a:p>
          </p:txBody>
        </p:sp>
        <p:sp>
          <p:nvSpPr>
            <p:cNvPr id="581895" name="Oval 263"/>
            <p:cNvSpPr>
              <a:spLocks noChangeArrowheads="1"/>
            </p:cNvSpPr>
            <p:nvPr/>
          </p:nvSpPr>
          <p:spPr bwMode="auto">
            <a:xfrm>
              <a:off x="3609" y="4107"/>
              <a:ext cx="32" cy="32"/>
            </a:xfrm>
            <a:prstGeom prst="ellipse">
              <a:avLst/>
            </a:prstGeom>
            <a:solidFill>
              <a:srgbClr val="000000"/>
            </a:solidFill>
            <a:ln w="11113">
              <a:solidFill>
                <a:srgbClr val="000000"/>
              </a:solidFill>
              <a:miter lim="800000"/>
              <a:headEnd/>
              <a:tailEnd/>
            </a:ln>
          </p:spPr>
          <p:txBody>
            <a:bodyPr/>
            <a:lstStyle/>
            <a:p>
              <a:endParaRPr lang="en-US"/>
            </a:p>
          </p:txBody>
        </p:sp>
        <p:sp>
          <p:nvSpPr>
            <p:cNvPr id="581896" name="Line 264"/>
            <p:cNvSpPr>
              <a:spLocks noChangeShapeType="1"/>
            </p:cNvSpPr>
            <p:nvPr/>
          </p:nvSpPr>
          <p:spPr bwMode="auto">
            <a:xfrm flipV="1">
              <a:off x="3626" y="3972"/>
              <a:ext cx="0" cy="154"/>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97" name="Freeform 265"/>
            <p:cNvSpPr>
              <a:spLocks/>
            </p:cNvSpPr>
            <p:nvPr/>
          </p:nvSpPr>
          <p:spPr bwMode="auto">
            <a:xfrm>
              <a:off x="3472" y="3880"/>
              <a:ext cx="339" cy="59"/>
            </a:xfrm>
            <a:custGeom>
              <a:avLst/>
              <a:gdLst>
                <a:gd name="T0" fmla="*/ 503 w 503"/>
                <a:gd name="T1" fmla="*/ 0 h 87"/>
                <a:gd name="T2" fmla="*/ 309 w 503"/>
                <a:gd name="T3" fmla="*/ 0 h 87"/>
                <a:gd name="T4" fmla="*/ 309 w 503"/>
                <a:gd name="T5" fmla="*/ 87 h 87"/>
                <a:gd name="T6" fmla="*/ 148 w 503"/>
                <a:gd name="T7" fmla="*/ 87 h 87"/>
                <a:gd name="T8" fmla="*/ 148 w 503"/>
                <a:gd name="T9" fmla="*/ 0 h 87"/>
                <a:gd name="T10" fmla="*/ 0 w 503"/>
                <a:gd name="T11" fmla="*/ 0 h 87"/>
              </a:gdLst>
              <a:ahLst/>
              <a:cxnLst>
                <a:cxn ang="0">
                  <a:pos x="T0" y="T1"/>
                </a:cxn>
                <a:cxn ang="0">
                  <a:pos x="T2" y="T3"/>
                </a:cxn>
                <a:cxn ang="0">
                  <a:pos x="T4" y="T5"/>
                </a:cxn>
                <a:cxn ang="0">
                  <a:pos x="T6" y="T7"/>
                </a:cxn>
                <a:cxn ang="0">
                  <a:pos x="T8" y="T9"/>
                </a:cxn>
                <a:cxn ang="0">
                  <a:pos x="T10" y="T11"/>
                </a:cxn>
              </a:cxnLst>
              <a:rect l="0" t="0" r="r" b="b"/>
              <a:pathLst>
                <a:path w="503" h="87">
                  <a:moveTo>
                    <a:pt x="503" y="0"/>
                  </a:moveTo>
                  <a:lnTo>
                    <a:pt x="309" y="0"/>
                  </a:lnTo>
                  <a:lnTo>
                    <a:pt x="309" y="87"/>
                  </a:lnTo>
                  <a:lnTo>
                    <a:pt x="148" y="87"/>
                  </a:lnTo>
                  <a:lnTo>
                    <a:pt x="148"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898" name="Line 266"/>
            <p:cNvSpPr>
              <a:spLocks noChangeShapeType="1"/>
            </p:cNvSpPr>
            <p:nvPr/>
          </p:nvSpPr>
          <p:spPr bwMode="auto">
            <a:xfrm flipH="1">
              <a:off x="3568" y="3968"/>
              <a:ext cx="11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899" name="Line 267"/>
            <p:cNvSpPr>
              <a:spLocks noChangeShapeType="1"/>
            </p:cNvSpPr>
            <p:nvPr/>
          </p:nvSpPr>
          <p:spPr bwMode="auto">
            <a:xfrm flipV="1">
              <a:off x="4179" y="3972"/>
              <a:ext cx="0" cy="154"/>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900" name="Freeform 268"/>
            <p:cNvSpPr>
              <a:spLocks/>
            </p:cNvSpPr>
            <p:nvPr/>
          </p:nvSpPr>
          <p:spPr bwMode="auto">
            <a:xfrm>
              <a:off x="3983" y="3880"/>
              <a:ext cx="321" cy="59"/>
            </a:xfrm>
            <a:custGeom>
              <a:avLst/>
              <a:gdLst>
                <a:gd name="T0" fmla="*/ 476 w 476"/>
                <a:gd name="T1" fmla="*/ 0 h 87"/>
                <a:gd name="T2" fmla="*/ 371 w 476"/>
                <a:gd name="T3" fmla="*/ 0 h 87"/>
                <a:gd name="T4" fmla="*/ 371 w 476"/>
                <a:gd name="T5" fmla="*/ 87 h 87"/>
                <a:gd name="T6" fmla="*/ 210 w 476"/>
                <a:gd name="T7" fmla="*/ 87 h 87"/>
                <a:gd name="T8" fmla="*/ 210 w 476"/>
                <a:gd name="T9" fmla="*/ 0 h 87"/>
                <a:gd name="T10" fmla="*/ 0 w 476"/>
                <a:gd name="T11" fmla="*/ 0 h 87"/>
              </a:gdLst>
              <a:ahLst/>
              <a:cxnLst>
                <a:cxn ang="0">
                  <a:pos x="T0" y="T1"/>
                </a:cxn>
                <a:cxn ang="0">
                  <a:pos x="T2" y="T3"/>
                </a:cxn>
                <a:cxn ang="0">
                  <a:pos x="T4" y="T5"/>
                </a:cxn>
                <a:cxn ang="0">
                  <a:pos x="T6" y="T7"/>
                </a:cxn>
                <a:cxn ang="0">
                  <a:pos x="T8" y="T9"/>
                </a:cxn>
                <a:cxn ang="0">
                  <a:pos x="T10" y="T11"/>
                </a:cxn>
              </a:cxnLst>
              <a:rect l="0" t="0" r="r" b="b"/>
              <a:pathLst>
                <a:path w="476" h="87">
                  <a:moveTo>
                    <a:pt x="476" y="0"/>
                  </a:moveTo>
                  <a:lnTo>
                    <a:pt x="371" y="0"/>
                  </a:lnTo>
                  <a:lnTo>
                    <a:pt x="371" y="87"/>
                  </a:lnTo>
                  <a:lnTo>
                    <a:pt x="210" y="87"/>
                  </a:lnTo>
                  <a:lnTo>
                    <a:pt x="210"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1901" name="Line 269"/>
            <p:cNvSpPr>
              <a:spLocks noChangeShapeType="1"/>
            </p:cNvSpPr>
            <p:nvPr/>
          </p:nvSpPr>
          <p:spPr bwMode="auto">
            <a:xfrm flipH="1">
              <a:off x="4121" y="3968"/>
              <a:ext cx="11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902" name="Line 270"/>
            <p:cNvSpPr>
              <a:spLocks noChangeShapeType="1"/>
            </p:cNvSpPr>
            <p:nvPr/>
          </p:nvSpPr>
          <p:spPr bwMode="auto">
            <a:xfrm>
              <a:off x="3363" y="4126"/>
              <a:ext cx="106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903" name="Line 271"/>
            <p:cNvSpPr>
              <a:spLocks noChangeShapeType="1"/>
            </p:cNvSpPr>
            <p:nvPr/>
          </p:nvSpPr>
          <p:spPr bwMode="auto">
            <a:xfrm>
              <a:off x="4302" y="3537"/>
              <a:ext cx="1" cy="66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904" name="Line 272"/>
            <p:cNvSpPr>
              <a:spLocks noChangeShapeType="1"/>
            </p:cNvSpPr>
            <p:nvPr/>
          </p:nvSpPr>
          <p:spPr bwMode="auto">
            <a:xfrm>
              <a:off x="3484" y="3537"/>
              <a:ext cx="1" cy="66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1905" name="Rectangle 273"/>
            <p:cNvSpPr>
              <a:spLocks noChangeArrowheads="1"/>
            </p:cNvSpPr>
            <p:nvPr/>
          </p:nvSpPr>
          <p:spPr bwMode="auto">
            <a:xfrm>
              <a:off x="3422" y="3463"/>
              <a:ext cx="161"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a:t>
              </a:r>
              <a:endParaRPr lang="en-US" altLang="en-US"/>
            </a:p>
          </p:txBody>
        </p:sp>
        <p:sp>
          <p:nvSpPr>
            <p:cNvPr id="581906" name="Rectangle 274"/>
            <p:cNvSpPr>
              <a:spLocks noChangeArrowheads="1"/>
            </p:cNvSpPr>
            <p:nvPr/>
          </p:nvSpPr>
          <p:spPr bwMode="auto">
            <a:xfrm>
              <a:off x="4238" y="3463"/>
              <a:ext cx="19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a:t>
              </a:r>
              <a:endParaRPr lang="en-US" altLang="en-US"/>
            </a:p>
          </p:txBody>
        </p:sp>
        <p:sp>
          <p:nvSpPr>
            <p:cNvPr id="581907" name="Rectangle 275"/>
            <p:cNvSpPr>
              <a:spLocks noChangeArrowheads="1"/>
            </p:cNvSpPr>
            <p:nvPr/>
          </p:nvSpPr>
          <p:spPr bwMode="auto">
            <a:xfrm>
              <a:off x="4079" y="3644"/>
              <a:ext cx="8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a:p>
          </p:txBody>
        </p:sp>
        <p:sp>
          <p:nvSpPr>
            <p:cNvPr id="581908" name="Rectangle 276"/>
            <p:cNvSpPr>
              <a:spLocks noChangeArrowheads="1"/>
            </p:cNvSpPr>
            <p:nvPr/>
          </p:nvSpPr>
          <p:spPr bwMode="auto">
            <a:xfrm>
              <a:off x="3688" y="3627"/>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a:p>
          </p:txBody>
        </p:sp>
        <p:sp>
          <p:nvSpPr>
            <p:cNvPr id="581909" name="Rectangle 277"/>
            <p:cNvSpPr>
              <a:spLocks noChangeArrowheads="1"/>
            </p:cNvSpPr>
            <p:nvPr/>
          </p:nvSpPr>
          <p:spPr bwMode="auto">
            <a:xfrm>
              <a:off x="4148" y="3572"/>
              <a:ext cx="14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cell</a:t>
              </a:r>
              <a:endParaRPr lang="en-US" altLang="en-US"/>
            </a:p>
          </p:txBody>
        </p:sp>
        <p:sp>
          <p:nvSpPr>
            <p:cNvPr id="581910" name="Rectangle 278"/>
            <p:cNvSpPr>
              <a:spLocks noChangeArrowheads="1"/>
            </p:cNvSpPr>
            <p:nvPr/>
          </p:nvSpPr>
          <p:spPr bwMode="auto">
            <a:xfrm>
              <a:off x="3728" y="4049"/>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FF00"/>
                  </a:solidFill>
                  <a:latin typeface="Myriad Roman" charset="0"/>
                </a:rPr>
                <a:t>0</a:t>
              </a:r>
              <a:endParaRPr lang="en-US" altLang="en-US">
                <a:solidFill>
                  <a:srgbClr val="00FF00"/>
                </a:solidFill>
              </a:endParaRPr>
            </a:p>
          </p:txBody>
        </p:sp>
        <p:sp>
          <p:nvSpPr>
            <p:cNvPr id="581911" name="Rectangle 279"/>
            <p:cNvSpPr>
              <a:spLocks noChangeArrowheads="1"/>
            </p:cNvSpPr>
            <p:nvPr/>
          </p:nvSpPr>
          <p:spPr bwMode="auto">
            <a:xfrm>
              <a:off x="3185" y="4058"/>
              <a:ext cx="19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word</a:t>
              </a:r>
              <a:endParaRPr lang="en-US" altLang="en-US"/>
            </a:p>
          </p:txBody>
        </p:sp>
        <p:sp>
          <p:nvSpPr>
            <p:cNvPr id="581912" name="Rectangle 280"/>
            <p:cNvSpPr>
              <a:spLocks noChangeArrowheads="1"/>
            </p:cNvSpPr>
            <p:nvPr/>
          </p:nvSpPr>
          <p:spPr bwMode="auto">
            <a:xfrm>
              <a:off x="3162" y="4132"/>
              <a:ext cx="25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enable</a:t>
              </a:r>
              <a:endParaRPr lang="en-US" altLang="en-US"/>
            </a:p>
          </p:txBody>
        </p:sp>
        <p:sp>
          <p:nvSpPr>
            <p:cNvPr id="581914" name="Freeform 282"/>
            <p:cNvSpPr>
              <a:spLocks/>
            </p:cNvSpPr>
            <p:nvPr/>
          </p:nvSpPr>
          <p:spPr bwMode="auto">
            <a:xfrm>
              <a:off x="3665" y="3611"/>
              <a:ext cx="454" cy="417"/>
            </a:xfrm>
            <a:custGeom>
              <a:avLst/>
              <a:gdLst>
                <a:gd name="T0" fmla="*/ 14 w 673"/>
                <a:gd name="T1" fmla="*/ 180 h 620"/>
                <a:gd name="T2" fmla="*/ 36 w 673"/>
                <a:gd name="T3" fmla="*/ 423 h 620"/>
                <a:gd name="T4" fmla="*/ 233 w 673"/>
                <a:gd name="T5" fmla="*/ 597 h 620"/>
                <a:gd name="T6" fmla="*/ 590 w 673"/>
                <a:gd name="T7" fmla="*/ 559 h 620"/>
                <a:gd name="T8" fmla="*/ 665 w 673"/>
                <a:gd name="T9" fmla="*/ 279 h 620"/>
                <a:gd name="T10" fmla="*/ 544 w 673"/>
                <a:gd name="T11" fmla="*/ 67 h 620"/>
                <a:gd name="T12" fmla="*/ 340 w 673"/>
                <a:gd name="T13" fmla="*/ 6 h 620"/>
                <a:gd name="T14" fmla="*/ 188 w 673"/>
                <a:gd name="T15" fmla="*/ 29 h 620"/>
                <a:gd name="T16" fmla="*/ 112 w 673"/>
                <a:gd name="T17" fmla="*/ 74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73" h="620">
                  <a:moveTo>
                    <a:pt x="14" y="180"/>
                  </a:moveTo>
                  <a:cubicBezTo>
                    <a:pt x="7" y="267"/>
                    <a:pt x="0" y="354"/>
                    <a:pt x="36" y="423"/>
                  </a:cubicBezTo>
                  <a:cubicBezTo>
                    <a:pt x="72" y="492"/>
                    <a:pt x="141" y="574"/>
                    <a:pt x="233" y="597"/>
                  </a:cubicBezTo>
                  <a:cubicBezTo>
                    <a:pt x="325" y="620"/>
                    <a:pt x="518" y="612"/>
                    <a:pt x="590" y="559"/>
                  </a:cubicBezTo>
                  <a:cubicBezTo>
                    <a:pt x="662" y="506"/>
                    <a:pt x="673" y="361"/>
                    <a:pt x="665" y="279"/>
                  </a:cubicBezTo>
                  <a:cubicBezTo>
                    <a:pt x="657" y="197"/>
                    <a:pt x="598" y="113"/>
                    <a:pt x="544" y="67"/>
                  </a:cubicBezTo>
                  <a:cubicBezTo>
                    <a:pt x="490" y="21"/>
                    <a:pt x="399" y="12"/>
                    <a:pt x="340" y="6"/>
                  </a:cubicBezTo>
                  <a:cubicBezTo>
                    <a:pt x="281" y="0"/>
                    <a:pt x="226" y="18"/>
                    <a:pt x="188" y="29"/>
                  </a:cubicBezTo>
                  <a:cubicBezTo>
                    <a:pt x="150" y="40"/>
                    <a:pt x="131" y="57"/>
                    <a:pt x="112" y="74"/>
                  </a:cubicBezTo>
                </a:path>
              </a:pathLst>
            </a:custGeom>
            <a:noFill/>
            <a:ln w="12700" cap="flat">
              <a:solidFill>
                <a:srgbClr val="FF0000"/>
              </a:solidFill>
              <a:prstDash val="dash"/>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1916" name="Text Box 284"/>
            <p:cNvSpPr txBox="1">
              <a:spLocks noChangeArrowheads="1"/>
            </p:cNvSpPr>
            <p:nvPr/>
          </p:nvSpPr>
          <p:spPr bwMode="auto">
            <a:xfrm>
              <a:off x="3541" y="3637"/>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0033CC"/>
                  </a:solidFill>
                </a:rPr>
                <a:t>1</a:t>
              </a:r>
            </a:p>
          </p:txBody>
        </p:sp>
        <p:sp>
          <p:nvSpPr>
            <p:cNvPr id="581917" name="Text Box 285"/>
            <p:cNvSpPr txBox="1">
              <a:spLocks noChangeArrowheads="1"/>
            </p:cNvSpPr>
            <p:nvPr/>
          </p:nvSpPr>
          <p:spPr bwMode="auto">
            <a:xfrm>
              <a:off x="4049" y="366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0</a:t>
              </a:r>
            </a:p>
          </p:txBody>
        </p:sp>
      </p:grpSp>
      <p:sp>
        <p:nvSpPr>
          <p:cNvPr id="581919" name="Text Box 287"/>
          <p:cNvSpPr txBox="1">
            <a:spLocks noChangeArrowheads="1"/>
          </p:cNvSpPr>
          <p:nvPr/>
        </p:nvSpPr>
        <p:spPr bwMode="auto">
          <a:xfrm>
            <a:off x="8897938" y="41513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81920" name="Text Box 288"/>
          <p:cNvSpPr txBox="1">
            <a:spLocks noChangeArrowheads="1"/>
          </p:cNvSpPr>
          <p:nvPr/>
        </p:nvSpPr>
        <p:spPr bwMode="auto">
          <a:xfrm>
            <a:off x="6973888" y="59801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81875"/>
                                        </p:tgtEl>
                                        <p:attrNameLst>
                                          <p:attrName>style.visibility</p:attrName>
                                        </p:attrNameLst>
                                      </p:cBhvr>
                                      <p:to>
                                        <p:strVal val="visible"/>
                                      </p:to>
                                    </p:set>
                                    <p:animEffect transition="in" filter="dissolve">
                                      <p:cBhvr>
                                        <p:cTn id="7" dur="500"/>
                                        <p:tgtEl>
                                          <p:spTgt spid="58187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581881"/>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581879"/>
                                        </p:tgtEl>
                                        <p:attrNameLst>
                                          <p:attrName>style.visibility</p:attrName>
                                        </p:attrNameLst>
                                      </p:cBhvr>
                                      <p:to>
                                        <p:strVal val="visible"/>
                                      </p:to>
                                    </p:set>
                                    <p:anim calcmode="lin" valueType="num">
                                      <p:cBhvr additive="base">
                                        <p:cTn id="16" dur="500" fill="hold"/>
                                        <p:tgtEl>
                                          <p:spTgt spid="581879"/>
                                        </p:tgtEl>
                                        <p:attrNameLst>
                                          <p:attrName>ppt_x</p:attrName>
                                        </p:attrNameLst>
                                      </p:cBhvr>
                                      <p:tavLst>
                                        <p:tav tm="0">
                                          <p:val>
                                            <p:strVal val="#ppt_x"/>
                                          </p:val>
                                        </p:tav>
                                        <p:tav tm="100000">
                                          <p:val>
                                            <p:strVal val="#ppt_x"/>
                                          </p:val>
                                        </p:tav>
                                      </p:tavLst>
                                    </p:anim>
                                    <p:anim calcmode="lin" valueType="num">
                                      <p:cBhvr additive="base">
                                        <p:cTn id="17" dur="500" fill="hold"/>
                                        <p:tgtEl>
                                          <p:spTgt spid="581879"/>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81877"/>
                                        </p:tgtEl>
                                        <p:attrNameLst>
                                          <p:attrName>style.visibility</p:attrName>
                                        </p:attrNameLst>
                                      </p:cBhvr>
                                      <p:to>
                                        <p:strVal val="visible"/>
                                      </p:to>
                                    </p:set>
                                    <p:animEffect transition="in" filter="dissolve">
                                      <p:cBhvr>
                                        <p:cTn id="22" dur="500"/>
                                        <p:tgtEl>
                                          <p:spTgt spid="58187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499"/>
                                          </p:stCondLst>
                                        </p:cTn>
                                        <p:tgtEl>
                                          <p:spTgt spid="5819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Slide Number Placeholder 3"/>
          <p:cNvSpPr>
            <a:spLocks noGrp="1"/>
          </p:cNvSpPr>
          <p:nvPr>
            <p:ph type="sldNum" sz="quarter" idx="10"/>
          </p:nvPr>
        </p:nvSpPr>
        <p:spPr/>
        <p:txBody>
          <a:bodyPr/>
          <a:lstStyle/>
          <a:p>
            <a:fld id="{620F46CA-0BC6-4966-8A68-971077AF919B}" type="slidenum">
              <a:rPr lang="en-US" altLang="en-US"/>
              <a:pPr/>
              <a:t>65</a:t>
            </a:fld>
            <a:endParaRPr lang="en-US" altLang="en-US"/>
          </a:p>
        </p:txBody>
      </p:sp>
      <p:sp>
        <p:nvSpPr>
          <p:cNvPr id="582658" name="Rectangle 2"/>
          <p:cNvSpPr>
            <a:spLocks noGrp="1" noChangeArrowheads="1"/>
          </p:cNvSpPr>
          <p:nvPr>
            <p:ph type="title"/>
          </p:nvPr>
        </p:nvSpPr>
        <p:spPr/>
        <p:txBody>
          <a:bodyPr/>
          <a:lstStyle/>
          <a:p>
            <a:r>
              <a:rPr lang="en-US" altLang="en-US"/>
              <a:t>Static RAM (SRAM)</a:t>
            </a:r>
          </a:p>
        </p:txBody>
      </p:sp>
      <p:sp>
        <p:nvSpPr>
          <p:cNvPr id="582659" name="Rectangle 3"/>
          <p:cNvSpPr>
            <a:spLocks noGrp="1" noChangeArrowheads="1"/>
          </p:cNvSpPr>
          <p:nvPr>
            <p:ph type="body" idx="1"/>
          </p:nvPr>
        </p:nvSpPr>
        <p:spPr>
          <a:xfrm>
            <a:off x="155575" y="2795588"/>
            <a:ext cx="5375275" cy="2735262"/>
          </a:xfrm>
        </p:spPr>
        <p:txBody>
          <a:bodyPr/>
          <a:lstStyle/>
          <a:p>
            <a:pPr>
              <a:lnSpc>
                <a:spcPct val="90000"/>
              </a:lnSpc>
            </a:pPr>
            <a:r>
              <a:rPr lang="en-US" altLang="en-US" sz="2000"/>
              <a:t>“Static” RAM cell</a:t>
            </a:r>
          </a:p>
          <a:p>
            <a:pPr lvl="1">
              <a:lnSpc>
                <a:spcPct val="90000"/>
              </a:lnSpc>
            </a:pPr>
            <a:r>
              <a:rPr lang="en-US" altLang="en-US" sz="1800"/>
              <a:t>Reading this cell</a:t>
            </a:r>
          </a:p>
          <a:p>
            <a:pPr lvl="2">
              <a:lnSpc>
                <a:spcPct val="90000"/>
              </a:lnSpc>
            </a:pPr>
            <a:r>
              <a:rPr lang="en-US" altLang="en-US" sz="1600"/>
              <a:t>Somewhat trickier</a:t>
            </a:r>
          </a:p>
          <a:p>
            <a:pPr lvl="2">
              <a:lnSpc>
                <a:spcPct val="90000"/>
              </a:lnSpc>
            </a:pPr>
            <a:r>
              <a:rPr lang="en-US" altLang="en-US" sz="1600"/>
              <a:t>When rw set to read, the RAM logic sets both </a:t>
            </a:r>
            <a:r>
              <a:rPr lang="en-US" altLang="en-US" sz="1600" i="1"/>
              <a:t>data</a:t>
            </a:r>
            <a:r>
              <a:rPr lang="en-US" altLang="en-US" sz="1600"/>
              <a:t> and </a:t>
            </a:r>
            <a:r>
              <a:rPr lang="en-US" altLang="en-US" sz="1600" i="1"/>
              <a:t>data’</a:t>
            </a:r>
            <a:r>
              <a:rPr lang="en-US" altLang="en-US" sz="1600"/>
              <a:t> to </a:t>
            </a:r>
            <a:r>
              <a:rPr lang="en-US" altLang="en-US" sz="1600">
                <a:solidFill>
                  <a:srgbClr val="00FF00"/>
                </a:solidFill>
              </a:rPr>
              <a:t>1</a:t>
            </a:r>
          </a:p>
          <a:p>
            <a:pPr lvl="2">
              <a:lnSpc>
                <a:spcPct val="90000"/>
              </a:lnSpc>
            </a:pPr>
            <a:r>
              <a:rPr lang="en-US" altLang="en-US" sz="1600"/>
              <a:t>The stored bit d will pull either the left line or the right bit down slightly below </a:t>
            </a:r>
            <a:r>
              <a:rPr lang="en-US" altLang="en-US" sz="1600">
                <a:solidFill>
                  <a:srgbClr val="0033CC"/>
                </a:solidFill>
              </a:rPr>
              <a:t>1</a:t>
            </a:r>
          </a:p>
          <a:p>
            <a:pPr lvl="2">
              <a:lnSpc>
                <a:spcPct val="90000"/>
              </a:lnSpc>
            </a:pPr>
            <a:r>
              <a:rPr lang="en-US" altLang="en-US" sz="1600"/>
              <a:t>“Sense amplifiers” detect which side is slightly pulled down</a:t>
            </a:r>
          </a:p>
          <a:p>
            <a:pPr lvl="1">
              <a:lnSpc>
                <a:spcPct val="90000"/>
              </a:lnSpc>
            </a:pPr>
            <a:r>
              <a:rPr lang="en-US" altLang="en-US" sz="1800"/>
              <a:t>The electrical description of SRAM is really beyond our scope – just general idea here, mainly to contrast with </a:t>
            </a:r>
            <a:r>
              <a:rPr lang="en-US" altLang="en-US" sz="1800" i="1"/>
              <a:t>DRAM</a:t>
            </a:r>
            <a:r>
              <a:rPr lang="en-US" altLang="en-US" sz="1800"/>
              <a:t>...</a:t>
            </a:r>
          </a:p>
          <a:p>
            <a:pPr lvl="1">
              <a:lnSpc>
                <a:spcPct val="90000"/>
              </a:lnSpc>
            </a:pPr>
            <a:endParaRPr lang="en-US" altLang="en-US" sz="1800"/>
          </a:p>
        </p:txBody>
      </p:sp>
      <p:pic>
        <p:nvPicPr>
          <p:cNvPr id="582692" name="Picture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963" y="1228725"/>
            <a:ext cx="3322637"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2693" name="Line 37"/>
          <p:cNvSpPr>
            <a:spLocks noChangeShapeType="1"/>
          </p:cNvSpPr>
          <p:nvPr/>
        </p:nvSpPr>
        <p:spPr bwMode="auto">
          <a:xfrm>
            <a:off x="1708150" y="1431925"/>
            <a:ext cx="1143000" cy="2159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2739" name="Line 83"/>
          <p:cNvSpPr>
            <a:spLocks noChangeShapeType="1"/>
          </p:cNvSpPr>
          <p:nvPr/>
        </p:nvSpPr>
        <p:spPr bwMode="auto">
          <a:xfrm>
            <a:off x="5378450" y="2659063"/>
            <a:ext cx="360363" cy="3968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2740" name="Text Box 84"/>
          <p:cNvSpPr txBox="1">
            <a:spLocks noChangeArrowheads="1"/>
          </p:cNvSpPr>
          <p:nvPr/>
        </p:nvSpPr>
        <p:spPr bwMode="auto">
          <a:xfrm>
            <a:off x="5791200" y="2657475"/>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FF0000"/>
                </a:solidFill>
              </a:rPr>
              <a:t>SRAM</a:t>
            </a:r>
            <a:r>
              <a:rPr lang="en-US" altLang="en-US" sz="1800"/>
              <a:t> cell</a:t>
            </a:r>
          </a:p>
        </p:txBody>
      </p:sp>
      <p:grpSp>
        <p:nvGrpSpPr>
          <p:cNvPr id="582768" name="Group 112"/>
          <p:cNvGrpSpPr>
            <a:grpSpLocks/>
          </p:cNvGrpSpPr>
          <p:nvPr/>
        </p:nvGrpSpPr>
        <p:grpSpPr bwMode="auto">
          <a:xfrm>
            <a:off x="168275" y="1281113"/>
            <a:ext cx="1673225" cy="1160462"/>
            <a:chOff x="106" y="807"/>
            <a:chExt cx="1054" cy="731"/>
          </a:xfrm>
        </p:grpSpPr>
        <p:sp>
          <p:nvSpPr>
            <p:cNvPr id="582769" name="Rectangle 113"/>
            <p:cNvSpPr>
              <a:spLocks noChangeArrowheads="1"/>
            </p:cNvSpPr>
            <p:nvPr/>
          </p:nvSpPr>
          <p:spPr bwMode="auto">
            <a:xfrm>
              <a:off x="390" y="807"/>
              <a:ext cx="770" cy="73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770" name="Line 114"/>
            <p:cNvSpPr>
              <a:spLocks noChangeShapeType="1"/>
            </p:cNvSpPr>
            <p:nvPr/>
          </p:nvSpPr>
          <p:spPr bwMode="auto">
            <a:xfrm flipH="1">
              <a:off x="169" y="915"/>
              <a:ext cx="8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771" name="Freeform 115"/>
            <p:cNvSpPr>
              <a:spLocks/>
            </p:cNvSpPr>
            <p:nvPr/>
          </p:nvSpPr>
          <p:spPr bwMode="auto">
            <a:xfrm>
              <a:off x="106" y="898"/>
              <a:ext cx="72" cy="34"/>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772" name="Line 116"/>
            <p:cNvSpPr>
              <a:spLocks noChangeShapeType="1"/>
            </p:cNvSpPr>
            <p:nvPr/>
          </p:nvSpPr>
          <p:spPr bwMode="auto">
            <a:xfrm>
              <a:off x="250" y="915"/>
              <a:ext cx="8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773" name="Freeform 117"/>
            <p:cNvSpPr>
              <a:spLocks/>
            </p:cNvSpPr>
            <p:nvPr/>
          </p:nvSpPr>
          <p:spPr bwMode="auto">
            <a:xfrm>
              <a:off x="318" y="898"/>
              <a:ext cx="72"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774" name="Line 118"/>
            <p:cNvSpPr>
              <a:spLocks noChangeShapeType="1"/>
            </p:cNvSpPr>
            <p:nvPr/>
          </p:nvSpPr>
          <p:spPr bwMode="auto">
            <a:xfrm>
              <a:off x="128" y="1056"/>
              <a:ext cx="203"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775" name="Freeform 119"/>
            <p:cNvSpPr>
              <a:spLocks/>
            </p:cNvSpPr>
            <p:nvPr/>
          </p:nvSpPr>
          <p:spPr bwMode="auto">
            <a:xfrm>
              <a:off x="318" y="1041"/>
              <a:ext cx="72"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776" name="Line 120"/>
            <p:cNvSpPr>
              <a:spLocks noChangeShapeType="1"/>
            </p:cNvSpPr>
            <p:nvPr/>
          </p:nvSpPr>
          <p:spPr bwMode="auto">
            <a:xfrm>
              <a:off x="128" y="1198"/>
              <a:ext cx="20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777" name="Freeform 121"/>
            <p:cNvSpPr>
              <a:spLocks/>
            </p:cNvSpPr>
            <p:nvPr/>
          </p:nvSpPr>
          <p:spPr bwMode="auto">
            <a:xfrm>
              <a:off x="318" y="1181"/>
              <a:ext cx="72" cy="3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778" name="Line 122"/>
            <p:cNvSpPr>
              <a:spLocks noChangeShapeType="1"/>
            </p:cNvSpPr>
            <p:nvPr/>
          </p:nvSpPr>
          <p:spPr bwMode="auto">
            <a:xfrm>
              <a:off x="128" y="1341"/>
              <a:ext cx="20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779" name="Freeform 123"/>
            <p:cNvSpPr>
              <a:spLocks/>
            </p:cNvSpPr>
            <p:nvPr/>
          </p:nvSpPr>
          <p:spPr bwMode="auto">
            <a:xfrm>
              <a:off x="318" y="1324"/>
              <a:ext cx="72" cy="35"/>
            </a:xfrm>
            <a:custGeom>
              <a:avLst/>
              <a:gdLst>
                <a:gd name="T0" fmla="*/ 100 w 100"/>
                <a:gd name="T1" fmla="*/ 25 h 51"/>
                <a:gd name="T2" fmla="*/ 0 w 100"/>
                <a:gd name="T3" fmla="*/ 0 h 51"/>
                <a:gd name="T4" fmla="*/ 0 w 100"/>
                <a:gd name="T5" fmla="*/ 51 h 51"/>
                <a:gd name="T6" fmla="*/ 100 w 100"/>
                <a:gd name="T7" fmla="*/ 25 h 51"/>
              </a:gdLst>
              <a:ahLst/>
              <a:cxnLst>
                <a:cxn ang="0">
                  <a:pos x="T0" y="T1"/>
                </a:cxn>
                <a:cxn ang="0">
                  <a:pos x="T2" y="T3"/>
                </a:cxn>
                <a:cxn ang="0">
                  <a:pos x="T4" y="T5"/>
                </a:cxn>
                <a:cxn ang="0">
                  <a:pos x="T6" y="T7"/>
                </a:cxn>
              </a:cxnLst>
              <a:rect l="0" t="0" r="r" b="b"/>
              <a:pathLst>
                <a:path w="100" h="51">
                  <a:moveTo>
                    <a:pt x="100" y="25"/>
                  </a:moveTo>
                  <a:lnTo>
                    <a:pt x="0" y="0"/>
                  </a:lnTo>
                  <a:lnTo>
                    <a:pt x="0" y="51"/>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780" name="Freeform 124"/>
            <p:cNvSpPr>
              <a:spLocks/>
            </p:cNvSpPr>
            <p:nvPr/>
          </p:nvSpPr>
          <p:spPr bwMode="auto">
            <a:xfrm>
              <a:off x="390" y="1428"/>
              <a:ext cx="74" cy="73"/>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781" name="Freeform 125"/>
            <p:cNvSpPr>
              <a:spLocks/>
            </p:cNvSpPr>
            <p:nvPr/>
          </p:nvSpPr>
          <p:spPr bwMode="auto">
            <a:xfrm>
              <a:off x="223" y="887"/>
              <a:ext cx="61" cy="56"/>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782" name="Line 126"/>
            <p:cNvSpPr>
              <a:spLocks noChangeShapeType="1"/>
            </p:cNvSpPr>
            <p:nvPr/>
          </p:nvSpPr>
          <p:spPr bwMode="auto">
            <a:xfrm flipH="1">
              <a:off x="223" y="887"/>
              <a:ext cx="61" cy="56"/>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783" name="Freeform 127"/>
            <p:cNvSpPr>
              <a:spLocks/>
            </p:cNvSpPr>
            <p:nvPr/>
          </p:nvSpPr>
          <p:spPr bwMode="auto">
            <a:xfrm>
              <a:off x="223" y="1026"/>
              <a:ext cx="61" cy="58"/>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784" name="Line 128"/>
            <p:cNvSpPr>
              <a:spLocks noChangeShapeType="1"/>
            </p:cNvSpPr>
            <p:nvPr/>
          </p:nvSpPr>
          <p:spPr bwMode="auto">
            <a:xfrm flipH="1">
              <a:off x="223" y="1026"/>
              <a:ext cx="61" cy="5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785" name="Rectangle 129"/>
            <p:cNvSpPr>
              <a:spLocks noChangeArrowheads="1"/>
            </p:cNvSpPr>
            <p:nvPr/>
          </p:nvSpPr>
          <p:spPr bwMode="auto">
            <a:xfrm>
              <a:off x="224" y="808"/>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32</a:t>
              </a:r>
              <a:endParaRPr lang="en-US" altLang="en-US" sz="1800"/>
            </a:p>
          </p:txBody>
        </p:sp>
        <p:sp>
          <p:nvSpPr>
            <p:cNvPr id="582786" name="Rectangle 130"/>
            <p:cNvSpPr>
              <a:spLocks noChangeArrowheads="1"/>
            </p:cNvSpPr>
            <p:nvPr/>
          </p:nvSpPr>
          <p:spPr bwMode="auto">
            <a:xfrm>
              <a:off x="224" y="947"/>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a:t>
              </a:r>
              <a:endParaRPr lang="en-US" altLang="en-US" sz="1800"/>
            </a:p>
          </p:txBody>
        </p:sp>
        <p:sp>
          <p:nvSpPr>
            <p:cNvPr id="582787" name="Rectangle 131"/>
            <p:cNvSpPr>
              <a:spLocks noChangeArrowheads="1"/>
            </p:cNvSpPr>
            <p:nvPr/>
          </p:nvSpPr>
          <p:spPr bwMode="auto">
            <a:xfrm>
              <a:off x="414" y="873"/>
              <a:ext cx="15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data</a:t>
              </a:r>
              <a:endParaRPr lang="en-US" altLang="en-US" sz="1800"/>
            </a:p>
          </p:txBody>
        </p:sp>
        <p:sp>
          <p:nvSpPr>
            <p:cNvPr id="582788" name="Rectangle 132"/>
            <p:cNvSpPr>
              <a:spLocks noChangeArrowheads="1"/>
            </p:cNvSpPr>
            <p:nvPr/>
          </p:nvSpPr>
          <p:spPr bwMode="auto">
            <a:xfrm>
              <a:off x="414" y="1014"/>
              <a:ext cx="15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addr</a:t>
              </a:r>
              <a:endParaRPr lang="en-US" altLang="en-US" sz="1800"/>
            </a:p>
          </p:txBody>
        </p:sp>
        <p:sp>
          <p:nvSpPr>
            <p:cNvPr id="582789" name="Rectangle 133"/>
            <p:cNvSpPr>
              <a:spLocks noChangeArrowheads="1"/>
            </p:cNvSpPr>
            <p:nvPr/>
          </p:nvSpPr>
          <p:spPr bwMode="auto">
            <a:xfrm>
              <a:off x="414" y="1155"/>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582790" name="Rectangle 134"/>
            <p:cNvSpPr>
              <a:spLocks noChangeArrowheads="1"/>
            </p:cNvSpPr>
            <p:nvPr/>
          </p:nvSpPr>
          <p:spPr bwMode="auto">
            <a:xfrm>
              <a:off x="439" y="1155"/>
              <a:ext cx="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w</a:t>
              </a:r>
              <a:endParaRPr lang="en-US" altLang="en-US" sz="1800"/>
            </a:p>
          </p:txBody>
        </p:sp>
        <p:sp>
          <p:nvSpPr>
            <p:cNvPr id="582791" name="Rectangle 135"/>
            <p:cNvSpPr>
              <a:spLocks noChangeArrowheads="1"/>
            </p:cNvSpPr>
            <p:nvPr/>
          </p:nvSpPr>
          <p:spPr bwMode="auto">
            <a:xfrm>
              <a:off x="414" y="1299"/>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en</a:t>
              </a:r>
              <a:endParaRPr lang="en-US" altLang="en-US" sz="1800"/>
            </a:p>
          </p:txBody>
        </p:sp>
        <p:sp>
          <p:nvSpPr>
            <p:cNvPr id="582792" name="Rectangle 136"/>
            <p:cNvSpPr>
              <a:spLocks noChangeArrowheads="1"/>
            </p:cNvSpPr>
            <p:nvPr/>
          </p:nvSpPr>
          <p:spPr bwMode="auto">
            <a:xfrm>
              <a:off x="628" y="1097"/>
              <a:ext cx="30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1024x32</a:t>
              </a:r>
              <a:endParaRPr lang="en-US" altLang="en-US" sz="1800"/>
            </a:p>
          </p:txBody>
        </p:sp>
        <p:sp>
          <p:nvSpPr>
            <p:cNvPr id="582793" name="Rectangle 137"/>
            <p:cNvSpPr>
              <a:spLocks noChangeArrowheads="1"/>
            </p:cNvSpPr>
            <p:nvPr/>
          </p:nvSpPr>
          <p:spPr bwMode="auto">
            <a:xfrm>
              <a:off x="705" y="1174"/>
              <a:ext cx="17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RAM</a:t>
              </a:r>
              <a:endParaRPr lang="en-US" altLang="en-US" sz="1800"/>
            </a:p>
          </p:txBody>
        </p:sp>
      </p:grpSp>
      <p:sp>
        <p:nvSpPr>
          <p:cNvPr id="582798" name="Freeform 142"/>
          <p:cNvSpPr>
            <a:spLocks/>
          </p:cNvSpPr>
          <p:nvPr/>
        </p:nvSpPr>
        <p:spPr bwMode="auto">
          <a:xfrm>
            <a:off x="7329488" y="3883025"/>
            <a:ext cx="323850" cy="407988"/>
          </a:xfrm>
          <a:custGeom>
            <a:avLst/>
            <a:gdLst>
              <a:gd name="T0" fmla="*/ 0 w 204"/>
              <a:gd name="T1" fmla="*/ 257 h 257"/>
              <a:gd name="T2" fmla="*/ 204 w 204"/>
              <a:gd name="T3" fmla="*/ 128 h 257"/>
              <a:gd name="T4" fmla="*/ 0 w 204"/>
              <a:gd name="T5" fmla="*/ 0 h 257"/>
              <a:gd name="T6" fmla="*/ 0 w 204"/>
              <a:gd name="T7" fmla="*/ 257 h 257"/>
            </a:gdLst>
            <a:ahLst/>
            <a:cxnLst>
              <a:cxn ang="0">
                <a:pos x="T0" y="T1"/>
              </a:cxn>
              <a:cxn ang="0">
                <a:pos x="T2" y="T3"/>
              </a:cxn>
              <a:cxn ang="0">
                <a:pos x="T4" y="T5"/>
              </a:cxn>
              <a:cxn ang="0">
                <a:pos x="T6" y="T7"/>
              </a:cxn>
            </a:cxnLst>
            <a:rect l="0" t="0" r="r" b="b"/>
            <a:pathLst>
              <a:path w="204" h="257">
                <a:moveTo>
                  <a:pt x="0" y="257"/>
                </a:moveTo>
                <a:lnTo>
                  <a:pt x="204" y="128"/>
                </a:lnTo>
                <a:lnTo>
                  <a:pt x="0" y="0"/>
                </a:lnTo>
                <a:lnTo>
                  <a:pt x="0" y="257"/>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799" name="Oval 143"/>
          <p:cNvSpPr>
            <a:spLocks noChangeArrowheads="1"/>
          </p:cNvSpPr>
          <p:nvPr/>
        </p:nvSpPr>
        <p:spPr bwMode="auto">
          <a:xfrm>
            <a:off x="7658100" y="4046538"/>
            <a:ext cx="74613" cy="74612"/>
          </a:xfrm>
          <a:prstGeom prst="ellipse">
            <a:avLst/>
          </a:prstGeom>
          <a:solidFill>
            <a:srgbClr val="FFFFFF"/>
          </a:solidFill>
          <a:ln w="9525">
            <a:solidFill>
              <a:srgbClr val="0078C1"/>
            </a:solidFill>
            <a:miter lim="800000"/>
            <a:headEnd/>
            <a:tailEnd/>
          </a:ln>
        </p:spPr>
        <p:txBody>
          <a:bodyPr/>
          <a:lstStyle/>
          <a:p>
            <a:endParaRPr lang="en-US"/>
          </a:p>
        </p:txBody>
      </p:sp>
      <p:sp>
        <p:nvSpPr>
          <p:cNvPr id="582800" name="Freeform 144"/>
          <p:cNvSpPr>
            <a:spLocks/>
          </p:cNvSpPr>
          <p:nvPr/>
        </p:nvSpPr>
        <p:spPr bwMode="auto">
          <a:xfrm>
            <a:off x="7140575" y="3703638"/>
            <a:ext cx="195263" cy="377825"/>
          </a:xfrm>
          <a:custGeom>
            <a:avLst/>
            <a:gdLst>
              <a:gd name="T0" fmla="*/ 123 w 123"/>
              <a:gd name="T1" fmla="*/ 0 h 238"/>
              <a:gd name="T2" fmla="*/ 0 w 123"/>
              <a:gd name="T3" fmla="*/ 0 h 238"/>
              <a:gd name="T4" fmla="*/ 0 w 123"/>
              <a:gd name="T5" fmla="*/ 238 h 238"/>
            </a:gdLst>
            <a:ahLst/>
            <a:cxnLst>
              <a:cxn ang="0">
                <a:pos x="T0" y="T1"/>
              </a:cxn>
              <a:cxn ang="0">
                <a:pos x="T2" y="T3"/>
              </a:cxn>
              <a:cxn ang="0">
                <a:pos x="T4" y="T5"/>
              </a:cxn>
            </a:cxnLst>
            <a:rect l="0" t="0" r="r" b="b"/>
            <a:pathLst>
              <a:path w="123" h="238">
                <a:moveTo>
                  <a:pt x="123" y="0"/>
                </a:moveTo>
                <a:lnTo>
                  <a:pt x="0" y="0"/>
                </a:lnTo>
                <a:lnTo>
                  <a:pt x="0" y="238"/>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801" name="Freeform 145"/>
          <p:cNvSpPr>
            <a:spLocks/>
          </p:cNvSpPr>
          <p:nvPr/>
        </p:nvSpPr>
        <p:spPr bwMode="auto">
          <a:xfrm>
            <a:off x="7683500" y="3703638"/>
            <a:ext cx="193675" cy="377825"/>
          </a:xfrm>
          <a:custGeom>
            <a:avLst/>
            <a:gdLst>
              <a:gd name="T0" fmla="*/ 0 w 122"/>
              <a:gd name="T1" fmla="*/ 0 h 238"/>
              <a:gd name="T2" fmla="*/ 122 w 122"/>
              <a:gd name="T3" fmla="*/ 0 h 238"/>
              <a:gd name="T4" fmla="*/ 122 w 122"/>
              <a:gd name="T5" fmla="*/ 238 h 238"/>
            </a:gdLst>
            <a:ahLst/>
            <a:cxnLst>
              <a:cxn ang="0">
                <a:pos x="T0" y="T1"/>
              </a:cxn>
              <a:cxn ang="0">
                <a:pos x="T2" y="T3"/>
              </a:cxn>
              <a:cxn ang="0">
                <a:pos x="T4" y="T5"/>
              </a:cxn>
            </a:cxnLst>
            <a:rect l="0" t="0" r="r" b="b"/>
            <a:pathLst>
              <a:path w="122" h="238">
                <a:moveTo>
                  <a:pt x="0" y="0"/>
                </a:moveTo>
                <a:lnTo>
                  <a:pt x="122" y="0"/>
                </a:lnTo>
                <a:lnTo>
                  <a:pt x="122" y="238"/>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802" name="Freeform 146"/>
          <p:cNvSpPr>
            <a:spLocks/>
          </p:cNvSpPr>
          <p:nvPr/>
        </p:nvSpPr>
        <p:spPr bwMode="auto">
          <a:xfrm>
            <a:off x="7359650" y="3500438"/>
            <a:ext cx="323850" cy="412750"/>
          </a:xfrm>
          <a:custGeom>
            <a:avLst/>
            <a:gdLst>
              <a:gd name="T0" fmla="*/ 204 w 204"/>
              <a:gd name="T1" fmla="*/ 260 h 260"/>
              <a:gd name="T2" fmla="*/ 0 w 204"/>
              <a:gd name="T3" fmla="*/ 131 h 260"/>
              <a:gd name="T4" fmla="*/ 204 w 204"/>
              <a:gd name="T5" fmla="*/ 0 h 260"/>
              <a:gd name="T6" fmla="*/ 204 w 204"/>
              <a:gd name="T7" fmla="*/ 260 h 260"/>
            </a:gdLst>
            <a:ahLst/>
            <a:cxnLst>
              <a:cxn ang="0">
                <a:pos x="T0" y="T1"/>
              </a:cxn>
              <a:cxn ang="0">
                <a:pos x="T2" y="T3"/>
              </a:cxn>
              <a:cxn ang="0">
                <a:pos x="T4" y="T5"/>
              </a:cxn>
              <a:cxn ang="0">
                <a:pos x="T6" y="T7"/>
              </a:cxn>
            </a:cxnLst>
            <a:rect l="0" t="0" r="r" b="b"/>
            <a:pathLst>
              <a:path w="204" h="260">
                <a:moveTo>
                  <a:pt x="204" y="260"/>
                </a:moveTo>
                <a:lnTo>
                  <a:pt x="0" y="131"/>
                </a:lnTo>
                <a:lnTo>
                  <a:pt x="204" y="0"/>
                </a:lnTo>
                <a:lnTo>
                  <a:pt x="204" y="26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803" name="Oval 147"/>
          <p:cNvSpPr>
            <a:spLocks noChangeArrowheads="1"/>
          </p:cNvSpPr>
          <p:nvPr/>
        </p:nvSpPr>
        <p:spPr bwMode="auto">
          <a:xfrm>
            <a:off x="7280275" y="3668713"/>
            <a:ext cx="74613" cy="74612"/>
          </a:xfrm>
          <a:prstGeom prst="ellipse">
            <a:avLst/>
          </a:prstGeom>
          <a:solidFill>
            <a:srgbClr val="FFFFFF"/>
          </a:solidFill>
          <a:ln w="9525">
            <a:solidFill>
              <a:srgbClr val="0078C1"/>
            </a:solidFill>
            <a:miter lim="800000"/>
            <a:headEnd/>
            <a:tailEnd/>
          </a:ln>
        </p:spPr>
        <p:txBody>
          <a:bodyPr/>
          <a:lstStyle/>
          <a:p>
            <a:endParaRPr lang="en-US"/>
          </a:p>
        </p:txBody>
      </p:sp>
      <p:sp>
        <p:nvSpPr>
          <p:cNvPr id="582804" name="Oval 148"/>
          <p:cNvSpPr>
            <a:spLocks noChangeArrowheads="1"/>
          </p:cNvSpPr>
          <p:nvPr/>
        </p:nvSpPr>
        <p:spPr bwMode="auto">
          <a:xfrm>
            <a:off x="6508750" y="4046538"/>
            <a:ext cx="74613" cy="74612"/>
          </a:xfrm>
          <a:prstGeom prst="ellipse">
            <a:avLst/>
          </a:prstGeom>
          <a:solidFill>
            <a:srgbClr val="000000"/>
          </a:solidFill>
          <a:ln w="9525">
            <a:solidFill>
              <a:srgbClr val="000000"/>
            </a:solidFill>
            <a:miter lim="800000"/>
            <a:headEnd/>
            <a:tailEnd/>
          </a:ln>
        </p:spPr>
        <p:txBody>
          <a:bodyPr/>
          <a:lstStyle/>
          <a:p>
            <a:endParaRPr lang="en-US"/>
          </a:p>
        </p:txBody>
      </p:sp>
      <p:sp>
        <p:nvSpPr>
          <p:cNvPr id="582805" name="Oval 149"/>
          <p:cNvSpPr>
            <a:spLocks noChangeArrowheads="1"/>
          </p:cNvSpPr>
          <p:nvPr/>
        </p:nvSpPr>
        <p:spPr bwMode="auto">
          <a:xfrm>
            <a:off x="7105650" y="4046538"/>
            <a:ext cx="74613" cy="74612"/>
          </a:xfrm>
          <a:prstGeom prst="ellipse">
            <a:avLst/>
          </a:prstGeom>
          <a:solidFill>
            <a:srgbClr val="000000"/>
          </a:solidFill>
          <a:ln w="9525">
            <a:solidFill>
              <a:srgbClr val="000000"/>
            </a:solidFill>
            <a:miter lim="800000"/>
            <a:headEnd/>
            <a:tailEnd/>
          </a:ln>
        </p:spPr>
        <p:txBody>
          <a:bodyPr/>
          <a:lstStyle/>
          <a:p>
            <a:endParaRPr lang="en-US"/>
          </a:p>
        </p:txBody>
      </p:sp>
      <p:sp>
        <p:nvSpPr>
          <p:cNvPr id="582806" name="Oval 150"/>
          <p:cNvSpPr>
            <a:spLocks noChangeArrowheads="1"/>
          </p:cNvSpPr>
          <p:nvPr/>
        </p:nvSpPr>
        <p:spPr bwMode="auto">
          <a:xfrm>
            <a:off x="7837488" y="4046538"/>
            <a:ext cx="74612" cy="74612"/>
          </a:xfrm>
          <a:prstGeom prst="ellipse">
            <a:avLst/>
          </a:prstGeom>
          <a:solidFill>
            <a:srgbClr val="000000"/>
          </a:solidFill>
          <a:ln w="9525">
            <a:solidFill>
              <a:srgbClr val="000000"/>
            </a:solidFill>
            <a:miter lim="800000"/>
            <a:headEnd/>
            <a:tailEnd/>
          </a:ln>
        </p:spPr>
        <p:txBody>
          <a:bodyPr/>
          <a:lstStyle/>
          <a:p>
            <a:endParaRPr lang="en-US"/>
          </a:p>
        </p:txBody>
      </p:sp>
      <p:sp>
        <p:nvSpPr>
          <p:cNvPr id="582807" name="Oval 151"/>
          <p:cNvSpPr>
            <a:spLocks noChangeArrowheads="1"/>
          </p:cNvSpPr>
          <p:nvPr/>
        </p:nvSpPr>
        <p:spPr bwMode="auto">
          <a:xfrm>
            <a:off x="8459788" y="4046538"/>
            <a:ext cx="74612" cy="74612"/>
          </a:xfrm>
          <a:prstGeom prst="ellipse">
            <a:avLst/>
          </a:prstGeom>
          <a:solidFill>
            <a:srgbClr val="000000"/>
          </a:solidFill>
          <a:ln w="9525">
            <a:solidFill>
              <a:srgbClr val="000000"/>
            </a:solidFill>
            <a:miter lim="800000"/>
            <a:headEnd/>
            <a:tailEnd/>
          </a:ln>
        </p:spPr>
        <p:txBody>
          <a:bodyPr/>
          <a:lstStyle/>
          <a:p>
            <a:endParaRPr lang="en-US"/>
          </a:p>
        </p:txBody>
      </p:sp>
      <p:sp>
        <p:nvSpPr>
          <p:cNvPr id="582808" name="Oval 152"/>
          <p:cNvSpPr>
            <a:spLocks noChangeArrowheads="1"/>
          </p:cNvSpPr>
          <p:nvPr/>
        </p:nvSpPr>
        <p:spPr bwMode="auto">
          <a:xfrm>
            <a:off x="6842125" y="4629150"/>
            <a:ext cx="74613" cy="74613"/>
          </a:xfrm>
          <a:prstGeom prst="ellipse">
            <a:avLst/>
          </a:prstGeom>
          <a:solidFill>
            <a:srgbClr val="000000"/>
          </a:solidFill>
          <a:ln w="9525">
            <a:solidFill>
              <a:srgbClr val="000000"/>
            </a:solidFill>
            <a:miter lim="800000"/>
            <a:headEnd/>
            <a:tailEnd/>
          </a:ln>
        </p:spPr>
        <p:txBody>
          <a:bodyPr/>
          <a:lstStyle/>
          <a:p>
            <a:endParaRPr lang="en-US"/>
          </a:p>
        </p:txBody>
      </p:sp>
      <p:sp>
        <p:nvSpPr>
          <p:cNvPr id="582809" name="Line 153"/>
          <p:cNvSpPr>
            <a:spLocks noChangeShapeType="1"/>
          </p:cNvSpPr>
          <p:nvPr/>
        </p:nvSpPr>
        <p:spPr bwMode="auto">
          <a:xfrm flipV="1">
            <a:off x="6881813" y="4305300"/>
            <a:ext cx="1587" cy="36830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810" name="Freeform 154"/>
          <p:cNvSpPr>
            <a:spLocks/>
          </p:cNvSpPr>
          <p:nvPr/>
        </p:nvSpPr>
        <p:spPr bwMode="auto">
          <a:xfrm>
            <a:off x="6515100" y="4086225"/>
            <a:ext cx="809625" cy="139700"/>
          </a:xfrm>
          <a:custGeom>
            <a:avLst/>
            <a:gdLst>
              <a:gd name="T0" fmla="*/ 510 w 510"/>
              <a:gd name="T1" fmla="*/ 0 h 88"/>
              <a:gd name="T2" fmla="*/ 313 w 510"/>
              <a:gd name="T3" fmla="*/ 0 h 88"/>
              <a:gd name="T4" fmla="*/ 313 w 510"/>
              <a:gd name="T5" fmla="*/ 88 h 88"/>
              <a:gd name="T6" fmla="*/ 150 w 510"/>
              <a:gd name="T7" fmla="*/ 88 h 88"/>
              <a:gd name="T8" fmla="*/ 150 w 510"/>
              <a:gd name="T9" fmla="*/ 0 h 88"/>
              <a:gd name="T10" fmla="*/ 0 w 510"/>
              <a:gd name="T11" fmla="*/ 0 h 88"/>
            </a:gdLst>
            <a:ahLst/>
            <a:cxnLst>
              <a:cxn ang="0">
                <a:pos x="T0" y="T1"/>
              </a:cxn>
              <a:cxn ang="0">
                <a:pos x="T2" y="T3"/>
              </a:cxn>
              <a:cxn ang="0">
                <a:pos x="T4" y="T5"/>
              </a:cxn>
              <a:cxn ang="0">
                <a:pos x="T6" y="T7"/>
              </a:cxn>
              <a:cxn ang="0">
                <a:pos x="T8" y="T9"/>
              </a:cxn>
              <a:cxn ang="0">
                <a:pos x="T10" y="T11"/>
              </a:cxn>
            </a:cxnLst>
            <a:rect l="0" t="0" r="r" b="b"/>
            <a:pathLst>
              <a:path w="510" h="88">
                <a:moveTo>
                  <a:pt x="510" y="0"/>
                </a:moveTo>
                <a:lnTo>
                  <a:pt x="313" y="0"/>
                </a:lnTo>
                <a:lnTo>
                  <a:pt x="313" y="88"/>
                </a:lnTo>
                <a:lnTo>
                  <a:pt x="150" y="88"/>
                </a:lnTo>
                <a:lnTo>
                  <a:pt x="150" y="0"/>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811" name="Line 155"/>
          <p:cNvSpPr>
            <a:spLocks noChangeShapeType="1"/>
          </p:cNvSpPr>
          <p:nvPr/>
        </p:nvSpPr>
        <p:spPr bwMode="auto">
          <a:xfrm flipH="1">
            <a:off x="6743700" y="4295775"/>
            <a:ext cx="277813"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812" name="Freeform 156"/>
          <p:cNvSpPr>
            <a:spLocks/>
          </p:cNvSpPr>
          <p:nvPr/>
        </p:nvSpPr>
        <p:spPr bwMode="auto">
          <a:xfrm>
            <a:off x="7732713" y="4086225"/>
            <a:ext cx="766762" cy="139700"/>
          </a:xfrm>
          <a:custGeom>
            <a:avLst/>
            <a:gdLst>
              <a:gd name="T0" fmla="*/ 483 w 483"/>
              <a:gd name="T1" fmla="*/ 0 h 88"/>
              <a:gd name="T2" fmla="*/ 376 w 483"/>
              <a:gd name="T3" fmla="*/ 0 h 88"/>
              <a:gd name="T4" fmla="*/ 376 w 483"/>
              <a:gd name="T5" fmla="*/ 88 h 88"/>
              <a:gd name="T6" fmla="*/ 213 w 483"/>
              <a:gd name="T7" fmla="*/ 88 h 88"/>
              <a:gd name="T8" fmla="*/ 213 w 483"/>
              <a:gd name="T9" fmla="*/ 0 h 88"/>
              <a:gd name="T10" fmla="*/ 0 w 483"/>
              <a:gd name="T11" fmla="*/ 0 h 88"/>
            </a:gdLst>
            <a:ahLst/>
            <a:cxnLst>
              <a:cxn ang="0">
                <a:pos x="T0" y="T1"/>
              </a:cxn>
              <a:cxn ang="0">
                <a:pos x="T2" y="T3"/>
              </a:cxn>
              <a:cxn ang="0">
                <a:pos x="T4" y="T5"/>
              </a:cxn>
              <a:cxn ang="0">
                <a:pos x="T6" y="T7"/>
              </a:cxn>
              <a:cxn ang="0">
                <a:pos x="T8" y="T9"/>
              </a:cxn>
              <a:cxn ang="0">
                <a:pos x="T10" y="T11"/>
              </a:cxn>
            </a:cxnLst>
            <a:rect l="0" t="0" r="r" b="b"/>
            <a:pathLst>
              <a:path w="483" h="88">
                <a:moveTo>
                  <a:pt x="483" y="0"/>
                </a:moveTo>
                <a:lnTo>
                  <a:pt x="376" y="0"/>
                </a:lnTo>
                <a:lnTo>
                  <a:pt x="376" y="88"/>
                </a:lnTo>
                <a:lnTo>
                  <a:pt x="213" y="88"/>
                </a:lnTo>
                <a:lnTo>
                  <a:pt x="213" y="0"/>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813" name="Line 157"/>
          <p:cNvSpPr>
            <a:spLocks noChangeShapeType="1"/>
          </p:cNvSpPr>
          <p:nvPr/>
        </p:nvSpPr>
        <p:spPr bwMode="auto">
          <a:xfrm flipH="1">
            <a:off x="8061325" y="4295775"/>
            <a:ext cx="277813"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814" name="Freeform 158"/>
          <p:cNvSpPr>
            <a:spLocks/>
          </p:cNvSpPr>
          <p:nvPr/>
        </p:nvSpPr>
        <p:spPr bwMode="auto">
          <a:xfrm>
            <a:off x="6256338" y="4305300"/>
            <a:ext cx="1944687" cy="368300"/>
          </a:xfrm>
          <a:custGeom>
            <a:avLst/>
            <a:gdLst>
              <a:gd name="T0" fmla="*/ 0 w 1225"/>
              <a:gd name="T1" fmla="*/ 232 h 232"/>
              <a:gd name="T2" fmla="*/ 1200 w 1225"/>
              <a:gd name="T3" fmla="*/ 232 h 232"/>
              <a:gd name="T4" fmla="*/ 1225 w 1225"/>
              <a:gd name="T5" fmla="*/ 232 h 232"/>
              <a:gd name="T6" fmla="*/ 1225 w 1225"/>
              <a:gd name="T7" fmla="*/ 0 h 232"/>
            </a:gdLst>
            <a:ahLst/>
            <a:cxnLst>
              <a:cxn ang="0">
                <a:pos x="T0" y="T1"/>
              </a:cxn>
              <a:cxn ang="0">
                <a:pos x="T2" y="T3"/>
              </a:cxn>
              <a:cxn ang="0">
                <a:pos x="T4" y="T5"/>
              </a:cxn>
              <a:cxn ang="0">
                <a:pos x="T6" y="T7"/>
              </a:cxn>
            </a:cxnLst>
            <a:rect l="0" t="0" r="r" b="b"/>
            <a:pathLst>
              <a:path w="1225" h="232">
                <a:moveTo>
                  <a:pt x="0" y="232"/>
                </a:moveTo>
                <a:lnTo>
                  <a:pt x="1200" y="232"/>
                </a:lnTo>
                <a:lnTo>
                  <a:pt x="1225" y="232"/>
                </a:lnTo>
                <a:lnTo>
                  <a:pt x="1225"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815" name="Line 159"/>
          <p:cNvSpPr>
            <a:spLocks noChangeShapeType="1"/>
          </p:cNvSpPr>
          <p:nvPr/>
        </p:nvSpPr>
        <p:spPr bwMode="auto">
          <a:xfrm>
            <a:off x="8494713" y="3267075"/>
            <a:ext cx="1587" cy="103346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816" name="Rectangle 160"/>
          <p:cNvSpPr>
            <a:spLocks noChangeArrowheads="1"/>
          </p:cNvSpPr>
          <p:nvPr/>
        </p:nvSpPr>
        <p:spPr bwMode="auto">
          <a:xfrm>
            <a:off x="6396038" y="3089275"/>
            <a:ext cx="3222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a:p>
        </p:txBody>
      </p:sp>
      <p:sp>
        <p:nvSpPr>
          <p:cNvPr id="582819" name="Rectangle 163"/>
          <p:cNvSpPr>
            <a:spLocks noChangeArrowheads="1"/>
          </p:cNvSpPr>
          <p:nvPr/>
        </p:nvSpPr>
        <p:spPr bwMode="auto">
          <a:xfrm>
            <a:off x="8339138" y="3089275"/>
            <a:ext cx="3587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a:p>
        </p:txBody>
      </p:sp>
      <p:sp>
        <p:nvSpPr>
          <p:cNvPr id="582824" name="Rectangle 168"/>
          <p:cNvSpPr>
            <a:spLocks noChangeArrowheads="1"/>
          </p:cNvSpPr>
          <p:nvPr/>
        </p:nvSpPr>
        <p:spPr bwMode="auto">
          <a:xfrm>
            <a:off x="7031038" y="3479800"/>
            <a:ext cx="920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a:p>
        </p:txBody>
      </p:sp>
      <p:grpSp>
        <p:nvGrpSpPr>
          <p:cNvPr id="582847" name="Group 191"/>
          <p:cNvGrpSpPr>
            <a:grpSpLocks/>
          </p:cNvGrpSpPr>
          <p:nvPr/>
        </p:nvGrpSpPr>
        <p:grpSpPr bwMode="auto">
          <a:xfrm>
            <a:off x="6397625" y="3278188"/>
            <a:ext cx="2235200" cy="1389062"/>
            <a:chOff x="4030" y="2065"/>
            <a:chExt cx="1408" cy="875"/>
          </a:xfrm>
        </p:grpSpPr>
        <p:sp>
          <p:nvSpPr>
            <p:cNvPr id="582826" name="Rectangle 170"/>
            <p:cNvSpPr>
              <a:spLocks noChangeArrowheads="1"/>
            </p:cNvSpPr>
            <p:nvPr/>
          </p:nvSpPr>
          <p:spPr bwMode="auto">
            <a:xfrm>
              <a:off x="4421" y="281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00FF00"/>
                  </a:solidFill>
                  <a:latin typeface="Myriad Roman" charset="0"/>
                </a:rPr>
                <a:t>1</a:t>
              </a:r>
              <a:endParaRPr lang="en-US" altLang="en-US" b="1">
                <a:solidFill>
                  <a:srgbClr val="00FF00"/>
                </a:solidFill>
              </a:endParaRPr>
            </a:p>
          </p:txBody>
        </p:sp>
        <p:sp>
          <p:nvSpPr>
            <p:cNvPr id="582827" name="Rectangle 171"/>
            <p:cNvSpPr>
              <a:spLocks noChangeArrowheads="1"/>
            </p:cNvSpPr>
            <p:nvPr/>
          </p:nvSpPr>
          <p:spPr bwMode="auto">
            <a:xfrm>
              <a:off x="4030" y="206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00FF00"/>
                  </a:solidFill>
                  <a:latin typeface="Myriad Roman" charset="0"/>
                </a:rPr>
                <a:t>1</a:t>
              </a:r>
              <a:endParaRPr lang="en-US" altLang="en-US" b="1">
                <a:solidFill>
                  <a:srgbClr val="00FF00"/>
                </a:solidFill>
              </a:endParaRPr>
            </a:p>
          </p:txBody>
        </p:sp>
        <p:sp>
          <p:nvSpPr>
            <p:cNvPr id="582830" name="Rectangle 174"/>
            <p:cNvSpPr>
              <a:spLocks noChangeArrowheads="1"/>
            </p:cNvSpPr>
            <p:nvPr/>
          </p:nvSpPr>
          <p:spPr bwMode="auto">
            <a:xfrm>
              <a:off x="5386" y="206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00FF00"/>
                  </a:solidFill>
                  <a:latin typeface="Myriad Roman" charset="0"/>
                </a:rPr>
                <a:t>1</a:t>
              </a:r>
              <a:endParaRPr lang="en-US" altLang="en-US" b="1">
                <a:solidFill>
                  <a:srgbClr val="00FF00"/>
                </a:solidFill>
              </a:endParaRPr>
            </a:p>
          </p:txBody>
        </p:sp>
      </p:grpSp>
      <p:sp>
        <p:nvSpPr>
          <p:cNvPr id="582831" name="Rectangle 175"/>
          <p:cNvSpPr>
            <a:spLocks noChangeArrowheads="1"/>
          </p:cNvSpPr>
          <p:nvPr/>
        </p:nvSpPr>
        <p:spPr bwMode="auto">
          <a:xfrm>
            <a:off x="5830888" y="4508500"/>
            <a:ext cx="3587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word</a:t>
            </a:r>
            <a:endParaRPr lang="en-US" altLang="en-US"/>
          </a:p>
        </p:txBody>
      </p:sp>
      <p:sp>
        <p:nvSpPr>
          <p:cNvPr id="582835" name="Rectangle 179"/>
          <p:cNvSpPr>
            <a:spLocks noChangeArrowheads="1"/>
          </p:cNvSpPr>
          <p:nvPr/>
        </p:nvSpPr>
        <p:spPr bwMode="auto">
          <a:xfrm>
            <a:off x="5775325" y="4687888"/>
            <a:ext cx="4968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enable</a:t>
            </a:r>
            <a:endParaRPr lang="en-US" altLang="en-US"/>
          </a:p>
        </p:txBody>
      </p:sp>
      <p:sp>
        <p:nvSpPr>
          <p:cNvPr id="582836" name="Freeform 180"/>
          <p:cNvSpPr>
            <a:spLocks/>
          </p:cNvSpPr>
          <p:nvPr/>
        </p:nvSpPr>
        <p:spPr bwMode="auto">
          <a:xfrm>
            <a:off x="5713413" y="3032125"/>
            <a:ext cx="3154362" cy="2138363"/>
          </a:xfrm>
          <a:custGeom>
            <a:avLst/>
            <a:gdLst>
              <a:gd name="T0" fmla="*/ 1987 w 1987"/>
              <a:gd name="T1" fmla="*/ 1344 h 1347"/>
              <a:gd name="T2" fmla="*/ 0 w 1987"/>
              <a:gd name="T3" fmla="*/ 1347 h 1347"/>
              <a:gd name="T4" fmla="*/ 0 w 1987"/>
              <a:gd name="T5" fmla="*/ 4 h 1347"/>
              <a:gd name="T6" fmla="*/ 1987 w 1987"/>
              <a:gd name="T7" fmla="*/ 0 h 1347"/>
              <a:gd name="T8" fmla="*/ 1987 w 1987"/>
              <a:gd name="T9" fmla="*/ 1344 h 1347"/>
            </a:gdLst>
            <a:ahLst/>
            <a:cxnLst>
              <a:cxn ang="0">
                <a:pos x="T0" y="T1"/>
              </a:cxn>
              <a:cxn ang="0">
                <a:pos x="T2" y="T3"/>
              </a:cxn>
              <a:cxn ang="0">
                <a:pos x="T4" y="T5"/>
              </a:cxn>
              <a:cxn ang="0">
                <a:pos x="T6" y="T7"/>
              </a:cxn>
              <a:cxn ang="0">
                <a:pos x="T8" y="T9"/>
              </a:cxn>
            </a:cxnLst>
            <a:rect l="0" t="0" r="r" b="b"/>
            <a:pathLst>
              <a:path w="1987" h="1347">
                <a:moveTo>
                  <a:pt x="1987" y="1344"/>
                </a:moveTo>
                <a:lnTo>
                  <a:pt x="0" y="1347"/>
                </a:lnTo>
                <a:lnTo>
                  <a:pt x="0" y="4"/>
                </a:lnTo>
                <a:lnTo>
                  <a:pt x="1987" y="0"/>
                </a:lnTo>
                <a:lnTo>
                  <a:pt x="1987" y="1344"/>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2838" name="Rectangle 182"/>
          <p:cNvSpPr>
            <a:spLocks noChangeArrowheads="1"/>
          </p:cNvSpPr>
          <p:nvPr/>
        </p:nvSpPr>
        <p:spPr bwMode="auto">
          <a:xfrm>
            <a:off x="6892925" y="4905375"/>
            <a:ext cx="143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To sense amplifiers</a:t>
            </a:r>
            <a:endParaRPr lang="en-US" altLang="en-US"/>
          </a:p>
        </p:txBody>
      </p:sp>
      <p:sp>
        <p:nvSpPr>
          <p:cNvPr id="582840" name="Line 184"/>
          <p:cNvSpPr>
            <a:spLocks noChangeShapeType="1"/>
          </p:cNvSpPr>
          <p:nvPr/>
        </p:nvSpPr>
        <p:spPr bwMode="auto">
          <a:xfrm>
            <a:off x="7002463" y="3887788"/>
            <a:ext cx="1587" cy="15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2841" name="Line 185"/>
          <p:cNvSpPr>
            <a:spLocks noChangeShapeType="1"/>
          </p:cNvSpPr>
          <p:nvPr/>
        </p:nvSpPr>
        <p:spPr bwMode="auto">
          <a:xfrm>
            <a:off x="7002463" y="3887788"/>
            <a:ext cx="1587"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2842" name="Line 186"/>
          <p:cNvSpPr>
            <a:spLocks noChangeShapeType="1"/>
          </p:cNvSpPr>
          <p:nvPr/>
        </p:nvSpPr>
        <p:spPr bwMode="auto">
          <a:xfrm>
            <a:off x="6550025" y="3267075"/>
            <a:ext cx="1588" cy="103346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pic>
        <p:nvPicPr>
          <p:cNvPr id="582843" name="Picture 18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6725" y="4308475"/>
            <a:ext cx="398463"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2844" name="Picture 18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43675" y="4294188"/>
            <a:ext cx="42862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2825" name="Rectangle 169"/>
          <p:cNvSpPr>
            <a:spLocks noChangeArrowheads="1"/>
          </p:cNvSpPr>
          <p:nvPr/>
        </p:nvSpPr>
        <p:spPr bwMode="auto">
          <a:xfrm>
            <a:off x="7015163" y="3887788"/>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0033CC"/>
                </a:solidFill>
                <a:latin typeface="Myriad Roman" charset="0"/>
              </a:rPr>
              <a:t>1</a:t>
            </a:r>
            <a:endParaRPr lang="en-US" altLang="en-US" b="1">
              <a:solidFill>
                <a:srgbClr val="0033CC"/>
              </a:solidFill>
            </a:endParaRPr>
          </a:p>
        </p:txBody>
      </p:sp>
      <p:sp>
        <p:nvSpPr>
          <p:cNvPr id="582829" name="Rectangle 173"/>
          <p:cNvSpPr>
            <a:spLocks noChangeArrowheads="1"/>
          </p:cNvSpPr>
          <p:nvPr/>
        </p:nvSpPr>
        <p:spPr bwMode="auto">
          <a:xfrm>
            <a:off x="7927975" y="3887788"/>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000000"/>
                </a:solidFill>
                <a:latin typeface="Myriad Roman" charset="0"/>
              </a:rPr>
              <a:t>0</a:t>
            </a:r>
            <a:endParaRPr lang="en-US" altLang="en-US" b="1"/>
          </a:p>
        </p:txBody>
      </p:sp>
      <p:grpSp>
        <p:nvGrpSpPr>
          <p:cNvPr id="582849" name="Group 193"/>
          <p:cNvGrpSpPr>
            <a:grpSpLocks/>
          </p:cNvGrpSpPr>
          <p:nvPr/>
        </p:nvGrpSpPr>
        <p:grpSpPr bwMode="auto">
          <a:xfrm>
            <a:off x="6373813" y="3970338"/>
            <a:ext cx="2306637" cy="623887"/>
            <a:chOff x="4015" y="2501"/>
            <a:chExt cx="1453" cy="393"/>
          </a:xfrm>
        </p:grpSpPr>
        <p:sp>
          <p:nvSpPr>
            <p:cNvPr id="582828" name="Rectangle 172"/>
            <p:cNvSpPr>
              <a:spLocks noChangeArrowheads="1"/>
            </p:cNvSpPr>
            <p:nvPr/>
          </p:nvSpPr>
          <p:spPr bwMode="auto">
            <a:xfrm>
              <a:off x="4021" y="276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0033CC"/>
                  </a:solidFill>
                  <a:latin typeface="Myriad Roman" charset="0"/>
                </a:rPr>
                <a:t>1</a:t>
              </a:r>
              <a:endParaRPr lang="en-US" altLang="en-US" b="1">
                <a:solidFill>
                  <a:srgbClr val="0033CC"/>
                </a:solidFill>
              </a:endParaRPr>
            </a:p>
          </p:txBody>
        </p:sp>
        <p:sp>
          <p:nvSpPr>
            <p:cNvPr id="582837" name="Rectangle 181"/>
            <p:cNvSpPr>
              <a:spLocks noChangeArrowheads="1"/>
            </p:cNvSpPr>
            <p:nvPr/>
          </p:nvSpPr>
          <p:spPr bwMode="auto">
            <a:xfrm>
              <a:off x="5357" y="2769"/>
              <a:ext cx="11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0033CC"/>
                  </a:solidFill>
                  <a:latin typeface="Myriad Roman" charset="0"/>
                </a:rPr>
                <a:t>&lt;1</a:t>
              </a:r>
              <a:endParaRPr lang="en-US" altLang="en-US" b="1">
                <a:solidFill>
                  <a:srgbClr val="0033CC"/>
                </a:solidFill>
              </a:endParaRPr>
            </a:p>
          </p:txBody>
        </p:sp>
        <p:pic>
          <p:nvPicPr>
            <p:cNvPr id="582845" name="Picture 1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59" y="2501"/>
              <a:ext cx="407"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2846" name="Picture 19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5" y="2502"/>
              <a:ext cx="390"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582850" name="Text Box 194"/>
          <p:cNvSpPr txBox="1">
            <a:spLocks noChangeArrowheads="1"/>
          </p:cNvSpPr>
          <p:nvPr/>
        </p:nvSpPr>
        <p:spPr bwMode="auto">
          <a:xfrm>
            <a:off x="8897938" y="41513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82847"/>
                                        </p:tgtEl>
                                        <p:attrNameLst>
                                          <p:attrName>style.visibility</p:attrName>
                                        </p:attrNameLst>
                                      </p:cBhvr>
                                      <p:to>
                                        <p:strVal val="visible"/>
                                      </p:to>
                                    </p:set>
                                    <p:anim calcmode="lin" valueType="num">
                                      <p:cBhvr additive="base">
                                        <p:cTn id="7" dur="500" fill="hold"/>
                                        <p:tgtEl>
                                          <p:spTgt spid="582847"/>
                                        </p:tgtEl>
                                        <p:attrNameLst>
                                          <p:attrName>ppt_x</p:attrName>
                                        </p:attrNameLst>
                                      </p:cBhvr>
                                      <p:tavLst>
                                        <p:tav tm="0">
                                          <p:val>
                                            <p:strVal val="#ppt_x"/>
                                          </p:val>
                                        </p:tav>
                                        <p:tav tm="100000">
                                          <p:val>
                                            <p:strVal val="#ppt_x"/>
                                          </p:val>
                                        </p:tav>
                                      </p:tavLst>
                                    </p:anim>
                                    <p:anim calcmode="lin" valueType="num">
                                      <p:cBhvr additive="base">
                                        <p:cTn id="8" dur="500" fill="hold"/>
                                        <p:tgtEl>
                                          <p:spTgt spid="58284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582849"/>
                                        </p:tgtEl>
                                        <p:attrNameLst>
                                          <p:attrName>style.visibility</p:attrName>
                                        </p:attrNameLst>
                                      </p:cBhvr>
                                      <p:to>
                                        <p:strVal val="visible"/>
                                      </p:to>
                                    </p:set>
                                    <p:animEffect transition="in" filter="dissolve">
                                      <p:cBhvr>
                                        <p:cTn id="13" dur="500"/>
                                        <p:tgtEl>
                                          <p:spTgt spid="5828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lide Number Placeholder 3"/>
          <p:cNvSpPr>
            <a:spLocks noGrp="1"/>
          </p:cNvSpPr>
          <p:nvPr>
            <p:ph type="sldNum" sz="quarter" idx="10"/>
          </p:nvPr>
        </p:nvSpPr>
        <p:spPr/>
        <p:txBody>
          <a:bodyPr/>
          <a:lstStyle/>
          <a:p>
            <a:fld id="{38634F9E-E749-4AA8-80E0-D736630F1CE9}" type="slidenum">
              <a:rPr lang="en-US" altLang="en-US"/>
              <a:pPr/>
              <a:t>66</a:t>
            </a:fld>
            <a:endParaRPr lang="en-US" altLang="en-US"/>
          </a:p>
        </p:txBody>
      </p:sp>
      <p:sp>
        <p:nvSpPr>
          <p:cNvPr id="583682" name="Rectangle 2"/>
          <p:cNvSpPr>
            <a:spLocks noGrp="1" noChangeArrowheads="1"/>
          </p:cNvSpPr>
          <p:nvPr>
            <p:ph type="title"/>
          </p:nvPr>
        </p:nvSpPr>
        <p:spPr/>
        <p:txBody>
          <a:bodyPr/>
          <a:lstStyle/>
          <a:p>
            <a:r>
              <a:rPr lang="en-US" altLang="en-US"/>
              <a:t>Dynamic RAM (DRAM)</a:t>
            </a:r>
          </a:p>
        </p:txBody>
      </p:sp>
      <p:sp>
        <p:nvSpPr>
          <p:cNvPr id="583683" name="Rectangle 3"/>
          <p:cNvSpPr>
            <a:spLocks noGrp="1" noChangeArrowheads="1"/>
          </p:cNvSpPr>
          <p:nvPr>
            <p:ph type="body" idx="1"/>
          </p:nvPr>
        </p:nvSpPr>
        <p:spPr>
          <a:xfrm>
            <a:off x="155575" y="2795588"/>
            <a:ext cx="5567363" cy="3143250"/>
          </a:xfrm>
        </p:spPr>
        <p:txBody>
          <a:bodyPr/>
          <a:lstStyle/>
          <a:p>
            <a:r>
              <a:rPr lang="en-US" altLang="en-US"/>
              <a:t>“Dynamic” RAM cell</a:t>
            </a:r>
          </a:p>
          <a:p>
            <a:pPr lvl="1"/>
            <a:r>
              <a:rPr lang="en-US" altLang="en-US"/>
              <a:t>1 transistor (rather than 6)</a:t>
            </a:r>
          </a:p>
          <a:p>
            <a:pPr lvl="1"/>
            <a:r>
              <a:rPr lang="en-US" altLang="en-US"/>
              <a:t>Relies on </a:t>
            </a:r>
            <a:r>
              <a:rPr lang="en-US" altLang="en-US" i="1"/>
              <a:t>large</a:t>
            </a:r>
            <a:r>
              <a:rPr lang="en-US" altLang="en-US"/>
              <a:t> capacitor to store bit</a:t>
            </a:r>
          </a:p>
          <a:p>
            <a:pPr lvl="2"/>
            <a:r>
              <a:rPr lang="en-US" altLang="en-US"/>
              <a:t>Write: Transistor conducts, data voltage level gets stored on top plate of capacitor</a:t>
            </a:r>
          </a:p>
          <a:p>
            <a:pPr lvl="2"/>
            <a:r>
              <a:rPr lang="en-US" altLang="en-US"/>
              <a:t>Read: Just look at value of </a:t>
            </a:r>
            <a:r>
              <a:rPr lang="en-US" altLang="en-US" i="1"/>
              <a:t>d</a:t>
            </a:r>
          </a:p>
          <a:p>
            <a:pPr lvl="2"/>
            <a:r>
              <a:rPr lang="en-US" altLang="en-US"/>
              <a:t>Problem: Capacitor discharges over time</a:t>
            </a:r>
          </a:p>
          <a:p>
            <a:pPr lvl="3"/>
            <a:r>
              <a:rPr lang="en-US" altLang="en-US"/>
              <a:t>Must “refresh” regularly, by reading </a:t>
            </a:r>
            <a:r>
              <a:rPr lang="en-US" altLang="en-US" i="1"/>
              <a:t>d</a:t>
            </a:r>
            <a:r>
              <a:rPr lang="en-US" altLang="en-US"/>
              <a:t> and then writing it right back</a:t>
            </a:r>
          </a:p>
          <a:p>
            <a:pPr lvl="1"/>
            <a:endParaRPr lang="en-US" altLang="en-US"/>
          </a:p>
          <a:p>
            <a:pPr lvl="1"/>
            <a:endParaRPr lang="en-US" altLang="en-US"/>
          </a:p>
        </p:txBody>
      </p:sp>
      <p:pic>
        <p:nvPicPr>
          <p:cNvPr id="583716" name="Picture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9963" y="1228725"/>
            <a:ext cx="3322637" cy="182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3717" name="Line 37"/>
          <p:cNvSpPr>
            <a:spLocks noChangeShapeType="1"/>
          </p:cNvSpPr>
          <p:nvPr/>
        </p:nvSpPr>
        <p:spPr bwMode="auto">
          <a:xfrm>
            <a:off x="1708150" y="1431925"/>
            <a:ext cx="1143000" cy="2159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19" name="Line 39"/>
          <p:cNvSpPr>
            <a:spLocks noChangeShapeType="1"/>
          </p:cNvSpPr>
          <p:nvPr/>
        </p:nvSpPr>
        <p:spPr bwMode="auto">
          <a:xfrm>
            <a:off x="5378450" y="2659063"/>
            <a:ext cx="360363" cy="396875"/>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3721" name="Text Box 41"/>
          <p:cNvSpPr txBox="1">
            <a:spLocks noChangeArrowheads="1"/>
          </p:cNvSpPr>
          <p:nvPr/>
        </p:nvSpPr>
        <p:spPr bwMode="auto">
          <a:xfrm>
            <a:off x="5838825" y="2465388"/>
            <a:ext cx="1257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solidFill>
                  <a:srgbClr val="FF0000"/>
                </a:solidFill>
              </a:rPr>
              <a:t>DRAM</a:t>
            </a:r>
            <a:r>
              <a:rPr lang="en-US" altLang="en-US" sz="1800"/>
              <a:t> cell</a:t>
            </a:r>
          </a:p>
        </p:txBody>
      </p:sp>
      <p:grpSp>
        <p:nvGrpSpPr>
          <p:cNvPr id="583722" name="Group 42"/>
          <p:cNvGrpSpPr>
            <a:grpSpLocks/>
          </p:cNvGrpSpPr>
          <p:nvPr/>
        </p:nvGrpSpPr>
        <p:grpSpPr bwMode="auto">
          <a:xfrm>
            <a:off x="168275" y="1281113"/>
            <a:ext cx="1673225" cy="1160462"/>
            <a:chOff x="106" y="807"/>
            <a:chExt cx="1054" cy="731"/>
          </a:xfrm>
        </p:grpSpPr>
        <p:sp>
          <p:nvSpPr>
            <p:cNvPr id="583723" name="Rectangle 43"/>
            <p:cNvSpPr>
              <a:spLocks noChangeArrowheads="1"/>
            </p:cNvSpPr>
            <p:nvPr/>
          </p:nvSpPr>
          <p:spPr bwMode="auto">
            <a:xfrm>
              <a:off x="390" y="807"/>
              <a:ext cx="770" cy="731"/>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24" name="Line 44"/>
            <p:cNvSpPr>
              <a:spLocks noChangeShapeType="1"/>
            </p:cNvSpPr>
            <p:nvPr/>
          </p:nvSpPr>
          <p:spPr bwMode="auto">
            <a:xfrm flipH="1">
              <a:off x="169" y="915"/>
              <a:ext cx="8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25" name="Freeform 45"/>
            <p:cNvSpPr>
              <a:spLocks/>
            </p:cNvSpPr>
            <p:nvPr/>
          </p:nvSpPr>
          <p:spPr bwMode="auto">
            <a:xfrm>
              <a:off x="106" y="898"/>
              <a:ext cx="72" cy="34"/>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26" name="Line 46"/>
            <p:cNvSpPr>
              <a:spLocks noChangeShapeType="1"/>
            </p:cNvSpPr>
            <p:nvPr/>
          </p:nvSpPr>
          <p:spPr bwMode="auto">
            <a:xfrm>
              <a:off x="250" y="915"/>
              <a:ext cx="8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27" name="Freeform 47"/>
            <p:cNvSpPr>
              <a:spLocks/>
            </p:cNvSpPr>
            <p:nvPr/>
          </p:nvSpPr>
          <p:spPr bwMode="auto">
            <a:xfrm>
              <a:off x="318" y="898"/>
              <a:ext cx="72"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28" name="Line 48"/>
            <p:cNvSpPr>
              <a:spLocks noChangeShapeType="1"/>
            </p:cNvSpPr>
            <p:nvPr/>
          </p:nvSpPr>
          <p:spPr bwMode="auto">
            <a:xfrm>
              <a:off x="128" y="1056"/>
              <a:ext cx="203"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29" name="Freeform 49"/>
            <p:cNvSpPr>
              <a:spLocks/>
            </p:cNvSpPr>
            <p:nvPr/>
          </p:nvSpPr>
          <p:spPr bwMode="auto">
            <a:xfrm>
              <a:off x="318" y="1041"/>
              <a:ext cx="72" cy="34"/>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30" name="Line 50"/>
            <p:cNvSpPr>
              <a:spLocks noChangeShapeType="1"/>
            </p:cNvSpPr>
            <p:nvPr/>
          </p:nvSpPr>
          <p:spPr bwMode="auto">
            <a:xfrm>
              <a:off x="128" y="1198"/>
              <a:ext cx="20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31" name="Freeform 51"/>
            <p:cNvSpPr>
              <a:spLocks/>
            </p:cNvSpPr>
            <p:nvPr/>
          </p:nvSpPr>
          <p:spPr bwMode="auto">
            <a:xfrm>
              <a:off x="318" y="1181"/>
              <a:ext cx="72" cy="3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32" name="Line 52"/>
            <p:cNvSpPr>
              <a:spLocks noChangeShapeType="1"/>
            </p:cNvSpPr>
            <p:nvPr/>
          </p:nvSpPr>
          <p:spPr bwMode="auto">
            <a:xfrm>
              <a:off x="128" y="1341"/>
              <a:ext cx="203"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33" name="Freeform 53"/>
            <p:cNvSpPr>
              <a:spLocks/>
            </p:cNvSpPr>
            <p:nvPr/>
          </p:nvSpPr>
          <p:spPr bwMode="auto">
            <a:xfrm>
              <a:off x="318" y="1324"/>
              <a:ext cx="72" cy="35"/>
            </a:xfrm>
            <a:custGeom>
              <a:avLst/>
              <a:gdLst>
                <a:gd name="T0" fmla="*/ 100 w 100"/>
                <a:gd name="T1" fmla="*/ 25 h 51"/>
                <a:gd name="T2" fmla="*/ 0 w 100"/>
                <a:gd name="T3" fmla="*/ 0 h 51"/>
                <a:gd name="T4" fmla="*/ 0 w 100"/>
                <a:gd name="T5" fmla="*/ 51 h 51"/>
                <a:gd name="T6" fmla="*/ 100 w 100"/>
                <a:gd name="T7" fmla="*/ 25 h 51"/>
              </a:gdLst>
              <a:ahLst/>
              <a:cxnLst>
                <a:cxn ang="0">
                  <a:pos x="T0" y="T1"/>
                </a:cxn>
                <a:cxn ang="0">
                  <a:pos x="T2" y="T3"/>
                </a:cxn>
                <a:cxn ang="0">
                  <a:pos x="T4" y="T5"/>
                </a:cxn>
                <a:cxn ang="0">
                  <a:pos x="T6" y="T7"/>
                </a:cxn>
              </a:cxnLst>
              <a:rect l="0" t="0" r="r" b="b"/>
              <a:pathLst>
                <a:path w="100" h="51">
                  <a:moveTo>
                    <a:pt x="100" y="25"/>
                  </a:moveTo>
                  <a:lnTo>
                    <a:pt x="0" y="0"/>
                  </a:lnTo>
                  <a:lnTo>
                    <a:pt x="0" y="51"/>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34" name="Freeform 54"/>
            <p:cNvSpPr>
              <a:spLocks/>
            </p:cNvSpPr>
            <p:nvPr/>
          </p:nvSpPr>
          <p:spPr bwMode="auto">
            <a:xfrm>
              <a:off x="390" y="1428"/>
              <a:ext cx="74" cy="73"/>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35" name="Freeform 55"/>
            <p:cNvSpPr>
              <a:spLocks/>
            </p:cNvSpPr>
            <p:nvPr/>
          </p:nvSpPr>
          <p:spPr bwMode="auto">
            <a:xfrm>
              <a:off x="223" y="887"/>
              <a:ext cx="61" cy="56"/>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36" name="Line 56"/>
            <p:cNvSpPr>
              <a:spLocks noChangeShapeType="1"/>
            </p:cNvSpPr>
            <p:nvPr/>
          </p:nvSpPr>
          <p:spPr bwMode="auto">
            <a:xfrm flipH="1">
              <a:off x="223" y="887"/>
              <a:ext cx="61" cy="56"/>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37" name="Freeform 57"/>
            <p:cNvSpPr>
              <a:spLocks/>
            </p:cNvSpPr>
            <p:nvPr/>
          </p:nvSpPr>
          <p:spPr bwMode="auto">
            <a:xfrm>
              <a:off x="223" y="1026"/>
              <a:ext cx="61" cy="58"/>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38" name="Line 58"/>
            <p:cNvSpPr>
              <a:spLocks noChangeShapeType="1"/>
            </p:cNvSpPr>
            <p:nvPr/>
          </p:nvSpPr>
          <p:spPr bwMode="auto">
            <a:xfrm flipH="1">
              <a:off x="223" y="1026"/>
              <a:ext cx="61" cy="5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39" name="Rectangle 59"/>
            <p:cNvSpPr>
              <a:spLocks noChangeArrowheads="1"/>
            </p:cNvSpPr>
            <p:nvPr/>
          </p:nvSpPr>
          <p:spPr bwMode="auto">
            <a:xfrm>
              <a:off x="224" y="808"/>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32</a:t>
              </a:r>
              <a:endParaRPr lang="en-US" altLang="en-US" sz="1800"/>
            </a:p>
          </p:txBody>
        </p:sp>
        <p:sp>
          <p:nvSpPr>
            <p:cNvPr id="583740" name="Rectangle 60"/>
            <p:cNvSpPr>
              <a:spLocks noChangeArrowheads="1"/>
            </p:cNvSpPr>
            <p:nvPr/>
          </p:nvSpPr>
          <p:spPr bwMode="auto">
            <a:xfrm>
              <a:off x="224" y="947"/>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a:t>
              </a:r>
              <a:endParaRPr lang="en-US" altLang="en-US" sz="1800"/>
            </a:p>
          </p:txBody>
        </p:sp>
        <p:sp>
          <p:nvSpPr>
            <p:cNvPr id="583741" name="Rectangle 61"/>
            <p:cNvSpPr>
              <a:spLocks noChangeArrowheads="1"/>
            </p:cNvSpPr>
            <p:nvPr/>
          </p:nvSpPr>
          <p:spPr bwMode="auto">
            <a:xfrm>
              <a:off x="414" y="873"/>
              <a:ext cx="15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data</a:t>
              </a:r>
              <a:endParaRPr lang="en-US" altLang="en-US" sz="1800"/>
            </a:p>
          </p:txBody>
        </p:sp>
        <p:sp>
          <p:nvSpPr>
            <p:cNvPr id="583742" name="Rectangle 62"/>
            <p:cNvSpPr>
              <a:spLocks noChangeArrowheads="1"/>
            </p:cNvSpPr>
            <p:nvPr/>
          </p:nvSpPr>
          <p:spPr bwMode="auto">
            <a:xfrm>
              <a:off x="414" y="1014"/>
              <a:ext cx="15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addr</a:t>
              </a:r>
              <a:endParaRPr lang="en-US" altLang="en-US" sz="1800"/>
            </a:p>
          </p:txBody>
        </p:sp>
        <p:sp>
          <p:nvSpPr>
            <p:cNvPr id="583743" name="Rectangle 63"/>
            <p:cNvSpPr>
              <a:spLocks noChangeArrowheads="1"/>
            </p:cNvSpPr>
            <p:nvPr/>
          </p:nvSpPr>
          <p:spPr bwMode="auto">
            <a:xfrm>
              <a:off x="414" y="1155"/>
              <a:ext cx="2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t>
              </a:r>
              <a:endParaRPr lang="en-US" altLang="en-US" sz="1800"/>
            </a:p>
          </p:txBody>
        </p:sp>
        <p:sp>
          <p:nvSpPr>
            <p:cNvPr id="583744" name="Rectangle 64"/>
            <p:cNvSpPr>
              <a:spLocks noChangeArrowheads="1"/>
            </p:cNvSpPr>
            <p:nvPr/>
          </p:nvSpPr>
          <p:spPr bwMode="auto">
            <a:xfrm>
              <a:off x="439" y="1155"/>
              <a:ext cx="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w</a:t>
              </a:r>
              <a:endParaRPr lang="en-US" altLang="en-US" sz="1800"/>
            </a:p>
          </p:txBody>
        </p:sp>
        <p:sp>
          <p:nvSpPr>
            <p:cNvPr id="583745" name="Rectangle 65"/>
            <p:cNvSpPr>
              <a:spLocks noChangeArrowheads="1"/>
            </p:cNvSpPr>
            <p:nvPr/>
          </p:nvSpPr>
          <p:spPr bwMode="auto">
            <a:xfrm>
              <a:off x="414" y="1299"/>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en</a:t>
              </a:r>
              <a:endParaRPr lang="en-US" altLang="en-US" sz="1800"/>
            </a:p>
          </p:txBody>
        </p:sp>
        <p:sp>
          <p:nvSpPr>
            <p:cNvPr id="583746" name="Rectangle 66"/>
            <p:cNvSpPr>
              <a:spLocks noChangeArrowheads="1"/>
            </p:cNvSpPr>
            <p:nvPr/>
          </p:nvSpPr>
          <p:spPr bwMode="auto">
            <a:xfrm>
              <a:off x="628" y="1097"/>
              <a:ext cx="30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1024x32</a:t>
              </a:r>
              <a:endParaRPr lang="en-US" altLang="en-US" sz="1800"/>
            </a:p>
          </p:txBody>
        </p:sp>
        <p:sp>
          <p:nvSpPr>
            <p:cNvPr id="583747" name="Rectangle 67"/>
            <p:cNvSpPr>
              <a:spLocks noChangeArrowheads="1"/>
            </p:cNvSpPr>
            <p:nvPr/>
          </p:nvSpPr>
          <p:spPr bwMode="auto">
            <a:xfrm>
              <a:off x="705" y="1174"/>
              <a:ext cx="17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RAM</a:t>
              </a:r>
              <a:endParaRPr lang="en-US" altLang="en-US" sz="1800"/>
            </a:p>
          </p:txBody>
        </p:sp>
      </p:grpSp>
      <p:sp>
        <p:nvSpPr>
          <p:cNvPr id="583752" name="Rectangle 72"/>
          <p:cNvSpPr>
            <a:spLocks noChangeArrowheads="1"/>
          </p:cNvSpPr>
          <p:nvPr/>
        </p:nvSpPr>
        <p:spPr bwMode="auto">
          <a:xfrm>
            <a:off x="6584950" y="3165475"/>
            <a:ext cx="1941513" cy="137160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53" name="Line 73"/>
          <p:cNvSpPr>
            <a:spLocks noChangeShapeType="1"/>
          </p:cNvSpPr>
          <p:nvPr/>
        </p:nvSpPr>
        <p:spPr bwMode="auto">
          <a:xfrm>
            <a:off x="7369175" y="4548188"/>
            <a:ext cx="1588" cy="63500"/>
          </a:xfrm>
          <a:prstGeom prst="line">
            <a:avLst/>
          </a:prstGeom>
          <a:noFill/>
          <a:ln w="47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54" name="Line 74"/>
          <p:cNvSpPr>
            <a:spLocks noChangeShapeType="1"/>
          </p:cNvSpPr>
          <p:nvPr/>
        </p:nvSpPr>
        <p:spPr bwMode="auto">
          <a:xfrm>
            <a:off x="7267575" y="4611688"/>
            <a:ext cx="204788"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55" name="Line 75"/>
          <p:cNvSpPr>
            <a:spLocks noChangeShapeType="1"/>
          </p:cNvSpPr>
          <p:nvPr/>
        </p:nvSpPr>
        <p:spPr bwMode="auto">
          <a:xfrm>
            <a:off x="7305675" y="4649788"/>
            <a:ext cx="127000"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56" name="Line 76"/>
          <p:cNvSpPr>
            <a:spLocks noChangeShapeType="1"/>
          </p:cNvSpPr>
          <p:nvPr/>
        </p:nvSpPr>
        <p:spPr bwMode="auto">
          <a:xfrm>
            <a:off x="7345363" y="4684713"/>
            <a:ext cx="53975"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57" name="Oval 77"/>
          <p:cNvSpPr>
            <a:spLocks noChangeArrowheads="1"/>
          </p:cNvSpPr>
          <p:nvPr/>
        </p:nvSpPr>
        <p:spPr bwMode="auto">
          <a:xfrm>
            <a:off x="7331075" y="3421063"/>
            <a:ext cx="73025" cy="73025"/>
          </a:xfrm>
          <a:prstGeom prst="ellipse">
            <a:avLst/>
          </a:prstGeom>
          <a:solidFill>
            <a:srgbClr val="000000"/>
          </a:solidFill>
          <a:ln w="9525">
            <a:solidFill>
              <a:srgbClr val="000000"/>
            </a:solidFill>
            <a:miter lim="800000"/>
            <a:headEnd/>
            <a:tailEnd/>
          </a:ln>
        </p:spPr>
        <p:txBody>
          <a:bodyPr/>
          <a:lstStyle/>
          <a:p>
            <a:endParaRPr lang="en-US"/>
          </a:p>
        </p:txBody>
      </p:sp>
      <p:sp>
        <p:nvSpPr>
          <p:cNvPr id="583758" name="Line 78"/>
          <p:cNvSpPr>
            <a:spLocks noChangeShapeType="1"/>
          </p:cNvSpPr>
          <p:nvPr/>
        </p:nvSpPr>
        <p:spPr bwMode="auto">
          <a:xfrm>
            <a:off x="6311900" y="3709988"/>
            <a:ext cx="857250"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59" name="Line 79"/>
          <p:cNvSpPr>
            <a:spLocks noChangeShapeType="1"/>
          </p:cNvSpPr>
          <p:nvPr/>
        </p:nvSpPr>
        <p:spPr bwMode="auto">
          <a:xfrm>
            <a:off x="7629525" y="3709988"/>
            <a:ext cx="1068388"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60" name="Freeform 80"/>
          <p:cNvSpPr>
            <a:spLocks/>
          </p:cNvSpPr>
          <p:nvPr/>
        </p:nvSpPr>
        <p:spPr bwMode="auto">
          <a:xfrm>
            <a:off x="7232650" y="3024188"/>
            <a:ext cx="141288" cy="979487"/>
          </a:xfrm>
          <a:custGeom>
            <a:avLst/>
            <a:gdLst>
              <a:gd name="T0" fmla="*/ 89 w 89"/>
              <a:gd name="T1" fmla="*/ 617 h 617"/>
              <a:gd name="T2" fmla="*/ 89 w 89"/>
              <a:gd name="T3" fmla="*/ 512 h 617"/>
              <a:gd name="T4" fmla="*/ 0 w 89"/>
              <a:gd name="T5" fmla="*/ 512 h 617"/>
              <a:gd name="T6" fmla="*/ 0 w 89"/>
              <a:gd name="T7" fmla="*/ 352 h 617"/>
              <a:gd name="T8" fmla="*/ 89 w 89"/>
              <a:gd name="T9" fmla="*/ 352 h 617"/>
              <a:gd name="T10" fmla="*/ 89 w 89"/>
              <a:gd name="T11" fmla="*/ 0 h 617"/>
            </a:gdLst>
            <a:ahLst/>
            <a:cxnLst>
              <a:cxn ang="0">
                <a:pos x="T0" y="T1"/>
              </a:cxn>
              <a:cxn ang="0">
                <a:pos x="T2" y="T3"/>
              </a:cxn>
              <a:cxn ang="0">
                <a:pos x="T4" y="T5"/>
              </a:cxn>
              <a:cxn ang="0">
                <a:pos x="T6" y="T7"/>
              </a:cxn>
              <a:cxn ang="0">
                <a:pos x="T8" y="T9"/>
              </a:cxn>
              <a:cxn ang="0">
                <a:pos x="T10" y="T11"/>
              </a:cxn>
            </a:cxnLst>
            <a:rect l="0" t="0" r="r" b="b"/>
            <a:pathLst>
              <a:path w="89" h="617">
                <a:moveTo>
                  <a:pt x="89" y="617"/>
                </a:moveTo>
                <a:lnTo>
                  <a:pt x="89" y="512"/>
                </a:lnTo>
                <a:lnTo>
                  <a:pt x="0" y="512"/>
                </a:lnTo>
                <a:lnTo>
                  <a:pt x="0" y="352"/>
                </a:lnTo>
                <a:lnTo>
                  <a:pt x="89" y="352"/>
                </a:lnTo>
                <a:lnTo>
                  <a:pt x="89"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61" name="Line 81"/>
          <p:cNvSpPr>
            <a:spLocks noChangeShapeType="1"/>
          </p:cNvSpPr>
          <p:nvPr/>
        </p:nvSpPr>
        <p:spPr bwMode="auto">
          <a:xfrm flipV="1">
            <a:off x="7164388" y="3573463"/>
            <a:ext cx="1587" cy="2730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62" name="Freeform 82"/>
          <p:cNvSpPr>
            <a:spLocks/>
          </p:cNvSpPr>
          <p:nvPr/>
        </p:nvSpPr>
        <p:spPr bwMode="auto">
          <a:xfrm>
            <a:off x="7439025" y="4351338"/>
            <a:ext cx="77788" cy="157162"/>
          </a:xfrm>
          <a:custGeom>
            <a:avLst/>
            <a:gdLst>
              <a:gd name="T0" fmla="*/ 24 w 49"/>
              <a:gd name="T1" fmla="*/ 99 h 99"/>
              <a:gd name="T2" fmla="*/ 49 w 49"/>
              <a:gd name="T3" fmla="*/ 3 h 99"/>
              <a:gd name="T4" fmla="*/ 0 w 49"/>
              <a:gd name="T5" fmla="*/ 0 h 99"/>
              <a:gd name="T6" fmla="*/ 24 w 49"/>
              <a:gd name="T7" fmla="*/ 99 h 99"/>
            </a:gdLst>
            <a:ahLst/>
            <a:cxnLst>
              <a:cxn ang="0">
                <a:pos x="T0" y="T1"/>
              </a:cxn>
              <a:cxn ang="0">
                <a:pos x="T2" y="T3"/>
              </a:cxn>
              <a:cxn ang="0">
                <a:pos x="T4" y="T5"/>
              </a:cxn>
              <a:cxn ang="0">
                <a:pos x="T6" y="T7"/>
              </a:cxn>
            </a:cxnLst>
            <a:rect l="0" t="0" r="r" b="b"/>
            <a:pathLst>
              <a:path w="49" h="99">
                <a:moveTo>
                  <a:pt x="24" y="99"/>
                </a:moveTo>
                <a:lnTo>
                  <a:pt x="49" y="3"/>
                </a:lnTo>
                <a:lnTo>
                  <a:pt x="0" y="0"/>
                </a:lnTo>
                <a:lnTo>
                  <a:pt x="24" y="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3763" name="Line 83"/>
          <p:cNvSpPr>
            <a:spLocks noChangeShapeType="1"/>
          </p:cNvSpPr>
          <p:nvPr/>
        </p:nvSpPr>
        <p:spPr bwMode="auto">
          <a:xfrm flipV="1">
            <a:off x="7369175" y="4087813"/>
            <a:ext cx="1588" cy="5238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64" name="Freeform 84"/>
          <p:cNvSpPr>
            <a:spLocks/>
          </p:cNvSpPr>
          <p:nvPr/>
        </p:nvSpPr>
        <p:spPr bwMode="auto">
          <a:xfrm>
            <a:off x="7011988" y="3455988"/>
            <a:ext cx="357187" cy="1189037"/>
          </a:xfrm>
          <a:custGeom>
            <a:avLst/>
            <a:gdLst>
              <a:gd name="T0" fmla="*/ 225 w 225"/>
              <a:gd name="T1" fmla="*/ 0 h 749"/>
              <a:gd name="T2" fmla="*/ 0 w 225"/>
              <a:gd name="T3" fmla="*/ 0 h 749"/>
              <a:gd name="T4" fmla="*/ 0 w 225"/>
              <a:gd name="T5" fmla="*/ 749 h 749"/>
            </a:gdLst>
            <a:ahLst/>
            <a:cxnLst>
              <a:cxn ang="0">
                <a:pos x="T0" y="T1"/>
              </a:cxn>
              <a:cxn ang="0">
                <a:pos x="T2" y="T3"/>
              </a:cxn>
              <a:cxn ang="0">
                <a:pos x="T4" y="T5"/>
              </a:cxn>
            </a:cxnLst>
            <a:rect l="0" t="0" r="r" b="b"/>
            <a:pathLst>
              <a:path w="225" h="749">
                <a:moveTo>
                  <a:pt x="225" y="0"/>
                </a:moveTo>
                <a:lnTo>
                  <a:pt x="0" y="0"/>
                </a:lnTo>
                <a:lnTo>
                  <a:pt x="0" y="749"/>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65" name="Line 85"/>
          <p:cNvSpPr>
            <a:spLocks noChangeShapeType="1"/>
          </p:cNvSpPr>
          <p:nvPr/>
        </p:nvSpPr>
        <p:spPr bwMode="auto">
          <a:xfrm flipH="1">
            <a:off x="7242175" y="4003675"/>
            <a:ext cx="260350" cy="1588"/>
          </a:xfrm>
          <a:prstGeom prst="line">
            <a:avLst/>
          </a:prstGeom>
          <a:noFill/>
          <a:ln w="19050">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66" name="Line 86"/>
          <p:cNvSpPr>
            <a:spLocks noChangeShapeType="1"/>
          </p:cNvSpPr>
          <p:nvPr/>
        </p:nvSpPr>
        <p:spPr bwMode="auto">
          <a:xfrm flipH="1">
            <a:off x="7242175" y="4087813"/>
            <a:ext cx="260350" cy="1587"/>
          </a:xfrm>
          <a:prstGeom prst="line">
            <a:avLst/>
          </a:prstGeom>
          <a:noFill/>
          <a:ln w="19050">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3767" name="Rectangle 87"/>
          <p:cNvSpPr>
            <a:spLocks noChangeArrowheads="1"/>
          </p:cNvSpPr>
          <p:nvPr/>
        </p:nvSpPr>
        <p:spPr bwMode="auto">
          <a:xfrm>
            <a:off x="5934075" y="3517900"/>
            <a:ext cx="3286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word</a:t>
            </a:r>
            <a:endParaRPr lang="en-US" altLang="en-US"/>
          </a:p>
        </p:txBody>
      </p:sp>
      <p:sp>
        <p:nvSpPr>
          <p:cNvPr id="583771" name="Rectangle 91"/>
          <p:cNvSpPr>
            <a:spLocks noChangeArrowheads="1"/>
          </p:cNvSpPr>
          <p:nvPr/>
        </p:nvSpPr>
        <p:spPr bwMode="auto">
          <a:xfrm>
            <a:off x="5826125" y="3708400"/>
            <a:ext cx="45402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enable</a:t>
            </a:r>
            <a:endParaRPr lang="en-US" altLang="en-US"/>
          </a:p>
        </p:txBody>
      </p:sp>
      <p:sp>
        <p:nvSpPr>
          <p:cNvPr id="583772" name="Freeform 92"/>
          <p:cNvSpPr>
            <a:spLocks/>
          </p:cNvSpPr>
          <p:nvPr/>
        </p:nvSpPr>
        <p:spPr bwMode="auto">
          <a:xfrm>
            <a:off x="6291263" y="5032375"/>
            <a:ext cx="2005012" cy="196850"/>
          </a:xfrm>
          <a:custGeom>
            <a:avLst/>
            <a:gdLst>
              <a:gd name="T0" fmla="*/ 1263 w 1263"/>
              <a:gd name="T1" fmla="*/ 124 h 124"/>
              <a:gd name="T2" fmla="*/ 574 w 1263"/>
              <a:gd name="T3" fmla="*/ 124 h 124"/>
              <a:gd name="T4" fmla="*/ 574 w 1263"/>
              <a:gd name="T5" fmla="*/ 0 h 124"/>
              <a:gd name="T6" fmla="*/ 210 w 1263"/>
              <a:gd name="T7" fmla="*/ 0 h 124"/>
              <a:gd name="T8" fmla="*/ 210 w 1263"/>
              <a:gd name="T9" fmla="*/ 124 h 124"/>
              <a:gd name="T10" fmla="*/ 0 w 1263"/>
              <a:gd name="T11" fmla="*/ 124 h 124"/>
            </a:gdLst>
            <a:ahLst/>
            <a:cxnLst>
              <a:cxn ang="0">
                <a:pos x="T0" y="T1"/>
              </a:cxn>
              <a:cxn ang="0">
                <a:pos x="T2" y="T3"/>
              </a:cxn>
              <a:cxn ang="0">
                <a:pos x="T4" y="T5"/>
              </a:cxn>
              <a:cxn ang="0">
                <a:pos x="T6" y="T7"/>
              </a:cxn>
              <a:cxn ang="0">
                <a:pos x="T8" y="T9"/>
              </a:cxn>
              <a:cxn ang="0">
                <a:pos x="T10" y="T11"/>
              </a:cxn>
            </a:cxnLst>
            <a:rect l="0" t="0" r="r" b="b"/>
            <a:pathLst>
              <a:path w="1263" h="124">
                <a:moveTo>
                  <a:pt x="1263" y="124"/>
                </a:moveTo>
                <a:lnTo>
                  <a:pt x="574" y="124"/>
                </a:lnTo>
                <a:lnTo>
                  <a:pt x="574" y="0"/>
                </a:lnTo>
                <a:lnTo>
                  <a:pt x="210" y="0"/>
                </a:lnTo>
                <a:lnTo>
                  <a:pt x="210" y="124"/>
                </a:lnTo>
                <a:lnTo>
                  <a:pt x="0" y="124"/>
                </a:ln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73" name="Freeform 93"/>
          <p:cNvSpPr>
            <a:spLocks/>
          </p:cNvSpPr>
          <p:nvPr/>
        </p:nvSpPr>
        <p:spPr bwMode="auto">
          <a:xfrm>
            <a:off x="6291263" y="5380038"/>
            <a:ext cx="2005012" cy="196850"/>
          </a:xfrm>
          <a:custGeom>
            <a:avLst/>
            <a:gdLst>
              <a:gd name="T0" fmla="*/ 1263 w 1263"/>
              <a:gd name="T1" fmla="*/ 124 h 124"/>
              <a:gd name="T2" fmla="*/ 497 w 1263"/>
              <a:gd name="T3" fmla="*/ 124 h 124"/>
              <a:gd name="T4" fmla="*/ 497 w 1263"/>
              <a:gd name="T5" fmla="*/ 0 h 124"/>
              <a:gd name="T6" fmla="*/ 275 w 1263"/>
              <a:gd name="T7" fmla="*/ 0 h 124"/>
              <a:gd name="T8" fmla="*/ 275 w 1263"/>
              <a:gd name="T9" fmla="*/ 124 h 124"/>
              <a:gd name="T10" fmla="*/ 0 w 1263"/>
              <a:gd name="T11" fmla="*/ 124 h 124"/>
            </a:gdLst>
            <a:ahLst/>
            <a:cxnLst>
              <a:cxn ang="0">
                <a:pos x="T0" y="T1"/>
              </a:cxn>
              <a:cxn ang="0">
                <a:pos x="T2" y="T3"/>
              </a:cxn>
              <a:cxn ang="0">
                <a:pos x="T4" y="T5"/>
              </a:cxn>
              <a:cxn ang="0">
                <a:pos x="T6" y="T7"/>
              </a:cxn>
              <a:cxn ang="0">
                <a:pos x="T8" y="T9"/>
              </a:cxn>
              <a:cxn ang="0">
                <a:pos x="T10" y="T11"/>
              </a:cxn>
            </a:cxnLst>
            <a:rect l="0" t="0" r="r" b="b"/>
            <a:pathLst>
              <a:path w="1263" h="124">
                <a:moveTo>
                  <a:pt x="1263" y="124"/>
                </a:moveTo>
                <a:lnTo>
                  <a:pt x="497" y="124"/>
                </a:lnTo>
                <a:lnTo>
                  <a:pt x="497" y="0"/>
                </a:lnTo>
                <a:lnTo>
                  <a:pt x="275" y="0"/>
                </a:lnTo>
                <a:lnTo>
                  <a:pt x="275" y="124"/>
                </a:lnTo>
                <a:lnTo>
                  <a:pt x="0" y="124"/>
                </a:ln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74" name="Freeform 94"/>
          <p:cNvSpPr>
            <a:spLocks/>
          </p:cNvSpPr>
          <p:nvPr/>
        </p:nvSpPr>
        <p:spPr bwMode="auto">
          <a:xfrm>
            <a:off x="6296025" y="5635625"/>
            <a:ext cx="1960563" cy="288925"/>
          </a:xfrm>
          <a:custGeom>
            <a:avLst/>
            <a:gdLst>
              <a:gd name="T0" fmla="*/ 0 w 400"/>
              <a:gd name="T1" fmla="*/ 59 h 59"/>
              <a:gd name="T2" fmla="*/ 92 w 400"/>
              <a:gd name="T3" fmla="*/ 59 h 59"/>
              <a:gd name="T4" fmla="*/ 115 w 400"/>
              <a:gd name="T5" fmla="*/ 44 h 59"/>
              <a:gd name="T6" fmla="*/ 169 w 400"/>
              <a:gd name="T7" fmla="*/ 6 h 59"/>
              <a:gd name="T8" fmla="*/ 400 w 400"/>
              <a:gd name="T9" fmla="*/ 27 h 59"/>
            </a:gdLst>
            <a:ahLst/>
            <a:cxnLst>
              <a:cxn ang="0">
                <a:pos x="T0" y="T1"/>
              </a:cxn>
              <a:cxn ang="0">
                <a:pos x="T2" y="T3"/>
              </a:cxn>
              <a:cxn ang="0">
                <a:pos x="T4" y="T5"/>
              </a:cxn>
              <a:cxn ang="0">
                <a:pos x="T6" y="T7"/>
              </a:cxn>
              <a:cxn ang="0">
                <a:pos x="T8" y="T9"/>
              </a:cxn>
            </a:cxnLst>
            <a:rect l="0" t="0" r="r" b="b"/>
            <a:pathLst>
              <a:path w="400" h="59">
                <a:moveTo>
                  <a:pt x="0" y="59"/>
                </a:moveTo>
                <a:cubicBezTo>
                  <a:pt x="92" y="59"/>
                  <a:pt x="92" y="59"/>
                  <a:pt x="92" y="59"/>
                </a:cubicBezTo>
                <a:cubicBezTo>
                  <a:pt x="92" y="59"/>
                  <a:pt x="107" y="58"/>
                  <a:pt x="115" y="44"/>
                </a:cubicBezTo>
                <a:cubicBezTo>
                  <a:pt x="115" y="44"/>
                  <a:pt x="135" y="8"/>
                  <a:pt x="169" y="6"/>
                </a:cubicBezTo>
                <a:cubicBezTo>
                  <a:pt x="169" y="6"/>
                  <a:pt x="255" y="0"/>
                  <a:pt x="400" y="27"/>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75" name="Rectangle 95"/>
          <p:cNvSpPr>
            <a:spLocks noChangeArrowheads="1"/>
          </p:cNvSpPr>
          <p:nvPr/>
        </p:nvSpPr>
        <p:spPr bwMode="auto">
          <a:xfrm>
            <a:off x="7224713" y="2846388"/>
            <a:ext cx="2952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a:t>
            </a:r>
            <a:endParaRPr lang="en-US" altLang="en-US"/>
          </a:p>
        </p:txBody>
      </p:sp>
      <p:sp>
        <p:nvSpPr>
          <p:cNvPr id="583778" name="Rectangle 98"/>
          <p:cNvSpPr>
            <a:spLocks noChangeArrowheads="1"/>
          </p:cNvSpPr>
          <p:nvPr/>
        </p:nvSpPr>
        <p:spPr bwMode="auto">
          <a:xfrm>
            <a:off x="8221663" y="3184525"/>
            <a:ext cx="762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t>
            </a:r>
            <a:endParaRPr lang="en-US" altLang="en-US"/>
          </a:p>
        </p:txBody>
      </p:sp>
      <p:sp>
        <p:nvSpPr>
          <p:cNvPr id="583779" name="Rectangle 99"/>
          <p:cNvSpPr>
            <a:spLocks noChangeArrowheads="1"/>
          </p:cNvSpPr>
          <p:nvPr/>
        </p:nvSpPr>
        <p:spPr bwMode="auto">
          <a:xfrm>
            <a:off x="8289925" y="3184525"/>
            <a:ext cx="1508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ell</a:t>
            </a:r>
            <a:endParaRPr lang="en-US" altLang="en-US"/>
          </a:p>
        </p:txBody>
      </p:sp>
      <p:sp>
        <p:nvSpPr>
          <p:cNvPr id="583780" name="Rectangle 100"/>
          <p:cNvSpPr>
            <a:spLocks noChangeArrowheads="1"/>
          </p:cNvSpPr>
          <p:nvPr/>
        </p:nvSpPr>
        <p:spPr bwMode="auto">
          <a:xfrm>
            <a:off x="7302500" y="4705350"/>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a:p>
        </p:txBody>
      </p:sp>
      <p:sp>
        <p:nvSpPr>
          <p:cNvPr id="583781" name="Rectangle 101"/>
          <p:cNvSpPr>
            <a:spLocks noChangeArrowheads="1"/>
          </p:cNvSpPr>
          <p:nvPr/>
        </p:nvSpPr>
        <p:spPr bwMode="auto">
          <a:xfrm>
            <a:off x="7346950" y="4705350"/>
            <a:ext cx="84138"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a:t>
            </a:r>
            <a:endParaRPr lang="en-US" altLang="en-US"/>
          </a:p>
        </p:txBody>
      </p:sp>
      <p:sp>
        <p:nvSpPr>
          <p:cNvPr id="583782" name="Rectangle 102"/>
          <p:cNvSpPr>
            <a:spLocks noChangeArrowheads="1"/>
          </p:cNvSpPr>
          <p:nvPr/>
        </p:nvSpPr>
        <p:spPr bwMode="auto">
          <a:xfrm>
            <a:off x="7421563" y="4705350"/>
            <a:ext cx="508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a:p>
        </p:txBody>
      </p:sp>
      <p:sp>
        <p:nvSpPr>
          <p:cNvPr id="583783" name="Rectangle 103"/>
          <p:cNvSpPr>
            <a:spLocks noChangeArrowheads="1"/>
          </p:cNvSpPr>
          <p:nvPr/>
        </p:nvSpPr>
        <p:spPr bwMode="auto">
          <a:xfrm>
            <a:off x="7294563" y="5922963"/>
            <a:ext cx="50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a:p>
        </p:txBody>
      </p:sp>
      <p:sp>
        <p:nvSpPr>
          <p:cNvPr id="583784" name="Rectangle 104"/>
          <p:cNvSpPr>
            <a:spLocks noChangeArrowheads="1"/>
          </p:cNvSpPr>
          <p:nvPr/>
        </p:nvSpPr>
        <p:spPr bwMode="auto">
          <a:xfrm>
            <a:off x="7340600" y="5922963"/>
            <a:ext cx="841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b</a:t>
            </a:r>
            <a:endParaRPr lang="en-US" altLang="en-US"/>
          </a:p>
        </p:txBody>
      </p:sp>
      <p:sp>
        <p:nvSpPr>
          <p:cNvPr id="583785" name="Rectangle 105"/>
          <p:cNvSpPr>
            <a:spLocks noChangeArrowheads="1"/>
          </p:cNvSpPr>
          <p:nvPr/>
        </p:nvSpPr>
        <p:spPr bwMode="auto">
          <a:xfrm>
            <a:off x="7429500" y="5922963"/>
            <a:ext cx="50800"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t>
            </a:r>
            <a:endParaRPr lang="en-US" altLang="en-US"/>
          </a:p>
        </p:txBody>
      </p:sp>
      <p:sp>
        <p:nvSpPr>
          <p:cNvPr id="583786" name="Rectangle 106"/>
          <p:cNvSpPr>
            <a:spLocks noChangeArrowheads="1"/>
          </p:cNvSpPr>
          <p:nvPr/>
        </p:nvSpPr>
        <p:spPr bwMode="auto">
          <a:xfrm>
            <a:off x="5943600" y="5129213"/>
            <a:ext cx="29527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data</a:t>
            </a:r>
            <a:endParaRPr lang="en-US" altLang="en-US"/>
          </a:p>
        </p:txBody>
      </p:sp>
      <p:sp>
        <p:nvSpPr>
          <p:cNvPr id="583789" name="Rectangle 109"/>
          <p:cNvSpPr>
            <a:spLocks noChangeArrowheads="1"/>
          </p:cNvSpPr>
          <p:nvPr/>
        </p:nvSpPr>
        <p:spPr bwMode="auto">
          <a:xfrm>
            <a:off x="5807075" y="5472113"/>
            <a:ext cx="4540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enable</a:t>
            </a:r>
            <a:endParaRPr lang="en-US" altLang="en-US"/>
          </a:p>
        </p:txBody>
      </p:sp>
      <p:sp>
        <p:nvSpPr>
          <p:cNvPr id="583790" name="Rectangle 110"/>
          <p:cNvSpPr>
            <a:spLocks noChangeArrowheads="1"/>
          </p:cNvSpPr>
          <p:nvPr/>
        </p:nvSpPr>
        <p:spPr bwMode="auto">
          <a:xfrm>
            <a:off x="6183313" y="5837238"/>
            <a:ext cx="84137"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a:p>
        </p:txBody>
      </p:sp>
      <p:sp>
        <p:nvSpPr>
          <p:cNvPr id="583791" name="Rectangle 111"/>
          <p:cNvSpPr>
            <a:spLocks noChangeArrowheads="1"/>
          </p:cNvSpPr>
          <p:nvPr/>
        </p:nvSpPr>
        <p:spPr bwMode="auto">
          <a:xfrm>
            <a:off x="5767388" y="2808288"/>
            <a:ext cx="2970212" cy="334645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3792" name="Rectangle 112"/>
          <p:cNvSpPr>
            <a:spLocks noChangeArrowheads="1"/>
          </p:cNvSpPr>
          <p:nvPr/>
        </p:nvSpPr>
        <p:spPr bwMode="auto">
          <a:xfrm>
            <a:off x="7535863" y="5761038"/>
            <a:ext cx="733425"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discharges</a:t>
            </a:r>
            <a:endParaRPr lang="en-US" altLang="en-US"/>
          </a:p>
        </p:txBody>
      </p:sp>
      <p:sp>
        <p:nvSpPr>
          <p:cNvPr id="583795" name="Rectangle 115"/>
          <p:cNvSpPr>
            <a:spLocks noChangeArrowheads="1"/>
          </p:cNvSpPr>
          <p:nvPr/>
        </p:nvSpPr>
        <p:spPr bwMode="auto">
          <a:xfrm>
            <a:off x="7408863" y="3806825"/>
            <a:ext cx="84137"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t>
            </a:r>
            <a:endParaRPr lang="en-US" altLang="en-US"/>
          </a:p>
        </p:txBody>
      </p:sp>
      <p:sp>
        <p:nvSpPr>
          <p:cNvPr id="583796" name="Rectangle 116"/>
          <p:cNvSpPr>
            <a:spLocks noChangeArrowheads="1"/>
          </p:cNvSpPr>
          <p:nvPr/>
        </p:nvSpPr>
        <p:spPr bwMode="auto">
          <a:xfrm>
            <a:off x="7540625" y="3998913"/>
            <a:ext cx="88900" cy="1079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83797" name="Rectangle 117"/>
          <p:cNvSpPr>
            <a:spLocks noChangeArrowheads="1"/>
          </p:cNvSpPr>
          <p:nvPr/>
        </p:nvSpPr>
        <p:spPr bwMode="auto">
          <a:xfrm>
            <a:off x="7654925" y="3956050"/>
            <a:ext cx="61595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capacitor</a:t>
            </a:r>
            <a:endParaRPr lang="en-US" altLang="en-US"/>
          </a:p>
        </p:txBody>
      </p:sp>
      <p:sp>
        <p:nvSpPr>
          <p:cNvPr id="583800" name="Rectangle 120"/>
          <p:cNvSpPr>
            <a:spLocks noChangeArrowheads="1"/>
          </p:cNvSpPr>
          <p:nvPr/>
        </p:nvSpPr>
        <p:spPr bwMode="auto">
          <a:xfrm>
            <a:off x="7521575" y="4132263"/>
            <a:ext cx="54133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   slowly</a:t>
            </a:r>
            <a:endParaRPr lang="en-US" altLang="en-US"/>
          </a:p>
        </p:txBody>
      </p:sp>
      <p:sp>
        <p:nvSpPr>
          <p:cNvPr id="583803" name="Rectangle 123"/>
          <p:cNvSpPr>
            <a:spLocks noChangeArrowheads="1"/>
          </p:cNvSpPr>
          <p:nvPr/>
        </p:nvSpPr>
        <p:spPr bwMode="auto">
          <a:xfrm>
            <a:off x="7521575" y="4322763"/>
            <a:ext cx="903288" cy="18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   discharging</a:t>
            </a:r>
            <a:endParaRPr lang="en-US" altLang="en-US"/>
          </a:p>
        </p:txBody>
      </p:sp>
      <p:sp>
        <p:nvSpPr>
          <p:cNvPr id="583808" name="Line 128"/>
          <p:cNvSpPr>
            <a:spLocks noChangeShapeType="1"/>
          </p:cNvSpPr>
          <p:nvPr/>
        </p:nvSpPr>
        <p:spPr bwMode="auto">
          <a:xfrm>
            <a:off x="7248525" y="3709988"/>
            <a:ext cx="377825" cy="0"/>
          </a:xfrm>
          <a:prstGeom prst="line">
            <a:avLst/>
          </a:prstGeom>
          <a:noFill/>
          <a:ln w="19050">
            <a:solidFill>
              <a:srgbClr val="000000"/>
            </a:solidFill>
            <a:prstDash val="dash"/>
            <a:miter lim="800000"/>
            <a:headEnd/>
            <a:tailEnd/>
          </a:ln>
          <a:extLst>
            <a:ext uri="{909E8E84-426E-40DD-AFC4-6F175D3DCCD1}">
              <a14:hiddenFill xmlns:a14="http://schemas.microsoft.com/office/drawing/2010/main">
                <a:noFill/>
              </a14:hiddenFill>
            </a:ext>
          </a:extLst>
        </p:spPr>
        <p:txBody>
          <a:bodyPr/>
          <a:lstStyle/>
          <a:p>
            <a:endParaRPr lang="en-US"/>
          </a:p>
        </p:txBody>
      </p:sp>
      <p:pic>
        <p:nvPicPr>
          <p:cNvPr id="583810" name="Picture 1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7125" y="3908425"/>
            <a:ext cx="106363"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p:cNvSpPr>
            <a:spLocks noGrp="1"/>
          </p:cNvSpPr>
          <p:nvPr>
            <p:ph type="sldNum" sz="quarter" idx="10"/>
          </p:nvPr>
        </p:nvSpPr>
        <p:spPr/>
        <p:txBody>
          <a:bodyPr/>
          <a:lstStyle/>
          <a:p>
            <a:fld id="{15A53053-5FBA-4483-975F-1BDB947D6188}" type="slidenum">
              <a:rPr lang="en-US" altLang="en-US"/>
              <a:pPr/>
              <a:t>67</a:t>
            </a:fld>
            <a:endParaRPr lang="en-US" altLang="en-US"/>
          </a:p>
        </p:txBody>
      </p:sp>
      <p:sp>
        <p:nvSpPr>
          <p:cNvPr id="580610" name="Rectangle 2"/>
          <p:cNvSpPr>
            <a:spLocks noGrp="1" noChangeArrowheads="1"/>
          </p:cNvSpPr>
          <p:nvPr>
            <p:ph type="title"/>
          </p:nvPr>
        </p:nvSpPr>
        <p:spPr/>
        <p:txBody>
          <a:bodyPr/>
          <a:lstStyle/>
          <a:p>
            <a:r>
              <a:rPr lang="en-US" altLang="en-US"/>
              <a:t>Comparing Memory Types</a:t>
            </a:r>
          </a:p>
        </p:txBody>
      </p:sp>
      <p:sp>
        <p:nvSpPr>
          <p:cNvPr id="580611" name="Rectangle 3"/>
          <p:cNvSpPr>
            <a:spLocks noGrp="1" noChangeArrowheads="1"/>
          </p:cNvSpPr>
          <p:nvPr>
            <p:ph type="body" idx="1"/>
          </p:nvPr>
        </p:nvSpPr>
        <p:spPr>
          <a:xfrm>
            <a:off x="228600" y="1219200"/>
            <a:ext cx="4627563" cy="4876800"/>
          </a:xfrm>
        </p:spPr>
        <p:txBody>
          <a:bodyPr/>
          <a:lstStyle/>
          <a:p>
            <a:pPr>
              <a:lnSpc>
                <a:spcPct val="90000"/>
              </a:lnSpc>
            </a:pPr>
            <a:r>
              <a:rPr lang="en-US" altLang="en-US" sz="2000"/>
              <a:t>Register file</a:t>
            </a:r>
          </a:p>
          <a:p>
            <a:pPr lvl="1">
              <a:lnSpc>
                <a:spcPct val="90000"/>
              </a:lnSpc>
            </a:pPr>
            <a:r>
              <a:rPr lang="en-US" altLang="en-US" sz="1800"/>
              <a:t>Fastest</a:t>
            </a:r>
          </a:p>
          <a:p>
            <a:pPr lvl="1">
              <a:lnSpc>
                <a:spcPct val="90000"/>
              </a:lnSpc>
            </a:pPr>
            <a:r>
              <a:rPr lang="en-US" altLang="en-US" sz="1800"/>
              <a:t>But biggest size</a:t>
            </a:r>
          </a:p>
          <a:p>
            <a:pPr>
              <a:lnSpc>
                <a:spcPct val="90000"/>
              </a:lnSpc>
            </a:pPr>
            <a:r>
              <a:rPr lang="en-US" altLang="en-US" sz="2000"/>
              <a:t>SRAM</a:t>
            </a:r>
          </a:p>
          <a:p>
            <a:pPr lvl="1">
              <a:lnSpc>
                <a:spcPct val="90000"/>
              </a:lnSpc>
            </a:pPr>
            <a:r>
              <a:rPr lang="en-US" altLang="en-US" sz="1800"/>
              <a:t>Fast</a:t>
            </a:r>
          </a:p>
          <a:p>
            <a:pPr lvl="1">
              <a:lnSpc>
                <a:spcPct val="90000"/>
              </a:lnSpc>
            </a:pPr>
            <a:r>
              <a:rPr lang="en-US" altLang="en-US" sz="1800"/>
              <a:t>More compact than register file</a:t>
            </a:r>
          </a:p>
          <a:p>
            <a:pPr>
              <a:lnSpc>
                <a:spcPct val="90000"/>
              </a:lnSpc>
            </a:pPr>
            <a:r>
              <a:rPr lang="en-US" altLang="en-US" sz="2000"/>
              <a:t>DRAM</a:t>
            </a:r>
          </a:p>
          <a:p>
            <a:pPr lvl="1">
              <a:lnSpc>
                <a:spcPct val="90000"/>
              </a:lnSpc>
            </a:pPr>
            <a:r>
              <a:rPr lang="en-US" altLang="en-US" sz="1800"/>
              <a:t>Slowest</a:t>
            </a:r>
          </a:p>
          <a:p>
            <a:pPr lvl="2">
              <a:lnSpc>
                <a:spcPct val="90000"/>
              </a:lnSpc>
            </a:pPr>
            <a:r>
              <a:rPr lang="en-US" altLang="en-US" sz="1600"/>
              <a:t>And refreshing takes time</a:t>
            </a:r>
          </a:p>
          <a:p>
            <a:pPr lvl="1">
              <a:lnSpc>
                <a:spcPct val="90000"/>
              </a:lnSpc>
            </a:pPr>
            <a:r>
              <a:rPr lang="en-US" altLang="en-US" sz="1800"/>
              <a:t>But very compact</a:t>
            </a:r>
          </a:p>
          <a:p>
            <a:pPr>
              <a:lnSpc>
                <a:spcPct val="90000"/>
              </a:lnSpc>
            </a:pPr>
            <a:r>
              <a:rPr lang="en-US" altLang="en-US" sz="2000"/>
              <a:t>Use register file for small items, SRAM for large items, and DRAM for huge items</a:t>
            </a:r>
          </a:p>
          <a:p>
            <a:pPr lvl="1">
              <a:lnSpc>
                <a:spcPct val="90000"/>
              </a:lnSpc>
            </a:pPr>
            <a:r>
              <a:rPr lang="en-US" altLang="en-US" sz="1800"/>
              <a:t>Note: DRAM’s big capacitor requires a special chip design process, so DRAM is often a separate chip</a:t>
            </a:r>
          </a:p>
        </p:txBody>
      </p:sp>
      <p:sp>
        <p:nvSpPr>
          <p:cNvPr id="580612" name="Rectangle 4"/>
          <p:cNvSpPr>
            <a:spLocks noChangeArrowheads="1"/>
          </p:cNvSpPr>
          <p:nvPr/>
        </p:nvSpPr>
        <p:spPr bwMode="auto">
          <a:xfrm>
            <a:off x="5556250" y="2281238"/>
            <a:ext cx="819150" cy="1349375"/>
          </a:xfrm>
          <a:prstGeom prst="rect">
            <a:avLst/>
          </a:prstGeom>
          <a:solidFill>
            <a:srgbClr val="7BA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80613" name="Rectangle 5"/>
          <p:cNvSpPr>
            <a:spLocks noChangeArrowheads="1"/>
          </p:cNvSpPr>
          <p:nvPr/>
        </p:nvSpPr>
        <p:spPr bwMode="auto">
          <a:xfrm>
            <a:off x="6608763" y="2781300"/>
            <a:ext cx="817562" cy="849313"/>
          </a:xfrm>
          <a:prstGeom prst="rect">
            <a:avLst/>
          </a:prstGeom>
          <a:solidFill>
            <a:srgbClr val="7BA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80614" name="Rectangle 6"/>
          <p:cNvSpPr>
            <a:spLocks noChangeArrowheads="1"/>
          </p:cNvSpPr>
          <p:nvPr/>
        </p:nvSpPr>
        <p:spPr bwMode="auto">
          <a:xfrm>
            <a:off x="7670800" y="3217863"/>
            <a:ext cx="396875" cy="412750"/>
          </a:xfrm>
          <a:prstGeom prst="rect">
            <a:avLst/>
          </a:prstGeom>
          <a:solidFill>
            <a:srgbClr val="7BACD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80615" name="Rectangle 7"/>
          <p:cNvSpPr>
            <a:spLocks noChangeArrowheads="1"/>
          </p:cNvSpPr>
          <p:nvPr/>
        </p:nvSpPr>
        <p:spPr bwMode="auto">
          <a:xfrm>
            <a:off x="5357813" y="1273175"/>
            <a:ext cx="2903537" cy="2560638"/>
          </a:xfrm>
          <a:prstGeom prst="rect">
            <a:avLst/>
          </a:prstGeom>
          <a:noFill/>
          <a:ln w="19050">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0616" name="Rectangle 8"/>
          <p:cNvSpPr>
            <a:spLocks noChangeArrowheads="1"/>
          </p:cNvSpPr>
          <p:nvPr/>
        </p:nvSpPr>
        <p:spPr bwMode="auto">
          <a:xfrm>
            <a:off x="6348413" y="1406525"/>
            <a:ext cx="9842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MxN Memory</a:t>
            </a:r>
            <a:endParaRPr lang="en-US" altLang="en-US" sz="2400"/>
          </a:p>
        </p:txBody>
      </p:sp>
      <p:sp>
        <p:nvSpPr>
          <p:cNvPr id="580621" name="Rectangle 13"/>
          <p:cNvSpPr>
            <a:spLocks noChangeArrowheads="1"/>
          </p:cNvSpPr>
          <p:nvPr/>
        </p:nvSpPr>
        <p:spPr bwMode="auto">
          <a:xfrm>
            <a:off x="6199188" y="1587500"/>
            <a:ext cx="135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implemented as a:</a:t>
            </a:r>
            <a:endParaRPr lang="en-US" altLang="en-US" sz="2400"/>
          </a:p>
        </p:txBody>
      </p:sp>
      <p:sp>
        <p:nvSpPr>
          <p:cNvPr id="580625" name="Rectangle 17"/>
          <p:cNvSpPr>
            <a:spLocks noChangeArrowheads="1"/>
          </p:cNvSpPr>
          <p:nvPr/>
        </p:nvSpPr>
        <p:spPr bwMode="auto">
          <a:xfrm>
            <a:off x="5721350" y="1870075"/>
            <a:ext cx="5524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register</a:t>
            </a:r>
            <a:endParaRPr lang="en-US" altLang="en-US" sz="2400"/>
          </a:p>
        </p:txBody>
      </p:sp>
      <p:sp>
        <p:nvSpPr>
          <p:cNvPr id="580631" name="Rectangle 23"/>
          <p:cNvSpPr>
            <a:spLocks noChangeArrowheads="1"/>
          </p:cNvSpPr>
          <p:nvPr/>
        </p:nvSpPr>
        <p:spPr bwMode="auto">
          <a:xfrm>
            <a:off x="5872163" y="2060575"/>
            <a:ext cx="2206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file</a:t>
            </a:r>
            <a:endParaRPr lang="en-US" altLang="en-US" sz="2400"/>
          </a:p>
        </p:txBody>
      </p:sp>
      <p:sp>
        <p:nvSpPr>
          <p:cNvPr id="580632" name="Rectangle 24"/>
          <p:cNvSpPr>
            <a:spLocks noChangeArrowheads="1"/>
          </p:cNvSpPr>
          <p:nvPr/>
        </p:nvSpPr>
        <p:spPr bwMode="auto">
          <a:xfrm>
            <a:off x="6829425" y="2557463"/>
            <a:ext cx="4762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SRAM</a:t>
            </a:r>
            <a:endParaRPr lang="en-US" altLang="en-US" sz="2400"/>
          </a:p>
        </p:txBody>
      </p:sp>
      <p:sp>
        <p:nvSpPr>
          <p:cNvPr id="580636" name="Rectangle 28"/>
          <p:cNvSpPr>
            <a:spLocks noChangeArrowheads="1"/>
          </p:cNvSpPr>
          <p:nvPr/>
        </p:nvSpPr>
        <p:spPr bwMode="auto">
          <a:xfrm>
            <a:off x="7662863" y="2981325"/>
            <a:ext cx="4857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DRAM</a:t>
            </a:r>
            <a:endParaRPr lang="en-US" altLang="en-US" sz="2400"/>
          </a:p>
        </p:txBody>
      </p:sp>
      <p:sp>
        <p:nvSpPr>
          <p:cNvPr id="580640" name="Text Box 32"/>
          <p:cNvSpPr txBox="1">
            <a:spLocks noChangeArrowheads="1"/>
          </p:cNvSpPr>
          <p:nvPr/>
        </p:nvSpPr>
        <p:spPr bwMode="auto">
          <a:xfrm>
            <a:off x="5418138" y="3835400"/>
            <a:ext cx="2768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Size comparison for same</a:t>
            </a:r>
          </a:p>
          <a:p>
            <a:r>
              <a:rPr lang="en-US" altLang="en-US" sz="1800"/>
              <a:t>number of bits (not to scale)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Slide Number Placeholder 3"/>
          <p:cNvSpPr>
            <a:spLocks noGrp="1"/>
          </p:cNvSpPr>
          <p:nvPr>
            <p:ph type="sldNum" sz="quarter" idx="10"/>
          </p:nvPr>
        </p:nvSpPr>
        <p:spPr/>
        <p:txBody>
          <a:bodyPr/>
          <a:lstStyle/>
          <a:p>
            <a:fld id="{91CF1083-1417-4026-AB84-E9E3DBE766FA}" type="slidenum">
              <a:rPr lang="en-US" altLang="en-US"/>
              <a:pPr/>
              <a:t>68</a:t>
            </a:fld>
            <a:endParaRPr lang="en-US" altLang="en-US"/>
          </a:p>
        </p:txBody>
      </p:sp>
      <p:sp>
        <p:nvSpPr>
          <p:cNvPr id="584706" name="Rectangle 2"/>
          <p:cNvSpPr>
            <a:spLocks noGrp="1" noChangeArrowheads="1"/>
          </p:cNvSpPr>
          <p:nvPr>
            <p:ph type="title"/>
          </p:nvPr>
        </p:nvSpPr>
        <p:spPr/>
        <p:txBody>
          <a:bodyPr/>
          <a:lstStyle/>
          <a:p>
            <a:r>
              <a:rPr lang="en-US" altLang="en-US"/>
              <a:t>Reading and Writing a RAM</a:t>
            </a:r>
          </a:p>
        </p:txBody>
      </p:sp>
      <p:sp>
        <p:nvSpPr>
          <p:cNvPr id="584707" name="Rectangle 3"/>
          <p:cNvSpPr>
            <a:spLocks noGrp="1" noChangeArrowheads="1"/>
          </p:cNvSpPr>
          <p:nvPr>
            <p:ph type="body" idx="1"/>
          </p:nvPr>
        </p:nvSpPr>
        <p:spPr>
          <a:xfrm>
            <a:off x="263525" y="3817938"/>
            <a:ext cx="8658225" cy="2289175"/>
          </a:xfrm>
        </p:spPr>
        <p:txBody>
          <a:bodyPr/>
          <a:lstStyle/>
          <a:p>
            <a:r>
              <a:rPr lang="en-US" altLang="en-US" sz="1800"/>
              <a:t>Writing</a:t>
            </a:r>
          </a:p>
          <a:p>
            <a:pPr lvl="1"/>
            <a:r>
              <a:rPr lang="en-US" altLang="en-US" sz="1600"/>
              <a:t>Put address on </a:t>
            </a:r>
            <a:r>
              <a:rPr lang="en-US" altLang="en-US" sz="1600" i="1"/>
              <a:t>addr</a:t>
            </a:r>
            <a:r>
              <a:rPr lang="en-US" altLang="en-US" sz="1600"/>
              <a:t> lines, data on </a:t>
            </a:r>
            <a:r>
              <a:rPr lang="en-US" altLang="en-US" sz="1600" i="1"/>
              <a:t>data </a:t>
            </a:r>
            <a:r>
              <a:rPr lang="en-US" altLang="en-US" sz="1600"/>
              <a:t>lines, set </a:t>
            </a:r>
            <a:r>
              <a:rPr lang="en-US" altLang="en-US" sz="1600" i="1"/>
              <a:t>rw=1</a:t>
            </a:r>
            <a:r>
              <a:rPr lang="en-US" altLang="en-US" sz="1600"/>
              <a:t>, </a:t>
            </a:r>
            <a:r>
              <a:rPr lang="en-US" altLang="en-US" sz="1600" i="1"/>
              <a:t>en=1</a:t>
            </a:r>
          </a:p>
          <a:p>
            <a:r>
              <a:rPr lang="en-US" altLang="en-US" sz="1800"/>
              <a:t>Reading</a:t>
            </a:r>
          </a:p>
          <a:p>
            <a:pPr lvl="1"/>
            <a:r>
              <a:rPr lang="en-US" altLang="en-US" sz="1600"/>
              <a:t>Set </a:t>
            </a:r>
            <a:r>
              <a:rPr lang="en-US" altLang="en-US" sz="1600" i="1"/>
              <a:t>addr</a:t>
            </a:r>
            <a:r>
              <a:rPr lang="en-US" altLang="en-US" sz="1600"/>
              <a:t> and </a:t>
            </a:r>
            <a:r>
              <a:rPr lang="en-US" altLang="en-US" sz="1600" i="1"/>
              <a:t>en</a:t>
            </a:r>
            <a:r>
              <a:rPr lang="en-US" altLang="en-US" sz="1600"/>
              <a:t> lines, but put nothing (Z) on </a:t>
            </a:r>
            <a:r>
              <a:rPr lang="en-US" altLang="en-US" sz="1600" i="1"/>
              <a:t>data</a:t>
            </a:r>
            <a:r>
              <a:rPr lang="en-US" altLang="en-US" sz="1600"/>
              <a:t> lines, set </a:t>
            </a:r>
            <a:r>
              <a:rPr lang="en-US" altLang="en-US" sz="1600" i="1"/>
              <a:t>rw=0</a:t>
            </a:r>
          </a:p>
          <a:p>
            <a:pPr lvl="1"/>
            <a:r>
              <a:rPr lang="en-US" altLang="en-US" sz="1600"/>
              <a:t>Data will appear on </a:t>
            </a:r>
            <a:r>
              <a:rPr lang="en-US" altLang="en-US" sz="1600" i="1"/>
              <a:t>data</a:t>
            </a:r>
            <a:r>
              <a:rPr lang="en-US" altLang="en-US" sz="1600"/>
              <a:t> lines</a:t>
            </a:r>
          </a:p>
          <a:p>
            <a:r>
              <a:rPr lang="en-US" altLang="en-US" sz="1800"/>
              <a:t>Don’t forget to obey setup and hold times</a:t>
            </a:r>
          </a:p>
          <a:p>
            <a:pPr lvl="1"/>
            <a:r>
              <a:rPr lang="en-US" altLang="en-US" sz="1600"/>
              <a:t>In short – keep inputs stable before and after a clock edge</a:t>
            </a:r>
          </a:p>
          <a:p>
            <a:endParaRPr lang="en-US" altLang="en-US" sz="1800"/>
          </a:p>
        </p:txBody>
      </p:sp>
      <p:pic>
        <p:nvPicPr>
          <p:cNvPr id="584844" name="Picture 1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7800" y="1131888"/>
            <a:ext cx="15875" cy="272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4845" name="Picture 1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9263" y="1131888"/>
            <a:ext cx="17462" cy="272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4846" name="Picture 1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963" y="1131888"/>
            <a:ext cx="17462" cy="272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4847" name="Picture 1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3550" y="3209925"/>
            <a:ext cx="633413" cy="22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4848" name="Picture 14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075" y="3209925"/>
            <a:ext cx="631825" cy="227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4849" name="Picture 1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6800" y="2355850"/>
            <a:ext cx="333375" cy="47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4850" name="Picture 14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5700" y="2941638"/>
            <a:ext cx="17463" cy="546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4851" name="Picture 1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35700" y="1220788"/>
            <a:ext cx="17463" cy="439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4852" name="Picture 14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70750" y="1225550"/>
            <a:ext cx="15875" cy="227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84856" name="Line 152"/>
          <p:cNvSpPr>
            <a:spLocks noChangeShapeType="1"/>
          </p:cNvSpPr>
          <p:nvPr/>
        </p:nvSpPr>
        <p:spPr bwMode="auto">
          <a:xfrm flipH="1">
            <a:off x="6367463" y="2146300"/>
            <a:ext cx="158750" cy="1588"/>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57" name="Freeform 153"/>
          <p:cNvSpPr>
            <a:spLocks/>
          </p:cNvSpPr>
          <p:nvPr/>
        </p:nvSpPr>
        <p:spPr bwMode="auto">
          <a:xfrm>
            <a:off x="6256338" y="2111375"/>
            <a:ext cx="141287" cy="69850"/>
          </a:xfrm>
          <a:custGeom>
            <a:avLst/>
            <a:gdLst>
              <a:gd name="T0" fmla="*/ 0 w 89"/>
              <a:gd name="T1" fmla="*/ 22 h 44"/>
              <a:gd name="T2" fmla="*/ 89 w 89"/>
              <a:gd name="T3" fmla="*/ 44 h 44"/>
              <a:gd name="T4" fmla="*/ 89 w 89"/>
              <a:gd name="T5" fmla="*/ 0 h 44"/>
              <a:gd name="T6" fmla="*/ 0 w 89"/>
              <a:gd name="T7" fmla="*/ 22 h 44"/>
            </a:gdLst>
            <a:ahLst/>
            <a:cxnLst>
              <a:cxn ang="0">
                <a:pos x="T0" y="T1"/>
              </a:cxn>
              <a:cxn ang="0">
                <a:pos x="T2" y="T3"/>
              </a:cxn>
              <a:cxn ang="0">
                <a:pos x="T4" y="T5"/>
              </a:cxn>
              <a:cxn ang="0">
                <a:pos x="T6" y="T7"/>
              </a:cxn>
            </a:cxnLst>
            <a:rect l="0" t="0" r="r" b="b"/>
            <a:pathLst>
              <a:path w="89" h="44">
                <a:moveTo>
                  <a:pt x="0" y="22"/>
                </a:moveTo>
                <a:lnTo>
                  <a:pt x="89" y="44"/>
                </a:lnTo>
                <a:lnTo>
                  <a:pt x="89" y="0"/>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4858" name="Line 154"/>
          <p:cNvSpPr>
            <a:spLocks noChangeShapeType="1"/>
          </p:cNvSpPr>
          <p:nvPr/>
        </p:nvSpPr>
        <p:spPr bwMode="auto">
          <a:xfrm flipH="1">
            <a:off x="6367463" y="2938463"/>
            <a:ext cx="158750" cy="1587"/>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59" name="Freeform 155"/>
          <p:cNvSpPr>
            <a:spLocks/>
          </p:cNvSpPr>
          <p:nvPr/>
        </p:nvSpPr>
        <p:spPr bwMode="auto">
          <a:xfrm>
            <a:off x="6256338" y="2903538"/>
            <a:ext cx="141287" cy="69850"/>
          </a:xfrm>
          <a:custGeom>
            <a:avLst/>
            <a:gdLst>
              <a:gd name="T0" fmla="*/ 0 w 89"/>
              <a:gd name="T1" fmla="*/ 22 h 44"/>
              <a:gd name="T2" fmla="*/ 89 w 89"/>
              <a:gd name="T3" fmla="*/ 44 h 44"/>
              <a:gd name="T4" fmla="*/ 89 w 89"/>
              <a:gd name="T5" fmla="*/ 0 h 44"/>
              <a:gd name="T6" fmla="*/ 0 w 89"/>
              <a:gd name="T7" fmla="*/ 22 h 44"/>
            </a:gdLst>
            <a:ahLst/>
            <a:cxnLst>
              <a:cxn ang="0">
                <a:pos x="T0" y="T1"/>
              </a:cxn>
              <a:cxn ang="0">
                <a:pos x="T2" y="T3"/>
              </a:cxn>
              <a:cxn ang="0">
                <a:pos x="T4" y="T5"/>
              </a:cxn>
              <a:cxn ang="0">
                <a:pos x="T6" y="T7"/>
              </a:cxn>
            </a:cxnLst>
            <a:rect l="0" t="0" r="r" b="b"/>
            <a:pathLst>
              <a:path w="89" h="44">
                <a:moveTo>
                  <a:pt x="0" y="22"/>
                </a:moveTo>
                <a:lnTo>
                  <a:pt x="89" y="44"/>
                </a:lnTo>
                <a:lnTo>
                  <a:pt x="89" y="0"/>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4860" name="Line 156"/>
          <p:cNvSpPr>
            <a:spLocks noChangeShapeType="1"/>
          </p:cNvSpPr>
          <p:nvPr/>
        </p:nvSpPr>
        <p:spPr bwMode="auto">
          <a:xfrm flipH="1">
            <a:off x="7986713" y="3213100"/>
            <a:ext cx="152400" cy="1588"/>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61" name="Freeform 157"/>
          <p:cNvSpPr>
            <a:spLocks/>
          </p:cNvSpPr>
          <p:nvPr/>
        </p:nvSpPr>
        <p:spPr bwMode="auto">
          <a:xfrm>
            <a:off x="7875588" y="3178175"/>
            <a:ext cx="139700" cy="71438"/>
          </a:xfrm>
          <a:custGeom>
            <a:avLst/>
            <a:gdLst>
              <a:gd name="T0" fmla="*/ 0 w 88"/>
              <a:gd name="T1" fmla="*/ 22 h 45"/>
              <a:gd name="T2" fmla="*/ 88 w 88"/>
              <a:gd name="T3" fmla="*/ 45 h 45"/>
              <a:gd name="T4" fmla="*/ 88 w 88"/>
              <a:gd name="T5" fmla="*/ 0 h 45"/>
              <a:gd name="T6" fmla="*/ 0 w 88"/>
              <a:gd name="T7" fmla="*/ 22 h 45"/>
            </a:gdLst>
            <a:ahLst/>
            <a:cxnLst>
              <a:cxn ang="0">
                <a:pos x="T0" y="T1"/>
              </a:cxn>
              <a:cxn ang="0">
                <a:pos x="T2" y="T3"/>
              </a:cxn>
              <a:cxn ang="0">
                <a:pos x="T4" y="T5"/>
              </a:cxn>
              <a:cxn ang="0">
                <a:pos x="T6" y="T7"/>
              </a:cxn>
            </a:cxnLst>
            <a:rect l="0" t="0" r="r" b="b"/>
            <a:pathLst>
              <a:path w="88" h="45">
                <a:moveTo>
                  <a:pt x="0" y="22"/>
                </a:moveTo>
                <a:lnTo>
                  <a:pt x="88" y="45"/>
                </a:lnTo>
                <a:lnTo>
                  <a:pt x="88" y="0"/>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4862" name="Line 158"/>
          <p:cNvSpPr>
            <a:spLocks noChangeShapeType="1"/>
          </p:cNvSpPr>
          <p:nvPr/>
        </p:nvSpPr>
        <p:spPr bwMode="auto">
          <a:xfrm>
            <a:off x="7318375" y="3213100"/>
            <a:ext cx="157163" cy="1588"/>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63" name="Freeform 159"/>
          <p:cNvSpPr>
            <a:spLocks/>
          </p:cNvSpPr>
          <p:nvPr/>
        </p:nvSpPr>
        <p:spPr bwMode="auto">
          <a:xfrm>
            <a:off x="7446963" y="3178175"/>
            <a:ext cx="141287" cy="71438"/>
          </a:xfrm>
          <a:custGeom>
            <a:avLst/>
            <a:gdLst>
              <a:gd name="T0" fmla="*/ 89 w 89"/>
              <a:gd name="T1" fmla="*/ 22 h 45"/>
              <a:gd name="T2" fmla="*/ 0 w 89"/>
              <a:gd name="T3" fmla="*/ 45 h 45"/>
              <a:gd name="T4" fmla="*/ 0 w 89"/>
              <a:gd name="T5" fmla="*/ 0 h 45"/>
              <a:gd name="T6" fmla="*/ 89 w 89"/>
              <a:gd name="T7" fmla="*/ 22 h 45"/>
            </a:gdLst>
            <a:ahLst/>
            <a:cxnLst>
              <a:cxn ang="0">
                <a:pos x="T0" y="T1"/>
              </a:cxn>
              <a:cxn ang="0">
                <a:pos x="T2" y="T3"/>
              </a:cxn>
              <a:cxn ang="0">
                <a:pos x="T4" y="T5"/>
              </a:cxn>
              <a:cxn ang="0">
                <a:pos x="T6" y="T7"/>
              </a:cxn>
            </a:cxnLst>
            <a:rect l="0" t="0" r="r" b="b"/>
            <a:pathLst>
              <a:path w="89" h="45">
                <a:moveTo>
                  <a:pt x="89" y="22"/>
                </a:moveTo>
                <a:lnTo>
                  <a:pt x="0" y="45"/>
                </a:lnTo>
                <a:lnTo>
                  <a:pt x="0" y="0"/>
                </a:lnTo>
                <a:lnTo>
                  <a:pt x="89"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4864" name="Line 160"/>
          <p:cNvSpPr>
            <a:spLocks noChangeShapeType="1"/>
          </p:cNvSpPr>
          <p:nvPr/>
        </p:nvSpPr>
        <p:spPr bwMode="auto">
          <a:xfrm>
            <a:off x="5740400" y="2938463"/>
            <a:ext cx="152400" cy="1587"/>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65" name="Freeform 161"/>
          <p:cNvSpPr>
            <a:spLocks/>
          </p:cNvSpPr>
          <p:nvPr/>
        </p:nvSpPr>
        <p:spPr bwMode="auto">
          <a:xfrm>
            <a:off x="5870575" y="2903538"/>
            <a:ext cx="139700" cy="69850"/>
          </a:xfrm>
          <a:custGeom>
            <a:avLst/>
            <a:gdLst>
              <a:gd name="T0" fmla="*/ 88 w 88"/>
              <a:gd name="T1" fmla="*/ 22 h 44"/>
              <a:gd name="T2" fmla="*/ 0 w 88"/>
              <a:gd name="T3" fmla="*/ 44 h 44"/>
              <a:gd name="T4" fmla="*/ 0 w 88"/>
              <a:gd name="T5" fmla="*/ 0 h 44"/>
              <a:gd name="T6" fmla="*/ 88 w 88"/>
              <a:gd name="T7" fmla="*/ 22 h 44"/>
            </a:gdLst>
            <a:ahLst/>
            <a:cxnLst>
              <a:cxn ang="0">
                <a:pos x="T0" y="T1"/>
              </a:cxn>
              <a:cxn ang="0">
                <a:pos x="T2" y="T3"/>
              </a:cxn>
              <a:cxn ang="0">
                <a:pos x="T4" y="T5"/>
              </a:cxn>
              <a:cxn ang="0">
                <a:pos x="T6" y="T7"/>
              </a:cxn>
            </a:cxnLst>
            <a:rect l="0" t="0" r="r" b="b"/>
            <a:pathLst>
              <a:path w="88" h="44">
                <a:moveTo>
                  <a:pt x="88" y="22"/>
                </a:moveTo>
                <a:lnTo>
                  <a:pt x="0" y="44"/>
                </a:lnTo>
                <a:lnTo>
                  <a:pt x="0" y="0"/>
                </a:lnTo>
                <a:lnTo>
                  <a:pt x="88"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4866" name="Line 162"/>
          <p:cNvSpPr>
            <a:spLocks noChangeShapeType="1"/>
          </p:cNvSpPr>
          <p:nvPr/>
        </p:nvSpPr>
        <p:spPr bwMode="auto">
          <a:xfrm flipH="1">
            <a:off x="6643688" y="2674938"/>
            <a:ext cx="152400" cy="1587"/>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67" name="Freeform 163"/>
          <p:cNvSpPr>
            <a:spLocks/>
          </p:cNvSpPr>
          <p:nvPr/>
        </p:nvSpPr>
        <p:spPr bwMode="auto">
          <a:xfrm>
            <a:off x="6532563" y="2633663"/>
            <a:ext cx="141287" cy="69850"/>
          </a:xfrm>
          <a:custGeom>
            <a:avLst/>
            <a:gdLst>
              <a:gd name="T0" fmla="*/ 0 w 89"/>
              <a:gd name="T1" fmla="*/ 22 h 44"/>
              <a:gd name="T2" fmla="*/ 89 w 89"/>
              <a:gd name="T3" fmla="*/ 44 h 44"/>
              <a:gd name="T4" fmla="*/ 89 w 89"/>
              <a:gd name="T5" fmla="*/ 0 h 44"/>
              <a:gd name="T6" fmla="*/ 0 w 89"/>
              <a:gd name="T7" fmla="*/ 22 h 44"/>
            </a:gdLst>
            <a:ahLst/>
            <a:cxnLst>
              <a:cxn ang="0">
                <a:pos x="T0" y="T1"/>
              </a:cxn>
              <a:cxn ang="0">
                <a:pos x="T2" y="T3"/>
              </a:cxn>
              <a:cxn ang="0">
                <a:pos x="T4" y="T5"/>
              </a:cxn>
              <a:cxn ang="0">
                <a:pos x="T6" y="T7"/>
              </a:cxn>
            </a:cxnLst>
            <a:rect l="0" t="0" r="r" b="b"/>
            <a:pathLst>
              <a:path w="89" h="44">
                <a:moveTo>
                  <a:pt x="0" y="22"/>
                </a:moveTo>
                <a:lnTo>
                  <a:pt x="89" y="44"/>
                </a:lnTo>
                <a:lnTo>
                  <a:pt x="89" y="0"/>
                </a:lnTo>
                <a:lnTo>
                  <a:pt x="0"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4868" name="Line 164"/>
          <p:cNvSpPr>
            <a:spLocks noChangeShapeType="1"/>
          </p:cNvSpPr>
          <p:nvPr/>
        </p:nvSpPr>
        <p:spPr bwMode="auto">
          <a:xfrm>
            <a:off x="5975350" y="2674938"/>
            <a:ext cx="152400" cy="1587"/>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69" name="Freeform 165"/>
          <p:cNvSpPr>
            <a:spLocks/>
          </p:cNvSpPr>
          <p:nvPr/>
        </p:nvSpPr>
        <p:spPr bwMode="auto">
          <a:xfrm>
            <a:off x="6103938" y="2633663"/>
            <a:ext cx="141287" cy="69850"/>
          </a:xfrm>
          <a:custGeom>
            <a:avLst/>
            <a:gdLst>
              <a:gd name="T0" fmla="*/ 89 w 89"/>
              <a:gd name="T1" fmla="*/ 22 h 44"/>
              <a:gd name="T2" fmla="*/ 0 w 89"/>
              <a:gd name="T3" fmla="*/ 44 h 44"/>
              <a:gd name="T4" fmla="*/ 0 w 89"/>
              <a:gd name="T5" fmla="*/ 0 h 44"/>
              <a:gd name="T6" fmla="*/ 89 w 89"/>
              <a:gd name="T7" fmla="*/ 22 h 44"/>
            </a:gdLst>
            <a:ahLst/>
            <a:cxnLst>
              <a:cxn ang="0">
                <a:pos x="T0" y="T1"/>
              </a:cxn>
              <a:cxn ang="0">
                <a:pos x="T2" y="T3"/>
              </a:cxn>
              <a:cxn ang="0">
                <a:pos x="T4" y="T5"/>
              </a:cxn>
              <a:cxn ang="0">
                <a:pos x="T6" y="T7"/>
              </a:cxn>
            </a:cxnLst>
            <a:rect l="0" t="0" r="r" b="b"/>
            <a:pathLst>
              <a:path w="89" h="44">
                <a:moveTo>
                  <a:pt x="89" y="22"/>
                </a:moveTo>
                <a:lnTo>
                  <a:pt x="0" y="44"/>
                </a:lnTo>
                <a:lnTo>
                  <a:pt x="0" y="0"/>
                </a:lnTo>
                <a:lnTo>
                  <a:pt x="89"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4870" name="Line 166"/>
          <p:cNvSpPr>
            <a:spLocks noChangeShapeType="1"/>
          </p:cNvSpPr>
          <p:nvPr/>
        </p:nvSpPr>
        <p:spPr bwMode="auto">
          <a:xfrm>
            <a:off x="5565775" y="2146300"/>
            <a:ext cx="157163" cy="1588"/>
          </a:xfrm>
          <a:prstGeom prst="line">
            <a:avLst/>
          </a:prstGeom>
          <a:noFill/>
          <a:ln w="174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71" name="Freeform 167"/>
          <p:cNvSpPr>
            <a:spLocks/>
          </p:cNvSpPr>
          <p:nvPr/>
        </p:nvSpPr>
        <p:spPr bwMode="auto">
          <a:xfrm>
            <a:off x="5694363" y="2111375"/>
            <a:ext cx="139700" cy="69850"/>
          </a:xfrm>
          <a:custGeom>
            <a:avLst/>
            <a:gdLst>
              <a:gd name="T0" fmla="*/ 88 w 88"/>
              <a:gd name="T1" fmla="*/ 22 h 44"/>
              <a:gd name="T2" fmla="*/ 0 w 88"/>
              <a:gd name="T3" fmla="*/ 44 h 44"/>
              <a:gd name="T4" fmla="*/ 0 w 88"/>
              <a:gd name="T5" fmla="*/ 0 h 44"/>
              <a:gd name="T6" fmla="*/ 88 w 88"/>
              <a:gd name="T7" fmla="*/ 22 h 44"/>
            </a:gdLst>
            <a:ahLst/>
            <a:cxnLst>
              <a:cxn ang="0">
                <a:pos x="T0" y="T1"/>
              </a:cxn>
              <a:cxn ang="0">
                <a:pos x="T2" y="T3"/>
              </a:cxn>
              <a:cxn ang="0">
                <a:pos x="T4" y="T5"/>
              </a:cxn>
              <a:cxn ang="0">
                <a:pos x="T6" y="T7"/>
              </a:cxn>
            </a:cxnLst>
            <a:rect l="0" t="0" r="r" b="b"/>
            <a:pathLst>
              <a:path w="88" h="44">
                <a:moveTo>
                  <a:pt x="88" y="22"/>
                </a:moveTo>
                <a:lnTo>
                  <a:pt x="0" y="44"/>
                </a:lnTo>
                <a:lnTo>
                  <a:pt x="0" y="0"/>
                </a:lnTo>
                <a:lnTo>
                  <a:pt x="88" y="2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4872" name="Freeform 168"/>
          <p:cNvSpPr>
            <a:spLocks/>
          </p:cNvSpPr>
          <p:nvPr/>
        </p:nvSpPr>
        <p:spPr bwMode="auto">
          <a:xfrm>
            <a:off x="1057275" y="1138238"/>
            <a:ext cx="3030538" cy="252412"/>
          </a:xfrm>
          <a:custGeom>
            <a:avLst/>
            <a:gdLst>
              <a:gd name="T0" fmla="*/ 1909 w 1909"/>
              <a:gd name="T1" fmla="*/ 159 h 159"/>
              <a:gd name="T2" fmla="*/ 1909 w 1909"/>
              <a:gd name="T3" fmla="*/ 0 h 159"/>
              <a:gd name="T4" fmla="*/ 1850 w 1909"/>
              <a:gd name="T5" fmla="*/ 0 h 159"/>
              <a:gd name="T6" fmla="*/ 1850 w 1909"/>
              <a:gd name="T7" fmla="*/ 159 h 159"/>
              <a:gd name="T8" fmla="*/ 1281 w 1909"/>
              <a:gd name="T9" fmla="*/ 159 h 159"/>
              <a:gd name="T10" fmla="*/ 1281 w 1909"/>
              <a:gd name="T11" fmla="*/ 0 h 159"/>
              <a:gd name="T12" fmla="*/ 1222 w 1909"/>
              <a:gd name="T13" fmla="*/ 0 h 159"/>
              <a:gd name="T14" fmla="*/ 1222 w 1909"/>
              <a:gd name="T15" fmla="*/ 159 h 159"/>
              <a:gd name="T16" fmla="*/ 646 w 1909"/>
              <a:gd name="T17" fmla="*/ 159 h 159"/>
              <a:gd name="T18" fmla="*/ 646 w 1909"/>
              <a:gd name="T19" fmla="*/ 0 h 159"/>
              <a:gd name="T20" fmla="*/ 587 w 1909"/>
              <a:gd name="T21" fmla="*/ 0 h 159"/>
              <a:gd name="T22" fmla="*/ 587 w 1909"/>
              <a:gd name="T23" fmla="*/ 159 h 159"/>
              <a:gd name="T24" fmla="*/ 0 w 1909"/>
              <a:gd name="T25" fmla="*/ 15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09" h="159">
                <a:moveTo>
                  <a:pt x="1909" y="159"/>
                </a:moveTo>
                <a:lnTo>
                  <a:pt x="1909" y="0"/>
                </a:lnTo>
                <a:lnTo>
                  <a:pt x="1850" y="0"/>
                </a:lnTo>
                <a:lnTo>
                  <a:pt x="1850" y="159"/>
                </a:lnTo>
                <a:lnTo>
                  <a:pt x="1281" y="159"/>
                </a:lnTo>
                <a:lnTo>
                  <a:pt x="1281" y="0"/>
                </a:lnTo>
                <a:lnTo>
                  <a:pt x="1222" y="0"/>
                </a:lnTo>
                <a:lnTo>
                  <a:pt x="1222" y="159"/>
                </a:lnTo>
                <a:lnTo>
                  <a:pt x="646" y="159"/>
                </a:lnTo>
                <a:lnTo>
                  <a:pt x="646" y="0"/>
                </a:lnTo>
                <a:lnTo>
                  <a:pt x="587" y="0"/>
                </a:lnTo>
                <a:lnTo>
                  <a:pt x="587" y="159"/>
                </a:lnTo>
                <a:lnTo>
                  <a:pt x="0" y="159"/>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73" name="Freeform 169"/>
          <p:cNvSpPr>
            <a:spLocks/>
          </p:cNvSpPr>
          <p:nvPr/>
        </p:nvSpPr>
        <p:spPr bwMode="auto">
          <a:xfrm>
            <a:off x="1068388" y="2193925"/>
            <a:ext cx="3289300" cy="339725"/>
          </a:xfrm>
          <a:custGeom>
            <a:avLst/>
            <a:gdLst>
              <a:gd name="T0" fmla="*/ 0 w 2072"/>
              <a:gd name="T1" fmla="*/ 0 h 214"/>
              <a:gd name="T2" fmla="*/ 107 w 2072"/>
              <a:gd name="T3" fmla="*/ 214 h 214"/>
              <a:gd name="T4" fmla="*/ 680 w 2072"/>
              <a:gd name="T5" fmla="*/ 214 h 214"/>
              <a:gd name="T6" fmla="*/ 787 w 2072"/>
              <a:gd name="T7" fmla="*/ 0 h 214"/>
              <a:gd name="T8" fmla="*/ 1374 w 2072"/>
              <a:gd name="T9" fmla="*/ 0 h 214"/>
              <a:gd name="T10" fmla="*/ 1481 w 2072"/>
              <a:gd name="T11" fmla="*/ 214 h 214"/>
              <a:gd name="T12" fmla="*/ 1647 w 2072"/>
              <a:gd name="T13" fmla="*/ 214 h 214"/>
              <a:gd name="T14" fmla="*/ 1754 w 2072"/>
              <a:gd name="T15" fmla="*/ 0 h 214"/>
              <a:gd name="T16" fmla="*/ 2072 w 2072"/>
              <a:gd name="T17"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2" h="214">
                <a:moveTo>
                  <a:pt x="0" y="0"/>
                </a:moveTo>
                <a:lnTo>
                  <a:pt x="107" y="214"/>
                </a:lnTo>
                <a:lnTo>
                  <a:pt x="680" y="214"/>
                </a:lnTo>
                <a:lnTo>
                  <a:pt x="787" y="0"/>
                </a:lnTo>
                <a:lnTo>
                  <a:pt x="1374" y="0"/>
                </a:lnTo>
                <a:lnTo>
                  <a:pt x="1481" y="214"/>
                </a:lnTo>
                <a:lnTo>
                  <a:pt x="1647" y="214"/>
                </a:lnTo>
                <a:lnTo>
                  <a:pt x="1754" y="0"/>
                </a:lnTo>
                <a:lnTo>
                  <a:pt x="2072" y="0"/>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74" name="Freeform 170"/>
          <p:cNvSpPr>
            <a:spLocks/>
          </p:cNvSpPr>
          <p:nvPr/>
        </p:nvSpPr>
        <p:spPr bwMode="auto">
          <a:xfrm>
            <a:off x="1062038" y="2193925"/>
            <a:ext cx="3295650" cy="339725"/>
          </a:xfrm>
          <a:custGeom>
            <a:avLst/>
            <a:gdLst>
              <a:gd name="T0" fmla="*/ 0 w 2076"/>
              <a:gd name="T1" fmla="*/ 214 h 214"/>
              <a:gd name="T2" fmla="*/ 107 w 2076"/>
              <a:gd name="T3" fmla="*/ 0 h 214"/>
              <a:gd name="T4" fmla="*/ 687 w 2076"/>
              <a:gd name="T5" fmla="*/ 0 h 214"/>
              <a:gd name="T6" fmla="*/ 798 w 2076"/>
              <a:gd name="T7" fmla="*/ 214 h 214"/>
              <a:gd name="T8" fmla="*/ 1374 w 2076"/>
              <a:gd name="T9" fmla="*/ 214 h 214"/>
              <a:gd name="T10" fmla="*/ 1481 w 2076"/>
              <a:gd name="T11" fmla="*/ 0 h 214"/>
              <a:gd name="T12" fmla="*/ 1655 w 2076"/>
              <a:gd name="T13" fmla="*/ 0 h 214"/>
              <a:gd name="T14" fmla="*/ 1766 w 2076"/>
              <a:gd name="T15" fmla="*/ 214 h 214"/>
              <a:gd name="T16" fmla="*/ 2076 w 2076"/>
              <a:gd name="T17" fmla="*/ 214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76" h="214">
                <a:moveTo>
                  <a:pt x="0" y="214"/>
                </a:moveTo>
                <a:lnTo>
                  <a:pt x="107" y="0"/>
                </a:lnTo>
                <a:lnTo>
                  <a:pt x="687" y="0"/>
                </a:lnTo>
                <a:lnTo>
                  <a:pt x="798" y="214"/>
                </a:lnTo>
                <a:lnTo>
                  <a:pt x="1374" y="214"/>
                </a:lnTo>
                <a:lnTo>
                  <a:pt x="1481" y="0"/>
                </a:lnTo>
                <a:lnTo>
                  <a:pt x="1655" y="0"/>
                </a:lnTo>
                <a:lnTo>
                  <a:pt x="1766" y="214"/>
                </a:lnTo>
                <a:lnTo>
                  <a:pt x="2076" y="214"/>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75" name="Freeform 171"/>
          <p:cNvSpPr>
            <a:spLocks/>
          </p:cNvSpPr>
          <p:nvPr/>
        </p:nvSpPr>
        <p:spPr bwMode="auto">
          <a:xfrm>
            <a:off x="1068388" y="1700213"/>
            <a:ext cx="3282950" cy="341312"/>
          </a:xfrm>
          <a:custGeom>
            <a:avLst/>
            <a:gdLst>
              <a:gd name="T0" fmla="*/ 0 w 2068"/>
              <a:gd name="T1" fmla="*/ 0 h 215"/>
              <a:gd name="T2" fmla="*/ 107 w 2068"/>
              <a:gd name="T3" fmla="*/ 215 h 215"/>
              <a:gd name="T4" fmla="*/ 680 w 2068"/>
              <a:gd name="T5" fmla="*/ 215 h 215"/>
              <a:gd name="T6" fmla="*/ 787 w 2068"/>
              <a:gd name="T7" fmla="*/ 0 h 215"/>
              <a:gd name="T8" fmla="*/ 1374 w 2068"/>
              <a:gd name="T9" fmla="*/ 0 h 215"/>
              <a:gd name="T10" fmla="*/ 1481 w 2068"/>
              <a:gd name="T11" fmla="*/ 215 h 215"/>
              <a:gd name="T12" fmla="*/ 2068 w 2068"/>
              <a:gd name="T13" fmla="*/ 215 h 215"/>
            </a:gdLst>
            <a:ahLst/>
            <a:cxnLst>
              <a:cxn ang="0">
                <a:pos x="T0" y="T1"/>
              </a:cxn>
              <a:cxn ang="0">
                <a:pos x="T2" y="T3"/>
              </a:cxn>
              <a:cxn ang="0">
                <a:pos x="T4" y="T5"/>
              </a:cxn>
              <a:cxn ang="0">
                <a:pos x="T6" y="T7"/>
              </a:cxn>
              <a:cxn ang="0">
                <a:pos x="T8" y="T9"/>
              </a:cxn>
              <a:cxn ang="0">
                <a:pos x="T10" y="T11"/>
              </a:cxn>
              <a:cxn ang="0">
                <a:pos x="T12" y="T13"/>
              </a:cxn>
            </a:cxnLst>
            <a:rect l="0" t="0" r="r" b="b"/>
            <a:pathLst>
              <a:path w="2068" h="215">
                <a:moveTo>
                  <a:pt x="0" y="0"/>
                </a:moveTo>
                <a:lnTo>
                  <a:pt x="107" y="215"/>
                </a:lnTo>
                <a:lnTo>
                  <a:pt x="680" y="215"/>
                </a:lnTo>
                <a:lnTo>
                  <a:pt x="787" y="0"/>
                </a:lnTo>
                <a:lnTo>
                  <a:pt x="1374" y="0"/>
                </a:lnTo>
                <a:lnTo>
                  <a:pt x="1481" y="215"/>
                </a:lnTo>
                <a:lnTo>
                  <a:pt x="2068" y="215"/>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76" name="Freeform 172"/>
          <p:cNvSpPr>
            <a:spLocks/>
          </p:cNvSpPr>
          <p:nvPr/>
        </p:nvSpPr>
        <p:spPr bwMode="auto">
          <a:xfrm>
            <a:off x="1062038" y="1700213"/>
            <a:ext cx="3295650" cy="341312"/>
          </a:xfrm>
          <a:custGeom>
            <a:avLst/>
            <a:gdLst>
              <a:gd name="T0" fmla="*/ 0 w 2076"/>
              <a:gd name="T1" fmla="*/ 215 h 215"/>
              <a:gd name="T2" fmla="*/ 107 w 2076"/>
              <a:gd name="T3" fmla="*/ 0 h 215"/>
              <a:gd name="T4" fmla="*/ 687 w 2076"/>
              <a:gd name="T5" fmla="*/ 0 h 215"/>
              <a:gd name="T6" fmla="*/ 798 w 2076"/>
              <a:gd name="T7" fmla="*/ 215 h 215"/>
              <a:gd name="T8" fmla="*/ 1374 w 2076"/>
              <a:gd name="T9" fmla="*/ 215 h 215"/>
              <a:gd name="T10" fmla="*/ 1481 w 2076"/>
              <a:gd name="T11" fmla="*/ 0 h 215"/>
              <a:gd name="T12" fmla="*/ 2076 w 2076"/>
              <a:gd name="T13" fmla="*/ 0 h 215"/>
            </a:gdLst>
            <a:ahLst/>
            <a:cxnLst>
              <a:cxn ang="0">
                <a:pos x="T0" y="T1"/>
              </a:cxn>
              <a:cxn ang="0">
                <a:pos x="T2" y="T3"/>
              </a:cxn>
              <a:cxn ang="0">
                <a:pos x="T4" y="T5"/>
              </a:cxn>
              <a:cxn ang="0">
                <a:pos x="T6" y="T7"/>
              </a:cxn>
              <a:cxn ang="0">
                <a:pos x="T8" y="T9"/>
              </a:cxn>
              <a:cxn ang="0">
                <a:pos x="T10" y="T11"/>
              </a:cxn>
              <a:cxn ang="0">
                <a:pos x="T12" y="T13"/>
              </a:cxn>
            </a:cxnLst>
            <a:rect l="0" t="0" r="r" b="b"/>
            <a:pathLst>
              <a:path w="2076" h="215">
                <a:moveTo>
                  <a:pt x="0" y="215"/>
                </a:moveTo>
                <a:lnTo>
                  <a:pt x="107" y="0"/>
                </a:lnTo>
                <a:lnTo>
                  <a:pt x="687" y="0"/>
                </a:lnTo>
                <a:lnTo>
                  <a:pt x="798" y="215"/>
                </a:lnTo>
                <a:lnTo>
                  <a:pt x="1374" y="215"/>
                </a:lnTo>
                <a:lnTo>
                  <a:pt x="1481" y="0"/>
                </a:lnTo>
                <a:lnTo>
                  <a:pt x="2076" y="0"/>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77" name="Freeform 173"/>
          <p:cNvSpPr>
            <a:spLocks/>
          </p:cNvSpPr>
          <p:nvPr/>
        </p:nvSpPr>
        <p:spPr bwMode="auto">
          <a:xfrm>
            <a:off x="5676900" y="1724025"/>
            <a:ext cx="814388" cy="339725"/>
          </a:xfrm>
          <a:custGeom>
            <a:avLst/>
            <a:gdLst>
              <a:gd name="T0" fmla="*/ 0 w 513"/>
              <a:gd name="T1" fmla="*/ 0 h 214"/>
              <a:gd name="T2" fmla="*/ 107 w 513"/>
              <a:gd name="T3" fmla="*/ 214 h 214"/>
              <a:gd name="T4" fmla="*/ 513 w 513"/>
              <a:gd name="T5" fmla="*/ 214 h 214"/>
            </a:gdLst>
            <a:ahLst/>
            <a:cxnLst>
              <a:cxn ang="0">
                <a:pos x="T0" y="T1"/>
              </a:cxn>
              <a:cxn ang="0">
                <a:pos x="T2" y="T3"/>
              </a:cxn>
              <a:cxn ang="0">
                <a:pos x="T4" y="T5"/>
              </a:cxn>
            </a:cxnLst>
            <a:rect l="0" t="0" r="r" b="b"/>
            <a:pathLst>
              <a:path w="513" h="214">
                <a:moveTo>
                  <a:pt x="0" y="0"/>
                </a:moveTo>
                <a:lnTo>
                  <a:pt x="107" y="214"/>
                </a:lnTo>
                <a:lnTo>
                  <a:pt x="513" y="214"/>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78" name="Line 174"/>
          <p:cNvSpPr>
            <a:spLocks noChangeShapeType="1"/>
          </p:cNvSpPr>
          <p:nvPr/>
        </p:nvSpPr>
        <p:spPr bwMode="auto">
          <a:xfrm>
            <a:off x="6937375" y="2063750"/>
            <a:ext cx="1588" cy="1588"/>
          </a:xfrm>
          <a:prstGeom prst="line">
            <a:avLst/>
          </a:prstGeom>
          <a:noFill/>
          <a:ln w="238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879" name="Freeform 175"/>
          <p:cNvSpPr>
            <a:spLocks/>
          </p:cNvSpPr>
          <p:nvPr/>
        </p:nvSpPr>
        <p:spPr bwMode="auto">
          <a:xfrm>
            <a:off x="1057275" y="2727325"/>
            <a:ext cx="3294063" cy="204788"/>
          </a:xfrm>
          <a:custGeom>
            <a:avLst/>
            <a:gdLst>
              <a:gd name="T0" fmla="*/ 0 w 2075"/>
              <a:gd name="T1" fmla="*/ 129 h 129"/>
              <a:gd name="T2" fmla="*/ 302 w 2075"/>
              <a:gd name="T3" fmla="*/ 129 h 129"/>
              <a:gd name="T4" fmla="*/ 302 w 2075"/>
              <a:gd name="T5" fmla="*/ 0 h 129"/>
              <a:gd name="T6" fmla="*/ 1599 w 2075"/>
              <a:gd name="T7" fmla="*/ 0 h 129"/>
              <a:gd name="T8" fmla="*/ 1599 w 2075"/>
              <a:gd name="T9" fmla="*/ 129 h 129"/>
              <a:gd name="T10" fmla="*/ 2075 w 2075"/>
              <a:gd name="T11" fmla="*/ 129 h 129"/>
            </a:gdLst>
            <a:ahLst/>
            <a:cxnLst>
              <a:cxn ang="0">
                <a:pos x="T0" y="T1"/>
              </a:cxn>
              <a:cxn ang="0">
                <a:pos x="T2" y="T3"/>
              </a:cxn>
              <a:cxn ang="0">
                <a:pos x="T4" y="T5"/>
              </a:cxn>
              <a:cxn ang="0">
                <a:pos x="T6" y="T7"/>
              </a:cxn>
              <a:cxn ang="0">
                <a:pos x="T8" y="T9"/>
              </a:cxn>
              <a:cxn ang="0">
                <a:pos x="T10" y="T11"/>
              </a:cxn>
            </a:cxnLst>
            <a:rect l="0" t="0" r="r" b="b"/>
            <a:pathLst>
              <a:path w="2075" h="129">
                <a:moveTo>
                  <a:pt x="0" y="129"/>
                </a:moveTo>
                <a:lnTo>
                  <a:pt x="302" y="129"/>
                </a:lnTo>
                <a:lnTo>
                  <a:pt x="302" y="0"/>
                </a:lnTo>
                <a:lnTo>
                  <a:pt x="1599" y="0"/>
                </a:lnTo>
                <a:lnTo>
                  <a:pt x="1599" y="129"/>
                </a:lnTo>
                <a:lnTo>
                  <a:pt x="2075" y="129"/>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80" name="Freeform 176"/>
          <p:cNvSpPr>
            <a:spLocks/>
          </p:cNvSpPr>
          <p:nvPr/>
        </p:nvSpPr>
        <p:spPr bwMode="auto">
          <a:xfrm>
            <a:off x="1057275" y="3132138"/>
            <a:ext cx="3300413" cy="198437"/>
          </a:xfrm>
          <a:custGeom>
            <a:avLst/>
            <a:gdLst>
              <a:gd name="T0" fmla="*/ 0 w 2079"/>
              <a:gd name="T1" fmla="*/ 125 h 125"/>
              <a:gd name="T2" fmla="*/ 210 w 2079"/>
              <a:gd name="T3" fmla="*/ 125 h 125"/>
              <a:gd name="T4" fmla="*/ 210 w 2079"/>
              <a:gd name="T5" fmla="*/ 0 h 125"/>
              <a:gd name="T6" fmla="*/ 2079 w 2079"/>
              <a:gd name="T7" fmla="*/ 0 h 125"/>
            </a:gdLst>
            <a:ahLst/>
            <a:cxnLst>
              <a:cxn ang="0">
                <a:pos x="T0" y="T1"/>
              </a:cxn>
              <a:cxn ang="0">
                <a:pos x="T2" y="T3"/>
              </a:cxn>
              <a:cxn ang="0">
                <a:pos x="T4" y="T5"/>
              </a:cxn>
              <a:cxn ang="0">
                <a:pos x="T6" y="T7"/>
              </a:cxn>
            </a:cxnLst>
            <a:rect l="0" t="0" r="r" b="b"/>
            <a:pathLst>
              <a:path w="2079" h="125">
                <a:moveTo>
                  <a:pt x="0" y="125"/>
                </a:moveTo>
                <a:lnTo>
                  <a:pt x="210" y="125"/>
                </a:lnTo>
                <a:lnTo>
                  <a:pt x="210" y="0"/>
                </a:lnTo>
                <a:lnTo>
                  <a:pt x="2079" y="0"/>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81" name="Rectangle 177"/>
          <p:cNvSpPr>
            <a:spLocks noChangeArrowheads="1"/>
          </p:cNvSpPr>
          <p:nvPr/>
        </p:nvSpPr>
        <p:spPr bwMode="auto">
          <a:xfrm>
            <a:off x="782638" y="1208088"/>
            <a:ext cx="233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clk</a:t>
            </a:r>
            <a:endParaRPr lang="en-US" altLang="en-US"/>
          </a:p>
        </p:txBody>
      </p:sp>
      <p:sp>
        <p:nvSpPr>
          <p:cNvPr id="584882" name="Rectangle 178"/>
          <p:cNvSpPr>
            <a:spLocks noChangeArrowheads="1"/>
          </p:cNvSpPr>
          <p:nvPr/>
        </p:nvSpPr>
        <p:spPr bwMode="auto">
          <a:xfrm>
            <a:off x="635000" y="1771650"/>
            <a:ext cx="382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addr</a:t>
            </a:r>
            <a:endParaRPr lang="en-US" altLang="en-US"/>
          </a:p>
        </p:txBody>
      </p:sp>
      <p:sp>
        <p:nvSpPr>
          <p:cNvPr id="584883" name="Rectangle 179"/>
          <p:cNvSpPr>
            <a:spLocks noChangeArrowheads="1"/>
          </p:cNvSpPr>
          <p:nvPr/>
        </p:nvSpPr>
        <p:spPr bwMode="auto">
          <a:xfrm>
            <a:off x="650875" y="2259013"/>
            <a:ext cx="3714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data</a:t>
            </a:r>
            <a:endParaRPr lang="en-US" altLang="en-US"/>
          </a:p>
        </p:txBody>
      </p:sp>
      <p:sp>
        <p:nvSpPr>
          <p:cNvPr id="584886" name="Rectangle 182"/>
          <p:cNvSpPr>
            <a:spLocks noChangeArrowheads="1"/>
          </p:cNvSpPr>
          <p:nvPr/>
        </p:nvSpPr>
        <p:spPr bwMode="auto">
          <a:xfrm>
            <a:off x="793750" y="2744788"/>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t>
            </a:r>
            <a:endParaRPr lang="en-US" altLang="en-US"/>
          </a:p>
        </p:txBody>
      </p:sp>
      <p:sp>
        <p:nvSpPr>
          <p:cNvPr id="584887" name="Rectangle 183"/>
          <p:cNvSpPr>
            <a:spLocks noChangeArrowheads="1"/>
          </p:cNvSpPr>
          <p:nvPr/>
        </p:nvSpPr>
        <p:spPr bwMode="auto">
          <a:xfrm>
            <a:off x="860425" y="2744788"/>
            <a:ext cx="1381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w</a:t>
            </a:r>
            <a:endParaRPr lang="en-US" altLang="en-US"/>
          </a:p>
        </p:txBody>
      </p:sp>
      <p:sp>
        <p:nvSpPr>
          <p:cNvPr id="584888" name="Rectangle 184"/>
          <p:cNvSpPr>
            <a:spLocks noChangeArrowheads="1"/>
          </p:cNvSpPr>
          <p:nvPr/>
        </p:nvSpPr>
        <p:spPr bwMode="auto">
          <a:xfrm>
            <a:off x="800100" y="3143250"/>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en</a:t>
            </a:r>
            <a:endParaRPr lang="en-US" altLang="en-US"/>
          </a:p>
        </p:txBody>
      </p:sp>
      <p:sp>
        <p:nvSpPr>
          <p:cNvPr id="584889" name="Rectangle 185"/>
          <p:cNvSpPr>
            <a:spLocks noChangeArrowheads="1"/>
          </p:cNvSpPr>
          <p:nvPr/>
        </p:nvSpPr>
        <p:spPr bwMode="auto">
          <a:xfrm>
            <a:off x="1935163" y="1411288"/>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1</a:t>
            </a:r>
            <a:endParaRPr lang="en-US" altLang="en-US"/>
          </a:p>
        </p:txBody>
      </p:sp>
      <p:sp>
        <p:nvSpPr>
          <p:cNvPr id="584890" name="Rectangle 186"/>
          <p:cNvSpPr>
            <a:spLocks noChangeArrowheads="1"/>
          </p:cNvSpPr>
          <p:nvPr/>
        </p:nvSpPr>
        <p:spPr bwMode="auto">
          <a:xfrm>
            <a:off x="2952750" y="1390650"/>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2</a:t>
            </a:r>
            <a:endParaRPr lang="en-US" altLang="en-US"/>
          </a:p>
        </p:txBody>
      </p:sp>
      <p:sp>
        <p:nvSpPr>
          <p:cNvPr id="584891" name="Rectangle 187"/>
          <p:cNvSpPr>
            <a:spLocks noChangeArrowheads="1"/>
          </p:cNvSpPr>
          <p:nvPr/>
        </p:nvSpPr>
        <p:spPr bwMode="auto">
          <a:xfrm>
            <a:off x="1651000" y="176212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9</a:t>
            </a:r>
            <a:endParaRPr lang="en-US" altLang="en-US"/>
          </a:p>
        </p:txBody>
      </p:sp>
      <p:sp>
        <p:nvSpPr>
          <p:cNvPr id="584892" name="Rectangle 188"/>
          <p:cNvSpPr>
            <a:spLocks noChangeArrowheads="1"/>
          </p:cNvSpPr>
          <p:nvPr/>
        </p:nvSpPr>
        <p:spPr bwMode="auto">
          <a:xfrm>
            <a:off x="3757613" y="1762125"/>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9</a:t>
            </a:r>
            <a:endParaRPr lang="en-US" altLang="en-US"/>
          </a:p>
        </p:txBody>
      </p:sp>
      <p:sp>
        <p:nvSpPr>
          <p:cNvPr id="584893" name="Rectangle 189"/>
          <p:cNvSpPr>
            <a:spLocks noChangeArrowheads="1"/>
          </p:cNvSpPr>
          <p:nvPr/>
        </p:nvSpPr>
        <p:spPr bwMode="auto">
          <a:xfrm>
            <a:off x="2700338" y="1762125"/>
            <a:ext cx="212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13</a:t>
            </a:r>
            <a:endParaRPr lang="en-US" altLang="en-US"/>
          </a:p>
        </p:txBody>
      </p:sp>
      <p:sp>
        <p:nvSpPr>
          <p:cNvPr id="584894" name="Rectangle 190"/>
          <p:cNvSpPr>
            <a:spLocks noChangeArrowheads="1"/>
          </p:cNvSpPr>
          <p:nvPr/>
        </p:nvSpPr>
        <p:spPr bwMode="auto">
          <a:xfrm>
            <a:off x="2652713" y="2262188"/>
            <a:ext cx="3190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999</a:t>
            </a:r>
            <a:endParaRPr lang="en-US" altLang="en-US"/>
          </a:p>
        </p:txBody>
      </p:sp>
      <p:sp>
        <p:nvSpPr>
          <p:cNvPr id="584895" name="Rectangle 191"/>
          <p:cNvSpPr>
            <a:spLocks noChangeArrowheads="1"/>
          </p:cNvSpPr>
          <p:nvPr/>
        </p:nvSpPr>
        <p:spPr bwMode="auto">
          <a:xfrm>
            <a:off x="3498850" y="2262188"/>
            <a:ext cx="1158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Z</a:t>
            </a:r>
            <a:endParaRPr lang="en-US" altLang="en-US"/>
          </a:p>
        </p:txBody>
      </p:sp>
      <p:sp>
        <p:nvSpPr>
          <p:cNvPr id="584896" name="Rectangle 192"/>
          <p:cNvSpPr>
            <a:spLocks noChangeArrowheads="1"/>
          </p:cNvSpPr>
          <p:nvPr/>
        </p:nvSpPr>
        <p:spPr bwMode="auto">
          <a:xfrm>
            <a:off x="4029075" y="2262188"/>
            <a:ext cx="3190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500</a:t>
            </a:r>
            <a:endParaRPr lang="en-US" altLang="en-US"/>
          </a:p>
        </p:txBody>
      </p:sp>
      <p:sp>
        <p:nvSpPr>
          <p:cNvPr id="584897" name="Rectangle 193"/>
          <p:cNvSpPr>
            <a:spLocks noChangeArrowheads="1"/>
          </p:cNvSpPr>
          <p:nvPr/>
        </p:nvSpPr>
        <p:spPr bwMode="auto">
          <a:xfrm>
            <a:off x="1546225" y="2262188"/>
            <a:ext cx="3190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500</a:t>
            </a:r>
            <a:endParaRPr lang="en-US" altLang="en-US"/>
          </a:p>
        </p:txBody>
      </p:sp>
      <p:sp>
        <p:nvSpPr>
          <p:cNvPr id="584898" name="Freeform 194"/>
          <p:cNvSpPr>
            <a:spLocks/>
          </p:cNvSpPr>
          <p:nvPr/>
        </p:nvSpPr>
        <p:spPr bwMode="auto">
          <a:xfrm>
            <a:off x="7253288" y="2252663"/>
            <a:ext cx="1108075" cy="339725"/>
          </a:xfrm>
          <a:custGeom>
            <a:avLst/>
            <a:gdLst>
              <a:gd name="T0" fmla="*/ 0 w 698"/>
              <a:gd name="T1" fmla="*/ 0 h 214"/>
              <a:gd name="T2" fmla="*/ 107 w 698"/>
              <a:gd name="T3" fmla="*/ 214 h 214"/>
              <a:gd name="T4" fmla="*/ 273 w 698"/>
              <a:gd name="T5" fmla="*/ 214 h 214"/>
              <a:gd name="T6" fmla="*/ 380 w 698"/>
              <a:gd name="T7" fmla="*/ 0 h 214"/>
              <a:gd name="T8" fmla="*/ 698 w 698"/>
              <a:gd name="T9" fmla="*/ 0 h 214"/>
            </a:gdLst>
            <a:ahLst/>
            <a:cxnLst>
              <a:cxn ang="0">
                <a:pos x="T0" y="T1"/>
              </a:cxn>
              <a:cxn ang="0">
                <a:pos x="T2" y="T3"/>
              </a:cxn>
              <a:cxn ang="0">
                <a:pos x="T4" y="T5"/>
              </a:cxn>
              <a:cxn ang="0">
                <a:pos x="T6" y="T7"/>
              </a:cxn>
              <a:cxn ang="0">
                <a:pos x="T8" y="T9"/>
              </a:cxn>
            </a:cxnLst>
            <a:rect l="0" t="0" r="r" b="b"/>
            <a:pathLst>
              <a:path w="698" h="214">
                <a:moveTo>
                  <a:pt x="0" y="0"/>
                </a:moveTo>
                <a:lnTo>
                  <a:pt x="107" y="214"/>
                </a:lnTo>
                <a:lnTo>
                  <a:pt x="273" y="214"/>
                </a:lnTo>
                <a:lnTo>
                  <a:pt x="380" y="0"/>
                </a:lnTo>
                <a:lnTo>
                  <a:pt x="698" y="0"/>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899" name="Freeform 195"/>
          <p:cNvSpPr>
            <a:spLocks/>
          </p:cNvSpPr>
          <p:nvPr/>
        </p:nvSpPr>
        <p:spPr bwMode="auto">
          <a:xfrm>
            <a:off x="5688013" y="2252663"/>
            <a:ext cx="966787" cy="339725"/>
          </a:xfrm>
          <a:custGeom>
            <a:avLst/>
            <a:gdLst>
              <a:gd name="T0" fmla="*/ 0 w 609"/>
              <a:gd name="T1" fmla="*/ 0 h 214"/>
              <a:gd name="T2" fmla="*/ 107 w 609"/>
              <a:gd name="T3" fmla="*/ 214 h 214"/>
              <a:gd name="T4" fmla="*/ 499 w 609"/>
              <a:gd name="T5" fmla="*/ 214 h 214"/>
              <a:gd name="T6" fmla="*/ 609 w 609"/>
              <a:gd name="T7" fmla="*/ 0 h 214"/>
            </a:gdLst>
            <a:ahLst/>
            <a:cxnLst>
              <a:cxn ang="0">
                <a:pos x="T0" y="T1"/>
              </a:cxn>
              <a:cxn ang="0">
                <a:pos x="T2" y="T3"/>
              </a:cxn>
              <a:cxn ang="0">
                <a:pos x="T4" y="T5"/>
              </a:cxn>
              <a:cxn ang="0">
                <a:pos x="T6" y="T7"/>
              </a:cxn>
            </a:cxnLst>
            <a:rect l="0" t="0" r="r" b="b"/>
            <a:pathLst>
              <a:path w="609" h="214">
                <a:moveTo>
                  <a:pt x="0" y="0"/>
                </a:moveTo>
                <a:lnTo>
                  <a:pt x="107" y="214"/>
                </a:lnTo>
                <a:lnTo>
                  <a:pt x="499" y="214"/>
                </a:lnTo>
                <a:lnTo>
                  <a:pt x="609" y="0"/>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900" name="Freeform 196"/>
          <p:cNvSpPr>
            <a:spLocks/>
          </p:cNvSpPr>
          <p:nvPr/>
        </p:nvSpPr>
        <p:spPr bwMode="auto">
          <a:xfrm>
            <a:off x="7246938" y="2252663"/>
            <a:ext cx="1114425" cy="339725"/>
          </a:xfrm>
          <a:custGeom>
            <a:avLst/>
            <a:gdLst>
              <a:gd name="T0" fmla="*/ 0 w 702"/>
              <a:gd name="T1" fmla="*/ 214 h 214"/>
              <a:gd name="T2" fmla="*/ 108 w 702"/>
              <a:gd name="T3" fmla="*/ 0 h 214"/>
              <a:gd name="T4" fmla="*/ 281 w 702"/>
              <a:gd name="T5" fmla="*/ 0 h 214"/>
              <a:gd name="T6" fmla="*/ 392 w 702"/>
              <a:gd name="T7" fmla="*/ 214 h 214"/>
              <a:gd name="T8" fmla="*/ 702 w 702"/>
              <a:gd name="T9" fmla="*/ 214 h 214"/>
            </a:gdLst>
            <a:ahLst/>
            <a:cxnLst>
              <a:cxn ang="0">
                <a:pos x="T0" y="T1"/>
              </a:cxn>
              <a:cxn ang="0">
                <a:pos x="T2" y="T3"/>
              </a:cxn>
              <a:cxn ang="0">
                <a:pos x="T4" y="T5"/>
              </a:cxn>
              <a:cxn ang="0">
                <a:pos x="T6" y="T7"/>
              </a:cxn>
              <a:cxn ang="0">
                <a:pos x="T8" y="T9"/>
              </a:cxn>
            </a:cxnLst>
            <a:rect l="0" t="0" r="r" b="b"/>
            <a:pathLst>
              <a:path w="702" h="214">
                <a:moveTo>
                  <a:pt x="0" y="214"/>
                </a:moveTo>
                <a:lnTo>
                  <a:pt x="108" y="0"/>
                </a:lnTo>
                <a:lnTo>
                  <a:pt x="281" y="0"/>
                </a:lnTo>
                <a:lnTo>
                  <a:pt x="392" y="214"/>
                </a:lnTo>
                <a:lnTo>
                  <a:pt x="702" y="214"/>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901" name="Freeform 197"/>
          <p:cNvSpPr>
            <a:spLocks/>
          </p:cNvSpPr>
          <p:nvPr/>
        </p:nvSpPr>
        <p:spPr bwMode="auto">
          <a:xfrm>
            <a:off x="5681663" y="2252663"/>
            <a:ext cx="979487" cy="339725"/>
          </a:xfrm>
          <a:custGeom>
            <a:avLst/>
            <a:gdLst>
              <a:gd name="T0" fmla="*/ 0 w 617"/>
              <a:gd name="T1" fmla="*/ 214 h 214"/>
              <a:gd name="T2" fmla="*/ 107 w 617"/>
              <a:gd name="T3" fmla="*/ 0 h 214"/>
              <a:gd name="T4" fmla="*/ 510 w 617"/>
              <a:gd name="T5" fmla="*/ 0 h 214"/>
              <a:gd name="T6" fmla="*/ 617 w 617"/>
              <a:gd name="T7" fmla="*/ 214 h 214"/>
            </a:gdLst>
            <a:ahLst/>
            <a:cxnLst>
              <a:cxn ang="0">
                <a:pos x="T0" y="T1"/>
              </a:cxn>
              <a:cxn ang="0">
                <a:pos x="T2" y="T3"/>
              </a:cxn>
              <a:cxn ang="0">
                <a:pos x="T4" y="T5"/>
              </a:cxn>
              <a:cxn ang="0">
                <a:pos x="T6" y="T7"/>
              </a:cxn>
            </a:cxnLst>
            <a:rect l="0" t="0" r="r" b="b"/>
            <a:pathLst>
              <a:path w="617" h="214">
                <a:moveTo>
                  <a:pt x="0" y="214"/>
                </a:moveTo>
                <a:lnTo>
                  <a:pt x="107" y="0"/>
                </a:lnTo>
                <a:lnTo>
                  <a:pt x="510" y="0"/>
                </a:lnTo>
                <a:lnTo>
                  <a:pt x="617" y="214"/>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902" name="Rectangle 198"/>
          <p:cNvSpPr>
            <a:spLocks noChangeArrowheads="1"/>
          </p:cNvSpPr>
          <p:nvPr/>
        </p:nvSpPr>
        <p:spPr bwMode="auto">
          <a:xfrm>
            <a:off x="3946525" y="141446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a:t>
            </a:r>
            <a:endParaRPr lang="en-US" altLang="en-US"/>
          </a:p>
        </p:txBody>
      </p:sp>
      <p:sp>
        <p:nvSpPr>
          <p:cNvPr id="584903" name="Rectangle 199"/>
          <p:cNvSpPr>
            <a:spLocks noChangeArrowheads="1"/>
          </p:cNvSpPr>
          <p:nvPr/>
        </p:nvSpPr>
        <p:spPr bwMode="auto">
          <a:xfrm>
            <a:off x="1682750" y="2744788"/>
            <a:ext cx="11874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1 means write</a:t>
            </a:r>
            <a:endParaRPr lang="en-US" altLang="en-US"/>
          </a:p>
        </p:txBody>
      </p:sp>
      <p:sp>
        <p:nvSpPr>
          <p:cNvPr id="584908" name="Rectangle 204"/>
          <p:cNvSpPr>
            <a:spLocks noChangeArrowheads="1"/>
          </p:cNvSpPr>
          <p:nvPr/>
        </p:nvSpPr>
        <p:spPr bwMode="auto">
          <a:xfrm>
            <a:off x="2044700" y="3463925"/>
            <a:ext cx="635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RAM[9]</a:t>
            </a:r>
            <a:endParaRPr lang="en-US" altLang="en-US"/>
          </a:p>
        </p:txBody>
      </p:sp>
      <p:sp>
        <p:nvSpPr>
          <p:cNvPr id="584911" name="Rectangle 207"/>
          <p:cNvSpPr>
            <a:spLocks noChangeArrowheads="1"/>
          </p:cNvSpPr>
          <p:nvPr/>
        </p:nvSpPr>
        <p:spPr bwMode="auto">
          <a:xfrm>
            <a:off x="1717675" y="3676650"/>
            <a:ext cx="13382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now equals 500</a:t>
            </a:r>
            <a:endParaRPr lang="en-US" altLang="en-US"/>
          </a:p>
        </p:txBody>
      </p:sp>
      <p:sp>
        <p:nvSpPr>
          <p:cNvPr id="584914" name="Rectangle 210"/>
          <p:cNvSpPr>
            <a:spLocks noChangeArrowheads="1"/>
          </p:cNvSpPr>
          <p:nvPr/>
        </p:nvSpPr>
        <p:spPr bwMode="auto">
          <a:xfrm>
            <a:off x="3103563" y="3463925"/>
            <a:ext cx="741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RAM[13]</a:t>
            </a:r>
            <a:endParaRPr lang="en-US" altLang="en-US"/>
          </a:p>
        </p:txBody>
      </p:sp>
      <p:sp>
        <p:nvSpPr>
          <p:cNvPr id="584917" name="Rectangle 213"/>
          <p:cNvSpPr>
            <a:spLocks noChangeArrowheads="1"/>
          </p:cNvSpPr>
          <p:nvPr/>
        </p:nvSpPr>
        <p:spPr bwMode="auto">
          <a:xfrm>
            <a:off x="3103563" y="3676650"/>
            <a:ext cx="13382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now equals 999</a:t>
            </a:r>
            <a:endParaRPr lang="en-US" altLang="en-US"/>
          </a:p>
        </p:txBody>
      </p:sp>
      <p:sp>
        <p:nvSpPr>
          <p:cNvPr id="584923" name="Rectangle 219"/>
          <p:cNvSpPr>
            <a:spLocks noChangeArrowheads="1"/>
          </p:cNvSpPr>
          <p:nvPr/>
        </p:nvSpPr>
        <p:spPr bwMode="auto">
          <a:xfrm>
            <a:off x="6583363" y="3911600"/>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a:p>
        </p:txBody>
      </p:sp>
      <p:sp>
        <p:nvSpPr>
          <p:cNvPr id="584924" name="Rectangle 220"/>
          <p:cNvSpPr>
            <a:spLocks noChangeArrowheads="1"/>
          </p:cNvSpPr>
          <p:nvPr/>
        </p:nvSpPr>
        <p:spPr bwMode="auto">
          <a:xfrm>
            <a:off x="6637338" y="3911600"/>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t>
            </a:r>
            <a:endParaRPr lang="en-US" altLang="en-US"/>
          </a:p>
        </p:txBody>
      </p:sp>
      <p:sp>
        <p:nvSpPr>
          <p:cNvPr id="584925" name="Rectangle 221"/>
          <p:cNvSpPr>
            <a:spLocks noChangeArrowheads="1"/>
          </p:cNvSpPr>
          <p:nvPr/>
        </p:nvSpPr>
        <p:spPr bwMode="auto">
          <a:xfrm>
            <a:off x="6743700" y="3911600"/>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t>
            </a:r>
            <a:endParaRPr lang="en-US" altLang="en-US"/>
          </a:p>
        </p:txBody>
      </p:sp>
      <p:sp>
        <p:nvSpPr>
          <p:cNvPr id="584926" name="Line 222"/>
          <p:cNvSpPr>
            <a:spLocks noChangeShapeType="1"/>
          </p:cNvSpPr>
          <p:nvPr/>
        </p:nvSpPr>
        <p:spPr bwMode="auto">
          <a:xfrm>
            <a:off x="5846763" y="1571625"/>
            <a:ext cx="1587" cy="633413"/>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927" name="Line 223"/>
          <p:cNvSpPr>
            <a:spLocks noChangeShapeType="1"/>
          </p:cNvSpPr>
          <p:nvPr/>
        </p:nvSpPr>
        <p:spPr bwMode="auto">
          <a:xfrm>
            <a:off x="6251575" y="2217738"/>
            <a:ext cx="1588" cy="52705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928" name="Line 224"/>
          <p:cNvSpPr>
            <a:spLocks noChangeShapeType="1"/>
          </p:cNvSpPr>
          <p:nvPr/>
        </p:nvSpPr>
        <p:spPr bwMode="auto">
          <a:xfrm>
            <a:off x="6526213" y="2205038"/>
            <a:ext cx="1587" cy="528637"/>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929" name="Freeform 225"/>
          <p:cNvSpPr>
            <a:spLocks/>
          </p:cNvSpPr>
          <p:nvPr/>
        </p:nvSpPr>
        <p:spPr bwMode="auto">
          <a:xfrm>
            <a:off x="5576888" y="2832100"/>
            <a:ext cx="1090612" cy="206375"/>
          </a:xfrm>
          <a:custGeom>
            <a:avLst/>
            <a:gdLst>
              <a:gd name="T0" fmla="*/ 0 w 687"/>
              <a:gd name="T1" fmla="*/ 130 h 130"/>
              <a:gd name="T2" fmla="*/ 281 w 687"/>
              <a:gd name="T3" fmla="*/ 130 h 130"/>
              <a:gd name="T4" fmla="*/ 281 w 687"/>
              <a:gd name="T5" fmla="*/ 0 h 130"/>
              <a:gd name="T6" fmla="*/ 687 w 687"/>
              <a:gd name="T7" fmla="*/ 0 h 130"/>
            </a:gdLst>
            <a:ahLst/>
            <a:cxnLst>
              <a:cxn ang="0">
                <a:pos x="T0" y="T1"/>
              </a:cxn>
              <a:cxn ang="0">
                <a:pos x="T2" y="T3"/>
              </a:cxn>
              <a:cxn ang="0">
                <a:pos x="T4" y="T5"/>
              </a:cxn>
              <a:cxn ang="0">
                <a:pos x="T6" y="T7"/>
              </a:cxn>
            </a:cxnLst>
            <a:rect l="0" t="0" r="r" b="b"/>
            <a:pathLst>
              <a:path w="687" h="130">
                <a:moveTo>
                  <a:pt x="0" y="130"/>
                </a:moveTo>
                <a:lnTo>
                  <a:pt x="281" y="130"/>
                </a:lnTo>
                <a:lnTo>
                  <a:pt x="281" y="0"/>
                </a:lnTo>
                <a:lnTo>
                  <a:pt x="687" y="0"/>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930" name="Line 226"/>
          <p:cNvSpPr>
            <a:spLocks noChangeShapeType="1"/>
          </p:cNvSpPr>
          <p:nvPr/>
        </p:nvSpPr>
        <p:spPr bwMode="auto">
          <a:xfrm>
            <a:off x="6022975" y="2779713"/>
            <a:ext cx="1588" cy="45720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931" name="Line 227"/>
          <p:cNvSpPr>
            <a:spLocks noChangeShapeType="1"/>
          </p:cNvSpPr>
          <p:nvPr/>
        </p:nvSpPr>
        <p:spPr bwMode="auto">
          <a:xfrm>
            <a:off x="6251575" y="2779713"/>
            <a:ext cx="1588" cy="457200"/>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932" name="Freeform 228"/>
          <p:cNvSpPr>
            <a:spLocks/>
          </p:cNvSpPr>
          <p:nvPr/>
        </p:nvSpPr>
        <p:spPr bwMode="auto">
          <a:xfrm>
            <a:off x="7177088" y="2832100"/>
            <a:ext cx="1096962" cy="206375"/>
          </a:xfrm>
          <a:custGeom>
            <a:avLst/>
            <a:gdLst>
              <a:gd name="T0" fmla="*/ 691 w 691"/>
              <a:gd name="T1" fmla="*/ 130 h 130"/>
              <a:gd name="T2" fmla="*/ 262 w 691"/>
              <a:gd name="T3" fmla="*/ 130 h 130"/>
              <a:gd name="T4" fmla="*/ 262 w 691"/>
              <a:gd name="T5" fmla="*/ 0 h 130"/>
              <a:gd name="T6" fmla="*/ 0 w 691"/>
              <a:gd name="T7" fmla="*/ 0 h 130"/>
            </a:gdLst>
            <a:ahLst/>
            <a:cxnLst>
              <a:cxn ang="0">
                <a:pos x="T0" y="T1"/>
              </a:cxn>
              <a:cxn ang="0">
                <a:pos x="T2" y="T3"/>
              </a:cxn>
              <a:cxn ang="0">
                <a:pos x="T4" y="T5"/>
              </a:cxn>
              <a:cxn ang="0">
                <a:pos x="T6" y="T7"/>
              </a:cxn>
            </a:cxnLst>
            <a:rect l="0" t="0" r="r" b="b"/>
            <a:pathLst>
              <a:path w="691" h="130">
                <a:moveTo>
                  <a:pt x="691" y="130"/>
                </a:moveTo>
                <a:lnTo>
                  <a:pt x="262" y="130"/>
                </a:lnTo>
                <a:lnTo>
                  <a:pt x="262" y="0"/>
                </a:lnTo>
                <a:lnTo>
                  <a:pt x="0" y="0"/>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933" name="Line 229"/>
          <p:cNvSpPr>
            <a:spLocks noChangeShapeType="1"/>
          </p:cNvSpPr>
          <p:nvPr/>
        </p:nvSpPr>
        <p:spPr bwMode="auto">
          <a:xfrm>
            <a:off x="7869238" y="2193925"/>
            <a:ext cx="1587" cy="1095375"/>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934" name="Line 230"/>
          <p:cNvSpPr>
            <a:spLocks noChangeShapeType="1"/>
          </p:cNvSpPr>
          <p:nvPr/>
        </p:nvSpPr>
        <p:spPr bwMode="auto">
          <a:xfrm>
            <a:off x="7593013" y="2674938"/>
            <a:ext cx="1587" cy="614362"/>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935" name="Freeform 231"/>
          <p:cNvSpPr>
            <a:spLocks/>
          </p:cNvSpPr>
          <p:nvPr/>
        </p:nvSpPr>
        <p:spPr bwMode="auto">
          <a:xfrm>
            <a:off x="5337175" y="1220788"/>
            <a:ext cx="3035300" cy="257175"/>
          </a:xfrm>
          <a:custGeom>
            <a:avLst/>
            <a:gdLst>
              <a:gd name="T0" fmla="*/ 1912 w 1912"/>
              <a:gd name="T1" fmla="*/ 162 h 162"/>
              <a:gd name="T2" fmla="*/ 1912 w 1912"/>
              <a:gd name="T3" fmla="*/ 0 h 162"/>
              <a:gd name="T4" fmla="*/ 1850 w 1912"/>
              <a:gd name="T5" fmla="*/ 0 h 162"/>
              <a:gd name="T6" fmla="*/ 1850 w 1912"/>
              <a:gd name="T7" fmla="*/ 162 h 162"/>
              <a:gd name="T8" fmla="*/ 1281 w 1912"/>
              <a:gd name="T9" fmla="*/ 162 h 162"/>
              <a:gd name="T10" fmla="*/ 1281 w 1912"/>
              <a:gd name="T11" fmla="*/ 0 h 162"/>
              <a:gd name="T12" fmla="*/ 1222 w 1912"/>
              <a:gd name="T13" fmla="*/ 0 h 162"/>
              <a:gd name="T14" fmla="*/ 1222 w 1912"/>
              <a:gd name="T15" fmla="*/ 162 h 162"/>
              <a:gd name="T16" fmla="*/ 638 w 1912"/>
              <a:gd name="T17" fmla="*/ 162 h 162"/>
              <a:gd name="T18" fmla="*/ 638 w 1912"/>
              <a:gd name="T19" fmla="*/ 0 h 162"/>
              <a:gd name="T20" fmla="*/ 576 w 1912"/>
              <a:gd name="T21" fmla="*/ 0 h 162"/>
              <a:gd name="T22" fmla="*/ 576 w 1912"/>
              <a:gd name="T23" fmla="*/ 162 h 162"/>
              <a:gd name="T24" fmla="*/ 0 w 1912"/>
              <a:gd name="T25" fmla="*/ 162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12" h="162">
                <a:moveTo>
                  <a:pt x="1912" y="162"/>
                </a:moveTo>
                <a:lnTo>
                  <a:pt x="1912" y="0"/>
                </a:lnTo>
                <a:lnTo>
                  <a:pt x="1850" y="0"/>
                </a:lnTo>
                <a:lnTo>
                  <a:pt x="1850" y="162"/>
                </a:lnTo>
                <a:lnTo>
                  <a:pt x="1281" y="162"/>
                </a:lnTo>
                <a:lnTo>
                  <a:pt x="1281" y="0"/>
                </a:lnTo>
                <a:lnTo>
                  <a:pt x="1222" y="0"/>
                </a:lnTo>
                <a:lnTo>
                  <a:pt x="1222" y="162"/>
                </a:lnTo>
                <a:lnTo>
                  <a:pt x="638" y="162"/>
                </a:lnTo>
                <a:lnTo>
                  <a:pt x="638" y="0"/>
                </a:lnTo>
                <a:lnTo>
                  <a:pt x="576" y="0"/>
                </a:lnTo>
                <a:lnTo>
                  <a:pt x="576" y="162"/>
                </a:lnTo>
                <a:lnTo>
                  <a:pt x="0" y="162"/>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936" name="Freeform 232"/>
          <p:cNvSpPr>
            <a:spLocks/>
          </p:cNvSpPr>
          <p:nvPr/>
        </p:nvSpPr>
        <p:spPr bwMode="auto">
          <a:xfrm>
            <a:off x="5670550" y="1724025"/>
            <a:ext cx="827088" cy="339725"/>
          </a:xfrm>
          <a:custGeom>
            <a:avLst/>
            <a:gdLst>
              <a:gd name="T0" fmla="*/ 0 w 521"/>
              <a:gd name="T1" fmla="*/ 214 h 214"/>
              <a:gd name="T2" fmla="*/ 107 w 521"/>
              <a:gd name="T3" fmla="*/ 0 h 214"/>
              <a:gd name="T4" fmla="*/ 521 w 521"/>
              <a:gd name="T5" fmla="*/ 0 h 214"/>
            </a:gdLst>
            <a:ahLst/>
            <a:cxnLst>
              <a:cxn ang="0">
                <a:pos x="T0" y="T1"/>
              </a:cxn>
              <a:cxn ang="0">
                <a:pos x="T2" y="T3"/>
              </a:cxn>
              <a:cxn ang="0">
                <a:pos x="T4" y="T5"/>
              </a:cxn>
            </a:cxnLst>
            <a:rect l="0" t="0" r="r" b="b"/>
            <a:pathLst>
              <a:path w="521" h="214">
                <a:moveTo>
                  <a:pt x="0" y="214"/>
                </a:moveTo>
                <a:lnTo>
                  <a:pt x="107" y="0"/>
                </a:lnTo>
                <a:lnTo>
                  <a:pt x="521" y="0"/>
                </a:lnTo>
              </a:path>
            </a:pathLst>
          </a:custGeom>
          <a:noFill/>
          <a:ln w="238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4937" name="Line 233"/>
          <p:cNvSpPr>
            <a:spLocks noChangeShapeType="1"/>
          </p:cNvSpPr>
          <p:nvPr/>
        </p:nvSpPr>
        <p:spPr bwMode="auto">
          <a:xfrm>
            <a:off x="6251575" y="1571625"/>
            <a:ext cx="1588" cy="633413"/>
          </a:xfrm>
          <a:prstGeom prst="line">
            <a:avLst/>
          </a:prstGeom>
          <a:noFill/>
          <a:ln w="1270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4938" name="Rectangle 234"/>
          <p:cNvSpPr>
            <a:spLocks noChangeArrowheads="1"/>
          </p:cNvSpPr>
          <p:nvPr/>
        </p:nvSpPr>
        <p:spPr bwMode="auto">
          <a:xfrm>
            <a:off x="5973763" y="2306638"/>
            <a:ext cx="393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valid</a:t>
            </a:r>
            <a:endParaRPr lang="en-US" altLang="en-US"/>
          </a:p>
        </p:txBody>
      </p:sp>
      <p:sp>
        <p:nvSpPr>
          <p:cNvPr id="584940" name="Rectangle 236"/>
          <p:cNvSpPr>
            <a:spLocks noChangeArrowheads="1"/>
          </p:cNvSpPr>
          <p:nvPr/>
        </p:nvSpPr>
        <p:spPr bwMode="auto">
          <a:xfrm>
            <a:off x="5973763" y="1787525"/>
            <a:ext cx="3937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valid</a:t>
            </a:r>
            <a:endParaRPr lang="en-US" altLang="en-US"/>
          </a:p>
        </p:txBody>
      </p:sp>
      <p:sp>
        <p:nvSpPr>
          <p:cNvPr id="584942" name="Rectangle 238"/>
          <p:cNvSpPr>
            <a:spLocks noChangeArrowheads="1"/>
          </p:cNvSpPr>
          <p:nvPr/>
        </p:nvSpPr>
        <p:spPr bwMode="auto">
          <a:xfrm>
            <a:off x="7504113" y="2322513"/>
            <a:ext cx="1158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Z</a:t>
            </a:r>
            <a:endParaRPr lang="en-US" altLang="en-US"/>
          </a:p>
        </p:txBody>
      </p:sp>
      <p:sp>
        <p:nvSpPr>
          <p:cNvPr id="584943" name="Rectangle 239"/>
          <p:cNvSpPr>
            <a:spLocks noChangeArrowheads="1"/>
          </p:cNvSpPr>
          <p:nvPr/>
        </p:nvSpPr>
        <p:spPr bwMode="auto">
          <a:xfrm>
            <a:off x="8002588" y="2322513"/>
            <a:ext cx="319087"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500</a:t>
            </a:r>
            <a:endParaRPr lang="en-US" altLang="en-US"/>
          </a:p>
        </p:txBody>
      </p:sp>
      <p:sp>
        <p:nvSpPr>
          <p:cNvPr id="584944" name="Rectangle 240"/>
          <p:cNvSpPr>
            <a:spLocks noChangeArrowheads="1"/>
          </p:cNvSpPr>
          <p:nvPr/>
        </p:nvSpPr>
        <p:spPr bwMode="auto">
          <a:xfrm>
            <a:off x="7932738" y="3217863"/>
            <a:ext cx="593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access</a:t>
            </a:r>
            <a:endParaRPr lang="en-US" altLang="en-US"/>
          </a:p>
        </p:txBody>
      </p:sp>
      <p:sp>
        <p:nvSpPr>
          <p:cNvPr id="584947" name="Rectangle 243"/>
          <p:cNvSpPr>
            <a:spLocks noChangeArrowheads="1"/>
          </p:cNvSpPr>
          <p:nvPr/>
        </p:nvSpPr>
        <p:spPr bwMode="auto">
          <a:xfrm>
            <a:off x="8004175" y="3429000"/>
            <a:ext cx="360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time</a:t>
            </a:r>
            <a:endParaRPr lang="en-US" altLang="en-US"/>
          </a:p>
        </p:txBody>
      </p:sp>
      <p:sp>
        <p:nvSpPr>
          <p:cNvPr id="584948" name="Rectangle 244"/>
          <p:cNvSpPr>
            <a:spLocks noChangeArrowheads="1"/>
          </p:cNvSpPr>
          <p:nvPr/>
        </p:nvSpPr>
        <p:spPr bwMode="auto">
          <a:xfrm>
            <a:off x="6564313" y="2819400"/>
            <a:ext cx="466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setup</a:t>
            </a:r>
            <a:endParaRPr lang="en-US" altLang="en-US"/>
          </a:p>
        </p:txBody>
      </p:sp>
      <p:sp>
        <p:nvSpPr>
          <p:cNvPr id="584949" name="Rectangle 245"/>
          <p:cNvSpPr>
            <a:spLocks noChangeArrowheads="1"/>
          </p:cNvSpPr>
          <p:nvPr/>
        </p:nvSpPr>
        <p:spPr bwMode="auto">
          <a:xfrm>
            <a:off x="6564313" y="3030538"/>
            <a:ext cx="360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time</a:t>
            </a:r>
            <a:endParaRPr lang="en-US" altLang="en-US"/>
          </a:p>
        </p:txBody>
      </p:sp>
      <p:sp>
        <p:nvSpPr>
          <p:cNvPr id="584950" name="Rectangle 246"/>
          <p:cNvSpPr>
            <a:spLocks noChangeArrowheads="1"/>
          </p:cNvSpPr>
          <p:nvPr/>
        </p:nvSpPr>
        <p:spPr bwMode="auto">
          <a:xfrm>
            <a:off x="6805613" y="2349500"/>
            <a:ext cx="361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hold</a:t>
            </a:r>
            <a:endParaRPr lang="en-US" altLang="en-US"/>
          </a:p>
        </p:txBody>
      </p:sp>
      <p:sp>
        <p:nvSpPr>
          <p:cNvPr id="584951" name="Rectangle 247"/>
          <p:cNvSpPr>
            <a:spLocks noChangeArrowheads="1"/>
          </p:cNvSpPr>
          <p:nvPr/>
        </p:nvSpPr>
        <p:spPr bwMode="auto">
          <a:xfrm>
            <a:off x="6805613" y="2560638"/>
            <a:ext cx="360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time</a:t>
            </a:r>
            <a:endParaRPr lang="en-US" altLang="en-US"/>
          </a:p>
        </p:txBody>
      </p:sp>
      <p:sp>
        <p:nvSpPr>
          <p:cNvPr id="584952" name="Rectangle 248"/>
          <p:cNvSpPr>
            <a:spLocks noChangeArrowheads="1"/>
          </p:cNvSpPr>
          <p:nvPr/>
        </p:nvSpPr>
        <p:spPr bwMode="auto">
          <a:xfrm>
            <a:off x="6543675" y="1825625"/>
            <a:ext cx="4667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setup</a:t>
            </a:r>
            <a:endParaRPr lang="en-US" altLang="en-US"/>
          </a:p>
        </p:txBody>
      </p:sp>
      <p:sp>
        <p:nvSpPr>
          <p:cNvPr id="584953" name="Rectangle 249"/>
          <p:cNvSpPr>
            <a:spLocks noChangeArrowheads="1"/>
          </p:cNvSpPr>
          <p:nvPr/>
        </p:nvSpPr>
        <p:spPr bwMode="auto">
          <a:xfrm>
            <a:off x="6543675" y="2036763"/>
            <a:ext cx="360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time</a:t>
            </a:r>
            <a:endParaRPr lang="en-US" altLang="en-US"/>
          </a:p>
        </p:txBody>
      </p:sp>
      <p:sp>
        <p:nvSpPr>
          <p:cNvPr id="584954" name="Rectangle 250"/>
          <p:cNvSpPr>
            <a:spLocks noChangeArrowheads="1"/>
          </p:cNvSpPr>
          <p:nvPr/>
        </p:nvSpPr>
        <p:spPr bwMode="auto">
          <a:xfrm>
            <a:off x="5060950" y="1290638"/>
            <a:ext cx="233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clk</a:t>
            </a:r>
            <a:endParaRPr lang="en-US" altLang="en-US"/>
          </a:p>
        </p:txBody>
      </p:sp>
      <p:sp>
        <p:nvSpPr>
          <p:cNvPr id="584955" name="Rectangle 251"/>
          <p:cNvSpPr>
            <a:spLocks noChangeArrowheads="1"/>
          </p:cNvSpPr>
          <p:nvPr/>
        </p:nvSpPr>
        <p:spPr bwMode="auto">
          <a:xfrm>
            <a:off x="4914900" y="1795463"/>
            <a:ext cx="3825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addr</a:t>
            </a:r>
            <a:endParaRPr lang="en-US" altLang="en-US"/>
          </a:p>
        </p:txBody>
      </p:sp>
      <p:sp>
        <p:nvSpPr>
          <p:cNvPr id="584956" name="Rectangle 252"/>
          <p:cNvSpPr>
            <a:spLocks noChangeArrowheads="1"/>
          </p:cNvSpPr>
          <p:nvPr/>
        </p:nvSpPr>
        <p:spPr bwMode="auto">
          <a:xfrm>
            <a:off x="4929188" y="2328863"/>
            <a:ext cx="3714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data</a:t>
            </a:r>
            <a:endParaRPr lang="en-US" altLang="en-US"/>
          </a:p>
        </p:txBody>
      </p:sp>
      <p:sp>
        <p:nvSpPr>
          <p:cNvPr id="584959" name="Rectangle 255"/>
          <p:cNvSpPr>
            <a:spLocks noChangeArrowheads="1"/>
          </p:cNvSpPr>
          <p:nvPr/>
        </p:nvSpPr>
        <p:spPr bwMode="auto">
          <a:xfrm>
            <a:off x="5073650" y="2868613"/>
            <a:ext cx="635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a:t>
            </a:r>
            <a:endParaRPr lang="en-US" altLang="en-US"/>
          </a:p>
        </p:txBody>
      </p:sp>
      <p:sp>
        <p:nvSpPr>
          <p:cNvPr id="584960" name="Rectangle 256"/>
          <p:cNvSpPr>
            <a:spLocks noChangeArrowheads="1"/>
          </p:cNvSpPr>
          <p:nvPr/>
        </p:nvSpPr>
        <p:spPr bwMode="auto">
          <a:xfrm>
            <a:off x="5140325" y="2868613"/>
            <a:ext cx="13811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w</a:t>
            </a:r>
            <a:endParaRPr lang="en-US"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E7DBFAB2-6791-4697-8396-94626B938F85}" type="slidenum">
              <a:rPr lang="en-US" altLang="en-US"/>
              <a:pPr/>
              <a:t>69</a:t>
            </a:fld>
            <a:endParaRPr lang="en-US" altLang="en-US"/>
          </a:p>
        </p:txBody>
      </p:sp>
      <p:sp>
        <p:nvSpPr>
          <p:cNvPr id="585730" name="Rectangle 2"/>
          <p:cNvSpPr>
            <a:spLocks noGrp="1" noChangeArrowheads="1"/>
          </p:cNvSpPr>
          <p:nvPr>
            <p:ph type="title"/>
          </p:nvPr>
        </p:nvSpPr>
        <p:spPr/>
        <p:txBody>
          <a:bodyPr/>
          <a:lstStyle/>
          <a:p>
            <a:r>
              <a:rPr lang="en-US" altLang="en-US"/>
              <a:t>RAM Example: Digital Sound Recorder</a:t>
            </a:r>
          </a:p>
        </p:txBody>
      </p:sp>
      <p:sp>
        <p:nvSpPr>
          <p:cNvPr id="585731" name="Rectangle 3"/>
          <p:cNvSpPr>
            <a:spLocks noGrp="1" noChangeArrowheads="1"/>
          </p:cNvSpPr>
          <p:nvPr>
            <p:ph type="body" idx="1"/>
          </p:nvPr>
        </p:nvSpPr>
        <p:spPr>
          <a:xfrm>
            <a:off x="203200" y="3625850"/>
            <a:ext cx="8610600" cy="2289175"/>
          </a:xfrm>
        </p:spPr>
        <p:txBody>
          <a:bodyPr/>
          <a:lstStyle/>
          <a:p>
            <a:pPr>
              <a:lnSpc>
                <a:spcPct val="90000"/>
              </a:lnSpc>
            </a:pPr>
            <a:r>
              <a:rPr lang="en-US" altLang="en-US" sz="2000"/>
              <a:t>Behavior</a:t>
            </a:r>
          </a:p>
          <a:p>
            <a:pPr lvl="1">
              <a:lnSpc>
                <a:spcPct val="90000"/>
              </a:lnSpc>
            </a:pPr>
            <a:r>
              <a:rPr lang="en-US" altLang="en-US" sz="1800"/>
              <a:t>Record: Digitize sound, store as series of 4096 12-bit digital values in RAM</a:t>
            </a:r>
          </a:p>
          <a:p>
            <a:pPr lvl="2">
              <a:lnSpc>
                <a:spcPct val="90000"/>
              </a:lnSpc>
            </a:pPr>
            <a:r>
              <a:rPr lang="en-US" altLang="en-US" sz="1600"/>
              <a:t>We’ll use a 4096x16 RAM (12-bit wide RAM not common)</a:t>
            </a:r>
          </a:p>
          <a:p>
            <a:pPr lvl="1">
              <a:lnSpc>
                <a:spcPct val="90000"/>
              </a:lnSpc>
            </a:pPr>
            <a:r>
              <a:rPr lang="en-US" altLang="en-US" sz="1800"/>
              <a:t>Play back later</a:t>
            </a:r>
          </a:p>
          <a:p>
            <a:pPr lvl="1">
              <a:lnSpc>
                <a:spcPct val="90000"/>
              </a:lnSpc>
            </a:pPr>
            <a:r>
              <a:rPr lang="en-US" altLang="en-US" sz="1800"/>
              <a:t>Common behavior in telephone answering machine, toys, voice recorders</a:t>
            </a:r>
          </a:p>
          <a:p>
            <a:pPr>
              <a:lnSpc>
                <a:spcPct val="90000"/>
              </a:lnSpc>
            </a:pPr>
            <a:r>
              <a:rPr lang="en-US" altLang="en-US" sz="2000"/>
              <a:t>To record, processor should read a-to-d, store read values into successive RAM words</a:t>
            </a:r>
          </a:p>
          <a:p>
            <a:pPr lvl="1">
              <a:lnSpc>
                <a:spcPct val="90000"/>
              </a:lnSpc>
            </a:pPr>
            <a:r>
              <a:rPr lang="en-US" altLang="en-US" sz="1800"/>
              <a:t>To play, processor should read successive RAM words and enable d-to-a </a:t>
            </a:r>
          </a:p>
        </p:txBody>
      </p:sp>
      <p:pic>
        <p:nvPicPr>
          <p:cNvPr id="58573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75" y="1106488"/>
            <a:ext cx="7997825" cy="281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lide Number Placeholder 3"/>
          <p:cNvSpPr>
            <a:spLocks noGrp="1"/>
          </p:cNvSpPr>
          <p:nvPr>
            <p:ph type="sldNum" sz="quarter" idx="10"/>
          </p:nvPr>
        </p:nvSpPr>
        <p:spPr/>
        <p:txBody>
          <a:bodyPr/>
          <a:lstStyle/>
          <a:p>
            <a:fld id="{12A004BB-51F6-4AA6-9D78-A4892FF65C6E}" type="slidenum">
              <a:rPr lang="en-US" altLang="en-US"/>
              <a:pPr/>
              <a:t>70</a:t>
            </a:fld>
            <a:endParaRPr lang="en-US" altLang="en-US"/>
          </a:p>
        </p:txBody>
      </p:sp>
      <p:sp>
        <p:nvSpPr>
          <p:cNvPr id="586754" name="Rectangle 2"/>
          <p:cNvSpPr>
            <a:spLocks noGrp="1" noChangeArrowheads="1"/>
          </p:cNvSpPr>
          <p:nvPr>
            <p:ph type="title"/>
          </p:nvPr>
        </p:nvSpPr>
        <p:spPr/>
        <p:txBody>
          <a:bodyPr/>
          <a:lstStyle/>
          <a:p>
            <a:r>
              <a:rPr lang="en-US" altLang="en-US"/>
              <a:t>RAM Example: Digital Sound Recorder</a:t>
            </a:r>
          </a:p>
        </p:txBody>
      </p:sp>
      <p:sp>
        <p:nvSpPr>
          <p:cNvPr id="586755" name="Rectangle 3"/>
          <p:cNvSpPr>
            <a:spLocks noGrp="1" noChangeArrowheads="1"/>
          </p:cNvSpPr>
          <p:nvPr>
            <p:ph type="body" idx="1"/>
          </p:nvPr>
        </p:nvSpPr>
        <p:spPr>
          <a:xfrm>
            <a:off x="228600" y="1219200"/>
            <a:ext cx="4375150" cy="4876800"/>
          </a:xfrm>
        </p:spPr>
        <p:txBody>
          <a:bodyPr/>
          <a:lstStyle/>
          <a:p>
            <a:pPr>
              <a:lnSpc>
                <a:spcPct val="90000"/>
              </a:lnSpc>
            </a:pPr>
            <a:r>
              <a:rPr lang="en-US" altLang="en-US"/>
              <a:t>RTL design of processor</a:t>
            </a:r>
          </a:p>
          <a:p>
            <a:pPr lvl="1">
              <a:lnSpc>
                <a:spcPct val="90000"/>
              </a:lnSpc>
            </a:pPr>
            <a:r>
              <a:rPr lang="en-US" altLang="en-US"/>
              <a:t>Create high-level state machine</a:t>
            </a:r>
          </a:p>
          <a:p>
            <a:pPr lvl="1">
              <a:lnSpc>
                <a:spcPct val="90000"/>
              </a:lnSpc>
            </a:pPr>
            <a:r>
              <a:rPr lang="en-US" altLang="en-US"/>
              <a:t>Begin with the </a:t>
            </a:r>
            <a:r>
              <a:rPr lang="en-US" altLang="en-US" i="1"/>
              <a:t>record</a:t>
            </a:r>
            <a:r>
              <a:rPr lang="en-US" altLang="en-US"/>
              <a:t> behavior</a:t>
            </a:r>
          </a:p>
          <a:p>
            <a:pPr lvl="1">
              <a:lnSpc>
                <a:spcPct val="90000"/>
              </a:lnSpc>
            </a:pPr>
            <a:r>
              <a:rPr lang="en-US" altLang="en-US"/>
              <a:t>Keep local register </a:t>
            </a:r>
            <a:r>
              <a:rPr lang="en-US" altLang="en-US" i="1">
                <a:solidFill>
                  <a:srgbClr val="00FF00"/>
                </a:solidFill>
              </a:rPr>
              <a:t>a</a:t>
            </a:r>
          </a:p>
          <a:p>
            <a:pPr lvl="2">
              <a:lnSpc>
                <a:spcPct val="90000"/>
              </a:lnSpc>
            </a:pPr>
            <a:r>
              <a:rPr lang="en-US" altLang="en-US"/>
              <a:t>Stores current address, ranges from 0 to 4095 (thus need 12 bits)</a:t>
            </a:r>
          </a:p>
          <a:p>
            <a:pPr lvl="1">
              <a:lnSpc>
                <a:spcPct val="90000"/>
              </a:lnSpc>
            </a:pPr>
            <a:r>
              <a:rPr lang="en-US" altLang="en-US"/>
              <a:t>Create state machine that </a:t>
            </a:r>
            <a:r>
              <a:rPr lang="en-US" altLang="en-US">
                <a:solidFill>
                  <a:srgbClr val="00FF00"/>
                </a:solidFill>
              </a:rPr>
              <a:t>counts from 0 to 4095</a:t>
            </a:r>
            <a:r>
              <a:rPr lang="en-US" altLang="en-US"/>
              <a:t> </a:t>
            </a:r>
            <a:r>
              <a:rPr lang="en-US" altLang="en-US">
                <a:solidFill>
                  <a:srgbClr val="00FF00"/>
                </a:solidFill>
              </a:rPr>
              <a:t>using </a:t>
            </a:r>
            <a:r>
              <a:rPr lang="en-US" altLang="en-US" i="1">
                <a:solidFill>
                  <a:srgbClr val="00FF00"/>
                </a:solidFill>
              </a:rPr>
              <a:t>a</a:t>
            </a:r>
          </a:p>
          <a:p>
            <a:pPr lvl="2">
              <a:lnSpc>
                <a:spcPct val="90000"/>
              </a:lnSpc>
            </a:pPr>
            <a:r>
              <a:rPr lang="en-US" altLang="en-US"/>
              <a:t>For each </a:t>
            </a:r>
            <a:r>
              <a:rPr lang="en-US" altLang="en-US" i="1"/>
              <a:t>a</a:t>
            </a:r>
            <a:endParaRPr lang="en-US" altLang="en-US"/>
          </a:p>
          <a:p>
            <a:pPr lvl="3">
              <a:lnSpc>
                <a:spcPct val="90000"/>
              </a:lnSpc>
            </a:pPr>
            <a:r>
              <a:rPr lang="en-US" altLang="en-US">
                <a:solidFill>
                  <a:srgbClr val="FF0000"/>
                </a:solidFill>
              </a:rPr>
              <a:t>Read analog-to-digital conv.</a:t>
            </a:r>
          </a:p>
          <a:p>
            <a:pPr lvl="4">
              <a:lnSpc>
                <a:spcPct val="90000"/>
              </a:lnSpc>
            </a:pPr>
            <a:r>
              <a:rPr lang="en-US" altLang="en-US">
                <a:solidFill>
                  <a:srgbClr val="FF0000"/>
                </a:solidFill>
              </a:rPr>
              <a:t>ad_ld=1, ad_buf=1</a:t>
            </a:r>
          </a:p>
          <a:p>
            <a:pPr lvl="3">
              <a:lnSpc>
                <a:spcPct val="90000"/>
              </a:lnSpc>
            </a:pPr>
            <a:r>
              <a:rPr lang="en-US" altLang="en-US">
                <a:solidFill>
                  <a:srgbClr val="0033CC"/>
                </a:solidFill>
              </a:rPr>
              <a:t>Write to RAM at address </a:t>
            </a:r>
            <a:r>
              <a:rPr lang="en-US" altLang="en-US" i="1">
                <a:solidFill>
                  <a:srgbClr val="0033CC"/>
                </a:solidFill>
              </a:rPr>
              <a:t>a</a:t>
            </a:r>
          </a:p>
          <a:p>
            <a:pPr lvl="4">
              <a:lnSpc>
                <a:spcPct val="90000"/>
              </a:lnSpc>
            </a:pPr>
            <a:r>
              <a:rPr lang="en-US" altLang="en-US">
                <a:solidFill>
                  <a:srgbClr val="0033CC"/>
                </a:solidFill>
              </a:rPr>
              <a:t>Ra=a, Rrw=1, Ren=1</a:t>
            </a:r>
          </a:p>
          <a:p>
            <a:pPr lvl="2">
              <a:lnSpc>
                <a:spcPct val="90000"/>
              </a:lnSpc>
            </a:pPr>
            <a:endParaRPr lang="en-US" altLang="en-US"/>
          </a:p>
          <a:p>
            <a:pPr lvl="2">
              <a:lnSpc>
                <a:spcPct val="90000"/>
              </a:lnSpc>
            </a:pPr>
            <a:endParaRPr lang="en-US" altLang="en-US"/>
          </a:p>
        </p:txBody>
      </p:sp>
      <p:grpSp>
        <p:nvGrpSpPr>
          <p:cNvPr id="586884" name="Group 132"/>
          <p:cNvGrpSpPr>
            <a:grpSpLocks/>
          </p:cNvGrpSpPr>
          <p:nvPr/>
        </p:nvGrpSpPr>
        <p:grpSpPr bwMode="auto">
          <a:xfrm>
            <a:off x="6467475" y="4410075"/>
            <a:ext cx="635000" cy="374650"/>
            <a:chOff x="4074" y="2778"/>
            <a:chExt cx="400" cy="236"/>
          </a:xfrm>
        </p:grpSpPr>
        <p:sp>
          <p:nvSpPr>
            <p:cNvPr id="586776" name="Rectangle 24"/>
            <p:cNvSpPr>
              <a:spLocks noChangeArrowheads="1"/>
            </p:cNvSpPr>
            <p:nvPr/>
          </p:nvSpPr>
          <p:spPr bwMode="auto">
            <a:xfrm>
              <a:off x="4074" y="2778"/>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ad_ld=1</a:t>
              </a:r>
              <a:endParaRPr lang="en-US" altLang="en-US" sz="2400">
                <a:solidFill>
                  <a:srgbClr val="FF0000"/>
                </a:solidFill>
              </a:endParaRPr>
            </a:p>
          </p:txBody>
        </p:sp>
        <p:sp>
          <p:nvSpPr>
            <p:cNvPr id="586777" name="Rectangle 25"/>
            <p:cNvSpPr>
              <a:spLocks noChangeArrowheads="1"/>
            </p:cNvSpPr>
            <p:nvPr/>
          </p:nvSpPr>
          <p:spPr bwMode="auto">
            <a:xfrm>
              <a:off x="4074" y="2889"/>
              <a:ext cx="40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ad_buf=1</a:t>
              </a:r>
              <a:endParaRPr lang="en-US" altLang="en-US" sz="2400">
                <a:solidFill>
                  <a:srgbClr val="FF0000"/>
                </a:solidFill>
              </a:endParaRPr>
            </a:p>
          </p:txBody>
        </p:sp>
      </p:grpSp>
      <p:grpSp>
        <p:nvGrpSpPr>
          <p:cNvPr id="586889" name="Group 137"/>
          <p:cNvGrpSpPr>
            <a:grpSpLocks/>
          </p:cNvGrpSpPr>
          <p:nvPr/>
        </p:nvGrpSpPr>
        <p:grpSpPr bwMode="auto">
          <a:xfrm>
            <a:off x="6467475" y="4767263"/>
            <a:ext cx="492125" cy="555625"/>
            <a:chOff x="4074" y="3003"/>
            <a:chExt cx="310" cy="350"/>
          </a:xfrm>
        </p:grpSpPr>
        <p:sp>
          <p:nvSpPr>
            <p:cNvPr id="586778" name="Rectangle 26"/>
            <p:cNvSpPr>
              <a:spLocks noChangeArrowheads="1"/>
            </p:cNvSpPr>
            <p:nvPr/>
          </p:nvSpPr>
          <p:spPr bwMode="auto">
            <a:xfrm>
              <a:off x="4074" y="3003"/>
              <a:ext cx="2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Ra=a</a:t>
              </a:r>
              <a:endParaRPr lang="en-US" altLang="en-US" sz="2400">
                <a:solidFill>
                  <a:srgbClr val="0033CC"/>
                </a:solidFill>
              </a:endParaRPr>
            </a:p>
          </p:txBody>
        </p:sp>
        <p:sp>
          <p:nvSpPr>
            <p:cNvPr id="586780" name="Rectangle 28"/>
            <p:cNvSpPr>
              <a:spLocks noChangeArrowheads="1"/>
            </p:cNvSpPr>
            <p:nvPr/>
          </p:nvSpPr>
          <p:spPr bwMode="auto">
            <a:xfrm>
              <a:off x="4074" y="3114"/>
              <a:ext cx="3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Rrw=1</a:t>
              </a:r>
              <a:endParaRPr lang="en-US" altLang="en-US" sz="2400">
                <a:solidFill>
                  <a:srgbClr val="0033CC"/>
                </a:solidFill>
              </a:endParaRPr>
            </a:p>
          </p:txBody>
        </p:sp>
        <p:sp>
          <p:nvSpPr>
            <p:cNvPr id="586783" name="Rectangle 31"/>
            <p:cNvSpPr>
              <a:spLocks noChangeArrowheads="1"/>
            </p:cNvSpPr>
            <p:nvPr/>
          </p:nvSpPr>
          <p:spPr bwMode="auto">
            <a:xfrm>
              <a:off x="4074" y="3228"/>
              <a:ext cx="3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Ren=1</a:t>
              </a:r>
              <a:endParaRPr lang="en-US" altLang="en-US" sz="2400">
                <a:solidFill>
                  <a:srgbClr val="0033CC"/>
                </a:solidFill>
              </a:endParaRPr>
            </a:p>
          </p:txBody>
        </p:sp>
      </p:grpSp>
      <p:grpSp>
        <p:nvGrpSpPr>
          <p:cNvPr id="586888" name="Group 136"/>
          <p:cNvGrpSpPr>
            <a:grpSpLocks/>
          </p:cNvGrpSpPr>
          <p:nvPr/>
        </p:nvGrpSpPr>
        <p:grpSpPr bwMode="auto">
          <a:xfrm>
            <a:off x="5726113" y="3590925"/>
            <a:ext cx="2689225" cy="2193925"/>
            <a:chOff x="3607" y="2262"/>
            <a:chExt cx="1694" cy="1382"/>
          </a:xfrm>
        </p:grpSpPr>
        <p:sp>
          <p:nvSpPr>
            <p:cNvPr id="586756" name="Freeform 4"/>
            <p:cNvSpPr>
              <a:spLocks/>
            </p:cNvSpPr>
            <p:nvPr/>
          </p:nvSpPr>
          <p:spPr bwMode="auto">
            <a:xfrm>
              <a:off x="3663" y="2428"/>
              <a:ext cx="72" cy="97"/>
            </a:xfrm>
            <a:custGeom>
              <a:avLst/>
              <a:gdLst>
                <a:gd name="T0" fmla="*/ 72 w 72"/>
                <a:gd name="T1" fmla="*/ 97 h 97"/>
                <a:gd name="T2" fmla="*/ 41 w 72"/>
                <a:gd name="T3" fmla="*/ 0 h 97"/>
                <a:gd name="T4" fmla="*/ 0 w 72"/>
                <a:gd name="T5" fmla="*/ 28 h 97"/>
                <a:gd name="T6" fmla="*/ 72 w 72"/>
                <a:gd name="T7" fmla="*/ 97 h 97"/>
              </a:gdLst>
              <a:ahLst/>
              <a:cxnLst>
                <a:cxn ang="0">
                  <a:pos x="T0" y="T1"/>
                </a:cxn>
                <a:cxn ang="0">
                  <a:pos x="T2" y="T3"/>
                </a:cxn>
                <a:cxn ang="0">
                  <a:pos x="T4" y="T5"/>
                </a:cxn>
                <a:cxn ang="0">
                  <a:pos x="T6" y="T7"/>
                </a:cxn>
              </a:cxnLst>
              <a:rect l="0" t="0" r="r" b="b"/>
              <a:pathLst>
                <a:path w="72" h="97">
                  <a:moveTo>
                    <a:pt x="72" y="97"/>
                  </a:moveTo>
                  <a:lnTo>
                    <a:pt x="41" y="0"/>
                  </a:lnTo>
                  <a:lnTo>
                    <a:pt x="0" y="28"/>
                  </a:lnTo>
                  <a:lnTo>
                    <a:pt x="72"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757" name="Freeform 5"/>
            <p:cNvSpPr>
              <a:spLocks/>
            </p:cNvSpPr>
            <p:nvPr/>
          </p:nvSpPr>
          <p:spPr bwMode="auto">
            <a:xfrm>
              <a:off x="4054" y="2528"/>
              <a:ext cx="103" cy="53"/>
            </a:xfrm>
            <a:custGeom>
              <a:avLst/>
              <a:gdLst>
                <a:gd name="T0" fmla="*/ 103 w 103"/>
                <a:gd name="T1" fmla="*/ 53 h 53"/>
                <a:gd name="T2" fmla="*/ 16 w 103"/>
                <a:gd name="T3" fmla="*/ 0 h 53"/>
                <a:gd name="T4" fmla="*/ 0 w 103"/>
                <a:gd name="T5" fmla="*/ 47 h 53"/>
                <a:gd name="T6" fmla="*/ 103 w 103"/>
                <a:gd name="T7" fmla="*/ 53 h 53"/>
              </a:gdLst>
              <a:ahLst/>
              <a:cxnLst>
                <a:cxn ang="0">
                  <a:pos x="T0" y="T1"/>
                </a:cxn>
                <a:cxn ang="0">
                  <a:pos x="T2" y="T3"/>
                </a:cxn>
                <a:cxn ang="0">
                  <a:pos x="T4" y="T5"/>
                </a:cxn>
                <a:cxn ang="0">
                  <a:pos x="T6" y="T7"/>
                </a:cxn>
              </a:cxnLst>
              <a:rect l="0" t="0" r="r" b="b"/>
              <a:pathLst>
                <a:path w="103" h="53">
                  <a:moveTo>
                    <a:pt x="103" y="53"/>
                  </a:moveTo>
                  <a:lnTo>
                    <a:pt x="16" y="0"/>
                  </a:lnTo>
                  <a:lnTo>
                    <a:pt x="0" y="47"/>
                  </a:lnTo>
                  <a:lnTo>
                    <a:pt x="103"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758" name="Freeform 6"/>
            <p:cNvSpPr>
              <a:spLocks/>
            </p:cNvSpPr>
            <p:nvPr/>
          </p:nvSpPr>
          <p:spPr bwMode="auto">
            <a:xfrm>
              <a:off x="4814" y="2840"/>
              <a:ext cx="81" cy="94"/>
            </a:xfrm>
            <a:custGeom>
              <a:avLst/>
              <a:gdLst>
                <a:gd name="T0" fmla="*/ 81 w 81"/>
                <a:gd name="T1" fmla="*/ 94 h 94"/>
                <a:gd name="T2" fmla="*/ 40 w 81"/>
                <a:gd name="T3" fmla="*/ 0 h 94"/>
                <a:gd name="T4" fmla="*/ 0 w 81"/>
                <a:gd name="T5" fmla="*/ 32 h 94"/>
                <a:gd name="T6" fmla="*/ 81 w 81"/>
                <a:gd name="T7" fmla="*/ 94 h 94"/>
              </a:gdLst>
              <a:ahLst/>
              <a:cxnLst>
                <a:cxn ang="0">
                  <a:pos x="T0" y="T1"/>
                </a:cxn>
                <a:cxn ang="0">
                  <a:pos x="T2" y="T3"/>
                </a:cxn>
                <a:cxn ang="0">
                  <a:pos x="T4" y="T5"/>
                </a:cxn>
                <a:cxn ang="0">
                  <a:pos x="T6" y="T7"/>
                </a:cxn>
              </a:cxnLst>
              <a:rect l="0" t="0" r="r" b="b"/>
              <a:pathLst>
                <a:path w="81" h="94">
                  <a:moveTo>
                    <a:pt x="81" y="94"/>
                  </a:moveTo>
                  <a:lnTo>
                    <a:pt x="40" y="0"/>
                  </a:lnTo>
                  <a:lnTo>
                    <a:pt x="0" y="32"/>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759" name="Freeform 7"/>
            <p:cNvSpPr>
              <a:spLocks/>
            </p:cNvSpPr>
            <p:nvPr/>
          </p:nvSpPr>
          <p:spPr bwMode="auto">
            <a:xfrm>
              <a:off x="4882" y="3572"/>
              <a:ext cx="97" cy="72"/>
            </a:xfrm>
            <a:custGeom>
              <a:avLst/>
              <a:gdLst>
                <a:gd name="T0" fmla="*/ 0 w 97"/>
                <a:gd name="T1" fmla="*/ 72 h 72"/>
                <a:gd name="T2" fmla="*/ 97 w 97"/>
                <a:gd name="T3" fmla="*/ 44 h 72"/>
                <a:gd name="T4" fmla="*/ 72 w 97"/>
                <a:gd name="T5" fmla="*/ 0 h 72"/>
                <a:gd name="T6" fmla="*/ 0 w 97"/>
                <a:gd name="T7" fmla="*/ 72 h 72"/>
              </a:gdLst>
              <a:ahLst/>
              <a:cxnLst>
                <a:cxn ang="0">
                  <a:pos x="T0" y="T1"/>
                </a:cxn>
                <a:cxn ang="0">
                  <a:pos x="T2" y="T3"/>
                </a:cxn>
                <a:cxn ang="0">
                  <a:pos x="T4" y="T5"/>
                </a:cxn>
                <a:cxn ang="0">
                  <a:pos x="T6" y="T7"/>
                </a:cxn>
              </a:cxnLst>
              <a:rect l="0" t="0" r="r" b="b"/>
              <a:pathLst>
                <a:path w="97" h="72">
                  <a:moveTo>
                    <a:pt x="0" y="72"/>
                  </a:moveTo>
                  <a:lnTo>
                    <a:pt x="97" y="44"/>
                  </a:lnTo>
                  <a:lnTo>
                    <a:pt x="72" y="0"/>
                  </a:lnTo>
                  <a:lnTo>
                    <a:pt x="0"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760" name="Freeform 8"/>
            <p:cNvSpPr>
              <a:spLocks/>
            </p:cNvSpPr>
            <p:nvPr/>
          </p:nvSpPr>
          <p:spPr bwMode="auto">
            <a:xfrm>
              <a:off x="4351" y="2525"/>
              <a:ext cx="103" cy="47"/>
            </a:xfrm>
            <a:custGeom>
              <a:avLst/>
              <a:gdLst>
                <a:gd name="T0" fmla="*/ 0 w 103"/>
                <a:gd name="T1" fmla="*/ 34 h 47"/>
                <a:gd name="T2" fmla="*/ 103 w 103"/>
                <a:gd name="T3" fmla="*/ 47 h 47"/>
                <a:gd name="T4" fmla="*/ 97 w 103"/>
                <a:gd name="T5" fmla="*/ 0 h 47"/>
                <a:gd name="T6" fmla="*/ 0 w 103"/>
                <a:gd name="T7" fmla="*/ 34 h 47"/>
              </a:gdLst>
              <a:ahLst/>
              <a:cxnLst>
                <a:cxn ang="0">
                  <a:pos x="T0" y="T1"/>
                </a:cxn>
                <a:cxn ang="0">
                  <a:pos x="T2" y="T3"/>
                </a:cxn>
                <a:cxn ang="0">
                  <a:pos x="T4" y="T5"/>
                </a:cxn>
                <a:cxn ang="0">
                  <a:pos x="T6" y="T7"/>
                </a:cxn>
              </a:cxnLst>
              <a:rect l="0" t="0" r="r" b="b"/>
              <a:pathLst>
                <a:path w="103" h="47">
                  <a:moveTo>
                    <a:pt x="0" y="34"/>
                  </a:moveTo>
                  <a:lnTo>
                    <a:pt x="103" y="47"/>
                  </a:lnTo>
                  <a:lnTo>
                    <a:pt x="97" y="0"/>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761" name="Oval 9"/>
            <p:cNvSpPr>
              <a:spLocks noChangeArrowheads="1"/>
            </p:cNvSpPr>
            <p:nvPr/>
          </p:nvSpPr>
          <p:spPr bwMode="auto">
            <a:xfrm>
              <a:off x="3666" y="2525"/>
              <a:ext cx="232"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762" name="Oval 10"/>
            <p:cNvSpPr>
              <a:spLocks noChangeArrowheads="1"/>
            </p:cNvSpPr>
            <p:nvPr/>
          </p:nvSpPr>
          <p:spPr bwMode="auto">
            <a:xfrm>
              <a:off x="4148" y="2525"/>
              <a:ext cx="231"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763" name="Oval 11"/>
            <p:cNvSpPr>
              <a:spLocks noChangeArrowheads="1"/>
            </p:cNvSpPr>
            <p:nvPr/>
          </p:nvSpPr>
          <p:spPr bwMode="auto">
            <a:xfrm>
              <a:off x="4836" y="2922"/>
              <a:ext cx="231"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764" name="Freeform 12"/>
            <p:cNvSpPr>
              <a:spLocks/>
            </p:cNvSpPr>
            <p:nvPr/>
          </p:nvSpPr>
          <p:spPr bwMode="auto">
            <a:xfrm>
              <a:off x="3607" y="2381"/>
              <a:ext cx="106" cy="116"/>
            </a:xfrm>
            <a:custGeom>
              <a:avLst/>
              <a:gdLst>
                <a:gd name="T0" fmla="*/ 0 w 34"/>
                <a:gd name="T1" fmla="*/ 0 h 37"/>
                <a:gd name="T2" fmla="*/ 34 w 34"/>
                <a:gd name="T3" fmla="*/ 37 h 37"/>
              </a:gdLst>
              <a:ahLst/>
              <a:cxnLst>
                <a:cxn ang="0">
                  <a:pos x="T0" y="T1"/>
                </a:cxn>
                <a:cxn ang="0">
                  <a:pos x="T2" y="T3"/>
                </a:cxn>
              </a:cxnLst>
              <a:rect l="0" t="0" r="r" b="b"/>
              <a:pathLst>
                <a:path w="34" h="37">
                  <a:moveTo>
                    <a:pt x="0" y="0"/>
                  </a:moveTo>
                  <a:cubicBezTo>
                    <a:pt x="0" y="0"/>
                    <a:pt x="24" y="11"/>
                    <a:pt x="34" y="37"/>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765" name="Freeform 13"/>
            <p:cNvSpPr>
              <a:spLocks/>
            </p:cNvSpPr>
            <p:nvPr/>
          </p:nvSpPr>
          <p:spPr bwMode="auto">
            <a:xfrm>
              <a:off x="3885" y="2522"/>
              <a:ext cx="219" cy="65"/>
            </a:xfrm>
            <a:custGeom>
              <a:avLst/>
              <a:gdLst>
                <a:gd name="T0" fmla="*/ 0 w 70"/>
                <a:gd name="T1" fmla="*/ 21 h 21"/>
                <a:gd name="T2" fmla="*/ 70 w 70"/>
                <a:gd name="T3" fmla="*/ 13 h 21"/>
              </a:gdLst>
              <a:ahLst/>
              <a:cxnLst>
                <a:cxn ang="0">
                  <a:pos x="T0" y="T1"/>
                </a:cxn>
                <a:cxn ang="0">
                  <a:pos x="T2" y="T3"/>
                </a:cxn>
              </a:cxnLst>
              <a:rect l="0" t="0" r="r" b="b"/>
              <a:pathLst>
                <a:path w="70" h="21">
                  <a:moveTo>
                    <a:pt x="0" y="21"/>
                  </a:moveTo>
                  <a:cubicBezTo>
                    <a:pt x="0" y="21"/>
                    <a:pt x="33" y="0"/>
                    <a:pt x="70" y="1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766" name="Freeform 14"/>
            <p:cNvSpPr>
              <a:spLocks/>
            </p:cNvSpPr>
            <p:nvPr/>
          </p:nvSpPr>
          <p:spPr bwMode="auto">
            <a:xfrm>
              <a:off x="4379" y="2593"/>
              <a:ext cx="500" cy="322"/>
            </a:xfrm>
            <a:custGeom>
              <a:avLst/>
              <a:gdLst>
                <a:gd name="T0" fmla="*/ 0 w 160"/>
                <a:gd name="T1" fmla="*/ 9 h 103"/>
                <a:gd name="T2" fmla="*/ 160 w 160"/>
                <a:gd name="T3" fmla="*/ 103 h 103"/>
              </a:gdLst>
              <a:ahLst/>
              <a:cxnLst>
                <a:cxn ang="0">
                  <a:pos x="T0" y="T1"/>
                </a:cxn>
                <a:cxn ang="0">
                  <a:pos x="T2" y="T3"/>
                </a:cxn>
              </a:cxnLst>
              <a:rect l="0" t="0" r="r" b="b"/>
              <a:pathLst>
                <a:path w="160" h="103">
                  <a:moveTo>
                    <a:pt x="0" y="9"/>
                  </a:moveTo>
                  <a:cubicBezTo>
                    <a:pt x="0" y="9"/>
                    <a:pt x="91" y="0"/>
                    <a:pt x="160" y="10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767" name="Freeform 15"/>
            <p:cNvSpPr>
              <a:spLocks/>
            </p:cNvSpPr>
            <p:nvPr/>
          </p:nvSpPr>
          <p:spPr bwMode="auto">
            <a:xfrm>
              <a:off x="4392" y="2506"/>
              <a:ext cx="575" cy="412"/>
            </a:xfrm>
            <a:custGeom>
              <a:avLst/>
              <a:gdLst>
                <a:gd name="T0" fmla="*/ 0 w 184"/>
                <a:gd name="T1" fmla="*/ 15 h 132"/>
                <a:gd name="T2" fmla="*/ 184 w 184"/>
                <a:gd name="T3" fmla="*/ 132 h 132"/>
              </a:gdLst>
              <a:ahLst/>
              <a:cxnLst>
                <a:cxn ang="0">
                  <a:pos x="T0" y="T1"/>
                </a:cxn>
                <a:cxn ang="0">
                  <a:pos x="T2" y="T3"/>
                </a:cxn>
              </a:cxnLst>
              <a:rect l="0" t="0" r="r" b="b"/>
              <a:pathLst>
                <a:path w="184" h="132">
                  <a:moveTo>
                    <a:pt x="0" y="15"/>
                  </a:moveTo>
                  <a:cubicBezTo>
                    <a:pt x="0" y="15"/>
                    <a:pt x="179" y="0"/>
                    <a:pt x="184" y="13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768" name="Freeform 16"/>
            <p:cNvSpPr>
              <a:spLocks/>
            </p:cNvSpPr>
            <p:nvPr/>
          </p:nvSpPr>
          <p:spPr bwMode="auto">
            <a:xfrm>
              <a:off x="4942" y="3131"/>
              <a:ext cx="359" cy="475"/>
            </a:xfrm>
            <a:custGeom>
              <a:avLst/>
              <a:gdLst>
                <a:gd name="T0" fmla="*/ 27 w 115"/>
                <a:gd name="T1" fmla="*/ 0 h 152"/>
                <a:gd name="T2" fmla="*/ 0 w 115"/>
                <a:gd name="T3" fmla="*/ 152 h 152"/>
              </a:gdLst>
              <a:ahLst/>
              <a:cxnLst>
                <a:cxn ang="0">
                  <a:pos x="T0" y="T1"/>
                </a:cxn>
                <a:cxn ang="0">
                  <a:pos x="T2" y="T3"/>
                </a:cxn>
              </a:cxnLst>
              <a:rect l="0" t="0" r="r" b="b"/>
              <a:pathLst>
                <a:path w="115" h="152">
                  <a:moveTo>
                    <a:pt x="27" y="0"/>
                  </a:moveTo>
                  <a:cubicBezTo>
                    <a:pt x="27" y="0"/>
                    <a:pt x="115" y="90"/>
                    <a:pt x="0" y="15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769" name="Rectangle 17"/>
            <p:cNvSpPr>
              <a:spLocks noChangeArrowheads="1"/>
            </p:cNvSpPr>
            <p:nvPr/>
          </p:nvSpPr>
          <p:spPr bwMode="auto">
            <a:xfrm>
              <a:off x="3756" y="2587"/>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586770" name="Rectangle 18"/>
            <p:cNvSpPr>
              <a:spLocks noChangeArrowheads="1"/>
            </p:cNvSpPr>
            <p:nvPr/>
          </p:nvSpPr>
          <p:spPr bwMode="auto">
            <a:xfrm>
              <a:off x="3701" y="2764"/>
              <a:ext cx="1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a=0</a:t>
              </a:r>
              <a:endParaRPr lang="en-US" altLang="en-US" sz="2400">
                <a:solidFill>
                  <a:srgbClr val="00FF00"/>
                </a:solidFill>
              </a:endParaRPr>
            </a:p>
          </p:txBody>
        </p:sp>
        <p:sp>
          <p:nvSpPr>
            <p:cNvPr id="586771" name="Rectangle 19"/>
            <p:cNvSpPr>
              <a:spLocks noChangeArrowheads="1"/>
            </p:cNvSpPr>
            <p:nvPr/>
          </p:nvSpPr>
          <p:spPr bwMode="auto">
            <a:xfrm>
              <a:off x="4770" y="3155"/>
              <a:ext cx="29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a=a+1</a:t>
              </a:r>
              <a:endParaRPr lang="en-US" altLang="en-US" sz="2400">
                <a:solidFill>
                  <a:srgbClr val="00FF00"/>
                </a:solidFill>
              </a:endParaRPr>
            </a:p>
          </p:txBody>
        </p:sp>
        <p:sp>
          <p:nvSpPr>
            <p:cNvPr id="586772" name="Rectangle 20"/>
            <p:cNvSpPr>
              <a:spLocks noChangeArrowheads="1"/>
            </p:cNvSpPr>
            <p:nvPr/>
          </p:nvSpPr>
          <p:spPr bwMode="auto">
            <a:xfrm>
              <a:off x="4722" y="3435"/>
              <a:ext cx="3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a=4095</a:t>
              </a:r>
              <a:endParaRPr lang="en-US" altLang="en-US" sz="2400">
                <a:solidFill>
                  <a:srgbClr val="00FF00"/>
                </a:solidFill>
              </a:endParaRPr>
            </a:p>
          </p:txBody>
        </p:sp>
        <p:sp>
          <p:nvSpPr>
            <p:cNvPr id="586773" name="Rectangle 21"/>
            <p:cNvSpPr>
              <a:spLocks noChangeArrowheads="1"/>
            </p:cNvSpPr>
            <p:nvPr/>
          </p:nvSpPr>
          <p:spPr bwMode="auto">
            <a:xfrm>
              <a:off x="4643" y="2457"/>
              <a:ext cx="3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a&lt;4095</a:t>
              </a:r>
              <a:endParaRPr lang="en-US" altLang="en-US" sz="2400">
                <a:solidFill>
                  <a:srgbClr val="00FF00"/>
                </a:solidFill>
              </a:endParaRPr>
            </a:p>
          </p:txBody>
        </p:sp>
        <p:sp>
          <p:nvSpPr>
            <p:cNvPr id="586774" name="Rectangle 22"/>
            <p:cNvSpPr>
              <a:spLocks noChangeArrowheads="1"/>
            </p:cNvSpPr>
            <p:nvPr/>
          </p:nvSpPr>
          <p:spPr bwMode="auto">
            <a:xfrm>
              <a:off x="4234" y="2587"/>
              <a:ext cx="6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586775" name="Rectangle 23"/>
            <p:cNvSpPr>
              <a:spLocks noChangeArrowheads="1"/>
            </p:cNvSpPr>
            <p:nvPr/>
          </p:nvSpPr>
          <p:spPr bwMode="auto">
            <a:xfrm>
              <a:off x="4917" y="2982"/>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U</a:t>
              </a:r>
              <a:endParaRPr lang="en-US" altLang="en-US" sz="2400"/>
            </a:p>
          </p:txBody>
        </p:sp>
        <p:sp>
          <p:nvSpPr>
            <p:cNvPr id="586785" name="Rectangle 33"/>
            <p:cNvSpPr>
              <a:spLocks noChangeArrowheads="1"/>
            </p:cNvSpPr>
            <p:nvPr/>
          </p:nvSpPr>
          <p:spPr bwMode="auto">
            <a:xfrm>
              <a:off x="3773" y="2262"/>
              <a:ext cx="65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Local register:</a:t>
              </a:r>
              <a:endParaRPr lang="en-US" altLang="en-US" sz="2400"/>
            </a:p>
          </p:txBody>
        </p:sp>
        <p:sp>
          <p:nvSpPr>
            <p:cNvPr id="586793" name="Rectangle 41"/>
            <p:cNvSpPr>
              <a:spLocks noChangeArrowheads="1"/>
            </p:cNvSpPr>
            <p:nvPr/>
          </p:nvSpPr>
          <p:spPr bwMode="auto">
            <a:xfrm>
              <a:off x="4423" y="2262"/>
              <a:ext cx="49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 </a:t>
              </a:r>
              <a:r>
                <a:rPr lang="en-US" altLang="en-US" sz="1300">
                  <a:solidFill>
                    <a:srgbClr val="00FF00"/>
                  </a:solidFill>
                  <a:latin typeface="Myriad Roman" charset="0"/>
                </a:rPr>
                <a:t>a (12 bits)</a:t>
              </a:r>
              <a:endParaRPr lang="en-US" altLang="en-US" sz="2400">
                <a:solidFill>
                  <a:srgbClr val="00FF00"/>
                </a:solidFill>
              </a:endParaRPr>
            </a:p>
          </p:txBody>
        </p:sp>
      </p:grpSp>
      <p:grpSp>
        <p:nvGrpSpPr>
          <p:cNvPr id="586890" name="Group 138"/>
          <p:cNvGrpSpPr>
            <a:grpSpLocks/>
          </p:cNvGrpSpPr>
          <p:nvPr/>
        </p:nvGrpSpPr>
        <p:grpSpPr bwMode="auto">
          <a:xfrm>
            <a:off x="4665663" y="1109663"/>
            <a:ext cx="4229100" cy="1928812"/>
            <a:chOff x="2939" y="699"/>
            <a:chExt cx="2664" cy="1215"/>
          </a:xfrm>
        </p:grpSpPr>
        <p:sp>
          <p:nvSpPr>
            <p:cNvPr id="586795" name="Line 43"/>
            <p:cNvSpPr>
              <a:spLocks noChangeShapeType="1"/>
            </p:cNvSpPr>
            <p:nvPr/>
          </p:nvSpPr>
          <p:spPr bwMode="auto">
            <a:xfrm>
              <a:off x="4025" y="1419"/>
              <a:ext cx="90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796" name="Line 44"/>
            <p:cNvSpPr>
              <a:spLocks noChangeShapeType="1"/>
            </p:cNvSpPr>
            <p:nvPr/>
          </p:nvSpPr>
          <p:spPr bwMode="auto">
            <a:xfrm>
              <a:off x="3898" y="1419"/>
              <a:ext cx="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797" name="Freeform 45"/>
            <p:cNvSpPr>
              <a:spLocks/>
            </p:cNvSpPr>
            <p:nvPr/>
          </p:nvSpPr>
          <p:spPr bwMode="auto">
            <a:xfrm>
              <a:off x="3898" y="1347"/>
              <a:ext cx="127" cy="147"/>
            </a:xfrm>
            <a:custGeom>
              <a:avLst/>
              <a:gdLst>
                <a:gd name="T0" fmla="*/ 0 w 132"/>
                <a:gd name="T1" fmla="*/ 165 h 165"/>
                <a:gd name="T2" fmla="*/ 132 w 132"/>
                <a:gd name="T3" fmla="*/ 81 h 165"/>
                <a:gd name="T4" fmla="*/ 0 w 132"/>
                <a:gd name="T5" fmla="*/ 0 h 165"/>
                <a:gd name="T6" fmla="*/ 0 w 132"/>
                <a:gd name="T7" fmla="*/ 165 h 165"/>
              </a:gdLst>
              <a:ahLst/>
              <a:cxnLst>
                <a:cxn ang="0">
                  <a:pos x="T0" y="T1"/>
                </a:cxn>
                <a:cxn ang="0">
                  <a:pos x="T2" y="T3"/>
                </a:cxn>
                <a:cxn ang="0">
                  <a:pos x="T4" y="T5"/>
                </a:cxn>
                <a:cxn ang="0">
                  <a:pos x="T6" y="T7"/>
                </a:cxn>
              </a:cxnLst>
              <a:rect l="0" t="0" r="r" b="b"/>
              <a:pathLst>
                <a:path w="132" h="165">
                  <a:moveTo>
                    <a:pt x="0" y="165"/>
                  </a:moveTo>
                  <a:lnTo>
                    <a:pt x="132" y="81"/>
                  </a:lnTo>
                  <a:lnTo>
                    <a:pt x="0" y="0"/>
                  </a:lnTo>
                  <a:lnTo>
                    <a:pt x="0" y="165"/>
                  </a:lnTo>
                  <a:close/>
                </a:path>
              </a:pathLst>
            </a:custGeom>
            <a:solidFill>
              <a:srgbClr val="FFFFFF"/>
            </a:solidFill>
            <a:ln w="15875" cap="flat">
              <a:solidFill>
                <a:srgbClr val="0078C1"/>
              </a:solidFill>
              <a:prstDash val="solid"/>
              <a:miter lim="800000"/>
              <a:headEnd/>
              <a:tailEnd/>
            </a:ln>
          </p:spPr>
          <p:txBody>
            <a:bodyPr/>
            <a:lstStyle/>
            <a:p>
              <a:endParaRPr lang="en-US"/>
            </a:p>
          </p:txBody>
        </p:sp>
        <p:sp>
          <p:nvSpPr>
            <p:cNvPr id="586798" name="Line 46"/>
            <p:cNvSpPr>
              <a:spLocks noChangeShapeType="1"/>
            </p:cNvSpPr>
            <p:nvPr/>
          </p:nvSpPr>
          <p:spPr bwMode="auto">
            <a:xfrm flipH="1">
              <a:off x="3666" y="1644"/>
              <a:ext cx="22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799" name="Freeform 47"/>
            <p:cNvSpPr>
              <a:spLocks/>
            </p:cNvSpPr>
            <p:nvPr/>
          </p:nvSpPr>
          <p:spPr bwMode="auto">
            <a:xfrm>
              <a:off x="3579" y="1622"/>
              <a:ext cx="96" cy="45"/>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00" name="Line 48"/>
            <p:cNvSpPr>
              <a:spLocks noChangeShapeType="1"/>
            </p:cNvSpPr>
            <p:nvPr/>
          </p:nvSpPr>
          <p:spPr bwMode="auto">
            <a:xfrm>
              <a:off x="4649" y="1644"/>
              <a:ext cx="23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01" name="Freeform 49"/>
            <p:cNvSpPr>
              <a:spLocks/>
            </p:cNvSpPr>
            <p:nvPr/>
          </p:nvSpPr>
          <p:spPr bwMode="auto">
            <a:xfrm>
              <a:off x="4873" y="1622"/>
              <a:ext cx="96" cy="45"/>
            </a:xfrm>
            <a:custGeom>
              <a:avLst/>
              <a:gdLst>
                <a:gd name="T0" fmla="*/ 100 w 100"/>
                <a:gd name="T1" fmla="*/ 25 h 50"/>
                <a:gd name="T2" fmla="*/ 0 w 100"/>
                <a:gd name="T3" fmla="*/ 50 h 50"/>
                <a:gd name="T4" fmla="*/ 0 w 100"/>
                <a:gd name="T5" fmla="*/ 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50"/>
                  </a:lnTo>
                  <a:lnTo>
                    <a:pt x="0" y="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02" name="Line 50"/>
            <p:cNvSpPr>
              <a:spLocks noChangeShapeType="1"/>
            </p:cNvSpPr>
            <p:nvPr/>
          </p:nvSpPr>
          <p:spPr bwMode="auto">
            <a:xfrm>
              <a:off x="3576" y="1419"/>
              <a:ext cx="236"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03" name="Freeform 51"/>
            <p:cNvSpPr>
              <a:spLocks/>
            </p:cNvSpPr>
            <p:nvPr/>
          </p:nvSpPr>
          <p:spPr bwMode="auto">
            <a:xfrm>
              <a:off x="3797" y="1397"/>
              <a:ext cx="96" cy="4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04" name="Freeform 52"/>
            <p:cNvSpPr>
              <a:spLocks/>
            </p:cNvSpPr>
            <p:nvPr/>
          </p:nvSpPr>
          <p:spPr bwMode="auto">
            <a:xfrm>
              <a:off x="4876" y="1397"/>
              <a:ext cx="96" cy="4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05" name="Line 53"/>
            <p:cNvSpPr>
              <a:spLocks noChangeShapeType="1"/>
            </p:cNvSpPr>
            <p:nvPr/>
          </p:nvSpPr>
          <p:spPr bwMode="auto">
            <a:xfrm flipV="1">
              <a:off x="4613" y="1244"/>
              <a:ext cx="1" cy="34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06" name="Freeform 54"/>
            <p:cNvSpPr>
              <a:spLocks/>
            </p:cNvSpPr>
            <p:nvPr/>
          </p:nvSpPr>
          <p:spPr bwMode="auto">
            <a:xfrm>
              <a:off x="4589" y="1170"/>
              <a:ext cx="48" cy="88"/>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07" name="Line 55"/>
            <p:cNvSpPr>
              <a:spLocks noChangeShapeType="1"/>
            </p:cNvSpPr>
            <p:nvPr/>
          </p:nvSpPr>
          <p:spPr bwMode="auto">
            <a:xfrm flipV="1">
              <a:off x="4455" y="1244"/>
              <a:ext cx="1" cy="34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08" name="Freeform 56"/>
            <p:cNvSpPr>
              <a:spLocks/>
            </p:cNvSpPr>
            <p:nvPr/>
          </p:nvSpPr>
          <p:spPr bwMode="auto">
            <a:xfrm>
              <a:off x="4431" y="1170"/>
              <a:ext cx="48" cy="88"/>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09" name="Line 57"/>
            <p:cNvSpPr>
              <a:spLocks noChangeShapeType="1"/>
            </p:cNvSpPr>
            <p:nvPr/>
          </p:nvSpPr>
          <p:spPr bwMode="auto">
            <a:xfrm flipV="1">
              <a:off x="4296" y="1244"/>
              <a:ext cx="1" cy="34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10" name="Freeform 58"/>
            <p:cNvSpPr>
              <a:spLocks/>
            </p:cNvSpPr>
            <p:nvPr/>
          </p:nvSpPr>
          <p:spPr bwMode="auto">
            <a:xfrm>
              <a:off x="4272" y="1170"/>
              <a:ext cx="48" cy="88"/>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11" name="Line 59"/>
            <p:cNvSpPr>
              <a:spLocks noChangeShapeType="1"/>
            </p:cNvSpPr>
            <p:nvPr/>
          </p:nvSpPr>
          <p:spPr bwMode="auto">
            <a:xfrm flipV="1">
              <a:off x="4135" y="1244"/>
              <a:ext cx="1" cy="11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12" name="Freeform 60"/>
            <p:cNvSpPr>
              <a:spLocks/>
            </p:cNvSpPr>
            <p:nvPr/>
          </p:nvSpPr>
          <p:spPr bwMode="auto">
            <a:xfrm>
              <a:off x="4111" y="1170"/>
              <a:ext cx="48" cy="88"/>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13" name="Line 61"/>
            <p:cNvSpPr>
              <a:spLocks noChangeShapeType="1"/>
            </p:cNvSpPr>
            <p:nvPr/>
          </p:nvSpPr>
          <p:spPr bwMode="auto">
            <a:xfrm flipV="1">
              <a:off x="3988" y="1519"/>
              <a:ext cx="1" cy="76"/>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14" name="Freeform 62"/>
            <p:cNvSpPr>
              <a:spLocks/>
            </p:cNvSpPr>
            <p:nvPr/>
          </p:nvSpPr>
          <p:spPr bwMode="auto">
            <a:xfrm>
              <a:off x="3964" y="1444"/>
              <a:ext cx="48" cy="89"/>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15" name="Freeform 63"/>
            <p:cNvSpPr>
              <a:spLocks/>
            </p:cNvSpPr>
            <p:nvPr/>
          </p:nvSpPr>
          <p:spPr bwMode="auto">
            <a:xfrm>
              <a:off x="4111" y="1325"/>
              <a:ext cx="48" cy="89"/>
            </a:xfrm>
            <a:custGeom>
              <a:avLst/>
              <a:gdLst>
                <a:gd name="T0" fmla="*/ 25 w 50"/>
                <a:gd name="T1" fmla="*/ 100 h 100"/>
                <a:gd name="T2" fmla="*/ 0 w 50"/>
                <a:gd name="T3" fmla="*/ 0 h 100"/>
                <a:gd name="T4" fmla="*/ 5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0" y="0"/>
                  </a:lnTo>
                  <a:lnTo>
                    <a:pt x="5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16" name="Freeform 64"/>
            <p:cNvSpPr>
              <a:spLocks/>
            </p:cNvSpPr>
            <p:nvPr/>
          </p:nvSpPr>
          <p:spPr bwMode="auto">
            <a:xfrm>
              <a:off x="3896" y="1803"/>
              <a:ext cx="98" cy="94"/>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817" name="Freeform 65"/>
            <p:cNvSpPr>
              <a:spLocks/>
            </p:cNvSpPr>
            <p:nvPr/>
          </p:nvSpPr>
          <p:spPr bwMode="auto">
            <a:xfrm>
              <a:off x="3896" y="1041"/>
              <a:ext cx="98" cy="92"/>
            </a:xfrm>
            <a:custGeom>
              <a:avLst/>
              <a:gdLst>
                <a:gd name="T0" fmla="*/ 0 w 103"/>
                <a:gd name="T1" fmla="*/ 103 h 103"/>
                <a:gd name="T2" fmla="*/ 103 w 103"/>
                <a:gd name="T3" fmla="*/ 50 h 103"/>
                <a:gd name="T4" fmla="*/ 0 w 103"/>
                <a:gd name="T5" fmla="*/ 0 h 103"/>
              </a:gdLst>
              <a:ahLst/>
              <a:cxnLst>
                <a:cxn ang="0">
                  <a:pos x="T0" y="T1"/>
                </a:cxn>
                <a:cxn ang="0">
                  <a:pos x="T2" y="T3"/>
                </a:cxn>
                <a:cxn ang="0">
                  <a:pos x="T4" y="T5"/>
                </a:cxn>
              </a:cxnLst>
              <a:rect l="0" t="0" r="r" b="b"/>
              <a:pathLst>
                <a:path w="103" h="103">
                  <a:moveTo>
                    <a:pt x="0" y="103"/>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818" name="Freeform 66"/>
            <p:cNvSpPr>
              <a:spLocks/>
            </p:cNvSpPr>
            <p:nvPr/>
          </p:nvSpPr>
          <p:spPr bwMode="auto">
            <a:xfrm>
              <a:off x="2942" y="1677"/>
              <a:ext cx="99" cy="93"/>
            </a:xfrm>
            <a:custGeom>
              <a:avLst/>
              <a:gdLst>
                <a:gd name="T0" fmla="*/ 0 w 104"/>
                <a:gd name="T1" fmla="*/ 104 h 104"/>
                <a:gd name="T2" fmla="*/ 104 w 104"/>
                <a:gd name="T3" fmla="*/ 54 h 104"/>
                <a:gd name="T4" fmla="*/ 0 w 104"/>
                <a:gd name="T5" fmla="*/ 0 h 104"/>
              </a:gdLst>
              <a:ahLst/>
              <a:cxnLst>
                <a:cxn ang="0">
                  <a:pos x="T0" y="T1"/>
                </a:cxn>
                <a:cxn ang="0">
                  <a:pos x="T2" y="T3"/>
                </a:cxn>
                <a:cxn ang="0">
                  <a:pos x="T4" y="T5"/>
                </a:cxn>
              </a:cxnLst>
              <a:rect l="0" t="0" r="r" b="b"/>
              <a:pathLst>
                <a:path w="104" h="104">
                  <a:moveTo>
                    <a:pt x="0" y="104"/>
                  </a:moveTo>
                  <a:lnTo>
                    <a:pt x="104"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819" name="Freeform 67"/>
            <p:cNvSpPr>
              <a:spLocks/>
            </p:cNvSpPr>
            <p:nvPr/>
          </p:nvSpPr>
          <p:spPr bwMode="auto">
            <a:xfrm>
              <a:off x="4257" y="1447"/>
              <a:ext cx="81" cy="75"/>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20" name="Line 68"/>
            <p:cNvSpPr>
              <a:spLocks noChangeShapeType="1"/>
            </p:cNvSpPr>
            <p:nvPr/>
          </p:nvSpPr>
          <p:spPr bwMode="auto">
            <a:xfrm flipH="1">
              <a:off x="4257" y="1447"/>
              <a:ext cx="81" cy="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21" name="Freeform 69"/>
            <p:cNvSpPr>
              <a:spLocks/>
            </p:cNvSpPr>
            <p:nvPr/>
          </p:nvSpPr>
          <p:spPr bwMode="auto">
            <a:xfrm>
              <a:off x="3648" y="1383"/>
              <a:ext cx="80" cy="76"/>
            </a:xfrm>
            <a:custGeom>
              <a:avLst/>
              <a:gdLst>
                <a:gd name="T0" fmla="*/ 84 w 84"/>
                <a:gd name="T1" fmla="*/ 0 h 85"/>
                <a:gd name="T2" fmla="*/ 0 w 84"/>
                <a:gd name="T3" fmla="*/ 85 h 85"/>
                <a:gd name="T4" fmla="*/ 84 w 84"/>
                <a:gd name="T5" fmla="*/ 0 h 85"/>
              </a:gdLst>
              <a:ahLst/>
              <a:cxnLst>
                <a:cxn ang="0">
                  <a:pos x="T0" y="T1"/>
                </a:cxn>
                <a:cxn ang="0">
                  <a:pos x="T2" y="T3"/>
                </a:cxn>
                <a:cxn ang="0">
                  <a:pos x="T4" y="T5"/>
                </a:cxn>
              </a:cxnLst>
              <a:rect l="0" t="0" r="r" b="b"/>
              <a:pathLst>
                <a:path w="84" h="85">
                  <a:moveTo>
                    <a:pt x="84" y="0"/>
                  </a:moveTo>
                  <a:lnTo>
                    <a:pt x="0" y="85"/>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6822" name="Line 70"/>
            <p:cNvSpPr>
              <a:spLocks noChangeShapeType="1"/>
            </p:cNvSpPr>
            <p:nvPr/>
          </p:nvSpPr>
          <p:spPr bwMode="auto">
            <a:xfrm flipH="1">
              <a:off x="3648" y="1383"/>
              <a:ext cx="80" cy="7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6823" name="Rectangle 71"/>
            <p:cNvSpPr>
              <a:spLocks noChangeArrowheads="1"/>
            </p:cNvSpPr>
            <p:nvPr/>
          </p:nvSpPr>
          <p:spPr bwMode="auto">
            <a:xfrm>
              <a:off x="3048" y="1363"/>
              <a:ext cx="43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analog-to-</a:t>
              </a:r>
              <a:endParaRPr lang="en-US" altLang="en-US"/>
            </a:p>
          </p:txBody>
        </p:sp>
        <p:sp>
          <p:nvSpPr>
            <p:cNvPr id="586827" name="Rectangle 75"/>
            <p:cNvSpPr>
              <a:spLocks noChangeArrowheads="1"/>
            </p:cNvSpPr>
            <p:nvPr/>
          </p:nvSpPr>
          <p:spPr bwMode="auto">
            <a:xfrm>
              <a:off x="3129" y="1463"/>
              <a:ext cx="2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digital</a:t>
              </a:r>
              <a:endParaRPr lang="en-US" altLang="en-US"/>
            </a:p>
          </p:txBody>
        </p:sp>
        <p:sp>
          <p:nvSpPr>
            <p:cNvPr id="586830" name="Rectangle 78"/>
            <p:cNvSpPr>
              <a:spLocks noChangeArrowheads="1"/>
            </p:cNvSpPr>
            <p:nvPr/>
          </p:nvSpPr>
          <p:spPr bwMode="auto">
            <a:xfrm>
              <a:off x="3062" y="1563"/>
              <a:ext cx="39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converter</a:t>
              </a:r>
              <a:endParaRPr lang="en-US" altLang="en-US"/>
            </a:p>
          </p:txBody>
        </p:sp>
        <p:sp>
          <p:nvSpPr>
            <p:cNvPr id="586838" name="Rectangle 86"/>
            <p:cNvSpPr>
              <a:spLocks noChangeArrowheads="1"/>
            </p:cNvSpPr>
            <p:nvPr/>
          </p:nvSpPr>
          <p:spPr bwMode="auto">
            <a:xfrm>
              <a:off x="2939" y="1250"/>
              <a:ext cx="631" cy="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839" name="Freeform 87"/>
            <p:cNvSpPr>
              <a:spLocks/>
            </p:cNvSpPr>
            <p:nvPr/>
          </p:nvSpPr>
          <p:spPr bwMode="auto">
            <a:xfrm>
              <a:off x="4975" y="1677"/>
              <a:ext cx="99" cy="93"/>
            </a:xfrm>
            <a:custGeom>
              <a:avLst/>
              <a:gdLst>
                <a:gd name="T0" fmla="*/ 0 w 104"/>
                <a:gd name="T1" fmla="*/ 104 h 104"/>
                <a:gd name="T2" fmla="*/ 104 w 104"/>
                <a:gd name="T3" fmla="*/ 54 h 104"/>
                <a:gd name="T4" fmla="*/ 0 w 104"/>
                <a:gd name="T5" fmla="*/ 0 h 104"/>
              </a:gdLst>
              <a:ahLst/>
              <a:cxnLst>
                <a:cxn ang="0">
                  <a:pos x="T0" y="T1"/>
                </a:cxn>
                <a:cxn ang="0">
                  <a:pos x="T2" y="T3"/>
                </a:cxn>
                <a:cxn ang="0">
                  <a:pos x="T4" y="T5"/>
                </a:cxn>
              </a:cxnLst>
              <a:rect l="0" t="0" r="r" b="b"/>
              <a:pathLst>
                <a:path w="104" h="104">
                  <a:moveTo>
                    <a:pt x="0" y="104"/>
                  </a:moveTo>
                  <a:lnTo>
                    <a:pt x="104"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840" name="Rectangle 88"/>
            <p:cNvSpPr>
              <a:spLocks noChangeArrowheads="1"/>
            </p:cNvSpPr>
            <p:nvPr/>
          </p:nvSpPr>
          <p:spPr bwMode="auto">
            <a:xfrm>
              <a:off x="5090" y="1363"/>
              <a:ext cx="39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digital-to-</a:t>
              </a:r>
              <a:endParaRPr lang="en-US" altLang="en-US"/>
            </a:p>
          </p:txBody>
        </p:sp>
        <p:sp>
          <p:nvSpPr>
            <p:cNvPr id="586846" name="Rectangle 94"/>
            <p:cNvSpPr>
              <a:spLocks noChangeArrowheads="1"/>
            </p:cNvSpPr>
            <p:nvPr/>
          </p:nvSpPr>
          <p:spPr bwMode="auto">
            <a:xfrm>
              <a:off x="5151" y="1463"/>
              <a:ext cx="28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analog</a:t>
              </a:r>
              <a:endParaRPr lang="en-US" altLang="en-US"/>
            </a:p>
          </p:txBody>
        </p:sp>
        <p:sp>
          <p:nvSpPr>
            <p:cNvPr id="586847" name="Rectangle 95"/>
            <p:cNvSpPr>
              <a:spLocks noChangeArrowheads="1"/>
            </p:cNvSpPr>
            <p:nvPr/>
          </p:nvSpPr>
          <p:spPr bwMode="auto">
            <a:xfrm>
              <a:off x="5095" y="1563"/>
              <a:ext cx="39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converter</a:t>
              </a:r>
              <a:endParaRPr lang="en-US" altLang="en-US"/>
            </a:p>
          </p:txBody>
        </p:sp>
        <p:sp>
          <p:nvSpPr>
            <p:cNvPr id="586855" name="Freeform 103"/>
            <p:cNvSpPr>
              <a:spLocks/>
            </p:cNvSpPr>
            <p:nvPr/>
          </p:nvSpPr>
          <p:spPr bwMode="auto">
            <a:xfrm>
              <a:off x="4972" y="1250"/>
              <a:ext cx="631" cy="550"/>
            </a:xfrm>
            <a:custGeom>
              <a:avLst/>
              <a:gdLst>
                <a:gd name="T0" fmla="*/ 660 w 660"/>
                <a:gd name="T1" fmla="*/ 369 h 619"/>
                <a:gd name="T2" fmla="*/ 660 w 660"/>
                <a:gd name="T3" fmla="*/ 619 h 619"/>
                <a:gd name="T4" fmla="*/ 0 w 660"/>
                <a:gd name="T5" fmla="*/ 619 h 619"/>
                <a:gd name="T6" fmla="*/ 0 w 660"/>
                <a:gd name="T7" fmla="*/ 0 h 619"/>
                <a:gd name="T8" fmla="*/ 660 w 660"/>
                <a:gd name="T9" fmla="*/ 0 h 619"/>
                <a:gd name="T10" fmla="*/ 660 w 660"/>
                <a:gd name="T11" fmla="*/ 369 h 619"/>
              </a:gdLst>
              <a:ahLst/>
              <a:cxnLst>
                <a:cxn ang="0">
                  <a:pos x="T0" y="T1"/>
                </a:cxn>
                <a:cxn ang="0">
                  <a:pos x="T2" y="T3"/>
                </a:cxn>
                <a:cxn ang="0">
                  <a:pos x="T4" y="T5"/>
                </a:cxn>
                <a:cxn ang="0">
                  <a:pos x="T6" y="T7"/>
                </a:cxn>
                <a:cxn ang="0">
                  <a:pos x="T8" y="T9"/>
                </a:cxn>
                <a:cxn ang="0">
                  <a:pos x="T10" y="T11"/>
                </a:cxn>
              </a:cxnLst>
              <a:rect l="0" t="0" r="r" b="b"/>
              <a:pathLst>
                <a:path w="660" h="619">
                  <a:moveTo>
                    <a:pt x="660" y="369"/>
                  </a:moveTo>
                  <a:lnTo>
                    <a:pt x="660" y="619"/>
                  </a:lnTo>
                  <a:lnTo>
                    <a:pt x="0" y="619"/>
                  </a:lnTo>
                  <a:lnTo>
                    <a:pt x="0" y="0"/>
                  </a:lnTo>
                  <a:lnTo>
                    <a:pt x="660" y="0"/>
                  </a:lnTo>
                  <a:lnTo>
                    <a:pt x="660" y="369"/>
                  </a:lnTo>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856" name="Rectangle 104"/>
            <p:cNvSpPr>
              <a:spLocks noChangeArrowheads="1"/>
            </p:cNvSpPr>
            <p:nvPr/>
          </p:nvSpPr>
          <p:spPr bwMode="auto">
            <a:xfrm>
              <a:off x="3617" y="1684"/>
              <a:ext cx="2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ad_ld</a:t>
              </a:r>
              <a:endParaRPr lang="en-US" altLang="en-US"/>
            </a:p>
          </p:txBody>
        </p:sp>
        <p:sp>
          <p:nvSpPr>
            <p:cNvPr id="586857" name="Rectangle 105"/>
            <p:cNvSpPr>
              <a:spLocks noChangeArrowheads="1"/>
            </p:cNvSpPr>
            <p:nvPr/>
          </p:nvSpPr>
          <p:spPr bwMode="auto">
            <a:xfrm>
              <a:off x="4692" y="1684"/>
              <a:ext cx="2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da_ld</a:t>
              </a:r>
              <a:endParaRPr lang="en-US" altLang="en-US"/>
            </a:p>
          </p:txBody>
        </p:sp>
        <p:sp>
          <p:nvSpPr>
            <p:cNvPr id="586858" name="Rectangle 106"/>
            <p:cNvSpPr>
              <a:spLocks noChangeArrowheads="1"/>
            </p:cNvSpPr>
            <p:nvPr/>
          </p:nvSpPr>
          <p:spPr bwMode="auto">
            <a:xfrm>
              <a:off x="3893" y="1595"/>
              <a:ext cx="753" cy="319"/>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859" name="Rectangle 107"/>
            <p:cNvSpPr>
              <a:spLocks noChangeArrowheads="1"/>
            </p:cNvSpPr>
            <p:nvPr/>
          </p:nvSpPr>
          <p:spPr bwMode="auto">
            <a:xfrm>
              <a:off x="3893" y="699"/>
              <a:ext cx="897" cy="46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6860" name="Rectangle 108"/>
            <p:cNvSpPr>
              <a:spLocks noChangeArrowheads="1"/>
            </p:cNvSpPr>
            <p:nvPr/>
          </p:nvSpPr>
          <p:spPr bwMode="auto">
            <a:xfrm>
              <a:off x="4470" y="1495"/>
              <a:ext cx="13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Rw</a:t>
              </a:r>
              <a:endParaRPr lang="en-US" altLang="en-US"/>
            </a:p>
          </p:txBody>
        </p:sp>
        <p:sp>
          <p:nvSpPr>
            <p:cNvPr id="586863" name="Rectangle 111"/>
            <p:cNvSpPr>
              <a:spLocks noChangeArrowheads="1"/>
            </p:cNvSpPr>
            <p:nvPr/>
          </p:nvSpPr>
          <p:spPr bwMode="auto">
            <a:xfrm>
              <a:off x="4650" y="1495"/>
              <a:ext cx="1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Ren</a:t>
              </a:r>
              <a:endParaRPr lang="en-US" altLang="en-US"/>
            </a:p>
          </p:txBody>
        </p:sp>
        <p:sp>
          <p:nvSpPr>
            <p:cNvPr id="586865" name="Rectangle 113"/>
            <p:cNvSpPr>
              <a:spLocks noChangeArrowheads="1"/>
            </p:cNvSpPr>
            <p:nvPr/>
          </p:nvSpPr>
          <p:spPr bwMode="auto">
            <a:xfrm>
              <a:off x="4326" y="1495"/>
              <a:ext cx="12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Ra</a:t>
              </a:r>
              <a:endParaRPr lang="en-US" altLang="en-US"/>
            </a:p>
          </p:txBody>
        </p:sp>
        <p:sp>
          <p:nvSpPr>
            <p:cNvPr id="586867" name="Rectangle 115"/>
            <p:cNvSpPr>
              <a:spLocks noChangeArrowheads="1"/>
            </p:cNvSpPr>
            <p:nvPr/>
          </p:nvSpPr>
          <p:spPr bwMode="auto">
            <a:xfrm>
              <a:off x="4145" y="1434"/>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86868" name="Rectangle 116"/>
            <p:cNvSpPr>
              <a:spLocks noChangeArrowheads="1"/>
            </p:cNvSpPr>
            <p:nvPr/>
          </p:nvSpPr>
          <p:spPr bwMode="auto">
            <a:xfrm>
              <a:off x="3658" y="1264"/>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16</a:t>
              </a:r>
              <a:endParaRPr lang="en-US" altLang="en-US"/>
            </a:p>
          </p:txBody>
        </p:sp>
        <p:sp>
          <p:nvSpPr>
            <p:cNvPr id="586869" name="Rectangle 117"/>
            <p:cNvSpPr>
              <a:spLocks noChangeArrowheads="1"/>
            </p:cNvSpPr>
            <p:nvPr/>
          </p:nvSpPr>
          <p:spPr bwMode="auto">
            <a:xfrm>
              <a:off x="4078" y="1696"/>
              <a:ext cx="42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processor</a:t>
              </a:r>
              <a:endParaRPr lang="en-US" altLang="en-US"/>
            </a:p>
          </p:txBody>
        </p:sp>
        <p:sp>
          <p:nvSpPr>
            <p:cNvPr id="586874" name="Rectangle 122"/>
            <p:cNvSpPr>
              <a:spLocks noChangeArrowheads="1"/>
            </p:cNvSpPr>
            <p:nvPr/>
          </p:nvSpPr>
          <p:spPr bwMode="auto">
            <a:xfrm>
              <a:off x="3656" y="1491"/>
              <a:ext cx="29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ad_buf</a:t>
              </a:r>
              <a:endParaRPr lang="en-US" altLang="en-US"/>
            </a:p>
          </p:txBody>
        </p:sp>
        <p:sp>
          <p:nvSpPr>
            <p:cNvPr id="586875" name="Rectangle 123"/>
            <p:cNvSpPr>
              <a:spLocks noChangeArrowheads="1"/>
            </p:cNvSpPr>
            <p:nvPr/>
          </p:nvSpPr>
          <p:spPr bwMode="auto">
            <a:xfrm>
              <a:off x="4167" y="751"/>
              <a:ext cx="36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4096x16</a:t>
              </a:r>
              <a:endParaRPr lang="en-US" altLang="en-US"/>
            </a:p>
          </p:txBody>
        </p:sp>
        <p:sp>
          <p:nvSpPr>
            <p:cNvPr id="586878" name="Rectangle 126"/>
            <p:cNvSpPr>
              <a:spLocks noChangeArrowheads="1"/>
            </p:cNvSpPr>
            <p:nvPr/>
          </p:nvSpPr>
          <p:spPr bwMode="auto">
            <a:xfrm>
              <a:off x="4247" y="851"/>
              <a:ext cx="21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RAM</a:t>
              </a:r>
              <a:endParaRPr lang="en-US" altLang="en-US"/>
            </a:p>
          </p:txBody>
        </p:sp>
      </p:grpSp>
      <p:sp>
        <p:nvSpPr>
          <p:cNvPr id="586882" name="Line 130"/>
          <p:cNvSpPr>
            <a:spLocks noChangeShapeType="1"/>
          </p:cNvSpPr>
          <p:nvPr/>
        </p:nvSpPr>
        <p:spPr bwMode="auto">
          <a:xfrm flipH="1">
            <a:off x="6438900" y="3057525"/>
            <a:ext cx="395288" cy="43338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6883" name="Text Box 131"/>
          <p:cNvSpPr txBox="1">
            <a:spLocks noChangeArrowheads="1"/>
          </p:cNvSpPr>
          <p:nvPr/>
        </p:nvSpPr>
        <p:spPr bwMode="auto">
          <a:xfrm>
            <a:off x="8574088" y="441642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86887" name="Text Box 135"/>
          <p:cNvSpPr txBox="1">
            <a:spLocks noChangeArrowheads="1"/>
          </p:cNvSpPr>
          <p:nvPr/>
        </p:nvSpPr>
        <p:spPr bwMode="auto">
          <a:xfrm>
            <a:off x="4779963" y="3271838"/>
            <a:ext cx="15351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i="1"/>
              <a:t>Record </a:t>
            </a:r>
            <a:r>
              <a:rPr lang="en-US" altLang="en-US" sz="1600"/>
              <a:t>behavior</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68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8688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868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Slide Number Placeholder 3"/>
          <p:cNvSpPr>
            <a:spLocks noGrp="1"/>
          </p:cNvSpPr>
          <p:nvPr>
            <p:ph type="sldNum" sz="quarter" idx="10"/>
          </p:nvPr>
        </p:nvSpPr>
        <p:spPr/>
        <p:txBody>
          <a:bodyPr/>
          <a:lstStyle/>
          <a:p>
            <a:fld id="{AA64B0DD-ACFE-4AAB-B065-621B0B8C7BDD}" type="slidenum">
              <a:rPr lang="en-US" altLang="en-US"/>
              <a:pPr/>
              <a:t>71</a:t>
            </a:fld>
            <a:endParaRPr lang="en-US" altLang="en-US"/>
          </a:p>
        </p:txBody>
      </p:sp>
      <p:sp>
        <p:nvSpPr>
          <p:cNvPr id="588802" name="Rectangle 2"/>
          <p:cNvSpPr>
            <a:spLocks noGrp="1" noChangeArrowheads="1"/>
          </p:cNvSpPr>
          <p:nvPr>
            <p:ph type="title"/>
          </p:nvPr>
        </p:nvSpPr>
        <p:spPr/>
        <p:txBody>
          <a:bodyPr/>
          <a:lstStyle/>
          <a:p>
            <a:r>
              <a:rPr lang="en-US" altLang="en-US"/>
              <a:t>RAM Example: Digital Sound Recorder</a:t>
            </a:r>
          </a:p>
        </p:txBody>
      </p:sp>
      <p:sp>
        <p:nvSpPr>
          <p:cNvPr id="588803" name="Rectangle 3"/>
          <p:cNvSpPr>
            <a:spLocks noGrp="1" noChangeArrowheads="1"/>
          </p:cNvSpPr>
          <p:nvPr>
            <p:ph type="body" idx="1"/>
          </p:nvPr>
        </p:nvSpPr>
        <p:spPr>
          <a:xfrm>
            <a:off x="228600" y="1219200"/>
            <a:ext cx="4530725" cy="4876800"/>
          </a:xfrm>
        </p:spPr>
        <p:txBody>
          <a:bodyPr/>
          <a:lstStyle/>
          <a:p>
            <a:pPr lvl="1">
              <a:lnSpc>
                <a:spcPct val="90000"/>
              </a:lnSpc>
            </a:pPr>
            <a:r>
              <a:rPr lang="en-US" altLang="en-US"/>
              <a:t>Now create</a:t>
            </a:r>
            <a:r>
              <a:rPr lang="en-US" altLang="en-US" i="1"/>
              <a:t> play</a:t>
            </a:r>
            <a:r>
              <a:rPr lang="en-US" altLang="en-US"/>
              <a:t> behavior</a:t>
            </a:r>
          </a:p>
          <a:p>
            <a:pPr lvl="1">
              <a:lnSpc>
                <a:spcPct val="90000"/>
              </a:lnSpc>
            </a:pPr>
            <a:r>
              <a:rPr lang="en-US" altLang="en-US"/>
              <a:t>Use local register </a:t>
            </a:r>
            <a:r>
              <a:rPr lang="en-US" altLang="en-US" i="1">
                <a:solidFill>
                  <a:srgbClr val="00FF00"/>
                </a:solidFill>
              </a:rPr>
              <a:t>a</a:t>
            </a:r>
            <a:r>
              <a:rPr lang="en-US" altLang="en-US"/>
              <a:t> again, create </a:t>
            </a:r>
            <a:r>
              <a:rPr lang="en-US" altLang="en-US">
                <a:solidFill>
                  <a:srgbClr val="00FF00"/>
                </a:solidFill>
              </a:rPr>
              <a:t>state machine that counts from 0 to 4095</a:t>
            </a:r>
            <a:r>
              <a:rPr lang="en-US" altLang="en-US"/>
              <a:t> again</a:t>
            </a:r>
          </a:p>
          <a:p>
            <a:pPr lvl="2">
              <a:lnSpc>
                <a:spcPct val="90000"/>
              </a:lnSpc>
            </a:pPr>
            <a:r>
              <a:rPr lang="en-US" altLang="en-US"/>
              <a:t>For each </a:t>
            </a:r>
            <a:r>
              <a:rPr lang="en-US" altLang="en-US" i="1"/>
              <a:t>a</a:t>
            </a:r>
            <a:endParaRPr lang="en-US" altLang="en-US"/>
          </a:p>
          <a:p>
            <a:pPr lvl="3">
              <a:lnSpc>
                <a:spcPct val="90000"/>
              </a:lnSpc>
            </a:pPr>
            <a:r>
              <a:rPr lang="en-US" altLang="en-US">
                <a:solidFill>
                  <a:srgbClr val="FF0000"/>
                </a:solidFill>
              </a:rPr>
              <a:t>Read RAM</a:t>
            </a:r>
          </a:p>
          <a:p>
            <a:pPr lvl="3">
              <a:lnSpc>
                <a:spcPct val="90000"/>
              </a:lnSpc>
            </a:pPr>
            <a:r>
              <a:rPr lang="en-US" altLang="en-US">
                <a:solidFill>
                  <a:srgbClr val="0033CC"/>
                </a:solidFill>
              </a:rPr>
              <a:t>Write to digital-to-analog conv.</a:t>
            </a:r>
          </a:p>
          <a:p>
            <a:pPr lvl="2">
              <a:lnSpc>
                <a:spcPct val="90000"/>
              </a:lnSpc>
            </a:pPr>
            <a:r>
              <a:rPr lang="en-US" altLang="en-US"/>
              <a:t>Note: Must write d-to-a one cycle </a:t>
            </a:r>
            <a:r>
              <a:rPr lang="en-US" altLang="en-US" i="1"/>
              <a:t>after</a:t>
            </a:r>
            <a:r>
              <a:rPr lang="en-US" altLang="en-US"/>
              <a:t> reading RAM, when the read data is available on the data bus</a:t>
            </a:r>
          </a:p>
          <a:p>
            <a:pPr lvl="1">
              <a:lnSpc>
                <a:spcPct val="90000"/>
              </a:lnSpc>
            </a:pPr>
            <a:r>
              <a:rPr lang="en-US" altLang="en-US"/>
              <a:t>The record and play state machines would be parts of a larger state machine controlled by signals that determine when to record or play</a:t>
            </a:r>
          </a:p>
          <a:p>
            <a:pPr lvl="2">
              <a:lnSpc>
                <a:spcPct val="90000"/>
              </a:lnSpc>
            </a:pPr>
            <a:endParaRPr lang="en-US" altLang="en-US"/>
          </a:p>
          <a:p>
            <a:pPr lvl="2">
              <a:lnSpc>
                <a:spcPct val="90000"/>
              </a:lnSpc>
            </a:pPr>
            <a:endParaRPr lang="en-US" altLang="en-US"/>
          </a:p>
        </p:txBody>
      </p:sp>
      <p:sp>
        <p:nvSpPr>
          <p:cNvPr id="588932" name="Line 132"/>
          <p:cNvSpPr>
            <a:spLocks noChangeShapeType="1"/>
          </p:cNvSpPr>
          <p:nvPr/>
        </p:nvSpPr>
        <p:spPr bwMode="auto">
          <a:xfrm flipH="1">
            <a:off x="6438900" y="3057525"/>
            <a:ext cx="395288" cy="43338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8933" name="Text Box 133"/>
          <p:cNvSpPr txBox="1">
            <a:spLocks noChangeArrowheads="1"/>
          </p:cNvSpPr>
          <p:nvPr/>
        </p:nvSpPr>
        <p:spPr bwMode="auto">
          <a:xfrm>
            <a:off x="8574088" y="441642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88949" name="Rectangle 149"/>
          <p:cNvSpPr>
            <a:spLocks noChangeArrowheads="1"/>
          </p:cNvSpPr>
          <p:nvPr/>
        </p:nvSpPr>
        <p:spPr bwMode="auto">
          <a:xfrm>
            <a:off x="7407275" y="5183188"/>
            <a:ext cx="5429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chemeClr val="accent1"/>
                </a:solidFill>
                <a:latin typeface="Myriad Roman" charset="0"/>
              </a:rPr>
              <a:t>da_ld=1</a:t>
            </a:r>
            <a:endParaRPr lang="en-US" altLang="en-US" sz="2400">
              <a:solidFill>
                <a:schemeClr val="accent1"/>
              </a:solidFill>
            </a:endParaRPr>
          </a:p>
        </p:txBody>
      </p:sp>
      <p:grpSp>
        <p:nvGrpSpPr>
          <p:cNvPr id="588978" name="Group 178"/>
          <p:cNvGrpSpPr>
            <a:grpSpLocks/>
          </p:cNvGrpSpPr>
          <p:nvPr/>
        </p:nvGrpSpPr>
        <p:grpSpPr bwMode="auto">
          <a:xfrm>
            <a:off x="6456363" y="4567238"/>
            <a:ext cx="695325" cy="731837"/>
            <a:chOff x="4067" y="2877"/>
            <a:chExt cx="438" cy="461"/>
          </a:xfrm>
        </p:grpSpPr>
        <p:sp>
          <p:nvSpPr>
            <p:cNvPr id="588955" name="Rectangle 155"/>
            <p:cNvSpPr>
              <a:spLocks noChangeArrowheads="1"/>
            </p:cNvSpPr>
            <p:nvPr/>
          </p:nvSpPr>
          <p:spPr bwMode="auto">
            <a:xfrm>
              <a:off x="4067" y="2877"/>
              <a:ext cx="43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ad_buf=0</a:t>
              </a:r>
              <a:endParaRPr lang="en-US" altLang="en-US" sz="2400">
                <a:solidFill>
                  <a:srgbClr val="FF0000"/>
                </a:solidFill>
              </a:endParaRPr>
            </a:p>
          </p:txBody>
        </p:sp>
        <p:sp>
          <p:nvSpPr>
            <p:cNvPr id="588956" name="Rectangle 156"/>
            <p:cNvSpPr>
              <a:spLocks noChangeArrowheads="1"/>
            </p:cNvSpPr>
            <p:nvPr/>
          </p:nvSpPr>
          <p:spPr bwMode="auto">
            <a:xfrm>
              <a:off x="4067" y="2988"/>
              <a:ext cx="2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Ra=a</a:t>
              </a:r>
              <a:endParaRPr lang="en-US" altLang="en-US" sz="2400">
                <a:solidFill>
                  <a:srgbClr val="FF0000"/>
                </a:solidFill>
              </a:endParaRPr>
            </a:p>
          </p:txBody>
        </p:sp>
        <p:sp>
          <p:nvSpPr>
            <p:cNvPr id="588958" name="Rectangle 158"/>
            <p:cNvSpPr>
              <a:spLocks noChangeArrowheads="1"/>
            </p:cNvSpPr>
            <p:nvPr/>
          </p:nvSpPr>
          <p:spPr bwMode="auto">
            <a:xfrm>
              <a:off x="4067" y="3102"/>
              <a:ext cx="3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Rrw=0</a:t>
              </a:r>
              <a:endParaRPr lang="en-US" altLang="en-US" sz="2400">
                <a:solidFill>
                  <a:srgbClr val="FF0000"/>
                </a:solidFill>
              </a:endParaRPr>
            </a:p>
          </p:txBody>
        </p:sp>
        <p:sp>
          <p:nvSpPr>
            <p:cNvPr id="588961" name="Rectangle 161"/>
            <p:cNvSpPr>
              <a:spLocks noChangeArrowheads="1"/>
            </p:cNvSpPr>
            <p:nvPr/>
          </p:nvSpPr>
          <p:spPr bwMode="auto">
            <a:xfrm>
              <a:off x="4067" y="3213"/>
              <a:ext cx="3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Ren=1</a:t>
              </a:r>
              <a:endParaRPr lang="en-US" altLang="en-US" sz="2400">
                <a:solidFill>
                  <a:srgbClr val="FF0000"/>
                </a:solidFill>
              </a:endParaRPr>
            </a:p>
          </p:txBody>
        </p:sp>
      </p:grpSp>
      <p:grpSp>
        <p:nvGrpSpPr>
          <p:cNvPr id="588979" name="Group 179"/>
          <p:cNvGrpSpPr>
            <a:grpSpLocks/>
          </p:cNvGrpSpPr>
          <p:nvPr/>
        </p:nvGrpSpPr>
        <p:grpSpPr bwMode="auto">
          <a:xfrm>
            <a:off x="5715000" y="3748088"/>
            <a:ext cx="2689225" cy="2193925"/>
            <a:chOff x="3600" y="2361"/>
            <a:chExt cx="1694" cy="1382"/>
          </a:xfrm>
        </p:grpSpPr>
        <p:sp>
          <p:nvSpPr>
            <p:cNvPr id="588934" name="Freeform 134"/>
            <p:cNvSpPr>
              <a:spLocks/>
            </p:cNvSpPr>
            <p:nvPr/>
          </p:nvSpPr>
          <p:spPr bwMode="auto">
            <a:xfrm>
              <a:off x="3656" y="2527"/>
              <a:ext cx="72" cy="97"/>
            </a:xfrm>
            <a:custGeom>
              <a:avLst/>
              <a:gdLst>
                <a:gd name="T0" fmla="*/ 72 w 72"/>
                <a:gd name="T1" fmla="*/ 97 h 97"/>
                <a:gd name="T2" fmla="*/ 41 w 72"/>
                <a:gd name="T3" fmla="*/ 0 h 97"/>
                <a:gd name="T4" fmla="*/ 0 w 72"/>
                <a:gd name="T5" fmla="*/ 28 h 97"/>
                <a:gd name="T6" fmla="*/ 72 w 72"/>
                <a:gd name="T7" fmla="*/ 97 h 97"/>
              </a:gdLst>
              <a:ahLst/>
              <a:cxnLst>
                <a:cxn ang="0">
                  <a:pos x="T0" y="T1"/>
                </a:cxn>
                <a:cxn ang="0">
                  <a:pos x="T2" y="T3"/>
                </a:cxn>
                <a:cxn ang="0">
                  <a:pos x="T4" y="T5"/>
                </a:cxn>
                <a:cxn ang="0">
                  <a:pos x="T6" y="T7"/>
                </a:cxn>
              </a:cxnLst>
              <a:rect l="0" t="0" r="r" b="b"/>
              <a:pathLst>
                <a:path w="72" h="97">
                  <a:moveTo>
                    <a:pt x="72" y="97"/>
                  </a:moveTo>
                  <a:lnTo>
                    <a:pt x="41" y="0"/>
                  </a:lnTo>
                  <a:lnTo>
                    <a:pt x="0" y="28"/>
                  </a:lnTo>
                  <a:lnTo>
                    <a:pt x="72"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8935" name="Freeform 135"/>
            <p:cNvSpPr>
              <a:spLocks/>
            </p:cNvSpPr>
            <p:nvPr/>
          </p:nvSpPr>
          <p:spPr bwMode="auto">
            <a:xfrm>
              <a:off x="4047" y="2627"/>
              <a:ext cx="103" cy="53"/>
            </a:xfrm>
            <a:custGeom>
              <a:avLst/>
              <a:gdLst>
                <a:gd name="T0" fmla="*/ 103 w 103"/>
                <a:gd name="T1" fmla="*/ 53 h 53"/>
                <a:gd name="T2" fmla="*/ 16 w 103"/>
                <a:gd name="T3" fmla="*/ 0 h 53"/>
                <a:gd name="T4" fmla="*/ 0 w 103"/>
                <a:gd name="T5" fmla="*/ 47 h 53"/>
                <a:gd name="T6" fmla="*/ 103 w 103"/>
                <a:gd name="T7" fmla="*/ 53 h 53"/>
              </a:gdLst>
              <a:ahLst/>
              <a:cxnLst>
                <a:cxn ang="0">
                  <a:pos x="T0" y="T1"/>
                </a:cxn>
                <a:cxn ang="0">
                  <a:pos x="T2" y="T3"/>
                </a:cxn>
                <a:cxn ang="0">
                  <a:pos x="T4" y="T5"/>
                </a:cxn>
                <a:cxn ang="0">
                  <a:pos x="T6" y="T7"/>
                </a:cxn>
              </a:cxnLst>
              <a:rect l="0" t="0" r="r" b="b"/>
              <a:pathLst>
                <a:path w="103" h="53">
                  <a:moveTo>
                    <a:pt x="103" y="53"/>
                  </a:moveTo>
                  <a:lnTo>
                    <a:pt x="16" y="0"/>
                  </a:lnTo>
                  <a:lnTo>
                    <a:pt x="0" y="47"/>
                  </a:lnTo>
                  <a:lnTo>
                    <a:pt x="103"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8936" name="Freeform 136"/>
            <p:cNvSpPr>
              <a:spLocks/>
            </p:cNvSpPr>
            <p:nvPr/>
          </p:nvSpPr>
          <p:spPr bwMode="auto">
            <a:xfrm>
              <a:off x="4807" y="2939"/>
              <a:ext cx="81" cy="94"/>
            </a:xfrm>
            <a:custGeom>
              <a:avLst/>
              <a:gdLst>
                <a:gd name="T0" fmla="*/ 81 w 81"/>
                <a:gd name="T1" fmla="*/ 94 h 94"/>
                <a:gd name="T2" fmla="*/ 40 w 81"/>
                <a:gd name="T3" fmla="*/ 0 h 94"/>
                <a:gd name="T4" fmla="*/ 0 w 81"/>
                <a:gd name="T5" fmla="*/ 32 h 94"/>
                <a:gd name="T6" fmla="*/ 81 w 81"/>
                <a:gd name="T7" fmla="*/ 94 h 94"/>
              </a:gdLst>
              <a:ahLst/>
              <a:cxnLst>
                <a:cxn ang="0">
                  <a:pos x="T0" y="T1"/>
                </a:cxn>
                <a:cxn ang="0">
                  <a:pos x="T2" y="T3"/>
                </a:cxn>
                <a:cxn ang="0">
                  <a:pos x="T4" y="T5"/>
                </a:cxn>
                <a:cxn ang="0">
                  <a:pos x="T6" y="T7"/>
                </a:cxn>
              </a:cxnLst>
              <a:rect l="0" t="0" r="r" b="b"/>
              <a:pathLst>
                <a:path w="81" h="94">
                  <a:moveTo>
                    <a:pt x="81" y="94"/>
                  </a:moveTo>
                  <a:lnTo>
                    <a:pt x="40" y="0"/>
                  </a:lnTo>
                  <a:lnTo>
                    <a:pt x="0" y="32"/>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8937" name="Freeform 137"/>
            <p:cNvSpPr>
              <a:spLocks/>
            </p:cNvSpPr>
            <p:nvPr/>
          </p:nvSpPr>
          <p:spPr bwMode="auto">
            <a:xfrm>
              <a:off x="4875" y="3671"/>
              <a:ext cx="97" cy="72"/>
            </a:xfrm>
            <a:custGeom>
              <a:avLst/>
              <a:gdLst>
                <a:gd name="T0" fmla="*/ 0 w 97"/>
                <a:gd name="T1" fmla="*/ 72 h 72"/>
                <a:gd name="T2" fmla="*/ 97 w 97"/>
                <a:gd name="T3" fmla="*/ 44 h 72"/>
                <a:gd name="T4" fmla="*/ 72 w 97"/>
                <a:gd name="T5" fmla="*/ 0 h 72"/>
                <a:gd name="T6" fmla="*/ 0 w 97"/>
                <a:gd name="T7" fmla="*/ 72 h 72"/>
              </a:gdLst>
              <a:ahLst/>
              <a:cxnLst>
                <a:cxn ang="0">
                  <a:pos x="T0" y="T1"/>
                </a:cxn>
                <a:cxn ang="0">
                  <a:pos x="T2" y="T3"/>
                </a:cxn>
                <a:cxn ang="0">
                  <a:pos x="T4" y="T5"/>
                </a:cxn>
                <a:cxn ang="0">
                  <a:pos x="T6" y="T7"/>
                </a:cxn>
              </a:cxnLst>
              <a:rect l="0" t="0" r="r" b="b"/>
              <a:pathLst>
                <a:path w="97" h="72">
                  <a:moveTo>
                    <a:pt x="0" y="72"/>
                  </a:moveTo>
                  <a:lnTo>
                    <a:pt x="97" y="44"/>
                  </a:lnTo>
                  <a:lnTo>
                    <a:pt x="72" y="0"/>
                  </a:lnTo>
                  <a:lnTo>
                    <a:pt x="0" y="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8938" name="Freeform 138"/>
            <p:cNvSpPr>
              <a:spLocks/>
            </p:cNvSpPr>
            <p:nvPr/>
          </p:nvSpPr>
          <p:spPr bwMode="auto">
            <a:xfrm>
              <a:off x="4344" y="2624"/>
              <a:ext cx="103" cy="47"/>
            </a:xfrm>
            <a:custGeom>
              <a:avLst/>
              <a:gdLst>
                <a:gd name="T0" fmla="*/ 0 w 103"/>
                <a:gd name="T1" fmla="*/ 34 h 47"/>
                <a:gd name="T2" fmla="*/ 103 w 103"/>
                <a:gd name="T3" fmla="*/ 47 h 47"/>
                <a:gd name="T4" fmla="*/ 97 w 103"/>
                <a:gd name="T5" fmla="*/ 0 h 47"/>
                <a:gd name="T6" fmla="*/ 0 w 103"/>
                <a:gd name="T7" fmla="*/ 34 h 47"/>
              </a:gdLst>
              <a:ahLst/>
              <a:cxnLst>
                <a:cxn ang="0">
                  <a:pos x="T0" y="T1"/>
                </a:cxn>
                <a:cxn ang="0">
                  <a:pos x="T2" y="T3"/>
                </a:cxn>
                <a:cxn ang="0">
                  <a:pos x="T4" y="T5"/>
                </a:cxn>
                <a:cxn ang="0">
                  <a:pos x="T6" y="T7"/>
                </a:cxn>
              </a:cxnLst>
              <a:rect l="0" t="0" r="r" b="b"/>
              <a:pathLst>
                <a:path w="103" h="47">
                  <a:moveTo>
                    <a:pt x="0" y="34"/>
                  </a:moveTo>
                  <a:lnTo>
                    <a:pt x="103" y="47"/>
                  </a:lnTo>
                  <a:lnTo>
                    <a:pt x="97" y="0"/>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8939" name="Oval 139"/>
            <p:cNvSpPr>
              <a:spLocks noChangeArrowheads="1"/>
            </p:cNvSpPr>
            <p:nvPr/>
          </p:nvSpPr>
          <p:spPr bwMode="auto">
            <a:xfrm>
              <a:off x="3659" y="2624"/>
              <a:ext cx="232"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8940" name="Oval 140"/>
            <p:cNvSpPr>
              <a:spLocks noChangeArrowheads="1"/>
            </p:cNvSpPr>
            <p:nvPr/>
          </p:nvSpPr>
          <p:spPr bwMode="auto">
            <a:xfrm>
              <a:off x="4141" y="2624"/>
              <a:ext cx="231"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8941" name="Oval 141"/>
            <p:cNvSpPr>
              <a:spLocks noChangeArrowheads="1"/>
            </p:cNvSpPr>
            <p:nvPr/>
          </p:nvSpPr>
          <p:spPr bwMode="auto">
            <a:xfrm>
              <a:off x="4829" y="3021"/>
              <a:ext cx="231"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8942" name="Freeform 142"/>
            <p:cNvSpPr>
              <a:spLocks/>
            </p:cNvSpPr>
            <p:nvPr/>
          </p:nvSpPr>
          <p:spPr bwMode="auto">
            <a:xfrm>
              <a:off x="3600" y="2480"/>
              <a:ext cx="106" cy="116"/>
            </a:xfrm>
            <a:custGeom>
              <a:avLst/>
              <a:gdLst>
                <a:gd name="T0" fmla="*/ 0 w 34"/>
                <a:gd name="T1" fmla="*/ 0 h 37"/>
                <a:gd name="T2" fmla="*/ 34 w 34"/>
                <a:gd name="T3" fmla="*/ 37 h 37"/>
              </a:gdLst>
              <a:ahLst/>
              <a:cxnLst>
                <a:cxn ang="0">
                  <a:pos x="T0" y="T1"/>
                </a:cxn>
                <a:cxn ang="0">
                  <a:pos x="T2" y="T3"/>
                </a:cxn>
              </a:cxnLst>
              <a:rect l="0" t="0" r="r" b="b"/>
              <a:pathLst>
                <a:path w="34" h="37">
                  <a:moveTo>
                    <a:pt x="0" y="0"/>
                  </a:moveTo>
                  <a:cubicBezTo>
                    <a:pt x="0" y="0"/>
                    <a:pt x="24" y="11"/>
                    <a:pt x="34" y="37"/>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8943" name="Freeform 143"/>
            <p:cNvSpPr>
              <a:spLocks/>
            </p:cNvSpPr>
            <p:nvPr/>
          </p:nvSpPr>
          <p:spPr bwMode="auto">
            <a:xfrm>
              <a:off x="3878" y="2621"/>
              <a:ext cx="219" cy="65"/>
            </a:xfrm>
            <a:custGeom>
              <a:avLst/>
              <a:gdLst>
                <a:gd name="T0" fmla="*/ 0 w 70"/>
                <a:gd name="T1" fmla="*/ 21 h 21"/>
                <a:gd name="T2" fmla="*/ 70 w 70"/>
                <a:gd name="T3" fmla="*/ 13 h 21"/>
              </a:gdLst>
              <a:ahLst/>
              <a:cxnLst>
                <a:cxn ang="0">
                  <a:pos x="T0" y="T1"/>
                </a:cxn>
                <a:cxn ang="0">
                  <a:pos x="T2" y="T3"/>
                </a:cxn>
              </a:cxnLst>
              <a:rect l="0" t="0" r="r" b="b"/>
              <a:pathLst>
                <a:path w="70" h="21">
                  <a:moveTo>
                    <a:pt x="0" y="21"/>
                  </a:moveTo>
                  <a:cubicBezTo>
                    <a:pt x="0" y="21"/>
                    <a:pt x="33" y="0"/>
                    <a:pt x="70" y="1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8944" name="Freeform 144"/>
            <p:cNvSpPr>
              <a:spLocks/>
            </p:cNvSpPr>
            <p:nvPr/>
          </p:nvSpPr>
          <p:spPr bwMode="auto">
            <a:xfrm>
              <a:off x="4372" y="2692"/>
              <a:ext cx="500" cy="322"/>
            </a:xfrm>
            <a:custGeom>
              <a:avLst/>
              <a:gdLst>
                <a:gd name="T0" fmla="*/ 0 w 160"/>
                <a:gd name="T1" fmla="*/ 9 h 103"/>
                <a:gd name="T2" fmla="*/ 160 w 160"/>
                <a:gd name="T3" fmla="*/ 103 h 103"/>
              </a:gdLst>
              <a:ahLst/>
              <a:cxnLst>
                <a:cxn ang="0">
                  <a:pos x="T0" y="T1"/>
                </a:cxn>
                <a:cxn ang="0">
                  <a:pos x="T2" y="T3"/>
                </a:cxn>
              </a:cxnLst>
              <a:rect l="0" t="0" r="r" b="b"/>
              <a:pathLst>
                <a:path w="160" h="103">
                  <a:moveTo>
                    <a:pt x="0" y="9"/>
                  </a:moveTo>
                  <a:cubicBezTo>
                    <a:pt x="0" y="9"/>
                    <a:pt x="91" y="0"/>
                    <a:pt x="160" y="10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8945" name="Freeform 145"/>
            <p:cNvSpPr>
              <a:spLocks/>
            </p:cNvSpPr>
            <p:nvPr/>
          </p:nvSpPr>
          <p:spPr bwMode="auto">
            <a:xfrm>
              <a:off x="4385" y="2605"/>
              <a:ext cx="575" cy="412"/>
            </a:xfrm>
            <a:custGeom>
              <a:avLst/>
              <a:gdLst>
                <a:gd name="T0" fmla="*/ 0 w 184"/>
                <a:gd name="T1" fmla="*/ 15 h 132"/>
                <a:gd name="T2" fmla="*/ 184 w 184"/>
                <a:gd name="T3" fmla="*/ 132 h 132"/>
              </a:gdLst>
              <a:ahLst/>
              <a:cxnLst>
                <a:cxn ang="0">
                  <a:pos x="T0" y="T1"/>
                </a:cxn>
                <a:cxn ang="0">
                  <a:pos x="T2" y="T3"/>
                </a:cxn>
              </a:cxnLst>
              <a:rect l="0" t="0" r="r" b="b"/>
              <a:pathLst>
                <a:path w="184" h="132">
                  <a:moveTo>
                    <a:pt x="0" y="15"/>
                  </a:moveTo>
                  <a:cubicBezTo>
                    <a:pt x="0" y="15"/>
                    <a:pt x="179" y="0"/>
                    <a:pt x="184" y="13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8946" name="Freeform 146"/>
            <p:cNvSpPr>
              <a:spLocks/>
            </p:cNvSpPr>
            <p:nvPr/>
          </p:nvSpPr>
          <p:spPr bwMode="auto">
            <a:xfrm>
              <a:off x="4935" y="3230"/>
              <a:ext cx="359" cy="475"/>
            </a:xfrm>
            <a:custGeom>
              <a:avLst/>
              <a:gdLst>
                <a:gd name="T0" fmla="*/ 27 w 115"/>
                <a:gd name="T1" fmla="*/ 0 h 152"/>
                <a:gd name="T2" fmla="*/ 0 w 115"/>
                <a:gd name="T3" fmla="*/ 152 h 152"/>
              </a:gdLst>
              <a:ahLst/>
              <a:cxnLst>
                <a:cxn ang="0">
                  <a:pos x="T0" y="T1"/>
                </a:cxn>
                <a:cxn ang="0">
                  <a:pos x="T2" y="T3"/>
                </a:cxn>
              </a:cxnLst>
              <a:rect l="0" t="0" r="r" b="b"/>
              <a:pathLst>
                <a:path w="115" h="152">
                  <a:moveTo>
                    <a:pt x="27" y="0"/>
                  </a:moveTo>
                  <a:cubicBezTo>
                    <a:pt x="27" y="0"/>
                    <a:pt x="115" y="90"/>
                    <a:pt x="0" y="15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8947" name="Rectangle 147"/>
            <p:cNvSpPr>
              <a:spLocks noChangeArrowheads="1"/>
            </p:cNvSpPr>
            <p:nvPr/>
          </p:nvSpPr>
          <p:spPr bwMode="auto">
            <a:xfrm>
              <a:off x="3746" y="2686"/>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V</a:t>
              </a:r>
              <a:endParaRPr lang="en-US" altLang="en-US" sz="2400"/>
            </a:p>
          </p:txBody>
        </p:sp>
        <p:sp>
          <p:nvSpPr>
            <p:cNvPr id="588948" name="Rectangle 148"/>
            <p:cNvSpPr>
              <a:spLocks noChangeArrowheads="1"/>
            </p:cNvSpPr>
            <p:nvPr/>
          </p:nvSpPr>
          <p:spPr bwMode="auto">
            <a:xfrm>
              <a:off x="3694" y="2863"/>
              <a:ext cx="1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a=0</a:t>
              </a:r>
              <a:endParaRPr lang="en-US" altLang="en-US" sz="2400">
                <a:solidFill>
                  <a:srgbClr val="00FF00"/>
                </a:solidFill>
              </a:endParaRPr>
            </a:p>
          </p:txBody>
        </p:sp>
        <p:sp>
          <p:nvSpPr>
            <p:cNvPr id="588950" name="Rectangle 150"/>
            <p:cNvSpPr>
              <a:spLocks noChangeArrowheads="1"/>
            </p:cNvSpPr>
            <p:nvPr/>
          </p:nvSpPr>
          <p:spPr bwMode="auto">
            <a:xfrm>
              <a:off x="4705" y="3379"/>
              <a:ext cx="29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a=a+1</a:t>
              </a:r>
              <a:endParaRPr lang="en-US" altLang="en-US" sz="2400">
                <a:solidFill>
                  <a:srgbClr val="00FF00"/>
                </a:solidFill>
              </a:endParaRPr>
            </a:p>
          </p:txBody>
        </p:sp>
        <p:sp>
          <p:nvSpPr>
            <p:cNvPr id="588951" name="Rectangle 151"/>
            <p:cNvSpPr>
              <a:spLocks noChangeArrowheads="1"/>
            </p:cNvSpPr>
            <p:nvPr/>
          </p:nvSpPr>
          <p:spPr bwMode="auto">
            <a:xfrm>
              <a:off x="4730" y="3585"/>
              <a:ext cx="40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en-US" sz="1200">
                  <a:solidFill>
                    <a:srgbClr val="00FF00"/>
                  </a:solidFill>
                  <a:latin typeface="Myriad Roman" charset="0"/>
                </a:rPr>
                <a:t>a=4095</a:t>
              </a:r>
              <a:endParaRPr lang="en-US" altLang="en-US" sz="2800">
                <a:solidFill>
                  <a:srgbClr val="00FF00"/>
                </a:solidFill>
              </a:endParaRPr>
            </a:p>
          </p:txBody>
        </p:sp>
        <p:sp>
          <p:nvSpPr>
            <p:cNvPr id="588952" name="Rectangle 152"/>
            <p:cNvSpPr>
              <a:spLocks noChangeArrowheads="1"/>
            </p:cNvSpPr>
            <p:nvPr/>
          </p:nvSpPr>
          <p:spPr bwMode="auto">
            <a:xfrm>
              <a:off x="4636" y="2556"/>
              <a:ext cx="3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a&lt;4095</a:t>
              </a:r>
              <a:endParaRPr lang="en-US" altLang="en-US" sz="2400">
                <a:solidFill>
                  <a:srgbClr val="00FF00"/>
                </a:solidFill>
              </a:endParaRPr>
            </a:p>
          </p:txBody>
        </p:sp>
        <p:sp>
          <p:nvSpPr>
            <p:cNvPr id="588953" name="Rectangle 153"/>
            <p:cNvSpPr>
              <a:spLocks noChangeArrowheads="1"/>
            </p:cNvSpPr>
            <p:nvPr/>
          </p:nvSpPr>
          <p:spPr bwMode="auto">
            <a:xfrm>
              <a:off x="4210" y="2686"/>
              <a:ext cx="9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a:t>
              </a:r>
              <a:endParaRPr lang="en-US" altLang="en-US" sz="2400"/>
            </a:p>
          </p:txBody>
        </p:sp>
        <p:sp>
          <p:nvSpPr>
            <p:cNvPr id="588954" name="Rectangle 154"/>
            <p:cNvSpPr>
              <a:spLocks noChangeArrowheads="1"/>
            </p:cNvSpPr>
            <p:nvPr/>
          </p:nvSpPr>
          <p:spPr bwMode="auto">
            <a:xfrm>
              <a:off x="4914" y="3081"/>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X</a:t>
              </a:r>
              <a:endParaRPr lang="en-US" altLang="en-US" sz="2400"/>
            </a:p>
          </p:txBody>
        </p:sp>
        <p:sp>
          <p:nvSpPr>
            <p:cNvPr id="588963" name="Rectangle 163"/>
            <p:cNvSpPr>
              <a:spLocks noChangeArrowheads="1"/>
            </p:cNvSpPr>
            <p:nvPr/>
          </p:nvSpPr>
          <p:spPr bwMode="auto">
            <a:xfrm>
              <a:off x="3838" y="2361"/>
              <a:ext cx="65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Local register:</a:t>
              </a:r>
              <a:endParaRPr lang="en-US" altLang="en-US" sz="2400"/>
            </a:p>
          </p:txBody>
        </p:sp>
        <p:sp>
          <p:nvSpPr>
            <p:cNvPr id="588971" name="Rectangle 171"/>
            <p:cNvSpPr>
              <a:spLocks noChangeArrowheads="1"/>
            </p:cNvSpPr>
            <p:nvPr/>
          </p:nvSpPr>
          <p:spPr bwMode="auto">
            <a:xfrm>
              <a:off x="4524" y="2361"/>
              <a:ext cx="46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 (12 bits)</a:t>
              </a:r>
              <a:endParaRPr lang="en-US" altLang="en-US" sz="2400">
                <a:solidFill>
                  <a:srgbClr val="00FF00"/>
                </a:solidFill>
              </a:endParaRPr>
            </a:p>
          </p:txBody>
        </p:sp>
      </p:grpSp>
      <p:sp>
        <p:nvSpPr>
          <p:cNvPr id="588973" name="Text Box 173"/>
          <p:cNvSpPr txBox="1">
            <a:spLocks noChangeArrowheads="1"/>
          </p:cNvSpPr>
          <p:nvPr/>
        </p:nvSpPr>
        <p:spPr bwMode="auto">
          <a:xfrm>
            <a:off x="4948238" y="3381375"/>
            <a:ext cx="1320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i="1"/>
              <a:t>Play </a:t>
            </a:r>
            <a:r>
              <a:rPr lang="en-US" altLang="en-US" sz="1600"/>
              <a:t>behavior</a:t>
            </a:r>
          </a:p>
        </p:txBody>
      </p:sp>
      <p:sp>
        <p:nvSpPr>
          <p:cNvPr id="588976" name="Text Box 176"/>
          <p:cNvSpPr txBox="1">
            <a:spLocks noChangeArrowheads="1"/>
          </p:cNvSpPr>
          <p:nvPr/>
        </p:nvSpPr>
        <p:spPr bwMode="auto">
          <a:xfrm>
            <a:off x="7908925" y="1260475"/>
            <a:ext cx="857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data bus</a:t>
            </a:r>
          </a:p>
        </p:txBody>
      </p:sp>
      <p:sp>
        <p:nvSpPr>
          <p:cNvPr id="588977" name="Line 177"/>
          <p:cNvSpPr>
            <a:spLocks noChangeShapeType="1"/>
          </p:cNvSpPr>
          <p:nvPr/>
        </p:nvSpPr>
        <p:spPr bwMode="auto">
          <a:xfrm flipH="1">
            <a:off x="7627938" y="1563688"/>
            <a:ext cx="385762" cy="6619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589031" name="Group 231"/>
          <p:cNvGrpSpPr>
            <a:grpSpLocks/>
          </p:cNvGrpSpPr>
          <p:nvPr/>
        </p:nvGrpSpPr>
        <p:grpSpPr bwMode="auto">
          <a:xfrm>
            <a:off x="4656138" y="1109663"/>
            <a:ext cx="4229100" cy="1928812"/>
            <a:chOff x="2939" y="699"/>
            <a:chExt cx="2664" cy="1215"/>
          </a:xfrm>
        </p:grpSpPr>
        <p:sp>
          <p:nvSpPr>
            <p:cNvPr id="589032" name="Line 232"/>
            <p:cNvSpPr>
              <a:spLocks noChangeShapeType="1"/>
            </p:cNvSpPr>
            <p:nvPr/>
          </p:nvSpPr>
          <p:spPr bwMode="auto">
            <a:xfrm>
              <a:off x="4025" y="1419"/>
              <a:ext cx="908"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33" name="Line 233"/>
            <p:cNvSpPr>
              <a:spLocks noChangeShapeType="1"/>
            </p:cNvSpPr>
            <p:nvPr/>
          </p:nvSpPr>
          <p:spPr bwMode="auto">
            <a:xfrm>
              <a:off x="3898" y="1419"/>
              <a:ext cx="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34" name="Freeform 234"/>
            <p:cNvSpPr>
              <a:spLocks/>
            </p:cNvSpPr>
            <p:nvPr/>
          </p:nvSpPr>
          <p:spPr bwMode="auto">
            <a:xfrm>
              <a:off x="3898" y="1347"/>
              <a:ext cx="127" cy="147"/>
            </a:xfrm>
            <a:custGeom>
              <a:avLst/>
              <a:gdLst>
                <a:gd name="T0" fmla="*/ 0 w 132"/>
                <a:gd name="T1" fmla="*/ 165 h 165"/>
                <a:gd name="T2" fmla="*/ 132 w 132"/>
                <a:gd name="T3" fmla="*/ 81 h 165"/>
                <a:gd name="T4" fmla="*/ 0 w 132"/>
                <a:gd name="T5" fmla="*/ 0 h 165"/>
                <a:gd name="T6" fmla="*/ 0 w 132"/>
                <a:gd name="T7" fmla="*/ 165 h 165"/>
              </a:gdLst>
              <a:ahLst/>
              <a:cxnLst>
                <a:cxn ang="0">
                  <a:pos x="T0" y="T1"/>
                </a:cxn>
                <a:cxn ang="0">
                  <a:pos x="T2" y="T3"/>
                </a:cxn>
                <a:cxn ang="0">
                  <a:pos x="T4" y="T5"/>
                </a:cxn>
                <a:cxn ang="0">
                  <a:pos x="T6" y="T7"/>
                </a:cxn>
              </a:cxnLst>
              <a:rect l="0" t="0" r="r" b="b"/>
              <a:pathLst>
                <a:path w="132" h="165">
                  <a:moveTo>
                    <a:pt x="0" y="165"/>
                  </a:moveTo>
                  <a:lnTo>
                    <a:pt x="132" y="81"/>
                  </a:lnTo>
                  <a:lnTo>
                    <a:pt x="0" y="0"/>
                  </a:lnTo>
                  <a:lnTo>
                    <a:pt x="0" y="165"/>
                  </a:lnTo>
                  <a:close/>
                </a:path>
              </a:pathLst>
            </a:custGeom>
            <a:solidFill>
              <a:srgbClr val="FFFFFF"/>
            </a:solidFill>
            <a:ln w="15875" cap="flat">
              <a:solidFill>
                <a:srgbClr val="0078C1"/>
              </a:solidFill>
              <a:prstDash val="solid"/>
              <a:miter lim="800000"/>
              <a:headEnd/>
              <a:tailEnd/>
            </a:ln>
          </p:spPr>
          <p:txBody>
            <a:bodyPr/>
            <a:lstStyle/>
            <a:p>
              <a:endParaRPr lang="en-US"/>
            </a:p>
          </p:txBody>
        </p:sp>
        <p:sp>
          <p:nvSpPr>
            <p:cNvPr id="589035" name="Line 235"/>
            <p:cNvSpPr>
              <a:spLocks noChangeShapeType="1"/>
            </p:cNvSpPr>
            <p:nvPr/>
          </p:nvSpPr>
          <p:spPr bwMode="auto">
            <a:xfrm flipH="1">
              <a:off x="3666" y="1644"/>
              <a:ext cx="22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36" name="Freeform 236"/>
            <p:cNvSpPr>
              <a:spLocks/>
            </p:cNvSpPr>
            <p:nvPr/>
          </p:nvSpPr>
          <p:spPr bwMode="auto">
            <a:xfrm>
              <a:off x="3579" y="1622"/>
              <a:ext cx="96" cy="45"/>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37" name="Line 237"/>
            <p:cNvSpPr>
              <a:spLocks noChangeShapeType="1"/>
            </p:cNvSpPr>
            <p:nvPr/>
          </p:nvSpPr>
          <p:spPr bwMode="auto">
            <a:xfrm>
              <a:off x="4649" y="1644"/>
              <a:ext cx="237"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38" name="Freeform 238"/>
            <p:cNvSpPr>
              <a:spLocks/>
            </p:cNvSpPr>
            <p:nvPr/>
          </p:nvSpPr>
          <p:spPr bwMode="auto">
            <a:xfrm>
              <a:off x="4873" y="1622"/>
              <a:ext cx="96" cy="45"/>
            </a:xfrm>
            <a:custGeom>
              <a:avLst/>
              <a:gdLst>
                <a:gd name="T0" fmla="*/ 100 w 100"/>
                <a:gd name="T1" fmla="*/ 25 h 50"/>
                <a:gd name="T2" fmla="*/ 0 w 100"/>
                <a:gd name="T3" fmla="*/ 50 h 50"/>
                <a:gd name="T4" fmla="*/ 0 w 100"/>
                <a:gd name="T5" fmla="*/ 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50"/>
                  </a:lnTo>
                  <a:lnTo>
                    <a:pt x="0" y="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39" name="Line 239"/>
            <p:cNvSpPr>
              <a:spLocks noChangeShapeType="1"/>
            </p:cNvSpPr>
            <p:nvPr/>
          </p:nvSpPr>
          <p:spPr bwMode="auto">
            <a:xfrm>
              <a:off x="3576" y="1419"/>
              <a:ext cx="236"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40" name="Freeform 240"/>
            <p:cNvSpPr>
              <a:spLocks/>
            </p:cNvSpPr>
            <p:nvPr/>
          </p:nvSpPr>
          <p:spPr bwMode="auto">
            <a:xfrm>
              <a:off x="3797" y="1397"/>
              <a:ext cx="96" cy="4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41" name="Freeform 241"/>
            <p:cNvSpPr>
              <a:spLocks/>
            </p:cNvSpPr>
            <p:nvPr/>
          </p:nvSpPr>
          <p:spPr bwMode="auto">
            <a:xfrm>
              <a:off x="4876" y="1397"/>
              <a:ext cx="96" cy="45"/>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42" name="Line 242"/>
            <p:cNvSpPr>
              <a:spLocks noChangeShapeType="1"/>
            </p:cNvSpPr>
            <p:nvPr/>
          </p:nvSpPr>
          <p:spPr bwMode="auto">
            <a:xfrm flipV="1">
              <a:off x="4613" y="1244"/>
              <a:ext cx="1" cy="34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43" name="Freeform 243"/>
            <p:cNvSpPr>
              <a:spLocks/>
            </p:cNvSpPr>
            <p:nvPr/>
          </p:nvSpPr>
          <p:spPr bwMode="auto">
            <a:xfrm>
              <a:off x="4589" y="1170"/>
              <a:ext cx="48" cy="88"/>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44" name="Line 244"/>
            <p:cNvSpPr>
              <a:spLocks noChangeShapeType="1"/>
            </p:cNvSpPr>
            <p:nvPr/>
          </p:nvSpPr>
          <p:spPr bwMode="auto">
            <a:xfrm flipV="1">
              <a:off x="4455" y="1244"/>
              <a:ext cx="1" cy="34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45" name="Freeform 245"/>
            <p:cNvSpPr>
              <a:spLocks/>
            </p:cNvSpPr>
            <p:nvPr/>
          </p:nvSpPr>
          <p:spPr bwMode="auto">
            <a:xfrm>
              <a:off x="4431" y="1170"/>
              <a:ext cx="48" cy="88"/>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46" name="Line 246"/>
            <p:cNvSpPr>
              <a:spLocks noChangeShapeType="1"/>
            </p:cNvSpPr>
            <p:nvPr/>
          </p:nvSpPr>
          <p:spPr bwMode="auto">
            <a:xfrm flipV="1">
              <a:off x="4296" y="1244"/>
              <a:ext cx="1" cy="34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47" name="Freeform 247"/>
            <p:cNvSpPr>
              <a:spLocks/>
            </p:cNvSpPr>
            <p:nvPr/>
          </p:nvSpPr>
          <p:spPr bwMode="auto">
            <a:xfrm>
              <a:off x="4272" y="1170"/>
              <a:ext cx="48" cy="88"/>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48" name="Line 248"/>
            <p:cNvSpPr>
              <a:spLocks noChangeShapeType="1"/>
            </p:cNvSpPr>
            <p:nvPr/>
          </p:nvSpPr>
          <p:spPr bwMode="auto">
            <a:xfrm flipV="1">
              <a:off x="4135" y="1244"/>
              <a:ext cx="1" cy="117"/>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49" name="Freeform 249"/>
            <p:cNvSpPr>
              <a:spLocks/>
            </p:cNvSpPr>
            <p:nvPr/>
          </p:nvSpPr>
          <p:spPr bwMode="auto">
            <a:xfrm>
              <a:off x="4111" y="1170"/>
              <a:ext cx="48" cy="88"/>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50" name="Line 250"/>
            <p:cNvSpPr>
              <a:spLocks noChangeShapeType="1"/>
            </p:cNvSpPr>
            <p:nvPr/>
          </p:nvSpPr>
          <p:spPr bwMode="auto">
            <a:xfrm flipV="1">
              <a:off x="3988" y="1519"/>
              <a:ext cx="1" cy="76"/>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51" name="Freeform 251"/>
            <p:cNvSpPr>
              <a:spLocks/>
            </p:cNvSpPr>
            <p:nvPr/>
          </p:nvSpPr>
          <p:spPr bwMode="auto">
            <a:xfrm>
              <a:off x="3964" y="1444"/>
              <a:ext cx="48" cy="89"/>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52" name="Freeform 252"/>
            <p:cNvSpPr>
              <a:spLocks/>
            </p:cNvSpPr>
            <p:nvPr/>
          </p:nvSpPr>
          <p:spPr bwMode="auto">
            <a:xfrm>
              <a:off x="4111" y="1325"/>
              <a:ext cx="48" cy="89"/>
            </a:xfrm>
            <a:custGeom>
              <a:avLst/>
              <a:gdLst>
                <a:gd name="T0" fmla="*/ 25 w 50"/>
                <a:gd name="T1" fmla="*/ 100 h 100"/>
                <a:gd name="T2" fmla="*/ 0 w 50"/>
                <a:gd name="T3" fmla="*/ 0 h 100"/>
                <a:gd name="T4" fmla="*/ 5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0" y="0"/>
                  </a:lnTo>
                  <a:lnTo>
                    <a:pt x="5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53" name="Freeform 253"/>
            <p:cNvSpPr>
              <a:spLocks/>
            </p:cNvSpPr>
            <p:nvPr/>
          </p:nvSpPr>
          <p:spPr bwMode="auto">
            <a:xfrm>
              <a:off x="3896" y="1803"/>
              <a:ext cx="98" cy="94"/>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054" name="Freeform 254"/>
            <p:cNvSpPr>
              <a:spLocks/>
            </p:cNvSpPr>
            <p:nvPr/>
          </p:nvSpPr>
          <p:spPr bwMode="auto">
            <a:xfrm>
              <a:off x="3896" y="1041"/>
              <a:ext cx="98" cy="92"/>
            </a:xfrm>
            <a:custGeom>
              <a:avLst/>
              <a:gdLst>
                <a:gd name="T0" fmla="*/ 0 w 103"/>
                <a:gd name="T1" fmla="*/ 103 h 103"/>
                <a:gd name="T2" fmla="*/ 103 w 103"/>
                <a:gd name="T3" fmla="*/ 50 h 103"/>
                <a:gd name="T4" fmla="*/ 0 w 103"/>
                <a:gd name="T5" fmla="*/ 0 h 103"/>
              </a:gdLst>
              <a:ahLst/>
              <a:cxnLst>
                <a:cxn ang="0">
                  <a:pos x="T0" y="T1"/>
                </a:cxn>
                <a:cxn ang="0">
                  <a:pos x="T2" y="T3"/>
                </a:cxn>
                <a:cxn ang="0">
                  <a:pos x="T4" y="T5"/>
                </a:cxn>
              </a:cxnLst>
              <a:rect l="0" t="0" r="r" b="b"/>
              <a:pathLst>
                <a:path w="103" h="103">
                  <a:moveTo>
                    <a:pt x="0" y="103"/>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055" name="Freeform 255"/>
            <p:cNvSpPr>
              <a:spLocks/>
            </p:cNvSpPr>
            <p:nvPr/>
          </p:nvSpPr>
          <p:spPr bwMode="auto">
            <a:xfrm>
              <a:off x="2942" y="1677"/>
              <a:ext cx="99" cy="93"/>
            </a:xfrm>
            <a:custGeom>
              <a:avLst/>
              <a:gdLst>
                <a:gd name="T0" fmla="*/ 0 w 104"/>
                <a:gd name="T1" fmla="*/ 104 h 104"/>
                <a:gd name="T2" fmla="*/ 104 w 104"/>
                <a:gd name="T3" fmla="*/ 54 h 104"/>
                <a:gd name="T4" fmla="*/ 0 w 104"/>
                <a:gd name="T5" fmla="*/ 0 h 104"/>
              </a:gdLst>
              <a:ahLst/>
              <a:cxnLst>
                <a:cxn ang="0">
                  <a:pos x="T0" y="T1"/>
                </a:cxn>
                <a:cxn ang="0">
                  <a:pos x="T2" y="T3"/>
                </a:cxn>
                <a:cxn ang="0">
                  <a:pos x="T4" y="T5"/>
                </a:cxn>
              </a:cxnLst>
              <a:rect l="0" t="0" r="r" b="b"/>
              <a:pathLst>
                <a:path w="104" h="104">
                  <a:moveTo>
                    <a:pt x="0" y="104"/>
                  </a:moveTo>
                  <a:lnTo>
                    <a:pt x="104"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056" name="Freeform 256"/>
            <p:cNvSpPr>
              <a:spLocks/>
            </p:cNvSpPr>
            <p:nvPr/>
          </p:nvSpPr>
          <p:spPr bwMode="auto">
            <a:xfrm>
              <a:off x="4257" y="1447"/>
              <a:ext cx="81" cy="75"/>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57" name="Line 257"/>
            <p:cNvSpPr>
              <a:spLocks noChangeShapeType="1"/>
            </p:cNvSpPr>
            <p:nvPr/>
          </p:nvSpPr>
          <p:spPr bwMode="auto">
            <a:xfrm flipH="1">
              <a:off x="4257" y="1447"/>
              <a:ext cx="81" cy="7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58" name="Freeform 258"/>
            <p:cNvSpPr>
              <a:spLocks/>
            </p:cNvSpPr>
            <p:nvPr/>
          </p:nvSpPr>
          <p:spPr bwMode="auto">
            <a:xfrm>
              <a:off x="3648" y="1383"/>
              <a:ext cx="80" cy="76"/>
            </a:xfrm>
            <a:custGeom>
              <a:avLst/>
              <a:gdLst>
                <a:gd name="T0" fmla="*/ 84 w 84"/>
                <a:gd name="T1" fmla="*/ 0 h 85"/>
                <a:gd name="T2" fmla="*/ 0 w 84"/>
                <a:gd name="T3" fmla="*/ 85 h 85"/>
                <a:gd name="T4" fmla="*/ 84 w 84"/>
                <a:gd name="T5" fmla="*/ 0 h 85"/>
              </a:gdLst>
              <a:ahLst/>
              <a:cxnLst>
                <a:cxn ang="0">
                  <a:pos x="T0" y="T1"/>
                </a:cxn>
                <a:cxn ang="0">
                  <a:pos x="T2" y="T3"/>
                </a:cxn>
                <a:cxn ang="0">
                  <a:pos x="T4" y="T5"/>
                </a:cxn>
              </a:cxnLst>
              <a:rect l="0" t="0" r="r" b="b"/>
              <a:pathLst>
                <a:path w="84" h="85">
                  <a:moveTo>
                    <a:pt x="84" y="0"/>
                  </a:moveTo>
                  <a:lnTo>
                    <a:pt x="0" y="85"/>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059" name="Line 259"/>
            <p:cNvSpPr>
              <a:spLocks noChangeShapeType="1"/>
            </p:cNvSpPr>
            <p:nvPr/>
          </p:nvSpPr>
          <p:spPr bwMode="auto">
            <a:xfrm flipH="1">
              <a:off x="3648" y="1383"/>
              <a:ext cx="80" cy="7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060" name="Rectangle 260"/>
            <p:cNvSpPr>
              <a:spLocks noChangeArrowheads="1"/>
            </p:cNvSpPr>
            <p:nvPr/>
          </p:nvSpPr>
          <p:spPr bwMode="auto">
            <a:xfrm>
              <a:off x="3048" y="1363"/>
              <a:ext cx="43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analog-to-</a:t>
              </a:r>
              <a:endParaRPr lang="en-US" altLang="en-US"/>
            </a:p>
          </p:txBody>
        </p:sp>
        <p:sp>
          <p:nvSpPr>
            <p:cNvPr id="589061" name="Rectangle 261"/>
            <p:cNvSpPr>
              <a:spLocks noChangeArrowheads="1"/>
            </p:cNvSpPr>
            <p:nvPr/>
          </p:nvSpPr>
          <p:spPr bwMode="auto">
            <a:xfrm>
              <a:off x="3129" y="1463"/>
              <a:ext cx="24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digital</a:t>
              </a:r>
              <a:endParaRPr lang="en-US" altLang="en-US"/>
            </a:p>
          </p:txBody>
        </p:sp>
        <p:sp>
          <p:nvSpPr>
            <p:cNvPr id="589062" name="Rectangle 262"/>
            <p:cNvSpPr>
              <a:spLocks noChangeArrowheads="1"/>
            </p:cNvSpPr>
            <p:nvPr/>
          </p:nvSpPr>
          <p:spPr bwMode="auto">
            <a:xfrm>
              <a:off x="3062" y="1563"/>
              <a:ext cx="39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converter</a:t>
              </a:r>
              <a:endParaRPr lang="en-US" altLang="en-US"/>
            </a:p>
          </p:txBody>
        </p:sp>
        <p:sp>
          <p:nvSpPr>
            <p:cNvPr id="589063" name="Rectangle 263"/>
            <p:cNvSpPr>
              <a:spLocks noChangeArrowheads="1"/>
            </p:cNvSpPr>
            <p:nvPr/>
          </p:nvSpPr>
          <p:spPr bwMode="auto">
            <a:xfrm>
              <a:off x="2939" y="1250"/>
              <a:ext cx="631" cy="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064" name="Freeform 264"/>
            <p:cNvSpPr>
              <a:spLocks/>
            </p:cNvSpPr>
            <p:nvPr/>
          </p:nvSpPr>
          <p:spPr bwMode="auto">
            <a:xfrm>
              <a:off x="4975" y="1677"/>
              <a:ext cx="99" cy="93"/>
            </a:xfrm>
            <a:custGeom>
              <a:avLst/>
              <a:gdLst>
                <a:gd name="T0" fmla="*/ 0 w 104"/>
                <a:gd name="T1" fmla="*/ 104 h 104"/>
                <a:gd name="T2" fmla="*/ 104 w 104"/>
                <a:gd name="T3" fmla="*/ 54 h 104"/>
                <a:gd name="T4" fmla="*/ 0 w 104"/>
                <a:gd name="T5" fmla="*/ 0 h 104"/>
              </a:gdLst>
              <a:ahLst/>
              <a:cxnLst>
                <a:cxn ang="0">
                  <a:pos x="T0" y="T1"/>
                </a:cxn>
                <a:cxn ang="0">
                  <a:pos x="T2" y="T3"/>
                </a:cxn>
                <a:cxn ang="0">
                  <a:pos x="T4" y="T5"/>
                </a:cxn>
              </a:cxnLst>
              <a:rect l="0" t="0" r="r" b="b"/>
              <a:pathLst>
                <a:path w="104" h="104">
                  <a:moveTo>
                    <a:pt x="0" y="104"/>
                  </a:moveTo>
                  <a:lnTo>
                    <a:pt x="104"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065" name="Rectangle 265"/>
            <p:cNvSpPr>
              <a:spLocks noChangeArrowheads="1"/>
            </p:cNvSpPr>
            <p:nvPr/>
          </p:nvSpPr>
          <p:spPr bwMode="auto">
            <a:xfrm>
              <a:off x="5090" y="1363"/>
              <a:ext cx="39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digital-to-</a:t>
              </a:r>
              <a:endParaRPr lang="en-US" altLang="en-US"/>
            </a:p>
          </p:txBody>
        </p:sp>
        <p:sp>
          <p:nvSpPr>
            <p:cNvPr id="589066" name="Rectangle 266"/>
            <p:cNvSpPr>
              <a:spLocks noChangeArrowheads="1"/>
            </p:cNvSpPr>
            <p:nvPr/>
          </p:nvSpPr>
          <p:spPr bwMode="auto">
            <a:xfrm>
              <a:off x="5151" y="1463"/>
              <a:ext cx="28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analog</a:t>
              </a:r>
              <a:endParaRPr lang="en-US" altLang="en-US"/>
            </a:p>
          </p:txBody>
        </p:sp>
        <p:sp>
          <p:nvSpPr>
            <p:cNvPr id="589067" name="Rectangle 267"/>
            <p:cNvSpPr>
              <a:spLocks noChangeArrowheads="1"/>
            </p:cNvSpPr>
            <p:nvPr/>
          </p:nvSpPr>
          <p:spPr bwMode="auto">
            <a:xfrm>
              <a:off x="5095" y="1563"/>
              <a:ext cx="399"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converter</a:t>
              </a:r>
              <a:endParaRPr lang="en-US" altLang="en-US"/>
            </a:p>
          </p:txBody>
        </p:sp>
        <p:sp>
          <p:nvSpPr>
            <p:cNvPr id="589068" name="Freeform 268"/>
            <p:cNvSpPr>
              <a:spLocks/>
            </p:cNvSpPr>
            <p:nvPr/>
          </p:nvSpPr>
          <p:spPr bwMode="auto">
            <a:xfrm>
              <a:off x="4972" y="1250"/>
              <a:ext cx="631" cy="550"/>
            </a:xfrm>
            <a:custGeom>
              <a:avLst/>
              <a:gdLst>
                <a:gd name="T0" fmla="*/ 660 w 660"/>
                <a:gd name="T1" fmla="*/ 369 h 619"/>
                <a:gd name="T2" fmla="*/ 660 w 660"/>
                <a:gd name="T3" fmla="*/ 619 h 619"/>
                <a:gd name="T4" fmla="*/ 0 w 660"/>
                <a:gd name="T5" fmla="*/ 619 h 619"/>
                <a:gd name="T6" fmla="*/ 0 w 660"/>
                <a:gd name="T7" fmla="*/ 0 h 619"/>
                <a:gd name="T8" fmla="*/ 660 w 660"/>
                <a:gd name="T9" fmla="*/ 0 h 619"/>
                <a:gd name="T10" fmla="*/ 660 w 660"/>
                <a:gd name="T11" fmla="*/ 369 h 619"/>
              </a:gdLst>
              <a:ahLst/>
              <a:cxnLst>
                <a:cxn ang="0">
                  <a:pos x="T0" y="T1"/>
                </a:cxn>
                <a:cxn ang="0">
                  <a:pos x="T2" y="T3"/>
                </a:cxn>
                <a:cxn ang="0">
                  <a:pos x="T4" y="T5"/>
                </a:cxn>
                <a:cxn ang="0">
                  <a:pos x="T6" y="T7"/>
                </a:cxn>
                <a:cxn ang="0">
                  <a:pos x="T8" y="T9"/>
                </a:cxn>
                <a:cxn ang="0">
                  <a:pos x="T10" y="T11"/>
                </a:cxn>
              </a:cxnLst>
              <a:rect l="0" t="0" r="r" b="b"/>
              <a:pathLst>
                <a:path w="660" h="619">
                  <a:moveTo>
                    <a:pt x="660" y="369"/>
                  </a:moveTo>
                  <a:lnTo>
                    <a:pt x="660" y="619"/>
                  </a:lnTo>
                  <a:lnTo>
                    <a:pt x="0" y="619"/>
                  </a:lnTo>
                  <a:lnTo>
                    <a:pt x="0" y="0"/>
                  </a:lnTo>
                  <a:lnTo>
                    <a:pt x="660" y="0"/>
                  </a:lnTo>
                  <a:lnTo>
                    <a:pt x="660" y="369"/>
                  </a:lnTo>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069" name="Rectangle 269"/>
            <p:cNvSpPr>
              <a:spLocks noChangeArrowheads="1"/>
            </p:cNvSpPr>
            <p:nvPr/>
          </p:nvSpPr>
          <p:spPr bwMode="auto">
            <a:xfrm>
              <a:off x="3617" y="1684"/>
              <a:ext cx="2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ad_ld</a:t>
              </a:r>
              <a:endParaRPr lang="en-US" altLang="en-US"/>
            </a:p>
          </p:txBody>
        </p:sp>
        <p:sp>
          <p:nvSpPr>
            <p:cNvPr id="589070" name="Rectangle 270"/>
            <p:cNvSpPr>
              <a:spLocks noChangeArrowheads="1"/>
            </p:cNvSpPr>
            <p:nvPr/>
          </p:nvSpPr>
          <p:spPr bwMode="auto">
            <a:xfrm>
              <a:off x="4692" y="1684"/>
              <a:ext cx="23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da_ld</a:t>
              </a:r>
              <a:endParaRPr lang="en-US" altLang="en-US"/>
            </a:p>
          </p:txBody>
        </p:sp>
        <p:sp>
          <p:nvSpPr>
            <p:cNvPr id="589071" name="Rectangle 271"/>
            <p:cNvSpPr>
              <a:spLocks noChangeArrowheads="1"/>
            </p:cNvSpPr>
            <p:nvPr/>
          </p:nvSpPr>
          <p:spPr bwMode="auto">
            <a:xfrm>
              <a:off x="3893" y="1595"/>
              <a:ext cx="753" cy="319"/>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072" name="Rectangle 272"/>
            <p:cNvSpPr>
              <a:spLocks noChangeArrowheads="1"/>
            </p:cNvSpPr>
            <p:nvPr/>
          </p:nvSpPr>
          <p:spPr bwMode="auto">
            <a:xfrm>
              <a:off x="3893" y="699"/>
              <a:ext cx="897" cy="46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073" name="Rectangle 273"/>
            <p:cNvSpPr>
              <a:spLocks noChangeArrowheads="1"/>
            </p:cNvSpPr>
            <p:nvPr/>
          </p:nvSpPr>
          <p:spPr bwMode="auto">
            <a:xfrm>
              <a:off x="4470" y="1495"/>
              <a:ext cx="13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Rw</a:t>
              </a:r>
              <a:endParaRPr lang="en-US" altLang="en-US"/>
            </a:p>
          </p:txBody>
        </p:sp>
        <p:sp>
          <p:nvSpPr>
            <p:cNvPr id="589074" name="Rectangle 274"/>
            <p:cNvSpPr>
              <a:spLocks noChangeArrowheads="1"/>
            </p:cNvSpPr>
            <p:nvPr/>
          </p:nvSpPr>
          <p:spPr bwMode="auto">
            <a:xfrm>
              <a:off x="4650" y="1495"/>
              <a:ext cx="1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Ren</a:t>
              </a:r>
              <a:endParaRPr lang="en-US" altLang="en-US"/>
            </a:p>
          </p:txBody>
        </p:sp>
        <p:sp>
          <p:nvSpPr>
            <p:cNvPr id="589075" name="Rectangle 275"/>
            <p:cNvSpPr>
              <a:spLocks noChangeArrowheads="1"/>
            </p:cNvSpPr>
            <p:nvPr/>
          </p:nvSpPr>
          <p:spPr bwMode="auto">
            <a:xfrm>
              <a:off x="4326" y="1495"/>
              <a:ext cx="12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Ra</a:t>
              </a:r>
              <a:endParaRPr lang="en-US" altLang="en-US"/>
            </a:p>
          </p:txBody>
        </p:sp>
        <p:sp>
          <p:nvSpPr>
            <p:cNvPr id="589076" name="Rectangle 276"/>
            <p:cNvSpPr>
              <a:spLocks noChangeArrowheads="1"/>
            </p:cNvSpPr>
            <p:nvPr/>
          </p:nvSpPr>
          <p:spPr bwMode="auto">
            <a:xfrm>
              <a:off x="4145" y="1434"/>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12</a:t>
              </a:r>
              <a:endParaRPr lang="en-US" altLang="en-US"/>
            </a:p>
          </p:txBody>
        </p:sp>
        <p:sp>
          <p:nvSpPr>
            <p:cNvPr id="589077" name="Rectangle 277"/>
            <p:cNvSpPr>
              <a:spLocks noChangeArrowheads="1"/>
            </p:cNvSpPr>
            <p:nvPr/>
          </p:nvSpPr>
          <p:spPr bwMode="auto">
            <a:xfrm>
              <a:off x="3658" y="1264"/>
              <a:ext cx="10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16</a:t>
              </a:r>
              <a:endParaRPr lang="en-US" altLang="en-US"/>
            </a:p>
          </p:txBody>
        </p:sp>
        <p:sp>
          <p:nvSpPr>
            <p:cNvPr id="589078" name="Rectangle 278"/>
            <p:cNvSpPr>
              <a:spLocks noChangeArrowheads="1"/>
            </p:cNvSpPr>
            <p:nvPr/>
          </p:nvSpPr>
          <p:spPr bwMode="auto">
            <a:xfrm>
              <a:off x="4078" y="1696"/>
              <a:ext cx="420"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processor</a:t>
              </a:r>
              <a:endParaRPr lang="en-US" altLang="en-US"/>
            </a:p>
          </p:txBody>
        </p:sp>
        <p:sp>
          <p:nvSpPr>
            <p:cNvPr id="589079" name="Rectangle 279"/>
            <p:cNvSpPr>
              <a:spLocks noChangeArrowheads="1"/>
            </p:cNvSpPr>
            <p:nvPr/>
          </p:nvSpPr>
          <p:spPr bwMode="auto">
            <a:xfrm>
              <a:off x="3656" y="1491"/>
              <a:ext cx="29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ad_buf</a:t>
              </a:r>
              <a:endParaRPr lang="en-US" altLang="en-US"/>
            </a:p>
          </p:txBody>
        </p:sp>
        <p:sp>
          <p:nvSpPr>
            <p:cNvPr id="589080" name="Rectangle 280"/>
            <p:cNvSpPr>
              <a:spLocks noChangeArrowheads="1"/>
            </p:cNvSpPr>
            <p:nvPr/>
          </p:nvSpPr>
          <p:spPr bwMode="auto">
            <a:xfrm>
              <a:off x="4167" y="751"/>
              <a:ext cx="366"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4096x16</a:t>
              </a:r>
              <a:endParaRPr lang="en-US" altLang="en-US"/>
            </a:p>
          </p:txBody>
        </p:sp>
        <p:sp>
          <p:nvSpPr>
            <p:cNvPr id="589081" name="Rectangle 281"/>
            <p:cNvSpPr>
              <a:spLocks noChangeArrowheads="1"/>
            </p:cNvSpPr>
            <p:nvPr/>
          </p:nvSpPr>
          <p:spPr bwMode="auto">
            <a:xfrm>
              <a:off x="4247" y="851"/>
              <a:ext cx="21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RAM</a:t>
              </a:r>
              <a:endParaRPr lang="en-US"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897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8897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889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949" grpId="0" autoUpdateAnimBg="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Slide Number Placeholder 3"/>
          <p:cNvSpPr>
            <a:spLocks noGrp="1"/>
          </p:cNvSpPr>
          <p:nvPr>
            <p:ph type="sldNum" sz="quarter" idx="10"/>
          </p:nvPr>
        </p:nvSpPr>
        <p:spPr/>
        <p:txBody>
          <a:bodyPr/>
          <a:lstStyle/>
          <a:p>
            <a:fld id="{079CA12F-A1E7-4A02-BA2C-4C66907DED57}" type="slidenum">
              <a:rPr lang="en-US" altLang="en-US"/>
              <a:pPr/>
              <a:t>72</a:t>
            </a:fld>
            <a:endParaRPr lang="en-US" altLang="en-US"/>
          </a:p>
        </p:txBody>
      </p:sp>
      <p:sp>
        <p:nvSpPr>
          <p:cNvPr id="589826" name="Rectangle 2"/>
          <p:cNvSpPr>
            <a:spLocks noGrp="1" noChangeArrowheads="1"/>
          </p:cNvSpPr>
          <p:nvPr>
            <p:ph type="title"/>
          </p:nvPr>
        </p:nvSpPr>
        <p:spPr/>
        <p:txBody>
          <a:bodyPr/>
          <a:lstStyle/>
          <a:p>
            <a:r>
              <a:rPr lang="en-US" altLang="en-US"/>
              <a:t>Read-Only Memory – ROM</a:t>
            </a:r>
          </a:p>
        </p:txBody>
      </p:sp>
      <p:sp>
        <p:nvSpPr>
          <p:cNvPr id="589827" name="Rectangle 3"/>
          <p:cNvSpPr>
            <a:spLocks noGrp="1" noChangeArrowheads="1"/>
          </p:cNvSpPr>
          <p:nvPr>
            <p:ph type="body" idx="1"/>
          </p:nvPr>
        </p:nvSpPr>
        <p:spPr>
          <a:xfrm>
            <a:off x="228600" y="1219200"/>
            <a:ext cx="5505450" cy="4876800"/>
          </a:xfrm>
        </p:spPr>
        <p:txBody>
          <a:bodyPr/>
          <a:lstStyle/>
          <a:p>
            <a:pPr>
              <a:lnSpc>
                <a:spcPct val="90000"/>
              </a:lnSpc>
            </a:pPr>
            <a:r>
              <a:rPr lang="en-US" altLang="en-US" sz="2000"/>
              <a:t>Memory that can only be read from, not written to</a:t>
            </a:r>
          </a:p>
          <a:p>
            <a:pPr lvl="1">
              <a:lnSpc>
                <a:spcPct val="90000"/>
              </a:lnSpc>
            </a:pPr>
            <a:r>
              <a:rPr lang="en-US" altLang="en-US" sz="1800"/>
              <a:t>Data lines are output only</a:t>
            </a:r>
          </a:p>
          <a:p>
            <a:pPr lvl="1">
              <a:lnSpc>
                <a:spcPct val="90000"/>
              </a:lnSpc>
            </a:pPr>
            <a:r>
              <a:rPr lang="en-US" altLang="en-US" sz="1800"/>
              <a:t>No need for </a:t>
            </a:r>
            <a:r>
              <a:rPr lang="en-US" altLang="en-US" sz="1800" i="1"/>
              <a:t>rw</a:t>
            </a:r>
            <a:r>
              <a:rPr lang="en-US" altLang="en-US" sz="1800"/>
              <a:t> input</a:t>
            </a:r>
          </a:p>
          <a:p>
            <a:pPr>
              <a:lnSpc>
                <a:spcPct val="90000"/>
              </a:lnSpc>
            </a:pPr>
            <a:r>
              <a:rPr lang="en-US" altLang="en-US" sz="2000"/>
              <a:t>Advantages over RAM</a:t>
            </a:r>
          </a:p>
          <a:p>
            <a:pPr lvl="1">
              <a:lnSpc>
                <a:spcPct val="90000"/>
              </a:lnSpc>
            </a:pPr>
            <a:r>
              <a:rPr lang="en-US" altLang="en-US" sz="1800"/>
              <a:t>Compact: May be smaller</a:t>
            </a:r>
          </a:p>
          <a:p>
            <a:pPr lvl="1">
              <a:lnSpc>
                <a:spcPct val="90000"/>
              </a:lnSpc>
            </a:pPr>
            <a:r>
              <a:rPr lang="en-US" altLang="en-US" sz="1800" b="1" i="1"/>
              <a:t>Nonvolatile</a:t>
            </a:r>
            <a:r>
              <a:rPr lang="en-US" altLang="en-US" sz="1800"/>
              <a:t>: Saves bits even if power supply is turned off</a:t>
            </a:r>
          </a:p>
          <a:p>
            <a:pPr lvl="1">
              <a:lnSpc>
                <a:spcPct val="90000"/>
              </a:lnSpc>
            </a:pPr>
            <a:r>
              <a:rPr lang="en-US" altLang="en-US" sz="1800"/>
              <a:t>Speed: May be faster (especially than DRAM)</a:t>
            </a:r>
          </a:p>
          <a:p>
            <a:pPr lvl="1">
              <a:lnSpc>
                <a:spcPct val="90000"/>
              </a:lnSpc>
            </a:pPr>
            <a:r>
              <a:rPr lang="en-US" altLang="en-US" sz="1800"/>
              <a:t>Low power: Doesn’t need power supply to save bits, so can extend battery life</a:t>
            </a:r>
          </a:p>
          <a:p>
            <a:pPr>
              <a:lnSpc>
                <a:spcPct val="90000"/>
              </a:lnSpc>
            </a:pPr>
            <a:r>
              <a:rPr lang="en-US" altLang="en-US" sz="2000"/>
              <a:t>Choose ROM over RAM if stored data won’t change (or won’t change often)</a:t>
            </a:r>
          </a:p>
          <a:p>
            <a:pPr lvl="1">
              <a:lnSpc>
                <a:spcPct val="90000"/>
              </a:lnSpc>
            </a:pPr>
            <a:r>
              <a:rPr lang="en-US" altLang="en-US" sz="1800"/>
              <a:t>For example, a table of Celsius to Fahrenheit conversions in a digital thermometer</a:t>
            </a:r>
          </a:p>
        </p:txBody>
      </p:sp>
      <p:grpSp>
        <p:nvGrpSpPr>
          <p:cNvPr id="589888" name="Group 64"/>
          <p:cNvGrpSpPr>
            <a:grpSpLocks/>
          </p:cNvGrpSpPr>
          <p:nvPr/>
        </p:nvGrpSpPr>
        <p:grpSpPr bwMode="auto">
          <a:xfrm>
            <a:off x="6642100" y="1270000"/>
            <a:ext cx="2016125" cy="1735138"/>
            <a:chOff x="4184" y="800"/>
            <a:chExt cx="1270" cy="1093"/>
          </a:xfrm>
        </p:grpSpPr>
        <p:sp>
          <p:nvSpPr>
            <p:cNvPr id="589853" name="Rectangle 29"/>
            <p:cNvSpPr>
              <a:spLocks noChangeArrowheads="1"/>
            </p:cNvSpPr>
            <p:nvPr/>
          </p:nvSpPr>
          <p:spPr bwMode="auto">
            <a:xfrm>
              <a:off x="4501" y="800"/>
              <a:ext cx="859" cy="89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854" name="Line 30"/>
            <p:cNvSpPr>
              <a:spLocks noChangeShapeType="1"/>
            </p:cNvSpPr>
            <p:nvPr/>
          </p:nvSpPr>
          <p:spPr bwMode="auto">
            <a:xfrm flipH="1">
              <a:off x="4254" y="932"/>
              <a:ext cx="91"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55" name="Freeform 31"/>
            <p:cNvSpPr>
              <a:spLocks/>
            </p:cNvSpPr>
            <p:nvPr/>
          </p:nvSpPr>
          <p:spPr bwMode="auto">
            <a:xfrm>
              <a:off x="4184" y="911"/>
              <a:ext cx="80" cy="42"/>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56" name="Line 32"/>
            <p:cNvSpPr>
              <a:spLocks noChangeShapeType="1"/>
            </p:cNvSpPr>
            <p:nvPr/>
          </p:nvSpPr>
          <p:spPr bwMode="auto">
            <a:xfrm>
              <a:off x="4345" y="932"/>
              <a:ext cx="90"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57" name="Freeform 33"/>
            <p:cNvSpPr>
              <a:spLocks/>
            </p:cNvSpPr>
            <p:nvPr/>
          </p:nvSpPr>
          <p:spPr bwMode="auto">
            <a:xfrm>
              <a:off x="4420" y="911"/>
              <a:ext cx="81" cy="4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58" name="Line 34"/>
            <p:cNvSpPr>
              <a:spLocks noChangeShapeType="1"/>
            </p:cNvSpPr>
            <p:nvPr/>
          </p:nvSpPr>
          <p:spPr bwMode="auto">
            <a:xfrm>
              <a:off x="4209" y="1104"/>
              <a:ext cx="226"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59" name="Freeform 35"/>
            <p:cNvSpPr>
              <a:spLocks/>
            </p:cNvSpPr>
            <p:nvPr/>
          </p:nvSpPr>
          <p:spPr bwMode="auto">
            <a:xfrm>
              <a:off x="4420" y="1085"/>
              <a:ext cx="81" cy="4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60" name="Line 36"/>
            <p:cNvSpPr>
              <a:spLocks noChangeShapeType="1"/>
            </p:cNvSpPr>
            <p:nvPr/>
          </p:nvSpPr>
          <p:spPr bwMode="auto">
            <a:xfrm>
              <a:off x="4209" y="1278"/>
              <a:ext cx="226"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61" name="Freeform 37"/>
            <p:cNvSpPr>
              <a:spLocks/>
            </p:cNvSpPr>
            <p:nvPr/>
          </p:nvSpPr>
          <p:spPr bwMode="auto">
            <a:xfrm>
              <a:off x="4420" y="1257"/>
              <a:ext cx="81" cy="42"/>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62" name="Line 38"/>
            <p:cNvSpPr>
              <a:spLocks noChangeShapeType="1"/>
            </p:cNvSpPr>
            <p:nvPr/>
          </p:nvSpPr>
          <p:spPr bwMode="auto">
            <a:xfrm>
              <a:off x="4209" y="1452"/>
              <a:ext cx="226" cy="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63" name="Freeform 39"/>
            <p:cNvSpPr>
              <a:spLocks/>
            </p:cNvSpPr>
            <p:nvPr/>
          </p:nvSpPr>
          <p:spPr bwMode="auto">
            <a:xfrm>
              <a:off x="4420" y="1430"/>
              <a:ext cx="81" cy="44"/>
            </a:xfrm>
            <a:custGeom>
              <a:avLst/>
              <a:gdLst>
                <a:gd name="T0" fmla="*/ 100 w 100"/>
                <a:gd name="T1" fmla="*/ 25 h 51"/>
                <a:gd name="T2" fmla="*/ 0 w 100"/>
                <a:gd name="T3" fmla="*/ 0 h 51"/>
                <a:gd name="T4" fmla="*/ 0 w 100"/>
                <a:gd name="T5" fmla="*/ 51 h 51"/>
                <a:gd name="T6" fmla="*/ 100 w 100"/>
                <a:gd name="T7" fmla="*/ 25 h 51"/>
              </a:gdLst>
              <a:ahLst/>
              <a:cxnLst>
                <a:cxn ang="0">
                  <a:pos x="T0" y="T1"/>
                </a:cxn>
                <a:cxn ang="0">
                  <a:pos x="T2" y="T3"/>
                </a:cxn>
                <a:cxn ang="0">
                  <a:pos x="T4" y="T5"/>
                </a:cxn>
                <a:cxn ang="0">
                  <a:pos x="T6" y="T7"/>
                </a:cxn>
              </a:cxnLst>
              <a:rect l="0" t="0" r="r" b="b"/>
              <a:pathLst>
                <a:path w="100" h="51">
                  <a:moveTo>
                    <a:pt x="100" y="25"/>
                  </a:moveTo>
                  <a:lnTo>
                    <a:pt x="0" y="0"/>
                  </a:lnTo>
                  <a:lnTo>
                    <a:pt x="0" y="51"/>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64" name="Freeform 40"/>
            <p:cNvSpPr>
              <a:spLocks/>
            </p:cNvSpPr>
            <p:nvPr/>
          </p:nvSpPr>
          <p:spPr bwMode="auto">
            <a:xfrm>
              <a:off x="4501" y="1558"/>
              <a:ext cx="82" cy="89"/>
            </a:xfrm>
            <a:custGeom>
              <a:avLst/>
              <a:gdLst>
                <a:gd name="T0" fmla="*/ 0 w 103"/>
                <a:gd name="T1" fmla="*/ 106 h 106"/>
                <a:gd name="T2" fmla="*/ 103 w 103"/>
                <a:gd name="T3" fmla="*/ 53 h 106"/>
                <a:gd name="T4" fmla="*/ 0 w 103"/>
                <a:gd name="T5" fmla="*/ 0 h 106"/>
              </a:gdLst>
              <a:ahLst/>
              <a:cxnLst>
                <a:cxn ang="0">
                  <a:pos x="T0" y="T1"/>
                </a:cxn>
                <a:cxn ang="0">
                  <a:pos x="T2" y="T3"/>
                </a:cxn>
                <a:cxn ang="0">
                  <a:pos x="T4" y="T5"/>
                </a:cxn>
              </a:cxnLst>
              <a:rect l="0" t="0" r="r" b="b"/>
              <a:pathLst>
                <a:path w="103" h="106">
                  <a:moveTo>
                    <a:pt x="0" y="106"/>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865" name="Freeform 41"/>
            <p:cNvSpPr>
              <a:spLocks/>
            </p:cNvSpPr>
            <p:nvPr/>
          </p:nvSpPr>
          <p:spPr bwMode="auto">
            <a:xfrm>
              <a:off x="4314" y="898"/>
              <a:ext cx="69" cy="68"/>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66" name="Line 42"/>
            <p:cNvSpPr>
              <a:spLocks noChangeShapeType="1"/>
            </p:cNvSpPr>
            <p:nvPr/>
          </p:nvSpPr>
          <p:spPr bwMode="auto">
            <a:xfrm flipH="1">
              <a:off x="4314" y="898"/>
              <a:ext cx="69" cy="6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67" name="Freeform 43"/>
            <p:cNvSpPr>
              <a:spLocks/>
            </p:cNvSpPr>
            <p:nvPr/>
          </p:nvSpPr>
          <p:spPr bwMode="auto">
            <a:xfrm>
              <a:off x="4314" y="1067"/>
              <a:ext cx="69" cy="71"/>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68" name="Line 44"/>
            <p:cNvSpPr>
              <a:spLocks noChangeShapeType="1"/>
            </p:cNvSpPr>
            <p:nvPr/>
          </p:nvSpPr>
          <p:spPr bwMode="auto">
            <a:xfrm flipH="1">
              <a:off x="4314" y="1067"/>
              <a:ext cx="69" cy="71"/>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69" name="Rectangle 45"/>
            <p:cNvSpPr>
              <a:spLocks noChangeArrowheads="1"/>
            </p:cNvSpPr>
            <p:nvPr/>
          </p:nvSpPr>
          <p:spPr bwMode="auto">
            <a:xfrm>
              <a:off x="4316" y="801"/>
              <a:ext cx="9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32</a:t>
              </a:r>
              <a:endParaRPr lang="en-US" altLang="en-US"/>
            </a:p>
          </p:txBody>
        </p:sp>
        <p:sp>
          <p:nvSpPr>
            <p:cNvPr id="589870" name="Rectangle 46"/>
            <p:cNvSpPr>
              <a:spLocks noChangeArrowheads="1"/>
            </p:cNvSpPr>
            <p:nvPr/>
          </p:nvSpPr>
          <p:spPr bwMode="auto">
            <a:xfrm>
              <a:off x="4316" y="971"/>
              <a:ext cx="9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10</a:t>
              </a:r>
              <a:endParaRPr lang="en-US" altLang="en-US"/>
            </a:p>
          </p:txBody>
        </p:sp>
        <p:sp>
          <p:nvSpPr>
            <p:cNvPr id="589871" name="Rectangle 47"/>
            <p:cNvSpPr>
              <a:spLocks noChangeArrowheads="1"/>
            </p:cNvSpPr>
            <p:nvPr/>
          </p:nvSpPr>
          <p:spPr bwMode="auto">
            <a:xfrm>
              <a:off x="4527" y="880"/>
              <a:ext cx="171"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data</a:t>
              </a:r>
              <a:endParaRPr lang="en-US" altLang="en-US"/>
            </a:p>
          </p:txBody>
        </p:sp>
        <p:sp>
          <p:nvSpPr>
            <p:cNvPr id="589874" name="Rectangle 50"/>
            <p:cNvSpPr>
              <a:spLocks noChangeArrowheads="1"/>
            </p:cNvSpPr>
            <p:nvPr/>
          </p:nvSpPr>
          <p:spPr bwMode="auto">
            <a:xfrm>
              <a:off x="4527" y="1053"/>
              <a:ext cx="176"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addr</a:t>
              </a:r>
              <a:endParaRPr lang="en-US" altLang="en-US"/>
            </a:p>
          </p:txBody>
        </p:sp>
        <p:sp>
          <p:nvSpPr>
            <p:cNvPr id="589875" name="Rectangle 51"/>
            <p:cNvSpPr>
              <a:spLocks noChangeArrowheads="1"/>
            </p:cNvSpPr>
            <p:nvPr/>
          </p:nvSpPr>
          <p:spPr bwMode="auto">
            <a:xfrm>
              <a:off x="4527" y="1224"/>
              <a:ext cx="2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589876" name="Rectangle 52"/>
            <p:cNvSpPr>
              <a:spLocks noChangeArrowheads="1"/>
            </p:cNvSpPr>
            <p:nvPr/>
          </p:nvSpPr>
          <p:spPr bwMode="auto">
            <a:xfrm>
              <a:off x="4555" y="1224"/>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w</a:t>
              </a:r>
              <a:endParaRPr lang="en-US" altLang="en-US"/>
            </a:p>
          </p:txBody>
        </p:sp>
        <p:sp>
          <p:nvSpPr>
            <p:cNvPr id="589877" name="Rectangle 53"/>
            <p:cNvSpPr>
              <a:spLocks noChangeArrowheads="1"/>
            </p:cNvSpPr>
            <p:nvPr/>
          </p:nvSpPr>
          <p:spPr bwMode="auto">
            <a:xfrm>
              <a:off x="4527" y="1400"/>
              <a:ext cx="9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en</a:t>
              </a:r>
              <a:endParaRPr lang="en-US" altLang="en-US"/>
            </a:p>
          </p:txBody>
        </p:sp>
        <p:sp>
          <p:nvSpPr>
            <p:cNvPr id="589878" name="Rectangle 54"/>
            <p:cNvSpPr>
              <a:spLocks noChangeArrowheads="1"/>
            </p:cNvSpPr>
            <p:nvPr/>
          </p:nvSpPr>
          <p:spPr bwMode="auto">
            <a:xfrm>
              <a:off x="4766" y="1154"/>
              <a:ext cx="196"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1024</a:t>
              </a:r>
              <a:endParaRPr lang="en-US" altLang="en-US"/>
            </a:p>
          </p:txBody>
        </p:sp>
        <p:sp>
          <p:nvSpPr>
            <p:cNvPr id="589879" name="Rectangle 55"/>
            <p:cNvSpPr>
              <a:spLocks noChangeArrowheads="1"/>
            </p:cNvSpPr>
            <p:nvPr/>
          </p:nvSpPr>
          <p:spPr bwMode="auto">
            <a:xfrm>
              <a:off x="4948" y="1146"/>
              <a:ext cx="50"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rPr>
                <a:t>×</a:t>
              </a:r>
              <a:endParaRPr lang="en-US" altLang="en-US"/>
            </a:p>
          </p:txBody>
        </p:sp>
        <p:sp>
          <p:nvSpPr>
            <p:cNvPr id="589880" name="Rectangle 56"/>
            <p:cNvSpPr>
              <a:spLocks noChangeArrowheads="1"/>
            </p:cNvSpPr>
            <p:nvPr/>
          </p:nvSpPr>
          <p:spPr bwMode="auto">
            <a:xfrm>
              <a:off x="5012" y="1154"/>
              <a:ext cx="98"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32</a:t>
              </a:r>
              <a:endParaRPr lang="en-US" altLang="en-US"/>
            </a:p>
          </p:txBody>
        </p:sp>
        <p:sp>
          <p:nvSpPr>
            <p:cNvPr id="589881" name="Rectangle 57"/>
            <p:cNvSpPr>
              <a:spLocks noChangeArrowheads="1"/>
            </p:cNvSpPr>
            <p:nvPr/>
          </p:nvSpPr>
          <p:spPr bwMode="auto">
            <a:xfrm>
              <a:off x="4852" y="1248"/>
              <a:ext cx="64"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R</a:t>
              </a:r>
              <a:endParaRPr lang="en-US" altLang="en-US"/>
            </a:p>
          </p:txBody>
        </p:sp>
        <p:sp>
          <p:nvSpPr>
            <p:cNvPr id="589882" name="Rectangle 58"/>
            <p:cNvSpPr>
              <a:spLocks noChangeArrowheads="1"/>
            </p:cNvSpPr>
            <p:nvPr/>
          </p:nvSpPr>
          <p:spPr bwMode="auto">
            <a:xfrm>
              <a:off x="4895" y="1248"/>
              <a:ext cx="59"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A</a:t>
              </a:r>
              <a:endParaRPr lang="en-US" altLang="en-US"/>
            </a:p>
          </p:txBody>
        </p:sp>
        <p:sp>
          <p:nvSpPr>
            <p:cNvPr id="589883" name="Rectangle 59"/>
            <p:cNvSpPr>
              <a:spLocks noChangeArrowheads="1"/>
            </p:cNvSpPr>
            <p:nvPr/>
          </p:nvSpPr>
          <p:spPr bwMode="auto">
            <a:xfrm>
              <a:off x="4944" y="1248"/>
              <a:ext cx="73" cy="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100">
                  <a:solidFill>
                    <a:srgbClr val="000000"/>
                  </a:solidFill>
                  <a:latin typeface="Myriad Roman" charset="0"/>
                </a:rPr>
                <a:t>M</a:t>
              </a:r>
              <a:endParaRPr lang="en-US" altLang="en-US"/>
            </a:p>
          </p:txBody>
        </p:sp>
        <p:sp>
          <p:nvSpPr>
            <p:cNvPr id="589884" name="Text Box 60"/>
            <p:cNvSpPr txBox="1">
              <a:spLocks noChangeArrowheads="1"/>
            </p:cNvSpPr>
            <p:nvPr/>
          </p:nvSpPr>
          <p:spPr bwMode="auto">
            <a:xfrm>
              <a:off x="4492" y="1701"/>
              <a:ext cx="96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i="1"/>
                <a:t>RAM block symbol</a:t>
              </a:r>
            </a:p>
          </p:txBody>
        </p:sp>
      </p:grpSp>
      <p:grpSp>
        <p:nvGrpSpPr>
          <p:cNvPr id="589889" name="Group 65"/>
          <p:cNvGrpSpPr>
            <a:grpSpLocks/>
          </p:cNvGrpSpPr>
          <p:nvPr/>
        </p:nvGrpSpPr>
        <p:grpSpPr bwMode="auto">
          <a:xfrm>
            <a:off x="6296025" y="3460750"/>
            <a:ext cx="2490788" cy="1735138"/>
            <a:chOff x="3966" y="2180"/>
            <a:chExt cx="1569" cy="1093"/>
          </a:xfrm>
        </p:grpSpPr>
        <p:sp>
          <p:nvSpPr>
            <p:cNvPr id="589828" name="Line 4"/>
            <p:cNvSpPr>
              <a:spLocks noChangeShapeType="1"/>
            </p:cNvSpPr>
            <p:nvPr/>
          </p:nvSpPr>
          <p:spPr bwMode="auto">
            <a:xfrm flipH="1">
              <a:off x="4051" y="2359"/>
              <a:ext cx="110"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29" name="Freeform 5"/>
            <p:cNvSpPr>
              <a:spLocks/>
            </p:cNvSpPr>
            <p:nvPr/>
          </p:nvSpPr>
          <p:spPr bwMode="auto">
            <a:xfrm>
              <a:off x="3966" y="2331"/>
              <a:ext cx="97" cy="57"/>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30" name="Line 6"/>
            <p:cNvSpPr>
              <a:spLocks noChangeShapeType="1"/>
            </p:cNvSpPr>
            <p:nvPr/>
          </p:nvSpPr>
          <p:spPr bwMode="auto">
            <a:xfrm>
              <a:off x="4161" y="2359"/>
              <a:ext cx="192"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31" name="Line 7"/>
            <p:cNvSpPr>
              <a:spLocks noChangeShapeType="1"/>
            </p:cNvSpPr>
            <p:nvPr/>
          </p:nvSpPr>
          <p:spPr bwMode="auto">
            <a:xfrm>
              <a:off x="3996" y="2591"/>
              <a:ext cx="274"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32" name="Freeform 8"/>
            <p:cNvSpPr>
              <a:spLocks/>
            </p:cNvSpPr>
            <p:nvPr/>
          </p:nvSpPr>
          <p:spPr bwMode="auto">
            <a:xfrm>
              <a:off x="4252" y="2566"/>
              <a:ext cx="98" cy="5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33" name="Line 9"/>
            <p:cNvSpPr>
              <a:spLocks noChangeShapeType="1"/>
            </p:cNvSpPr>
            <p:nvPr/>
          </p:nvSpPr>
          <p:spPr bwMode="auto">
            <a:xfrm>
              <a:off x="3996" y="2826"/>
              <a:ext cx="274" cy="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34" name="Freeform 10"/>
            <p:cNvSpPr>
              <a:spLocks/>
            </p:cNvSpPr>
            <p:nvPr/>
          </p:nvSpPr>
          <p:spPr bwMode="auto">
            <a:xfrm>
              <a:off x="4252" y="2798"/>
              <a:ext cx="98" cy="5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35" name="Freeform 11"/>
            <p:cNvSpPr>
              <a:spLocks/>
            </p:cNvSpPr>
            <p:nvPr/>
          </p:nvSpPr>
          <p:spPr bwMode="auto">
            <a:xfrm>
              <a:off x="4124" y="2309"/>
              <a:ext cx="83" cy="96"/>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36" name="Line 12"/>
            <p:cNvSpPr>
              <a:spLocks noChangeShapeType="1"/>
            </p:cNvSpPr>
            <p:nvPr/>
          </p:nvSpPr>
          <p:spPr bwMode="auto">
            <a:xfrm flipH="1">
              <a:off x="4124" y="2309"/>
              <a:ext cx="83" cy="96"/>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37" name="Freeform 13"/>
            <p:cNvSpPr>
              <a:spLocks/>
            </p:cNvSpPr>
            <p:nvPr/>
          </p:nvSpPr>
          <p:spPr bwMode="auto">
            <a:xfrm>
              <a:off x="4124" y="2541"/>
              <a:ext cx="83" cy="97"/>
            </a:xfrm>
            <a:custGeom>
              <a:avLst/>
              <a:gdLst>
                <a:gd name="T0" fmla="*/ 85 w 85"/>
                <a:gd name="T1" fmla="*/ 0 h 85"/>
                <a:gd name="T2" fmla="*/ 0 w 85"/>
                <a:gd name="T3" fmla="*/ 85 h 85"/>
                <a:gd name="T4" fmla="*/ 85 w 85"/>
                <a:gd name="T5" fmla="*/ 0 h 85"/>
              </a:gdLst>
              <a:ahLst/>
              <a:cxnLst>
                <a:cxn ang="0">
                  <a:pos x="T0" y="T1"/>
                </a:cxn>
                <a:cxn ang="0">
                  <a:pos x="T2" y="T3"/>
                </a:cxn>
                <a:cxn ang="0">
                  <a:pos x="T4" y="T5"/>
                </a:cxn>
              </a:cxnLst>
              <a:rect l="0" t="0" r="r" b="b"/>
              <a:pathLst>
                <a:path w="85" h="85">
                  <a:moveTo>
                    <a:pt x="85" y="0"/>
                  </a:moveTo>
                  <a:lnTo>
                    <a:pt x="0" y="85"/>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89838" name="Line 14"/>
            <p:cNvSpPr>
              <a:spLocks noChangeShapeType="1"/>
            </p:cNvSpPr>
            <p:nvPr/>
          </p:nvSpPr>
          <p:spPr bwMode="auto">
            <a:xfrm flipH="1">
              <a:off x="4124" y="2541"/>
              <a:ext cx="83" cy="97"/>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89839" name="Rectangle 15"/>
            <p:cNvSpPr>
              <a:spLocks noChangeArrowheads="1"/>
            </p:cNvSpPr>
            <p:nvPr/>
          </p:nvSpPr>
          <p:spPr bwMode="auto">
            <a:xfrm>
              <a:off x="4126" y="2180"/>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32</a:t>
              </a:r>
              <a:endParaRPr lang="en-US" altLang="en-US" sz="2800"/>
            </a:p>
          </p:txBody>
        </p:sp>
        <p:sp>
          <p:nvSpPr>
            <p:cNvPr id="589840" name="Rectangle 16"/>
            <p:cNvSpPr>
              <a:spLocks noChangeArrowheads="1"/>
            </p:cNvSpPr>
            <p:nvPr/>
          </p:nvSpPr>
          <p:spPr bwMode="auto">
            <a:xfrm>
              <a:off x="4126" y="2412"/>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10</a:t>
              </a:r>
              <a:endParaRPr lang="en-US" altLang="en-US" sz="2800"/>
            </a:p>
          </p:txBody>
        </p:sp>
        <p:sp>
          <p:nvSpPr>
            <p:cNvPr id="589841" name="Rectangle 17"/>
            <p:cNvSpPr>
              <a:spLocks noChangeArrowheads="1"/>
            </p:cNvSpPr>
            <p:nvPr/>
          </p:nvSpPr>
          <p:spPr bwMode="auto">
            <a:xfrm>
              <a:off x="4382" y="2287"/>
              <a:ext cx="2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data</a:t>
              </a:r>
              <a:endParaRPr lang="en-US" altLang="en-US" sz="2800"/>
            </a:p>
          </p:txBody>
        </p:sp>
        <p:sp>
          <p:nvSpPr>
            <p:cNvPr id="589844" name="Rectangle 20"/>
            <p:cNvSpPr>
              <a:spLocks noChangeArrowheads="1"/>
            </p:cNvSpPr>
            <p:nvPr/>
          </p:nvSpPr>
          <p:spPr bwMode="auto">
            <a:xfrm>
              <a:off x="4382" y="2523"/>
              <a:ext cx="24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addr</a:t>
              </a:r>
              <a:endParaRPr lang="en-US" altLang="en-US" sz="2800"/>
            </a:p>
          </p:txBody>
        </p:sp>
        <p:sp>
          <p:nvSpPr>
            <p:cNvPr id="589845" name="Rectangle 21"/>
            <p:cNvSpPr>
              <a:spLocks noChangeArrowheads="1"/>
            </p:cNvSpPr>
            <p:nvPr/>
          </p:nvSpPr>
          <p:spPr bwMode="auto">
            <a:xfrm>
              <a:off x="4382" y="2759"/>
              <a:ext cx="13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en</a:t>
              </a:r>
              <a:endParaRPr lang="en-US" altLang="en-US" sz="2800"/>
            </a:p>
          </p:txBody>
        </p:sp>
        <p:sp>
          <p:nvSpPr>
            <p:cNvPr id="589846" name="Rectangle 22"/>
            <p:cNvSpPr>
              <a:spLocks noChangeArrowheads="1"/>
            </p:cNvSpPr>
            <p:nvPr/>
          </p:nvSpPr>
          <p:spPr bwMode="auto">
            <a:xfrm>
              <a:off x="4671" y="2463"/>
              <a:ext cx="46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1024x32</a:t>
              </a:r>
              <a:endParaRPr lang="en-US" altLang="en-US" sz="2800"/>
            </a:p>
          </p:txBody>
        </p:sp>
        <p:sp>
          <p:nvSpPr>
            <p:cNvPr id="589849" name="Rectangle 25"/>
            <p:cNvSpPr>
              <a:spLocks noChangeArrowheads="1"/>
            </p:cNvSpPr>
            <p:nvPr/>
          </p:nvSpPr>
          <p:spPr bwMode="auto">
            <a:xfrm>
              <a:off x="4771" y="2593"/>
              <a:ext cx="2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ROM</a:t>
              </a:r>
              <a:endParaRPr lang="en-US" altLang="en-US" sz="2800"/>
            </a:p>
          </p:txBody>
        </p:sp>
        <p:sp>
          <p:nvSpPr>
            <p:cNvPr id="589852" name="Rectangle 28"/>
            <p:cNvSpPr>
              <a:spLocks noChangeArrowheads="1"/>
            </p:cNvSpPr>
            <p:nvPr/>
          </p:nvSpPr>
          <p:spPr bwMode="auto">
            <a:xfrm>
              <a:off x="4350" y="2180"/>
              <a:ext cx="1041" cy="82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89885" name="Text Box 61"/>
            <p:cNvSpPr txBox="1">
              <a:spLocks noChangeArrowheads="1"/>
            </p:cNvSpPr>
            <p:nvPr/>
          </p:nvSpPr>
          <p:spPr bwMode="auto">
            <a:xfrm>
              <a:off x="4315" y="3042"/>
              <a:ext cx="1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i="1"/>
                <a:t>ROM block symbol</a:t>
              </a:r>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Slide Number Placeholder 3"/>
          <p:cNvSpPr>
            <a:spLocks noGrp="1"/>
          </p:cNvSpPr>
          <p:nvPr>
            <p:ph type="sldNum" sz="quarter" idx="10"/>
          </p:nvPr>
        </p:nvSpPr>
        <p:spPr/>
        <p:txBody>
          <a:bodyPr/>
          <a:lstStyle/>
          <a:p>
            <a:fld id="{8A0102BB-0482-49F6-842E-643EDCE420F5}" type="slidenum">
              <a:rPr lang="en-US" altLang="en-US"/>
              <a:pPr/>
              <a:t>73</a:t>
            </a:fld>
            <a:endParaRPr lang="en-US" altLang="en-US"/>
          </a:p>
        </p:txBody>
      </p:sp>
      <p:sp>
        <p:nvSpPr>
          <p:cNvPr id="590850" name="Rectangle 2"/>
          <p:cNvSpPr>
            <a:spLocks noGrp="1" noChangeArrowheads="1"/>
          </p:cNvSpPr>
          <p:nvPr>
            <p:ph type="title"/>
          </p:nvPr>
        </p:nvSpPr>
        <p:spPr/>
        <p:txBody>
          <a:bodyPr/>
          <a:lstStyle/>
          <a:p>
            <a:r>
              <a:rPr lang="en-US" altLang="en-US"/>
              <a:t>Read-Only Memory – ROM</a:t>
            </a:r>
          </a:p>
        </p:txBody>
      </p:sp>
      <p:sp>
        <p:nvSpPr>
          <p:cNvPr id="590851" name="Rectangle 3"/>
          <p:cNvSpPr>
            <a:spLocks noGrp="1" noChangeArrowheads="1"/>
          </p:cNvSpPr>
          <p:nvPr>
            <p:ph type="body" idx="1"/>
          </p:nvPr>
        </p:nvSpPr>
        <p:spPr>
          <a:xfrm>
            <a:off x="228600" y="4779963"/>
            <a:ext cx="8585200" cy="1316037"/>
          </a:xfrm>
        </p:spPr>
        <p:txBody>
          <a:bodyPr/>
          <a:lstStyle/>
          <a:p>
            <a:r>
              <a:rPr lang="en-US" altLang="en-US"/>
              <a:t>Internal logical structure similar to RAM, without the data input lines</a:t>
            </a:r>
          </a:p>
        </p:txBody>
      </p:sp>
      <p:grpSp>
        <p:nvGrpSpPr>
          <p:cNvPr id="591380" name="Group 532"/>
          <p:cNvGrpSpPr>
            <a:grpSpLocks/>
          </p:cNvGrpSpPr>
          <p:nvPr/>
        </p:nvGrpSpPr>
        <p:grpSpPr bwMode="auto">
          <a:xfrm>
            <a:off x="374650" y="1189038"/>
            <a:ext cx="1781175" cy="1262062"/>
            <a:chOff x="236" y="749"/>
            <a:chExt cx="1122" cy="795"/>
          </a:xfrm>
        </p:grpSpPr>
        <p:sp>
          <p:nvSpPr>
            <p:cNvPr id="590885" name="Line 37"/>
            <p:cNvSpPr>
              <a:spLocks noChangeShapeType="1"/>
            </p:cNvSpPr>
            <p:nvPr/>
          </p:nvSpPr>
          <p:spPr bwMode="auto">
            <a:xfrm flipH="1">
              <a:off x="301" y="869"/>
              <a:ext cx="85"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0886" name="Freeform 38"/>
            <p:cNvSpPr>
              <a:spLocks/>
            </p:cNvSpPr>
            <p:nvPr/>
          </p:nvSpPr>
          <p:spPr bwMode="auto">
            <a:xfrm>
              <a:off x="236" y="850"/>
              <a:ext cx="75" cy="38"/>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0887" name="Line 39"/>
            <p:cNvSpPr>
              <a:spLocks noChangeShapeType="1"/>
            </p:cNvSpPr>
            <p:nvPr/>
          </p:nvSpPr>
          <p:spPr bwMode="auto">
            <a:xfrm>
              <a:off x="386" y="869"/>
              <a:ext cx="148" cy="0"/>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0888" name="Line 40"/>
            <p:cNvSpPr>
              <a:spLocks noChangeShapeType="1"/>
            </p:cNvSpPr>
            <p:nvPr/>
          </p:nvSpPr>
          <p:spPr bwMode="auto">
            <a:xfrm>
              <a:off x="259" y="1023"/>
              <a:ext cx="211"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0889" name="Freeform 41"/>
            <p:cNvSpPr>
              <a:spLocks/>
            </p:cNvSpPr>
            <p:nvPr/>
          </p:nvSpPr>
          <p:spPr bwMode="auto">
            <a:xfrm>
              <a:off x="457" y="1006"/>
              <a:ext cx="75" cy="3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0890" name="Line 42"/>
            <p:cNvSpPr>
              <a:spLocks noChangeShapeType="1"/>
            </p:cNvSpPr>
            <p:nvPr/>
          </p:nvSpPr>
          <p:spPr bwMode="auto">
            <a:xfrm>
              <a:off x="259" y="1180"/>
              <a:ext cx="211"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0891" name="Freeform 43"/>
            <p:cNvSpPr>
              <a:spLocks/>
            </p:cNvSpPr>
            <p:nvPr/>
          </p:nvSpPr>
          <p:spPr bwMode="auto">
            <a:xfrm>
              <a:off x="457" y="1161"/>
              <a:ext cx="75" cy="38"/>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0892" name="Freeform 44"/>
            <p:cNvSpPr>
              <a:spLocks/>
            </p:cNvSpPr>
            <p:nvPr/>
          </p:nvSpPr>
          <p:spPr bwMode="auto">
            <a:xfrm>
              <a:off x="358" y="835"/>
              <a:ext cx="63" cy="64"/>
            </a:xfrm>
            <a:custGeom>
              <a:avLst/>
              <a:gdLst>
                <a:gd name="T0" fmla="*/ 85 w 85"/>
                <a:gd name="T1" fmla="*/ 0 h 84"/>
                <a:gd name="T2" fmla="*/ 0 w 85"/>
                <a:gd name="T3" fmla="*/ 84 h 84"/>
                <a:gd name="T4" fmla="*/ 85 w 85"/>
                <a:gd name="T5" fmla="*/ 0 h 84"/>
              </a:gdLst>
              <a:ahLst/>
              <a:cxnLst>
                <a:cxn ang="0">
                  <a:pos x="T0" y="T1"/>
                </a:cxn>
                <a:cxn ang="0">
                  <a:pos x="T2" y="T3"/>
                </a:cxn>
                <a:cxn ang="0">
                  <a:pos x="T4" y="T5"/>
                </a:cxn>
              </a:cxnLst>
              <a:rect l="0" t="0" r="r" b="b"/>
              <a:pathLst>
                <a:path w="85" h="84">
                  <a:moveTo>
                    <a:pt x="85" y="0"/>
                  </a:moveTo>
                  <a:lnTo>
                    <a:pt x="0" y="84"/>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0893" name="Line 45"/>
            <p:cNvSpPr>
              <a:spLocks noChangeShapeType="1"/>
            </p:cNvSpPr>
            <p:nvPr/>
          </p:nvSpPr>
          <p:spPr bwMode="auto">
            <a:xfrm flipH="1">
              <a:off x="358" y="835"/>
              <a:ext cx="63" cy="6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0894" name="Freeform 46"/>
            <p:cNvSpPr>
              <a:spLocks/>
            </p:cNvSpPr>
            <p:nvPr/>
          </p:nvSpPr>
          <p:spPr bwMode="auto">
            <a:xfrm>
              <a:off x="358" y="990"/>
              <a:ext cx="63" cy="64"/>
            </a:xfrm>
            <a:custGeom>
              <a:avLst/>
              <a:gdLst>
                <a:gd name="T0" fmla="*/ 85 w 85"/>
                <a:gd name="T1" fmla="*/ 0 h 85"/>
                <a:gd name="T2" fmla="*/ 0 w 85"/>
                <a:gd name="T3" fmla="*/ 85 h 85"/>
                <a:gd name="T4" fmla="*/ 85 w 85"/>
                <a:gd name="T5" fmla="*/ 0 h 85"/>
              </a:gdLst>
              <a:ahLst/>
              <a:cxnLst>
                <a:cxn ang="0">
                  <a:pos x="T0" y="T1"/>
                </a:cxn>
                <a:cxn ang="0">
                  <a:pos x="T2" y="T3"/>
                </a:cxn>
                <a:cxn ang="0">
                  <a:pos x="T4" y="T5"/>
                </a:cxn>
              </a:cxnLst>
              <a:rect l="0" t="0" r="r" b="b"/>
              <a:pathLst>
                <a:path w="85" h="85">
                  <a:moveTo>
                    <a:pt x="85" y="0"/>
                  </a:moveTo>
                  <a:lnTo>
                    <a:pt x="0" y="85"/>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0895" name="Line 47"/>
            <p:cNvSpPr>
              <a:spLocks noChangeShapeType="1"/>
            </p:cNvSpPr>
            <p:nvPr/>
          </p:nvSpPr>
          <p:spPr bwMode="auto">
            <a:xfrm flipH="1">
              <a:off x="358" y="990"/>
              <a:ext cx="63" cy="6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0896" name="Rectangle 48"/>
            <p:cNvSpPr>
              <a:spLocks noChangeArrowheads="1"/>
            </p:cNvSpPr>
            <p:nvPr/>
          </p:nvSpPr>
          <p:spPr bwMode="auto">
            <a:xfrm>
              <a:off x="359" y="749"/>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32</a:t>
              </a:r>
              <a:endParaRPr lang="en-US" altLang="en-US" sz="1800"/>
            </a:p>
          </p:txBody>
        </p:sp>
        <p:sp>
          <p:nvSpPr>
            <p:cNvPr id="590897" name="Rectangle 49"/>
            <p:cNvSpPr>
              <a:spLocks noChangeArrowheads="1"/>
            </p:cNvSpPr>
            <p:nvPr/>
          </p:nvSpPr>
          <p:spPr bwMode="auto">
            <a:xfrm>
              <a:off x="359" y="904"/>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a:t>
              </a:r>
              <a:endParaRPr lang="en-US" altLang="en-US" sz="1800"/>
            </a:p>
          </p:txBody>
        </p:sp>
        <p:sp>
          <p:nvSpPr>
            <p:cNvPr id="590898" name="Rectangle 50"/>
            <p:cNvSpPr>
              <a:spLocks noChangeArrowheads="1"/>
            </p:cNvSpPr>
            <p:nvPr/>
          </p:nvSpPr>
          <p:spPr bwMode="auto">
            <a:xfrm>
              <a:off x="557" y="821"/>
              <a:ext cx="15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data</a:t>
              </a:r>
              <a:endParaRPr lang="en-US" altLang="en-US" sz="1800"/>
            </a:p>
          </p:txBody>
        </p:sp>
        <p:sp>
          <p:nvSpPr>
            <p:cNvPr id="590901" name="Rectangle 53"/>
            <p:cNvSpPr>
              <a:spLocks noChangeArrowheads="1"/>
            </p:cNvSpPr>
            <p:nvPr/>
          </p:nvSpPr>
          <p:spPr bwMode="auto">
            <a:xfrm>
              <a:off x="557" y="978"/>
              <a:ext cx="159"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addr</a:t>
              </a:r>
              <a:endParaRPr lang="en-US" altLang="en-US" sz="1800"/>
            </a:p>
          </p:txBody>
        </p:sp>
        <p:sp>
          <p:nvSpPr>
            <p:cNvPr id="590902" name="Rectangle 54"/>
            <p:cNvSpPr>
              <a:spLocks noChangeArrowheads="1"/>
            </p:cNvSpPr>
            <p:nvPr/>
          </p:nvSpPr>
          <p:spPr bwMode="auto">
            <a:xfrm>
              <a:off x="557" y="1135"/>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en</a:t>
              </a:r>
              <a:endParaRPr lang="en-US" altLang="en-US" sz="1800"/>
            </a:p>
          </p:txBody>
        </p:sp>
        <p:sp>
          <p:nvSpPr>
            <p:cNvPr id="590903" name="Rectangle 55"/>
            <p:cNvSpPr>
              <a:spLocks noChangeArrowheads="1"/>
            </p:cNvSpPr>
            <p:nvPr/>
          </p:nvSpPr>
          <p:spPr bwMode="auto">
            <a:xfrm>
              <a:off x="780" y="938"/>
              <a:ext cx="30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1024x32</a:t>
              </a:r>
              <a:endParaRPr lang="en-US" altLang="en-US" sz="1800"/>
            </a:p>
          </p:txBody>
        </p:sp>
        <p:sp>
          <p:nvSpPr>
            <p:cNvPr id="590906" name="Rectangle 58"/>
            <p:cNvSpPr>
              <a:spLocks noChangeArrowheads="1"/>
            </p:cNvSpPr>
            <p:nvPr/>
          </p:nvSpPr>
          <p:spPr bwMode="auto">
            <a:xfrm>
              <a:off x="857" y="1025"/>
              <a:ext cx="187"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ROM</a:t>
              </a:r>
              <a:endParaRPr lang="en-US" altLang="en-US" sz="1800"/>
            </a:p>
          </p:txBody>
        </p:sp>
        <p:sp>
          <p:nvSpPr>
            <p:cNvPr id="590908" name="Rectangle 60"/>
            <p:cNvSpPr>
              <a:spLocks noChangeArrowheads="1"/>
            </p:cNvSpPr>
            <p:nvPr/>
          </p:nvSpPr>
          <p:spPr bwMode="auto">
            <a:xfrm>
              <a:off x="532" y="749"/>
              <a:ext cx="803" cy="553"/>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0909" name="Text Box 61"/>
            <p:cNvSpPr txBox="1">
              <a:spLocks noChangeArrowheads="1"/>
            </p:cNvSpPr>
            <p:nvPr/>
          </p:nvSpPr>
          <p:spPr bwMode="auto">
            <a:xfrm>
              <a:off x="505" y="1371"/>
              <a:ext cx="853"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200" i="1"/>
                <a:t>ROM block symbol</a:t>
              </a:r>
            </a:p>
          </p:txBody>
        </p:sp>
      </p:grpSp>
      <p:sp>
        <p:nvSpPr>
          <p:cNvPr id="591043" name="Line 195"/>
          <p:cNvSpPr>
            <a:spLocks noChangeShapeType="1"/>
          </p:cNvSpPr>
          <p:nvPr/>
        </p:nvSpPr>
        <p:spPr bwMode="auto">
          <a:xfrm>
            <a:off x="2105025" y="1697038"/>
            <a:ext cx="674688" cy="347662"/>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1212" name="Text Box 364"/>
          <p:cNvSpPr txBox="1">
            <a:spLocks noChangeArrowheads="1"/>
          </p:cNvSpPr>
          <p:nvPr/>
        </p:nvSpPr>
        <p:spPr bwMode="auto">
          <a:xfrm>
            <a:off x="6945313" y="4279900"/>
            <a:ext cx="1192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ROM cell</a:t>
            </a:r>
          </a:p>
        </p:txBody>
      </p:sp>
      <p:sp>
        <p:nvSpPr>
          <p:cNvPr id="591213" name="Line 365"/>
          <p:cNvSpPr>
            <a:spLocks noChangeShapeType="1"/>
          </p:cNvSpPr>
          <p:nvPr/>
        </p:nvSpPr>
        <p:spPr bwMode="auto">
          <a:xfrm flipV="1">
            <a:off x="7507288" y="4162425"/>
            <a:ext cx="396875" cy="204788"/>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591214" name="Picture 3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49775" y="2505075"/>
            <a:ext cx="209550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15" name="Picture 36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3388" y="3001963"/>
            <a:ext cx="15875" cy="1025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16" name="Picture 3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16813" y="3589338"/>
            <a:ext cx="1073150"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17" name="Picture 3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2050" y="3343275"/>
            <a:ext cx="1270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18" name="Picture 37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4175" y="3343275"/>
            <a:ext cx="14288"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19" name="Picture 3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4100" y="3343275"/>
            <a:ext cx="1270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23" name="Picture 37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5475" y="3611563"/>
            <a:ext cx="352425"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24" name="Picture 3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9175" y="3611563"/>
            <a:ext cx="368300"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25" name="Picture 37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2888" y="3611563"/>
            <a:ext cx="366712"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26" name="Picture 37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5988" y="3611563"/>
            <a:ext cx="368300"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27" name="Picture 37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5475" y="2813050"/>
            <a:ext cx="352425"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28" name="Picture 38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9175" y="2813050"/>
            <a:ext cx="368300"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29" name="Picture 38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2888" y="2813050"/>
            <a:ext cx="366712"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30" name="Picture 38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5988" y="2813050"/>
            <a:ext cx="368300"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31" name="Picture 38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05475" y="2243138"/>
            <a:ext cx="352425"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32" name="Picture 38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9175" y="2243138"/>
            <a:ext cx="368300"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33" name="Picture 38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22888" y="2243138"/>
            <a:ext cx="366712"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34" name="Picture 38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5988" y="2243138"/>
            <a:ext cx="368300" cy="15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35" name="Picture 38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42050" y="2582863"/>
            <a:ext cx="12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36" name="Picture 38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68938" y="2582863"/>
            <a:ext cx="14287"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1237" name="Picture 38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4100" y="2582863"/>
            <a:ext cx="127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1238" name="Rectangle 390"/>
          <p:cNvSpPr>
            <a:spLocks noChangeArrowheads="1"/>
          </p:cNvSpPr>
          <p:nvPr/>
        </p:nvSpPr>
        <p:spPr bwMode="auto">
          <a:xfrm>
            <a:off x="2705100" y="1846263"/>
            <a:ext cx="3959225" cy="240030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239" name="Line 391"/>
          <p:cNvSpPr>
            <a:spLocks noChangeShapeType="1"/>
          </p:cNvSpPr>
          <p:nvPr/>
        </p:nvSpPr>
        <p:spPr bwMode="auto">
          <a:xfrm>
            <a:off x="4865688" y="2316163"/>
            <a:ext cx="1587" cy="12700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40" name="Freeform 392"/>
          <p:cNvSpPr>
            <a:spLocks/>
          </p:cNvSpPr>
          <p:nvPr/>
        </p:nvSpPr>
        <p:spPr bwMode="auto">
          <a:xfrm>
            <a:off x="4822825" y="2379663"/>
            <a:ext cx="85725" cy="169862"/>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43" name="Line 395"/>
          <p:cNvSpPr>
            <a:spLocks noChangeShapeType="1"/>
          </p:cNvSpPr>
          <p:nvPr/>
        </p:nvSpPr>
        <p:spPr bwMode="auto">
          <a:xfrm>
            <a:off x="4033838" y="2251075"/>
            <a:ext cx="538162"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44" name="Freeform 396"/>
          <p:cNvSpPr>
            <a:spLocks/>
          </p:cNvSpPr>
          <p:nvPr/>
        </p:nvSpPr>
        <p:spPr bwMode="auto">
          <a:xfrm>
            <a:off x="4540250" y="2208213"/>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45" name="Line 397"/>
          <p:cNvSpPr>
            <a:spLocks noChangeShapeType="1"/>
          </p:cNvSpPr>
          <p:nvPr/>
        </p:nvSpPr>
        <p:spPr bwMode="auto">
          <a:xfrm>
            <a:off x="4033838" y="2822575"/>
            <a:ext cx="538162"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46" name="Freeform 398"/>
          <p:cNvSpPr>
            <a:spLocks/>
          </p:cNvSpPr>
          <p:nvPr/>
        </p:nvSpPr>
        <p:spPr bwMode="auto">
          <a:xfrm>
            <a:off x="4540250" y="2779713"/>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47" name="Line 399"/>
          <p:cNvSpPr>
            <a:spLocks noChangeShapeType="1"/>
          </p:cNvSpPr>
          <p:nvPr/>
        </p:nvSpPr>
        <p:spPr bwMode="auto">
          <a:xfrm>
            <a:off x="2566988" y="2571750"/>
            <a:ext cx="24447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48" name="Freeform 400"/>
          <p:cNvSpPr>
            <a:spLocks/>
          </p:cNvSpPr>
          <p:nvPr/>
        </p:nvSpPr>
        <p:spPr bwMode="auto">
          <a:xfrm>
            <a:off x="2779713" y="2528888"/>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49" name="Line 401"/>
          <p:cNvSpPr>
            <a:spLocks noChangeShapeType="1"/>
          </p:cNvSpPr>
          <p:nvPr/>
        </p:nvSpPr>
        <p:spPr bwMode="auto">
          <a:xfrm>
            <a:off x="2566988" y="2747963"/>
            <a:ext cx="244475"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50" name="Freeform 402"/>
          <p:cNvSpPr>
            <a:spLocks/>
          </p:cNvSpPr>
          <p:nvPr/>
        </p:nvSpPr>
        <p:spPr bwMode="auto">
          <a:xfrm>
            <a:off x="2779713" y="2705100"/>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51" name="Line 403"/>
          <p:cNvSpPr>
            <a:spLocks noChangeShapeType="1"/>
          </p:cNvSpPr>
          <p:nvPr/>
        </p:nvSpPr>
        <p:spPr bwMode="auto">
          <a:xfrm>
            <a:off x="2566988" y="3216275"/>
            <a:ext cx="24447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52" name="Freeform 404"/>
          <p:cNvSpPr>
            <a:spLocks/>
          </p:cNvSpPr>
          <p:nvPr/>
        </p:nvSpPr>
        <p:spPr bwMode="auto">
          <a:xfrm>
            <a:off x="2779713" y="3175000"/>
            <a:ext cx="171450" cy="84138"/>
          </a:xfrm>
          <a:custGeom>
            <a:avLst/>
            <a:gdLst>
              <a:gd name="T0" fmla="*/ 108 w 108"/>
              <a:gd name="T1" fmla="*/ 26 h 53"/>
              <a:gd name="T2" fmla="*/ 0 w 108"/>
              <a:gd name="T3" fmla="*/ 0 h 53"/>
              <a:gd name="T4" fmla="*/ 0 w 108"/>
              <a:gd name="T5" fmla="*/ 53 h 53"/>
              <a:gd name="T6" fmla="*/ 108 w 108"/>
              <a:gd name="T7" fmla="*/ 26 h 53"/>
            </a:gdLst>
            <a:ahLst/>
            <a:cxnLst>
              <a:cxn ang="0">
                <a:pos x="T0" y="T1"/>
              </a:cxn>
              <a:cxn ang="0">
                <a:pos x="T2" y="T3"/>
              </a:cxn>
              <a:cxn ang="0">
                <a:pos x="T4" y="T5"/>
              </a:cxn>
              <a:cxn ang="0">
                <a:pos x="T6" y="T7"/>
              </a:cxn>
            </a:cxnLst>
            <a:rect l="0" t="0" r="r" b="b"/>
            <a:pathLst>
              <a:path w="108" h="53">
                <a:moveTo>
                  <a:pt x="108" y="26"/>
                </a:moveTo>
                <a:lnTo>
                  <a:pt x="0" y="0"/>
                </a:lnTo>
                <a:lnTo>
                  <a:pt x="0" y="53"/>
                </a:lnTo>
                <a:lnTo>
                  <a:pt x="108"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55" name="Freeform 407"/>
          <p:cNvSpPr>
            <a:spLocks/>
          </p:cNvSpPr>
          <p:nvPr/>
        </p:nvSpPr>
        <p:spPr bwMode="auto">
          <a:xfrm>
            <a:off x="2582863" y="3910013"/>
            <a:ext cx="644525" cy="101600"/>
          </a:xfrm>
          <a:custGeom>
            <a:avLst/>
            <a:gdLst>
              <a:gd name="T0" fmla="*/ 406 w 406"/>
              <a:gd name="T1" fmla="*/ 0 h 64"/>
              <a:gd name="T2" fmla="*/ 406 w 406"/>
              <a:gd name="T3" fmla="*/ 64 h 64"/>
              <a:gd name="T4" fmla="*/ 0 w 406"/>
              <a:gd name="T5" fmla="*/ 64 h 64"/>
            </a:gdLst>
            <a:ahLst/>
            <a:cxnLst>
              <a:cxn ang="0">
                <a:pos x="T0" y="T1"/>
              </a:cxn>
              <a:cxn ang="0">
                <a:pos x="T2" y="T3"/>
              </a:cxn>
              <a:cxn ang="0">
                <a:pos x="T4" y="T5"/>
              </a:cxn>
            </a:cxnLst>
            <a:rect l="0" t="0" r="r" b="b"/>
            <a:pathLst>
              <a:path w="406" h="64">
                <a:moveTo>
                  <a:pt x="406" y="0"/>
                </a:moveTo>
                <a:lnTo>
                  <a:pt x="406" y="64"/>
                </a:lnTo>
                <a:lnTo>
                  <a:pt x="0" y="64"/>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256" name="Freeform 408"/>
          <p:cNvSpPr>
            <a:spLocks/>
          </p:cNvSpPr>
          <p:nvPr/>
        </p:nvSpPr>
        <p:spPr bwMode="auto">
          <a:xfrm>
            <a:off x="3184525" y="3771900"/>
            <a:ext cx="85725" cy="169863"/>
          </a:xfrm>
          <a:custGeom>
            <a:avLst/>
            <a:gdLst>
              <a:gd name="T0" fmla="*/ 27 w 54"/>
              <a:gd name="T1" fmla="*/ 0 h 107"/>
              <a:gd name="T2" fmla="*/ 0 w 54"/>
              <a:gd name="T3" fmla="*/ 107 h 107"/>
              <a:gd name="T4" fmla="*/ 54 w 54"/>
              <a:gd name="T5" fmla="*/ 107 h 107"/>
              <a:gd name="T6" fmla="*/ 27 w 54"/>
              <a:gd name="T7" fmla="*/ 0 h 107"/>
            </a:gdLst>
            <a:ahLst/>
            <a:cxnLst>
              <a:cxn ang="0">
                <a:pos x="T0" y="T1"/>
              </a:cxn>
              <a:cxn ang="0">
                <a:pos x="T2" y="T3"/>
              </a:cxn>
              <a:cxn ang="0">
                <a:pos x="T4" y="T5"/>
              </a:cxn>
              <a:cxn ang="0">
                <a:pos x="T6" y="T7"/>
              </a:cxn>
            </a:cxnLst>
            <a:rect l="0" t="0" r="r" b="b"/>
            <a:pathLst>
              <a:path w="54" h="107">
                <a:moveTo>
                  <a:pt x="27" y="0"/>
                </a:moveTo>
                <a:lnTo>
                  <a:pt x="0" y="107"/>
                </a:lnTo>
                <a:lnTo>
                  <a:pt x="54" y="107"/>
                </a:lnTo>
                <a:lnTo>
                  <a:pt x="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57" name="Line 409"/>
          <p:cNvSpPr>
            <a:spLocks noChangeShapeType="1"/>
          </p:cNvSpPr>
          <p:nvPr/>
        </p:nvSpPr>
        <p:spPr bwMode="auto">
          <a:xfrm>
            <a:off x="2374900" y="3771900"/>
            <a:ext cx="185738"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58" name="Freeform 410"/>
          <p:cNvSpPr>
            <a:spLocks/>
          </p:cNvSpPr>
          <p:nvPr/>
        </p:nvSpPr>
        <p:spPr bwMode="auto">
          <a:xfrm>
            <a:off x="2533650" y="3729038"/>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59" name="Freeform 411"/>
          <p:cNvSpPr>
            <a:spLocks/>
          </p:cNvSpPr>
          <p:nvPr/>
        </p:nvSpPr>
        <p:spPr bwMode="auto">
          <a:xfrm>
            <a:off x="2700338" y="3686175"/>
            <a:ext cx="176212" cy="176213"/>
          </a:xfrm>
          <a:custGeom>
            <a:avLst/>
            <a:gdLst>
              <a:gd name="T0" fmla="*/ 0 w 111"/>
              <a:gd name="T1" fmla="*/ 111 h 111"/>
              <a:gd name="T2" fmla="*/ 111 w 111"/>
              <a:gd name="T3" fmla="*/ 54 h 111"/>
              <a:gd name="T4" fmla="*/ 0 w 111"/>
              <a:gd name="T5" fmla="*/ 0 h 111"/>
            </a:gdLst>
            <a:ahLst/>
            <a:cxnLst>
              <a:cxn ang="0">
                <a:pos x="T0" y="T1"/>
              </a:cxn>
              <a:cxn ang="0">
                <a:pos x="T2" y="T3"/>
              </a:cxn>
              <a:cxn ang="0">
                <a:pos x="T4" y="T5"/>
              </a:cxn>
            </a:cxnLst>
            <a:rect l="0" t="0" r="r" b="b"/>
            <a:pathLst>
              <a:path w="111" h="111">
                <a:moveTo>
                  <a:pt x="0" y="111"/>
                </a:moveTo>
                <a:lnTo>
                  <a:pt x="111" y="54"/>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260" name="Oval 412"/>
          <p:cNvSpPr>
            <a:spLocks noChangeArrowheads="1"/>
          </p:cNvSpPr>
          <p:nvPr/>
        </p:nvSpPr>
        <p:spPr bwMode="auto">
          <a:xfrm>
            <a:off x="5794375" y="2108200"/>
            <a:ext cx="42863" cy="36513"/>
          </a:xfrm>
          <a:prstGeom prst="ellipse">
            <a:avLst/>
          </a:prstGeom>
          <a:solidFill>
            <a:srgbClr val="000000"/>
          </a:solidFill>
          <a:ln w="15875">
            <a:solidFill>
              <a:srgbClr val="000000"/>
            </a:solidFill>
            <a:miter lim="800000"/>
            <a:headEnd/>
            <a:tailEnd/>
          </a:ln>
        </p:spPr>
        <p:txBody>
          <a:bodyPr/>
          <a:lstStyle/>
          <a:p>
            <a:endParaRPr lang="en-US"/>
          </a:p>
        </p:txBody>
      </p:sp>
      <p:sp>
        <p:nvSpPr>
          <p:cNvPr id="591261" name="Oval 413"/>
          <p:cNvSpPr>
            <a:spLocks noChangeArrowheads="1"/>
          </p:cNvSpPr>
          <p:nvPr/>
        </p:nvSpPr>
        <p:spPr bwMode="auto">
          <a:xfrm>
            <a:off x="5889625" y="2108200"/>
            <a:ext cx="38100" cy="36513"/>
          </a:xfrm>
          <a:prstGeom prst="ellipse">
            <a:avLst/>
          </a:prstGeom>
          <a:solidFill>
            <a:srgbClr val="000000"/>
          </a:solidFill>
          <a:ln w="15875">
            <a:solidFill>
              <a:srgbClr val="000000"/>
            </a:solidFill>
            <a:miter lim="800000"/>
            <a:headEnd/>
            <a:tailEnd/>
          </a:ln>
        </p:spPr>
        <p:txBody>
          <a:bodyPr/>
          <a:lstStyle/>
          <a:p>
            <a:endParaRPr lang="en-US"/>
          </a:p>
        </p:txBody>
      </p:sp>
      <p:sp>
        <p:nvSpPr>
          <p:cNvPr id="591262" name="Oval 414"/>
          <p:cNvSpPr>
            <a:spLocks noChangeArrowheads="1"/>
          </p:cNvSpPr>
          <p:nvPr/>
        </p:nvSpPr>
        <p:spPr bwMode="auto">
          <a:xfrm>
            <a:off x="5986463" y="2108200"/>
            <a:ext cx="36512" cy="36513"/>
          </a:xfrm>
          <a:prstGeom prst="ellipse">
            <a:avLst/>
          </a:prstGeom>
          <a:solidFill>
            <a:srgbClr val="000000"/>
          </a:solidFill>
          <a:ln w="15875">
            <a:solidFill>
              <a:srgbClr val="000000"/>
            </a:solidFill>
            <a:miter lim="800000"/>
            <a:headEnd/>
            <a:tailEnd/>
          </a:ln>
        </p:spPr>
        <p:txBody>
          <a:bodyPr/>
          <a:lstStyle/>
          <a:p>
            <a:endParaRPr lang="en-US"/>
          </a:p>
        </p:txBody>
      </p:sp>
      <p:sp>
        <p:nvSpPr>
          <p:cNvPr id="591263" name="Oval 415"/>
          <p:cNvSpPr>
            <a:spLocks noChangeArrowheads="1"/>
          </p:cNvSpPr>
          <p:nvPr/>
        </p:nvSpPr>
        <p:spPr bwMode="auto">
          <a:xfrm>
            <a:off x="5794375" y="2651125"/>
            <a:ext cx="42863" cy="38100"/>
          </a:xfrm>
          <a:prstGeom prst="ellipse">
            <a:avLst/>
          </a:prstGeom>
          <a:solidFill>
            <a:srgbClr val="000000"/>
          </a:solidFill>
          <a:ln w="15875">
            <a:solidFill>
              <a:srgbClr val="000000"/>
            </a:solidFill>
            <a:miter lim="800000"/>
            <a:headEnd/>
            <a:tailEnd/>
          </a:ln>
        </p:spPr>
        <p:txBody>
          <a:bodyPr/>
          <a:lstStyle/>
          <a:p>
            <a:endParaRPr lang="en-US"/>
          </a:p>
        </p:txBody>
      </p:sp>
      <p:sp>
        <p:nvSpPr>
          <p:cNvPr id="591264" name="Oval 416"/>
          <p:cNvSpPr>
            <a:spLocks noChangeArrowheads="1"/>
          </p:cNvSpPr>
          <p:nvPr/>
        </p:nvSpPr>
        <p:spPr bwMode="auto">
          <a:xfrm>
            <a:off x="5889625" y="2651125"/>
            <a:ext cx="38100" cy="38100"/>
          </a:xfrm>
          <a:prstGeom prst="ellipse">
            <a:avLst/>
          </a:prstGeom>
          <a:solidFill>
            <a:srgbClr val="000000"/>
          </a:solidFill>
          <a:ln w="15875">
            <a:solidFill>
              <a:srgbClr val="000000"/>
            </a:solidFill>
            <a:miter lim="800000"/>
            <a:headEnd/>
            <a:tailEnd/>
          </a:ln>
        </p:spPr>
        <p:txBody>
          <a:bodyPr/>
          <a:lstStyle/>
          <a:p>
            <a:endParaRPr lang="en-US"/>
          </a:p>
        </p:txBody>
      </p:sp>
      <p:sp>
        <p:nvSpPr>
          <p:cNvPr id="591265" name="Oval 417"/>
          <p:cNvSpPr>
            <a:spLocks noChangeArrowheads="1"/>
          </p:cNvSpPr>
          <p:nvPr/>
        </p:nvSpPr>
        <p:spPr bwMode="auto">
          <a:xfrm>
            <a:off x="5986463" y="2651125"/>
            <a:ext cx="36512" cy="38100"/>
          </a:xfrm>
          <a:prstGeom prst="ellipse">
            <a:avLst/>
          </a:prstGeom>
          <a:solidFill>
            <a:srgbClr val="000000"/>
          </a:solidFill>
          <a:ln w="15875">
            <a:solidFill>
              <a:srgbClr val="000000"/>
            </a:solidFill>
            <a:miter lim="800000"/>
            <a:headEnd/>
            <a:tailEnd/>
          </a:ln>
        </p:spPr>
        <p:txBody>
          <a:bodyPr/>
          <a:lstStyle/>
          <a:p>
            <a:endParaRPr lang="en-US"/>
          </a:p>
        </p:txBody>
      </p:sp>
      <p:sp>
        <p:nvSpPr>
          <p:cNvPr id="591266" name="Oval 418"/>
          <p:cNvSpPr>
            <a:spLocks noChangeArrowheads="1"/>
          </p:cNvSpPr>
          <p:nvPr/>
        </p:nvSpPr>
        <p:spPr bwMode="auto">
          <a:xfrm>
            <a:off x="5575300" y="3109913"/>
            <a:ext cx="38100" cy="42862"/>
          </a:xfrm>
          <a:prstGeom prst="ellipse">
            <a:avLst/>
          </a:prstGeom>
          <a:solidFill>
            <a:srgbClr val="000000"/>
          </a:solidFill>
          <a:ln w="15875">
            <a:solidFill>
              <a:srgbClr val="000000"/>
            </a:solidFill>
            <a:miter lim="800000"/>
            <a:headEnd/>
            <a:tailEnd/>
          </a:ln>
        </p:spPr>
        <p:txBody>
          <a:bodyPr/>
          <a:lstStyle/>
          <a:p>
            <a:endParaRPr lang="en-US"/>
          </a:p>
        </p:txBody>
      </p:sp>
      <p:sp>
        <p:nvSpPr>
          <p:cNvPr id="591267" name="Oval 419"/>
          <p:cNvSpPr>
            <a:spLocks noChangeArrowheads="1"/>
          </p:cNvSpPr>
          <p:nvPr/>
        </p:nvSpPr>
        <p:spPr bwMode="auto">
          <a:xfrm>
            <a:off x="5665788" y="3109913"/>
            <a:ext cx="42862" cy="42862"/>
          </a:xfrm>
          <a:prstGeom prst="ellipse">
            <a:avLst/>
          </a:prstGeom>
          <a:solidFill>
            <a:srgbClr val="000000"/>
          </a:solidFill>
          <a:ln w="15875">
            <a:solidFill>
              <a:srgbClr val="000000"/>
            </a:solidFill>
            <a:miter lim="800000"/>
            <a:headEnd/>
            <a:tailEnd/>
          </a:ln>
        </p:spPr>
        <p:txBody>
          <a:bodyPr/>
          <a:lstStyle/>
          <a:p>
            <a:endParaRPr lang="en-US"/>
          </a:p>
        </p:txBody>
      </p:sp>
      <p:sp>
        <p:nvSpPr>
          <p:cNvPr id="591268" name="Oval 420"/>
          <p:cNvSpPr>
            <a:spLocks noChangeArrowheads="1"/>
          </p:cNvSpPr>
          <p:nvPr/>
        </p:nvSpPr>
        <p:spPr bwMode="auto">
          <a:xfrm>
            <a:off x="5762625" y="3109913"/>
            <a:ext cx="42863" cy="42862"/>
          </a:xfrm>
          <a:prstGeom prst="ellipse">
            <a:avLst/>
          </a:prstGeom>
          <a:solidFill>
            <a:srgbClr val="000000"/>
          </a:solidFill>
          <a:ln w="15875">
            <a:solidFill>
              <a:srgbClr val="000000"/>
            </a:solidFill>
            <a:miter lim="800000"/>
            <a:headEnd/>
            <a:tailEnd/>
          </a:ln>
        </p:spPr>
        <p:txBody>
          <a:bodyPr/>
          <a:lstStyle/>
          <a:p>
            <a:endParaRPr lang="en-US"/>
          </a:p>
        </p:txBody>
      </p:sp>
      <p:sp>
        <p:nvSpPr>
          <p:cNvPr id="591269" name="Oval 421"/>
          <p:cNvSpPr>
            <a:spLocks noChangeArrowheads="1"/>
          </p:cNvSpPr>
          <p:nvPr/>
        </p:nvSpPr>
        <p:spPr bwMode="auto">
          <a:xfrm>
            <a:off x="2849563" y="2955925"/>
            <a:ext cx="36512" cy="42863"/>
          </a:xfrm>
          <a:prstGeom prst="ellipse">
            <a:avLst/>
          </a:prstGeom>
          <a:solidFill>
            <a:srgbClr val="000000"/>
          </a:solidFill>
          <a:ln w="15875">
            <a:solidFill>
              <a:srgbClr val="000000"/>
            </a:solidFill>
            <a:miter lim="800000"/>
            <a:headEnd/>
            <a:tailEnd/>
          </a:ln>
        </p:spPr>
        <p:txBody>
          <a:bodyPr/>
          <a:lstStyle/>
          <a:p>
            <a:endParaRPr lang="en-US"/>
          </a:p>
        </p:txBody>
      </p:sp>
      <p:sp>
        <p:nvSpPr>
          <p:cNvPr id="591270" name="Oval 422"/>
          <p:cNvSpPr>
            <a:spLocks noChangeArrowheads="1"/>
          </p:cNvSpPr>
          <p:nvPr/>
        </p:nvSpPr>
        <p:spPr bwMode="auto">
          <a:xfrm>
            <a:off x="2940050" y="2955925"/>
            <a:ext cx="42863" cy="42863"/>
          </a:xfrm>
          <a:prstGeom prst="ellipse">
            <a:avLst/>
          </a:prstGeom>
          <a:solidFill>
            <a:srgbClr val="000000"/>
          </a:solidFill>
          <a:ln w="15875">
            <a:solidFill>
              <a:srgbClr val="000000"/>
            </a:solidFill>
            <a:miter lim="800000"/>
            <a:headEnd/>
            <a:tailEnd/>
          </a:ln>
        </p:spPr>
        <p:txBody>
          <a:bodyPr/>
          <a:lstStyle/>
          <a:p>
            <a:endParaRPr lang="en-US"/>
          </a:p>
        </p:txBody>
      </p:sp>
      <p:sp>
        <p:nvSpPr>
          <p:cNvPr id="591271" name="Oval 423"/>
          <p:cNvSpPr>
            <a:spLocks noChangeArrowheads="1"/>
          </p:cNvSpPr>
          <p:nvPr/>
        </p:nvSpPr>
        <p:spPr bwMode="auto">
          <a:xfrm>
            <a:off x="3035300" y="2955925"/>
            <a:ext cx="42863" cy="42863"/>
          </a:xfrm>
          <a:prstGeom prst="ellipse">
            <a:avLst/>
          </a:prstGeom>
          <a:solidFill>
            <a:srgbClr val="000000"/>
          </a:solidFill>
          <a:ln w="15875">
            <a:solidFill>
              <a:srgbClr val="000000"/>
            </a:solidFill>
            <a:miter lim="800000"/>
            <a:headEnd/>
            <a:tailEnd/>
          </a:ln>
        </p:spPr>
        <p:txBody>
          <a:bodyPr/>
          <a:lstStyle/>
          <a:p>
            <a:endParaRPr lang="en-US"/>
          </a:p>
        </p:txBody>
      </p:sp>
      <p:sp>
        <p:nvSpPr>
          <p:cNvPr id="591272" name="Freeform 424"/>
          <p:cNvSpPr>
            <a:spLocks/>
          </p:cNvSpPr>
          <p:nvPr/>
        </p:nvSpPr>
        <p:spPr bwMode="auto">
          <a:xfrm>
            <a:off x="2960688" y="3046413"/>
            <a:ext cx="1066800" cy="725487"/>
          </a:xfrm>
          <a:custGeom>
            <a:avLst/>
            <a:gdLst>
              <a:gd name="T0" fmla="*/ 672 w 672"/>
              <a:gd name="T1" fmla="*/ 91 h 457"/>
              <a:gd name="T2" fmla="*/ 672 w 672"/>
              <a:gd name="T3" fmla="*/ 457 h 457"/>
              <a:gd name="T4" fmla="*/ 0 w 672"/>
              <a:gd name="T5" fmla="*/ 457 h 457"/>
              <a:gd name="T6" fmla="*/ 0 w 672"/>
              <a:gd name="T7" fmla="*/ 0 h 457"/>
            </a:gdLst>
            <a:ahLst/>
            <a:cxnLst>
              <a:cxn ang="0">
                <a:pos x="T0" y="T1"/>
              </a:cxn>
              <a:cxn ang="0">
                <a:pos x="T2" y="T3"/>
              </a:cxn>
              <a:cxn ang="0">
                <a:pos x="T4" y="T5"/>
              </a:cxn>
              <a:cxn ang="0">
                <a:pos x="T6" y="T7"/>
              </a:cxn>
            </a:cxnLst>
            <a:rect l="0" t="0" r="r" b="b"/>
            <a:pathLst>
              <a:path w="672" h="457">
                <a:moveTo>
                  <a:pt x="672" y="91"/>
                </a:moveTo>
                <a:lnTo>
                  <a:pt x="672" y="457"/>
                </a:lnTo>
                <a:lnTo>
                  <a:pt x="0" y="457"/>
                </a:lnTo>
                <a:lnTo>
                  <a:pt x="0" y="0"/>
                </a:lnTo>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273" name="Freeform 425"/>
          <p:cNvSpPr>
            <a:spLocks/>
          </p:cNvSpPr>
          <p:nvPr/>
        </p:nvSpPr>
        <p:spPr bwMode="auto">
          <a:xfrm>
            <a:off x="2960688" y="1974850"/>
            <a:ext cx="1066800" cy="1087438"/>
          </a:xfrm>
          <a:custGeom>
            <a:avLst/>
            <a:gdLst>
              <a:gd name="T0" fmla="*/ 0 w 672"/>
              <a:gd name="T1" fmla="*/ 594 h 685"/>
              <a:gd name="T2" fmla="*/ 0 w 672"/>
              <a:gd name="T3" fmla="*/ 0 h 685"/>
              <a:gd name="T4" fmla="*/ 672 w 672"/>
              <a:gd name="T5" fmla="*/ 0 h 685"/>
              <a:gd name="T6" fmla="*/ 672 w 672"/>
              <a:gd name="T7" fmla="*/ 685 h 685"/>
            </a:gdLst>
            <a:ahLst/>
            <a:cxnLst>
              <a:cxn ang="0">
                <a:pos x="T0" y="T1"/>
              </a:cxn>
              <a:cxn ang="0">
                <a:pos x="T2" y="T3"/>
              </a:cxn>
              <a:cxn ang="0">
                <a:pos x="T4" y="T5"/>
              </a:cxn>
              <a:cxn ang="0">
                <a:pos x="T6" y="T7"/>
              </a:cxn>
            </a:cxnLst>
            <a:rect l="0" t="0" r="r" b="b"/>
            <a:pathLst>
              <a:path w="672" h="685">
                <a:moveTo>
                  <a:pt x="0" y="594"/>
                </a:moveTo>
                <a:lnTo>
                  <a:pt x="0" y="0"/>
                </a:lnTo>
                <a:lnTo>
                  <a:pt x="672" y="0"/>
                </a:lnTo>
                <a:lnTo>
                  <a:pt x="672" y="685"/>
                </a:lnTo>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274" name="Rectangle 426"/>
          <p:cNvSpPr>
            <a:spLocks noChangeArrowheads="1"/>
          </p:cNvSpPr>
          <p:nvPr/>
        </p:nvSpPr>
        <p:spPr bwMode="auto">
          <a:xfrm>
            <a:off x="4721225" y="2549525"/>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275" name="Line 427"/>
          <p:cNvSpPr>
            <a:spLocks noChangeShapeType="1"/>
          </p:cNvSpPr>
          <p:nvPr/>
        </p:nvSpPr>
        <p:spPr bwMode="auto">
          <a:xfrm>
            <a:off x="4865688" y="3686175"/>
            <a:ext cx="1587" cy="6889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76" name="Freeform 428"/>
          <p:cNvSpPr>
            <a:spLocks/>
          </p:cNvSpPr>
          <p:nvPr/>
        </p:nvSpPr>
        <p:spPr bwMode="auto">
          <a:xfrm>
            <a:off x="4822825" y="4310063"/>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77" name="Line 429"/>
          <p:cNvSpPr>
            <a:spLocks noChangeShapeType="1"/>
          </p:cNvSpPr>
          <p:nvPr/>
        </p:nvSpPr>
        <p:spPr bwMode="auto">
          <a:xfrm>
            <a:off x="4865688" y="3041650"/>
            <a:ext cx="1587" cy="1920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78" name="Freeform 430"/>
          <p:cNvSpPr>
            <a:spLocks/>
          </p:cNvSpPr>
          <p:nvPr/>
        </p:nvSpPr>
        <p:spPr bwMode="auto">
          <a:xfrm>
            <a:off x="4822825" y="3168650"/>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79" name="Line 431"/>
          <p:cNvSpPr>
            <a:spLocks noChangeShapeType="1"/>
          </p:cNvSpPr>
          <p:nvPr/>
        </p:nvSpPr>
        <p:spPr bwMode="auto">
          <a:xfrm>
            <a:off x="4033838" y="3622675"/>
            <a:ext cx="538162"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80" name="Freeform 432"/>
          <p:cNvSpPr>
            <a:spLocks/>
          </p:cNvSpPr>
          <p:nvPr/>
        </p:nvSpPr>
        <p:spPr bwMode="auto">
          <a:xfrm>
            <a:off x="4540250" y="3579813"/>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81" name="Line 433"/>
          <p:cNvSpPr>
            <a:spLocks noChangeShapeType="1"/>
          </p:cNvSpPr>
          <p:nvPr/>
        </p:nvSpPr>
        <p:spPr bwMode="auto">
          <a:xfrm>
            <a:off x="5468938" y="2316163"/>
            <a:ext cx="1587" cy="12700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82" name="Freeform 434"/>
          <p:cNvSpPr>
            <a:spLocks/>
          </p:cNvSpPr>
          <p:nvPr/>
        </p:nvSpPr>
        <p:spPr bwMode="auto">
          <a:xfrm>
            <a:off x="5426075" y="2379663"/>
            <a:ext cx="85725" cy="169862"/>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85" name="Line 437"/>
          <p:cNvSpPr>
            <a:spLocks noChangeShapeType="1"/>
          </p:cNvSpPr>
          <p:nvPr/>
        </p:nvSpPr>
        <p:spPr bwMode="auto">
          <a:xfrm>
            <a:off x="5089525" y="2251075"/>
            <a:ext cx="80963"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86" name="Freeform 438"/>
          <p:cNvSpPr>
            <a:spLocks/>
          </p:cNvSpPr>
          <p:nvPr/>
        </p:nvSpPr>
        <p:spPr bwMode="auto">
          <a:xfrm>
            <a:off x="5143500" y="2208213"/>
            <a:ext cx="169863" cy="85725"/>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87" name="Line 439"/>
          <p:cNvSpPr>
            <a:spLocks noChangeShapeType="1"/>
          </p:cNvSpPr>
          <p:nvPr/>
        </p:nvSpPr>
        <p:spPr bwMode="auto">
          <a:xfrm>
            <a:off x="5089525" y="2822575"/>
            <a:ext cx="80963"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88" name="Freeform 440"/>
          <p:cNvSpPr>
            <a:spLocks/>
          </p:cNvSpPr>
          <p:nvPr/>
        </p:nvSpPr>
        <p:spPr bwMode="auto">
          <a:xfrm>
            <a:off x="5143500" y="2779713"/>
            <a:ext cx="169863" cy="85725"/>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89" name="Rectangle 441"/>
          <p:cNvSpPr>
            <a:spLocks noChangeArrowheads="1"/>
          </p:cNvSpPr>
          <p:nvPr/>
        </p:nvSpPr>
        <p:spPr bwMode="auto">
          <a:xfrm>
            <a:off x="5324475" y="2549525"/>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290" name="Line 442"/>
          <p:cNvSpPr>
            <a:spLocks noChangeShapeType="1"/>
          </p:cNvSpPr>
          <p:nvPr/>
        </p:nvSpPr>
        <p:spPr bwMode="auto">
          <a:xfrm>
            <a:off x="5468938" y="3686175"/>
            <a:ext cx="1587" cy="6889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91" name="Freeform 443"/>
          <p:cNvSpPr>
            <a:spLocks/>
          </p:cNvSpPr>
          <p:nvPr/>
        </p:nvSpPr>
        <p:spPr bwMode="auto">
          <a:xfrm>
            <a:off x="5426075" y="4310063"/>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92" name="Line 444"/>
          <p:cNvSpPr>
            <a:spLocks noChangeShapeType="1"/>
          </p:cNvSpPr>
          <p:nvPr/>
        </p:nvSpPr>
        <p:spPr bwMode="auto">
          <a:xfrm>
            <a:off x="5468938" y="3041650"/>
            <a:ext cx="1587" cy="1920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93" name="Freeform 445"/>
          <p:cNvSpPr>
            <a:spLocks/>
          </p:cNvSpPr>
          <p:nvPr/>
        </p:nvSpPr>
        <p:spPr bwMode="auto">
          <a:xfrm>
            <a:off x="5426075" y="3168650"/>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94" name="Line 446"/>
          <p:cNvSpPr>
            <a:spLocks noChangeShapeType="1"/>
          </p:cNvSpPr>
          <p:nvPr/>
        </p:nvSpPr>
        <p:spPr bwMode="auto">
          <a:xfrm>
            <a:off x="5089525" y="3622675"/>
            <a:ext cx="80963"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95" name="Freeform 447"/>
          <p:cNvSpPr>
            <a:spLocks/>
          </p:cNvSpPr>
          <p:nvPr/>
        </p:nvSpPr>
        <p:spPr bwMode="auto">
          <a:xfrm>
            <a:off x="5143500" y="3579813"/>
            <a:ext cx="169863" cy="85725"/>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296" name="Line 448"/>
          <p:cNvSpPr>
            <a:spLocks noChangeShapeType="1"/>
          </p:cNvSpPr>
          <p:nvPr/>
        </p:nvSpPr>
        <p:spPr bwMode="auto">
          <a:xfrm>
            <a:off x="6242050" y="2316163"/>
            <a:ext cx="1588" cy="12700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297" name="Freeform 449"/>
          <p:cNvSpPr>
            <a:spLocks/>
          </p:cNvSpPr>
          <p:nvPr/>
        </p:nvSpPr>
        <p:spPr bwMode="auto">
          <a:xfrm>
            <a:off x="6199188" y="2379663"/>
            <a:ext cx="85725" cy="169862"/>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00" name="Line 452"/>
          <p:cNvSpPr>
            <a:spLocks noChangeShapeType="1"/>
          </p:cNvSpPr>
          <p:nvPr/>
        </p:nvSpPr>
        <p:spPr bwMode="auto">
          <a:xfrm>
            <a:off x="5862638" y="2251075"/>
            <a:ext cx="8572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01" name="Freeform 453"/>
          <p:cNvSpPr>
            <a:spLocks/>
          </p:cNvSpPr>
          <p:nvPr/>
        </p:nvSpPr>
        <p:spPr bwMode="auto">
          <a:xfrm>
            <a:off x="5916613" y="2208213"/>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02" name="Line 454"/>
          <p:cNvSpPr>
            <a:spLocks noChangeShapeType="1"/>
          </p:cNvSpPr>
          <p:nvPr/>
        </p:nvSpPr>
        <p:spPr bwMode="auto">
          <a:xfrm>
            <a:off x="5862638" y="2822575"/>
            <a:ext cx="8572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03" name="Freeform 455"/>
          <p:cNvSpPr>
            <a:spLocks/>
          </p:cNvSpPr>
          <p:nvPr/>
        </p:nvSpPr>
        <p:spPr bwMode="auto">
          <a:xfrm>
            <a:off x="5916613" y="2779713"/>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04" name="Rectangle 456"/>
          <p:cNvSpPr>
            <a:spLocks noChangeArrowheads="1"/>
          </p:cNvSpPr>
          <p:nvPr/>
        </p:nvSpPr>
        <p:spPr bwMode="auto">
          <a:xfrm>
            <a:off x="6097588" y="2549525"/>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305" name="Line 457"/>
          <p:cNvSpPr>
            <a:spLocks noChangeShapeType="1"/>
          </p:cNvSpPr>
          <p:nvPr/>
        </p:nvSpPr>
        <p:spPr bwMode="auto">
          <a:xfrm>
            <a:off x="6242050" y="3686175"/>
            <a:ext cx="1588" cy="6889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06" name="Freeform 458"/>
          <p:cNvSpPr>
            <a:spLocks/>
          </p:cNvSpPr>
          <p:nvPr/>
        </p:nvSpPr>
        <p:spPr bwMode="auto">
          <a:xfrm>
            <a:off x="6199188" y="4310063"/>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07" name="Line 459"/>
          <p:cNvSpPr>
            <a:spLocks noChangeShapeType="1"/>
          </p:cNvSpPr>
          <p:nvPr/>
        </p:nvSpPr>
        <p:spPr bwMode="auto">
          <a:xfrm>
            <a:off x="6242050" y="3041650"/>
            <a:ext cx="1588" cy="1920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08" name="Freeform 460"/>
          <p:cNvSpPr>
            <a:spLocks/>
          </p:cNvSpPr>
          <p:nvPr/>
        </p:nvSpPr>
        <p:spPr bwMode="auto">
          <a:xfrm>
            <a:off x="6199188" y="3168650"/>
            <a:ext cx="85725" cy="171450"/>
          </a:xfrm>
          <a:custGeom>
            <a:avLst/>
            <a:gdLst>
              <a:gd name="T0" fmla="*/ 27 w 54"/>
              <a:gd name="T1" fmla="*/ 108 h 108"/>
              <a:gd name="T2" fmla="*/ 54 w 54"/>
              <a:gd name="T3" fmla="*/ 0 h 108"/>
              <a:gd name="T4" fmla="*/ 0 w 54"/>
              <a:gd name="T5" fmla="*/ 0 h 108"/>
              <a:gd name="T6" fmla="*/ 27 w 54"/>
              <a:gd name="T7" fmla="*/ 108 h 108"/>
            </a:gdLst>
            <a:ahLst/>
            <a:cxnLst>
              <a:cxn ang="0">
                <a:pos x="T0" y="T1"/>
              </a:cxn>
              <a:cxn ang="0">
                <a:pos x="T2" y="T3"/>
              </a:cxn>
              <a:cxn ang="0">
                <a:pos x="T4" y="T5"/>
              </a:cxn>
              <a:cxn ang="0">
                <a:pos x="T6" y="T7"/>
              </a:cxn>
            </a:cxnLst>
            <a:rect l="0" t="0" r="r" b="b"/>
            <a:pathLst>
              <a:path w="54" h="108">
                <a:moveTo>
                  <a:pt x="27" y="108"/>
                </a:moveTo>
                <a:lnTo>
                  <a:pt x="54" y="0"/>
                </a:lnTo>
                <a:lnTo>
                  <a:pt x="0" y="0"/>
                </a:lnTo>
                <a:lnTo>
                  <a:pt x="27" y="1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09" name="Line 461"/>
          <p:cNvSpPr>
            <a:spLocks noChangeShapeType="1"/>
          </p:cNvSpPr>
          <p:nvPr/>
        </p:nvSpPr>
        <p:spPr bwMode="auto">
          <a:xfrm>
            <a:off x="5862638" y="3622675"/>
            <a:ext cx="8572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10" name="Freeform 462"/>
          <p:cNvSpPr>
            <a:spLocks/>
          </p:cNvSpPr>
          <p:nvPr/>
        </p:nvSpPr>
        <p:spPr bwMode="auto">
          <a:xfrm>
            <a:off x="5916613" y="3579813"/>
            <a:ext cx="171450" cy="85725"/>
          </a:xfrm>
          <a:custGeom>
            <a:avLst/>
            <a:gdLst>
              <a:gd name="T0" fmla="*/ 108 w 108"/>
              <a:gd name="T1" fmla="*/ 27 h 54"/>
              <a:gd name="T2" fmla="*/ 0 w 108"/>
              <a:gd name="T3" fmla="*/ 0 h 54"/>
              <a:gd name="T4" fmla="*/ 0 w 108"/>
              <a:gd name="T5" fmla="*/ 54 h 54"/>
              <a:gd name="T6" fmla="*/ 108 w 108"/>
              <a:gd name="T7" fmla="*/ 27 h 54"/>
            </a:gdLst>
            <a:ahLst/>
            <a:cxnLst>
              <a:cxn ang="0">
                <a:pos x="T0" y="T1"/>
              </a:cxn>
              <a:cxn ang="0">
                <a:pos x="T2" y="T3"/>
              </a:cxn>
              <a:cxn ang="0">
                <a:pos x="T4" y="T5"/>
              </a:cxn>
              <a:cxn ang="0">
                <a:pos x="T6" y="T7"/>
              </a:cxn>
            </a:cxnLst>
            <a:rect l="0" t="0" r="r" b="b"/>
            <a:pathLst>
              <a:path w="108" h="54">
                <a:moveTo>
                  <a:pt x="108" y="27"/>
                </a:moveTo>
                <a:lnTo>
                  <a:pt x="0" y="0"/>
                </a:lnTo>
                <a:lnTo>
                  <a:pt x="0" y="54"/>
                </a:lnTo>
                <a:lnTo>
                  <a:pt x="108"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11" name="Rectangle 463"/>
          <p:cNvSpPr>
            <a:spLocks noChangeArrowheads="1"/>
          </p:cNvSpPr>
          <p:nvPr/>
        </p:nvSpPr>
        <p:spPr bwMode="auto">
          <a:xfrm>
            <a:off x="2125663" y="2476500"/>
            <a:ext cx="4238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addr0</a:t>
            </a:r>
            <a:endParaRPr lang="en-US" altLang="en-US"/>
          </a:p>
        </p:txBody>
      </p:sp>
      <p:sp>
        <p:nvSpPr>
          <p:cNvPr id="591312" name="Rectangle 464"/>
          <p:cNvSpPr>
            <a:spLocks noChangeArrowheads="1"/>
          </p:cNvSpPr>
          <p:nvPr/>
        </p:nvSpPr>
        <p:spPr bwMode="auto">
          <a:xfrm>
            <a:off x="2125663" y="2651125"/>
            <a:ext cx="4238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addr1</a:t>
            </a:r>
            <a:endParaRPr lang="en-US" altLang="en-US"/>
          </a:p>
        </p:txBody>
      </p:sp>
      <p:sp>
        <p:nvSpPr>
          <p:cNvPr id="591313" name="Rectangle 465"/>
          <p:cNvSpPr>
            <a:spLocks noChangeArrowheads="1"/>
          </p:cNvSpPr>
          <p:nvPr/>
        </p:nvSpPr>
        <p:spPr bwMode="auto">
          <a:xfrm>
            <a:off x="1778000" y="3098800"/>
            <a:ext cx="7477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addr(A-1)</a:t>
            </a:r>
            <a:endParaRPr lang="en-US" altLang="en-US"/>
          </a:p>
        </p:txBody>
      </p:sp>
      <p:sp>
        <p:nvSpPr>
          <p:cNvPr id="591314" name="Rectangle 466"/>
          <p:cNvSpPr>
            <a:spLocks noChangeArrowheads="1"/>
          </p:cNvSpPr>
          <p:nvPr/>
        </p:nvSpPr>
        <p:spPr bwMode="auto">
          <a:xfrm>
            <a:off x="2151063" y="3660775"/>
            <a:ext cx="2016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clk</a:t>
            </a:r>
            <a:endParaRPr lang="en-US" altLang="en-US"/>
          </a:p>
        </p:txBody>
      </p:sp>
      <p:sp>
        <p:nvSpPr>
          <p:cNvPr id="591315" name="Rectangle 467"/>
          <p:cNvSpPr>
            <a:spLocks noChangeArrowheads="1"/>
          </p:cNvSpPr>
          <p:nvPr/>
        </p:nvSpPr>
        <p:spPr bwMode="auto">
          <a:xfrm>
            <a:off x="2352675" y="3903663"/>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t>
            </a:r>
            <a:endParaRPr lang="en-US" altLang="en-US"/>
          </a:p>
        </p:txBody>
      </p:sp>
      <p:sp>
        <p:nvSpPr>
          <p:cNvPr id="591318" name="Rectangle 470"/>
          <p:cNvSpPr>
            <a:spLocks noChangeArrowheads="1"/>
          </p:cNvSpPr>
          <p:nvPr/>
        </p:nvSpPr>
        <p:spPr bwMode="auto">
          <a:xfrm>
            <a:off x="1906588" y="3076575"/>
            <a:ext cx="1587"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addr</a:t>
            </a:r>
            <a:endParaRPr lang="en-US" altLang="en-US"/>
          </a:p>
        </p:txBody>
      </p:sp>
      <p:sp>
        <p:nvSpPr>
          <p:cNvPr id="591319" name="Rectangle 471"/>
          <p:cNvSpPr>
            <a:spLocks noChangeArrowheads="1"/>
          </p:cNvSpPr>
          <p:nvPr/>
        </p:nvSpPr>
        <p:spPr bwMode="auto">
          <a:xfrm>
            <a:off x="2770188" y="1555750"/>
            <a:ext cx="10636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Let A = log</a:t>
            </a:r>
            <a:r>
              <a:rPr lang="en-US" altLang="en-US" sz="1400" baseline="-25000">
                <a:solidFill>
                  <a:srgbClr val="000000"/>
                </a:solidFill>
                <a:latin typeface="Myriad Roman" charset="0"/>
              </a:rPr>
              <a:t>2</a:t>
            </a:r>
            <a:r>
              <a:rPr lang="en-US" altLang="en-US" sz="1400">
                <a:solidFill>
                  <a:srgbClr val="000000"/>
                </a:solidFill>
                <a:latin typeface="Myriad Roman" charset="0"/>
              </a:rPr>
              <a:t>M</a:t>
            </a:r>
            <a:endParaRPr lang="en-US" altLang="en-US"/>
          </a:p>
        </p:txBody>
      </p:sp>
      <p:sp>
        <p:nvSpPr>
          <p:cNvPr id="591320" name="Rectangle 472"/>
          <p:cNvSpPr>
            <a:spLocks noChangeArrowheads="1"/>
          </p:cNvSpPr>
          <p:nvPr/>
        </p:nvSpPr>
        <p:spPr bwMode="auto">
          <a:xfrm>
            <a:off x="3005138" y="2455863"/>
            <a:ext cx="1841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a0</a:t>
            </a:r>
            <a:endParaRPr lang="en-US" altLang="en-US"/>
          </a:p>
        </p:txBody>
      </p:sp>
      <p:sp>
        <p:nvSpPr>
          <p:cNvPr id="591321" name="Rectangle 473"/>
          <p:cNvSpPr>
            <a:spLocks noChangeArrowheads="1"/>
          </p:cNvSpPr>
          <p:nvPr/>
        </p:nvSpPr>
        <p:spPr bwMode="auto">
          <a:xfrm>
            <a:off x="3005138" y="2636838"/>
            <a:ext cx="1841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a1</a:t>
            </a:r>
            <a:endParaRPr lang="en-US" altLang="en-US"/>
          </a:p>
        </p:txBody>
      </p:sp>
      <p:sp>
        <p:nvSpPr>
          <p:cNvPr id="591322" name="Rectangle 474"/>
          <p:cNvSpPr>
            <a:spLocks noChangeArrowheads="1"/>
          </p:cNvSpPr>
          <p:nvPr/>
        </p:nvSpPr>
        <p:spPr bwMode="auto">
          <a:xfrm>
            <a:off x="3821113" y="2163763"/>
            <a:ext cx="1841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d0</a:t>
            </a:r>
            <a:endParaRPr lang="en-US" altLang="en-US"/>
          </a:p>
        </p:txBody>
      </p:sp>
      <p:sp>
        <p:nvSpPr>
          <p:cNvPr id="591323" name="Rectangle 475"/>
          <p:cNvSpPr>
            <a:spLocks noChangeArrowheads="1"/>
          </p:cNvSpPr>
          <p:nvPr/>
        </p:nvSpPr>
        <p:spPr bwMode="auto">
          <a:xfrm>
            <a:off x="3821113" y="2730500"/>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d1</a:t>
            </a:r>
            <a:endParaRPr lang="en-US" altLang="en-US"/>
          </a:p>
        </p:txBody>
      </p:sp>
      <p:sp>
        <p:nvSpPr>
          <p:cNvPr id="591324" name="Rectangle 476"/>
          <p:cNvSpPr>
            <a:spLocks noChangeArrowheads="1"/>
          </p:cNvSpPr>
          <p:nvPr/>
        </p:nvSpPr>
        <p:spPr bwMode="auto">
          <a:xfrm>
            <a:off x="3505200" y="3525838"/>
            <a:ext cx="4889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d(M-1)</a:t>
            </a:r>
            <a:endParaRPr lang="en-US" altLang="en-US"/>
          </a:p>
        </p:txBody>
      </p:sp>
      <p:sp>
        <p:nvSpPr>
          <p:cNvPr id="591325" name="Rectangle 477"/>
          <p:cNvSpPr>
            <a:spLocks noChangeArrowheads="1"/>
          </p:cNvSpPr>
          <p:nvPr/>
        </p:nvSpPr>
        <p:spPr bwMode="auto">
          <a:xfrm>
            <a:off x="3005138" y="3109913"/>
            <a:ext cx="4603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a(A-1)</a:t>
            </a:r>
            <a:endParaRPr lang="en-US" altLang="en-US"/>
          </a:p>
        </p:txBody>
      </p:sp>
      <p:sp>
        <p:nvSpPr>
          <p:cNvPr id="591326" name="Rectangle 478"/>
          <p:cNvSpPr>
            <a:spLocks noChangeArrowheads="1"/>
          </p:cNvSpPr>
          <p:nvPr/>
        </p:nvSpPr>
        <p:spPr bwMode="auto">
          <a:xfrm>
            <a:off x="3187700" y="3573463"/>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a:t>
            </a:r>
            <a:endParaRPr lang="en-US" altLang="en-US"/>
          </a:p>
        </p:txBody>
      </p:sp>
      <p:sp>
        <p:nvSpPr>
          <p:cNvPr id="591327" name="Rectangle 479"/>
          <p:cNvSpPr>
            <a:spLocks noChangeArrowheads="1"/>
          </p:cNvSpPr>
          <p:nvPr/>
        </p:nvSpPr>
        <p:spPr bwMode="auto">
          <a:xfrm>
            <a:off x="3313113" y="2682875"/>
            <a:ext cx="3302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AxM</a:t>
            </a:r>
            <a:endParaRPr lang="en-US" altLang="en-US"/>
          </a:p>
        </p:txBody>
      </p:sp>
      <p:sp>
        <p:nvSpPr>
          <p:cNvPr id="591328" name="Rectangle 480"/>
          <p:cNvSpPr>
            <a:spLocks noChangeArrowheads="1"/>
          </p:cNvSpPr>
          <p:nvPr/>
        </p:nvSpPr>
        <p:spPr bwMode="auto">
          <a:xfrm>
            <a:off x="3201988" y="2874963"/>
            <a:ext cx="5984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decoder</a:t>
            </a:r>
            <a:endParaRPr lang="en-US" altLang="en-US"/>
          </a:p>
        </p:txBody>
      </p:sp>
      <p:sp>
        <p:nvSpPr>
          <p:cNvPr id="591329" name="Rectangle 481"/>
          <p:cNvSpPr>
            <a:spLocks noChangeArrowheads="1"/>
          </p:cNvSpPr>
          <p:nvPr/>
        </p:nvSpPr>
        <p:spPr bwMode="auto">
          <a:xfrm>
            <a:off x="4162425" y="1827213"/>
            <a:ext cx="3841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word</a:t>
            </a:r>
            <a:endParaRPr lang="en-US" altLang="en-US"/>
          </a:p>
        </p:txBody>
      </p:sp>
      <p:sp>
        <p:nvSpPr>
          <p:cNvPr id="591330" name="Rectangle 482"/>
          <p:cNvSpPr>
            <a:spLocks noChangeArrowheads="1"/>
          </p:cNvSpPr>
          <p:nvPr/>
        </p:nvSpPr>
        <p:spPr bwMode="auto">
          <a:xfrm>
            <a:off x="4103688" y="2019300"/>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enable</a:t>
            </a:r>
            <a:endParaRPr lang="en-US" altLang="en-US"/>
          </a:p>
        </p:txBody>
      </p:sp>
      <p:sp>
        <p:nvSpPr>
          <p:cNvPr id="591333" name="Rectangle 485"/>
          <p:cNvSpPr>
            <a:spLocks noChangeArrowheads="1"/>
          </p:cNvSpPr>
          <p:nvPr/>
        </p:nvSpPr>
        <p:spPr bwMode="auto">
          <a:xfrm>
            <a:off x="4237038" y="4486275"/>
            <a:ext cx="8064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rdata(N-1)</a:t>
            </a:r>
            <a:endParaRPr lang="en-US" altLang="en-US"/>
          </a:p>
        </p:txBody>
      </p:sp>
      <p:sp>
        <p:nvSpPr>
          <p:cNvPr id="591335" name="Rectangle 487"/>
          <p:cNvSpPr>
            <a:spLocks noChangeArrowheads="1"/>
          </p:cNvSpPr>
          <p:nvPr/>
        </p:nvSpPr>
        <p:spPr bwMode="auto">
          <a:xfrm>
            <a:off x="5145088" y="4486275"/>
            <a:ext cx="8064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rdata(N-2)</a:t>
            </a:r>
            <a:endParaRPr lang="en-US" altLang="en-US"/>
          </a:p>
        </p:txBody>
      </p:sp>
      <p:sp>
        <p:nvSpPr>
          <p:cNvPr id="591337" name="Rectangle 489"/>
          <p:cNvSpPr>
            <a:spLocks noChangeArrowheads="1"/>
          </p:cNvSpPr>
          <p:nvPr/>
        </p:nvSpPr>
        <p:spPr bwMode="auto">
          <a:xfrm>
            <a:off x="6035675" y="4486275"/>
            <a:ext cx="5016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rdata0</a:t>
            </a:r>
            <a:endParaRPr lang="en-US" altLang="en-US"/>
          </a:p>
        </p:txBody>
      </p:sp>
      <p:sp>
        <p:nvSpPr>
          <p:cNvPr id="591338" name="Rectangle 490"/>
          <p:cNvSpPr>
            <a:spLocks noChangeArrowheads="1"/>
          </p:cNvSpPr>
          <p:nvPr/>
        </p:nvSpPr>
        <p:spPr bwMode="auto">
          <a:xfrm>
            <a:off x="6840538" y="1793875"/>
            <a:ext cx="7731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bit storage</a:t>
            </a:r>
            <a:endParaRPr lang="en-US" altLang="en-US"/>
          </a:p>
        </p:txBody>
      </p:sp>
      <p:sp>
        <p:nvSpPr>
          <p:cNvPr id="591339" name="Rectangle 491"/>
          <p:cNvSpPr>
            <a:spLocks noChangeArrowheads="1"/>
          </p:cNvSpPr>
          <p:nvPr/>
        </p:nvSpPr>
        <p:spPr bwMode="auto">
          <a:xfrm>
            <a:off x="6840538" y="1985963"/>
            <a:ext cx="3857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block</a:t>
            </a:r>
            <a:endParaRPr lang="en-US" altLang="en-US"/>
          </a:p>
        </p:txBody>
      </p:sp>
      <p:sp>
        <p:nvSpPr>
          <p:cNvPr id="591340" name="Rectangle 492"/>
          <p:cNvSpPr>
            <a:spLocks noChangeArrowheads="1"/>
          </p:cNvSpPr>
          <p:nvPr/>
        </p:nvSpPr>
        <p:spPr bwMode="auto">
          <a:xfrm>
            <a:off x="6840538" y="2178050"/>
            <a:ext cx="7826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(aka “cell”)</a:t>
            </a:r>
            <a:endParaRPr lang="en-US" altLang="en-US"/>
          </a:p>
        </p:txBody>
      </p:sp>
      <p:sp>
        <p:nvSpPr>
          <p:cNvPr id="591341" name="Rectangle 493"/>
          <p:cNvSpPr>
            <a:spLocks noChangeArrowheads="1"/>
          </p:cNvSpPr>
          <p:nvPr/>
        </p:nvSpPr>
        <p:spPr bwMode="auto">
          <a:xfrm>
            <a:off x="6840538" y="2471738"/>
            <a:ext cx="1190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a:t>
            </a:r>
            <a:endParaRPr lang="en-US" altLang="en-US"/>
          </a:p>
        </p:txBody>
      </p:sp>
      <p:sp>
        <p:nvSpPr>
          <p:cNvPr id="591342" name="Rectangle 494"/>
          <p:cNvSpPr>
            <a:spLocks noChangeArrowheads="1"/>
          </p:cNvSpPr>
          <p:nvPr/>
        </p:nvSpPr>
        <p:spPr bwMode="auto">
          <a:xfrm>
            <a:off x="6964363" y="2471738"/>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o</a:t>
            </a:r>
            <a:endParaRPr lang="en-US" altLang="en-US"/>
          </a:p>
        </p:txBody>
      </p:sp>
      <p:sp>
        <p:nvSpPr>
          <p:cNvPr id="591343" name="Rectangle 495"/>
          <p:cNvSpPr>
            <a:spLocks noChangeArrowheads="1"/>
          </p:cNvSpPr>
          <p:nvPr/>
        </p:nvSpPr>
        <p:spPr bwMode="auto">
          <a:xfrm>
            <a:off x="7058025" y="2471738"/>
            <a:ext cx="5556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t>
            </a:r>
            <a:endParaRPr lang="en-US" altLang="en-US"/>
          </a:p>
        </p:txBody>
      </p:sp>
      <p:sp>
        <p:nvSpPr>
          <p:cNvPr id="591344" name="Rectangle 496"/>
          <p:cNvSpPr>
            <a:spLocks noChangeArrowheads="1"/>
          </p:cNvSpPr>
          <p:nvPr/>
        </p:nvSpPr>
        <p:spPr bwMode="auto">
          <a:xfrm>
            <a:off x="7112000" y="2471738"/>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
            </a:r>
            <a:endParaRPr lang="en-US" altLang="en-US"/>
          </a:p>
        </p:txBody>
      </p:sp>
      <p:sp>
        <p:nvSpPr>
          <p:cNvPr id="591345" name="Line 497"/>
          <p:cNvSpPr>
            <a:spLocks noChangeShapeType="1"/>
          </p:cNvSpPr>
          <p:nvPr/>
        </p:nvSpPr>
        <p:spPr bwMode="auto">
          <a:xfrm flipH="1">
            <a:off x="6477000" y="1909763"/>
            <a:ext cx="336550" cy="2079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46" name="Line 498"/>
          <p:cNvSpPr>
            <a:spLocks noChangeShapeType="1"/>
          </p:cNvSpPr>
          <p:nvPr/>
        </p:nvSpPr>
        <p:spPr bwMode="auto">
          <a:xfrm flipH="1">
            <a:off x="6653213" y="2603500"/>
            <a:ext cx="160337" cy="9683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47" name="Line 499"/>
          <p:cNvSpPr>
            <a:spLocks noChangeShapeType="1"/>
          </p:cNvSpPr>
          <p:nvPr/>
        </p:nvSpPr>
        <p:spPr bwMode="auto">
          <a:xfrm>
            <a:off x="7181850" y="3600450"/>
            <a:ext cx="185738"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48" name="Freeform 500"/>
          <p:cNvSpPr>
            <a:spLocks/>
          </p:cNvSpPr>
          <p:nvPr/>
        </p:nvSpPr>
        <p:spPr bwMode="auto">
          <a:xfrm>
            <a:off x="7340600" y="3559175"/>
            <a:ext cx="171450" cy="84138"/>
          </a:xfrm>
          <a:custGeom>
            <a:avLst/>
            <a:gdLst>
              <a:gd name="T0" fmla="*/ 108 w 108"/>
              <a:gd name="T1" fmla="*/ 26 h 53"/>
              <a:gd name="T2" fmla="*/ 0 w 108"/>
              <a:gd name="T3" fmla="*/ 0 h 53"/>
              <a:gd name="T4" fmla="*/ 0 w 108"/>
              <a:gd name="T5" fmla="*/ 53 h 53"/>
              <a:gd name="T6" fmla="*/ 108 w 108"/>
              <a:gd name="T7" fmla="*/ 26 h 53"/>
            </a:gdLst>
            <a:ahLst/>
            <a:cxnLst>
              <a:cxn ang="0">
                <a:pos x="T0" y="T1"/>
              </a:cxn>
              <a:cxn ang="0">
                <a:pos x="T2" y="T3"/>
              </a:cxn>
              <a:cxn ang="0">
                <a:pos x="T4" y="T5"/>
              </a:cxn>
              <a:cxn ang="0">
                <a:pos x="T6" y="T7"/>
              </a:cxn>
            </a:cxnLst>
            <a:rect l="0" t="0" r="r" b="b"/>
            <a:pathLst>
              <a:path w="108" h="53">
                <a:moveTo>
                  <a:pt x="108" y="26"/>
                </a:moveTo>
                <a:lnTo>
                  <a:pt x="0" y="0"/>
                </a:lnTo>
                <a:lnTo>
                  <a:pt x="0" y="53"/>
                </a:lnTo>
                <a:lnTo>
                  <a:pt x="108"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50" name="Line 502"/>
          <p:cNvSpPr>
            <a:spLocks noChangeShapeType="1"/>
          </p:cNvSpPr>
          <p:nvPr/>
        </p:nvSpPr>
        <p:spPr bwMode="auto">
          <a:xfrm>
            <a:off x="8599488" y="3600450"/>
            <a:ext cx="192087"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51" name="Freeform 503"/>
          <p:cNvSpPr>
            <a:spLocks/>
          </p:cNvSpPr>
          <p:nvPr/>
        </p:nvSpPr>
        <p:spPr bwMode="auto">
          <a:xfrm>
            <a:off x="8759825" y="3559175"/>
            <a:ext cx="171450" cy="84138"/>
          </a:xfrm>
          <a:custGeom>
            <a:avLst/>
            <a:gdLst>
              <a:gd name="T0" fmla="*/ 108 w 108"/>
              <a:gd name="T1" fmla="*/ 26 h 53"/>
              <a:gd name="T2" fmla="*/ 0 w 108"/>
              <a:gd name="T3" fmla="*/ 0 h 53"/>
              <a:gd name="T4" fmla="*/ 0 w 108"/>
              <a:gd name="T5" fmla="*/ 53 h 53"/>
              <a:gd name="T6" fmla="*/ 108 w 108"/>
              <a:gd name="T7" fmla="*/ 26 h 53"/>
            </a:gdLst>
            <a:ahLst/>
            <a:cxnLst>
              <a:cxn ang="0">
                <a:pos x="T0" y="T1"/>
              </a:cxn>
              <a:cxn ang="0">
                <a:pos x="T2" y="T3"/>
              </a:cxn>
              <a:cxn ang="0">
                <a:pos x="T4" y="T5"/>
              </a:cxn>
              <a:cxn ang="0">
                <a:pos x="T6" y="T7"/>
              </a:cxn>
            </a:cxnLst>
            <a:rect l="0" t="0" r="r" b="b"/>
            <a:pathLst>
              <a:path w="108" h="53">
                <a:moveTo>
                  <a:pt x="108" y="26"/>
                </a:moveTo>
                <a:lnTo>
                  <a:pt x="0" y="0"/>
                </a:lnTo>
                <a:lnTo>
                  <a:pt x="0" y="53"/>
                </a:lnTo>
                <a:lnTo>
                  <a:pt x="108"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52" name="Line 504"/>
          <p:cNvSpPr>
            <a:spLocks noChangeShapeType="1"/>
          </p:cNvSpPr>
          <p:nvPr/>
        </p:nvSpPr>
        <p:spPr bwMode="auto">
          <a:xfrm>
            <a:off x="8061325" y="2667000"/>
            <a:ext cx="1588" cy="1873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53" name="Freeform 505"/>
          <p:cNvSpPr>
            <a:spLocks/>
          </p:cNvSpPr>
          <p:nvPr/>
        </p:nvSpPr>
        <p:spPr bwMode="auto">
          <a:xfrm>
            <a:off x="8018463" y="2822575"/>
            <a:ext cx="85725" cy="169863"/>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54" name="Line 506"/>
          <p:cNvSpPr>
            <a:spLocks noChangeShapeType="1"/>
          </p:cNvSpPr>
          <p:nvPr/>
        </p:nvSpPr>
        <p:spPr bwMode="auto">
          <a:xfrm>
            <a:off x="8061325" y="4027488"/>
            <a:ext cx="1588" cy="1873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55" name="Freeform 507"/>
          <p:cNvSpPr>
            <a:spLocks/>
          </p:cNvSpPr>
          <p:nvPr/>
        </p:nvSpPr>
        <p:spPr bwMode="auto">
          <a:xfrm>
            <a:off x="8018463" y="4183063"/>
            <a:ext cx="85725" cy="169862"/>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56" name="Rectangle 508"/>
          <p:cNvSpPr>
            <a:spLocks noChangeArrowheads="1"/>
          </p:cNvSpPr>
          <p:nvPr/>
        </p:nvSpPr>
        <p:spPr bwMode="auto">
          <a:xfrm>
            <a:off x="7588250" y="3398838"/>
            <a:ext cx="3841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word</a:t>
            </a:r>
            <a:endParaRPr lang="en-US" altLang="en-US"/>
          </a:p>
        </p:txBody>
      </p:sp>
      <p:sp>
        <p:nvSpPr>
          <p:cNvPr id="591357" name="Rectangle 509"/>
          <p:cNvSpPr>
            <a:spLocks noChangeArrowheads="1"/>
          </p:cNvSpPr>
          <p:nvPr/>
        </p:nvSpPr>
        <p:spPr bwMode="auto">
          <a:xfrm>
            <a:off x="7535863" y="3590925"/>
            <a:ext cx="5318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enable</a:t>
            </a:r>
            <a:endParaRPr lang="en-US" altLang="en-US"/>
          </a:p>
        </p:txBody>
      </p:sp>
      <p:sp>
        <p:nvSpPr>
          <p:cNvPr id="591358" name="Rectangle 510"/>
          <p:cNvSpPr>
            <a:spLocks noChangeArrowheads="1"/>
          </p:cNvSpPr>
          <p:nvPr/>
        </p:nvSpPr>
        <p:spPr bwMode="auto">
          <a:xfrm>
            <a:off x="8139113" y="3398838"/>
            <a:ext cx="3841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word</a:t>
            </a:r>
            <a:endParaRPr lang="en-US" altLang="en-US"/>
          </a:p>
        </p:txBody>
      </p:sp>
      <p:sp>
        <p:nvSpPr>
          <p:cNvPr id="591359" name="Rectangle 511"/>
          <p:cNvSpPr>
            <a:spLocks noChangeArrowheads="1"/>
          </p:cNvSpPr>
          <p:nvPr/>
        </p:nvSpPr>
        <p:spPr bwMode="auto">
          <a:xfrm>
            <a:off x="8086725" y="3590925"/>
            <a:ext cx="5318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enable</a:t>
            </a:r>
            <a:endParaRPr lang="en-US" altLang="en-US"/>
          </a:p>
        </p:txBody>
      </p:sp>
      <p:sp>
        <p:nvSpPr>
          <p:cNvPr id="591362" name="Freeform 514"/>
          <p:cNvSpPr>
            <a:spLocks/>
          </p:cNvSpPr>
          <p:nvPr/>
        </p:nvSpPr>
        <p:spPr bwMode="auto">
          <a:xfrm>
            <a:off x="6465888" y="2998788"/>
            <a:ext cx="1050925" cy="346075"/>
          </a:xfrm>
          <a:custGeom>
            <a:avLst/>
            <a:gdLst>
              <a:gd name="T0" fmla="*/ 0 w 662"/>
              <a:gd name="T1" fmla="*/ 218 h 218"/>
              <a:gd name="T2" fmla="*/ 662 w 662"/>
              <a:gd name="T3" fmla="*/ 0 h 218"/>
              <a:gd name="T4" fmla="*/ 0 w 662"/>
              <a:gd name="T5" fmla="*/ 218 h 218"/>
            </a:gdLst>
            <a:ahLst/>
            <a:cxnLst>
              <a:cxn ang="0">
                <a:pos x="T0" y="T1"/>
              </a:cxn>
              <a:cxn ang="0">
                <a:pos x="T2" y="T3"/>
              </a:cxn>
              <a:cxn ang="0">
                <a:pos x="T4" y="T5"/>
              </a:cxn>
            </a:cxnLst>
            <a:rect l="0" t="0" r="r" b="b"/>
            <a:pathLst>
              <a:path w="662" h="218">
                <a:moveTo>
                  <a:pt x="0" y="218"/>
                </a:moveTo>
                <a:lnTo>
                  <a:pt x="662" y="0"/>
                </a:lnTo>
                <a:lnTo>
                  <a:pt x="0" y="2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63" name="Line 515"/>
          <p:cNvSpPr>
            <a:spLocks noChangeShapeType="1"/>
          </p:cNvSpPr>
          <p:nvPr/>
        </p:nvSpPr>
        <p:spPr bwMode="auto">
          <a:xfrm flipV="1">
            <a:off x="6465888" y="2998788"/>
            <a:ext cx="1050925" cy="346075"/>
          </a:xfrm>
          <a:prstGeom prst="line">
            <a:avLst/>
          </a:prstGeom>
          <a:noFill/>
          <a:ln w="111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64" name="Freeform 516"/>
          <p:cNvSpPr>
            <a:spLocks/>
          </p:cNvSpPr>
          <p:nvPr/>
        </p:nvSpPr>
        <p:spPr bwMode="auto">
          <a:xfrm>
            <a:off x="6465888" y="3681413"/>
            <a:ext cx="1050925" cy="341312"/>
          </a:xfrm>
          <a:custGeom>
            <a:avLst/>
            <a:gdLst>
              <a:gd name="T0" fmla="*/ 0 w 662"/>
              <a:gd name="T1" fmla="*/ 0 h 215"/>
              <a:gd name="T2" fmla="*/ 662 w 662"/>
              <a:gd name="T3" fmla="*/ 215 h 215"/>
              <a:gd name="T4" fmla="*/ 0 w 662"/>
              <a:gd name="T5" fmla="*/ 0 h 215"/>
            </a:gdLst>
            <a:ahLst/>
            <a:cxnLst>
              <a:cxn ang="0">
                <a:pos x="T0" y="T1"/>
              </a:cxn>
              <a:cxn ang="0">
                <a:pos x="T2" y="T3"/>
              </a:cxn>
              <a:cxn ang="0">
                <a:pos x="T4" y="T5"/>
              </a:cxn>
            </a:cxnLst>
            <a:rect l="0" t="0" r="r" b="b"/>
            <a:pathLst>
              <a:path w="662" h="215">
                <a:moveTo>
                  <a:pt x="0" y="0"/>
                </a:moveTo>
                <a:lnTo>
                  <a:pt x="662" y="215"/>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1365" name="Line 517"/>
          <p:cNvSpPr>
            <a:spLocks noChangeShapeType="1"/>
          </p:cNvSpPr>
          <p:nvPr/>
        </p:nvSpPr>
        <p:spPr bwMode="auto">
          <a:xfrm>
            <a:off x="6465888" y="3681413"/>
            <a:ext cx="1050925" cy="341312"/>
          </a:xfrm>
          <a:prstGeom prst="line">
            <a:avLst/>
          </a:prstGeom>
          <a:noFill/>
          <a:ln w="111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366" name="Rectangle 518"/>
          <p:cNvSpPr>
            <a:spLocks noChangeArrowheads="1"/>
          </p:cNvSpPr>
          <p:nvPr/>
        </p:nvSpPr>
        <p:spPr bwMode="auto">
          <a:xfrm>
            <a:off x="4721225" y="1979613"/>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367" name="Rectangle 519"/>
          <p:cNvSpPr>
            <a:spLocks noChangeArrowheads="1"/>
          </p:cNvSpPr>
          <p:nvPr/>
        </p:nvSpPr>
        <p:spPr bwMode="auto">
          <a:xfrm>
            <a:off x="4721225" y="3344863"/>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368" name="Rectangle 520"/>
          <p:cNvSpPr>
            <a:spLocks noChangeArrowheads="1"/>
          </p:cNvSpPr>
          <p:nvPr/>
        </p:nvSpPr>
        <p:spPr bwMode="auto">
          <a:xfrm>
            <a:off x="5324475" y="1979613"/>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369" name="Rectangle 521"/>
          <p:cNvSpPr>
            <a:spLocks noChangeArrowheads="1"/>
          </p:cNvSpPr>
          <p:nvPr/>
        </p:nvSpPr>
        <p:spPr bwMode="auto">
          <a:xfrm>
            <a:off x="5324475" y="3344863"/>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370" name="Rectangle 522"/>
          <p:cNvSpPr>
            <a:spLocks noChangeArrowheads="1"/>
          </p:cNvSpPr>
          <p:nvPr/>
        </p:nvSpPr>
        <p:spPr bwMode="auto">
          <a:xfrm>
            <a:off x="6097588" y="1979613"/>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371" name="Rectangle 523"/>
          <p:cNvSpPr>
            <a:spLocks noChangeArrowheads="1"/>
          </p:cNvSpPr>
          <p:nvPr/>
        </p:nvSpPr>
        <p:spPr bwMode="auto">
          <a:xfrm>
            <a:off x="6097588" y="3344863"/>
            <a:ext cx="368300" cy="3365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372" name="Rectangle 524"/>
          <p:cNvSpPr>
            <a:spLocks noChangeArrowheads="1"/>
          </p:cNvSpPr>
          <p:nvPr/>
        </p:nvSpPr>
        <p:spPr bwMode="auto">
          <a:xfrm>
            <a:off x="7516813" y="2998788"/>
            <a:ext cx="1082675" cy="102393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374" name="Rectangle 526"/>
          <p:cNvSpPr>
            <a:spLocks noChangeArrowheads="1"/>
          </p:cNvSpPr>
          <p:nvPr/>
        </p:nvSpPr>
        <p:spPr bwMode="auto">
          <a:xfrm>
            <a:off x="8018463" y="3078163"/>
            <a:ext cx="69850" cy="1651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91375" name="Rectangle 527"/>
          <p:cNvSpPr>
            <a:spLocks noChangeArrowheads="1"/>
          </p:cNvSpPr>
          <p:nvPr/>
        </p:nvSpPr>
        <p:spPr bwMode="auto">
          <a:xfrm>
            <a:off x="7878763" y="3044825"/>
            <a:ext cx="344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a:t>
            </a:r>
            <a:endParaRPr lang="en-US" altLang="en-US"/>
          </a:p>
        </p:txBody>
      </p:sp>
      <p:sp>
        <p:nvSpPr>
          <p:cNvPr id="591376" name="Rectangle 528"/>
          <p:cNvSpPr>
            <a:spLocks noChangeArrowheads="1"/>
          </p:cNvSpPr>
          <p:nvPr/>
        </p:nvSpPr>
        <p:spPr bwMode="auto">
          <a:xfrm>
            <a:off x="7916863" y="3817938"/>
            <a:ext cx="344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a:t>
            </a:r>
            <a:endParaRPr lang="en-US" altLang="en-US"/>
          </a:p>
        </p:txBody>
      </p:sp>
      <p:sp>
        <p:nvSpPr>
          <p:cNvPr id="591377" name="Oval 529"/>
          <p:cNvSpPr>
            <a:spLocks noChangeArrowheads="1"/>
          </p:cNvSpPr>
          <p:nvPr/>
        </p:nvSpPr>
        <p:spPr bwMode="auto">
          <a:xfrm>
            <a:off x="3916363" y="3109913"/>
            <a:ext cx="42862" cy="42862"/>
          </a:xfrm>
          <a:prstGeom prst="ellipse">
            <a:avLst/>
          </a:prstGeom>
          <a:solidFill>
            <a:srgbClr val="000000"/>
          </a:solidFill>
          <a:ln w="15875">
            <a:solidFill>
              <a:srgbClr val="000000"/>
            </a:solidFill>
            <a:miter lim="800000"/>
            <a:headEnd/>
            <a:tailEnd/>
          </a:ln>
        </p:spPr>
        <p:txBody>
          <a:bodyPr/>
          <a:lstStyle/>
          <a:p>
            <a:endParaRPr lang="en-US"/>
          </a:p>
        </p:txBody>
      </p:sp>
      <p:sp>
        <p:nvSpPr>
          <p:cNvPr id="591378" name="Oval 530"/>
          <p:cNvSpPr>
            <a:spLocks noChangeArrowheads="1"/>
          </p:cNvSpPr>
          <p:nvPr/>
        </p:nvSpPr>
        <p:spPr bwMode="auto">
          <a:xfrm>
            <a:off x="4011613" y="3109913"/>
            <a:ext cx="38100" cy="42862"/>
          </a:xfrm>
          <a:prstGeom prst="ellipse">
            <a:avLst/>
          </a:prstGeom>
          <a:solidFill>
            <a:srgbClr val="000000"/>
          </a:solidFill>
          <a:ln w="15875">
            <a:solidFill>
              <a:srgbClr val="000000"/>
            </a:solidFill>
            <a:miter lim="800000"/>
            <a:headEnd/>
            <a:tailEnd/>
          </a:ln>
        </p:spPr>
        <p:txBody>
          <a:bodyPr/>
          <a:lstStyle/>
          <a:p>
            <a:endParaRPr lang="en-US"/>
          </a:p>
        </p:txBody>
      </p:sp>
      <p:sp>
        <p:nvSpPr>
          <p:cNvPr id="591379" name="Oval 531"/>
          <p:cNvSpPr>
            <a:spLocks noChangeArrowheads="1"/>
          </p:cNvSpPr>
          <p:nvPr/>
        </p:nvSpPr>
        <p:spPr bwMode="auto">
          <a:xfrm>
            <a:off x="4102100" y="3109913"/>
            <a:ext cx="42863" cy="42862"/>
          </a:xfrm>
          <a:prstGeom prst="ellipse">
            <a:avLst/>
          </a:prstGeom>
          <a:solidFill>
            <a:srgbClr val="000000"/>
          </a:solidFill>
          <a:ln w="15875">
            <a:solidFill>
              <a:srgbClr val="000000"/>
            </a:solidFill>
            <a:miter lim="800000"/>
            <a:headEnd/>
            <a:tailEnd/>
          </a:ln>
        </p:spPr>
        <p:txBody>
          <a:bodyPr/>
          <a:lstStyle/>
          <a:p>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Slide Number Placeholder 3"/>
          <p:cNvSpPr>
            <a:spLocks noGrp="1"/>
          </p:cNvSpPr>
          <p:nvPr>
            <p:ph type="sldNum" sz="quarter" idx="10"/>
          </p:nvPr>
        </p:nvSpPr>
        <p:spPr/>
        <p:txBody>
          <a:bodyPr/>
          <a:lstStyle/>
          <a:p>
            <a:fld id="{57431DF4-0128-4A5E-B6D2-C07111524B25}" type="slidenum">
              <a:rPr lang="en-US" altLang="en-US"/>
              <a:pPr/>
              <a:t>74</a:t>
            </a:fld>
            <a:endParaRPr lang="en-US" altLang="en-US"/>
          </a:p>
        </p:txBody>
      </p:sp>
      <p:sp>
        <p:nvSpPr>
          <p:cNvPr id="591874" name="Rectangle 2"/>
          <p:cNvSpPr>
            <a:spLocks noGrp="1" noChangeArrowheads="1"/>
          </p:cNvSpPr>
          <p:nvPr>
            <p:ph type="title"/>
          </p:nvPr>
        </p:nvSpPr>
        <p:spPr/>
        <p:txBody>
          <a:bodyPr/>
          <a:lstStyle/>
          <a:p>
            <a:r>
              <a:rPr lang="en-US" altLang="en-US"/>
              <a:t>ROM Types</a:t>
            </a:r>
          </a:p>
        </p:txBody>
      </p:sp>
      <p:sp>
        <p:nvSpPr>
          <p:cNvPr id="591875" name="Rectangle 3"/>
          <p:cNvSpPr>
            <a:spLocks noGrp="1" noChangeArrowheads="1"/>
          </p:cNvSpPr>
          <p:nvPr>
            <p:ph type="body" idx="1"/>
          </p:nvPr>
        </p:nvSpPr>
        <p:spPr>
          <a:xfrm>
            <a:off x="228600" y="1219200"/>
            <a:ext cx="4906963" cy="4876800"/>
          </a:xfrm>
        </p:spPr>
        <p:txBody>
          <a:bodyPr/>
          <a:lstStyle/>
          <a:p>
            <a:pPr>
              <a:lnSpc>
                <a:spcPct val="90000"/>
              </a:lnSpc>
            </a:pPr>
            <a:r>
              <a:rPr lang="en-US" altLang="en-US"/>
              <a:t>If a ROM can only be read, how are the stored bits stored in the first place?</a:t>
            </a:r>
          </a:p>
          <a:p>
            <a:pPr lvl="1">
              <a:lnSpc>
                <a:spcPct val="90000"/>
              </a:lnSpc>
            </a:pPr>
            <a:r>
              <a:rPr lang="en-US" altLang="en-US"/>
              <a:t>Storing bits in a ROM known as </a:t>
            </a:r>
            <a:r>
              <a:rPr lang="en-US" altLang="en-US" i="1"/>
              <a:t>programming</a:t>
            </a:r>
          </a:p>
          <a:p>
            <a:pPr lvl="1">
              <a:lnSpc>
                <a:spcPct val="90000"/>
              </a:lnSpc>
            </a:pPr>
            <a:r>
              <a:rPr lang="en-US" altLang="en-US"/>
              <a:t>Several methods</a:t>
            </a:r>
          </a:p>
          <a:p>
            <a:pPr>
              <a:lnSpc>
                <a:spcPct val="90000"/>
              </a:lnSpc>
            </a:pPr>
            <a:r>
              <a:rPr lang="en-US" altLang="en-US" b="1" i="1">
                <a:solidFill>
                  <a:srgbClr val="0033CC"/>
                </a:solidFill>
              </a:rPr>
              <a:t>Mask-programmed ROM</a:t>
            </a:r>
          </a:p>
          <a:p>
            <a:pPr lvl="1">
              <a:lnSpc>
                <a:spcPct val="90000"/>
              </a:lnSpc>
            </a:pPr>
            <a:r>
              <a:rPr lang="en-US" altLang="en-US"/>
              <a:t>Bits are hardwired as 0s or 1s during chip manufacturing</a:t>
            </a:r>
          </a:p>
          <a:p>
            <a:pPr lvl="2">
              <a:lnSpc>
                <a:spcPct val="90000"/>
              </a:lnSpc>
            </a:pPr>
            <a:r>
              <a:rPr lang="en-US" altLang="en-US"/>
              <a:t>2-bit word on right stores “</a:t>
            </a:r>
            <a:r>
              <a:rPr lang="en-US" altLang="en-US">
                <a:solidFill>
                  <a:srgbClr val="FF0000"/>
                </a:solidFill>
              </a:rPr>
              <a:t>10</a:t>
            </a:r>
            <a:r>
              <a:rPr lang="en-US" altLang="en-US"/>
              <a:t>”</a:t>
            </a:r>
          </a:p>
          <a:p>
            <a:pPr lvl="2">
              <a:lnSpc>
                <a:spcPct val="90000"/>
              </a:lnSpc>
            </a:pPr>
            <a:r>
              <a:rPr lang="en-US" altLang="en-US"/>
              <a:t>word enable (from decoder) simply passes the hardwired value through transistor</a:t>
            </a:r>
          </a:p>
          <a:p>
            <a:pPr lvl="1">
              <a:lnSpc>
                <a:spcPct val="90000"/>
              </a:lnSpc>
            </a:pPr>
            <a:r>
              <a:rPr lang="en-US" altLang="en-US"/>
              <a:t>Notice how compact, and fast, this memory would be</a:t>
            </a:r>
          </a:p>
        </p:txBody>
      </p:sp>
      <p:sp>
        <p:nvSpPr>
          <p:cNvPr id="591876" name="Rectangle 4"/>
          <p:cNvSpPr>
            <a:spLocks noChangeArrowheads="1"/>
          </p:cNvSpPr>
          <p:nvPr/>
        </p:nvSpPr>
        <p:spPr bwMode="auto">
          <a:xfrm>
            <a:off x="7377113" y="3675063"/>
            <a:ext cx="1257300" cy="111125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77" name="Rectangle 5"/>
          <p:cNvSpPr>
            <a:spLocks noChangeArrowheads="1"/>
          </p:cNvSpPr>
          <p:nvPr/>
        </p:nvSpPr>
        <p:spPr bwMode="auto">
          <a:xfrm>
            <a:off x="5872163" y="3675063"/>
            <a:ext cx="1258887" cy="1111250"/>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78" name="Oval 6"/>
          <p:cNvSpPr>
            <a:spLocks noChangeArrowheads="1"/>
          </p:cNvSpPr>
          <p:nvPr/>
        </p:nvSpPr>
        <p:spPr bwMode="auto">
          <a:xfrm>
            <a:off x="6699250" y="4051300"/>
            <a:ext cx="92075" cy="79375"/>
          </a:xfrm>
          <a:prstGeom prst="ellipse">
            <a:avLst/>
          </a:prstGeom>
          <a:solidFill>
            <a:srgbClr val="000000"/>
          </a:solidFill>
          <a:ln w="9525">
            <a:solidFill>
              <a:srgbClr val="000000"/>
            </a:solidFill>
            <a:miter lim="800000"/>
            <a:headEnd/>
            <a:tailEnd/>
          </a:ln>
        </p:spPr>
        <p:txBody>
          <a:bodyPr/>
          <a:lstStyle/>
          <a:p>
            <a:endParaRPr lang="en-US"/>
          </a:p>
        </p:txBody>
      </p:sp>
      <p:sp>
        <p:nvSpPr>
          <p:cNvPr id="591879" name="Oval 7"/>
          <p:cNvSpPr>
            <a:spLocks noChangeArrowheads="1"/>
          </p:cNvSpPr>
          <p:nvPr/>
        </p:nvSpPr>
        <p:spPr bwMode="auto">
          <a:xfrm>
            <a:off x="6356350" y="4484688"/>
            <a:ext cx="92075" cy="79375"/>
          </a:xfrm>
          <a:prstGeom prst="ellipse">
            <a:avLst/>
          </a:prstGeom>
          <a:solidFill>
            <a:srgbClr val="000000"/>
          </a:solidFill>
          <a:ln w="9525">
            <a:solidFill>
              <a:srgbClr val="000000"/>
            </a:solidFill>
            <a:miter lim="800000"/>
            <a:headEnd/>
            <a:tailEnd/>
          </a:ln>
        </p:spPr>
        <p:txBody>
          <a:bodyPr/>
          <a:lstStyle/>
          <a:p>
            <a:endParaRPr lang="en-US"/>
          </a:p>
        </p:txBody>
      </p:sp>
      <p:sp>
        <p:nvSpPr>
          <p:cNvPr id="591880" name="Oval 8"/>
          <p:cNvSpPr>
            <a:spLocks noChangeArrowheads="1"/>
          </p:cNvSpPr>
          <p:nvPr/>
        </p:nvSpPr>
        <p:spPr bwMode="auto">
          <a:xfrm>
            <a:off x="7870825" y="4484688"/>
            <a:ext cx="90488" cy="79375"/>
          </a:xfrm>
          <a:prstGeom prst="ellipse">
            <a:avLst/>
          </a:prstGeom>
          <a:solidFill>
            <a:srgbClr val="000000"/>
          </a:solidFill>
          <a:ln w="9525">
            <a:solidFill>
              <a:srgbClr val="000000"/>
            </a:solidFill>
            <a:miter lim="800000"/>
            <a:headEnd/>
            <a:tailEnd/>
          </a:ln>
        </p:spPr>
        <p:txBody>
          <a:bodyPr/>
          <a:lstStyle/>
          <a:p>
            <a:endParaRPr lang="en-US"/>
          </a:p>
        </p:txBody>
      </p:sp>
      <p:sp>
        <p:nvSpPr>
          <p:cNvPr id="591881" name="Line 9"/>
          <p:cNvSpPr>
            <a:spLocks noChangeShapeType="1"/>
          </p:cNvSpPr>
          <p:nvPr/>
        </p:nvSpPr>
        <p:spPr bwMode="auto">
          <a:xfrm flipV="1">
            <a:off x="6745288" y="3495675"/>
            <a:ext cx="1587" cy="141763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882" name="Line 10"/>
          <p:cNvSpPr>
            <a:spLocks noChangeShapeType="1"/>
          </p:cNvSpPr>
          <p:nvPr/>
        </p:nvSpPr>
        <p:spPr bwMode="auto">
          <a:xfrm flipV="1">
            <a:off x="6402388" y="4314825"/>
            <a:ext cx="1587" cy="21272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883" name="Freeform 11"/>
          <p:cNvSpPr>
            <a:spLocks/>
          </p:cNvSpPr>
          <p:nvPr/>
        </p:nvSpPr>
        <p:spPr bwMode="auto">
          <a:xfrm>
            <a:off x="5981700" y="3495675"/>
            <a:ext cx="955675" cy="744538"/>
          </a:xfrm>
          <a:custGeom>
            <a:avLst/>
            <a:gdLst>
              <a:gd name="T0" fmla="*/ 525 w 525"/>
              <a:gd name="T1" fmla="*/ 350 h 440"/>
              <a:gd name="T2" fmla="*/ 419 w 525"/>
              <a:gd name="T3" fmla="*/ 350 h 440"/>
              <a:gd name="T4" fmla="*/ 312 w 525"/>
              <a:gd name="T5" fmla="*/ 350 h 440"/>
              <a:gd name="T6" fmla="*/ 312 w 525"/>
              <a:gd name="T7" fmla="*/ 440 h 440"/>
              <a:gd name="T8" fmla="*/ 150 w 525"/>
              <a:gd name="T9" fmla="*/ 440 h 440"/>
              <a:gd name="T10" fmla="*/ 150 w 525"/>
              <a:gd name="T11" fmla="*/ 350 h 440"/>
              <a:gd name="T12" fmla="*/ 0 w 525"/>
              <a:gd name="T13" fmla="*/ 350 h 440"/>
              <a:gd name="T14" fmla="*/ 0 w 525"/>
              <a:gd name="T15" fmla="*/ 322 h 440"/>
              <a:gd name="T16" fmla="*/ 0 w 525"/>
              <a:gd name="T17" fmla="*/ 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5" h="440">
                <a:moveTo>
                  <a:pt x="525" y="350"/>
                </a:moveTo>
                <a:lnTo>
                  <a:pt x="419" y="350"/>
                </a:lnTo>
                <a:lnTo>
                  <a:pt x="312" y="350"/>
                </a:lnTo>
                <a:lnTo>
                  <a:pt x="312" y="440"/>
                </a:lnTo>
                <a:lnTo>
                  <a:pt x="150" y="440"/>
                </a:lnTo>
                <a:lnTo>
                  <a:pt x="150" y="350"/>
                </a:lnTo>
                <a:lnTo>
                  <a:pt x="0" y="350"/>
                </a:lnTo>
                <a:lnTo>
                  <a:pt x="0" y="322"/>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84" name="Line 12"/>
          <p:cNvSpPr>
            <a:spLocks noChangeShapeType="1"/>
          </p:cNvSpPr>
          <p:nvPr/>
        </p:nvSpPr>
        <p:spPr bwMode="auto">
          <a:xfrm flipH="1">
            <a:off x="6243638" y="4314825"/>
            <a:ext cx="319087" cy="31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885" name="Oval 13"/>
          <p:cNvSpPr>
            <a:spLocks noChangeArrowheads="1"/>
          </p:cNvSpPr>
          <p:nvPr/>
        </p:nvSpPr>
        <p:spPr bwMode="auto">
          <a:xfrm>
            <a:off x="8213725" y="4051300"/>
            <a:ext cx="90488" cy="79375"/>
          </a:xfrm>
          <a:prstGeom prst="ellipse">
            <a:avLst/>
          </a:prstGeom>
          <a:solidFill>
            <a:srgbClr val="000000"/>
          </a:solidFill>
          <a:ln w="9525">
            <a:solidFill>
              <a:srgbClr val="000000"/>
            </a:solidFill>
            <a:miter lim="800000"/>
            <a:headEnd/>
            <a:tailEnd/>
          </a:ln>
        </p:spPr>
        <p:txBody>
          <a:bodyPr/>
          <a:lstStyle/>
          <a:p>
            <a:endParaRPr lang="en-US"/>
          </a:p>
        </p:txBody>
      </p:sp>
      <p:sp>
        <p:nvSpPr>
          <p:cNvPr id="591886" name="Line 14"/>
          <p:cNvSpPr>
            <a:spLocks noChangeShapeType="1"/>
          </p:cNvSpPr>
          <p:nvPr/>
        </p:nvSpPr>
        <p:spPr bwMode="auto">
          <a:xfrm flipV="1">
            <a:off x="8258175" y="3495675"/>
            <a:ext cx="3175" cy="143033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887" name="Line 15"/>
          <p:cNvSpPr>
            <a:spLocks noChangeShapeType="1"/>
          </p:cNvSpPr>
          <p:nvPr/>
        </p:nvSpPr>
        <p:spPr bwMode="auto">
          <a:xfrm flipV="1">
            <a:off x="7916863" y="4314825"/>
            <a:ext cx="1587" cy="21272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888" name="Freeform 16"/>
          <p:cNvSpPr>
            <a:spLocks/>
          </p:cNvSpPr>
          <p:nvPr/>
        </p:nvSpPr>
        <p:spPr bwMode="auto">
          <a:xfrm>
            <a:off x="7496175" y="3495675"/>
            <a:ext cx="955675" cy="744538"/>
          </a:xfrm>
          <a:custGeom>
            <a:avLst/>
            <a:gdLst>
              <a:gd name="T0" fmla="*/ 525 w 525"/>
              <a:gd name="T1" fmla="*/ 350 h 440"/>
              <a:gd name="T2" fmla="*/ 419 w 525"/>
              <a:gd name="T3" fmla="*/ 350 h 440"/>
              <a:gd name="T4" fmla="*/ 313 w 525"/>
              <a:gd name="T5" fmla="*/ 350 h 440"/>
              <a:gd name="T6" fmla="*/ 313 w 525"/>
              <a:gd name="T7" fmla="*/ 440 h 440"/>
              <a:gd name="T8" fmla="*/ 150 w 525"/>
              <a:gd name="T9" fmla="*/ 440 h 440"/>
              <a:gd name="T10" fmla="*/ 150 w 525"/>
              <a:gd name="T11" fmla="*/ 350 h 440"/>
              <a:gd name="T12" fmla="*/ 0 w 525"/>
              <a:gd name="T13" fmla="*/ 350 h 440"/>
              <a:gd name="T14" fmla="*/ 0 w 525"/>
              <a:gd name="T15" fmla="*/ 334 h 440"/>
              <a:gd name="T16" fmla="*/ 0 w 525"/>
              <a:gd name="T17" fmla="*/ 0 h 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5" h="440">
                <a:moveTo>
                  <a:pt x="525" y="350"/>
                </a:moveTo>
                <a:lnTo>
                  <a:pt x="419" y="350"/>
                </a:lnTo>
                <a:lnTo>
                  <a:pt x="313" y="350"/>
                </a:lnTo>
                <a:lnTo>
                  <a:pt x="313" y="440"/>
                </a:lnTo>
                <a:lnTo>
                  <a:pt x="150" y="440"/>
                </a:lnTo>
                <a:lnTo>
                  <a:pt x="150" y="350"/>
                </a:lnTo>
                <a:lnTo>
                  <a:pt x="0" y="350"/>
                </a:lnTo>
                <a:lnTo>
                  <a:pt x="0" y="334"/>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1889" name="Line 17"/>
          <p:cNvSpPr>
            <a:spLocks noChangeShapeType="1"/>
          </p:cNvSpPr>
          <p:nvPr/>
        </p:nvSpPr>
        <p:spPr bwMode="auto">
          <a:xfrm flipH="1">
            <a:off x="7758113" y="4314825"/>
            <a:ext cx="319087" cy="317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890" name="Rectangle 18"/>
          <p:cNvSpPr>
            <a:spLocks noChangeArrowheads="1"/>
          </p:cNvSpPr>
          <p:nvPr/>
        </p:nvSpPr>
        <p:spPr bwMode="auto">
          <a:xfrm>
            <a:off x="6826250" y="3695700"/>
            <a:ext cx="2476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cell</a:t>
            </a:r>
            <a:endParaRPr lang="en-US" altLang="en-US" sz="2400"/>
          </a:p>
        </p:txBody>
      </p:sp>
      <p:sp>
        <p:nvSpPr>
          <p:cNvPr id="591892" name="Rectangle 20"/>
          <p:cNvSpPr>
            <a:spLocks noChangeArrowheads="1"/>
          </p:cNvSpPr>
          <p:nvPr/>
        </p:nvSpPr>
        <p:spPr bwMode="auto">
          <a:xfrm>
            <a:off x="8324850" y="3695700"/>
            <a:ext cx="2476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cell</a:t>
            </a:r>
            <a:endParaRPr lang="en-US" altLang="en-US" sz="2400"/>
          </a:p>
        </p:txBody>
      </p:sp>
      <p:sp>
        <p:nvSpPr>
          <p:cNvPr id="591894" name="Line 22"/>
          <p:cNvSpPr>
            <a:spLocks noChangeShapeType="1"/>
          </p:cNvSpPr>
          <p:nvPr/>
        </p:nvSpPr>
        <p:spPr bwMode="auto">
          <a:xfrm>
            <a:off x="5634038" y="4522788"/>
            <a:ext cx="3097212"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1895" name="Rectangle 23"/>
          <p:cNvSpPr>
            <a:spLocks noChangeArrowheads="1"/>
          </p:cNvSpPr>
          <p:nvPr/>
        </p:nvSpPr>
        <p:spPr bwMode="auto">
          <a:xfrm>
            <a:off x="5359400" y="4108450"/>
            <a:ext cx="3587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word</a:t>
            </a:r>
            <a:endParaRPr lang="en-US" altLang="en-US" sz="2400"/>
          </a:p>
        </p:txBody>
      </p:sp>
      <p:sp>
        <p:nvSpPr>
          <p:cNvPr id="591899" name="Rectangle 27"/>
          <p:cNvSpPr>
            <a:spLocks noChangeArrowheads="1"/>
          </p:cNvSpPr>
          <p:nvPr/>
        </p:nvSpPr>
        <p:spPr bwMode="auto">
          <a:xfrm>
            <a:off x="5294313" y="4302125"/>
            <a:ext cx="4302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enable</a:t>
            </a:r>
            <a:endParaRPr lang="en-US" altLang="en-US" sz="2400"/>
          </a:p>
        </p:txBody>
      </p:sp>
      <p:sp>
        <p:nvSpPr>
          <p:cNvPr id="591900" name="Rectangle 28"/>
          <p:cNvSpPr>
            <a:spLocks noChangeArrowheads="1"/>
          </p:cNvSpPr>
          <p:nvPr/>
        </p:nvSpPr>
        <p:spPr bwMode="auto">
          <a:xfrm>
            <a:off x="6423025" y="3289300"/>
            <a:ext cx="6254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 line</a:t>
            </a:r>
            <a:endParaRPr lang="en-US" altLang="en-US" sz="2400"/>
          </a:p>
        </p:txBody>
      </p:sp>
      <p:sp>
        <p:nvSpPr>
          <p:cNvPr id="591903" name="Rectangle 31"/>
          <p:cNvSpPr>
            <a:spLocks noChangeArrowheads="1"/>
          </p:cNvSpPr>
          <p:nvPr/>
        </p:nvSpPr>
        <p:spPr bwMode="auto">
          <a:xfrm>
            <a:off x="7924800" y="3289300"/>
            <a:ext cx="6254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 line</a:t>
            </a:r>
            <a:endParaRPr lang="en-US" altLang="en-US" sz="2400"/>
          </a:p>
        </p:txBody>
      </p:sp>
      <p:sp>
        <p:nvSpPr>
          <p:cNvPr id="591906" name="Rectangle 34"/>
          <p:cNvSpPr>
            <a:spLocks noChangeArrowheads="1"/>
          </p:cNvSpPr>
          <p:nvPr/>
        </p:nvSpPr>
        <p:spPr bwMode="auto">
          <a:xfrm>
            <a:off x="7450138" y="3289300"/>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FF0000"/>
                </a:solidFill>
                <a:latin typeface="Myriad Roman" charset="0"/>
              </a:rPr>
              <a:t>0</a:t>
            </a:r>
            <a:endParaRPr lang="en-US" altLang="en-US" sz="2400" b="1">
              <a:solidFill>
                <a:srgbClr val="FF0000"/>
              </a:solidFill>
            </a:endParaRPr>
          </a:p>
        </p:txBody>
      </p:sp>
      <p:sp>
        <p:nvSpPr>
          <p:cNvPr id="591907" name="Rectangle 35"/>
          <p:cNvSpPr>
            <a:spLocks noChangeArrowheads="1"/>
          </p:cNvSpPr>
          <p:nvPr/>
        </p:nvSpPr>
        <p:spPr bwMode="auto">
          <a:xfrm>
            <a:off x="5934075" y="3289300"/>
            <a:ext cx="809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b="1">
                <a:solidFill>
                  <a:srgbClr val="FF0000"/>
                </a:solidFill>
                <a:latin typeface="Myriad Roman" charset="0"/>
              </a:rPr>
              <a:t>1</a:t>
            </a:r>
            <a:endParaRPr lang="en-US" altLang="en-US" sz="2400" b="1">
              <a:solidFill>
                <a:srgbClr val="FF0000"/>
              </a:solidFill>
            </a:endParaRPr>
          </a:p>
        </p:txBody>
      </p:sp>
      <p:pic>
        <p:nvPicPr>
          <p:cNvPr id="591910" name="Picture 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7850" y="1439863"/>
            <a:ext cx="2916238"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1911" name="Line 39"/>
          <p:cNvSpPr>
            <a:spLocks noChangeShapeType="1"/>
          </p:cNvSpPr>
          <p:nvPr/>
        </p:nvSpPr>
        <p:spPr bwMode="auto">
          <a:xfrm flipH="1">
            <a:off x="7651750" y="2393950"/>
            <a:ext cx="457200" cy="12747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Slide Number Placeholder 3"/>
          <p:cNvSpPr>
            <a:spLocks noGrp="1"/>
          </p:cNvSpPr>
          <p:nvPr>
            <p:ph type="sldNum" sz="quarter" idx="10"/>
          </p:nvPr>
        </p:nvSpPr>
        <p:spPr/>
        <p:txBody>
          <a:bodyPr/>
          <a:lstStyle/>
          <a:p>
            <a:fld id="{99334659-DD7B-4739-98D6-C3CB05701BC1}" type="slidenum">
              <a:rPr lang="en-US" altLang="en-US"/>
              <a:pPr/>
              <a:t>75</a:t>
            </a:fld>
            <a:endParaRPr lang="en-US" altLang="en-US"/>
          </a:p>
        </p:txBody>
      </p:sp>
      <p:sp>
        <p:nvSpPr>
          <p:cNvPr id="592950" name="Freeform 54"/>
          <p:cNvSpPr>
            <a:spLocks/>
          </p:cNvSpPr>
          <p:nvPr/>
        </p:nvSpPr>
        <p:spPr bwMode="auto">
          <a:xfrm>
            <a:off x="7999413" y="4022725"/>
            <a:ext cx="292100" cy="139700"/>
          </a:xfrm>
          <a:custGeom>
            <a:avLst/>
            <a:gdLst>
              <a:gd name="T0" fmla="*/ 14 w 59"/>
              <a:gd name="T1" fmla="*/ 28 h 28"/>
              <a:gd name="T2" fmla="*/ 0 w 59"/>
              <a:gd name="T3" fmla="*/ 14 h 28"/>
              <a:gd name="T4" fmla="*/ 14 w 59"/>
              <a:gd name="T5" fmla="*/ 0 h 28"/>
              <a:gd name="T6" fmla="*/ 45 w 59"/>
              <a:gd name="T7" fmla="*/ 0 h 28"/>
              <a:gd name="T8" fmla="*/ 59 w 59"/>
              <a:gd name="T9" fmla="*/ 14 h 28"/>
              <a:gd name="T10" fmla="*/ 45 w 59"/>
              <a:gd name="T11" fmla="*/ 28 h 28"/>
              <a:gd name="T12" fmla="*/ 14 w 59"/>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59" h="28">
                <a:moveTo>
                  <a:pt x="14" y="28"/>
                </a:moveTo>
                <a:cubicBezTo>
                  <a:pt x="6" y="28"/>
                  <a:pt x="0" y="22"/>
                  <a:pt x="0" y="14"/>
                </a:cubicBezTo>
                <a:cubicBezTo>
                  <a:pt x="0" y="6"/>
                  <a:pt x="6" y="0"/>
                  <a:pt x="14" y="0"/>
                </a:cubicBezTo>
                <a:cubicBezTo>
                  <a:pt x="45" y="0"/>
                  <a:pt x="45" y="0"/>
                  <a:pt x="45" y="0"/>
                </a:cubicBezTo>
                <a:cubicBezTo>
                  <a:pt x="52" y="0"/>
                  <a:pt x="59" y="6"/>
                  <a:pt x="59" y="14"/>
                </a:cubicBezTo>
                <a:cubicBezTo>
                  <a:pt x="59" y="22"/>
                  <a:pt x="52" y="28"/>
                  <a:pt x="45" y="28"/>
                </a:cubicBezTo>
                <a:lnTo>
                  <a:pt x="14" y="28"/>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951" name="Freeform 55"/>
          <p:cNvSpPr>
            <a:spLocks/>
          </p:cNvSpPr>
          <p:nvPr/>
        </p:nvSpPr>
        <p:spPr bwMode="auto">
          <a:xfrm>
            <a:off x="7972425" y="3983038"/>
            <a:ext cx="352425" cy="225425"/>
          </a:xfrm>
          <a:custGeom>
            <a:avLst/>
            <a:gdLst>
              <a:gd name="T0" fmla="*/ 14 w 59"/>
              <a:gd name="T1" fmla="*/ 28 h 28"/>
              <a:gd name="T2" fmla="*/ 0 w 59"/>
              <a:gd name="T3" fmla="*/ 14 h 28"/>
              <a:gd name="T4" fmla="*/ 14 w 59"/>
              <a:gd name="T5" fmla="*/ 0 h 28"/>
              <a:gd name="T6" fmla="*/ 45 w 59"/>
              <a:gd name="T7" fmla="*/ 0 h 28"/>
              <a:gd name="T8" fmla="*/ 59 w 59"/>
              <a:gd name="T9" fmla="*/ 14 h 28"/>
              <a:gd name="T10" fmla="*/ 45 w 59"/>
              <a:gd name="T11" fmla="*/ 28 h 28"/>
              <a:gd name="T12" fmla="*/ 14 w 59"/>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59" h="28">
                <a:moveTo>
                  <a:pt x="14" y="28"/>
                </a:moveTo>
                <a:cubicBezTo>
                  <a:pt x="6" y="28"/>
                  <a:pt x="0" y="22"/>
                  <a:pt x="0" y="14"/>
                </a:cubicBezTo>
                <a:cubicBezTo>
                  <a:pt x="0" y="6"/>
                  <a:pt x="6" y="0"/>
                  <a:pt x="14" y="0"/>
                </a:cubicBezTo>
                <a:cubicBezTo>
                  <a:pt x="45" y="0"/>
                  <a:pt x="45" y="0"/>
                  <a:pt x="45" y="0"/>
                </a:cubicBezTo>
                <a:cubicBezTo>
                  <a:pt x="52" y="0"/>
                  <a:pt x="59" y="6"/>
                  <a:pt x="59" y="14"/>
                </a:cubicBezTo>
                <a:cubicBezTo>
                  <a:pt x="59" y="22"/>
                  <a:pt x="52" y="28"/>
                  <a:pt x="45" y="28"/>
                </a:cubicBezTo>
                <a:lnTo>
                  <a:pt x="14" y="28"/>
                </a:lnTo>
                <a:close/>
              </a:path>
            </a:pathLst>
          </a:custGeom>
          <a:solidFill>
            <a:srgbClr val="FFFFFF"/>
          </a:solidFill>
          <a:ln>
            <a:noFill/>
          </a:ln>
          <a:extLst>
            <a:ext uri="{91240B29-F687-4F45-9708-019B960494DF}">
              <a14:hiddenLine xmlns:a14="http://schemas.microsoft.com/office/drawing/2010/main" w="14351" cap="flat">
                <a:solidFill>
                  <a:srgbClr val="0078C1"/>
                </a:solidFill>
                <a:prstDash val="solid"/>
                <a:miter lim="800000"/>
                <a:headEnd/>
                <a:tailEnd/>
              </a14:hiddenLine>
            </a:ext>
          </a:extLst>
        </p:spPr>
        <p:txBody>
          <a:bodyPr/>
          <a:lstStyle/>
          <a:p>
            <a:endParaRPr lang="en-US"/>
          </a:p>
        </p:txBody>
      </p:sp>
      <p:sp>
        <p:nvSpPr>
          <p:cNvPr id="592898" name="Rectangle 2"/>
          <p:cNvSpPr>
            <a:spLocks noGrp="1" noChangeArrowheads="1"/>
          </p:cNvSpPr>
          <p:nvPr>
            <p:ph type="title"/>
          </p:nvPr>
        </p:nvSpPr>
        <p:spPr/>
        <p:txBody>
          <a:bodyPr/>
          <a:lstStyle/>
          <a:p>
            <a:r>
              <a:rPr lang="en-US" altLang="en-US"/>
              <a:t>ROM Types</a:t>
            </a:r>
          </a:p>
        </p:txBody>
      </p:sp>
      <p:sp>
        <p:nvSpPr>
          <p:cNvPr id="592899" name="Rectangle 3"/>
          <p:cNvSpPr>
            <a:spLocks noGrp="1" noChangeArrowheads="1"/>
          </p:cNvSpPr>
          <p:nvPr>
            <p:ph type="body" idx="1"/>
          </p:nvPr>
        </p:nvSpPr>
        <p:spPr>
          <a:xfrm>
            <a:off x="228600" y="1219200"/>
            <a:ext cx="5218113" cy="4876800"/>
          </a:xfrm>
        </p:spPr>
        <p:txBody>
          <a:bodyPr/>
          <a:lstStyle/>
          <a:p>
            <a:r>
              <a:rPr lang="en-US" altLang="en-US" b="1" i="1">
                <a:solidFill>
                  <a:srgbClr val="0033CC"/>
                </a:solidFill>
              </a:rPr>
              <a:t>Fuse-Based Programmable ROM</a:t>
            </a:r>
          </a:p>
          <a:p>
            <a:pPr lvl="1"/>
            <a:r>
              <a:rPr lang="en-US" altLang="en-US"/>
              <a:t>Each cell has a fuse</a:t>
            </a:r>
          </a:p>
          <a:p>
            <a:pPr lvl="1"/>
            <a:r>
              <a:rPr lang="en-US" altLang="en-US"/>
              <a:t>A special device, known as a programmer, blows certain fuses (using higher-than-normal voltage)</a:t>
            </a:r>
          </a:p>
          <a:p>
            <a:pPr lvl="2"/>
            <a:r>
              <a:rPr lang="en-US" altLang="en-US"/>
              <a:t>Those cells will be read as 0s (involving some special electronics) </a:t>
            </a:r>
          </a:p>
          <a:p>
            <a:pPr lvl="2"/>
            <a:r>
              <a:rPr lang="en-US" altLang="en-US"/>
              <a:t>Cells with unblown fuses will be read as 1s</a:t>
            </a:r>
          </a:p>
          <a:p>
            <a:pPr lvl="2"/>
            <a:r>
              <a:rPr lang="en-US" altLang="en-US"/>
              <a:t>2-bit word on right stores “</a:t>
            </a:r>
            <a:r>
              <a:rPr lang="en-US" altLang="en-US">
                <a:solidFill>
                  <a:schemeClr val="accent2"/>
                </a:solidFill>
              </a:rPr>
              <a:t>10</a:t>
            </a:r>
            <a:r>
              <a:rPr lang="en-US" altLang="en-US"/>
              <a:t>”</a:t>
            </a:r>
          </a:p>
          <a:p>
            <a:pPr lvl="1"/>
            <a:r>
              <a:rPr lang="en-US" altLang="en-US"/>
              <a:t>Also known as </a:t>
            </a:r>
            <a:r>
              <a:rPr lang="en-US" altLang="en-US" b="1" i="1">
                <a:solidFill>
                  <a:srgbClr val="0033CC"/>
                </a:solidFill>
              </a:rPr>
              <a:t>One-Time Programmable (OTP)</a:t>
            </a:r>
            <a:r>
              <a:rPr lang="en-US" altLang="en-US"/>
              <a:t> </a:t>
            </a:r>
            <a:r>
              <a:rPr lang="en-US" altLang="en-US" b="1" i="1">
                <a:solidFill>
                  <a:srgbClr val="0033CC"/>
                </a:solidFill>
              </a:rPr>
              <a:t>ROM</a:t>
            </a:r>
          </a:p>
          <a:p>
            <a:pPr lvl="1"/>
            <a:endParaRPr lang="en-US" altLang="en-US"/>
          </a:p>
        </p:txBody>
      </p:sp>
      <p:sp>
        <p:nvSpPr>
          <p:cNvPr id="592900" name="Rectangle 4"/>
          <p:cNvSpPr>
            <a:spLocks noChangeArrowheads="1"/>
          </p:cNvSpPr>
          <p:nvPr/>
        </p:nvSpPr>
        <p:spPr bwMode="auto">
          <a:xfrm>
            <a:off x="7364413" y="3716338"/>
            <a:ext cx="1095375" cy="1042987"/>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901" name="Rectangle 5"/>
          <p:cNvSpPr>
            <a:spLocks noChangeArrowheads="1"/>
          </p:cNvSpPr>
          <p:nvPr/>
        </p:nvSpPr>
        <p:spPr bwMode="auto">
          <a:xfrm>
            <a:off x="6038850" y="3716338"/>
            <a:ext cx="1096963" cy="1042987"/>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902" name="Oval 6"/>
          <p:cNvSpPr>
            <a:spLocks noChangeArrowheads="1"/>
          </p:cNvSpPr>
          <p:nvPr/>
        </p:nvSpPr>
        <p:spPr bwMode="auto">
          <a:xfrm>
            <a:off x="7016750" y="4068763"/>
            <a:ext cx="79375" cy="74612"/>
          </a:xfrm>
          <a:prstGeom prst="ellipse">
            <a:avLst/>
          </a:prstGeom>
          <a:solidFill>
            <a:srgbClr val="000000"/>
          </a:solidFill>
          <a:ln w="9525">
            <a:solidFill>
              <a:srgbClr val="000000"/>
            </a:solidFill>
            <a:miter lim="800000"/>
            <a:headEnd/>
            <a:tailEnd/>
          </a:ln>
        </p:spPr>
        <p:txBody>
          <a:bodyPr/>
          <a:lstStyle/>
          <a:p>
            <a:endParaRPr lang="en-US"/>
          </a:p>
        </p:txBody>
      </p:sp>
      <p:sp>
        <p:nvSpPr>
          <p:cNvPr id="592903" name="Oval 7"/>
          <p:cNvSpPr>
            <a:spLocks noChangeArrowheads="1"/>
          </p:cNvSpPr>
          <p:nvPr/>
        </p:nvSpPr>
        <p:spPr bwMode="auto">
          <a:xfrm>
            <a:off x="6461125" y="4476750"/>
            <a:ext cx="79375" cy="73025"/>
          </a:xfrm>
          <a:prstGeom prst="ellipse">
            <a:avLst/>
          </a:prstGeom>
          <a:solidFill>
            <a:srgbClr val="000000"/>
          </a:solidFill>
          <a:ln w="9525">
            <a:solidFill>
              <a:srgbClr val="000000"/>
            </a:solidFill>
            <a:miter lim="800000"/>
            <a:headEnd/>
            <a:tailEnd/>
          </a:ln>
        </p:spPr>
        <p:txBody>
          <a:bodyPr/>
          <a:lstStyle/>
          <a:p>
            <a:endParaRPr lang="en-US"/>
          </a:p>
        </p:txBody>
      </p:sp>
      <p:sp>
        <p:nvSpPr>
          <p:cNvPr id="592904" name="Oval 8"/>
          <p:cNvSpPr>
            <a:spLocks noChangeArrowheads="1"/>
          </p:cNvSpPr>
          <p:nvPr/>
        </p:nvSpPr>
        <p:spPr bwMode="auto">
          <a:xfrm>
            <a:off x="7780338" y="4476750"/>
            <a:ext cx="79375" cy="73025"/>
          </a:xfrm>
          <a:prstGeom prst="ellipse">
            <a:avLst/>
          </a:prstGeom>
          <a:solidFill>
            <a:srgbClr val="000000"/>
          </a:solidFill>
          <a:ln w="9525">
            <a:solidFill>
              <a:srgbClr val="000000"/>
            </a:solidFill>
            <a:miter lim="800000"/>
            <a:headEnd/>
            <a:tailEnd/>
          </a:ln>
        </p:spPr>
        <p:txBody>
          <a:bodyPr/>
          <a:lstStyle/>
          <a:p>
            <a:endParaRPr lang="en-US"/>
          </a:p>
        </p:txBody>
      </p:sp>
      <p:sp>
        <p:nvSpPr>
          <p:cNvPr id="592905" name="Line 9"/>
          <p:cNvSpPr>
            <a:spLocks noChangeShapeType="1"/>
          </p:cNvSpPr>
          <p:nvPr/>
        </p:nvSpPr>
        <p:spPr bwMode="auto">
          <a:xfrm flipV="1">
            <a:off x="7056438" y="3548063"/>
            <a:ext cx="1587" cy="13303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06" name="Line 10"/>
          <p:cNvSpPr>
            <a:spLocks noChangeShapeType="1"/>
          </p:cNvSpPr>
          <p:nvPr/>
        </p:nvSpPr>
        <p:spPr bwMode="auto">
          <a:xfrm flipV="1">
            <a:off x="6500813" y="4318000"/>
            <a:ext cx="1587" cy="19843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07" name="Freeform 11"/>
          <p:cNvSpPr>
            <a:spLocks/>
          </p:cNvSpPr>
          <p:nvPr/>
        </p:nvSpPr>
        <p:spPr bwMode="auto">
          <a:xfrm>
            <a:off x="6134100" y="3548063"/>
            <a:ext cx="555625" cy="700087"/>
          </a:xfrm>
          <a:custGeom>
            <a:avLst/>
            <a:gdLst>
              <a:gd name="T0" fmla="*/ 350 w 350"/>
              <a:gd name="T1" fmla="*/ 350 h 441"/>
              <a:gd name="T2" fmla="*/ 312 w 350"/>
              <a:gd name="T3" fmla="*/ 350 h 441"/>
              <a:gd name="T4" fmla="*/ 312 w 350"/>
              <a:gd name="T5" fmla="*/ 441 h 441"/>
              <a:gd name="T6" fmla="*/ 150 w 350"/>
              <a:gd name="T7" fmla="*/ 441 h 441"/>
              <a:gd name="T8" fmla="*/ 150 w 350"/>
              <a:gd name="T9" fmla="*/ 350 h 441"/>
              <a:gd name="T10" fmla="*/ 0 w 350"/>
              <a:gd name="T11" fmla="*/ 350 h 441"/>
              <a:gd name="T12" fmla="*/ 0 w 350"/>
              <a:gd name="T13" fmla="*/ 331 h 441"/>
              <a:gd name="T14" fmla="*/ 0 w 350"/>
              <a:gd name="T15" fmla="*/ 0 h 4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0" h="441">
                <a:moveTo>
                  <a:pt x="350" y="350"/>
                </a:moveTo>
                <a:lnTo>
                  <a:pt x="312" y="350"/>
                </a:lnTo>
                <a:lnTo>
                  <a:pt x="312" y="441"/>
                </a:lnTo>
                <a:lnTo>
                  <a:pt x="150" y="441"/>
                </a:lnTo>
                <a:lnTo>
                  <a:pt x="150" y="350"/>
                </a:lnTo>
                <a:lnTo>
                  <a:pt x="0" y="350"/>
                </a:lnTo>
                <a:lnTo>
                  <a:pt x="0" y="331"/>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908" name="Line 12"/>
          <p:cNvSpPr>
            <a:spLocks noChangeShapeType="1"/>
          </p:cNvSpPr>
          <p:nvPr/>
        </p:nvSpPr>
        <p:spPr bwMode="auto">
          <a:xfrm flipH="1">
            <a:off x="6981825" y="4103688"/>
            <a:ext cx="65088"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09" name="Line 13"/>
          <p:cNvSpPr>
            <a:spLocks noChangeShapeType="1"/>
          </p:cNvSpPr>
          <p:nvPr/>
        </p:nvSpPr>
        <p:spPr bwMode="auto">
          <a:xfrm flipH="1">
            <a:off x="6362700" y="4318000"/>
            <a:ext cx="277813"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10" name="Oval 14"/>
          <p:cNvSpPr>
            <a:spLocks noChangeArrowheads="1"/>
          </p:cNvSpPr>
          <p:nvPr/>
        </p:nvSpPr>
        <p:spPr bwMode="auto">
          <a:xfrm>
            <a:off x="8331200" y="4068763"/>
            <a:ext cx="74613" cy="74612"/>
          </a:xfrm>
          <a:prstGeom prst="ellipse">
            <a:avLst/>
          </a:prstGeom>
          <a:solidFill>
            <a:srgbClr val="000000"/>
          </a:solidFill>
          <a:ln w="9525">
            <a:solidFill>
              <a:srgbClr val="000000"/>
            </a:solidFill>
            <a:miter lim="800000"/>
            <a:headEnd/>
            <a:tailEnd/>
          </a:ln>
        </p:spPr>
        <p:txBody>
          <a:bodyPr/>
          <a:lstStyle/>
          <a:p>
            <a:endParaRPr lang="en-US"/>
          </a:p>
        </p:txBody>
      </p:sp>
      <p:sp>
        <p:nvSpPr>
          <p:cNvPr id="592911" name="Line 15"/>
          <p:cNvSpPr>
            <a:spLocks noChangeShapeType="1"/>
          </p:cNvSpPr>
          <p:nvPr/>
        </p:nvSpPr>
        <p:spPr bwMode="auto">
          <a:xfrm flipV="1">
            <a:off x="8370888" y="3548063"/>
            <a:ext cx="1587" cy="133985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12" name="Line 16"/>
          <p:cNvSpPr>
            <a:spLocks noChangeShapeType="1"/>
          </p:cNvSpPr>
          <p:nvPr/>
        </p:nvSpPr>
        <p:spPr bwMode="auto">
          <a:xfrm flipV="1">
            <a:off x="7820025" y="4318000"/>
            <a:ext cx="1588" cy="19843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13" name="Freeform 17"/>
          <p:cNvSpPr>
            <a:spLocks/>
          </p:cNvSpPr>
          <p:nvPr/>
        </p:nvSpPr>
        <p:spPr bwMode="auto">
          <a:xfrm>
            <a:off x="7453313" y="3548063"/>
            <a:ext cx="550862" cy="700087"/>
          </a:xfrm>
          <a:custGeom>
            <a:avLst/>
            <a:gdLst>
              <a:gd name="T0" fmla="*/ 347 w 347"/>
              <a:gd name="T1" fmla="*/ 350 h 441"/>
              <a:gd name="T2" fmla="*/ 313 w 347"/>
              <a:gd name="T3" fmla="*/ 350 h 441"/>
              <a:gd name="T4" fmla="*/ 313 w 347"/>
              <a:gd name="T5" fmla="*/ 441 h 441"/>
              <a:gd name="T6" fmla="*/ 150 w 347"/>
              <a:gd name="T7" fmla="*/ 441 h 441"/>
              <a:gd name="T8" fmla="*/ 150 w 347"/>
              <a:gd name="T9" fmla="*/ 350 h 441"/>
              <a:gd name="T10" fmla="*/ 0 w 347"/>
              <a:gd name="T11" fmla="*/ 350 h 441"/>
              <a:gd name="T12" fmla="*/ 0 w 347"/>
              <a:gd name="T13" fmla="*/ 328 h 441"/>
              <a:gd name="T14" fmla="*/ 0 w 347"/>
              <a:gd name="T15" fmla="*/ 0 h 44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7" h="441">
                <a:moveTo>
                  <a:pt x="347" y="350"/>
                </a:moveTo>
                <a:lnTo>
                  <a:pt x="313" y="350"/>
                </a:lnTo>
                <a:lnTo>
                  <a:pt x="313" y="441"/>
                </a:lnTo>
                <a:lnTo>
                  <a:pt x="150" y="441"/>
                </a:lnTo>
                <a:lnTo>
                  <a:pt x="150" y="350"/>
                </a:lnTo>
                <a:lnTo>
                  <a:pt x="0" y="350"/>
                </a:lnTo>
                <a:lnTo>
                  <a:pt x="0" y="328"/>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914" name="Line 18"/>
          <p:cNvSpPr>
            <a:spLocks noChangeShapeType="1"/>
          </p:cNvSpPr>
          <p:nvPr/>
        </p:nvSpPr>
        <p:spPr bwMode="auto">
          <a:xfrm flipH="1">
            <a:off x="8291513" y="4103688"/>
            <a:ext cx="6985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15" name="Line 19"/>
          <p:cNvSpPr>
            <a:spLocks noChangeShapeType="1"/>
          </p:cNvSpPr>
          <p:nvPr/>
        </p:nvSpPr>
        <p:spPr bwMode="auto">
          <a:xfrm flipH="1">
            <a:off x="7681913" y="4318000"/>
            <a:ext cx="277812"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16" name="Rectangle 20"/>
          <p:cNvSpPr>
            <a:spLocks noChangeArrowheads="1"/>
          </p:cNvSpPr>
          <p:nvPr/>
        </p:nvSpPr>
        <p:spPr bwMode="auto">
          <a:xfrm>
            <a:off x="6451600" y="3735388"/>
            <a:ext cx="2476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cell</a:t>
            </a:r>
            <a:endParaRPr lang="en-US" altLang="en-US" sz="2400"/>
          </a:p>
        </p:txBody>
      </p:sp>
      <p:sp>
        <p:nvSpPr>
          <p:cNvPr id="592918" name="Rectangle 22"/>
          <p:cNvSpPr>
            <a:spLocks noChangeArrowheads="1"/>
          </p:cNvSpPr>
          <p:nvPr/>
        </p:nvSpPr>
        <p:spPr bwMode="auto">
          <a:xfrm>
            <a:off x="7766050" y="3735388"/>
            <a:ext cx="2476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cell</a:t>
            </a:r>
            <a:endParaRPr lang="en-US" altLang="en-US" sz="2400"/>
          </a:p>
        </p:txBody>
      </p:sp>
      <p:sp>
        <p:nvSpPr>
          <p:cNvPr id="592920" name="Line 24"/>
          <p:cNvSpPr>
            <a:spLocks noChangeShapeType="1"/>
          </p:cNvSpPr>
          <p:nvPr/>
        </p:nvSpPr>
        <p:spPr bwMode="auto">
          <a:xfrm>
            <a:off x="3306763" y="3778250"/>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2921" name="Line 25"/>
          <p:cNvSpPr>
            <a:spLocks noChangeShapeType="1"/>
          </p:cNvSpPr>
          <p:nvPr/>
        </p:nvSpPr>
        <p:spPr bwMode="auto">
          <a:xfrm>
            <a:off x="3306763" y="3778250"/>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2922" name="Line 26"/>
          <p:cNvSpPr>
            <a:spLocks noChangeShapeType="1"/>
          </p:cNvSpPr>
          <p:nvPr/>
        </p:nvSpPr>
        <p:spPr bwMode="auto">
          <a:xfrm>
            <a:off x="5830888" y="4510088"/>
            <a:ext cx="2698750" cy="1587"/>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2923" name="Rectangle 27"/>
          <p:cNvSpPr>
            <a:spLocks noChangeArrowheads="1"/>
          </p:cNvSpPr>
          <p:nvPr/>
        </p:nvSpPr>
        <p:spPr bwMode="auto">
          <a:xfrm>
            <a:off x="5591175" y="4122738"/>
            <a:ext cx="3587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word</a:t>
            </a:r>
            <a:endParaRPr lang="en-US" altLang="en-US" sz="2400"/>
          </a:p>
        </p:txBody>
      </p:sp>
      <p:sp>
        <p:nvSpPr>
          <p:cNvPr id="592927" name="Rectangle 31"/>
          <p:cNvSpPr>
            <a:spLocks noChangeArrowheads="1"/>
          </p:cNvSpPr>
          <p:nvPr/>
        </p:nvSpPr>
        <p:spPr bwMode="auto">
          <a:xfrm>
            <a:off x="5535613" y="4303713"/>
            <a:ext cx="43021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enable</a:t>
            </a:r>
            <a:endParaRPr lang="en-US" altLang="en-US" sz="2400"/>
          </a:p>
        </p:txBody>
      </p:sp>
      <p:sp>
        <p:nvSpPr>
          <p:cNvPr id="592928" name="Rectangle 32"/>
          <p:cNvSpPr>
            <a:spLocks noChangeArrowheads="1"/>
          </p:cNvSpPr>
          <p:nvPr/>
        </p:nvSpPr>
        <p:spPr bwMode="auto">
          <a:xfrm>
            <a:off x="6607175" y="3355975"/>
            <a:ext cx="6254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 line</a:t>
            </a:r>
            <a:endParaRPr lang="en-US" altLang="en-US" sz="2400"/>
          </a:p>
        </p:txBody>
      </p:sp>
      <p:sp>
        <p:nvSpPr>
          <p:cNvPr id="592931" name="Rectangle 35"/>
          <p:cNvSpPr>
            <a:spLocks noChangeArrowheads="1"/>
          </p:cNvSpPr>
          <p:nvPr/>
        </p:nvSpPr>
        <p:spPr bwMode="auto">
          <a:xfrm>
            <a:off x="8088313" y="3355975"/>
            <a:ext cx="6254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 line</a:t>
            </a:r>
            <a:endParaRPr lang="en-US" altLang="en-US" sz="2400"/>
          </a:p>
        </p:txBody>
      </p:sp>
      <p:sp>
        <p:nvSpPr>
          <p:cNvPr id="592934" name="Rectangle 38"/>
          <p:cNvSpPr>
            <a:spLocks noChangeArrowheads="1"/>
          </p:cNvSpPr>
          <p:nvPr/>
        </p:nvSpPr>
        <p:spPr bwMode="auto">
          <a:xfrm>
            <a:off x="7412038" y="335597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a:t>
            </a:r>
            <a:endParaRPr lang="en-US" altLang="en-US" sz="2400"/>
          </a:p>
        </p:txBody>
      </p:sp>
      <p:sp>
        <p:nvSpPr>
          <p:cNvPr id="592935" name="Rectangle 39"/>
          <p:cNvSpPr>
            <a:spLocks noChangeArrowheads="1"/>
          </p:cNvSpPr>
          <p:nvPr/>
        </p:nvSpPr>
        <p:spPr bwMode="auto">
          <a:xfrm>
            <a:off x="6092825" y="3355975"/>
            <a:ext cx="825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a:t>
            </a:r>
            <a:endParaRPr lang="en-US" altLang="en-US" sz="2400"/>
          </a:p>
        </p:txBody>
      </p:sp>
      <p:sp>
        <p:nvSpPr>
          <p:cNvPr id="592937" name="Freeform 41"/>
          <p:cNvSpPr>
            <a:spLocks/>
          </p:cNvSpPr>
          <p:nvPr/>
        </p:nvSpPr>
        <p:spPr bwMode="auto">
          <a:xfrm>
            <a:off x="6689725" y="4033838"/>
            <a:ext cx="292100" cy="139700"/>
          </a:xfrm>
          <a:custGeom>
            <a:avLst/>
            <a:gdLst>
              <a:gd name="T0" fmla="*/ 14 w 59"/>
              <a:gd name="T1" fmla="*/ 28 h 28"/>
              <a:gd name="T2" fmla="*/ 0 w 59"/>
              <a:gd name="T3" fmla="*/ 14 h 28"/>
              <a:gd name="T4" fmla="*/ 14 w 59"/>
              <a:gd name="T5" fmla="*/ 0 h 28"/>
              <a:gd name="T6" fmla="*/ 45 w 59"/>
              <a:gd name="T7" fmla="*/ 0 h 28"/>
              <a:gd name="T8" fmla="*/ 59 w 59"/>
              <a:gd name="T9" fmla="*/ 14 h 28"/>
              <a:gd name="T10" fmla="*/ 45 w 59"/>
              <a:gd name="T11" fmla="*/ 28 h 28"/>
              <a:gd name="T12" fmla="*/ 14 w 59"/>
              <a:gd name="T13" fmla="*/ 28 h 28"/>
            </a:gdLst>
            <a:ahLst/>
            <a:cxnLst>
              <a:cxn ang="0">
                <a:pos x="T0" y="T1"/>
              </a:cxn>
              <a:cxn ang="0">
                <a:pos x="T2" y="T3"/>
              </a:cxn>
              <a:cxn ang="0">
                <a:pos x="T4" y="T5"/>
              </a:cxn>
              <a:cxn ang="0">
                <a:pos x="T6" y="T7"/>
              </a:cxn>
              <a:cxn ang="0">
                <a:pos x="T8" y="T9"/>
              </a:cxn>
              <a:cxn ang="0">
                <a:pos x="T10" y="T11"/>
              </a:cxn>
              <a:cxn ang="0">
                <a:pos x="T12" y="T13"/>
              </a:cxn>
            </a:cxnLst>
            <a:rect l="0" t="0" r="r" b="b"/>
            <a:pathLst>
              <a:path w="59" h="28">
                <a:moveTo>
                  <a:pt x="14" y="28"/>
                </a:moveTo>
                <a:cubicBezTo>
                  <a:pt x="6" y="28"/>
                  <a:pt x="0" y="22"/>
                  <a:pt x="0" y="14"/>
                </a:cubicBezTo>
                <a:cubicBezTo>
                  <a:pt x="0" y="6"/>
                  <a:pt x="6" y="0"/>
                  <a:pt x="14" y="0"/>
                </a:cubicBezTo>
                <a:cubicBezTo>
                  <a:pt x="45" y="0"/>
                  <a:pt x="45" y="0"/>
                  <a:pt x="45" y="0"/>
                </a:cubicBezTo>
                <a:cubicBezTo>
                  <a:pt x="52" y="0"/>
                  <a:pt x="59" y="6"/>
                  <a:pt x="59" y="14"/>
                </a:cubicBezTo>
                <a:cubicBezTo>
                  <a:pt x="59" y="22"/>
                  <a:pt x="52" y="28"/>
                  <a:pt x="45" y="28"/>
                </a:cubicBezTo>
                <a:lnTo>
                  <a:pt x="14" y="28"/>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592949" name="Group 53"/>
          <p:cNvGrpSpPr>
            <a:grpSpLocks/>
          </p:cNvGrpSpPr>
          <p:nvPr/>
        </p:nvGrpSpPr>
        <p:grpSpPr bwMode="auto">
          <a:xfrm>
            <a:off x="7400925" y="4033838"/>
            <a:ext cx="890588" cy="957262"/>
            <a:chOff x="4662" y="2541"/>
            <a:chExt cx="561" cy="603"/>
          </a:xfrm>
        </p:grpSpPr>
        <p:grpSp>
          <p:nvGrpSpPr>
            <p:cNvPr id="592948" name="Group 52"/>
            <p:cNvGrpSpPr>
              <a:grpSpLocks/>
            </p:cNvGrpSpPr>
            <p:nvPr/>
          </p:nvGrpSpPr>
          <p:grpSpPr bwMode="auto">
            <a:xfrm>
              <a:off x="5042" y="2541"/>
              <a:ext cx="181" cy="88"/>
              <a:chOff x="5042" y="2541"/>
              <a:chExt cx="181" cy="88"/>
            </a:xfrm>
          </p:grpSpPr>
          <p:sp>
            <p:nvSpPr>
              <p:cNvPr id="592938" name="Freeform 42"/>
              <p:cNvSpPr>
                <a:spLocks/>
              </p:cNvSpPr>
              <p:nvPr/>
            </p:nvSpPr>
            <p:spPr bwMode="auto">
              <a:xfrm>
                <a:off x="5170" y="2541"/>
                <a:ext cx="53" cy="88"/>
              </a:xfrm>
              <a:custGeom>
                <a:avLst/>
                <a:gdLst>
                  <a:gd name="T0" fmla="*/ 3 w 17"/>
                  <a:gd name="T1" fmla="*/ 0 h 28"/>
                  <a:gd name="T2" fmla="*/ 17 w 17"/>
                  <a:gd name="T3" fmla="*/ 14 h 28"/>
                  <a:gd name="T4" fmla="*/ 3 w 17"/>
                  <a:gd name="T5" fmla="*/ 28 h 28"/>
                  <a:gd name="T6" fmla="*/ 6 w 17"/>
                  <a:gd name="T7" fmla="*/ 20 h 28"/>
                  <a:gd name="T8" fmla="*/ 1 w 17"/>
                  <a:gd name="T9" fmla="*/ 14 h 28"/>
                  <a:gd name="T10" fmla="*/ 4 w 17"/>
                  <a:gd name="T11" fmla="*/ 7 h 28"/>
                  <a:gd name="T12" fmla="*/ 0 w 17"/>
                  <a:gd name="T13" fmla="*/ 4 h 28"/>
                  <a:gd name="T14" fmla="*/ 3 w 17"/>
                  <a:gd name="T15" fmla="*/ 0 h 2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28">
                    <a:moveTo>
                      <a:pt x="3" y="0"/>
                    </a:moveTo>
                    <a:cubicBezTo>
                      <a:pt x="11" y="0"/>
                      <a:pt x="17" y="6"/>
                      <a:pt x="17" y="14"/>
                    </a:cubicBezTo>
                    <a:cubicBezTo>
                      <a:pt x="17" y="22"/>
                      <a:pt x="11" y="28"/>
                      <a:pt x="3" y="28"/>
                    </a:cubicBezTo>
                    <a:cubicBezTo>
                      <a:pt x="6" y="20"/>
                      <a:pt x="6" y="20"/>
                      <a:pt x="6" y="20"/>
                    </a:cubicBezTo>
                    <a:cubicBezTo>
                      <a:pt x="1" y="14"/>
                      <a:pt x="1" y="14"/>
                      <a:pt x="1" y="14"/>
                    </a:cubicBezTo>
                    <a:cubicBezTo>
                      <a:pt x="4" y="7"/>
                      <a:pt x="4" y="7"/>
                      <a:pt x="4" y="7"/>
                    </a:cubicBezTo>
                    <a:cubicBezTo>
                      <a:pt x="0" y="4"/>
                      <a:pt x="0" y="4"/>
                      <a:pt x="0" y="4"/>
                    </a:cubicBezTo>
                    <a:lnTo>
                      <a:pt x="3"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2939" name="Freeform 43"/>
              <p:cNvSpPr>
                <a:spLocks/>
              </p:cNvSpPr>
              <p:nvPr/>
            </p:nvSpPr>
            <p:spPr bwMode="auto">
              <a:xfrm>
                <a:off x="5042" y="2541"/>
                <a:ext cx="59" cy="88"/>
              </a:xfrm>
              <a:custGeom>
                <a:avLst/>
                <a:gdLst>
                  <a:gd name="T0" fmla="*/ 14 w 19"/>
                  <a:gd name="T1" fmla="*/ 0 h 28"/>
                  <a:gd name="T2" fmla="*/ 0 w 19"/>
                  <a:gd name="T3" fmla="*/ 14 h 28"/>
                  <a:gd name="T4" fmla="*/ 14 w 19"/>
                  <a:gd name="T5" fmla="*/ 28 h 28"/>
                  <a:gd name="T6" fmla="*/ 18 w 19"/>
                  <a:gd name="T7" fmla="*/ 21 h 28"/>
                  <a:gd name="T8" fmla="*/ 14 w 19"/>
                  <a:gd name="T9" fmla="*/ 15 h 28"/>
                  <a:gd name="T10" fmla="*/ 19 w 19"/>
                  <a:gd name="T11" fmla="*/ 7 h 28"/>
                  <a:gd name="T12" fmla="*/ 14 w 19"/>
                  <a:gd name="T13" fmla="*/ 0 h 28"/>
                </a:gdLst>
                <a:ahLst/>
                <a:cxnLst>
                  <a:cxn ang="0">
                    <a:pos x="T0" y="T1"/>
                  </a:cxn>
                  <a:cxn ang="0">
                    <a:pos x="T2" y="T3"/>
                  </a:cxn>
                  <a:cxn ang="0">
                    <a:pos x="T4" y="T5"/>
                  </a:cxn>
                  <a:cxn ang="0">
                    <a:pos x="T6" y="T7"/>
                  </a:cxn>
                  <a:cxn ang="0">
                    <a:pos x="T8" y="T9"/>
                  </a:cxn>
                  <a:cxn ang="0">
                    <a:pos x="T10" y="T11"/>
                  </a:cxn>
                  <a:cxn ang="0">
                    <a:pos x="T12" y="T13"/>
                  </a:cxn>
                </a:cxnLst>
                <a:rect l="0" t="0" r="r" b="b"/>
                <a:pathLst>
                  <a:path w="19" h="28">
                    <a:moveTo>
                      <a:pt x="14" y="0"/>
                    </a:moveTo>
                    <a:cubicBezTo>
                      <a:pt x="6" y="0"/>
                      <a:pt x="0" y="6"/>
                      <a:pt x="0" y="14"/>
                    </a:cubicBezTo>
                    <a:cubicBezTo>
                      <a:pt x="0" y="22"/>
                      <a:pt x="6" y="28"/>
                      <a:pt x="14" y="28"/>
                    </a:cubicBezTo>
                    <a:cubicBezTo>
                      <a:pt x="18" y="21"/>
                      <a:pt x="18" y="21"/>
                      <a:pt x="18" y="21"/>
                    </a:cubicBezTo>
                    <a:cubicBezTo>
                      <a:pt x="14" y="15"/>
                      <a:pt x="14" y="15"/>
                      <a:pt x="14" y="15"/>
                    </a:cubicBezTo>
                    <a:cubicBezTo>
                      <a:pt x="19" y="7"/>
                      <a:pt x="19" y="7"/>
                      <a:pt x="19" y="7"/>
                    </a:cubicBezTo>
                    <a:lnTo>
                      <a:pt x="14" y="0"/>
                    </a:lnTo>
                    <a:close/>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2940" name="Rectangle 44"/>
            <p:cNvSpPr>
              <a:spLocks noChangeArrowheads="1"/>
            </p:cNvSpPr>
            <p:nvPr/>
          </p:nvSpPr>
          <p:spPr bwMode="auto">
            <a:xfrm>
              <a:off x="4662" y="3019"/>
              <a:ext cx="49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blown fuse</a:t>
              </a:r>
              <a:endParaRPr lang="en-US" altLang="en-US" sz="2400"/>
            </a:p>
          </p:txBody>
        </p:sp>
        <p:sp>
          <p:nvSpPr>
            <p:cNvPr id="592943" name="Line 47"/>
            <p:cNvSpPr>
              <a:spLocks noChangeShapeType="1"/>
            </p:cNvSpPr>
            <p:nvPr/>
          </p:nvSpPr>
          <p:spPr bwMode="auto">
            <a:xfrm flipV="1">
              <a:off x="4917" y="2601"/>
              <a:ext cx="219" cy="42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sp>
        <p:nvSpPr>
          <p:cNvPr id="592944" name="Rectangle 48"/>
          <p:cNvSpPr>
            <a:spLocks noChangeArrowheads="1"/>
          </p:cNvSpPr>
          <p:nvPr/>
        </p:nvSpPr>
        <p:spPr bwMode="auto">
          <a:xfrm>
            <a:off x="6308725" y="4792663"/>
            <a:ext cx="27463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fuse</a:t>
            </a:r>
            <a:endParaRPr lang="en-US" altLang="en-US" sz="2400"/>
          </a:p>
        </p:txBody>
      </p:sp>
      <p:sp>
        <p:nvSpPr>
          <p:cNvPr id="592945" name="Line 49"/>
          <p:cNvSpPr>
            <a:spLocks noChangeShapeType="1"/>
          </p:cNvSpPr>
          <p:nvPr/>
        </p:nvSpPr>
        <p:spPr bwMode="auto">
          <a:xfrm flipV="1">
            <a:off x="6486525" y="4129088"/>
            <a:ext cx="346075" cy="669925"/>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pic>
        <p:nvPicPr>
          <p:cNvPr id="592946" name="Picture 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7850" y="1439863"/>
            <a:ext cx="2916238"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2947" name="Line 51"/>
          <p:cNvSpPr>
            <a:spLocks noChangeShapeType="1"/>
          </p:cNvSpPr>
          <p:nvPr/>
        </p:nvSpPr>
        <p:spPr bwMode="auto">
          <a:xfrm flipH="1">
            <a:off x="7700963" y="2441575"/>
            <a:ext cx="457200" cy="1274763"/>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2952" name="Text Box 56"/>
          <p:cNvSpPr txBox="1">
            <a:spLocks noChangeArrowheads="1"/>
          </p:cNvSpPr>
          <p:nvPr/>
        </p:nvSpPr>
        <p:spPr bwMode="auto">
          <a:xfrm>
            <a:off x="8634413" y="400685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92951"/>
                                        </p:tgtEl>
                                        <p:attrNameLst>
                                          <p:attrName>style.visibility</p:attrName>
                                        </p:attrNameLst>
                                      </p:cBhvr>
                                      <p:to>
                                        <p:strVal val="visible"/>
                                      </p:to>
                                    </p:set>
                                  </p:childTnLst>
                                </p:cTn>
                              </p:par>
                            </p:childTnLst>
                          </p:cTn>
                        </p:par>
                        <p:par>
                          <p:cTn id="7" fill="hold" nodeType="afterGroup">
                            <p:stCondLst>
                              <p:cond delay="500"/>
                            </p:stCondLst>
                            <p:childTnLst>
                              <p:par>
                                <p:cTn id="8" presetID="5" presetClass="entr" presetSubtype="10" fill="hold" nodeType="afterEffect">
                                  <p:stCondLst>
                                    <p:cond delay="0"/>
                                  </p:stCondLst>
                                  <p:childTnLst>
                                    <p:set>
                                      <p:cBhvr>
                                        <p:cTn id="9" dur="1" fill="hold">
                                          <p:stCondLst>
                                            <p:cond delay="0"/>
                                          </p:stCondLst>
                                        </p:cTn>
                                        <p:tgtEl>
                                          <p:spTgt spid="592949"/>
                                        </p:tgtEl>
                                        <p:attrNameLst>
                                          <p:attrName>style.visibility</p:attrName>
                                        </p:attrNameLst>
                                      </p:cBhvr>
                                      <p:to>
                                        <p:strVal val="visible"/>
                                      </p:to>
                                    </p:set>
                                    <p:animEffect transition="in" filter="checkerboard(across)">
                                      <p:cBhvr>
                                        <p:cTn id="10" dur="500"/>
                                        <p:tgtEl>
                                          <p:spTgt spid="5929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lide Number Placeholder 3"/>
          <p:cNvSpPr>
            <a:spLocks noGrp="1"/>
          </p:cNvSpPr>
          <p:nvPr>
            <p:ph type="sldNum" sz="quarter" idx="10"/>
          </p:nvPr>
        </p:nvSpPr>
        <p:spPr/>
        <p:txBody>
          <a:bodyPr/>
          <a:lstStyle/>
          <a:p>
            <a:fld id="{EF4C47A0-8065-4CC0-899C-C8D0C27A104D}" type="slidenum">
              <a:rPr lang="en-US" altLang="en-US"/>
              <a:pPr/>
              <a:t>76</a:t>
            </a:fld>
            <a:endParaRPr lang="en-US" altLang="en-US"/>
          </a:p>
        </p:txBody>
      </p:sp>
      <p:sp>
        <p:nvSpPr>
          <p:cNvPr id="593922" name="Rectangle 2"/>
          <p:cNvSpPr>
            <a:spLocks noGrp="1" noChangeArrowheads="1"/>
          </p:cNvSpPr>
          <p:nvPr>
            <p:ph type="title"/>
          </p:nvPr>
        </p:nvSpPr>
        <p:spPr/>
        <p:txBody>
          <a:bodyPr/>
          <a:lstStyle/>
          <a:p>
            <a:r>
              <a:rPr lang="en-US" altLang="en-US"/>
              <a:t>ROM Types</a:t>
            </a:r>
          </a:p>
        </p:txBody>
      </p:sp>
      <p:sp>
        <p:nvSpPr>
          <p:cNvPr id="593923" name="Rectangle 3"/>
          <p:cNvSpPr>
            <a:spLocks noGrp="1" noChangeArrowheads="1"/>
          </p:cNvSpPr>
          <p:nvPr>
            <p:ph type="body" idx="1"/>
          </p:nvPr>
        </p:nvSpPr>
        <p:spPr>
          <a:xfrm>
            <a:off x="228600" y="1219200"/>
            <a:ext cx="5218113" cy="4876800"/>
          </a:xfrm>
        </p:spPr>
        <p:txBody>
          <a:bodyPr/>
          <a:lstStyle/>
          <a:p>
            <a:r>
              <a:rPr lang="en-US" altLang="en-US" sz="2000" b="1" i="1">
                <a:solidFill>
                  <a:srgbClr val="0033CC"/>
                </a:solidFill>
              </a:rPr>
              <a:t>Erasable Programmable ROM (EPROM)</a:t>
            </a:r>
          </a:p>
          <a:p>
            <a:pPr lvl="1"/>
            <a:r>
              <a:rPr lang="en-US" altLang="en-US" sz="1800"/>
              <a:t>Uses “floating-gate transistor” in each cell</a:t>
            </a:r>
          </a:p>
          <a:p>
            <a:pPr lvl="1"/>
            <a:r>
              <a:rPr lang="en-US" altLang="en-US" sz="1800"/>
              <a:t>Special programmer device uses higher-than-normal voltage to cause electrons to </a:t>
            </a:r>
            <a:r>
              <a:rPr lang="en-US" altLang="en-US" sz="1800" i="1"/>
              <a:t>tunnel</a:t>
            </a:r>
            <a:r>
              <a:rPr lang="en-US" altLang="en-US" sz="1800"/>
              <a:t> into the gate</a:t>
            </a:r>
          </a:p>
          <a:p>
            <a:pPr lvl="2"/>
            <a:r>
              <a:rPr lang="en-US" altLang="en-US" sz="1600"/>
              <a:t>Electrons become trapped in the gate</a:t>
            </a:r>
          </a:p>
          <a:p>
            <a:pPr lvl="2"/>
            <a:r>
              <a:rPr lang="en-US" altLang="en-US" sz="1600"/>
              <a:t>Only done for cells that should store 0</a:t>
            </a:r>
          </a:p>
          <a:p>
            <a:pPr lvl="2"/>
            <a:r>
              <a:rPr lang="en-US" altLang="en-US" sz="1600"/>
              <a:t>Other cells (without electrons trapped in gate) will be 1</a:t>
            </a:r>
          </a:p>
          <a:p>
            <a:pPr lvl="3"/>
            <a:r>
              <a:rPr lang="en-US" altLang="en-US" sz="1400"/>
              <a:t>2-bit word on right stores “</a:t>
            </a:r>
            <a:r>
              <a:rPr lang="en-US" altLang="en-US" sz="1400">
                <a:solidFill>
                  <a:schemeClr val="accent2"/>
                </a:solidFill>
              </a:rPr>
              <a:t>10</a:t>
            </a:r>
            <a:r>
              <a:rPr lang="en-US" altLang="en-US" sz="1400"/>
              <a:t>”</a:t>
            </a:r>
          </a:p>
          <a:p>
            <a:pPr lvl="2"/>
            <a:r>
              <a:rPr lang="en-US" altLang="en-US" sz="1600"/>
              <a:t>Details beyond our scope – just general idea is necessary here</a:t>
            </a:r>
          </a:p>
          <a:p>
            <a:pPr lvl="1"/>
            <a:r>
              <a:rPr lang="en-US" altLang="en-US" sz="1800"/>
              <a:t>To erase, shine ultraviolet light onto chip</a:t>
            </a:r>
          </a:p>
          <a:p>
            <a:pPr lvl="2"/>
            <a:r>
              <a:rPr lang="en-US" altLang="en-US" sz="1600"/>
              <a:t>Gives trapped electrons energy to escape</a:t>
            </a:r>
          </a:p>
          <a:p>
            <a:pPr lvl="2"/>
            <a:r>
              <a:rPr lang="en-US" altLang="en-US" sz="1600"/>
              <a:t>Requires chip package to have window </a:t>
            </a:r>
          </a:p>
          <a:p>
            <a:pPr lvl="1"/>
            <a:endParaRPr lang="en-US" altLang="en-US" sz="1800"/>
          </a:p>
        </p:txBody>
      </p:sp>
      <p:sp>
        <p:nvSpPr>
          <p:cNvPr id="593944" name="Line 24"/>
          <p:cNvSpPr>
            <a:spLocks noChangeShapeType="1"/>
          </p:cNvSpPr>
          <p:nvPr/>
        </p:nvSpPr>
        <p:spPr bwMode="auto">
          <a:xfrm>
            <a:off x="3306763" y="3778250"/>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3945" name="Line 25"/>
          <p:cNvSpPr>
            <a:spLocks noChangeShapeType="1"/>
          </p:cNvSpPr>
          <p:nvPr/>
        </p:nvSpPr>
        <p:spPr bwMode="auto">
          <a:xfrm>
            <a:off x="3306763" y="3778250"/>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593969" name="Picture 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7850" y="1439863"/>
            <a:ext cx="2916238" cy="1254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3970" name="Line 50"/>
          <p:cNvSpPr>
            <a:spLocks noChangeShapeType="1"/>
          </p:cNvSpPr>
          <p:nvPr/>
        </p:nvSpPr>
        <p:spPr bwMode="auto">
          <a:xfrm flipH="1">
            <a:off x="7677150" y="2441575"/>
            <a:ext cx="481013" cy="102235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3971" name="Rectangle 51"/>
          <p:cNvSpPr>
            <a:spLocks noChangeArrowheads="1"/>
          </p:cNvSpPr>
          <p:nvPr/>
        </p:nvSpPr>
        <p:spPr bwMode="auto">
          <a:xfrm>
            <a:off x="7332663" y="3451225"/>
            <a:ext cx="1146175" cy="1141413"/>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3972" name="Rectangle 52"/>
          <p:cNvSpPr>
            <a:spLocks noChangeArrowheads="1"/>
          </p:cNvSpPr>
          <p:nvPr/>
        </p:nvSpPr>
        <p:spPr bwMode="auto">
          <a:xfrm>
            <a:off x="6022975" y="3451225"/>
            <a:ext cx="1146175" cy="1141413"/>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3973" name="Oval 53"/>
          <p:cNvSpPr>
            <a:spLocks noChangeArrowheads="1"/>
          </p:cNvSpPr>
          <p:nvPr/>
        </p:nvSpPr>
        <p:spPr bwMode="auto">
          <a:xfrm>
            <a:off x="6792913" y="3902075"/>
            <a:ext cx="79375" cy="74613"/>
          </a:xfrm>
          <a:prstGeom prst="ellipse">
            <a:avLst/>
          </a:prstGeom>
          <a:solidFill>
            <a:srgbClr val="000000"/>
          </a:solidFill>
          <a:ln w="9525">
            <a:solidFill>
              <a:srgbClr val="000000"/>
            </a:solidFill>
            <a:miter lim="800000"/>
            <a:headEnd/>
            <a:tailEnd/>
          </a:ln>
        </p:spPr>
        <p:txBody>
          <a:bodyPr/>
          <a:lstStyle/>
          <a:p>
            <a:endParaRPr lang="en-US"/>
          </a:p>
        </p:txBody>
      </p:sp>
      <p:sp>
        <p:nvSpPr>
          <p:cNvPr id="593974" name="Oval 54"/>
          <p:cNvSpPr>
            <a:spLocks noChangeArrowheads="1"/>
          </p:cNvSpPr>
          <p:nvPr/>
        </p:nvSpPr>
        <p:spPr bwMode="auto">
          <a:xfrm>
            <a:off x="6494463" y="4424363"/>
            <a:ext cx="79375" cy="73025"/>
          </a:xfrm>
          <a:prstGeom prst="ellipse">
            <a:avLst/>
          </a:prstGeom>
          <a:solidFill>
            <a:srgbClr val="000000"/>
          </a:solidFill>
          <a:ln w="9525">
            <a:solidFill>
              <a:srgbClr val="000000"/>
            </a:solidFill>
            <a:miter lim="800000"/>
            <a:headEnd/>
            <a:tailEnd/>
          </a:ln>
        </p:spPr>
        <p:txBody>
          <a:bodyPr/>
          <a:lstStyle/>
          <a:p>
            <a:endParaRPr lang="en-US"/>
          </a:p>
        </p:txBody>
      </p:sp>
      <p:sp>
        <p:nvSpPr>
          <p:cNvPr id="593975" name="Oval 55"/>
          <p:cNvSpPr>
            <a:spLocks noChangeArrowheads="1"/>
          </p:cNvSpPr>
          <p:nvPr/>
        </p:nvSpPr>
        <p:spPr bwMode="auto">
          <a:xfrm>
            <a:off x="7813675" y="4424363"/>
            <a:ext cx="79375" cy="73025"/>
          </a:xfrm>
          <a:prstGeom prst="ellipse">
            <a:avLst/>
          </a:prstGeom>
          <a:solidFill>
            <a:srgbClr val="000000"/>
          </a:solidFill>
          <a:ln w="9525">
            <a:solidFill>
              <a:srgbClr val="000000"/>
            </a:solidFill>
            <a:miter lim="800000"/>
            <a:headEnd/>
            <a:tailEnd/>
          </a:ln>
        </p:spPr>
        <p:txBody>
          <a:bodyPr/>
          <a:lstStyle/>
          <a:p>
            <a:endParaRPr lang="en-US"/>
          </a:p>
        </p:txBody>
      </p:sp>
      <p:sp>
        <p:nvSpPr>
          <p:cNvPr id="593976" name="Line 56"/>
          <p:cNvSpPr>
            <a:spLocks noChangeShapeType="1"/>
          </p:cNvSpPr>
          <p:nvPr/>
        </p:nvSpPr>
        <p:spPr bwMode="auto">
          <a:xfrm flipV="1">
            <a:off x="6832600" y="3381375"/>
            <a:ext cx="1588" cy="133032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3977" name="Line 57"/>
          <p:cNvSpPr>
            <a:spLocks noChangeShapeType="1"/>
          </p:cNvSpPr>
          <p:nvPr/>
        </p:nvSpPr>
        <p:spPr bwMode="auto">
          <a:xfrm flipV="1">
            <a:off x="6534150" y="4289425"/>
            <a:ext cx="1588" cy="174625"/>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3978" name="Freeform 58"/>
          <p:cNvSpPr>
            <a:spLocks/>
          </p:cNvSpPr>
          <p:nvPr/>
        </p:nvSpPr>
        <p:spPr bwMode="auto">
          <a:xfrm>
            <a:off x="6167438" y="3605213"/>
            <a:ext cx="833437" cy="476250"/>
          </a:xfrm>
          <a:custGeom>
            <a:avLst/>
            <a:gdLst>
              <a:gd name="T0" fmla="*/ 525 w 525"/>
              <a:gd name="T1" fmla="*/ 209 h 300"/>
              <a:gd name="T2" fmla="*/ 419 w 525"/>
              <a:gd name="T3" fmla="*/ 209 h 300"/>
              <a:gd name="T4" fmla="*/ 312 w 525"/>
              <a:gd name="T5" fmla="*/ 209 h 300"/>
              <a:gd name="T6" fmla="*/ 312 w 525"/>
              <a:gd name="T7" fmla="*/ 300 h 300"/>
              <a:gd name="T8" fmla="*/ 150 w 525"/>
              <a:gd name="T9" fmla="*/ 300 h 300"/>
              <a:gd name="T10" fmla="*/ 150 w 525"/>
              <a:gd name="T11" fmla="*/ 209 h 300"/>
              <a:gd name="T12" fmla="*/ 0 w 525"/>
              <a:gd name="T13" fmla="*/ 209 h 300"/>
              <a:gd name="T14" fmla="*/ 0 w 525"/>
              <a:gd name="T15" fmla="*/ 181 h 300"/>
              <a:gd name="T16" fmla="*/ 0 w 525"/>
              <a:gd name="T1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5" h="300">
                <a:moveTo>
                  <a:pt x="525" y="209"/>
                </a:moveTo>
                <a:lnTo>
                  <a:pt x="419" y="209"/>
                </a:lnTo>
                <a:lnTo>
                  <a:pt x="312" y="209"/>
                </a:lnTo>
                <a:lnTo>
                  <a:pt x="312" y="300"/>
                </a:lnTo>
                <a:lnTo>
                  <a:pt x="150" y="300"/>
                </a:lnTo>
                <a:lnTo>
                  <a:pt x="150" y="209"/>
                </a:lnTo>
                <a:lnTo>
                  <a:pt x="0" y="209"/>
                </a:lnTo>
                <a:lnTo>
                  <a:pt x="0" y="181"/>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3979" name="Oval 59"/>
          <p:cNvSpPr>
            <a:spLocks noChangeArrowheads="1"/>
          </p:cNvSpPr>
          <p:nvPr/>
        </p:nvSpPr>
        <p:spPr bwMode="auto">
          <a:xfrm>
            <a:off x="8112125" y="3902075"/>
            <a:ext cx="79375" cy="74613"/>
          </a:xfrm>
          <a:prstGeom prst="ellipse">
            <a:avLst/>
          </a:prstGeom>
          <a:solidFill>
            <a:srgbClr val="000000"/>
          </a:solidFill>
          <a:ln w="9525">
            <a:solidFill>
              <a:srgbClr val="000000"/>
            </a:solidFill>
            <a:miter lim="800000"/>
            <a:headEnd/>
            <a:tailEnd/>
          </a:ln>
        </p:spPr>
        <p:txBody>
          <a:bodyPr/>
          <a:lstStyle/>
          <a:p>
            <a:endParaRPr lang="en-US"/>
          </a:p>
        </p:txBody>
      </p:sp>
      <p:sp>
        <p:nvSpPr>
          <p:cNvPr id="593980" name="Line 60"/>
          <p:cNvSpPr>
            <a:spLocks noChangeShapeType="1"/>
          </p:cNvSpPr>
          <p:nvPr/>
        </p:nvSpPr>
        <p:spPr bwMode="auto">
          <a:xfrm flipV="1">
            <a:off x="8151813" y="3381375"/>
            <a:ext cx="1587" cy="133985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3981" name="Line 61"/>
          <p:cNvSpPr>
            <a:spLocks noChangeShapeType="1"/>
          </p:cNvSpPr>
          <p:nvPr/>
        </p:nvSpPr>
        <p:spPr bwMode="auto">
          <a:xfrm flipV="1">
            <a:off x="7853363" y="4338638"/>
            <a:ext cx="1587" cy="12541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3982" name="Freeform 62"/>
          <p:cNvSpPr>
            <a:spLocks/>
          </p:cNvSpPr>
          <p:nvPr/>
        </p:nvSpPr>
        <p:spPr bwMode="auto">
          <a:xfrm>
            <a:off x="7486650" y="3605213"/>
            <a:ext cx="833438" cy="476250"/>
          </a:xfrm>
          <a:custGeom>
            <a:avLst/>
            <a:gdLst>
              <a:gd name="T0" fmla="*/ 525 w 525"/>
              <a:gd name="T1" fmla="*/ 209 h 300"/>
              <a:gd name="T2" fmla="*/ 419 w 525"/>
              <a:gd name="T3" fmla="*/ 209 h 300"/>
              <a:gd name="T4" fmla="*/ 313 w 525"/>
              <a:gd name="T5" fmla="*/ 209 h 300"/>
              <a:gd name="T6" fmla="*/ 313 w 525"/>
              <a:gd name="T7" fmla="*/ 300 h 300"/>
              <a:gd name="T8" fmla="*/ 150 w 525"/>
              <a:gd name="T9" fmla="*/ 300 h 300"/>
              <a:gd name="T10" fmla="*/ 150 w 525"/>
              <a:gd name="T11" fmla="*/ 209 h 300"/>
              <a:gd name="T12" fmla="*/ 0 w 525"/>
              <a:gd name="T13" fmla="*/ 209 h 300"/>
              <a:gd name="T14" fmla="*/ 0 w 525"/>
              <a:gd name="T15" fmla="*/ 193 h 300"/>
              <a:gd name="T16" fmla="*/ 0 w 525"/>
              <a:gd name="T17" fmla="*/ 0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5" h="300">
                <a:moveTo>
                  <a:pt x="525" y="209"/>
                </a:moveTo>
                <a:lnTo>
                  <a:pt x="419" y="209"/>
                </a:lnTo>
                <a:lnTo>
                  <a:pt x="313" y="209"/>
                </a:lnTo>
                <a:lnTo>
                  <a:pt x="313" y="300"/>
                </a:lnTo>
                <a:lnTo>
                  <a:pt x="150" y="300"/>
                </a:lnTo>
                <a:lnTo>
                  <a:pt x="150" y="209"/>
                </a:lnTo>
                <a:lnTo>
                  <a:pt x="0" y="209"/>
                </a:lnTo>
                <a:lnTo>
                  <a:pt x="0" y="193"/>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3983" name="Rectangle 63"/>
          <p:cNvSpPr>
            <a:spLocks noChangeArrowheads="1"/>
          </p:cNvSpPr>
          <p:nvPr/>
        </p:nvSpPr>
        <p:spPr bwMode="auto">
          <a:xfrm>
            <a:off x="6904038" y="3482975"/>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593984" name="Rectangle 64"/>
          <p:cNvSpPr>
            <a:spLocks noChangeArrowheads="1"/>
          </p:cNvSpPr>
          <p:nvPr/>
        </p:nvSpPr>
        <p:spPr bwMode="auto">
          <a:xfrm>
            <a:off x="6973888" y="348297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ell</a:t>
            </a:r>
            <a:endParaRPr lang="en-US" altLang="en-US" sz="2400"/>
          </a:p>
        </p:txBody>
      </p:sp>
      <p:sp>
        <p:nvSpPr>
          <p:cNvPr id="593985" name="Rectangle 65"/>
          <p:cNvSpPr>
            <a:spLocks noChangeArrowheads="1"/>
          </p:cNvSpPr>
          <p:nvPr/>
        </p:nvSpPr>
        <p:spPr bwMode="auto">
          <a:xfrm>
            <a:off x="8208963" y="3482975"/>
            <a:ext cx="7302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a:t>
            </a:r>
            <a:endParaRPr lang="en-US" altLang="en-US" sz="2400"/>
          </a:p>
        </p:txBody>
      </p:sp>
      <p:sp>
        <p:nvSpPr>
          <p:cNvPr id="593986" name="Rectangle 66"/>
          <p:cNvSpPr>
            <a:spLocks noChangeArrowheads="1"/>
          </p:cNvSpPr>
          <p:nvPr/>
        </p:nvSpPr>
        <p:spPr bwMode="auto">
          <a:xfrm>
            <a:off x="8278813" y="3482975"/>
            <a:ext cx="1651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ell</a:t>
            </a:r>
            <a:endParaRPr lang="en-US" altLang="en-US" sz="2400"/>
          </a:p>
        </p:txBody>
      </p:sp>
      <p:sp>
        <p:nvSpPr>
          <p:cNvPr id="593987" name="Line 67"/>
          <p:cNvSpPr>
            <a:spLocks noChangeShapeType="1"/>
          </p:cNvSpPr>
          <p:nvPr/>
        </p:nvSpPr>
        <p:spPr bwMode="auto">
          <a:xfrm>
            <a:off x="5740400" y="4457700"/>
            <a:ext cx="2822575"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3988" name="Rectangle 68"/>
          <p:cNvSpPr>
            <a:spLocks noChangeArrowheads="1"/>
          </p:cNvSpPr>
          <p:nvPr/>
        </p:nvSpPr>
        <p:spPr bwMode="auto">
          <a:xfrm>
            <a:off x="5589588" y="4092575"/>
            <a:ext cx="3587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word</a:t>
            </a:r>
            <a:endParaRPr lang="en-US" altLang="en-US" sz="2400"/>
          </a:p>
        </p:txBody>
      </p:sp>
      <p:sp>
        <p:nvSpPr>
          <p:cNvPr id="593992" name="Rectangle 72"/>
          <p:cNvSpPr>
            <a:spLocks noChangeArrowheads="1"/>
          </p:cNvSpPr>
          <p:nvPr/>
        </p:nvSpPr>
        <p:spPr bwMode="auto">
          <a:xfrm>
            <a:off x="5534025" y="4268788"/>
            <a:ext cx="4302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enable</a:t>
            </a:r>
            <a:endParaRPr lang="en-US" altLang="en-US" sz="2400"/>
          </a:p>
        </p:txBody>
      </p:sp>
      <p:sp>
        <p:nvSpPr>
          <p:cNvPr id="593993" name="Rectangle 73"/>
          <p:cNvSpPr>
            <a:spLocks noChangeArrowheads="1"/>
          </p:cNvSpPr>
          <p:nvPr/>
        </p:nvSpPr>
        <p:spPr bwMode="auto">
          <a:xfrm>
            <a:off x="6551613" y="3189288"/>
            <a:ext cx="6254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 line</a:t>
            </a:r>
            <a:endParaRPr lang="en-US" altLang="en-US" sz="2400"/>
          </a:p>
        </p:txBody>
      </p:sp>
      <p:sp>
        <p:nvSpPr>
          <p:cNvPr id="593996" name="Rectangle 76"/>
          <p:cNvSpPr>
            <a:spLocks noChangeArrowheads="1"/>
          </p:cNvSpPr>
          <p:nvPr/>
        </p:nvSpPr>
        <p:spPr bwMode="auto">
          <a:xfrm>
            <a:off x="7861300" y="3189288"/>
            <a:ext cx="6254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 line</a:t>
            </a:r>
            <a:endParaRPr lang="en-US" altLang="en-US" sz="2400"/>
          </a:p>
        </p:txBody>
      </p:sp>
      <p:sp>
        <p:nvSpPr>
          <p:cNvPr id="594000" name="Line 80"/>
          <p:cNvSpPr>
            <a:spLocks noChangeShapeType="1"/>
          </p:cNvSpPr>
          <p:nvPr/>
        </p:nvSpPr>
        <p:spPr bwMode="auto">
          <a:xfrm flipV="1">
            <a:off x="6167438" y="3605213"/>
            <a:ext cx="1587" cy="63500"/>
          </a:xfrm>
          <a:prstGeom prst="line">
            <a:avLst/>
          </a:prstGeom>
          <a:noFill/>
          <a:ln w="47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01" name="Line 81"/>
          <p:cNvSpPr>
            <a:spLocks noChangeShapeType="1"/>
          </p:cNvSpPr>
          <p:nvPr/>
        </p:nvSpPr>
        <p:spPr bwMode="auto">
          <a:xfrm>
            <a:off x="6062663" y="3605213"/>
            <a:ext cx="207962"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02" name="Line 82"/>
          <p:cNvSpPr>
            <a:spLocks noChangeShapeType="1"/>
          </p:cNvSpPr>
          <p:nvPr/>
        </p:nvSpPr>
        <p:spPr bwMode="auto">
          <a:xfrm>
            <a:off x="6097588" y="3570288"/>
            <a:ext cx="128587"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03" name="Line 83"/>
          <p:cNvSpPr>
            <a:spLocks noChangeShapeType="1"/>
          </p:cNvSpPr>
          <p:nvPr/>
        </p:nvSpPr>
        <p:spPr bwMode="auto">
          <a:xfrm>
            <a:off x="6137275" y="3530600"/>
            <a:ext cx="53975"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04" name="Line 84"/>
          <p:cNvSpPr>
            <a:spLocks noChangeShapeType="1"/>
          </p:cNvSpPr>
          <p:nvPr/>
        </p:nvSpPr>
        <p:spPr bwMode="auto">
          <a:xfrm flipV="1">
            <a:off x="7481888" y="3605213"/>
            <a:ext cx="1587" cy="63500"/>
          </a:xfrm>
          <a:prstGeom prst="line">
            <a:avLst/>
          </a:prstGeom>
          <a:noFill/>
          <a:ln w="47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05" name="Line 85"/>
          <p:cNvSpPr>
            <a:spLocks noChangeShapeType="1"/>
          </p:cNvSpPr>
          <p:nvPr/>
        </p:nvSpPr>
        <p:spPr bwMode="auto">
          <a:xfrm>
            <a:off x="7377113" y="3605213"/>
            <a:ext cx="209550"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06" name="Line 86"/>
          <p:cNvSpPr>
            <a:spLocks noChangeShapeType="1"/>
          </p:cNvSpPr>
          <p:nvPr/>
        </p:nvSpPr>
        <p:spPr bwMode="auto">
          <a:xfrm>
            <a:off x="7416800" y="3570288"/>
            <a:ext cx="130175" cy="1587"/>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07" name="Line 87"/>
          <p:cNvSpPr>
            <a:spLocks noChangeShapeType="1"/>
          </p:cNvSpPr>
          <p:nvPr/>
        </p:nvSpPr>
        <p:spPr bwMode="auto">
          <a:xfrm>
            <a:off x="7451725" y="3530600"/>
            <a:ext cx="60325" cy="158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08" name="Rectangle 88"/>
          <p:cNvSpPr>
            <a:spLocks noChangeArrowheads="1"/>
          </p:cNvSpPr>
          <p:nvPr/>
        </p:nvSpPr>
        <p:spPr bwMode="auto">
          <a:xfrm>
            <a:off x="7707313" y="4141788"/>
            <a:ext cx="730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a:t>
            </a:r>
            <a:endParaRPr lang="en-US" altLang="en-US" sz="2400"/>
          </a:p>
        </p:txBody>
      </p:sp>
      <p:sp>
        <p:nvSpPr>
          <p:cNvPr id="594009" name="Rectangle 89"/>
          <p:cNvSpPr>
            <a:spLocks noChangeArrowheads="1"/>
          </p:cNvSpPr>
          <p:nvPr/>
        </p:nvSpPr>
        <p:spPr bwMode="auto">
          <a:xfrm>
            <a:off x="7778750" y="4116388"/>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Ð</a:t>
            </a:r>
            <a:endParaRPr lang="en-US" altLang="en-US" sz="2400"/>
          </a:p>
        </p:txBody>
      </p:sp>
      <p:sp>
        <p:nvSpPr>
          <p:cNvPr id="594010" name="Rectangle 90"/>
          <p:cNvSpPr>
            <a:spLocks noChangeArrowheads="1"/>
          </p:cNvSpPr>
          <p:nvPr/>
        </p:nvSpPr>
        <p:spPr bwMode="auto">
          <a:xfrm>
            <a:off x="7850188" y="4141788"/>
            <a:ext cx="730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a:t>
            </a:r>
            <a:endParaRPr lang="en-US" altLang="en-US" sz="2400"/>
          </a:p>
        </p:txBody>
      </p:sp>
      <p:sp>
        <p:nvSpPr>
          <p:cNvPr id="594011" name="Rectangle 91"/>
          <p:cNvSpPr>
            <a:spLocks noChangeArrowheads="1"/>
          </p:cNvSpPr>
          <p:nvPr/>
        </p:nvSpPr>
        <p:spPr bwMode="auto">
          <a:xfrm>
            <a:off x="7923213" y="4116388"/>
            <a:ext cx="92075"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Ð</a:t>
            </a:r>
            <a:endParaRPr lang="en-US" altLang="en-US" sz="2400"/>
          </a:p>
        </p:txBody>
      </p:sp>
      <p:sp>
        <p:nvSpPr>
          <p:cNvPr id="594012" name="Rectangle 92"/>
          <p:cNvSpPr>
            <a:spLocks noChangeArrowheads="1"/>
          </p:cNvSpPr>
          <p:nvPr/>
        </p:nvSpPr>
        <p:spPr bwMode="auto">
          <a:xfrm>
            <a:off x="6400800" y="4144963"/>
            <a:ext cx="266700" cy="139700"/>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013" name="Rectangle 93"/>
          <p:cNvSpPr>
            <a:spLocks noChangeArrowheads="1"/>
          </p:cNvSpPr>
          <p:nvPr/>
        </p:nvSpPr>
        <p:spPr bwMode="auto">
          <a:xfrm>
            <a:off x="7675563" y="4144963"/>
            <a:ext cx="352425" cy="188912"/>
          </a:xfrm>
          <a:prstGeom prst="rect">
            <a:avLst/>
          </a:prstGeom>
          <a:noFill/>
          <a:ln w="1905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4014" name="Rectangle 94"/>
          <p:cNvSpPr>
            <a:spLocks noChangeArrowheads="1"/>
          </p:cNvSpPr>
          <p:nvPr/>
        </p:nvSpPr>
        <p:spPr bwMode="auto">
          <a:xfrm>
            <a:off x="5654675" y="43275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a:t>
            </a:r>
            <a:endParaRPr lang="en-US" altLang="en-US" sz="2400"/>
          </a:p>
        </p:txBody>
      </p:sp>
      <p:sp>
        <p:nvSpPr>
          <p:cNvPr id="594015" name="Rectangle 95"/>
          <p:cNvSpPr>
            <a:spLocks noChangeArrowheads="1"/>
          </p:cNvSpPr>
          <p:nvPr/>
        </p:nvSpPr>
        <p:spPr bwMode="auto">
          <a:xfrm>
            <a:off x="5654675" y="4259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ting</a:t>
            </a:r>
            <a:endParaRPr lang="en-US" altLang="en-US" sz="2400"/>
          </a:p>
        </p:txBody>
      </p:sp>
      <p:sp>
        <p:nvSpPr>
          <p:cNvPr id="594016" name="Rectangle 96"/>
          <p:cNvSpPr>
            <a:spLocks noChangeArrowheads="1"/>
          </p:cNvSpPr>
          <p:nvPr/>
        </p:nvSpPr>
        <p:spPr bwMode="auto">
          <a:xfrm>
            <a:off x="5834063" y="46783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g</a:t>
            </a:r>
            <a:endParaRPr lang="en-US" altLang="en-US" sz="2400"/>
          </a:p>
        </p:txBody>
      </p:sp>
      <p:sp>
        <p:nvSpPr>
          <p:cNvPr id="594017" name="Rectangle 97"/>
          <p:cNvSpPr>
            <a:spLocks noChangeArrowheads="1"/>
          </p:cNvSpPr>
          <p:nvPr/>
        </p:nvSpPr>
        <p:spPr bwMode="auto">
          <a:xfrm>
            <a:off x="5834063" y="45989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a:t>
            </a:r>
            <a:endParaRPr lang="en-US" altLang="en-US" sz="2400"/>
          </a:p>
        </p:txBody>
      </p:sp>
      <p:sp>
        <p:nvSpPr>
          <p:cNvPr id="594018" name="Rectangle 98"/>
          <p:cNvSpPr>
            <a:spLocks noChangeArrowheads="1"/>
          </p:cNvSpPr>
          <p:nvPr/>
        </p:nvSpPr>
        <p:spPr bwMode="auto">
          <a:xfrm>
            <a:off x="5834063" y="45307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t</a:t>
            </a:r>
            <a:endParaRPr lang="en-US" altLang="en-US" sz="2400"/>
          </a:p>
        </p:txBody>
      </p:sp>
      <p:sp>
        <p:nvSpPr>
          <p:cNvPr id="594019" name="Rectangle 99"/>
          <p:cNvSpPr>
            <a:spLocks noChangeArrowheads="1"/>
          </p:cNvSpPr>
          <p:nvPr/>
        </p:nvSpPr>
        <p:spPr bwMode="auto">
          <a:xfrm>
            <a:off x="5834063" y="44846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t</a:t>
            </a:r>
            <a:endParaRPr lang="en-US" altLang="en-US" sz="2400"/>
          </a:p>
        </p:txBody>
      </p:sp>
      <p:sp>
        <p:nvSpPr>
          <p:cNvPr id="594020" name="Rectangle 100"/>
          <p:cNvSpPr>
            <a:spLocks noChangeArrowheads="1"/>
          </p:cNvSpPr>
          <p:nvPr/>
        </p:nvSpPr>
        <p:spPr bwMode="auto">
          <a:xfrm>
            <a:off x="5834063" y="43354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594021" name="Rectangle 101"/>
          <p:cNvSpPr>
            <a:spLocks noChangeArrowheads="1"/>
          </p:cNvSpPr>
          <p:nvPr/>
        </p:nvSpPr>
        <p:spPr bwMode="auto">
          <a:xfrm>
            <a:off x="5834063" y="39941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t</a:t>
            </a:r>
            <a:endParaRPr lang="en-US" altLang="en-US" sz="2400"/>
          </a:p>
        </p:txBody>
      </p:sp>
      <p:sp>
        <p:nvSpPr>
          <p:cNvPr id="594022" name="Rectangle 102"/>
          <p:cNvSpPr>
            <a:spLocks noChangeArrowheads="1"/>
          </p:cNvSpPr>
          <p:nvPr/>
        </p:nvSpPr>
        <p:spPr bwMode="auto">
          <a:xfrm>
            <a:off x="5834063" y="39481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or</a:t>
            </a:r>
            <a:endParaRPr lang="en-US" altLang="en-US" sz="2400"/>
          </a:p>
        </p:txBody>
      </p:sp>
      <p:sp>
        <p:nvSpPr>
          <p:cNvPr id="594023" name="Line 103"/>
          <p:cNvSpPr>
            <a:spLocks noChangeShapeType="1"/>
          </p:cNvSpPr>
          <p:nvPr/>
        </p:nvSpPr>
        <p:spPr bwMode="auto">
          <a:xfrm>
            <a:off x="5880100" y="3659188"/>
            <a:ext cx="619125" cy="4572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24" name="Rectangle 104"/>
          <p:cNvSpPr>
            <a:spLocks noChangeArrowheads="1"/>
          </p:cNvSpPr>
          <p:nvPr/>
        </p:nvSpPr>
        <p:spPr bwMode="auto">
          <a:xfrm>
            <a:off x="6983413" y="4643438"/>
            <a:ext cx="12795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trapped electrons</a:t>
            </a:r>
            <a:endParaRPr lang="en-US" altLang="en-US" sz="2400"/>
          </a:p>
        </p:txBody>
      </p:sp>
      <p:sp>
        <p:nvSpPr>
          <p:cNvPr id="594031" name="Line 111"/>
          <p:cNvSpPr>
            <a:spLocks noChangeShapeType="1"/>
          </p:cNvSpPr>
          <p:nvPr/>
        </p:nvSpPr>
        <p:spPr bwMode="auto">
          <a:xfrm flipV="1">
            <a:off x="7348538" y="4244975"/>
            <a:ext cx="317500" cy="40640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4032" name="Rectangle 112"/>
          <p:cNvSpPr>
            <a:spLocks noChangeArrowheads="1"/>
          </p:cNvSpPr>
          <p:nvPr/>
        </p:nvSpPr>
        <p:spPr bwMode="auto">
          <a:xfrm>
            <a:off x="8034338" y="3735388"/>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chemeClr val="accent2"/>
                </a:solidFill>
                <a:latin typeface="Myriad Roman" charset="0"/>
              </a:rPr>
              <a:t>0</a:t>
            </a:r>
            <a:endParaRPr lang="en-US" altLang="en-US" sz="2400">
              <a:solidFill>
                <a:schemeClr val="accent2"/>
              </a:solidFill>
            </a:endParaRPr>
          </a:p>
        </p:txBody>
      </p:sp>
      <p:sp>
        <p:nvSpPr>
          <p:cNvPr id="594033" name="Rectangle 113"/>
          <p:cNvSpPr>
            <a:spLocks noChangeArrowheads="1"/>
          </p:cNvSpPr>
          <p:nvPr/>
        </p:nvSpPr>
        <p:spPr bwMode="auto">
          <a:xfrm>
            <a:off x="6705600" y="3735388"/>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chemeClr val="accent2"/>
                </a:solidFill>
                <a:latin typeface="Myriad Roman" charset="0"/>
              </a:rPr>
              <a:t>1</a:t>
            </a:r>
            <a:endParaRPr lang="en-US" altLang="en-US" sz="2400">
              <a:solidFill>
                <a:schemeClr val="accent2"/>
              </a:solidFill>
            </a:endParaRPr>
          </a:p>
        </p:txBody>
      </p:sp>
      <p:sp>
        <p:nvSpPr>
          <p:cNvPr id="594034" name="Text Box 114"/>
          <p:cNvSpPr txBox="1">
            <a:spLocks noChangeArrowheads="1"/>
          </p:cNvSpPr>
          <p:nvPr/>
        </p:nvSpPr>
        <p:spPr bwMode="auto">
          <a:xfrm rot="-5400000">
            <a:off x="5070476" y="3294062"/>
            <a:ext cx="11366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t>floating-gate </a:t>
            </a:r>
          </a:p>
          <a:p>
            <a:r>
              <a:rPr lang="en-US" altLang="en-US" sz="1400"/>
              <a:t>transistor</a:t>
            </a:r>
          </a:p>
        </p:txBody>
      </p:sp>
      <p:pic>
        <p:nvPicPr>
          <p:cNvPr id="594035" name="Picture 1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7488" y="5194300"/>
            <a:ext cx="1617662" cy="1389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Slide Number Placeholder 3"/>
          <p:cNvSpPr>
            <a:spLocks noGrp="1"/>
          </p:cNvSpPr>
          <p:nvPr>
            <p:ph type="sldNum" sz="quarter" idx="10"/>
          </p:nvPr>
        </p:nvSpPr>
        <p:spPr/>
        <p:txBody>
          <a:bodyPr/>
          <a:lstStyle/>
          <a:p>
            <a:fld id="{51F8F91D-F11E-4C13-9439-97D03F1DFB5F}" type="slidenum">
              <a:rPr lang="en-US" altLang="en-US"/>
              <a:pPr/>
              <a:t>77</a:t>
            </a:fld>
            <a:endParaRPr lang="en-US" altLang="en-US"/>
          </a:p>
        </p:txBody>
      </p:sp>
      <p:sp>
        <p:nvSpPr>
          <p:cNvPr id="594946" name="Rectangle 2"/>
          <p:cNvSpPr>
            <a:spLocks noGrp="1" noChangeArrowheads="1"/>
          </p:cNvSpPr>
          <p:nvPr>
            <p:ph type="title"/>
          </p:nvPr>
        </p:nvSpPr>
        <p:spPr/>
        <p:txBody>
          <a:bodyPr/>
          <a:lstStyle/>
          <a:p>
            <a:r>
              <a:rPr lang="en-US" altLang="en-US"/>
              <a:t>ROM Types</a:t>
            </a:r>
          </a:p>
        </p:txBody>
      </p:sp>
      <p:sp>
        <p:nvSpPr>
          <p:cNvPr id="594947" name="Rectangle 3"/>
          <p:cNvSpPr>
            <a:spLocks noGrp="1" noChangeArrowheads="1"/>
          </p:cNvSpPr>
          <p:nvPr>
            <p:ph type="body" idx="1"/>
          </p:nvPr>
        </p:nvSpPr>
        <p:spPr>
          <a:xfrm>
            <a:off x="228600" y="1219200"/>
            <a:ext cx="6419850" cy="4876800"/>
          </a:xfrm>
        </p:spPr>
        <p:txBody>
          <a:bodyPr/>
          <a:lstStyle/>
          <a:p>
            <a:pPr>
              <a:lnSpc>
                <a:spcPct val="90000"/>
              </a:lnSpc>
            </a:pPr>
            <a:r>
              <a:rPr lang="en-US" altLang="en-US" sz="2000" b="1" i="1">
                <a:solidFill>
                  <a:srgbClr val="0033CC"/>
                </a:solidFill>
              </a:rPr>
              <a:t>Electronically-Erasable Programmable ROM (EEPROM)</a:t>
            </a:r>
          </a:p>
          <a:p>
            <a:pPr lvl="1">
              <a:lnSpc>
                <a:spcPct val="90000"/>
              </a:lnSpc>
            </a:pPr>
            <a:r>
              <a:rPr lang="en-US" altLang="en-US" sz="1800"/>
              <a:t>Similar to EPROM</a:t>
            </a:r>
          </a:p>
          <a:p>
            <a:pPr lvl="2">
              <a:lnSpc>
                <a:spcPct val="90000"/>
              </a:lnSpc>
            </a:pPr>
            <a:r>
              <a:rPr lang="en-US" altLang="en-US" sz="1600"/>
              <a:t>Uses floating-gate transistor, electronic programming to trap electrons in certain cells</a:t>
            </a:r>
          </a:p>
          <a:p>
            <a:pPr lvl="1">
              <a:lnSpc>
                <a:spcPct val="90000"/>
              </a:lnSpc>
            </a:pPr>
            <a:r>
              <a:rPr lang="en-US" altLang="en-US" sz="1800"/>
              <a:t>But erasing done </a:t>
            </a:r>
            <a:r>
              <a:rPr lang="en-US" altLang="en-US" sz="1800" i="1"/>
              <a:t>electronically</a:t>
            </a:r>
            <a:r>
              <a:rPr lang="en-US" altLang="en-US" sz="1800"/>
              <a:t>, not using UV light</a:t>
            </a:r>
          </a:p>
          <a:p>
            <a:pPr lvl="1">
              <a:lnSpc>
                <a:spcPct val="90000"/>
              </a:lnSpc>
            </a:pPr>
            <a:r>
              <a:rPr lang="en-US" altLang="en-US" sz="1800"/>
              <a:t>Erasing done one word at a time</a:t>
            </a:r>
          </a:p>
          <a:p>
            <a:pPr>
              <a:lnSpc>
                <a:spcPct val="90000"/>
              </a:lnSpc>
            </a:pPr>
            <a:r>
              <a:rPr lang="en-US" altLang="en-US" sz="2000" b="1" i="1">
                <a:solidFill>
                  <a:srgbClr val="0033CC"/>
                </a:solidFill>
              </a:rPr>
              <a:t>Flash memory</a:t>
            </a:r>
          </a:p>
          <a:p>
            <a:pPr lvl="1">
              <a:lnSpc>
                <a:spcPct val="90000"/>
              </a:lnSpc>
            </a:pPr>
            <a:r>
              <a:rPr lang="en-US" altLang="en-US" sz="1800"/>
              <a:t>Like EEPROM, but all words (or large blocks of words) can be erased </a:t>
            </a:r>
            <a:r>
              <a:rPr lang="en-US" altLang="en-US" sz="1800" i="1"/>
              <a:t>simultaneously</a:t>
            </a:r>
          </a:p>
          <a:p>
            <a:pPr lvl="1">
              <a:lnSpc>
                <a:spcPct val="90000"/>
              </a:lnSpc>
            </a:pPr>
            <a:r>
              <a:rPr lang="en-US" altLang="en-US" sz="1800"/>
              <a:t>Become common relatively recently (late 1990s)</a:t>
            </a:r>
          </a:p>
          <a:p>
            <a:pPr>
              <a:lnSpc>
                <a:spcPct val="90000"/>
              </a:lnSpc>
            </a:pPr>
            <a:r>
              <a:rPr lang="en-US" altLang="en-US" sz="2000"/>
              <a:t>Both types are in-system programmable</a:t>
            </a:r>
          </a:p>
          <a:p>
            <a:pPr lvl="1">
              <a:lnSpc>
                <a:spcPct val="90000"/>
              </a:lnSpc>
            </a:pPr>
            <a:r>
              <a:rPr lang="en-US" altLang="en-US" sz="1800"/>
              <a:t>Can be programmed with new stored bits while in the system in which the ROM operates</a:t>
            </a:r>
          </a:p>
          <a:p>
            <a:pPr lvl="2">
              <a:lnSpc>
                <a:spcPct val="90000"/>
              </a:lnSpc>
            </a:pPr>
            <a:r>
              <a:rPr lang="en-US" altLang="en-US" sz="1600"/>
              <a:t>Requires bi-directional data lines, and write control input</a:t>
            </a:r>
          </a:p>
          <a:p>
            <a:pPr lvl="2">
              <a:lnSpc>
                <a:spcPct val="90000"/>
              </a:lnSpc>
            </a:pPr>
            <a:r>
              <a:rPr lang="en-US" altLang="en-US" sz="1600"/>
              <a:t>Also need busy output to indicate that erasing is in progress – erasing takes some time</a:t>
            </a:r>
          </a:p>
          <a:p>
            <a:pPr lvl="1">
              <a:lnSpc>
                <a:spcPct val="90000"/>
              </a:lnSpc>
            </a:pPr>
            <a:endParaRPr lang="en-US" altLang="en-US" sz="1800"/>
          </a:p>
          <a:p>
            <a:pPr lvl="1">
              <a:lnSpc>
                <a:spcPct val="90000"/>
              </a:lnSpc>
            </a:pPr>
            <a:endParaRPr lang="en-US" altLang="en-US" sz="1800"/>
          </a:p>
        </p:txBody>
      </p:sp>
      <p:sp>
        <p:nvSpPr>
          <p:cNvPr id="594948" name="Line 4"/>
          <p:cNvSpPr>
            <a:spLocks noChangeShapeType="1"/>
          </p:cNvSpPr>
          <p:nvPr/>
        </p:nvSpPr>
        <p:spPr bwMode="auto">
          <a:xfrm>
            <a:off x="3306763" y="3778250"/>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4949" name="Line 5"/>
          <p:cNvSpPr>
            <a:spLocks noChangeShapeType="1"/>
          </p:cNvSpPr>
          <p:nvPr/>
        </p:nvSpPr>
        <p:spPr bwMode="auto">
          <a:xfrm>
            <a:off x="3306763" y="3778250"/>
            <a:ext cx="1587" cy="15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4994" name="Rectangle 50"/>
          <p:cNvSpPr>
            <a:spLocks noChangeArrowheads="1"/>
          </p:cNvSpPr>
          <p:nvPr/>
        </p:nvSpPr>
        <p:spPr bwMode="auto">
          <a:xfrm>
            <a:off x="5654675" y="43275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a:t>
            </a:r>
            <a:endParaRPr lang="en-US" altLang="en-US" sz="2400"/>
          </a:p>
        </p:txBody>
      </p:sp>
      <p:sp>
        <p:nvSpPr>
          <p:cNvPr id="594995" name="Rectangle 51"/>
          <p:cNvSpPr>
            <a:spLocks noChangeArrowheads="1"/>
          </p:cNvSpPr>
          <p:nvPr/>
        </p:nvSpPr>
        <p:spPr bwMode="auto">
          <a:xfrm>
            <a:off x="5654675" y="4259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ting</a:t>
            </a:r>
            <a:endParaRPr lang="en-US" altLang="en-US" sz="2400"/>
          </a:p>
        </p:txBody>
      </p:sp>
      <p:sp>
        <p:nvSpPr>
          <p:cNvPr id="594996" name="Rectangle 52"/>
          <p:cNvSpPr>
            <a:spLocks noChangeArrowheads="1"/>
          </p:cNvSpPr>
          <p:nvPr/>
        </p:nvSpPr>
        <p:spPr bwMode="auto">
          <a:xfrm>
            <a:off x="5834063" y="46783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g</a:t>
            </a:r>
            <a:endParaRPr lang="en-US" altLang="en-US" sz="2400"/>
          </a:p>
        </p:txBody>
      </p:sp>
      <p:sp>
        <p:nvSpPr>
          <p:cNvPr id="594997" name="Rectangle 53"/>
          <p:cNvSpPr>
            <a:spLocks noChangeArrowheads="1"/>
          </p:cNvSpPr>
          <p:nvPr/>
        </p:nvSpPr>
        <p:spPr bwMode="auto">
          <a:xfrm>
            <a:off x="5834063" y="45989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a:t>
            </a:r>
            <a:endParaRPr lang="en-US" altLang="en-US" sz="2400"/>
          </a:p>
        </p:txBody>
      </p:sp>
      <p:sp>
        <p:nvSpPr>
          <p:cNvPr id="594998" name="Rectangle 54"/>
          <p:cNvSpPr>
            <a:spLocks noChangeArrowheads="1"/>
          </p:cNvSpPr>
          <p:nvPr/>
        </p:nvSpPr>
        <p:spPr bwMode="auto">
          <a:xfrm>
            <a:off x="5834063" y="45307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t</a:t>
            </a:r>
            <a:endParaRPr lang="en-US" altLang="en-US" sz="2400"/>
          </a:p>
        </p:txBody>
      </p:sp>
      <p:sp>
        <p:nvSpPr>
          <p:cNvPr id="594999" name="Rectangle 55"/>
          <p:cNvSpPr>
            <a:spLocks noChangeArrowheads="1"/>
          </p:cNvSpPr>
          <p:nvPr/>
        </p:nvSpPr>
        <p:spPr bwMode="auto">
          <a:xfrm>
            <a:off x="5834063" y="44846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t</a:t>
            </a:r>
            <a:endParaRPr lang="en-US" altLang="en-US" sz="2400"/>
          </a:p>
        </p:txBody>
      </p:sp>
      <p:sp>
        <p:nvSpPr>
          <p:cNvPr id="595000" name="Rectangle 56"/>
          <p:cNvSpPr>
            <a:spLocks noChangeArrowheads="1"/>
          </p:cNvSpPr>
          <p:nvPr/>
        </p:nvSpPr>
        <p:spPr bwMode="auto">
          <a:xfrm>
            <a:off x="5834063" y="43354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595001" name="Rectangle 57"/>
          <p:cNvSpPr>
            <a:spLocks noChangeArrowheads="1"/>
          </p:cNvSpPr>
          <p:nvPr/>
        </p:nvSpPr>
        <p:spPr bwMode="auto">
          <a:xfrm>
            <a:off x="5834063" y="39941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t</a:t>
            </a:r>
            <a:endParaRPr lang="en-US" altLang="en-US" sz="2400"/>
          </a:p>
        </p:txBody>
      </p:sp>
      <p:sp>
        <p:nvSpPr>
          <p:cNvPr id="595002" name="Rectangle 58"/>
          <p:cNvSpPr>
            <a:spLocks noChangeArrowheads="1"/>
          </p:cNvSpPr>
          <p:nvPr/>
        </p:nvSpPr>
        <p:spPr bwMode="auto">
          <a:xfrm>
            <a:off x="5834063" y="39481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or</a:t>
            </a:r>
            <a:endParaRPr lang="en-US" altLang="en-US" sz="2400"/>
          </a:p>
        </p:txBody>
      </p:sp>
      <p:grpSp>
        <p:nvGrpSpPr>
          <p:cNvPr id="595055" name="Group 111"/>
          <p:cNvGrpSpPr>
            <a:grpSpLocks/>
          </p:cNvGrpSpPr>
          <p:nvPr/>
        </p:nvGrpSpPr>
        <p:grpSpPr bwMode="auto">
          <a:xfrm>
            <a:off x="6680200" y="3921125"/>
            <a:ext cx="2308225" cy="1914525"/>
            <a:chOff x="4185" y="1780"/>
            <a:chExt cx="1454" cy="1206"/>
          </a:xfrm>
        </p:grpSpPr>
        <p:sp>
          <p:nvSpPr>
            <p:cNvPr id="595016" name="Line 72"/>
            <p:cNvSpPr>
              <a:spLocks noChangeShapeType="1"/>
            </p:cNvSpPr>
            <p:nvPr/>
          </p:nvSpPr>
          <p:spPr bwMode="auto">
            <a:xfrm flipH="1">
              <a:off x="4272" y="1936"/>
              <a:ext cx="112"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017" name="Freeform 73"/>
            <p:cNvSpPr>
              <a:spLocks/>
            </p:cNvSpPr>
            <p:nvPr/>
          </p:nvSpPr>
          <p:spPr bwMode="auto">
            <a:xfrm>
              <a:off x="4185" y="1911"/>
              <a:ext cx="99" cy="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018" name="Line 74"/>
            <p:cNvSpPr>
              <a:spLocks noChangeShapeType="1"/>
            </p:cNvSpPr>
            <p:nvPr/>
          </p:nvSpPr>
          <p:spPr bwMode="auto">
            <a:xfrm>
              <a:off x="4384" y="1936"/>
              <a:ext cx="111"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019" name="Freeform 75"/>
            <p:cNvSpPr>
              <a:spLocks/>
            </p:cNvSpPr>
            <p:nvPr/>
          </p:nvSpPr>
          <p:spPr bwMode="auto">
            <a:xfrm>
              <a:off x="4476" y="1911"/>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020" name="Line 76"/>
            <p:cNvSpPr>
              <a:spLocks noChangeShapeType="1"/>
            </p:cNvSpPr>
            <p:nvPr/>
          </p:nvSpPr>
          <p:spPr bwMode="auto">
            <a:xfrm>
              <a:off x="4216" y="2142"/>
              <a:ext cx="279"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021" name="Freeform 77"/>
            <p:cNvSpPr>
              <a:spLocks/>
            </p:cNvSpPr>
            <p:nvPr/>
          </p:nvSpPr>
          <p:spPr bwMode="auto">
            <a:xfrm>
              <a:off x="4476" y="2117"/>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022" name="Line 78"/>
            <p:cNvSpPr>
              <a:spLocks noChangeShapeType="1"/>
            </p:cNvSpPr>
            <p:nvPr/>
          </p:nvSpPr>
          <p:spPr bwMode="auto">
            <a:xfrm>
              <a:off x="4216" y="2348"/>
              <a:ext cx="27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023" name="Freeform 79"/>
            <p:cNvSpPr>
              <a:spLocks/>
            </p:cNvSpPr>
            <p:nvPr/>
          </p:nvSpPr>
          <p:spPr bwMode="auto">
            <a:xfrm>
              <a:off x="4476" y="2323"/>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024" name="Line 80"/>
            <p:cNvSpPr>
              <a:spLocks noChangeShapeType="1"/>
            </p:cNvSpPr>
            <p:nvPr/>
          </p:nvSpPr>
          <p:spPr bwMode="auto">
            <a:xfrm>
              <a:off x="4216" y="2551"/>
              <a:ext cx="279"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025" name="Freeform 81"/>
            <p:cNvSpPr>
              <a:spLocks/>
            </p:cNvSpPr>
            <p:nvPr/>
          </p:nvSpPr>
          <p:spPr bwMode="auto">
            <a:xfrm>
              <a:off x="4476" y="2526"/>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026" name="Line 82"/>
            <p:cNvSpPr>
              <a:spLocks noChangeShapeType="1"/>
            </p:cNvSpPr>
            <p:nvPr/>
          </p:nvSpPr>
          <p:spPr bwMode="auto">
            <a:xfrm flipH="1">
              <a:off x="4302" y="2761"/>
              <a:ext cx="281"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027" name="Freeform 83"/>
            <p:cNvSpPr>
              <a:spLocks/>
            </p:cNvSpPr>
            <p:nvPr/>
          </p:nvSpPr>
          <p:spPr bwMode="auto">
            <a:xfrm>
              <a:off x="4222" y="2736"/>
              <a:ext cx="99" cy="50"/>
            </a:xfrm>
            <a:custGeom>
              <a:avLst/>
              <a:gdLst>
                <a:gd name="T0" fmla="*/ 0 w 100"/>
                <a:gd name="T1" fmla="*/ 25 h 50"/>
                <a:gd name="T2" fmla="*/ 100 w 100"/>
                <a:gd name="T3" fmla="*/ 0 h 50"/>
                <a:gd name="T4" fmla="*/ 100 w 100"/>
                <a:gd name="T5" fmla="*/ 5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0"/>
                  </a:lnTo>
                  <a:lnTo>
                    <a:pt x="100" y="5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028" name="Freeform 84"/>
            <p:cNvSpPr>
              <a:spLocks/>
            </p:cNvSpPr>
            <p:nvPr/>
          </p:nvSpPr>
          <p:spPr bwMode="auto">
            <a:xfrm>
              <a:off x="4576" y="2830"/>
              <a:ext cx="103" cy="103"/>
            </a:xfrm>
            <a:custGeom>
              <a:avLst/>
              <a:gdLst>
                <a:gd name="T0" fmla="*/ 0 w 104"/>
                <a:gd name="T1" fmla="*/ 103 h 103"/>
                <a:gd name="T2" fmla="*/ 104 w 104"/>
                <a:gd name="T3" fmla="*/ 50 h 103"/>
                <a:gd name="T4" fmla="*/ 0 w 104"/>
                <a:gd name="T5" fmla="*/ 0 h 103"/>
              </a:gdLst>
              <a:ahLst/>
              <a:cxnLst>
                <a:cxn ang="0">
                  <a:pos x="T0" y="T1"/>
                </a:cxn>
                <a:cxn ang="0">
                  <a:pos x="T2" y="T3"/>
                </a:cxn>
                <a:cxn ang="0">
                  <a:pos x="T4" y="T5"/>
                </a:cxn>
              </a:cxnLst>
              <a:rect l="0" t="0" r="r" b="b"/>
              <a:pathLst>
                <a:path w="104" h="103">
                  <a:moveTo>
                    <a:pt x="0" y="103"/>
                  </a:moveTo>
                  <a:lnTo>
                    <a:pt x="104"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5029" name="Freeform 85"/>
            <p:cNvSpPr>
              <a:spLocks/>
            </p:cNvSpPr>
            <p:nvPr/>
          </p:nvSpPr>
          <p:spPr bwMode="auto">
            <a:xfrm>
              <a:off x="4346" y="1895"/>
              <a:ext cx="85" cy="81"/>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030" name="Line 86"/>
            <p:cNvSpPr>
              <a:spLocks noChangeShapeType="1"/>
            </p:cNvSpPr>
            <p:nvPr/>
          </p:nvSpPr>
          <p:spPr bwMode="auto">
            <a:xfrm flipH="1">
              <a:off x="4346" y="1895"/>
              <a:ext cx="85" cy="8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031" name="Freeform 87"/>
            <p:cNvSpPr>
              <a:spLocks/>
            </p:cNvSpPr>
            <p:nvPr/>
          </p:nvSpPr>
          <p:spPr bwMode="auto">
            <a:xfrm>
              <a:off x="4346" y="2098"/>
              <a:ext cx="85" cy="81"/>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032" name="Line 88"/>
            <p:cNvSpPr>
              <a:spLocks noChangeShapeType="1"/>
            </p:cNvSpPr>
            <p:nvPr/>
          </p:nvSpPr>
          <p:spPr bwMode="auto">
            <a:xfrm flipH="1">
              <a:off x="4346" y="2098"/>
              <a:ext cx="85" cy="8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033" name="Rectangle 89"/>
            <p:cNvSpPr>
              <a:spLocks noChangeArrowheads="1"/>
            </p:cNvSpPr>
            <p:nvPr/>
          </p:nvSpPr>
          <p:spPr bwMode="auto">
            <a:xfrm>
              <a:off x="4348" y="1780"/>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32</a:t>
              </a:r>
              <a:endParaRPr lang="en-US" altLang="en-US" sz="2400"/>
            </a:p>
          </p:txBody>
        </p:sp>
        <p:sp>
          <p:nvSpPr>
            <p:cNvPr id="595034" name="Rectangle 90"/>
            <p:cNvSpPr>
              <a:spLocks noChangeArrowheads="1"/>
            </p:cNvSpPr>
            <p:nvPr/>
          </p:nvSpPr>
          <p:spPr bwMode="auto">
            <a:xfrm>
              <a:off x="4348" y="1983"/>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10</a:t>
              </a:r>
              <a:endParaRPr lang="en-US" altLang="en-US" sz="2400"/>
            </a:p>
          </p:txBody>
        </p:sp>
        <p:sp>
          <p:nvSpPr>
            <p:cNvPr id="595035" name="Rectangle 91"/>
            <p:cNvSpPr>
              <a:spLocks noChangeArrowheads="1"/>
            </p:cNvSpPr>
            <p:nvPr/>
          </p:nvSpPr>
          <p:spPr bwMode="auto">
            <a:xfrm>
              <a:off x="4610" y="1875"/>
              <a:ext cx="17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sz="2400"/>
            </a:p>
          </p:txBody>
        </p:sp>
        <p:sp>
          <p:nvSpPr>
            <p:cNvPr id="595038" name="Rectangle 94"/>
            <p:cNvSpPr>
              <a:spLocks noChangeArrowheads="1"/>
            </p:cNvSpPr>
            <p:nvPr/>
          </p:nvSpPr>
          <p:spPr bwMode="auto">
            <a:xfrm>
              <a:off x="4610" y="2080"/>
              <a:ext cx="18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a:t>
              </a:r>
              <a:endParaRPr lang="en-US" altLang="en-US" sz="2400"/>
            </a:p>
          </p:txBody>
        </p:sp>
        <p:sp>
          <p:nvSpPr>
            <p:cNvPr id="595039" name="Rectangle 95"/>
            <p:cNvSpPr>
              <a:spLocks noChangeArrowheads="1"/>
            </p:cNvSpPr>
            <p:nvPr/>
          </p:nvSpPr>
          <p:spPr bwMode="auto">
            <a:xfrm>
              <a:off x="4610" y="2283"/>
              <a:ext cx="9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t>
              </a:r>
              <a:endParaRPr lang="en-US" altLang="en-US" sz="2400"/>
            </a:p>
          </p:txBody>
        </p:sp>
        <p:sp>
          <p:nvSpPr>
            <p:cNvPr id="595040" name="Rectangle 96"/>
            <p:cNvSpPr>
              <a:spLocks noChangeArrowheads="1"/>
            </p:cNvSpPr>
            <p:nvPr/>
          </p:nvSpPr>
          <p:spPr bwMode="auto">
            <a:xfrm>
              <a:off x="4610" y="2491"/>
              <a:ext cx="21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write</a:t>
              </a:r>
              <a:endParaRPr lang="en-US" altLang="en-US" sz="2400"/>
            </a:p>
          </p:txBody>
        </p:sp>
        <p:sp>
          <p:nvSpPr>
            <p:cNvPr id="595045" name="Rectangle 101"/>
            <p:cNvSpPr>
              <a:spLocks noChangeArrowheads="1"/>
            </p:cNvSpPr>
            <p:nvPr/>
          </p:nvSpPr>
          <p:spPr bwMode="auto">
            <a:xfrm>
              <a:off x="4610" y="2694"/>
              <a:ext cx="19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busy</a:t>
              </a:r>
              <a:endParaRPr lang="en-US" altLang="en-US" sz="2400"/>
            </a:p>
          </p:txBody>
        </p:sp>
        <p:sp>
          <p:nvSpPr>
            <p:cNvPr id="595046" name="Rectangle 102"/>
            <p:cNvSpPr>
              <a:spLocks noChangeArrowheads="1"/>
            </p:cNvSpPr>
            <p:nvPr/>
          </p:nvSpPr>
          <p:spPr bwMode="auto">
            <a:xfrm>
              <a:off x="4904" y="2274"/>
              <a:ext cx="36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1024x32</a:t>
              </a:r>
              <a:endParaRPr lang="en-US" altLang="en-US" sz="2400"/>
            </a:p>
          </p:txBody>
        </p:sp>
        <p:sp>
          <p:nvSpPr>
            <p:cNvPr id="595049" name="Rectangle 105"/>
            <p:cNvSpPr>
              <a:spLocks noChangeArrowheads="1"/>
            </p:cNvSpPr>
            <p:nvPr/>
          </p:nvSpPr>
          <p:spPr bwMode="auto">
            <a:xfrm>
              <a:off x="4931" y="2386"/>
              <a:ext cx="42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EEPROM</a:t>
              </a:r>
              <a:endParaRPr lang="en-US" altLang="en-US" sz="2400"/>
            </a:p>
          </p:txBody>
        </p:sp>
        <p:sp>
          <p:nvSpPr>
            <p:cNvPr id="595053" name="Rectangle 109"/>
            <p:cNvSpPr>
              <a:spLocks noChangeArrowheads="1"/>
            </p:cNvSpPr>
            <p:nvPr/>
          </p:nvSpPr>
          <p:spPr bwMode="auto">
            <a:xfrm>
              <a:off x="4576" y="1782"/>
              <a:ext cx="1063" cy="1204"/>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3"/>
          <p:cNvSpPr>
            <a:spLocks noGrp="1"/>
          </p:cNvSpPr>
          <p:nvPr>
            <p:ph type="sldNum" sz="quarter" idx="10"/>
          </p:nvPr>
        </p:nvSpPr>
        <p:spPr/>
        <p:txBody>
          <a:bodyPr/>
          <a:lstStyle/>
          <a:p>
            <a:fld id="{F361E5CF-3A42-43DE-8C5C-F783523181DD}" type="slidenum">
              <a:rPr lang="en-US" altLang="en-US"/>
              <a:pPr/>
              <a:t>78</a:t>
            </a:fld>
            <a:endParaRPr lang="en-US" altLang="en-US"/>
          </a:p>
        </p:txBody>
      </p:sp>
      <p:sp>
        <p:nvSpPr>
          <p:cNvPr id="595970" name="Rectangle 2"/>
          <p:cNvSpPr>
            <a:spLocks noGrp="1" noChangeArrowheads="1"/>
          </p:cNvSpPr>
          <p:nvPr>
            <p:ph type="title"/>
          </p:nvPr>
        </p:nvSpPr>
        <p:spPr/>
        <p:txBody>
          <a:bodyPr/>
          <a:lstStyle/>
          <a:p>
            <a:r>
              <a:rPr lang="en-US" altLang="en-US"/>
              <a:t>ROM Example: Talking Doll</a:t>
            </a:r>
          </a:p>
        </p:txBody>
      </p:sp>
      <p:sp>
        <p:nvSpPr>
          <p:cNvPr id="595971" name="Rectangle 3"/>
          <p:cNvSpPr>
            <a:spLocks noGrp="1" noChangeArrowheads="1"/>
          </p:cNvSpPr>
          <p:nvPr>
            <p:ph type="body" idx="1"/>
          </p:nvPr>
        </p:nvSpPr>
        <p:spPr>
          <a:xfrm>
            <a:off x="228600" y="4214813"/>
            <a:ext cx="8610600" cy="1676400"/>
          </a:xfrm>
        </p:spPr>
        <p:txBody>
          <a:bodyPr/>
          <a:lstStyle/>
          <a:p>
            <a:pPr>
              <a:lnSpc>
                <a:spcPct val="90000"/>
              </a:lnSpc>
            </a:pPr>
            <a:r>
              <a:rPr lang="en-US" altLang="en-US" sz="2000"/>
              <a:t>Doll plays prerecorded message, trigger by vibration</a:t>
            </a:r>
          </a:p>
          <a:p>
            <a:pPr lvl="1">
              <a:lnSpc>
                <a:spcPct val="90000"/>
              </a:lnSpc>
            </a:pPr>
            <a:r>
              <a:rPr lang="en-US" altLang="en-US" sz="1800"/>
              <a:t>Message must be stored without power supply </a:t>
            </a:r>
            <a:r>
              <a:rPr lang="en-US" altLang="en-US" sz="1800">
                <a:sym typeface="Wingdings" panose="05000000000000000000" pitchFamily="2" charset="2"/>
              </a:rPr>
              <a:t> Use a ROM, not a RAM, because ROM is nonvolatile</a:t>
            </a:r>
          </a:p>
          <a:p>
            <a:pPr lvl="2">
              <a:lnSpc>
                <a:spcPct val="90000"/>
              </a:lnSpc>
            </a:pPr>
            <a:r>
              <a:rPr lang="en-US" altLang="en-US" sz="1600">
                <a:sym typeface="Wingdings" panose="05000000000000000000" pitchFamily="2" charset="2"/>
              </a:rPr>
              <a:t>And because message will never change, use a mask-programmed ROM or OTP ROM</a:t>
            </a:r>
          </a:p>
          <a:p>
            <a:pPr lvl="1">
              <a:lnSpc>
                <a:spcPct val="90000"/>
              </a:lnSpc>
            </a:pPr>
            <a:r>
              <a:rPr lang="en-US" altLang="en-US" sz="1800">
                <a:sym typeface="Wingdings" panose="05000000000000000000" pitchFamily="2" charset="2"/>
              </a:rPr>
              <a:t>Processor should wait for vibration (</a:t>
            </a:r>
            <a:r>
              <a:rPr lang="en-US" altLang="en-US" sz="1800" i="1">
                <a:sym typeface="Wingdings" panose="05000000000000000000" pitchFamily="2" charset="2"/>
              </a:rPr>
              <a:t>v=1</a:t>
            </a:r>
            <a:r>
              <a:rPr lang="en-US" altLang="en-US" sz="1800">
                <a:sym typeface="Wingdings" panose="05000000000000000000" pitchFamily="2" charset="2"/>
              </a:rPr>
              <a:t>), then read words 0 to 4095 from the ROM, writing each to the d-to-a</a:t>
            </a:r>
            <a:endParaRPr lang="en-US" altLang="en-US" sz="1800"/>
          </a:p>
        </p:txBody>
      </p:sp>
      <p:sp>
        <p:nvSpPr>
          <p:cNvPr id="595972" name="Line 4"/>
          <p:cNvSpPr>
            <a:spLocks noChangeShapeType="1"/>
          </p:cNvSpPr>
          <p:nvPr/>
        </p:nvSpPr>
        <p:spPr bwMode="auto">
          <a:xfrm flipV="1">
            <a:off x="1809750" y="2584450"/>
            <a:ext cx="1588" cy="70643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973" name="Freeform 5"/>
          <p:cNvSpPr>
            <a:spLocks/>
          </p:cNvSpPr>
          <p:nvPr/>
        </p:nvSpPr>
        <p:spPr bwMode="auto">
          <a:xfrm>
            <a:off x="1763713" y="2411413"/>
            <a:ext cx="93662" cy="206375"/>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974" name="Line 6"/>
          <p:cNvSpPr>
            <a:spLocks noChangeShapeType="1"/>
          </p:cNvSpPr>
          <p:nvPr/>
        </p:nvSpPr>
        <p:spPr bwMode="auto">
          <a:xfrm flipV="1">
            <a:off x="2101850" y="2584450"/>
            <a:ext cx="1588" cy="70643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975" name="Freeform 7"/>
          <p:cNvSpPr>
            <a:spLocks/>
          </p:cNvSpPr>
          <p:nvPr/>
        </p:nvSpPr>
        <p:spPr bwMode="auto">
          <a:xfrm>
            <a:off x="2055813" y="2411413"/>
            <a:ext cx="93662" cy="206375"/>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976" name="Line 8"/>
          <p:cNvSpPr>
            <a:spLocks noChangeShapeType="1"/>
          </p:cNvSpPr>
          <p:nvPr/>
        </p:nvSpPr>
        <p:spPr bwMode="auto">
          <a:xfrm>
            <a:off x="1512888" y="2895600"/>
            <a:ext cx="1525587" cy="1588"/>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977" name="Freeform 9"/>
          <p:cNvSpPr>
            <a:spLocks/>
          </p:cNvSpPr>
          <p:nvPr/>
        </p:nvSpPr>
        <p:spPr bwMode="auto">
          <a:xfrm>
            <a:off x="3009900" y="2843213"/>
            <a:ext cx="187325" cy="10318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979" name="Line 11"/>
          <p:cNvSpPr>
            <a:spLocks noChangeShapeType="1"/>
          </p:cNvSpPr>
          <p:nvPr/>
        </p:nvSpPr>
        <p:spPr bwMode="auto">
          <a:xfrm>
            <a:off x="2605088" y="3424238"/>
            <a:ext cx="433387" cy="317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980" name="Freeform 12"/>
          <p:cNvSpPr>
            <a:spLocks/>
          </p:cNvSpPr>
          <p:nvPr/>
        </p:nvSpPr>
        <p:spPr bwMode="auto">
          <a:xfrm>
            <a:off x="3009900" y="3373438"/>
            <a:ext cx="187325" cy="10318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981" name="Line 13"/>
          <p:cNvSpPr>
            <a:spLocks noChangeShapeType="1"/>
          </p:cNvSpPr>
          <p:nvPr/>
        </p:nvSpPr>
        <p:spPr bwMode="auto">
          <a:xfrm>
            <a:off x="1517650" y="2405063"/>
            <a:ext cx="1588" cy="328612"/>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982" name="Freeform 14"/>
          <p:cNvSpPr>
            <a:spLocks/>
          </p:cNvSpPr>
          <p:nvPr/>
        </p:nvSpPr>
        <p:spPr bwMode="auto">
          <a:xfrm>
            <a:off x="1471613" y="2700338"/>
            <a:ext cx="93662" cy="207962"/>
          </a:xfrm>
          <a:custGeom>
            <a:avLst/>
            <a:gdLst>
              <a:gd name="T0" fmla="*/ 25 w 50"/>
              <a:gd name="T1" fmla="*/ 100 h 100"/>
              <a:gd name="T2" fmla="*/ 0 w 50"/>
              <a:gd name="T3" fmla="*/ 0 h 100"/>
              <a:gd name="T4" fmla="*/ 5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0" y="0"/>
                </a:lnTo>
                <a:lnTo>
                  <a:pt x="5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983" name="Freeform 15"/>
          <p:cNvSpPr>
            <a:spLocks/>
          </p:cNvSpPr>
          <p:nvPr/>
        </p:nvSpPr>
        <p:spPr bwMode="auto">
          <a:xfrm>
            <a:off x="3208338" y="3122613"/>
            <a:ext cx="193675" cy="212725"/>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5984" name="Freeform 16"/>
          <p:cNvSpPr>
            <a:spLocks/>
          </p:cNvSpPr>
          <p:nvPr/>
        </p:nvSpPr>
        <p:spPr bwMode="auto">
          <a:xfrm>
            <a:off x="1020763" y="3846513"/>
            <a:ext cx="192087" cy="212725"/>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5985" name="Freeform 17"/>
          <p:cNvSpPr>
            <a:spLocks/>
          </p:cNvSpPr>
          <p:nvPr/>
        </p:nvSpPr>
        <p:spPr bwMode="auto">
          <a:xfrm>
            <a:off x="1435100" y="2481263"/>
            <a:ext cx="157163" cy="176212"/>
          </a:xfrm>
          <a:custGeom>
            <a:avLst/>
            <a:gdLst>
              <a:gd name="T0" fmla="*/ 84 w 84"/>
              <a:gd name="T1" fmla="*/ 0 h 85"/>
              <a:gd name="T2" fmla="*/ 0 w 84"/>
              <a:gd name="T3" fmla="*/ 85 h 85"/>
              <a:gd name="T4" fmla="*/ 84 w 84"/>
              <a:gd name="T5" fmla="*/ 0 h 85"/>
            </a:gdLst>
            <a:ahLst/>
            <a:cxnLst>
              <a:cxn ang="0">
                <a:pos x="T0" y="T1"/>
              </a:cxn>
              <a:cxn ang="0">
                <a:pos x="T2" y="T3"/>
              </a:cxn>
              <a:cxn ang="0">
                <a:pos x="T4" y="T5"/>
              </a:cxn>
            </a:cxnLst>
            <a:rect l="0" t="0" r="r" b="b"/>
            <a:pathLst>
              <a:path w="84" h="85">
                <a:moveTo>
                  <a:pt x="84" y="0"/>
                </a:moveTo>
                <a:lnTo>
                  <a:pt x="0" y="85"/>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986" name="Line 18"/>
          <p:cNvSpPr>
            <a:spLocks noChangeShapeType="1"/>
          </p:cNvSpPr>
          <p:nvPr/>
        </p:nvSpPr>
        <p:spPr bwMode="auto">
          <a:xfrm flipH="1">
            <a:off x="1435100" y="2481263"/>
            <a:ext cx="157163" cy="17621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987" name="Freeform 19"/>
          <p:cNvSpPr>
            <a:spLocks/>
          </p:cNvSpPr>
          <p:nvPr/>
        </p:nvSpPr>
        <p:spPr bwMode="auto">
          <a:xfrm>
            <a:off x="1733550" y="2935288"/>
            <a:ext cx="153988" cy="173037"/>
          </a:xfrm>
          <a:custGeom>
            <a:avLst/>
            <a:gdLst>
              <a:gd name="T0" fmla="*/ 82 w 82"/>
              <a:gd name="T1" fmla="*/ 0 h 84"/>
              <a:gd name="T2" fmla="*/ 0 w 82"/>
              <a:gd name="T3" fmla="*/ 84 h 84"/>
              <a:gd name="T4" fmla="*/ 82 w 82"/>
              <a:gd name="T5" fmla="*/ 0 h 84"/>
            </a:gdLst>
            <a:ahLst/>
            <a:cxnLst>
              <a:cxn ang="0">
                <a:pos x="T0" y="T1"/>
              </a:cxn>
              <a:cxn ang="0">
                <a:pos x="T2" y="T3"/>
              </a:cxn>
              <a:cxn ang="0">
                <a:pos x="T4" y="T5"/>
              </a:cxn>
            </a:cxnLst>
            <a:rect l="0" t="0" r="r" b="b"/>
            <a:pathLst>
              <a:path w="82" h="84">
                <a:moveTo>
                  <a:pt x="82" y="0"/>
                </a:moveTo>
                <a:lnTo>
                  <a:pt x="0" y="84"/>
                </a:lnTo>
                <a:lnTo>
                  <a:pt x="8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5988" name="Line 20"/>
          <p:cNvSpPr>
            <a:spLocks noChangeShapeType="1"/>
          </p:cNvSpPr>
          <p:nvPr/>
        </p:nvSpPr>
        <p:spPr bwMode="auto">
          <a:xfrm flipH="1">
            <a:off x="1733550" y="2935288"/>
            <a:ext cx="153988" cy="1730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5989" name="Rectangle 21"/>
          <p:cNvSpPr>
            <a:spLocks noChangeArrowheads="1"/>
          </p:cNvSpPr>
          <p:nvPr/>
        </p:nvSpPr>
        <p:spPr bwMode="auto">
          <a:xfrm>
            <a:off x="1216025" y="1497013"/>
            <a:ext cx="10668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4096x16 ROM</a:t>
            </a:r>
            <a:endParaRPr lang="en-US" altLang="en-US" sz="2400"/>
          </a:p>
        </p:txBody>
      </p:sp>
      <p:sp>
        <p:nvSpPr>
          <p:cNvPr id="595994" name="Rectangle 26"/>
          <p:cNvSpPr>
            <a:spLocks noChangeArrowheads="1"/>
          </p:cNvSpPr>
          <p:nvPr/>
        </p:nvSpPr>
        <p:spPr bwMode="auto">
          <a:xfrm>
            <a:off x="1431925" y="3579813"/>
            <a:ext cx="727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processor</a:t>
            </a:r>
            <a:endParaRPr lang="en-US" altLang="en-US" sz="2400"/>
          </a:p>
        </p:txBody>
      </p:sp>
      <p:sp>
        <p:nvSpPr>
          <p:cNvPr id="595999" name="Rectangle 31"/>
          <p:cNvSpPr>
            <a:spLocks noChangeArrowheads="1"/>
          </p:cNvSpPr>
          <p:nvPr/>
        </p:nvSpPr>
        <p:spPr bwMode="auto">
          <a:xfrm>
            <a:off x="1565275" y="23526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d</a:t>
            </a:r>
            <a:endParaRPr lang="en-US" altLang="en-US" sz="2400"/>
          </a:p>
        </p:txBody>
      </p:sp>
      <p:sp>
        <p:nvSpPr>
          <p:cNvPr id="596000" name="Rectangle 32"/>
          <p:cNvSpPr>
            <a:spLocks noChangeArrowheads="1"/>
          </p:cNvSpPr>
          <p:nvPr/>
        </p:nvSpPr>
        <p:spPr bwMode="auto">
          <a:xfrm>
            <a:off x="1565275" y="22352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a:t>
            </a:r>
            <a:endParaRPr lang="en-US" altLang="en-US" sz="2400"/>
          </a:p>
        </p:txBody>
      </p:sp>
      <p:sp>
        <p:nvSpPr>
          <p:cNvPr id="596001" name="Rectangle 33"/>
          <p:cNvSpPr>
            <a:spLocks noChangeArrowheads="1"/>
          </p:cNvSpPr>
          <p:nvPr/>
        </p:nvSpPr>
        <p:spPr bwMode="auto">
          <a:xfrm>
            <a:off x="1858963" y="3067050"/>
            <a:ext cx="193675"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Ra</a:t>
            </a:r>
            <a:endParaRPr lang="en-US" altLang="en-US" sz="2400"/>
          </a:p>
        </p:txBody>
      </p:sp>
      <p:sp>
        <p:nvSpPr>
          <p:cNvPr id="596003" name="Rectangle 35"/>
          <p:cNvSpPr>
            <a:spLocks noChangeArrowheads="1"/>
          </p:cNvSpPr>
          <p:nvPr/>
        </p:nvSpPr>
        <p:spPr bwMode="auto">
          <a:xfrm>
            <a:off x="1211263" y="2432050"/>
            <a:ext cx="1841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596004" name="Rectangle 36"/>
          <p:cNvSpPr>
            <a:spLocks noChangeArrowheads="1"/>
          </p:cNvSpPr>
          <p:nvPr/>
        </p:nvSpPr>
        <p:spPr bwMode="auto">
          <a:xfrm>
            <a:off x="2165350" y="3067050"/>
            <a:ext cx="277813"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Ren</a:t>
            </a:r>
            <a:endParaRPr lang="en-US" altLang="en-US" sz="2400"/>
          </a:p>
        </p:txBody>
      </p:sp>
      <p:sp>
        <p:nvSpPr>
          <p:cNvPr id="596006" name="Rectangle 38"/>
          <p:cNvSpPr>
            <a:spLocks noChangeArrowheads="1"/>
          </p:cNvSpPr>
          <p:nvPr/>
        </p:nvSpPr>
        <p:spPr bwMode="auto">
          <a:xfrm>
            <a:off x="2649538" y="3489325"/>
            <a:ext cx="4048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da_ld</a:t>
            </a:r>
            <a:endParaRPr lang="en-US" altLang="en-US" sz="2400"/>
          </a:p>
        </p:txBody>
      </p:sp>
      <p:sp>
        <p:nvSpPr>
          <p:cNvPr id="596007" name="Rectangle 39"/>
          <p:cNvSpPr>
            <a:spLocks noChangeArrowheads="1"/>
          </p:cNvSpPr>
          <p:nvPr/>
        </p:nvSpPr>
        <p:spPr bwMode="auto">
          <a:xfrm>
            <a:off x="3481388" y="2581275"/>
            <a:ext cx="68103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digital-to-</a:t>
            </a:r>
            <a:endParaRPr lang="en-US" altLang="en-US" sz="2400"/>
          </a:p>
        </p:txBody>
      </p:sp>
      <p:sp>
        <p:nvSpPr>
          <p:cNvPr id="596013" name="Rectangle 45"/>
          <p:cNvSpPr>
            <a:spLocks noChangeArrowheads="1"/>
          </p:cNvSpPr>
          <p:nvPr/>
        </p:nvSpPr>
        <p:spPr bwMode="auto">
          <a:xfrm>
            <a:off x="3602038" y="2828925"/>
            <a:ext cx="4968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analog</a:t>
            </a:r>
            <a:endParaRPr lang="en-US" altLang="en-US" sz="2400"/>
          </a:p>
        </p:txBody>
      </p:sp>
      <p:sp>
        <p:nvSpPr>
          <p:cNvPr id="596014" name="Rectangle 46"/>
          <p:cNvSpPr>
            <a:spLocks noChangeArrowheads="1"/>
          </p:cNvSpPr>
          <p:nvPr/>
        </p:nvSpPr>
        <p:spPr bwMode="auto">
          <a:xfrm>
            <a:off x="3495675" y="3076575"/>
            <a:ext cx="690563"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converter</a:t>
            </a:r>
            <a:endParaRPr lang="en-US" altLang="en-US" sz="2400"/>
          </a:p>
        </p:txBody>
      </p:sp>
      <p:sp>
        <p:nvSpPr>
          <p:cNvPr id="596022" name="Rectangle 54"/>
          <p:cNvSpPr>
            <a:spLocks noChangeArrowheads="1"/>
          </p:cNvSpPr>
          <p:nvPr/>
        </p:nvSpPr>
        <p:spPr bwMode="auto">
          <a:xfrm>
            <a:off x="1014413" y="1357313"/>
            <a:ext cx="1590675" cy="10477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23" name="Rectangle 55"/>
          <p:cNvSpPr>
            <a:spLocks noChangeArrowheads="1"/>
          </p:cNvSpPr>
          <p:nvPr/>
        </p:nvSpPr>
        <p:spPr bwMode="auto">
          <a:xfrm>
            <a:off x="3203575" y="2436813"/>
            <a:ext cx="1333500" cy="106045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24" name="Rectangle 56"/>
          <p:cNvSpPr>
            <a:spLocks noChangeArrowheads="1"/>
          </p:cNvSpPr>
          <p:nvPr/>
        </p:nvSpPr>
        <p:spPr bwMode="auto">
          <a:xfrm>
            <a:off x="1014413" y="3297238"/>
            <a:ext cx="1590675" cy="81438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25" name="Oval 57"/>
          <p:cNvSpPr>
            <a:spLocks noChangeArrowheads="1"/>
          </p:cNvSpPr>
          <p:nvPr/>
        </p:nvSpPr>
        <p:spPr bwMode="auto">
          <a:xfrm>
            <a:off x="5788025" y="1460500"/>
            <a:ext cx="596900" cy="658813"/>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26" name="Freeform 58"/>
          <p:cNvSpPr>
            <a:spLocks/>
          </p:cNvSpPr>
          <p:nvPr/>
        </p:nvSpPr>
        <p:spPr bwMode="auto">
          <a:xfrm>
            <a:off x="5859463" y="2125663"/>
            <a:ext cx="457200" cy="1138237"/>
          </a:xfrm>
          <a:custGeom>
            <a:avLst/>
            <a:gdLst>
              <a:gd name="T0" fmla="*/ 0 w 78"/>
              <a:gd name="T1" fmla="*/ 39 h 176"/>
              <a:gd name="T2" fmla="*/ 39 w 78"/>
              <a:gd name="T3" fmla="*/ 0 h 176"/>
              <a:gd name="T4" fmla="*/ 78 w 78"/>
              <a:gd name="T5" fmla="*/ 39 h 176"/>
              <a:gd name="T6" fmla="*/ 78 w 78"/>
              <a:gd name="T7" fmla="*/ 137 h 176"/>
              <a:gd name="T8" fmla="*/ 39 w 78"/>
              <a:gd name="T9" fmla="*/ 176 h 176"/>
              <a:gd name="T10" fmla="*/ 0 w 78"/>
              <a:gd name="T11" fmla="*/ 137 h 176"/>
              <a:gd name="T12" fmla="*/ 0 w 78"/>
              <a:gd name="T13" fmla="*/ 39 h 176"/>
            </a:gdLst>
            <a:ahLst/>
            <a:cxnLst>
              <a:cxn ang="0">
                <a:pos x="T0" y="T1"/>
              </a:cxn>
              <a:cxn ang="0">
                <a:pos x="T2" y="T3"/>
              </a:cxn>
              <a:cxn ang="0">
                <a:pos x="T4" y="T5"/>
              </a:cxn>
              <a:cxn ang="0">
                <a:pos x="T6" y="T7"/>
              </a:cxn>
              <a:cxn ang="0">
                <a:pos x="T8" y="T9"/>
              </a:cxn>
              <a:cxn ang="0">
                <a:pos x="T10" y="T11"/>
              </a:cxn>
              <a:cxn ang="0">
                <a:pos x="T12" y="T13"/>
              </a:cxn>
            </a:cxnLst>
            <a:rect l="0" t="0" r="r" b="b"/>
            <a:pathLst>
              <a:path w="78" h="176">
                <a:moveTo>
                  <a:pt x="0" y="39"/>
                </a:moveTo>
                <a:cubicBezTo>
                  <a:pt x="0" y="17"/>
                  <a:pt x="17" y="0"/>
                  <a:pt x="39" y="0"/>
                </a:cubicBezTo>
                <a:cubicBezTo>
                  <a:pt x="61" y="0"/>
                  <a:pt x="78" y="17"/>
                  <a:pt x="78" y="39"/>
                </a:cubicBezTo>
                <a:cubicBezTo>
                  <a:pt x="78" y="137"/>
                  <a:pt x="78" y="137"/>
                  <a:pt x="78" y="137"/>
                </a:cubicBezTo>
                <a:cubicBezTo>
                  <a:pt x="78" y="159"/>
                  <a:pt x="61" y="176"/>
                  <a:pt x="39" y="176"/>
                </a:cubicBezTo>
                <a:cubicBezTo>
                  <a:pt x="17" y="176"/>
                  <a:pt x="0" y="159"/>
                  <a:pt x="0" y="137"/>
                </a:cubicBezTo>
                <a:lnTo>
                  <a:pt x="0" y="39"/>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27" name="Freeform 59"/>
          <p:cNvSpPr>
            <a:spLocks/>
          </p:cNvSpPr>
          <p:nvPr/>
        </p:nvSpPr>
        <p:spPr bwMode="auto">
          <a:xfrm>
            <a:off x="6316663" y="2287588"/>
            <a:ext cx="442912" cy="266700"/>
          </a:xfrm>
          <a:custGeom>
            <a:avLst/>
            <a:gdLst>
              <a:gd name="T0" fmla="*/ 21 w 76"/>
              <a:gd name="T1" fmla="*/ 41 h 41"/>
              <a:gd name="T2" fmla="*/ 0 w 76"/>
              <a:gd name="T3" fmla="*/ 20 h 41"/>
              <a:gd name="T4" fmla="*/ 21 w 76"/>
              <a:gd name="T5" fmla="*/ 0 h 41"/>
              <a:gd name="T6" fmla="*/ 56 w 76"/>
              <a:gd name="T7" fmla="*/ 0 h 41"/>
              <a:gd name="T8" fmla="*/ 76 w 76"/>
              <a:gd name="T9" fmla="*/ 20 h 41"/>
              <a:gd name="T10" fmla="*/ 56 w 76"/>
              <a:gd name="T11" fmla="*/ 41 h 41"/>
              <a:gd name="T12" fmla="*/ 21 w 76"/>
              <a:gd name="T13" fmla="*/ 41 h 41"/>
            </a:gdLst>
            <a:ahLst/>
            <a:cxnLst>
              <a:cxn ang="0">
                <a:pos x="T0" y="T1"/>
              </a:cxn>
              <a:cxn ang="0">
                <a:pos x="T2" y="T3"/>
              </a:cxn>
              <a:cxn ang="0">
                <a:pos x="T4" y="T5"/>
              </a:cxn>
              <a:cxn ang="0">
                <a:pos x="T6" y="T7"/>
              </a:cxn>
              <a:cxn ang="0">
                <a:pos x="T8" y="T9"/>
              </a:cxn>
              <a:cxn ang="0">
                <a:pos x="T10" y="T11"/>
              </a:cxn>
              <a:cxn ang="0">
                <a:pos x="T12" y="T13"/>
              </a:cxn>
            </a:cxnLst>
            <a:rect l="0" t="0" r="r" b="b"/>
            <a:pathLst>
              <a:path w="76" h="41">
                <a:moveTo>
                  <a:pt x="21" y="41"/>
                </a:moveTo>
                <a:cubicBezTo>
                  <a:pt x="10" y="41"/>
                  <a:pt x="0" y="32"/>
                  <a:pt x="0" y="20"/>
                </a:cubicBezTo>
                <a:cubicBezTo>
                  <a:pt x="0" y="9"/>
                  <a:pt x="10" y="0"/>
                  <a:pt x="21" y="0"/>
                </a:cubicBezTo>
                <a:cubicBezTo>
                  <a:pt x="56" y="0"/>
                  <a:pt x="56" y="0"/>
                  <a:pt x="56" y="0"/>
                </a:cubicBezTo>
                <a:cubicBezTo>
                  <a:pt x="67" y="0"/>
                  <a:pt x="76" y="9"/>
                  <a:pt x="76" y="20"/>
                </a:cubicBezTo>
                <a:cubicBezTo>
                  <a:pt x="76" y="32"/>
                  <a:pt x="67" y="41"/>
                  <a:pt x="56" y="41"/>
                </a:cubicBezTo>
                <a:lnTo>
                  <a:pt x="21" y="41"/>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28" name="Freeform 60"/>
          <p:cNvSpPr>
            <a:spLocks/>
          </p:cNvSpPr>
          <p:nvPr/>
        </p:nvSpPr>
        <p:spPr bwMode="auto">
          <a:xfrm>
            <a:off x="5608638" y="3165475"/>
            <a:ext cx="396875" cy="481013"/>
          </a:xfrm>
          <a:custGeom>
            <a:avLst/>
            <a:gdLst>
              <a:gd name="T0" fmla="*/ 40 w 68"/>
              <a:gd name="T1" fmla="*/ 63 h 74"/>
              <a:gd name="T2" fmla="*/ 10 w 68"/>
              <a:gd name="T3" fmla="*/ 67 h 74"/>
              <a:gd name="T4" fmla="*/ 7 w 68"/>
              <a:gd name="T5" fmla="*/ 38 h 74"/>
              <a:gd name="T6" fmla="*/ 28 w 68"/>
              <a:gd name="T7" fmla="*/ 10 h 74"/>
              <a:gd name="T8" fmla="*/ 58 w 68"/>
              <a:gd name="T9" fmla="*/ 7 h 74"/>
              <a:gd name="T10" fmla="*/ 61 w 68"/>
              <a:gd name="T11" fmla="*/ 36 h 74"/>
              <a:gd name="T12" fmla="*/ 40 w 68"/>
              <a:gd name="T13" fmla="*/ 63 h 74"/>
            </a:gdLst>
            <a:ahLst/>
            <a:cxnLst>
              <a:cxn ang="0">
                <a:pos x="T0" y="T1"/>
              </a:cxn>
              <a:cxn ang="0">
                <a:pos x="T2" y="T3"/>
              </a:cxn>
              <a:cxn ang="0">
                <a:pos x="T4" y="T5"/>
              </a:cxn>
              <a:cxn ang="0">
                <a:pos x="T6" y="T7"/>
              </a:cxn>
              <a:cxn ang="0">
                <a:pos x="T8" y="T9"/>
              </a:cxn>
              <a:cxn ang="0">
                <a:pos x="T10" y="T11"/>
              </a:cxn>
              <a:cxn ang="0">
                <a:pos x="T12" y="T13"/>
              </a:cxn>
            </a:cxnLst>
            <a:rect l="0" t="0" r="r" b="b"/>
            <a:pathLst>
              <a:path w="68" h="74">
                <a:moveTo>
                  <a:pt x="40" y="63"/>
                </a:moveTo>
                <a:cubicBezTo>
                  <a:pt x="32" y="72"/>
                  <a:pt x="19" y="74"/>
                  <a:pt x="10" y="67"/>
                </a:cubicBezTo>
                <a:cubicBezTo>
                  <a:pt x="1" y="60"/>
                  <a:pt x="0" y="47"/>
                  <a:pt x="7" y="38"/>
                </a:cubicBezTo>
                <a:cubicBezTo>
                  <a:pt x="28" y="10"/>
                  <a:pt x="28" y="10"/>
                  <a:pt x="28" y="10"/>
                </a:cubicBezTo>
                <a:cubicBezTo>
                  <a:pt x="36" y="1"/>
                  <a:pt x="49" y="0"/>
                  <a:pt x="58" y="7"/>
                </a:cubicBezTo>
                <a:cubicBezTo>
                  <a:pt x="67" y="14"/>
                  <a:pt x="68" y="27"/>
                  <a:pt x="61" y="36"/>
                </a:cubicBezTo>
                <a:lnTo>
                  <a:pt x="40" y="63"/>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29" name="Freeform 61"/>
          <p:cNvSpPr>
            <a:spLocks/>
          </p:cNvSpPr>
          <p:nvPr/>
        </p:nvSpPr>
        <p:spPr bwMode="auto">
          <a:xfrm>
            <a:off x="6170613" y="3165475"/>
            <a:ext cx="401637" cy="481013"/>
          </a:xfrm>
          <a:custGeom>
            <a:avLst/>
            <a:gdLst>
              <a:gd name="T0" fmla="*/ 29 w 69"/>
              <a:gd name="T1" fmla="*/ 63 h 74"/>
              <a:gd name="T2" fmla="*/ 58 w 69"/>
              <a:gd name="T3" fmla="*/ 67 h 74"/>
              <a:gd name="T4" fmla="*/ 61 w 69"/>
              <a:gd name="T5" fmla="*/ 38 h 74"/>
              <a:gd name="T6" fmla="*/ 40 w 69"/>
              <a:gd name="T7" fmla="*/ 10 h 74"/>
              <a:gd name="T8" fmla="*/ 11 w 69"/>
              <a:gd name="T9" fmla="*/ 7 h 74"/>
              <a:gd name="T10" fmla="*/ 7 w 69"/>
              <a:gd name="T11" fmla="*/ 36 h 74"/>
              <a:gd name="T12" fmla="*/ 29 w 69"/>
              <a:gd name="T13" fmla="*/ 63 h 74"/>
            </a:gdLst>
            <a:ahLst/>
            <a:cxnLst>
              <a:cxn ang="0">
                <a:pos x="T0" y="T1"/>
              </a:cxn>
              <a:cxn ang="0">
                <a:pos x="T2" y="T3"/>
              </a:cxn>
              <a:cxn ang="0">
                <a:pos x="T4" y="T5"/>
              </a:cxn>
              <a:cxn ang="0">
                <a:pos x="T6" y="T7"/>
              </a:cxn>
              <a:cxn ang="0">
                <a:pos x="T8" y="T9"/>
              </a:cxn>
              <a:cxn ang="0">
                <a:pos x="T10" y="T11"/>
              </a:cxn>
              <a:cxn ang="0">
                <a:pos x="T12" y="T13"/>
              </a:cxn>
            </a:cxnLst>
            <a:rect l="0" t="0" r="r" b="b"/>
            <a:pathLst>
              <a:path w="69" h="74">
                <a:moveTo>
                  <a:pt x="29" y="63"/>
                </a:moveTo>
                <a:cubicBezTo>
                  <a:pt x="36" y="72"/>
                  <a:pt x="49" y="74"/>
                  <a:pt x="58" y="67"/>
                </a:cubicBezTo>
                <a:cubicBezTo>
                  <a:pt x="67" y="60"/>
                  <a:pt x="69" y="47"/>
                  <a:pt x="61" y="38"/>
                </a:cubicBezTo>
                <a:cubicBezTo>
                  <a:pt x="40" y="10"/>
                  <a:pt x="40" y="10"/>
                  <a:pt x="40" y="10"/>
                </a:cubicBezTo>
                <a:cubicBezTo>
                  <a:pt x="33" y="1"/>
                  <a:pt x="20" y="0"/>
                  <a:pt x="11" y="7"/>
                </a:cubicBezTo>
                <a:cubicBezTo>
                  <a:pt x="2" y="14"/>
                  <a:pt x="0" y="27"/>
                  <a:pt x="7" y="36"/>
                </a:cubicBezTo>
                <a:lnTo>
                  <a:pt x="29" y="63"/>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30" name="Freeform 62"/>
          <p:cNvSpPr>
            <a:spLocks/>
          </p:cNvSpPr>
          <p:nvPr/>
        </p:nvSpPr>
        <p:spPr bwMode="auto">
          <a:xfrm>
            <a:off x="5413375" y="2287588"/>
            <a:ext cx="446088" cy="266700"/>
          </a:xfrm>
          <a:custGeom>
            <a:avLst/>
            <a:gdLst>
              <a:gd name="T0" fmla="*/ 20 w 76"/>
              <a:gd name="T1" fmla="*/ 41 h 41"/>
              <a:gd name="T2" fmla="*/ 0 w 76"/>
              <a:gd name="T3" fmla="*/ 20 h 41"/>
              <a:gd name="T4" fmla="*/ 20 w 76"/>
              <a:gd name="T5" fmla="*/ 0 h 41"/>
              <a:gd name="T6" fmla="*/ 55 w 76"/>
              <a:gd name="T7" fmla="*/ 0 h 41"/>
              <a:gd name="T8" fmla="*/ 76 w 76"/>
              <a:gd name="T9" fmla="*/ 20 h 41"/>
              <a:gd name="T10" fmla="*/ 55 w 76"/>
              <a:gd name="T11" fmla="*/ 41 h 41"/>
              <a:gd name="T12" fmla="*/ 20 w 76"/>
              <a:gd name="T13" fmla="*/ 41 h 41"/>
            </a:gdLst>
            <a:ahLst/>
            <a:cxnLst>
              <a:cxn ang="0">
                <a:pos x="T0" y="T1"/>
              </a:cxn>
              <a:cxn ang="0">
                <a:pos x="T2" y="T3"/>
              </a:cxn>
              <a:cxn ang="0">
                <a:pos x="T4" y="T5"/>
              </a:cxn>
              <a:cxn ang="0">
                <a:pos x="T6" y="T7"/>
              </a:cxn>
              <a:cxn ang="0">
                <a:pos x="T8" y="T9"/>
              </a:cxn>
              <a:cxn ang="0">
                <a:pos x="T10" y="T11"/>
              </a:cxn>
              <a:cxn ang="0">
                <a:pos x="T12" y="T13"/>
              </a:cxn>
            </a:cxnLst>
            <a:rect l="0" t="0" r="r" b="b"/>
            <a:pathLst>
              <a:path w="76" h="41">
                <a:moveTo>
                  <a:pt x="20" y="41"/>
                </a:moveTo>
                <a:cubicBezTo>
                  <a:pt x="9" y="41"/>
                  <a:pt x="0" y="32"/>
                  <a:pt x="0" y="20"/>
                </a:cubicBezTo>
                <a:cubicBezTo>
                  <a:pt x="0" y="9"/>
                  <a:pt x="9" y="0"/>
                  <a:pt x="20" y="0"/>
                </a:cubicBezTo>
                <a:cubicBezTo>
                  <a:pt x="55" y="0"/>
                  <a:pt x="55" y="0"/>
                  <a:pt x="55" y="0"/>
                </a:cubicBezTo>
                <a:cubicBezTo>
                  <a:pt x="66" y="0"/>
                  <a:pt x="76" y="9"/>
                  <a:pt x="76" y="20"/>
                </a:cubicBezTo>
                <a:cubicBezTo>
                  <a:pt x="76" y="32"/>
                  <a:pt x="66" y="41"/>
                  <a:pt x="55" y="41"/>
                </a:cubicBezTo>
                <a:lnTo>
                  <a:pt x="20" y="41"/>
                </a:lnTo>
                <a:close/>
              </a:path>
            </a:pathLst>
          </a:custGeom>
          <a:noFill/>
          <a:ln w="1587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31" name="Oval 63"/>
          <p:cNvSpPr>
            <a:spLocks noChangeArrowheads="1"/>
          </p:cNvSpPr>
          <p:nvPr/>
        </p:nvSpPr>
        <p:spPr bwMode="auto">
          <a:xfrm>
            <a:off x="5970588" y="1797050"/>
            <a:ext cx="233362" cy="252413"/>
          </a:xfrm>
          <a:prstGeom prst="ellipse">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32" name="Line 64"/>
          <p:cNvSpPr>
            <a:spLocks noChangeShapeType="1"/>
          </p:cNvSpPr>
          <p:nvPr/>
        </p:nvSpPr>
        <p:spPr bwMode="auto">
          <a:xfrm>
            <a:off x="6005513" y="1836738"/>
            <a:ext cx="169862" cy="1587"/>
          </a:xfrm>
          <a:prstGeom prst="line">
            <a:avLst/>
          </a:prstGeom>
          <a:noFill/>
          <a:ln w="111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6033" name="Freeform 65"/>
          <p:cNvSpPr>
            <a:spLocks/>
          </p:cNvSpPr>
          <p:nvPr/>
        </p:nvSpPr>
        <p:spPr bwMode="auto">
          <a:xfrm>
            <a:off x="5983288" y="1487488"/>
            <a:ext cx="823912" cy="392112"/>
          </a:xfrm>
          <a:custGeom>
            <a:avLst/>
            <a:gdLst>
              <a:gd name="T0" fmla="*/ 0 w 440"/>
              <a:gd name="T1" fmla="*/ 190 h 190"/>
              <a:gd name="T2" fmla="*/ 115 w 440"/>
              <a:gd name="T3" fmla="*/ 190 h 190"/>
              <a:gd name="T4" fmla="*/ 440 w 440"/>
              <a:gd name="T5" fmla="*/ 0 h 190"/>
            </a:gdLst>
            <a:ahLst/>
            <a:cxnLst>
              <a:cxn ang="0">
                <a:pos x="T0" y="T1"/>
              </a:cxn>
              <a:cxn ang="0">
                <a:pos x="T2" y="T3"/>
              </a:cxn>
              <a:cxn ang="0">
                <a:pos x="T4" y="T5"/>
              </a:cxn>
            </a:cxnLst>
            <a:rect l="0" t="0" r="r" b="b"/>
            <a:pathLst>
              <a:path w="440" h="190">
                <a:moveTo>
                  <a:pt x="0" y="190"/>
                </a:moveTo>
                <a:lnTo>
                  <a:pt x="115" y="190"/>
                </a:lnTo>
                <a:lnTo>
                  <a:pt x="440" y="0"/>
                </a:lnTo>
              </a:path>
            </a:pathLst>
          </a:custGeom>
          <a:noFill/>
          <a:ln w="11113"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34" name="Line 66"/>
          <p:cNvSpPr>
            <a:spLocks noChangeShapeType="1"/>
          </p:cNvSpPr>
          <p:nvPr/>
        </p:nvSpPr>
        <p:spPr bwMode="auto">
          <a:xfrm>
            <a:off x="5976938" y="1919288"/>
            <a:ext cx="227012" cy="1587"/>
          </a:xfrm>
          <a:prstGeom prst="line">
            <a:avLst/>
          </a:prstGeom>
          <a:noFill/>
          <a:ln w="111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6035" name="Line 67"/>
          <p:cNvSpPr>
            <a:spLocks noChangeShapeType="1"/>
          </p:cNvSpPr>
          <p:nvPr/>
        </p:nvSpPr>
        <p:spPr bwMode="auto">
          <a:xfrm>
            <a:off x="5976938" y="1965325"/>
            <a:ext cx="220662" cy="1588"/>
          </a:xfrm>
          <a:prstGeom prst="line">
            <a:avLst/>
          </a:prstGeom>
          <a:noFill/>
          <a:ln w="111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6036" name="Line 68"/>
          <p:cNvSpPr>
            <a:spLocks noChangeShapeType="1"/>
          </p:cNvSpPr>
          <p:nvPr/>
        </p:nvSpPr>
        <p:spPr bwMode="auto">
          <a:xfrm>
            <a:off x="6005513" y="2003425"/>
            <a:ext cx="169862" cy="3175"/>
          </a:xfrm>
          <a:prstGeom prst="line">
            <a:avLst/>
          </a:prstGeom>
          <a:noFill/>
          <a:ln w="11113">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6037" name="Oval 69"/>
          <p:cNvSpPr>
            <a:spLocks noChangeArrowheads="1"/>
          </p:cNvSpPr>
          <p:nvPr/>
        </p:nvSpPr>
        <p:spPr bwMode="auto">
          <a:xfrm>
            <a:off x="6156325" y="1590675"/>
            <a:ext cx="77788" cy="133350"/>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38" name="Oval 70"/>
          <p:cNvSpPr>
            <a:spLocks noChangeArrowheads="1"/>
          </p:cNvSpPr>
          <p:nvPr/>
        </p:nvSpPr>
        <p:spPr bwMode="auto">
          <a:xfrm>
            <a:off x="5942013" y="1590675"/>
            <a:ext cx="74612" cy="133350"/>
          </a:xfrm>
          <a:prstGeom prst="ellipse">
            <a:avLst/>
          </a:prstGeom>
          <a:noFill/>
          <a:ln w="1111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39" name="Freeform 71"/>
          <p:cNvSpPr>
            <a:spLocks/>
          </p:cNvSpPr>
          <p:nvPr/>
        </p:nvSpPr>
        <p:spPr bwMode="auto">
          <a:xfrm>
            <a:off x="5532438" y="2365375"/>
            <a:ext cx="209550" cy="96838"/>
          </a:xfrm>
          <a:custGeom>
            <a:avLst/>
            <a:gdLst>
              <a:gd name="T0" fmla="*/ 7 w 36"/>
              <a:gd name="T1" fmla="*/ 15 h 15"/>
              <a:gd name="T2" fmla="*/ 0 w 36"/>
              <a:gd name="T3" fmla="*/ 8 h 15"/>
              <a:gd name="T4" fmla="*/ 7 w 36"/>
              <a:gd name="T5" fmla="*/ 0 h 15"/>
              <a:gd name="T6" fmla="*/ 29 w 36"/>
              <a:gd name="T7" fmla="*/ 0 h 15"/>
              <a:gd name="T8" fmla="*/ 36 w 36"/>
              <a:gd name="T9" fmla="*/ 8 h 15"/>
              <a:gd name="T10" fmla="*/ 29 w 36"/>
              <a:gd name="T11" fmla="*/ 15 h 15"/>
              <a:gd name="T12" fmla="*/ 7 w 36"/>
              <a:gd name="T13" fmla="*/ 15 h 15"/>
            </a:gdLst>
            <a:ahLst/>
            <a:cxnLst>
              <a:cxn ang="0">
                <a:pos x="T0" y="T1"/>
              </a:cxn>
              <a:cxn ang="0">
                <a:pos x="T2" y="T3"/>
              </a:cxn>
              <a:cxn ang="0">
                <a:pos x="T4" y="T5"/>
              </a:cxn>
              <a:cxn ang="0">
                <a:pos x="T6" y="T7"/>
              </a:cxn>
              <a:cxn ang="0">
                <a:pos x="T8" y="T9"/>
              </a:cxn>
              <a:cxn ang="0">
                <a:pos x="T10" y="T11"/>
              </a:cxn>
              <a:cxn ang="0">
                <a:pos x="T12" y="T13"/>
              </a:cxn>
            </a:cxnLst>
            <a:rect l="0" t="0" r="r" b="b"/>
            <a:pathLst>
              <a:path w="36" h="15">
                <a:moveTo>
                  <a:pt x="7" y="15"/>
                </a:moveTo>
                <a:cubicBezTo>
                  <a:pt x="3" y="15"/>
                  <a:pt x="0" y="12"/>
                  <a:pt x="0" y="8"/>
                </a:cubicBezTo>
                <a:cubicBezTo>
                  <a:pt x="0" y="3"/>
                  <a:pt x="3" y="0"/>
                  <a:pt x="7" y="0"/>
                </a:cubicBezTo>
                <a:cubicBezTo>
                  <a:pt x="29" y="0"/>
                  <a:pt x="29" y="0"/>
                  <a:pt x="29" y="0"/>
                </a:cubicBezTo>
                <a:cubicBezTo>
                  <a:pt x="33" y="0"/>
                  <a:pt x="36" y="3"/>
                  <a:pt x="36" y="8"/>
                </a:cubicBezTo>
                <a:cubicBezTo>
                  <a:pt x="36" y="12"/>
                  <a:pt x="33" y="15"/>
                  <a:pt x="29" y="15"/>
                </a:cubicBezTo>
                <a:lnTo>
                  <a:pt x="7" y="15"/>
                </a:lnTo>
                <a:close/>
              </a:path>
            </a:pathLst>
          </a:custGeom>
          <a:solidFill>
            <a:srgbClr val="0078C1"/>
          </a:solidFill>
          <a:ln w="11113" cap="flat">
            <a:solidFill>
              <a:srgbClr val="0078C1"/>
            </a:solidFill>
            <a:prstDash val="solid"/>
            <a:miter lim="800000"/>
            <a:headEnd/>
            <a:tailEnd/>
          </a:ln>
        </p:spPr>
        <p:txBody>
          <a:bodyPr/>
          <a:lstStyle/>
          <a:p>
            <a:endParaRPr lang="en-US"/>
          </a:p>
        </p:txBody>
      </p:sp>
      <p:sp>
        <p:nvSpPr>
          <p:cNvPr id="596043" name="Rectangle 75"/>
          <p:cNvSpPr>
            <a:spLocks noChangeArrowheads="1"/>
          </p:cNvSpPr>
          <p:nvPr/>
        </p:nvSpPr>
        <p:spPr bwMode="auto">
          <a:xfrm>
            <a:off x="3973513" y="3989388"/>
            <a:ext cx="8255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v</a:t>
            </a:r>
            <a:endParaRPr lang="en-US" altLang="en-US" sz="2400"/>
          </a:p>
        </p:txBody>
      </p:sp>
      <p:sp>
        <p:nvSpPr>
          <p:cNvPr id="596044" name="Rectangle 76"/>
          <p:cNvSpPr>
            <a:spLocks noChangeArrowheads="1"/>
          </p:cNvSpPr>
          <p:nvPr/>
        </p:nvSpPr>
        <p:spPr bwMode="auto">
          <a:xfrm>
            <a:off x="6821488" y="1346200"/>
            <a:ext cx="58896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speaker</a:t>
            </a:r>
            <a:endParaRPr lang="en-US" altLang="en-US" sz="2400"/>
          </a:p>
        </p:txBody>
      </p:sp>
      <p:sp>
        <p:nvSpPr>
          <p:cNvPr id="596045" name="Rectangle 77"/>
          <p:cNvSpPr>
            <a:spLocks noChangeArrowheads="1"/>
          </p:cNvSpPr>
          <p:nvPr/>
        </p:nvSpPr>
        <p:spPr bwMode="auto">
          <a:xfrm>
            <a:off x="6821488" y="2889250"/>
            <a:ext cx="625475"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vibration</a:t>
            </a:r>
            <a:endParaRPr lang="en-US" altLang="en-US" sz="2400"/>
          </a:p>
        </p:txBody>
      </p:sp>
      <p:sp>
        <p:nvSpPr>
          <p:cNvPr id="596049" name="Rectangle 81"/>
          <p:cNvSpPr>
            <a:spLocks noChangeArrowheads="1"/>
          </p:cNvSpPr>
          <p:nvPr/>
        </p:nvSpPr>
        <p:spPr bwMode="auto">
          <a:xfrm>
            <a:off x="6821488" y="3136900"/>
            <a:ext cx="496887"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sensor</a:t>
            </a:r>
            <a:endParaRPr lang="en-US" altLang="en-US" sz="2400"/>
          </a:p>
        </p:txBody>
      </p:sp>
      <p:sp>
        <p:nvSpPr>
          <p:cNvPr id="596050" name="Line 82"/>
          <p:cNvSpPr>
            <a:spLocks noChangeShapeType="1"/>
          </p:cNvSpPr>
          <p:nvPr/>
        </p:nvSpPr>
        <p:spPr bwMode="auto">
          <a:xfrm>
            <a:off x="5719763" y="2462213"/>
            <a:ext cx="1052512" cy="62706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nvGrpSpPr>
          <p:cNvPr id="596056" name="Group 88"/>
          <p:cNvGrpSpPr>
            <a:grpSpLocks/>
          </p:cNvGrpSpPr>
          <p:nvPr/>
        </p:nvGrpSpPr>
        <p:grpSpPr bwMode="auto">
          <a:xfrm>
            <a:off x="4537075" y="1755775"/>
            <a:ext cx="3446463" cy="881063"/>
            <a:chOff x="2858" y="1106"/>
            <a:chExt cx="2171" cy="555"/>
          </a:xfrm>
        </p:grpSpPr>
        <p:sp>
          <p:nvSpPr>
            <p:cNvPr id="596040" name="Freeform 72"/>
            <p:cNvSpPr>
              <a:spLocks/>
            </p:cNvSpPr>
            <p:nvPr/>
          </p:nvSpPr>
          <p:spPr bwMode="auto">
            <a:xfrm>
              <a:off x="2858" y="1148"/>
              <a:ext cx="848" cy="513"/>
            </a:xfrm>
            <a:custGeom>
              <a:avLst/>
              <a:gdLst>
                <a:gd name="T0" fmla="*/ 0 w 230"/>
                <a:gd name="T1" fmla="*/ 126 h 126"/>
                <a:gd name="T2" fmla="*/ 230 w 230"/>
                <a:gd name="T3" fmla="*/ 12 h 126"/>
              </a:gdLst>
              <a:ahLst/>
              <a:cxnLst>
                <a:cxn ang="0">
                  <a:pos x="T0" y="T1"/>
                </a:cxn>
                <a:cxn ang="0">
                  <a:pos x="T2" y="T3"/>
                </a:cxn>
              </a:cxnLst>
              <a:rect l="0" t="0" r="r" b="b"/>
              <a:pathLst>
                <a:path w="230" h="126">
                  <a:moveTo>
                    <a:pt x="0" y="126"/>
                  </a:moveTo>
                  <a:cubicBezTo>
                    <a:pt x="0" y="126"/>
                    <a:pt x="84" y="0"/>
                    <a:pt x="230" y="12"/>
                  </a:cubicBezTo>
                </a:path>
              </a:pathLst>
            </a:custGeom>
            <a:noFill/>
            <a:ln w="206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6042" name="Freeform 74"/>
            <p:cNvSpPr>
              <a:spLocks/>
            </p:cNvSpPr>
            <p:nvPr/>
          </p:nvSpPr>
          <p:spPr bwMode="auto">
            <a:xfrm>
              <a:off x="3636" y="1161"/>
              <a:ext cx="121" cy="65"/>
            </a:xfrm>
            <a:custGeom>
              <a:avLst/>
              <a:gdLst>
                <a:gd name="T0" fmla="*/ 103 w 103"/>
                <a:gd name="T1" fmla="*/ 31 h 50"/>
                <a:gd name="T2" fmla="*/ 6 w 103"/>
                <a:gd name="T3" fmla="*/ 0 h 50"/>
                <a:gd name="T4" fmla="*/ 0 w 103"/>
                <a:gd name="T5" fmla="*/ 50 h 50"/>
                <a:gd name="T6" fmla="*/ 103 w 103"/>
                <a:gd name="T7" fmla="*/ 31 h 50"/>
              </a:gdLst>
              <a:ahLst/>
              <a:cxnLst>
                <a:cxn ang="0">
                  <a:pos x="T0" y="T1"/>
                </a:cxn>
                <a:cxn ang="0">
                  <a:pos x="T2" y="T3"/>
                </a:cxn>
                <a:cxn ang="0">
                  <a:pos x="T4" y="T5"/>
                </a:cxn>
                <a:cxn ang="0">
                  <a:pos x="T6" y="T7"/>
                </a:cxn>
              </a:cxnLst>
              <a:rect l="0" t="0" r="r" b="b"/>
              <a:pathLst>
                <a:path w="103" h="50">
                  <a:moveTo>
                    <a:pt x="103" y="31"/>
                  </a:moveTo>
                  <a:lnTo>
                    <a:pt x="6" y="0"/>
                  </a:lnTo>
                  <a:lnTo>
                    <a:pt x="0" y="50"/>
                  </a:lnTo>
                  <a:lnTo>
                    <a:pt x="103" y="31"/>
                  </a:lnTo>
                  <a:close/>
                </a:path>
              </a:pathLst>
            </a:custGeom>
            <a:solidFill>
              <a:srgbClr val="FF0000"/>
            </a:solidFill>
            <a:ln w="9525">
              <a:solidFill>
                <a:srgbClr val="FF0000"/>
              </a:solidFill>
              <a:round/>
              <a:headEnd/>
              <a:tailEnd/>
            </a:ln>
          </p:spPr>
          <p:txBody>
            <a:bodyPr/>
            <a:lstStyle/>
            <a:p>
              <a:endParaRPr lang="en-US"/>
            </a:p>
          </p:txBody>
        </p:sp>
        <p:sp>
          <p:nvSpPr>
            <p:cNvPr id="596054" name="Text Box 86"/>
            <p:cNvSpPr txBox="1">
              <a:spLocks noChangeArrowheads="1"/>
            </p:cNvSpPr>
            <p:nvPr/>
          </p:nvSpPr>
          <p:spPr bwMode="auto">
            <a:xfrm>
              <a:off x="4004" y="1106"/>
              <a:ext cx="102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0000"/>
                  </a:solidFill>
                </a:rPr>
                <a:t>“Hello there!”</a:t>
              </a:r>
            </a:p>
          </p:txBody>
        </p:sp>
      </p:grpSp>
      <p:grpSp>
        <p:nvGrpSpPr>
          <p:cNvPr id="596055" name="Group 87"/>
          <p:cNvGrpSpPr>
            <a:grpSpLocks/>
          </p:cNvGrpSpPr>
          <p:nvPr/>
        </p:nvGrpSpPr>
        <p:grpSpPr bwMode="auto">
          <a:xfrm>
            <a:off x="2616200" y="2468563"/>
            <a:ext cx="3025775" cy="1622425"/>
            <a:chOff x="1648" y="1555"/>
            <a:chExt cx="1906" cy="1022"/>
          </a:xfrm>
        </p:grpSpPr>
        <p:sp>
          <p:nvSpPr>
            <p:cNvPr id="596041" name="Freeform 73"/>
            <p:cNvSpPr>
              <a:spLocks/>
            </p:cNvSpPr>
            <p:nvPr/>
          </p:nvSpPr>
          <p:spPr bwMode="auto">
            <a:xfrm>
              <a:off x="1693" y="1555"/>
              <a:ext cx="1861" cy="1022"/>
            </a:xfrm>
            <a:custGeom>
              <a:avLst/>
              <a:gdLst>
                <a:gd name="T0" fmla="*/ 505 w 505"/>
                <a:gd name="T1" fmla="*/ 0 h 251"/>
                <a:gd name="T2" fmla="*/ 224 w 505"/>
                <a:gd name="T3" fmla="*/ 231 h 251"/>
                <a:gd name="T4" fmla="*/ 0 w 505"/>
                <a:gd name="T5" fmla="*/ 237 h 251"/>
              </a:gdLst>
              <a:ahLst/>
              <a:cxnLst>
                <a:cxn ang="0">
                  <a:pos x="T0" y="T1"/>
                </a:cxn>
                <a:cxn ang="0">
                  <a:pos x="T2" y="T3"/>
                </a:cxn>
                <a:cxn ang="0">
                  <a:pos x="T4" y="T5"/>
                </a:cxn>
              </a:cxnLst>
              <a:rect l="0" t="0" r="r" b="b"/>
              <a:pathLst>
                <a:path w="505" h="251">
                  <a:moveTo>
                    <a:pt x="505" y="0"/>
                  </a:moveTo>
                  <a:cubicBezTo>
                    <a:pt x="505" y="0"/>
                    <a:pt x="458" y="195"/>
                    <a:pt x="224" y="231"/>
                  </a:cubicBezTo>
                  <a:cubicBezTo>
                    <a:pt x="224" y="231"/>
                    <a:pt x="126" y="251"/>
                    <a:pt x="0" y="237"/>
                  </a:cubicBezTo>
                </a:path>
              </a:pathLst>
            </a:custGeom>
            <a:noFill/>
            <a:ln w="20638" cap="flat">
              <a:solidFill>
                <a:srgbClr val="FF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5978" name="Freeform 10"/>
            <p:cNvSpPr>
              <a:spLocks/>
            </p:cNvSpPr>
            <p:nvPr/>
          </p:nvSpPr>
          <p:spPr bwMode="auto">
            <a:xfrm>
              <a:off x="1648" y="2496"/>
              <a:ext cx="123" cy="65"/>
            </a:xfrm>
            <a:custGeom>
              <a:avLst/>
              <a:gdLst>
                <a:gd name="T0" fmla="*/ 0 w 104"/>
                <a:gd name="T1" fmla="*/ 15 h 50"/>
                <a:gd name="T2" fmla="*/ 97 w 104"/>
                <a:gd name="T3" fmla="*/ 50 h 50"/>
                <a:gd name="T4" fmla="*/ 104 w 104"/>
                <a:gd name="T5" fmla="*/ 0 h 50"/>
                <a:gd name="T6" fmla="*/ 0 w 104"/>
                <a:gd name="T7" fmla="*/ 15 h 50"/>
              </a:gdLst>
              <a:ahLst/>
              <a:cxnLst>
                <a:cxn ang="0">
                  <a:pos x="T0" y="T1"/>
                </a:cxn>
                <a:cxn ang="0">
                  <a:pos x="T2" y="T3"/>
                </a:cxn>
                <a:cxn ang="0">
                  <a:pos x="T4" y="T5"/>
                </a:cxn>
                <a:cxn ang="0">
                  <a:pos x="T6" y="T7"/>
                </a:cxn>
              </a:cxnLst>
              <a:rect l="0" t="0" r="r" b="b"/>
              <a:pathLst>
                <a:path w="104" h="50">
                  <a:moveTo>
                    <a:pt x="0" y="15"/>
                  </a:moveTo>
                  <a:lnTo>
                    <a:pt x="97" y="50"/>
                  </a:lnTo>
                  <a:lnTo>
                    <a:pt x="104" y="0"/>
                  </a:lnTo>
                  <a:lnTo>
                    <a:pt x="0" y="15"/>
                  </a:lnTo>
                  <a:close/>
                </a:path>
              </a:pathLst>
            </a:custGeom>
            <a:solidFill>
              <a:srgbClr val="FF0000"/>
            </a:solidFill>
            <a:ln w="9525">
              <a:solidFill>
                <a:srgbClr val="FF0000"/>
              </a:solidFill>
              <a:round/>
              <a:headEnd/>
              <a:tailEnd/>
            </a:ln>
          </p:spPr>
          <p:txBody>
            <a:bodyPr/>
            <a:lstStyle/>
            <a:p>
              <a:endParaRPr lang="en-US"/>
            </a:p>
          </p:txBody>
        </p:sp>
      </p:grpSp>
      <p:sp>
        <p:nvSpPr>
          <p:cNvPr id="596057" name="Text Box 89"/>
          <p:cNvSpPr txBox="1">
            <a:spLocks noChangeArrowheads="1"/>
          </p:cNvSpPr>
          <p:nvPr/>
        </p:nvSpPr>
        <p:spPr bwMode="auto">
          <a:xfrm>
            <a:off x="2735263" y="1154113"/>
            <a:ext cx="18288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400"/>
              <a:t>“Hello there!” audio divided into 4096 samples, stored</a:t>
            </a:r>
          </a:p>
          <a:p>
            <a:r>
              <a:rPr lang="en-US" altLang="en-US" sz="1400"/>
              <a:t>in ROM</a:t>
            </a:r>
          </a:p>
        </p:txBody>
      </p:sp>
      <p:sp>
        <p:nvSpPr>
          <p:cNvPr id="596058" name="Text Box 90"/>
          <p:cNvSpPr txBox="1">
            <a:spLocks noChangeArrowheads="1"/>
          </p:cNvSpPr>
          <p:nvPr/>
        </p:nvSpPr>
        <p:spPr bwMode="auto">
          <a:xfrm rot="5400000">
            <a:off x="1892300" y="1814513"/>
            <a:ext cx="112236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200">
                <a:solidFill>
                  <a:srgbClr val="FF0000"/>
                </a:solidFill>
              </a:rPr>
              <a:t>“Hello there!”</a:t>
            </a:r>
          </a:p>
        </p:txBody>
      </p:sp>
      <p:sp>
        <p:nvSpPr>
          <p:cNvPr id="596059" name="Text Box 91"/>
          <p:cNvSpPr txBox="1">
            <a:spLocks noChangeArrowheads="1"/>
          </p:cNvSpPr>
          <p:nvPr/>
        </p:nvSpPr>
        <p:spPr bwMode="auto">
          <a:xfrm>
            <a:off x="8213725" y="244316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596055"/>
                                        </p:tgtEl>
                                        <p:attrNameLst>
                                          <p:attrName>style.visibility</p:attrName>
                                        </p:attrNameLst>
                                      </p:cBhvr>
                                      <p:to>
                                        <p:strVal val="visible"/>
                                      </p:to>
                                    </p:set>
                                    <p:animEffect transition="in" filter="wipe(right)">
                                      <p:cBhvr>
                                        <p:cTn id="7" dur="500"/>
                                        <p:tgtEl>
                                          <p:spTgt spid="5960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96056"/>
                                        </p:tgtEl>
                                        <p:attrNameLst>
                                          <p:attrName>style.visibility</p:attrName>
                                        </p:attrNameLst>
                                      </p:cBhvr>
                                      <p:to>
                                        <p:strVal val="visible"/>
                                      </p:to>
                                    </p:set>
                                    <p:animEffect transition="in" filter="wipe(left)">
                                      <p:cBhvr>
                                        <p:cTn id="12" dur="500"/>
                                        <p:tgtEl>
                                          <p:spTgt spid="596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lide Number Placeholder 3"/>
          <p:cNvSpPr>
            <a:spLocks noGrp="1"/>
          </p:cNvSpPr>
          <p:nvPr>
            <p:ph type="sldNum" sz="quarter" idx="10"/>
          </p:nvPr>
        </p:nvSpPr>
        <p:spPr/>
        <p:txBody>
          <a:bodyPr/>
          <a:lstStyle/>
          <a:p>
            <a:fld id="{69FCB428-D041-464F-A1D6-4CA22551AD3D}" type="slidenum">
              <a:rPr lang="en-US" altLang="en-US"/>
              <a:pPr/>
              <a:t>79</a:t>
            </a:fld>
            <a:endParaRPr lang="en-US" altLang="en-US"/>
          </a:p>
        </p:txBody>
      </p:sp>
      <p:sp>
        <p:nvSpPr>
          <p:cNvPr id="596994" name="Rectangle 2"/>
          <p:cNvSpPr>
            <a:spLocks noGrp="1" noChangeArrowheads="1"/>
          </p:cNvSpPr>
          <p:nvPr>
            <p:ph type="title"/>
          </p:nvPr>
        </p:nvSpPr>
        <p:spPr/>
        <p:txBody>
          <a:bodyPr/>
          <a:lstStyle/>
          <a:p>
            <a:r>
              <a:rPr lang="en-US" altLang="en-US"/>
              <a:t>ROM Example: Talking Doll</a:t>
            </a:r>
          </a:p>
        </p:txBody>
      </p:sp>
      <p:sp>
        <p:nvSpPr>
          <p:cNvPr id="596995" name="Rectangle 3"/>
          <p:cNvSpPr>
            <a:spLocks noGrp="1" noChangeArrowheads="1"/>
          </p:cNvSpPr>
          <p:nvPr>
            <p:ph type="body" idx="1"/>
          </p:nvPr>
        </p:nvSpPr>
        <p:spPr>
          <a:xfrm>
            <a:off x="228600" y="4419600"/>
            <a:ext cx="8610600" cy="1676400"/>
          </a:xfrm>
        </p:spPr>
        <p:txBody>
          <a:bodyPr/>
          <a:lstStyle/>
          <a:p>
            <a:r>
              <a:rPr lang="en-US" altLang="en-US"/>
              <a:t>High-level state machine</a:t>
            </a:r>
          </a:p>
          <a:p>
            <a:pPr lvl="1"/>
            <a:r>
              <a:rPr lang="en-US" altLang="en-US"/>
              <a:t>Create state machine that </a:t>
            </a:r>
            <a:r>
              <a:rPr lang="en-US" altLang="en-US">
                <a:solidFill>
                  <a:srgbClr val="663300"/>
                </a:solidFill>
              </a:rPr>
              <a:t>waits for v=1</a:t>
            </a:r>
            <a:r>
              <a:rPr lang="en-US" altLang="en-US"/>
              <a:t>, and then </a:t>
            </a:r>
            <a:r>
              <a:rPr lang="en-US" altLang="en-US">
                <a:solidFill>
                  <a:srgbClr val="00FF00"/>
                </a:solidFill>
              </a:rPr>
              <a:t>counts from 0 to 4095 using a local register </a:t>
            </a:r>
            <a:r>
              <a:rPr lang="en-US" altLang="en-US" i="1">
                <a:solidFill>
                  <a:srgbClr val="00FF00"/>
                </a:solidFill>
              </a:rPr>
              <a:t>a</a:t>
            </a:r>
          </a:p>
          <a:p>
            <a:pPr lvl="1"/>
            <a:r>
              <a:rPr lang="en-US" altLang="en-US"/>
              <a:t>For each </a:t>
            </a:r>
            <a:r>
              <a:rPr lang="en-US" altLang="en-US" i="1"/>
              <a:t>a</a:t>
            </a:r>
            <a:r>
              <a:rPr lang="en-US" altLang="en-US"/>
              <a:t>, </a:t>
            </a:r>
            <a:r>
              <a:rPr lang="en-US" altLang="en-US">
                <a:solidFill>
                  <a:srgbClr val="FF0000"/>
                </a:solidFill>
              </a:rPr>
              <a:t>read ROM</a:t>
            </a:r>
            <a:r>
              <a:rPr lang="en-US" altLang="en-US"/>
              <a:t>, </a:t>
            </a:r>
            <a:r>
              <a:rPr lang="en-US" altLang="en-US">
                <a:solidFill>
                  <a:srgbClr val="0033CC"/>
                </a:solidFill>
              </a:rPr>
              <a:t>write to digital-to-analog converter</a:t>
            </a:r>
          </a:p>
        </p:txBody>
      </p:sp>
      <p:sp>
        <p:nvSpPr>
          <p:cNvPr id="597024" name="Rectangle 32"/>
          <p:cNvSpPr>
            <a:spLocks noChangeArrowheads="1"/>
          </p:cNvSpPr>
          <p:nvPr/>
        </p:nvSpPr>
        <p:spPr bwMode="auto">
          <a:xfrm>
            <a:off x="1565275" y="23526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d</a:t>
            </a:r>
            <a:endParaRPr lang="en-US" altLang="en-US" sz="2400"/>
          </a:p>
        </p:txBody>
      </p:sp>
      <p:sp>
        <p:nvSpPr>
          <p:cNvPr id="597025" name="Rectangle 33"/>
          <p:cNvSpPr>
            <a:spLocks noChangeArrowheads="1"/>
          </p:cNvSpPr>
          <p:nvPr/>
        </p:nvSpPr>
        <p:spPr bwMode="auto">
          <a:xfrm>
            <a:off x="1565275" y="22352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a:t>
            </a:r>
            <a:endParaRPr lang="en-US" altLang="en-US" sz="2400"/>
          </a:p>
        </p:txBody>
      </p:sp>
      <p:grpSp>
        <p:nvGrpSpPr>
          <p:cNvPr id="597119" name="Group 127"/>
          <p:cNvGrpSpPr>
            <a:grpSpLocks/>
          </p:cNvGrpSpPr>
          <p:nvPr/>
        </p:nvGrpSpPr>
        <p:grpSpPr bwMode="auto">
          <a:xfrm>
            <a:off x="546100" y="1406525"/>
            <a:ext cx="2884488" cy="2587625"/>
            <a:chOff x="344" y="886"/>
            <a:chExt cx="1817" cy="1630"/>
          </a:xfrm>
        </p:grpSpPr>
        <p:sp>
          <p:nvSpPr>
            <p:cNvPr id="596997" name="Line 5"/>
            <p:cNvSpPr>
              <a:spLocks noChangeShapeType="1"/>
            </p:cNvSpPr>
            <p:nvPr/>
          </p:nvSpPr>
          <p:spPr bwMode="auto">
            <a:xfrm flipV="1">
              <a:off x="754" y="1608"/>
              <a:ext cx="1" cy="416"/>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6998" name="Freeform 6"/>
            <p:cNvSpPr>
              <a:spLocks/>
            </p:cNvSpPr>
            <p:nvPr/>
          </p:nvSpPr>
          <p:spPr bwMode="auto">
            <a:xfrm>
              <a:off x="730" y="1507"/>
              <a:ext cx="49" cy="121"/>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6999" name="Line 7"/>
            <p:cNvSpPr>
              <a:spLocks noChangeShapeType="1"/>
            </p:cNvSpPr>
            <p:nvPr/>
          </p:nvSpPr>
          <p:spPr bwMode="auto">
            <a:xfrm flipV="1">
              <a:off x="905" y="1608"/>
              <a:ext cx="1" cy="416"/>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7000" name="Freeform 8"/>
            <p:cNvSpPr>
              <a:spLocks/>
            </p:cNvSpPr>
            <p:nvPr/>
          </p:nvSpPr>
          <p:spPr bwMode="auto">
            <a:xfrm>
              <a:off x="881" y="1507"/>
              <a:ext cx="48" cy="121"/>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01" name="Line 9"/>
            <p:cNvSpPr>
              <a:spLocks noChangeShapeType="1"/>
            </p:cNvSpPr>
            <p:nvPr/>
          </p:nvSpPr>
          <p:spPr bwMode="auto">
            <a:xfrm>
              <a:off x="601" y="1792"/>
              <a:ext cx="787" cy="1"/>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7002" name="Freeform 10"/>
            <p:cNvSpPr>
              <a:spLocks/>
            </p:cNvSpPr>
            <p:nvPr/>
          </p:nvSpPr>
          <p:spPr bwMode="auto">
            <a:xfrm>
              <a:off x="1373" y="1761"/>
              <a:ext cx="97" cy="61"/>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03" name="Freeform 11"/>
            <p:cNvSpPr>
              <a:spLocks/>
            </p:cNvSpPr>
            <p:nvPr/>
          </p:nvSpPr>
          <p:spPr bwMode="auto">
            <a:xfrm>
              <a:off x="1151" y="2455"/>
              <a:ext cx="101" cy="61"/>
            </a:xfrm>
            <a:custGeom>
              <a:avLst/>
              <a:gdLst>
                <a:gd name="T0" fmla="*/ 0 w 104"/>
                <a:gd name="T1" fmla="*/ 15 h 50"/>
                <a:gd name="T2" fmla="*/ 97 w 104"/>
                <a:gd name="T3" fmla="*/ 50 h 50"/>
                <a:gd name="T4" fmla="*/ 104 w 104"/>
                <a:gd name="T5" fmla="*/ 0 h 50"/>
                <a:gd name="T6" fmla="*/ 0 w 104"/>
                <a:gd name="T7" fmla="*/ 15 h 50"/>
              </a:gdLst>
              <a:ahLst/>
              <a:cxnLst>
                <a:cxn ang="0">
                  <a:pos x="T0" y="T1"/>
                </a:cxn>
                <a:cxn ang="0">
                  <a:pos x="T2" y="T3"/>
                </a:cxn>
                <a:cxn ang="0">
                  <a:pos x="T4" y="T5"/>
                </a:cxn>
                <a:cxn ang="0">
                  <a:pos x="T6" y="T7"/>
                </a:cxn>
              </a:cxnLst>
              <a:rect l="0" t="0" r="r" b="b"/>
              <a:pathLst>
                <a:path w="104" h="50">
                  <a:moveTo>
                    <a:pt x="0" y="15"/>
                  </a:moveTo>
                  <a:lnTo>
                    <a:pt x="97" y="50"/>
                  </a:lnTo>
                  <a:lnTo>
                    <a:pt x="104" y="0"/>
                  </a:lnTo>
                  <a:lnTo>
                    <a:pt x="0"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04" name="Line 12"/>
            <p:cNvSpPr>
              <a:spLocks noChangeShapeType="1"/>
            </p:cNvSpPr>
            <p:nvPr/>
          </p:nvSpPr>
          <p:spPr bwMode="auto">
            <a:xfrm>
              <a:off x="1164" y="2103"/>
              <a:ext cx="224" cy="2"/>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7005" name="Freeform 13"/>
            <p:cNvSpPr>
              <a:spLocks/>
            </p:cNvSpPr>
            <p:nvPr/>
          </p:nvSpPr>
          <p:spPr bwMode="auto">
            <a:xfrm>
              <a:off x="1373" y="2073"/>
              <a:ext cx="97" cy="61"/>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06" name="Line 14"/>
            <p:cNvSpPr>
              <a:spLocks noChangeShapeType="1"/>
            </p:cNvSpPr>
            <p:nvPr/>
          </p:nvSpPr>
          <p:spPr bwMode="auto">
            <a:xfrm>
              <a:off x="604" y="1503"/>
              <a:ext cx="0" cy="193"/>
            </a:xfrm>
            <a:prstGeom prst="line">
              <a:avLst/>
            </a:prstGeom>
            <a:noFill/>
            <a:ln w="301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7007" name="Freeform 15"/>
            <p:cNvSpPr>
              <a:spLocks/>
            </p:cNvSpPr>
            <p:nvPr/>
          </p:nvSpPr>
          <p:spPr bwMode="auto">
            <a:xfrm>
              <a:off x="580" y="1677"/>
              <a:ext cx="48" cy="122"/>
            </a:xfrm>
            <a:custGeom>
              <a:avLst/>
              <a:gdLst>
                <a:gd name="T0" fmla="*/ 25 w 50"/>
                <a:gd name="T1" fmla="*/ 100 h 100"/>
                <a:gd name="T2" fmla="*/ 0 w 50"/>
                <a:gd name="T3" fmla="*/ 0 h 100"/>
                <a:gd name="T4" fmla="*/ 5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0" y="0"/>
                  </a:lnTo>
                  <a:lnTo>
                    <a:pt x="5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08" name="Freeform 16"/>
            <p:cNvSpPr>
              <a:spLocks/>
            </p:cNvSpPr>
            <p:nvPr/>
          </p:nvSpPr>
          <p:spPr bwMode="auto">
            <a:xfrm>
              <a:off x="1476" y="1925"/>
              <a:ext cx="100" cy="126"/>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09" name="Freeform 17"/>
            <p:cNvSpPr>
              <a:spLocks/>
            </p:cNvSpPr>
            <p:nvPr/>
          </p:nvSpPr>
          <p:spPr bwMode="auto">
            <a:xfrm>
              <a:off x="347" y="2352"/>
              <a:ext cx="99" cy="125"/>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111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10" name="Freeform 18"/>
            <p:cNvSpPr>
              <a:spLocks/>
            </p:cNvSpPr>
            <p:nvPr/>
          </p:nvSpPr>
          <p:spPr bwMode="auto">
            <a:xfrm>
              <a:off x="561" y="1548"/>
              <a:ext cx="81" cy="103"/>
            </a:xfrm>
            <a:custGeom>
              <a:avLst/>
              <a:gdLst>
                <a:gd name="T0" fmla="*/ 84 w 84"/>
                <a:gd name="T1" fmla="*/ 0 h 85"/>
                <a:gd name="T2" fmla="*/ 0 w 84"/>
                <a:gd name="T3" fmla="*/ 85 h 85"/>
                <a:gd name="T4" fmla="*/ 84 w 84"/>
                <a:gd name="T5" fmla="*/ 0 h 85"/>
              </a:gdLst>
              <a:ahLst/>
              <a:cxnLst>
                <a:cxn ang="0">
                  <a:pos x="T0" y="T1"/>
                </a:cxn>
                <a:cxn ang="0">
                  <a:pos x="T2" y="T3"/>
                </a:cxn>
                <a:cxn ang="0">
                  <a:pos x="T4" y="T5"/>
                </a:cxn>
              </a:cxnLst>
              <a:rect l="0" t="0" r="r" b="b"/>
              <a:pathLst>
                <a:path w="84" h="85">
                  <a:moveTo>
                    <a:pt x="84" y="0"/>
                  </a:moveTo>
                  <a:lnTo>
                    <a:pt x="0" y="85"/>
                  </a:lnTo>
                  <a:lnTo>
                    <a:pt x="8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11" name="Line 19"/>
            <p:cNvSpPr>
              <a:spLocks noChangeShapeType="1"/>
            </p:cNvSpPr>
            <p:nvPr/>
          </p:nvSpPr>
          <p:spPr bwMode="auto">
            <a:xfrm flipH="1">
              <a:off x="561" y="1548"/>
              <a:ext cx="81" cy="103"/>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7012" name="Freeform 20"/>
            <p:cNvSpPr>
              <a:spLocks/>
            </p:cNvSpPr>
            <p:nvPr/>
          </p:nvSpPr>
          <p:spPr bwMode="auto">
            <a:xfrm>
              <a:off x="715" y="1815"/>
              <a:ext cx="79" cy="102"/>
            </a:xfrm>
            <a:custGeom>
              <a:avLst/>
              <a:gdLst>
                <a:gd name="T0" fmla="*/ 82 w 82"/>
                <a:gd name="T1" fmla="*/ 0 h 84"/>
                <a:gd name="T2" fmla="*/ 0 w 82"/>
                <a:gd name="T3" fmla="*/ 84 h 84"/>
                <a:gd name="T4" fmla="*/ 82 w 82"/>
                <a:gd name="T5" fmla="*/ 0 h 84"/>
              </a:gdLst>
              <a:ahLst/>
              <a:cxnLst>
                <a:cxn ang="0">
                  <a:pos x="T0" y="T1"/>
                </a:cxn>
                <a:cxn ang="0">
                  <a:pos x="T2" y="T3"/>
                </a:cxn>
                <a:cxn ang="0">
                  <a:pos x="T4" y="T5"/>
                </a:cxn>
              </a:cxnLst>
              <a:rect l="0" t="0" r="r" b="b"/>
              <a:pathLst>
                <a:path w="82" h="84">
                  <a:moveTo>
                    <a:pt x="82" y="0"/>
                  </a:moveTo>
                  <a:lnTo>
                    <a:pt x="0" y="84"/>
                  </a:lnTo>
                  <a:lnTo>
                    <a:pt x="82"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13" name="Line 21"/>
            <p:cNvSpPr>
              <a:spLocks noChangeShapeType="1"/>
            </p:cNvSpPr>
            <p:nvPr/>
          </p:nvSpPr>
          <p:spPr bwMode="auto">
            <a:xfrm flipH="1">
              <a:off x="715" y="1815"/>
              <a:ext cx="79" cy="102"/>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7014" name="Rectangle 22"/>
            <p:cNvSpPr>
              <a:spLocks noChangeArrowheads="1"/>
            </p:cNvSpPr>
            <p:nvPr/>
          </p:nvSpPr>
          <p:spPr bwMode="auto">
            <a:xfrm>
              <a:off x="448" y="968"/>
              <a:ext cx="67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4096x16 ROM</a:t>
              </a:r>
              <a:endParaRPr lang="en-US" altLang="en-US" sz="2400"/>
            </a:p>
          </p:txBody>
        </p:sp>
        <p:sp>
          <p:nvSpPr>
            <p:cNvPr id="597019" name="Rectangle 27"/>
            <p:cNvSpPr>
              <a:spLocks noChangeArrowheads="1"/>
            </p:cNvSpPr>
            <p:nvPr/>
          </p:nvSpPr>
          <p:spPr bwMode="auto">
            <a:xfrm>
              <a:off x="559" y="2194"/>
              <a:ext cx="4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processor</a:t>
              </a:r>
              <a:endParaRPr lang="en-US" altLang="en-US" sz="2400"/>
            </a:p>
          </p:txBody>
        </p:sp>
        <p:sp>
          <p:nvSpPr>
            <p:cNvPr id="597026" name="Rectangle 34"/>
            <p:cNvSpPr>
              <a:spLocks noChangeArrowheads="1"/>
            </p:cNvSpPr>
            <p:nvPr/>
          </p:nvSpPr>
          <p:spPr bwMode="auto">
            <a:xfrm>
              <a:off x="780" y="1893"/>
              <a:ext cx="122"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Ra</a:t>
              </a:r>
              <a:endParaRPr lang="en-US" altLang="en-US" sz="2400"/>
            </a:p>
          </p:txBody>
        </p:sp>
        <p:sp>
          <p:nvSpPr>
            <p:cNvPr id="597028" name="Rectangle 36"/>
            <p:cNvSpPr>
              <a:spLocks noChangeArrowheads="1"/>
            </p:cNvSpPr>
            <p:nvPr/>
          </p:nvSpPr>
          <p:spPr bwMode="auto">
            <a:xfrm>
              <a:off x="446" y="1519"/>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597029" name="Rectangle 37"/>
            <p:cNvSpPr>
              <a:spLocks noChangeArrowheads="1"/>
            </p:cNvSpPr>
            <p:nvPr/>
          </p:nvSpPr>
          <p:spPr bwMode="auto">
            <a:xfrm>
              <a:off x="938" y="1893"/>
              <a:ext cx="1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200">
                  <a:solidFill>
                    <a:srgbClr val="000000"/>
                  </a:solidFill>
                  <a:latin typeface="Myriad Roman" charset="0"/>
                </a:rPr>
                <a:t>Ren</a:t>
              </a:r>
              <a:endParaRPr lang="en-US" altLang="en-US" sz="2400"/>
            </a:p>
          </p:txBody>
        </p:sp>
        <p:sp>
          <p:nvSpPr>
            <p:cNvPr id="597031" name="Rectangle 39"/>
            <p:cNvSpPr>
              <a:spLocks noChangeArrowheads="1"/>
            </p:cNvSpPr>
            <p:nvPr/>
          </p:nvSpPr>
          <p:spPr bwMode="auto">
            <a:xfrm>
              <a:off x="1187" y="2141"/>
              <a:ext cx="25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da_ld</a:t>
              </a:r>
              <a:endParaRPr lang="en-US" altLang="en-US" sz="2400"/>
            </a:p>
          </p:txBody>
        </p:sp>
        <p:sp>
          <p:nvSpPr>
            <p:cNvPr id="597032" name="Rectangle 40"/>
            <p:cNvSpPr>
              <a:spLocks noChangeArrowheads="1"/>
            </p:cNvSpPr>
            <p:nvPr/>
          </p:nvSpPr>
          <p:spPr bwMode="auto">
            <a:xfrm>
              <a:off x="1616" y="1607"/>
              <a:ext cx="4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digital-to-</a:t>
              </a:r>
              <a:endParaRPr lang="en-US" altLang="en-US" sz="2400"/>
            </a:p>
          </p:txBody>
        </p:sp>
        <p:sp>
          <p:nvSpPr>
            <p:cNvPr id="597038" name="Rectangle 46"/>
            <p:cNvSpPr>
              <a:spLocks noChangeArrowheads="1"/>
            </p:cNvSpPr>
            <p:nvPr/>
          </p:nvSpPr>
          <p:spPr bwMode="auto">
            <a:xfrm>
              <a:off x="1679" y="1752"/>
              <a:ext cx="31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analog</a:t>
              </a:r>
              <a:endParaRPr lang="en-US" altLang="en-US" sz="2400"/>
            </a:p>
          </p:txBody>
        </p:sp>
        <p:sp>
          <p:nvSpPr>
            <p:cNvPr id="597039" name="Rectangle 47"/>
            <p:cNvSpPr>
              <a:spLocks noChangeArrowheads="1"/>
            </p:cNvSpPr>
            <p:nvPr/>
          </p:nvSpPr>
          <p:spPr bwMode="auto">
            <a:xfrm>
              <a:off x="1624" y="1898"/>
              <a:ext cx="4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converter</a:t>
              </a:r>
              <a:endParaRPr lang="en-US" altLang="en-US" sz="2400"/>
            </a:p>
          </p:txBody>
        </p:sp>
        <p:sp>
          <p:nvSpPr>
            <p:cNvPr id="597047" name="Rectangle 55"/>
            <p:cNvSpPr>
              <a:spLocks noChangeArrowheads="1"/>
            </p:cNvSpPr>
            <p:nvPr/>
          </p:nvSpPr>
          <p:spPr bwMode="auto">
            <a:xfrm>
              <a:off x="344" y="886"/>
              <a:ext cx="820" cy="61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48" name="Rectangle 56"/>
            <p:cNvSpPr>
              <a:spLocks noChangeArrowheads="1"/>
            </p:cNvSpPr>
            <p:nvPr/>
          </p:nvSpPr>
          <p:spPr bwMode="auto">
            <a:xfrm>
              <a:off x="1473" y="1522"/>
              <a:ext cx="688" cy="624"/>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49" name="Rectangle 57"/>
            <p:cNvSpPr>
              <a:spLocks noChangeArrowheads="1"/>
            </p:cNvSpPr>
            <p:nvPr/>
          </p:nvSpPr>
          <p:spPr bwMode="auto">
            <a:xfrm>
              <a:off x="344" y="2028"/>
              <a:ext cx="820" cy="480"/>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66" name="Freeform 74"/>
            <p:cNvSpPr>
              <a:spLocks/>
            </p:cNvSpPr>
            <p:nvPr/>
          </p:nvSpPr>
          <p:spPr bwMode="auto">
            <a:xfrm>
              <a:off x="1207" y="2382"/>
              <a:ext cx="562" cy="113"/>
            </a:xfrm>
            <a:custGeom>
              <a:avLst/>
              <a:gdLst>
                <a:gd name="T0" fmla="*/ 505 w 505"/>
                <a:gd name="T1" fmla="*/ 0 h 251"/>
                <a:gd name="T2" fmla="*/ 224 w 505"/>
                <a:gd name="T3" fmla="*/ 231 h 251"/>
                <a:gd name="T4" fmla="*/ 0 w 505"/>
                <a:gd name="T5" fmla="*/ 237 h 251"/>
              </a:gdLst>
              <a:ahLst/>
              <a:cxnLst>
                <a:cxn ang="0">
                  <a:pos x="T0" y="T1"/>
                </a:cxn>
                <a:cxn ang="0">
                  <a:pos x="T2" y="T3"/>
                </a:cxn>
                <a:cxn ang="0">
                  <a:pos x="T4" y="T5"/>
                </a:cxn>
              </a:cxnLst>
              <a:rect l="0" t="0" r="r" b="b"/>
              <a:pathLst>
                <a:path w="505" h="251">
                  <a:moveTo>
                    <a:pt x="505" y="0"/>
                  </a:moveTo>
                  <a:cubicBezTo>
                    <a:pt x="505" y="0"/>
                    <a:pt x="458" y="195"/>
                    <a:pt x="224" y="231"/>
                  </a:cubicBezTo>
                  <a:cubicBezTo>
                    <a:pt x="224" y="231"/>
                    <a:pt x="126" y="251"/>
                    <a:pt x="0" y="237"/>
                  </a:cubicBez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68" name="Rectangle 76"/>
            <p:cNvSpPr>
              <a:spLocks noChangeArrowheads="1"/>
            </p:cNvSpPr>
            <p:nvPr/>
          </p:nvSpPr>
          <p:spPr bwMode="auto">
            <a:xfrm>
              <a:off x="1784" y="2301"/>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v</a:t>
              </a:r>
              <a:endParaRPr lang="en-US" altLang="en-US" sz="2400"/>
            </a:p>
          </p:txBody>
        </p:sp>
      </p:grpSp>
      <p:sp>
        <p:nvSpPr>
          <p:cNvPr id="597077" name="Freeform 85"/>
          <p:cNvSpPr>
            <a:spLocks/>
          </p:cNvSpPr>
          <p:nvPr/>
        </p:nvSpPr>
        <p:spPr bwMode="auto">
          <a:xfrm>
            <a:off x="4632325" y="1665288"/>
            <a:ext cx="147638" cy="203200"/>
          </a:xfrm>
          <a:custGeom>
            <a:avLst/>
            <a:gdLst>
              <a:gd name="T0" fmla="*/ 72 w 72"/>
              <a:gd name="T1" fmla="*/ 97 h 97"/>
              <a:gd name="T2" fmla="*/ 41 w 72"/>
              <a:gd name="T3" fmla="*/ 0 h 97"/>
              <a:gd name="T4" fmla="*/ 0 w 72"/>
              <a:gd name="T5" fmla="*/ 28 h 97"/>
              <a:gd name="T6" fmla="*/ 72 w 72"/>
              <a:gd name="T7" fmla="*/ 97 h 97"/>
            </a:gdLst>
            <a:ahLst/>
            <a:cxnLst>
              <a:cxn ang="0">
                <a:pos x="T0" y="T1"/>
              </a:cxn>
              <a:cxn ang="0">
                <a:pos x="T2" y="T3"/>
              </a:cxn>
              <a:cxn ang="0">
                <a:pos x="T4" y="T5"/>
              </a:cxn>
              <a:cxn ang="0">
                <a:pos x="T6" y="T7"/>
              </a:cxn>
            </a:cxnLst>
            <a:rect l="0" t="0" r="r" b="b"/>
            <a:pathLst>
              <a:path w="72" h="97">
                <a:moveTo>
                  <a:pt x="72" y="97"/>
                </a:moveTo>
                <a:lnTo>
                  <a:pt x="41" y="0"/>
                </a:lnTo>
                <a:lnTo>
                  <a:pt x="0" y="28"/>
                </a:lnTo>
                <a:lnTo>
                  <a:pt x="72" y="9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78" name="Freeform 86"/>
          <p:cNvSpPr>
            <a:spLocks/>
          </p:cNvSpPr>
          <p:nvPr/>
        </p:nvSpPr>
        <p:spPr bwMode="auto">
          <a:xfrm>
            <a:off x="5434013" y="1874838"/>
            <a:ext cx="211137" cy="109537"/>
          </a:xfrm>
          <a:custGeom>
            <a:avLst/>
            <a:gdLst>
              <a:gd name="T0" fmla="*/ 103 w 103"/>
              <a:gd name="T1" fmla="*/ 53 h 53"/>
              <a:gd name="T2" fmla="*/ 15 w 103"/>
              <a:gd name="T3" fmla="*/ 0 h 53"/>
              <a:gd name="T4" fmla="*/ 0 w 103"/>
              <a:gd name="T5" fmla="*/ 47 h 53"/>
              <a:gd name="T6" fmla="*/ 103 w 103"/>
              <a:gd name="T7" fmla="*/ 53 h 53"/>
            </a:gdLst>
            <a:ahLst/>
            <a:cxnLst>
              <a:cxn ang="0">
                <a:pos x="T0" y="T1"/>
              </a:cxn>
              <a:cxn ang="0">
                <a:pos x="T2" y="T3"/>
              </a:cxn>
              <a:cxn ang="0">
                <a:pos x="T4" y="T5"/>
              </a:cxn>
              <a:cxn ang="0">
                <a:pos x="T6" y="T7"/>
              </a:cxn>
            </a:cxnLst>
            <a:rect l="0" t="0" r="r" b="b"/>
            <a:pathLst>
              <a:path w="103" h="53">
                <a:moveTo>
                  <a:pt x="103" y="53"/>
                </a:moveTo>
                <a:lnTo>
                  <a:pt x="15" y="0"/>
                </a:lnTo>
                <a:lnTo>
                  <a:pt x="0" y="47"/>
                </a:lnTo>
                <a:lnTo>
                  <a:pt x="103"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79" name="Freeform 87"/>
          <p:cNvSpPr>
            <a:spLocks/>
          </p:cNvSpPr>
          <p:nvPr/>
        </p:nvSpPr>
        <p:spPr bwMode="auto">
          <a:xfrm>
            <a:off x="4676775" y="2336800"/>
            <a:ext cx="103188" cy="214313"/>
          </a:xfrm>
          <a:custGeom>
            <a:avLst/>
            <a:gdLst>
              <a:gd name="T0" fmla="*/ 37 w 50"/>
              <a:gd name="T1" fmla="*/ 0 h 103"/>
              <a:gd name="T2" fmla="*/ 0 w 50"/>
              <a:gd name="T3" fmla="*/ 97 h 103"/>
              <a:gd name="T4" fmla="*/ 50 w 50"/>
              <a:gd name="T5" fmla="*/ 103 h 103"/>
              <a:gd name="T6" fmla="*/ 37 w 50"/>
              <a:gd name="T7" fmla="*/ 0 h 103"/>
            </a:gdLst>
            <a:ahLst/>
            <a:cxnLst>
              <a:cxn ang="0">
                <a:pos x="T0" y="T1"/>
              </a:cxn>
              <a:cxn ang="0">
                <a:pos x="T2" y="T3"/>
              </a:cxn>
              <a:cxn ang="0">
                <a:pos x="T4" y="T5"/>
              </a:cxn>
              <a:cxn ang="0">
                <a:pos x="T6" y="T7"/>
              </a:cxn>
            </a:cxnLst>
            <a:rect l="0" t="0" r="r" b="b"/>
            <a:pathLst>
              <a:path w="50" h="103">
                <a:moveTo>
                  <a:pt x="37" y="0"/>
                </a:moveTo>
                <a:lnTo>
                  <a:pt x="0" y="97"/>
                </a:lnTo>
                <a:lnTo>
                  <a:pt x="50" y="103"/>
                </a:lnTo>
                <a:lnTo>
                  <a:pt x="3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80" name="Freeform 88"/>
          <p:cNvSpPr>
            <a:spLocks/>
          </p:cNvSpPr>
          <p:nvPr/>
        </p:nvSpPr>
        <p:spPr bwMode="auto">
          <a:xfrm>
            <a:off x="6991350" y="2524125"/>
            <a:ext cx="165100" cy="195263"/>
          </a:xfrm>
          <a:custGeom>
            <a:avLst/>
            <a:gdLst>
              <a:gd name="T0" fmla="*/ 81 w 81"/>
              <a:gd name="T1" fmla="*/ 94 h 94"/>
              <a:gd name="T2" fmla="*/ 41 w 81"/>
              <a:gd name="T3" fmla="*/ 0 h 94"/>
              <a:gd name="T4" fmla="*/ 0 w 81"/>
              <a:gd name="T5" fmla="*/ 32 h 94"/>
              <a:gd name="T6" fmla="*/ 81 w 81"/>
              <a:gd name="T7" fmla="*/ 94 h 94"/>
            </a:gdLst>
            <a:ahLst/>
            <a:cxnLst>
              <a:cxn ang="0">
                <a:pos x="T0" y="T1"/>
              </a:cxn>
              <a:cxn ang="0">
                <a:pos x="T2" y="T3"/>
              </a:cxn>
              <a:cxn ang="0">
                <a:pos x="T4" y="T5"/>
              </a:cxn>
              <a:cxn ang="0">
                <a:pos x="T6" y="T7"/>
              </a:cxn>
            </a:cxnLst>
            <a:rect l="0" t="0" r="r" b="b"/>
            <a:pathLst>
              <a:path w="81" h="94">
                <a:moveTo>
                  <a:pt x="81" y="94"/>
                </a:moveTo>
                <a:lnTo>
                  <a:pt x="41" y="0"/>
                </a:lnTo>
                <a:lnTo>
                  <a:pt x="0" y="32"/>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81" name="Freeform 89"/>
          <p:cNvSpPr>
            <a:spLocks/>
          </p:cNvSpPr>
          <p:nvPr/>
        </p:nvSpPr>
        <p:spPr bwMode="auto">
          <a:xfrm>
            <a:off x="5022850" y="2297113"/>
            <a:ext cx="153988" cy="207962"/>
          </a:xfrm>
          <a:custGeom>
            <a:avLst/>
            <a:gdLst>
              <a:gd name="T0" fmla="*/ 0 w 75"/>
              <a:gd name="T1" fmla="*/ 0 h 100"/>
              <a:gd name="T2" fmla="*/ 31 w 75"/>
              <a:gd name="T3" fmla="*/ 100 h 100"/>
              <a:gd name="T4" fmla="*/ 75 w 75"/>
              <a:gd name="T5" fmla="*/ 72 h 100"/>
              <a:gd name="T6" fmla="*/ 0 w 75"/>
              <a:gd name="T7" fmla="*/ 0 h 100"/>
            </a:gdLst>
            <a:ahLst/>
            <a:cxnLst>
              <a:cxn ang="0">
                <a:pos x="T0" y="T1"/>
              </a:cxn>
              <a:cxn ang="0">
                <a:pos x="T2" y="T3"/>
              </a:cxn>
              <a:cxn ang="0">
                <a:pos x="T4" y="T5"/>
              </a:cxn>
              <a:cxn ang="0">
                <a:pos x="T6" y="T7"/>
              </a:cxn>
            </a:cxnLst>
            <a:rect l="0" t="0" r="r" b="b"/>
            <a:pathLst>
              <a:path w="75" h="100">
                <a:moveTo>
                  <a:pt x="0" y="0"/>
                </a:moveTo>
                <a:lnTo>
                  <a:pt x="31" y="100"/>
                </a:lnTo>
                <a:lnTo>
                  <a:pt x="75" y="7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82" name="Freeform 90"/>
          <p:cNvSpPr>
            <a:spLocks/>
          </p:cNvSpPr>
          <p:nvPr/>
        </p:nvSpPr>
        <p:spPr bwMode="auto">
          <a:xfrm>
            <a:off x="6043613" y="1868488"/>
            <a:ext cx="211137" cy="96837"/>
          </a:xfrm>
          <a:custGeom>
            <a:avLst/>
            <a:gdLst>
              <a:gd name="T0" fmla="*/ 0 w 103"/>
              <a:gd name="T1" fmla="*/ 34 h 47"/>
              <a:gd name="T2" fmla="*/ 103 w 103"/>
              <a:gd name="T3" fmla="*/ 47 h 47"/>
              <a:gd name="T4" fmla="*/ 96 w 103"/>
              <a:gd name="T5" fmla="*/ 0 h 47"/>
              <a:gd name="T6" fmla="*/ 0 w 103"/>
              <a:gd name="T7" fmla="*/ 34 h 47"/>
            </a:gdLst>
            <a:ahLst/>
            <a:cxnLst>
              <a:cxn ang="0">
                <a:pos x="T0" y="T1"/>
              </a:cxn>
              <a:cxn ang="0">
                <a:pos x="T2" y="T3"/>
              </a:cxn>
              <a:cxn ang="0">
                <a:pos x="T4" y="T5"/>
              </a:cxn>
              <a:cxn ang="0">
                <a:pos x="T6" y="T7"/>
              </a:cxn>
            </a:cxnLst>
            <a:rect l="0" t="0" r="r" b="b"/>
            <a:pathLst>
              <a:path w="103" h="47">
                <a:moveTo>
                  <a:pt x="0" y="34"/>
                </a:moveTo>
                <a:lnTo>
                  <a:pt x="103" y="47"/>
                </a:lnTo>
                <a:lnTo>
                  <a:pt x="96" y="0"/>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7083" name="Freeform 91"/>
          <p:cNvSpPr>
            <a:spLocks/>
          </p:cNvSpPr>
          <p:nvPr/>
        </p:nvSpPr>
        <p:spPr bwMode="auto">
          <a:xfrm>
            <a:off x="4516438" y="1568450"/>
            <a:ext cx="217487" cy="241300"/>
          </a:xfrm>
          <a:custGeom>
            <a:avLst/>
            <a:gdLst>
              <a:gd name="T0" fmla="*/ 0 w 34"/>
              <a:gd name="T1" fmla="*/ 0 h 37"/>
              <a:gd name="T2" fmla="*/ 34 w 34"/>
              <a:gd name="T3" fmla="*/ 37 h 37"/>
            </a:gdLst>
            <a:ahLst/>
            <a:cxnLst>
              <a:cxn ang="0">
                <a:pos x="T0" y="T1"/>
              </a:cxn>
              <a:cxn ang="0">
                <a:pos x="T2" y="T3"/>
              </a:cxn>
            </a:cxnLst>
            <a:rect l="0" t="0" r="r" b="b"/>
            <a:pathLst>
              <a:path w="34" h="37">
                <a:moveTo>
                  <a:pt x="0" y="0"/>
                </a:moveTo>
                <a:cubicBezTo>
                  <a:pt x="0" y="0"/>
                  <a:pt x="24" y="11"/>
                  <a:pt x="34" y="37"/>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84" name="Freeform 92"/>
          <p:cNvSpPr>
            <a:spLocks/>
          </p:cNvSpPr>
          <p:nvPr/>
        </p:nvSpPr>
        <p:spPr bwMode="auto">
          <a:xfrm>
            <a:off x="5086350" y="1862138"/>
            <a:ext cx="449263" cy="134937"/>
          </a:xfrm>
          <a:custGeom>
            <a:avLst/>
            <a:gdLst>
              <a:gd name="T0" fmla="*/ 0 w 70"/>
              <a:gd name="T1" fmla="*/ 21 h 21"/>
              <a:gd name="T2" fmla="*/ 70 w 70"/>
              <a:gd name="T3" fmla="*/ 13 h 21"/>
            </a:gdLst>
            <a:ahLst/>
            <a:cxnLst>
              <a:cxn ang="0">
                <a:pos x="T0" y="T1"/>
              </a:cxn>
              <a:cxn ang="0">
                <a:pos x="T2" y="T3"/>
              </a:cxn>
            </a:cxnLst>
            <a:rect l="0" t="0" r="r" b="b"/>
            <a:pathLst>
              <a:path w="70" h="21">
                <a:moveTo>
                  <a:pt x="0" y="21"/>
                </a:moveTo>
                <a:cubicBezTo>
                  <a:pt x="0" y="21"/>
                  <a:pt x="33" y="0"/>
                  <a:pt x="70" y="1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85" name="Freeform 93"/>
          <p:cNvSpPr>
            <a:spLocks/>
          </p:cNvSpPr>
          <p:nvPr/>
        </p:nvSpPr>
        <p:spPr bwMode="auto">
          <a:xfrm>
            <a:off x="6100763" y="2009775"/>
            <a:ext cx="1025525" cy="669925"/>
          </a:xfrm>
          <a:custGeom>
            <a:avLst/>
            <a:gdLst>
              <a:gd name="T0" fmla="*/ 0 w 160"/>
              <a:gd name="T1" fmla="*/ 9 h 103"/>
              <a:gd name="T2" fmla="*/ 160 w 160"/>
              <a:gd name="T3" fmla="*/ 103 h 103"/>
            </a:gdLst>
            <a:ahLst/>
            <a:cxnLst>
              <a:cxn ang="0">
                <a:pos x="T0" y="T1"/>
              </a:cxn>
              <a:cxn ang="0">
                <a:pos x="T2" y="T3"/>
              </a:cxn>
            </a:cxnLst>
            <a:rect l="0" t="0" r="r" b="b"/>
            <a:pathLst>
              <a:path w="160" h="103">
                <a:moveTo>
                  <a:pt x="0" y="9"/>
                </a:moveTo>
                <a:cubicBezTo>
                  <a:pt x="0" y="9"/>
                  <a:pt x="91" y="0"/>
                  <a:pt x="160" y="10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86" name="Freeform 94"/>
          <p:cNvSpPr>
            <a:spLocks/>
          </p:cNvSpPr>
          <p:nvPr/>
        </p:nvSpPr>
        <p:spPr bwMode="auto">
          <a:xfrm>
            <a:off x="6124575" y="1828800"/>
            <a:ext cx="1179513" cy="857250"/>
          </a:xfrm>
          <a:custGeom>
            <a:avLst/>
            <a:gdLst>
              <a:gd name="T0" fmla="*/ 0 w 184"/>
              <a:gd name="T1" fmla="*/ 15 h 132"/>
              <a:gd name="T2" fmla="*/ 184 w 184"/>
              <a:gd name="T3" fmla="*/ 132 h 132"/>
            </a:gdLst>
            <a:ahLst/>
            <a:cxnLst>
              <a:cxn ang="0">
                <a:pos x="T0" y="T1"/>
              </a:cxn>
              <a:cxn ang="0">
                <a:pos x="T2" y="T3"/>
              </a:cxn>
            </a:cxnLst>
            <a:rect l="0" t="0" r="r" b="b"/>
            <a:pathLst>
              <a:path w="184" h="132">
                <a:moveTo>
                  <a:pt x="0" y="15"/>
                </a:moveTo>
                <a:cubicBezTo>
                  <a:pt x="0" y="15"/>
                  <a:pt x="179" y="0"/>
                  <a:pt x="184" y="13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087" name="Rectangle 95"/>
          <p:cNvSpPr>
            <a:spLocks noChangeArrowheads="1"/>
          </p:cNvSpPr>
          <p:nvPr/>
        </p:nvSpPr>
        <p:spPr bwMode="auto">
          <a:xfrm>
            <a:off x="4822825" y="1998663"/>
            <a:ext cx="9207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a:t>
            </a:r>
            <a:endParaRPr lang="en-US" altLang="en-US" sz="2400"/>
          </a:p>
        </p:txBody>
      </p:sp>
      <p:sp>
        <p:nvSpPr>
          <p:cNvPr id="597088" name="Rectangle 96"/>
          <p:cNvSpPr>
            <a:spLocks noChangeArrowheads="1"/>
          </p:cNvSpPr>
          <p:nvPr/>
        </p:nvSpPr>
        <p:spPr bwMode="auto">
          <a:xfrm>
            <a:off x="4251325" y="1985963"/>
            <a:ext cx="24923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a=0</a:t>
            </a:r>
            <a:endParaRPr lang="en-US" altLang="en-US" sz="2400">
              <a:solidFill>
                <a:srgbClr val="00FF00"/>
              </a:solidFill>
            </a:endParaRPr>
          </a:p>
        </p:txBody>
      </p:sp>
      <p:sp>
        <p:nvSpPr>
          <p:cNvPr id="597089" name="Rectangle 97"/>
          <p:cNvSpPr>
            <a:spLocks noChangeArrowheads="1"/>
          </p:cNvSpPr>
          <p:nvPr/>
        </p:nvSpPr>
        <p:spPr bwMode="auto">
          <a:xfrm>
            <a:off x="6710363" y="3195638"/>
            <a:ext cx="5429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da_ld=1</a:t>
            </a:r>
            <a:endParaRPr lang="en-US" altLang="en-US" sz="2400">
              <a:solidFill>
                <a:srgbClr val="0033CC"/>
              </a:solidFill>
            </a:endParaRPr>
          </a:p>
        </p:txBody>
      </p:sp>
      <p:sp>
        <p:nvSpPr>
          <p:cNvPr id="597090" name="Rectangle 98"/>
          <p:cNvSpPr>
            <a:spLocks noChangeArrowheads="1"/>
          </p:cNvSpPr>
          <p:nvPr/>
        </p:nvSpPr>
        <p:spPr bwMode="auto">
          <a:xfrm>
            <a:off x="6791325" y="3427413"/>
            <a:ext cx="414338"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a=a+1</a:t>
            </a:r>
            <a:endParaRPr lang="en-US" altLang="en-US" sz="2400">
              <a:solidFill>
                <a:srgbClr val="00FF00"/>
              </a:solidFill>
            </a:endParaRPr>
          </a:p>
        </p:txBody>
      </p:sp>
      <p:sp>
        <p:nvSpPr>
          <p:cNvPr id="597091" name="Rectangle 99"/>
          <p:cNvSpPr>
            <a:spLocks noChangeArrowheads="1"/>
          </p:cNvSpPr>
          <p:nvPr/>
        </p:nvSpPr>
        <p:spPr bwMode="auto">
          <a:xfrm>
            <a:off x="5324475" y="3379788"/>
            <a:ext cx="496888"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a=4095</a:t>
            </a:r>
            <a:endParaRPr lang="en-US" altLang="en-US" sz="2400">
              <a:solidFill>
                <a:srgbClr val="00FF00"/>
              </a:solidFill>
            </a:endParaRPr>
          </a:p>
        </p:txBody>
      </p:sp>
      <p:sp>
        <p:nvSpPr>
          <p:cNvPr id="597092" name="Rectangle 100"/>
          <p:cNvSpPr>
            <a:spLocks noChangeArrowheads="1"/>
          </p:cNvSpPr>
          <p:nvPr/>
        </p:nvSpPr>
        <p:spPr bwMode="auto">
          <a:xfrm>
            <a:off x="6642100" y="1725613"/>
            <a:ext cx="4968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a&lt;4095</a:t>
            </a:r>
            <a:endParaRPr lang="en-US" altLang="en-US" sz="2400">
              <a:solidFill>
                <a:srgbClr val="00FF00"/>
              </a:solidFill>
            </a:endParaRPr>
          </a:p>
        </p:txBody>
      </p:sp>
      <p:sp>
        <p:nvSpPr>
          <p:cNvPr id="597093" name="Rectangle 101"/>
          <p:cNvSpPr>
            <a:spLocks noChangeArrowheads="1"/>
          </p:cNvSpPr>
          <p:nvPr/>
        </p:nvSpPr>
        <p:spPr bwMode="auto">
          <a:xfrm>
            <a:off x="5802313" y="1998663"/>
            <a:ext cx="1016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T</a:t>
            </a:r>
            <a:endParaRPr lang="en-US" altLang="en-US" sz="2400"/>
          </a:p>
        </p:txBody>
      </p:sp>
      <p:sp>
        <p:nvSpPr>
          <p:cNvPr id="597094" name="Rectangle 102"/>
          <p:cNvSpPr>
            <a:spLocks noChangeArrowheads="1"/>
          </p:cNvSpPr>
          <p:nvPr/>
        </p:nvSpPr>
        <p:spPr bwMode="auto">
          <a:xfrm>
            <a:off x="7204075" y="2819400"/>
            <a:ext cx="119063" cy="19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U</a:t>
            </a:r>
            <a:endParaRPr lang="en-US" altLang="en-US" sz="2400"/>
          </a:p>
        </p:txBody>
      </p:sp>
      <p:grpSp>
        <p:nvGrpSpPr>
          <p:cNvPr id="597120" name="Group 128"/>
          <p:cNvGrpSpPr>
            <a:grpSpLocks/>
          </p:cNvGrpSpPr>
          <p:nvPr/>
        </p:nvGrpSpPr>
        <p:grpSpPr bwMode="auto">
          <a:xfrm>
            <a:off x="5602288" y="2390775"/>
            <a:ext cx="442912" cy="433388"/>
            <a:chOff x="3529" y="1506"/>
            <a:chExt cx="279" cy="273"/>
          </a:xfrm>
        </p:grpSpPr>
        <p:sp>
          <p:nvSpPr>
            <p:cNvPr id="597095" name="Rectangle 103"/>
            <p:cNvSpPr>
              <a:spLocks noChangeArrowheads="1"/>
            </p:cNvSpPr>
            <p:nvPr/>
          </p:nvSpPr>
          <p:spPr bwMode="auto">
            <a:xfrm>
              <a:off x="3529" y="1506"/>
              <a:ext cx="7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R</a:t>
              </a:r>
              <a:endParaRPr lang="en-US" altLang="en-US" sz="2400">
                <a:solidFill>
                  <a:srgbClr val="FF0000"/>
                </a:solidFill>
              </a:endParaRPr>
            </a:p>
          </p:txBody>
        </p:sp>
        <p:sp>
          <p:nvSpPr>
            <p:cNvPr id="597096" name="Rectangle 104"/>
            <p:cNvSpPr>
              <a:spLocks noChangeArrowheads="1"/>
            </p:cNvSpPr>
            <p:nvPr/>
          </p:nvSpPr>
          <p:spPr bwMode="auto">
            <a:xfrm>
              <a:off x="3600" y="1506"/>
              <a:ext cx="15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a=a</a:t>
              </a:r>
              <a:endParaRPr lang="en-US" altLang="en-US" sz="2400">
                <a:solidFill>
                  <a:srgbClr val="FF0000"/>
                </a:solidFill>
              </a:endParaRPr>
            </a:p>
          </p:txBody>
        </p:sp>
        <p:sp>
          <p:nvSpPr>
            <p:cNvPr id="597097" name="Rectangle 105"/>
            <p:cNvSpPr>
              <a:spLocks noChangeArrowheads="1"/>
            </p:cNvSpPr>
            <p:nvPr/>
          </p:nvSpPr>
          <p:spPr bwMode="auto">
            <a:xfrm>
              <a:off x="3529" y="1654"/>
              <a:ext cx="7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R</a:t>
              </a:r>
              <a:endParaRPr lang="en-US" altLang="en-US" sz="2400">
                <a:solidFill>
                  <a:srgbClr val="FF0000"/>
                </a:solidFill>
              </a:endParaRPr>
            </a:p>
          </p:txBody>
        </p:sp>
        <p:sp>
          <p:nvSpPr>
            <p:cNvPr id="597098" name="Rectangle 106"/>
            <p:cNvSpPr>
              <a:spLocks noChangeArrowheads="1"/>
            </p:cNvSpPr>
            <p:nvPr/>
          </p:nvSpPr>
          <p:spPr bwMode="auto">
            <a:xfrm>
              <a:off x="3599" y="1654"/>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en=1</a:t>
              </a:r>
              <a:endParaRPr lang="en-US" altLang="en-US" sz="2400">
                <a:solidFill>
                  <a:srgbClr val="FF0000"/>
                </a:solidFill>
              </a:endParaRPr>
            </a:p>
          </p:txBody>
        </p:sp>
      </p:grpSp>
      <p:sp>
        <p:nvSpPr>
          <p:cNvPr id="597099" name="Rectangle 107"/>
          <p:cNvSpPr>
            <a:spLocks noChangeArrowheads="1"/>
          </p:cNvSpPr>
          <p:nvPr/>
        </p:nvSpPr>
        <p:spPr bwMode="auto">
          <a:xfrm>
            <a:off x="4926013" y="1336675"/>
            <a:ext cx="10398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Local register:</a:t>
            </a:r>
            <a:endParaRPr lang="en-US" altLang="en-US" sz="2400"/>
          </a:p>
        </p:txBody>
      </p:sp>
      <p:sp>
        <p:nvSpPr>
          <p:cNvPr id="597107" name="Rectangle 115"/>
          <p:cNvSpPr>
            <a:spLocks noChangeArrowheads="1"/>
          </p:cNvSpPr>
          <p:nvPr/>
        </p:nvSpPr>
        <p:spPr bwMode="auto">
          <a:xfrm>
            <a:off x="6024563" y="1336675"/>
            <a:ext cx="7366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a (12 bits)</a:t>
            </a:r>
            <a:endParaRPr lang="en-US" altLang="en-US" sz="2400">
              <a:solidFill>
                <a:srgbClr val="00FF00"/>
              </a:solidFill>
            </a:endParaRPr>
          </a:p>
        </p:txBody>
      </p:sp>
      <p:sp>
        <p:nvSpPr>
          <p:cNvPr id="597109" name="Rectangle 117"/>
          <p:cNvSpPr>
            <a:spLocks noChangeArrowheads="1"/>
          </p:cNvSpPr>
          <p:nvPr/>
        </p:nvSpPr>
        <p:spPr bwMode="auto">
          <a:xfrm>
            <a:off x="5214938" y="1674813"/>
            <a:ext cx="84137"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663300"/>
                </a:solidFill>
                <a:latin typeface="Myriad Roman" charset="0"/>
              </a:rPr>
              <a:t>v</a:t>
            </a:r>
            <a:endParaRPr lang="en-US" altLang="en-US" sz="2400">
              <a:solidFill>
                <a:srgbClr val="663300"/>
              </a:solidFill>
            </a:endParaRPr>
          </a:p>
        </p:txBody>
      </p:sp>
      <p:sp>
        <p:nvSpPr>
          <p:cNvPr id="597110" name="Rectangle 118"/>
          <p:cNvSpPr>
            <a:spLocks noChangeArrowheads="1"/>
          </p:cNvSpPr>
          <p:nvPr/>
        </p:nvSpPr>
        <p:spPr bwMode="auto">
          <a:xfrm>
            <a:off x="4786313" y="2952750"/>
            <a:ext cx="138112"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663300"/>
                </a:solidFill>
                <a:latin typeface="Myriad Roman" charset="0"/>
              </a:rPr>
              <a:t>v’</a:t>
            </a:r>
            <a:endParaRPr lang="en-US" altLang="en-US" sz="2400">
              <a:solidFill>
                <a:srgbClr val="663300"/>
              </a:solidFill>
            </a:endParaRPr>
          </a:p>
        </p:txBody>
      </p:sp>
      <p:sp>
        <p:nvSpPr>
          <p:cNvPr id="597112" name="Freeform 120"/>
          <p:cNvSpPr>
            <a:spLocks/>
          </p:cNvSpPr>
          <p:nvPr/>
        </p:nvSpPr>
        <p:spPr bwMode="auto">
          <a:xfrm>
            <a:off x="4727575" y="2336800"/>
            <a:ext cx="269875" cy="596900"/>
          </a:xfrm>
          <a:custGeom>
            <a:avLst/>
            <a:gdLst>
              <a:gd name="T0" fmla="*/ 37 w 42"/>
              <a:gd name="T1" fmla="*/ 0 h 92"/>
              <a:gd name="T2" fmla="*/ 42 w 42"/>
              <a:gd name="T3" fmla="*/ 35 h 92"/>
              <a:gd name="T4" fmla="*/ 21 w 42"/>
              <a:gd name="T5" fmla="*/ 92 h 92"/>
              <a:gd name="T6" fmla="*/ 0 w 42"/>
              <a:gd name="T7" fmla="*/ 35 h 92"/>
              <a:gd name="T8" fmla="*/ 2 w 42"/>
              <a:gd name="T9" fmla="*/ 15 h 92"/>
            </a:gdLst>
            <a:ahLst/>
            <a:cxnLst>
              <a:cxn ang="0">
                <a:pos x="T0" y="T1"/>
              </a:cxn>
              <a:cxn ang="0">
                <a:pos x="T2" y="T3"/>
              </a:cxn>
              <a:cxn ang="0">
                <a:pos x="T4" y="T5"/>
              </a:cxn>
              <a:cxn ang="0">
                <a:pos x="T6" y="T7"/>
              </a:cxn>
              <a:cxn ang="0">
                <a:pos x="T8" y="T9"/>
              </a:cxn>
            </a:cxnLst>
            <a:rect l="0" t="0" r="r" b="b"/>
            <a:pathLst>
              <a:path w="42" h="92">
                <a:moveTo>
                  <a:pt x="37" y="0"/>
                </a:moveTo>
                <a:cubicBezTo>
                  <a:pt x="40" y="10"/>
                  <a:pt x="42" y="22"/>
                  <a:pt x="42" y="35"/>
                </a:cubicBezTo>
                <a:cubicBezTo>
                  <a:pt x="42" y="66"/>
                  <a:pt x="32" y="92"/>
                  <a:pt x="21" y="92"/>
                </a:cubicBezTo>
                <a:cubicBezTo>
                  <a:pt x="10" y="92"/>
                  <a:pt x="0" y="66"/>
                  <a:pt x="0" y="35"/>
                </a:cubicBezTo>
                <a:cubicBezTo>
                  <a:pt x="0" y="28"/>
                  <a:pt x="1" y="21"/>
                  <a:pt x="2" y="15"/>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113" name="Freeform 121"/>
          <p:cNvSpPr>
            <a:spLocks/>
          </p:cNvSpPr>
          <p:nvPr/>
        </p:nvSpPr>
        <p:spPr bwMode="auto">
          <a:xfrm>
            <a:off x="5075238" y="2373313"/>
            <a:ext cx="2781300" cy="1751012"/>
          </a:xfrm>
          <a:custGeom>
            <a:avLst/>
            <a:gdLst>
              <a:gd name="T0" fmla="*/ 366 w 434"/>
              <a:gd name="T1" fmla="*/ 116 h 269"/>
              <a:gd name="T2" fmla="*/ 304 w 434"/>
              <a:gd name="T3" fmla="*/ 238 h 269"/>
              <a:gd name="T4" fmla="*/ 0 w 434"/>
              <a:gd name="T5" fmla="*/ 0 h 269"/>
            </a:gdLst>
            <a:ahLst/>
            <a:cxnLst>
              <a:cxn ang="0">
                <a:pos x="T0" y="T1"/>
              </a:cxn>
              <a:cxn ang="0">
                <a:pos x="T2" y="T3"/>
              </a:cxn>
              <a:cxn ang="0">
                <a:pos x="T4" y="T5"/>
              </a:cxn>
            </a:cxnLst>
            <a:rect l="0" t="0" r="r" b="b"/>
            <a:pathLst>
              <a:path w="434" h="269">
                <a:moveTo>
                  <a:pt x="366" y="116"/>
                </a:moveTo>
                <a:cubicBezTo>
                  <a:pt x="366" y="116"/>
                  <a:pt x="434" y="269"/>
                  <a:pt x="304" y="238"/>
                </a:cubicBezTo>
                <a:cubicBezTo>
                  <a:pt x="304" y="238"/>
                  <a:pt x="98" y="171"/>
                  <a:pt x="0" y="0"/>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114" name="Oval 122"/>
          <p:cNvSpPr>
            <a:spLocks noChangeArrowheads="1"/>
          </p:cNvSpPr>
          <p:nvPr/>
        </p:nvSpPr>
        <p:spPr bwMode="auto">
          <a:xfrm>
            <a:off x="4637088" y="1868488"/>
            <a:ext cx="474662" cy="485775"/>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115" name="Oval 123"/>
          <p:cNvSpPr>
            <a:spLocks noChangeArrowheads="1"/>
          </p:cNvSpPr>
          <p:nvPr/>
        </p:nvSpPr>
        <p:spPr bwMode="auto">
          <a:xfrm>
            <a:off x="5624513" y="1868488"/>
            <a:ext cx="476250" cy="485775"/>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116" name="Oval 124"/>
          <p:cNvSpPr>
            <a:spLocks noChangeArrowheads="1"/>
          </p:cNvSpPr>
          <p:nvPr/>
        </p:nvSpPr>
        <p:spPr bwMode="auto">
          <a:xfrm>
            <a:off x="7035800" y="2693988"/>
            <a:ext cx="474663" cy="487362"/>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7118" name="Freeform 126"/>
          <p:cNvSpPr>
            <a:spLocks/>
          </p:cNvSpPr>
          <p:nvPr/>
        </p:nvSpPr>
        <p:spPr bwMode="auto">
          <a:xfrm>
            <a:off x="1697038" y="3465513"/>
            <a:ext cx="3235325" cy="276225"/>
          </a:xfrm>
          <a:custGeom>
            <a:avLst/>
            <a:gdLst>
              <a:gd name="T0" fmla="*/ 0 w 2038"/>
              <a:gd name="T1" fmla="*/ 174 h 174"/>
              <a:gd name="T2" fmla="*/ 939 w 2038"/>
              <a:gd name="T3" fmla="*/ 76 h 174"/>
              <a:gd name="T4" fmla="*/ 1531 w 2038"/>
              <a:gd name="T5" fmla="*/ 159 h 174"/>
              <a:gd name="T6" fmla="*/ 2038 w 2038"/>
              <a:gd name="T7" fmla="*/ 0 h 174"/>
            </a:gdLst>
            <a:ahLst/>
            <a:cxnLst>
              <a:cxn ang="0">
                <a:pos x="T0" y="T1"/>
              </a:cxn>
              <a:cxn ang="0">
                <a:pos x="T2" y="T3"/>
              </a:cxn>
              <a:cxn ang="0">
                <a:pos x="T4" y="T5"/>
              </a:cxn>
              <a:cxn ang="0">
                <a:pos x="T6" y="T7"/>
              </a:cxn>
            </a:cxnLst>
            <a:rect l="0" t="0" r="r" b="b"/>
            <a:pathLst>
              <a:path w="2038" h="174">
                <a:moveTo>
                  <a:pt x="0" y="174"/>
                </a:moveTo>
                <a:cubicBezTo>
                  <a:pt x="342" y="126"/>
                  <a:pt x="684" y="78"/>
                  <a:pt x="939" y="76"/>
                </a:cubicBezTo>
                <a:cubicBezTo>
                  <a:pt x="1194" y="74"/>
                  <a:pt x="1348" y="172"/>
                  <a:pt x="1531" y="159"/>
                </a:cubicBezTo>
                <a:cubicBezTo>
                  <a:pt x="1714" y="146"/>
                  <a:pt x="1876" y="73"/>
                  <a:pt x="2038" y="0"/>
                </a:cubicBezTo>
              </a:path>
            </a:pathLst>
          </a:custGeom>
          <a:noFill/>
          <a:ln w="9525">
            <a:solidFill>
              <a:schemeClr val="tx1"/>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7121" name="Text Box 129"/>
          <p:cNvSpPr txBox="1">
            <a:spLocks noChangeArrowheads="1"/>
          </p:cNvSpPr>
          <p:nvPr/>
        </p:nvSpPr>
        <p:spPr bwMode="auto">
          <a:xfrm>
            <a:off x="8213725" y="275590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97120"/>
                                        </p:tgtEl>
                                        <p:attrNameLst>
                                          <p:attrName>style.visibility</p:attrName>
                                        </p:attrNameLst>
                                      </p:cBhvr>
                                      <p:to>
                                        <p:strVal val="visible"/>
                                      </p:to>
                                    </p:set>
                                    <p:anim calcmode="lin" valueType="num">
                                      <p:cBhvr additive="base">
                                        <p:cTn id="7" dur="500" fill="hold"/>
                                        <p:tgtEl>
                                          <p:spTgt spid="597120"/>
                                        </p:tgtEl>
                                        <p:attrNameLst>
                                          <p:attrName>ppt_x</p:attrName>
                                        </p:attrNameLst>
                                      </p:cBhvr>
                                      <p:tavLst>
                                        <p:tav tm="0">
                                          <p:val>
                                            <p:strVal val="#ppt_x"/>
                                          </p:val>
                                        </p:tav>
                                        <p:tav tm="100000">
                                          <p:val>
                                            <p:strVal val="#ppt_x"/>
                                          </p:val>
                                        </p:tav>
                                      </p:tavLst>
                                    </p:anim>
                                    <p:anim calcmode="lin" valueType="num">
                                      <p:cBhvr additive="base">
                                        <p:cTn id="8" dur="500" fill="hold"/>
                                        <p:tgtEl>
                                          <p:spTgt spid="5971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7089"/>
                                        </p:tgtEl>
                                        <p:attrNameLst>
                                          <p:attrName>style.visibility</p:attrName>
                                        </p:attrNameLst>
                                      </p:cBhvr>
                                      <p:to>
                                        <p:strVal val="visible"/>
                                      </p:to>
                                    </p:set>
                                    <p:anim calcmode="lin" valueType="num">
                                      <p:cBhvr additive="base">
                                        <p:cTn id="13" dur="500" fill="hold"/>
                                        <p:tgtEl>
                                          <p:spTgt spid="597089"/>
                                        </p:tgtEl>
                                        <p:attrNameLst>
                                          <p:attrName>ppt_x</p:attrName>
                                        </p:attrNameLst>
                                      </p:cBhvr>
                                      <p:tavLst>
                                        <p:tav tm="0">
                                          <p:val>
                                            <p:strVal val="#ppt_x"/>
                                          </p:val>
                                        </p:tav>
                                        <p:tav tm="100000">
                                          <p:val>
                                            <p:strVal val="#ppt_x"/>
                                          </p:val>
                                        </p:tav>
                                      </p:tavLst>
                                    </p:anim>
                                    <p:anim calcmode="lin" valueType="num">
                                      <p:cBhvr additive="base">
                                        <p:cTn id="14" dur="500" fill="hold"/>
                                        <p:tgtEl>
                                          <p:spTgt spid="59708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7089"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Slide Number Placeholder 3"/>
          <p:cNvSpPr>
            <a:spLocks noGrp="1"/>
          </p:cNvSpPr>
          <p:nvPr>
            <p:ph type="sldNum" sz="quarter" idx="10"/>
          </p:nvPr>
        </p:nvSpPr>
        <p:spPr/>
        <p:txBody>
          <a:bodyPr/>
          <a:lstStyle/>
          <a:p>
            <a:fld id="{427563A5-1C2A-4DAF-92CE-82D801C09D0F}" type="slidenum">
              <a:rPr lang="en-US" altLang="en-US"/>
              <a:pPr/>
              <a:t>80</a:t>
            </a:fld>
            <a:endParaRPr lang="en-US" altLang="en-US"/>
          </a:p>
        </p:txBody>
      </p:sp>
      <p:sp>
        <p:nvSpPr>
          <p:cNvPr id="598018" name="Rectangle 2"/>
          <p:cNvSpPr>
            <a:spLocks noGrp="1" noChangeArrowheads="1"/>
          </p:cNvSpPr>
          <p:nvPr>
            <p:ph type="title"/>
          </p:nvPr>
        </p:nvSpPr>
        <p:spPr/>
        <p:txBody>
          <a:bodyPr/>
          <a:lstStyle/>
          <a:p>
            <a:r>
              <a:rPr lang="en-US" altLang="en-US"/>
              <a:t>ROM Example: </a:t>
            </a:r>
            <a:r>
              <a:rPr lang="en-US" altLang="en-US" sz="3200"/>
              <a:t>Digital Telephone Answering Machine Using a Flash Memory</a:t>
            </a:r>
          </a:p>
        </p:txBody>
      </p:sp>
      <p:sp>
        <p:nvSpPr>
          <p:cNvPr id="598019" name="Rectangle 3"/>
          <p:cNvSpPr>
            <a:spLocks noGrp="1" noChangeArrowheads="1"/>
          </p:cNvSpPr>
          <p:nvPr>
            <p:ph type="body" idx="1"/>
          </p:nvPr>
        </p:nvSpPr>
        <p:spPr>
          <a:xfrm>
            <a:off x="215900" y="1219200"/>
            <a:ext cx="3544888" cy="4732338"/>
          </a:xfrm>
        </p:spPr>
        <p:txBody>
          <a:bodyPr/>
          <a:lstStyle/>
          <a:p>
            <a:pPr>
              <a:lnSpc>
                <a:spcPct val="90000"/>
              </a:lnSpc>
            </a:pPr>
            <a:r>
              <a:rPr lang="en-US" altLang="en-US" sz="1800"/>
              <a:t>Want to record the </a:t>
            </a:r>
            <a:r>
              <a:rPr lang="en-US" altLang="en-US" sz="1800">
                <a:solidFill>
                  <a:srgbClr val="663300"/>
                </a:solidFill>
              </a:rPr>
              <a:t>outgoing announcement</a:t>
            </a:r>
          </a:p>
          <a:p>
            <a:pPr lvl="1">
              <a:lnSpc>
                <a:spcPct val="90000"/>
              </a:lnSpc>
            </a:pPr>
            <a:r>
              <a:rPr lang="en-US" altLang="en-US" sz="1600"/>
              <a:t>When </a:t>
            </a:r>
            <a:r>
              <a:rPr lang="en-US" altLang="en-US" sz="1600" i="1"/>
              <a:t>rec=1</a:t>
            </a:r>
            <a:r>
              <a:rPr lang="en-US" altLang="en-US" sz="1600"/>
              <a:t>, </a:t>
            </a:r>
            <a:r>
              <a:rPr lang="en-US" altLang="en-US" sz="1600">
                <a:solidFill>
                  <a:srgbClr val="FF0000"/>
                </a:solidFill>
              </a:rPr>
              <a:t>record</a:t>
            </a:r>
            <a:r>
              <a:rPr lang="en-US" altLang="en-US" sz="1600"/>
              <a:t> digitized sound in locations 0 to 4095 </a:t>
            </a:r>
          </a:p>
          <a:p>
            <a:pPr lvl="1">
              <a:lnSpc>
                <a:spcPct val="90000"/>
              </a:lnSpc>
            </a:pPr>
            <a:r>
              <a:rPr lang="en-US" altLang="en-US" sz="1600"/>
              <a:t>When </a:t>
            </a:r>
            <a:r>
              <a:rPr lang="en-US" altLang="en-US" sz="1600" i="1"/>
              <a:t>play=1</a:t>
            </a:r>
            <a:r>
              <a:rPr lang="en-US" altLang="en-US" sz="1600"/>
              <a:t>, </a:t>
            </a:r>
            <a:r>
              <a:rPr lang="en-US" altLang="en-US" sz="1600">
                <a:solidFill>
                  <a:srgbClr val="00FF00"/>
                </a:solidFill>
              </a:rPr>
              <a:t>play</a:t>
            </a:r>
            <a:r>
              <a:rPr lang="en-US" altLang="en-US" sz="1600"/>
              <a:t> those stored sounds to digital-to-analog converter</a:t>
            </a:r>
          </a:p>
          <a:p>
            <a:pPr>
              <a:lnSpc>
                <a:spcPct val="90000"/>
              </a:lnSpc>
            </a:pPr>
            <a:r>
              <a:rPr lang="en-US" altLang="en-US" sz="1800"/>
              <a:t>What type of memory?</a:t>
            </a:r>
          </a:p>
          <a:p>
            <a:pPr lvl="1">
              <a:lnSpc>
                <a:spcPct val="90000"/>
              </a:lnSpc>
            </a:pPr>
            <a:r>
              <a:rPr lang="en-US" altLang="en-US" sz="1600"/>
              <a:t>Should store without power supply – ROM, not RAM</a:t>
            </a:r>
          </a:p>
          <a:p>
            <a:pPr lvl="1">
              <a:lnSpc>
                <a:spcPct val="90000"/>
              </a:lnSpc>
            </a:pPr>
            <a:r>
              <a:rPr lang="en-US" altLang="en-US" sz="1600"/>
              <a:t>Should be in-system programmable – EEPROM or Flash, not EPROM, OTP ROM, or mask-programmed ROM</a:t>
            </a:r>
          </a:p>
          <a:p>
            <a:pPr lvl="1">
              <a:lnSpc>
                <a:spcPct val="90000"/>
              </a:lnSpc>
            </a:pPr>
            <a:r>
              <a:rPr lang="en-US" altLang="en-US" sz="1600"/>
              <a:t>Will always erase entire memory when reprogramming – Flash better than EEPROM</a:t>
            </a:r>
          </a:p>
        </p:txBody>
      </p:sp>
      <p:grpSp>
        <p:nvGrpSpPr>
          <p:cNvPr id="598154" name="Group 138"/>
          <p:cNvGrpSpPr>
            <a:grpSpLocks/>
          </p:cNvGrpSpPr>
          <p:nvPr/>
        </p:nvGrpSpPr>
        <p:grpSpPr bwMode="auto">
          <a:xfrm>
            <a:off x="3813175" y="1411288"/>
            <a:ext cx="5126038" cy="3135312"/>
            <a:chOff x="2402" y="889"/>
            <a:chExt cx="3229" cy="1975"/>
          </a:xfrm>
        </p:grpSpPr>
        <p:sp>
          <p:nvSpPr>
            <p:cNvPr id="598020" name="Line 4"/>
            <p:cNvSpPr>
              <a:spLocks noChangeShapeType="1"/>
            </p:cNvSpPr>
            <p:nvPr/>
          </p:nvSpPr>
          <p:spPr bwMode="auto">
            <a:xfrm>
              <a:off x="3537" y="1761"/>
              <a:ext cx="1394"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21" name="Line 5"/>
            <p:cNvSpPr>
              <a:spLocks noChangeShapeType="1"/>
            </p:cNvSpPr>
            <p:nvPr/>
          </p:nvSpPr>
          <p:spPr bwMode="auto">
            <a:xfrm>
              <a:off x="3405" y="1761"/>
              <a:ext cx="1"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22" name="Freeform 6"/>
            <p:cNvSpPr>
              <a:spLocks/>
            </p:cNvSpPr>
            <p:nvPr/>
          </p:nvSpPr>
          <p:spPr bwMode="auto">
            <a:xfrm>
              <a:off x="3405" y="1680"/>
              <a:ext cx="132" cy="166"/>
            </a:xfrm>
            <a:custGeom>
              <a:avLst/>
              <a:gdLst>
                <a:gd name="T0" fmla="*/ 0 w 132"/>
                <a:gd name="T1" fmla="*/ 166 h 166"/>
                <a:gd name="T2" fmla="*/ 132 w 132"/>
                <a:gd name="T3" fmla="*/ 81 h 166"/>
                <a:gd name="T4" fmla="*/ 0 w 132"/>
                <a:gd name="T5" fmla="*/ 0 h 166"/>
                <a:gd name="T6" fmla="*/ 0 w 132"/>
                <a:gd name="T7" fmla="*/ 166 h 166"/>
              </a:gdLst>
              <a:ahLst/>
              <a:cxnLst>
                <a:cxn ang="0">
                  <a:pos x="T0" y="T1"/>
                </a:cxn>
                <a:cxn ang="0">
                  <a:pos x="T2" y="T3"/>
                </a:cxn>
                <a:cxn ang="0">
                  <a:pos x="T4" y="T5"/>
                </a:cxn>
                <a:cxn ang="0">
                  <a:pos x="T6" y="T7"/>
                </a:cxn>
              </a:cxnLst>
              <a:rect l="0" t="0" r="r" b="b"/>
              <a:pathLst>
                <a:path w="132" h="166">
                  <a:moveTo>
                    <a:pt x="0" y="166"/>
                  </a:moveTo>
                  <a:lnTo>
                    <a:pt x="132" y="81"/>
                  </a:lnTo>
                  <a:lnTo>
                    <a:pt x="0" y="0"/>
                  </a:lnTo>
                  <a:lnTo>
                    <a:pt x="0" y="166"/>
                  </a:lnTo>
                  <a:close/>
                </a:path>
              </a:pathLst>
            </a:custGeom>
            <a:solidFill>
              <a:srgbClr val="FFFFFF"/>
            </a:solidFill>
            <a:ln w="14288" cap="flat">
              <a:solidFill>
                <a:srgbClr val="0078C1"/>
              </a:solidFill>
              <a:prstDash val="solid"/>
              <a:miter lim="800000"/>
              <a:headEnd/>
              <a:tailEnd/>
            </a:ln>
          </p:spPr>
          <p:txBody>
            <a:bodyPr/>
            <a:lstStyle/>
            <a:p>
              <a:endParaRPr lang="en-US"/>
            </a:p>
          </p:txBody>
        </p:sp>
        <p:sp>
          <p:nvSpPr>
            <p:cNvPr id="598023" name="Line 7"/>
            <p:cNvSpPr>
              <a:spLocks noChangeShapeType="1"/>
            </p:cNvSpPr>
            <p:nvPr/>
          </p:nvSpPr>
          <p:spPr bwMode="auto">
            <a:xfrm flipH="1">
              <a:off x="3162" y="2014"/>
              <a:ext cx="234"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24" name="Freeform 8"/>
            <p:cNvSpPr>
              <a:spLocks/>
            </p:cNvSpPr>
            <p:nvPr/>
          </p:nvSpPr>
          <p:spPr bwMode="auto">
            <a:xfrm>
              <a:off x="3071" y="1989"/>
              <a:ext cx="100" cy="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25" name="Line 9"/>
            <p:cNvSpPr>
              <a:spLocks noChangeShapeType="1"/>
            </p:cNvSpPr>
            <p:nvPr/>
          </p:nvSpPr>
          <p:spPr bwMode="auto">
            <a:xfrm>
              <a:off x="4506" y="2133"/>
              <a:ext cx="375"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26" name="Freeform 10"/>
            <p:cNvSpPr>
              <a:spLocks/>
            </p:cNvSpPr>
            <p:nvPr/>
          </p:nvSpPr>
          <p:spPr bwMode="auto">
            <a:xfrm>
              <a:off x="4868" y="2108"/>
              <a:ext cx="100" cy="50"/>
            </a:xfrm>
            <a:custGeom>
              <a:avLst/>
              <a:gdLst>
                <a:gd name="T0" fmla="*/ 100 w 100"/>
                <a:gd name="T1" fmla="*/ 25 h 50"/>
                <a:gd name="T2" fmla="*/ 0 w 100"/>
                <a:gd name="T3" fmla="*/ 50 h 50"/>
                <a:gd name="T4" fmla="*/ 0 w 100"/>
                <a:gd name="T5" fmla="*/ 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50"/>
                  </a:lnTo>
                  <a:lnTo>
                    <a:pt x="0" y="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27" name="Freeform 11"/>
            <p:cNvSpPr>
              <a:spLocks/>
            </p:cNvSpPr>
            <p:nvPr/>
          </p:nvSpPr>
          <p:spPr bwMode="auto">
            <a:xfrm>
              <a:off x="4506" y="2596"/>
              <a:ext cx="100" cy="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28" name="Line 12"/>
            <p:cNvSpPr>
              <a:spLocks noChangeShapeType="1"/>
            </p:cNvSpPr>
            <p:nvPr/>
          </p:nvSpPr>
          <p:spPr bwMode="auto">
            <a:xfrm>
              <a:off x="3068" y="1761"/>
              <a:ext cx="247"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29" name="Freeform 13"/>
            <p:cNvSpPr>
              <a:spLocks/>
            </p:cNvSpPr>
            <p:nvPr/>
          </p:nvSpPr>
          <p:spPr bwMode="auto">
            <a:xfrm>
              <a:off x="3299" y="1736"/>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30" name="Freeform 14"/>
            <p:cNvSpPr>
              <a:spLocks/>
            </p:cNvSpPr>
            <p:nvPr/>
          </p:nvSpPr>
          <p:spPr bwMode="auto">
            <a:xfrm>
              <a:off x="4871" y="1736"/>
              <a:ext cx="100" cy="50"/>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31" name="Line 15"/>
            <p:cNvSpPr>
              <a:spLocks noChangeShapeType="1"/>
            </p:cNvSpPr>
            <p:nvPr/>
          </p:nvSpPr>
          <p:spPr bwMode="auto">
            <a:xfrm flipV="1">
              <a:off x="4206" y="1502"/>
              <a:ext cx="1" cy="45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32" name="Freeform 16"/>
            <p:cNvSpPr>
              <a:spLocks/>
            </p:cNvSpPr>
            <p:nvPr/>
          </p:nvSpPr>
          <p:spPr bwMode="auto">
            <a:xfrm>
              <a:off x="4181" y="1417"/>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33" name="Line 17"/>
            <p:cNvSpPr>
              <a:spLocks noChangeShapeType="1"/>
            </p:cNvSpPr>
            <p:nvPr/>
          </p:nvSpPr>
          <p:spPr bwMode="auto">
            <a:xfrm flipV="1">
              <a:off x="4002" y="1502"/>
              <a:ext cx="1" cy="45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34" name="Freeform 18"/>
            <p:cNvSpPr>
              <a:spLocks/>
            </p:cNvSpPr>
            <p:nvPr/>
          </p:nvSpPr>
          <p:spPr bwMode="auto">
            <a:xfrm>
              <a:off x="3977" y="1417"/>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35" name="Line 19"/>
            <p:cNvSpPr>
              <a:spLocks noChangeShapeType="1"/>
            </p:cNvSpPr>
            <p:nvPr/>
          </p:nvSpPr>
          <p:spPr bwMode="auto">
            <a:xfrm flipV="1">
              <a:off x="3905" y="2405"/>
              <a:ext cx="1" cy="10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36" name="Freeform 20"/>
            <p:cNvSpPr>
              <a:spLocks/>
            </p:cNvSpPr>
            <p:nvPr/>
          </p:nvSpPr>
          <p:spPr bwMode="auto">
            <a:xfrm>
              <a:off x="3880" y="2321"/>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37" name="Line 21"/>
            <p:cNvSpPr>
              <a:spLocks noChangeShapeType="1"/>
            </p:cNvSpPr>
            <p:nvPr/>
          </p:nvSpPr>
          <p:spPr bwMode="auto">
            <a:xfrm flipV="1">
              <a:off x="4165" y="2405"/>
              <a:ext cx="1" cy="106"/>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38" name="Freeform 22"/>
            <p:cNvSpPr>
              <a:spLocks/>
            </p:cNvSpPr>
            <p:nvPr/>
          </p:nvSpPr>
          <p:spPr bwMode="auto">
            <a:xfrm>
              <a:off x="4140" y="2321"/>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39" name="Line 23"/>
            <p:cNvSpPr>
              <a:spLocks noChangeShapeType="1"/>
            </p:cNvSpPr>
            <p:nvPr/>
          </p:nvSpPr>
          <p:spPr bwMode="auto">
            <a:xfrm flipV="1">
              <a:off x="4406" y="1502"/>
              <a:ext cx="1" cy="45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40" name="Freeform 24"/>
            <p:cNvSpPr>
              <a:spLocks/>
            </p:cNvSpPr>
            <p:nvPr/>
          </p:nvSpPr>
          <p:spPr bwMode="auto">
            <a:xfrm>
              <a:off x="4381" y="1417"/>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41" name="Freeform 25"/>
            <p:cNvSpPr>
              <a:spLocks/>
            </p:cNvSpPr>
            <p:nvPr/>
          </p:nvSpPr>
          <p:spPr bwMode="auto">
            <a:xfrm>
              <a:off x="4590" y="1408"/>
              <a:ext cx="103" cy="603"/>
            </a:xfrm>
            <a:custGeom>
              <a:avLst/>
              <a:gdLst>
                <a:gd name="T0" fmla="*/ 0 w 103"/>
                <a:gd name="T1" fmla="*/ 603 h 603"/>
                <a:gd name="T2" fmla="*/ 103 w 103"/>
                <a:gd name="T3" fmla="*/ 603 h 603"/>
                <a:gd name="T4" fmla="*/ 103 w 103"/>
                <a:gd name="T5" fmla="*/ 0 h 603"/>
              </a:gdLst>
              <a:ahLst/>
              <a:cxnLst>
                <a:cxn ang="0">
                  <a:pos x="T0" y="T1"/>
                </a:cxn>
                <a:cxn ang="0">
                  <a:pos x="T2" y="T3"/>
                </a:cxn>
                <a:cxn ang="0">
                  <a:pos x="T4" y="T5"/>
                </a:cxn>
              </a:cxnLst>
              <a:rect l="0" t="0" r="r" b="b"/>
              <a:pathLst>
                <a:path w="103" h="603">
                  <a:moveTo>
                    <a:pt x="0" y="603"/>
                  </a:moveTo>
                  <a:lnTo>
                    <a:pt x="103" y="603"/>
                  </a:lnTo>
                  <a:lnTo>
                    <a:pt x="103"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42" name="Freeform 26"/>
            <p:cNvSpPr>
              <a:spLocks/>
            </p:cNvSpPr>
            <p:nvPr/>
          </p:nvSpPr>
          <p:spPr bwMode="auto">
            <a:xfrm>
              <a:off x="4506" y="1986"/>
              <a:ext cx="100" cy="50"/>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43" name="Line 27"/>
            <p:cNvSpPr>
              <a:spLocks noChangeShapeType="1"/>
            </p:cNvSpPr>
            <p:nvPr/>
          </p:nvSpPr>
          <p:spPr bwMode="auto">
            <a:xfrm flipV="1">
              <a:off x="3821" y="1502"/>
              <a:ext cx="1" cy="453"/>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44" name="Freeform 28"/>
            <p:cNvSpPr>
              <a:spLocks/>
            </p:cNvSpPr>
            <p:nvPr/>
          </p:nvSpPr>
          <p:spPr bwMode="auto">
            <a:xfrm>
              <a:off x="3796" y="1417"/>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45" name="Line 29"/>
            <p:cNvSpPr>
              <a:spLocks noChangeShapeType="1"/>
            </p:cNvSpPr>
            <p:nvPr/>
          </p:nvSpPr>
          <p:spPr bwMode="auto">
            <a:xfrm flipV="1">
              <a:off x="3652" y="1502"/>
              <a:ext cx="1" cy="194"/>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46" name="Freeform 30"/>
            <p:cNvSpPr>
              <a:spLocks/>
            </p:cNvSpPr>
            <p:nvPr/>
          </p:nvSpPr>
          <p:spPr bwMode="auto">
            <a:xfrm>
              <a:off x="3627" y="1417"/>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47" name="Line 31"/>
            <p:cNvSpPr>
              <a:spLocks noChangeShapeType="1"/>
            </p:cNvSpPr>
            <p:nvPr/>
          </p:nvSpPr>
          <p:spPr bwMode="auto">
            <a:xfrm flipV="1">
              <a:off x="3499" y="1874"/>
              <a:ext cx="1" cy="84"/>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48" name="Freeform 32"/>
            <p:cNvSpPr>
              <a:spLocks/>
            </p:cNvSpPr>
            <p:nvPr/>
          </p:nvSpPr>
          <p:spPr bwMode="auto">
            <a:xfrm>
              <a:off x="3474" y="1789"/>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49" name="Freeform 33"/>
            <p:cNvSpPr>
              <a:spLocks/>
            </p:cNvSpPr>
            <p:nvPr/>
          </p:nvSpPr>
          <p:spPr bwMode="auto">
            <a:xfrm>
              <a:off x="3627" y="1655"/>
              <a:ext cx="50" cy="100"/>
            </a:xfrm>
            <a:custGeom>
              <a:avLst/>
              <a:gdLst>
                <a:gd name="T0" fmla="*/ 25 w 50"/>
                <a:gd name="T1" fmla="*/ 100 h 100"/>
                <a:gd name="T2" fmla="*/ 0 w 50"/>
                <a:gd name="T3" fmla="*/ 0 h 100"/>
                <a:gd name="T4" fmla="*/ 5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0" y="0"/>
                  </a:lnTo>
                  <a:lnTo>
                    <a:pt x="5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50" name="Freeform 34"/>
            <p:cNvSpPr>
              <a:spLocks/>
            </p:cNvSpPr>
            <p:nvPr/>
          </p:nvSpPr>
          <p:spPr bwMode="auto">
            <a:xfrm>
              <a:off x="3402" y="2192"/>
              <a:ext cx="103" cy="107"/>
            </a:xfrm>
            <a:custGeom>
              <a:avLst/>
              <a:gdLst>
                <a:gd name="T0" fmla="*/ 0 w 103"/>
                <a:gd name="T1" fmla="*/ 107 h 107"/>
                <a:gd name="T2" fmla="*/ 103 w 103"/>
                <a:gd name="T3" fmla="*/ 54 h 107"/>
                <a:gd name="T4" fmla="*/ 0 w 103"/>
                <a:gd name="T5" fmla="*/ 0 h 107"/>
              </a:gdLst>
              <a:ahLst/>
              <a:cxnLst>
                <a:cxn ang="0">
                  <a:pos x="T0" y="T1"/>
                </a:cxn>
                <a:cxn ang="0">
                  <a:pos x="T2" y="T3"/>
                </a:cxn>
                <a:cxn ang="0">
                  <a:pos x="T4" y="T5"/>
                </a:cxn>
              </a:cxnLst>
              <a:rect l="0" t="0" r="r" b="b"/>
              <a:pathLst>
                <a:path w="103" h="107">
                  <a:moveTo>
                    <a:pt x="0" y="107"/>
                  </a:moveTo>
                  <a:lnTo>
                    <a:pt x="103"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51" name="Freeform 35"/>
            <p:cNvSpPr>
              <a:spLocks/>
            </p:cNvSpPr>
            <p:nvPr/>
          </p:nvSpPr>
          <p:spPr bwMode="auto">
            <a:xfrm>
              <a:off x="3402" y="1274"/>
              <a:ext cx="103" cy="103"/>
            </a:xfrm>
            <a:custGeom>
              <a:avLst/>
              <a:gdLst>
                <a:gd name="T0" fmla="*/ 0 w 103"/>
                <a:gd name="T1" fmla="*/ 103 h 103"/>
                <a:gd name="T2" fmla="*/ 103 w 103"/>
                <a:gd name="T3" fmla="*/ 50 h 103"/>
                <a:gd name="T4" fmla="*/ 0 w 103"/>
                <a:gd name="T5" fmla="*/ 0 h 103"/>
              </a:gdLst>
              <a:ahLst/>
              <a:cxnLst>
                <a:cxn ang="0">
                  <a:pos x="T0" y="T1"/>
                </a:cxn>
                <a:cxn ang="0">
                  <a:pos x="T2" y="T3"/>
                </a:cxn>
                <a:cxn ang="0">
                  <a:pos x="T4" y="T5"/>
                </a:cxn>
              </a:cxnLst>
              <a:rect l="0" t="0" r="r" b="b"/>
              <a:pathLst>
                <a:path w="103" h="103">
                  <a:moveTo>
                    <a:pt x="0" y="103"/>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52" name="Freeform 36"/>
            <p:cNvSpPr>
              <a:spLocks/>
            </p:cNvSpPr>
            <p:nvPr/>
          </p:nvSpPr>
          <p:spPr bwMode="auto">
            <a:xfrm>
              <a:off x="2405" y="2052"/>
              <a:ext cx="103" cy="103"/>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53" name="Freeform 37"/>
            <p:cNvSpPr>
              <a:spLocks/>
            </p:cNvSpPr>
            <p:nvPr/>
          </p:nvSpPr>
          <p:spPr bwMode="auto">
            <a:xfrm>
              <a:off x="3780" y="1783"/>
              <a:ext cx="85" cy="81"/>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54" name="Line 38"/>
            <p:cNvSpPr>
              <a:spLocks noChangeShapeType="1"/>
            </p:cNvSpPr>
            <p:nvPr/>
          </p:nvSpPr>
          <p:spPr bwMode="auto">
            <a:xfrm flipH="1">
              <a:off x="3780" y="1783"/>
              <a:ext cx="85" cy="81"/>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55" name="Freeform 39"/>
            <p:cNvSpPr>
              <a:spLocks/>
            </p:cNvSpPr>
            <p:nvPr/>
          </p:nvSpPr>
          <p:spPr bwMode="auto">
            <a:xfrm>
              <a:off x="3143" y="1721"/>
              <a:ext cx="81" cy="84"/>
            </a:xfrm>
            <a:custGeom>
              <a:avLst/>
              <a:gdLst>
                <a:gd name="T0" fmla="*/ 81 w 81"/>
                <a:gd name="T1" fmla="*/ 0 h 84"/>
                <a:gd name="T2" fmla="*/ 0 w 81"/>
                <a:gd name="T3" fmla="*/ 84 h 84"/>
                <a:gd name="T4" fmla="*/ 81 w 81"/>
                <a:gd name="T5" fmla="*/ 0 h 84"/>
              </a:gdLst>
              <a:ahLst/>
              <a:cxnLst>
                <a:cxn ang="0">
                  <a:pos x="T0" y="T1"/>
                </a:cxn>
                <a:cxn ang="0">
                  <a:pos x="T2" y="T3"/>
                </a:cxn>
                <a:cxn ang="0">
                  <a:pos x="T4" y="T5"/>
                </a:cxn>
              </a:cxnLst>
              <a:rect l="0" t="0" r="r" b="b"/>
              <a:pathLst>
                <a:path w="81" h="84">
                  <a:moveTo>
                    <a:pt x="81" y="0"/>
                  </a:moveTo>
                  <a:lnTo>
                    <a:pt x="0" y="84"/>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056" name="Line 40"/>
            <p:cNvSpPr>
              <a:spLocks noChangeShapeType="1"/>
            </p:cNvSpPr>
            <p:nvPr/>
          </p:nvSpPr>
          <p:spPr bwMode="auto">
            <a:xfrm flipH="1">
              <a:off x="3143" y="1721"/>
              <a:ext cx="81" cy="84"/>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057" name="Rectangle 41"/>
            <p:cNvSpPr>
              <a:spLocks noChangeArrowheads="1"/>
            </p:cNvSpPr>
            <p:nvPr/>
          </p:nvSpPr>
          <p:spPr bwMode="auto">
            <a:xfrm>
              <a:off x="2514" y="1697"/>
              <a:ext cx="47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analog-to-</a:t>
              </a:r>
              <a:endParaRPr lang="en-US" altLang="en-US" sz="2400"/>
            </a:p>
          </p:txBody>
        </p:sp>
        <p:sp>
          <p:nvSpPr>
            <p:cNvPr id="598061" name="Rectangle 45"/>
            <p:cNvSpPr>
              <a:spLocks noChangeArrowheads="1"/>
            </p:cNvSpPr>
            <p:nvPr/>
          </p:nvSpPr>
          <p:spPr bwMode="auto">
            <a:xfrm>
              <a:off x="2601" y="1811"/>
              <a:ext cx="27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digital</a:t>
              </a:r>
              <a:endParaRPr lang="en-US" altLang="en-US" sz="2400"/>
            </a:p>
          </p:txBody>
        </p:sp>
        <p:sp>
          <p:nvSpPr>
            <p:cNvPr id="598064" name="Rectangle 48"/>
            <p:cNvSpPr>
              <a:spLocks noChangeArrowheads="1"/>
            </p:cNvSpPr>
            <p:nvPr/>
          </p:nvSpPr>
          <p:spPr bwMode="auto">
            <a:xfrm>
              <a:off x="2532" y="1922"/>
              <a:ext cx="4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converter</a:t>
              </a:r>
              <a:endParaRPr lang="en-US" altLang="en-US" sz="2400"/>
            </a:p>
          </p:txBody>
        </p:sp>
        <p:sp>
          <p:nvSpPr>
            <p:cNvPr id="598072" name="Rectangle 56"/>
            <p:cNvSpPr>
              <a:spLocks noChangeArrowheads="1"/>
            </p:cNvSpPr>
            <p:nvPr/>
          </p:nvSpPr>
          <p:spPr bwMode="auto">
            <a:xfrm>
              <a:off x="2402" y="1571"/>
              <a:ext cx="660" cy="618"/>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73" name="Freeform 57"/>
            <p:cNvSpPr>
              <a:spLocks/>
            </p:cNvSpPr>
            <p:nvPr/>
          </p:nvSpPr>
          <p:spPr bwMode="auto">
            <a:xfrm>
              <a:off x="4974" y="2171"/>
              <a:ext cx="104" cy="103"/>
            </a:xfrm>
            <a:custGeom>
              <a:avLst/>
              <a:gdLst>
                <a:gd name="T0" fmla="*/ 0 w 104"/>
                <a:gd name="T1" fmla="*/ 103 h 103"/>
                <a:gd name="T2" fmla="*/ 104 w 104"/>
                <a:gd name="T3" fmla="*/ 53 h 103"/>
                <a:gd name="T4" fmla="*/ 0 w 104"/>
                <a:gd name="T5" fmla="*/ 0 h 103"/>
              </a:gdLst>
              <a:ahLst/>
              <a:cxnLst>
                <a:cxn ang="0">
                  <a:pos x="T0" y="T1"/>
                </a:cxn>
                <a:cxn ang="0">
                  <a:pos x="T2" y="T3"/>
                </a:cxn>
                <a:cxn ang="0">
                  <a:pos x="T4" y="T5"/>
                </a:cxn>
              </a:cxnLst>
              <a:rect l="0" t="0" r="r" b="b"/>
              <a:pathLst>
                <a:path w="104" h="103">
                  <a:moveTo>
                    <a:pt x="0" y="103"/>
                  </a:moveTo>
                  <a:lnTo>
                    <a:pt x="104"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74" name="Rectangle 58"/>
            <p:cNvSpPr>
              <a:spLocks noChangeArrowheads="1"/>
            </p:cNvSpPr>
            <p:nvPr/>
          </p:nvSpPr>
          <p:spPr bwMode="auto">
            <a:xfrm>
              <a:off x="5095" y="1816"/>
              <a:ext cx="4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digital-to-</a:t>
              </a:r>
              <a:endParaRPr lang="en-US" altLang="en-US" sz="2400"/>
            </a:p>
          </p:txBody>
        </p:sp>
        <p:sp>
          <p:nvSpPr>
            <p:cNvPr id="598080" name="Rectangle 64"/>
            <p:cNvSpPr>
              <a:spLocks noChangeArrowheads="1"/>
            </p:cNvSpPr>
            <p:nvPr/>
          </p:nvSpPr>
          <p:spPr bwMode="auto">
            <a:xfrm>
              <a:off x="5158" y="1930"/>
              <a:ext cx="2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analog</a:t>
              </a:r>
              <a:endParaRPr lang="en-US" altLang="en-US" sz="2400"/>
            </a:p>
          </p:txBody>
        </p:sp>
        <p:sp>
          <p:nvSpPr>
            <p:cNvPr id="598081" name="Rectangle 65"/>
            <p:cNvSpPr>
              <a:spLocks noChangeArrowheads="1"/>
            </p:cNvSpPr>
            <p:nvPr/>
          </p:nvSpPr>
          <p:spPr bwMode="auto">
            <a:xfrm>
              <a:off x="5101" y="2041"/>
              <a:ext cx="4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converter</a:t>
              </a:r>
              <a:endParaRPr lang="en-US" altLang="en-US" sz="2400"/>
            </a:p>
          </p:txBody>
        </p:sp>
        <p:sp>
          <p:nvSpPr>
            <p:cNvPr id="598089" name="Freeform 73"/>
            <p:cNvSpPr>
              <a:spLocks/>
            </p:cNvSpPr>
            <p:nvPr/>
          </p:nvSpPr>
          <p:spPr bwMode="auto">
            <a:xfrm>
              <a:off x="4971" y="1689"/>
              <a:ext cx="660" cy="619"/>
            </a:xfrm>
            <a:custGeom>
              <a:avLst/>
              <a:gdLst>
                <a:gd name="T0" fmla="*/ 660 w 660"/>
                <a:gd name="T1" fmla="*/ 369 h 619"/>
                <a:gd name="T2" fmla="*/ 660 w 660"/>
                <a:gd name="T3" fmla="*/ 619 h 619"/>
                <a:gd name="T4" fmla="*/ 0 w 660"/>
                <a:gd name="T5" fmla="*/ 619 h 619"/>
                <a:gd name="T6" fmla="*/ 0 w 660"/>
                <a:gd name="T7" fmla="*/ 0 h 619"/>
                <a:gd name="T8" fmla="*/ 660 w 660"/>
                <a:gd name="T9" fmla="*/ 0 h 619"/>
                <a:gd name="T10" fmla="*/ 660 w 660"/>
                <a:gd name="T11" fmla="*/ 369 h 619"/>
              </a:gdLst>
              <a:ahLst/>
              <a:cxnLst>
                <a:cxn ang="0">
                  <a:pos x="T0" y="T1"/>
                </a:cxn>
                <a:cxn ang="0">
                  <a:pos x="T2" y="T3"/>
                </a:cxn>
                <a:cxn ang="0">
                  <a:pos x="T4" y="T5"/>
                </a:cxn>
                <a:cxn ang="0">
                  <a:pos x="T6" y="T7"/>
                </a:cxn>
                <a:cxn ang="0">
                  <a:pos x="T8" y="T9"/>
                </a:cxn>
                <a:cxn ang="0">
                  <a:pos x="T10" y="T11"/>
                </a:cxn>
              </a:cxnLst>
              <a:rect l="0" t="0" r="r" b="b"/>
              <a:pathLst>
                <a:path w="660" h="619">
                  <a:moveTo>
                    <a:pt x="660" y="369"/>
                  </a:moveTo>
                  <a:lnTo>
                    <a:pt x="660" y="619"/>
                  </a:lnTo>
                  <a:lnTo>
                    <a:pt x="0" y="619"/>
                  </a:lnTo>
                  <a:lnTo>
                    <a:pt x="0" y="0"/>
                  </a:lnTo>
                  <a:lnTo>
                    <a:pt x="660" y="0"/>
                  </a:lnTo>
                  <a:lnTo>
                    <a:pt x="660" y="369"/>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90" name="Rectangle 74"/>
            <p:cNvSpPr>
              <a:spLocks noChangeArrowheads="1"/>
            </p:cNvSpPr>
            <p:nvPr/>
          </p:nvSpPr>
          <p:spPr bwMode="auto">
            <a:xfrm>
              <a:off x="3111" y="2061"/>
              <a:ext cx="23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ad_ld</a:t>
              </a:r>
              <a:endParaRPr lang="en-US" altLang="en-US" sz="2400"/>
            </a:p>
          </p:txBody>
        </p:sp>
        <p:sp>
          <p:nvSpPr>
            <p:cNvPr id="598091" name="Rectangle 75"/>
            <p:cNvSpPr>
              <a:spLocks noChangeArrowheads="1"/>
            </p:cNvSpPr>
            <p:nvPr/>
          </p:nvSpPr>
          <p:spPr bwMode="auto">
            <a:xfrm>
              <a:off x="4595" y="2162"/>
              <a:ext cx="23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da_ld</a:t>
              </a:r>
              <a:endParaRPr lang="en-US" altLang="en-US" sz="2400"/>
            </a:p>
          </p:txBody>
        </p:sp>
        <p:sp>
          <p:nvSpPr>
            <p:cNvPr id="598092" name="Rectangle 76"/>
            <p:cNvSpPr>
              <a:spLocks noChangeArrowheads="1"/>
            </p:cNvSpPr>
            <p:nvPr/>
          </p:nvSpPr>
          <p:spPr bwMode="auto">
            <a:xfrm>
              <a:off x="3399" y="1958"/>
              <a:ext cx="1100" cy="35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93" name="Rectangle 77"/>
            <p:cNvSpPr>
              <a:spLocks noChangeArrowheads="1"/>
            </p:cNvSpPr>
            <p:nvPr/>
          </p:nvSpPr>
          <p:spPr bwMode="auto">
            <a:xfrm>
              <a:off x="3399" y="889"/>
              <a:ext cx="1438" cy="51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094" name="Rectangle 78"/>
            <p:cNvSpPr>
              <a:spLocks noChangeArrowheads="1"/>
            </p:cNvSpPr>
            <p:nvPr/>
          </p:nvSpPr>
          <p:spPr bwMode="auto">
            <a:xfrm>
              <a:off x="4023" y="1849"/>
              <a:ext cx="18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Rrw</a:t>
              </a:r>
              <a:endParaRPr lang="en-US" altLang="en-US" sz="2400"/>
            </a:p>
          </p:txBody>
        </p:sp>
        <p:sp>
          <p:nvSpPr>
            <p:cNvPr id="598097" name="Rectangle 81"/>
            <p:cNvSpPr>
              <a:spLocks noChangeArrowheads="1"/>
            </p:cNvSpPr>
            <p:nvPr/>
          </p:nvSpPr>
          <p:spPr bwMode="auto">
            <a:xfrm>
              <a:off x="4230" y="1849"/>
              <a:ext cx="19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Ren</a:t>
              </a:r>
              <a:endParaRPr lang="en-US" altLang="en-US" sz="2400"/>
            </a:p>
          </p:txBody>
        </p:sp>
        <p:sp>
          <p:nvSpPr>
            <p:cNvPr id="598099" name="Rectangle 83"/>
            <p:cNvSpPr>
              <a:spLocks noChangeArrowheads="1"/>
            </p:cNvSpPr>
            <p:nvPr/>
          </p:nvSpPr>
          <p:spPr bwMode="auto">
            <a:xfrm>
              <a:off x="4431" y="1848"/>
              <a:ext cx="8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er</a:t>
              </a:r>
              <a:endParaRPr lang="en-US" altLang="en-US" sz="2400"/>
            </a:p>
          </p:txBody>
        </p:sp>
        <p:sp>
          <p:nvSpPr>
            <p:cNvPr id="598100" name="Rectangle 84"/>
            <p:cNvSpPr>
              <a:spLocks noChangeArrowheads="1"/>
            </p:cNvSpPr>
            <p:nvPr/>
          </p:nvSpPr>
          <p:spPr bwMode="auto">
            <a:xfrm>
              <a:off x="4725" y="1848"/>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bu</a:t>
              </a:r>
              <a:endParaRPr lang="en-US" altLang="en-US" sz="2400"/>
            </a:p>
          </p:txBody>
        </p:sp>
        <p:sp>
          <p:nvSpPr>
            <p:cNvPr id="598101" name="Rectangle 85"/>
            <p:cNvSpPr>
              <a:spLocks noChangeArrowheads="1"/>
            </p:cNvSpPr>
            <p:nvPr/>
          </p:nvSpPr>
          <p:spPr bwMode="auto">
            <a:xfrm>
              <a:off x="3858" y="1848"/>
              <a:ext cx="13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Ra</a:t>
              </a:r>
              <a:endParaRPr lang="en-US" altLang="en-US" sz="2400"/>
            </a:p>
          </p:txBody>
        </p:sp>
        <p:sp>
          <p:nvSpPr>
            <p:cNvPr id="598103" name="Rectangle 87"/>
            <p:cNvSpPr>
              <a:spLocks noChangeArrowheads="1"/>
            </p:cNvSpPr>
            <p:nvPr/>
          </p:nvSpPr>
          <p:spPr bwMode="auto">
            <a:xfrm>
              <a:off x="3669" y="1766"/>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12</a:t>
              </a:r>
              <a:endParaRPr lang="en-US" altLang="en-US" sz="2400"/>
            </a:p>
          </p:txBody>
        </p:sp>
        <p:sp>
          <p:nvSpPr>
            <p:cNvPr id="598104" name="Rectangle 88"/>
            <p:cNvSpPr>
              <a:spLocks noChangeArrowheads="1"/>
            </p:cNvSpPr>
            <p:nvPr/>
          </p:nvSpPr>
          <p:spPr bwMode="auto">
            <a:xfrm>
              <a:off x="3155" y="1605"/>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16</a:t>
              </a:r>
              <a:endParaRPr lang="en-US" altLang="en-US" sz="2400"/>
            </a:p>
          </p:txBody>
        </p:sp>
        <p:sp>
          <p:nvSpPr>
            <p:cNvPr id="598105" name="Rectangle 89"/>
            <p:cNvSpPr>
              <a:spLocks noChangeArrowheads="1"/>
            </p:cNvSpPr>
            <p:nvPr/>
          </p:nvSpPr>
          <p:spPr bwMode="auto">
            <a:xfrm>
              <a:off x="3747" y="2072"/>
              <a:ext cx="4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processor</a:t>
              </a:r>
              <a:endParaRPr lang="en-US" altLang="en-US" sz="2400"/>
            </a:p>
          </p:txBody>
        </p:sp>
        <p:sp>
          <p:nvSpPr>
            <p:cNvPr id="598110" name="Rectangle 94"/>
            <p:cNvSpPr>
              <a:spLocks noChangeArrowheads="1"/>
            </p:cNvSpPr>
            <p:nvPr/>
          </p:nvSpPr>
          <p:spPr bwMode="auto">
            <a:xfrm>
              <a:off x="3151" y="1842"/>
              <a:ext cx="28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ad_buf</a:t>
              </a:r>
              <a:endParaRPr lang="en-US" altLang="en-US" sz="2400"/>
            </a:p>
          </p:txBody>
        </p:sp>
        <p:sp>
          <p:nvSpPr>
            <p:cNvPr id="598118" name="Rectangle 102"/>
            <p:cNvSpPr>
              <a:spLocks noChangeArrowheads="1"/>
            </p:cNvSpPr>
            <p:nvPr/>
          </p:nvSpPr>
          <p:spPr bwMode="auto">
            <a:xfrm>
              <a:off x="3439" y="130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busy</a:t>
              </a:r>
              <a:endParaRPr lang="en-US" altLang="en-US" sz="2400"/>
            </a:p>
          </p:txBody>
        </p:sp>
        <p:sp>
          <p:nvSpPr>
            <p:cNvPr id="598119" name="Rectangle 103"/>
            <p:cNvSpPr>
              <a:spLocks noChangeArrowheads="1"/>
            </p:cNvSpPr>
            <p:nvPr/>
          </p:nvSpPr>
          <p:spPr bwMode="auto">
            <a:xfrm>
              <a:off x="3798" y="947"/>
              <a:ext cx="68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4096x16 Flash</a:t>
              </a:r>
              <a:endParaRPr lang="en-US" altLang="en-US" sz="2400"/>
            </a:p>
          </p:txBody>
        </p:sp>
        <p:sp>
          <p:nvSpPr>
            <p:cNvPr id="598124" name="Oval 108"/>
            <p:cNvSpPr>
              <a:spLocks noChangeArrowheads="1"/>
            </p:cNvSpPr>
            <p:nvPr/>
          </p:nvSpPr>
          <p:spPr bwMode="auto">
            <a:xfrm>
              <a:off x="4287" y="2539"/>
              <a:ext cx="162" cy="166"/>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125" name="Line 109"/>
            <p:cNvSpPr>
              <a:spLocks noChangeShapeType="1"/>
            </p:cNvSpPr>
            <p:nvPr/>
          </p:nvSpPr>
          <p:spPr bwMode="auto">
            <a:xfrm>
              <a:off x="4315" y="2558"/>
              <a:ext cx="106"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126" name="Line 110"/>
            <p:cNvSpPr>
              <a:spLocks noChangeShapeType="1"/>
            </p:cNvSpPr>
            <p:nvPr/>
          </p:nvSpPr>
          <p:spPr bwMode="auto">
            <a:xfrm>
              <a:off x="4296" y="2589"/>
              <a:ext cx="147"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127" name="Line 111"/>
            <p:cNvSpPr>
              <a:spLocks noChangeShapeType="1"/>
            </p:cNvSpPr>
            <p:nvPr/>
          </p:nvSpPr>
          <p:spPr bwMode="auto">
            <a:xfrm>
              <a:off x="4290" y="2621"/>
              <a:ext cx="159"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128" name="Line 112"/>
            <p:cNvSpPr>
              <a:spLocks noChangeShapeType="1"/>
            </p:cNvSpPr>
            <p:nvPr/>
          </p:nvSpPr>
          <p:spPr bwMode="auto">
            <a:xfrm>
              <a:off x="4293" y="2649"/>
              <a:ext cx="153"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129" name="Line 113"/>
            <p:cNvSpPr>
              <a:spLocks noChangeShapeType="1"/>
            </p:cNvSpPr>
            <p:nvPr/>
          </p:nvSpPr>
          <p:spPr bwMode="auto">
            <a:xfrm>
              <a:off x="3449" y="2589"/>
              <a:ext cx="147"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130" name="Line 114"/>
            <p:cNvSpPr>
              <a:spLocks noChangeShapeType="1"/>
            </p:cNvSpPr>
            <p:nvPr/>
          </p:nvSpPr>
          <p:spPr bwMode="auto">
            <a:xfrm>
              <a:off x="3443" y="2621"/>
              <a:ext cx="159"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131" name="Line 115"/>
            <p:cNvSpPr>
              <a:spLocks noChangeShapeType="1"/>
            </p:cNvSpPr>
            <p:nvPr/>
          </p:nvSpPr>
          <p:spPr bwMode="auto">
            <a:xfrm>
              <a:off x="3446" y="2649"/>
              <a:ext cx="153"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132" name="Line 116"/>
            <p:cNvSpPr>
              <a:spLocks noChangeShapeType="1"/>
            </p:cNvSpPr>
            <p:nvPr/>
          </p:nvSpPr>
          <p:spPr bwMode="auto">
            <a:xfrm>
              <a:off x="4315" y="2680"/>
              <a:ext cx="112"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8133" name="Rectangle 117"/>
            <p:cNvSpPr>
              <a:spLocks noChangeArrowheads="1"/>
            </p:cNvSpPr>
            <p:nvPr/>
          </p:nvSpPr>
          <p:spPr bwMode="auto">
            <a:xfrm>
              <a:off x="3699" y="2464"/>
              <a:ext cx="144" cy="50"/>
            </a:xfrm>
            <a:prstGeom prst="rect">
              <a:avLst/>
            </a:prstGeom>
            <a:solidFill>
              <a:srgbClr val="0078C1"/>
            </a:solidFill>
            <a:ln w="9525">
              <a:solidFill>
                <a:srgbClr val="0078C1"/>
              </a:solidFill>
              <a:miter lim="800000"/>
              <a:headEnd/>
              <a:tailEnd/>
            </a:ln>
          </p:spPr>
          <p:txBody>
            <a:bodyPr/>
            <a:lstStyle/>
            <a:p>
              <a:endParaRPr lang="en-US"/>
            </a:p>
          </p:txBody>
        </p:sp>
        <p:sp>
          <p:nvSpPr>
            <p:cNvPr id="598134" name="Rectangle 118"/>
            <p:cNvSpPr>
              <a:spLocks noChangeArrowheads="1"/>
            </p:cNvSpPr>
            <p:nvPr/>
          </p:nvSpPr>
          <p:spPr bwMode="auto">
            <a:xfrm>
              <a:off x="3942" y="2398"/>
              <a:ext cx="14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rec</a:t>
              </a:r>
              <a:endParaRPr lang="en-US" altLang="en-US" sz="2400"/>
            </a:p>
          </p:txBody>
        </p:sp>
        <p:sp>
          <p:nvSpPr>
            <p:cNvPr id="598136" name="Rectangle 120"/>
            <p:cNvSpPr>
              <a:spLocks noChangeArrowheads="1"/>
            </p:cNvSpPr>
            <p:nvPr/>
          </p:nvSpPr>
          <p:spPr bwMode="auto">
            <a:xfrm>
              <a:off x="4080" y="2520"/>
              <a:ext cx="19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play</a:t>
              </a:r>
              <a:endParaRPr lang="en-US" altLang="en-US" sz="2400"/>
            </a:p>
          </p:txBody>
        </p:sp>
        <p:sp>
          <p:nvSpPr>
            <p:cNvPr id="598139" name="Rectangle 123"/>
            <p:cNvSpPr>
              <a:spLocks noChangeArrowheads="1"/>
            </p:cNvSpPr>
            <p:nvPr/>
          </p:nvSpPr>
          <p:spPr bwMode="auto">
            <a:xfrm>
              <a:off x="3643" y="2520"/>
              <a:ext cx="29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record</a:t>
              </a:r>
              <a:endParaRPr lang="en-US" altLang="en-US" sz="2400"/>
            </a:p>
          </p:txBody>
        </p:sp>
        <p:sp>
          <p:nvSpPr>
            <p:cNvPr id="598145" name="Rectangle 129"/>
            <p:cNvSpPr>
              <a:spLocks noChangeArrowheads="1"/>
            </p:cNvSpPr>
            <p:nvPr/>
          </p:nvSpPr>
          <p:spPr bwMode="auto">
            <a:xfrm>
              <a:off x="3253" y="2739"/>
              <a:ext cx="54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microphone</a:t>
              </a:r>
              <a:endParaRPr lang="en-US" altLang="en-US" sz="2400"/>
            </a:p>
          </p:txBody>
        </p:sp>
        <p:sp>
          <p:nvSpPr>
            <p:cNvPr id="598148" name="Rectangle 132"/>
            <p:cNvSpPr>
              <a:spLocks noChangeArrowheads="1"/>
            </p:cNvSpPr>
            <p:nvPr/>
          </p:nvSpPr>
          <p:spPr bwMode="auto">
            <a:xfrm>
              <a:off x="4209" y="2739"/>
              <a:ext cx="31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speaker</a:t>
              </a:r>
              <a:endParaRPr lang="en-US" altLang="en-US" sz="2400"/>
            </a:p>
          </p:txBody>
        </p:sp>
        <p:sp>
          <p:nvSpPr>
            <p:cNvPr id="598149" name="Freeform 133"/>
            <p:cNvSpPr>
              <a:spLocks/>
            </p:cNvSpPr>
            <p:nvPr/>
          </p:nvSpPr>
          <p:spPr bwMode="auto">
            <a:xfrm>
              <a:off x="4540" y="2311"/>
              <a:ext cx="753" cy="310"/>
            </a:xfrm>
            <a:custGeom>
              <a:avLst/>
              <a:gdLst>
                <a:gd name="T0" fmla="*/ 753 w 753"/>
                <a:gd name="T1" fmla="*/ 0 h 310"/>
                <a:gd name="T2" fmla="*/ 753 w 753"/>
                <a:gd name="T3" fmla="*/ 310 h 310"/>
                <a:gd name="T4" fmla="*/ 0 w 753"/>
                <a:gd name="T5" fmla="*/ 310 h 310"/>
              </a:gdLst>
              <a:ahLst/>
              <a:cxnLst>
                <a:cxn ang="0">
                  <a:pos x="T0" y="T1"/>
                </a:cxn>
                <a:cxn ang="0">
                  <a:pos x="T2" y="T3"/>
                </a:cxn>
                <a:cxn ang="0">
                  <a:pos x="T4" y="T5"/>
                </a:cxn>
              </a:cxnLst>
              <a:rect l="0" t="0" r="r" b="b"/>
              <a:pathLst>
                <a:path w="753" h="310">
                  <a:moveTo>
                    <a:pt x="753" y="0"/>
                  </a:moveTo>
                  <a:lnTo>
                    <a:pt x="753" y="310"/>
                  </a:lnTo>
                  <a:lnTo>
                    <a:pt x="0" y="31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150" name="Freeform 134"/>
            <p:cNvSpPr>
              <a:spLocks/>
            </p:cNvSpPr>
            <p:nvPr/>
          </p:nvSpPr>
          <p:spPr bwMode="auto">
            <a:xfrm>
              <a:off x="2705" y="2192"/>
              <a:ext cx="50" cy="100"/>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8151" name="Freeform 135"/>
            <p:cNvSpPr>
              <a:spLocks/>
            </p:cNvSpPr>
            <p:nvPr/>
          </p:nvSpPr>
          <p:spPr bwMode="auto">
            <a:xfrm>
              <a:off x="2730" y="2227"/>
              <a:ext cx="669" cy="394"/>
            </a:xfrm>
            <a:custGeom>
              <a:avLst/>
              <a:gdLst>
                <a:gd name="T0" fmla="*/ 669 w 669"/>
                <a:gd name="T1" fmla="*/ 394 h 394"/>
                <a:gd name="T2" fmla="*/ 0 w 669"/>
                <a:gd name="T3" fmla="*/ 394 h 394"/>
                <a:gd name="T4" fmla="*/ 0 w 669"/>
                <a:gd name="T5" fmla="*/ 0 h 394"/>
              </a:gdLst>
              <a:ahLst/>
              <a:cxnLst>
                <a:cxn ang="0">
                  <a:pos x="T0" y="T1"/>
                </a:cxn>
                <a:cxn ang="0">
                  <a:pos x="T2" y="T3"/>
                </a:cxn>
                <a:cxn ang="0">
                  <a:pos x="T4" y="T5"/>
                </a:cxn>
              </a:cxnLst>
              <a:rect l="0" t="0" r="r" b="b"/>
              <a:pathLst>
                <a:path w="669" h="394">
                  <a:moveTo>
                    <a:pt x="669" y="394"/>
                  </a:moveTo>
                  <a:lnTo>
                    <a:pt x="0" y="394"/>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8152" name="Rectangle 136"/>
            <p:cNvSpPr>
              <a:spLocks noChangeArrowheads="1"/>
            </p:cNvSpPr>
            <p:nvPr/>
          </p:nvSpPr>
          <p:spPr bwMode="auto">
            <a:xfrm>
              <a:off x="3399" y="2514"/>
              <a:ext cx="1100" cy="216"/>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8155" name="Freeform 139"/>
          <p:cNvSpPr>
            <a:spLocks/>
          </p:cNvSpPr>
          <p:nvPr/>
        </p:nvSpPr>
        <p:spPr bwMode="auto">
          <a:xfrm>
            <a:off x="4897438" y="2298700"/>
            <a:ext cx="827087" cy="411163"/>
          </a:xfrm>
          <a:custGeom>
            <a:avLst/>
            <a:gdLst>
              <a:gd name="T0" fmla="*/ 0 w 567"/>
              <a:gd name="T1" fmla="*/ 235 h 274"/>
              <a:gd name="T2" fmla="*/ 477 w 567"/>
              <a:gd name="T3" fmla="*/ 235 h 274"/>
              <a:gd name="T4" fmla="*/ 538 w 567"/>
              <a:gd name="T5" fmla="*/ 0 h 274"/>
            </a:gdLst>
            <a:ahLst/>
            <a:cxnLst>
              <a:cxn ang="0">
                <a:pos x="T0" y="T1"/>
              </a:cxn>
              <a:cxn ang="0">
                <a:pos x="T2" y="T3"/>
              </a:cxn>
              <a:cxn ang="0">
                <a:pos x="T4" y="T5"/>
              </a:cxn>
            </a:cxnLst>
            <a:rect l="0" t="0" r="r" b="b"/>
            <a:pathLst>
              <a:path w="567" h="274">
                <a:moveTo>
                  <a:pt x="0" y="235"/>
                </a:moveTo>
                <a:cubicBezTo>
                  <a:pt x="193" y="254"/>
                  <a:pt x="387" y="274"/>
                  <a:pt x="477" y="235"/>
                </a:cubicBezTo>
                <a:cubicBezTo>
                  <a:pt x="567" y="196"/>
                  <a:pt x="552" y="98"/>
                  <a:pt x="538" y="0"/>
                </a:cubicBezTo>
              </a:path>
            </a:pathLst>
          </a:custGeom>
          <a:noFill/>
          <a:ln w="9525">
            <a:solidFill>
              <a:srgbClr val="FF0000"/>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8156" name="Freeform 140"/>
          <p:cNvSpPr>
            <a:spLocks/>
          </p:cNvSpPr>
          <p:nvPr/>
        </p:nvSpPr>
        <p:spPr bwMode="auto">
          <a:xfrm>
            <a:off x="5726113" y="2298700"/>
            <a:ext cx="2106612" cy="450850"/>
          </a:xfrm>
          <a:custGeom>
            <a:avLst/>
            <a:gdLst>
              <a:gd name="T0" fmla="*/ 99 w 1327"/>
              <a:gd name="T1" fmla="*/ 0 h 284"/>
              <a:gd name="T2" fmla="*/ 205 w 1327"/>
              <a:gd name="T3" fmla="*/ 242 h 284"/>
              <a:gd name="T4" fmla="*/ 1327 w 1327"/>
              <a:gd name="T5" fmla="*/ 250 h 284"/>
            </a:gdLst>
            <a:ahLst/>
            <a:cxnLst>
              <a:cxn ang="0">
                <a:pos x="T0" y="T1"/>
              </a:cxn>
              <a:cxn ang="0">
                <a:pos x="T2" y="T3"/>
              </a:cxn>
              <a:cxn ang="0">
                <a:pos x="T4" y="T5"/>
              </a:cxn>
            </a:cxnLst>
            <a:rect l="0" t="0" r="r" b="b"/>
            <a:pathLst>
              <a:path w="1327" h="284">
                <a:moveTo>
                  <a:pt x="99" y="0"/>
                </a:moveTo>
                <a:cubicBezTo>
                  <a:pt x="117" y="40"/>
                  <a:pt x="0" y="200"/>
                  <a:pt x="205" y="242"/>
                </a:cubicBezTo>
                <a:cubicBezTo>
                  <a:pt x="410" y="284"/>
                  <a:pt x="1093" y="248"/>
                  <a:pt x="1327" y="250"/>
                </a:cubicBezTo>
              </a:path>
            </a:pathLst>
          </a:custGeom>
          <a:noFill/>
          <a:ln w="9525">
            <a:solidFill>
              <a:srgbClr val="00FF00"/>
            </a:solidFill>
            <a:round/>
            <a:headEnd type="none" w="med" len="med"/>
            <a:tailEnd type="arrow"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8157" name="Text Box 141"/>
          <p:cNvSpPr txBox="1">
            <a:spLocks noChangeArrowheads="1"/>
          </p:cNvSpPr>
          <p:nvPr/>
        </p:nvSpPr>
        <p:spPr bwMode="auto">
          <a:xfrm>
            <a:off x="5526088" y="1766888"/>
            <a:ext cx="2120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663300"/>
                </a:solidFill>
              </a:rPr>
              <a:t>“We’re not home.”</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Slide Number Placeholder 3"/>
          <p:cNvSpPr>
            <a:spLocks noGrp="1"/>
          </p:cNvSpPr>
          <p:nvPr>
            <p:ph type="sldNum" sz="quarter" idx="10"/>
          </p:nvPr>
        </p:nvSpPr>
        <p:spPr/>
        <p:txBody>
          <a:bodyPr/>
          <a:lstStyle/>
          <a:p>
            <a:fld id="{9D52E67F-B696-401F-9895-0B6AF96B0DC0}" type="slidenum">
              <a:rPr lang="en-US" altLang="en-US"/>
              <a:pPr/>
              <a:t>81</a:t>
            </a:fld>
            <a:endParaRPr lang="en-US" altLang="en-US"/>
          </a:p>
        </p:txBody>
      </p:sp>
      <p:sp>
        <p:nvSpPr>
          <p:cNvPr id="600066" name="Rectangle 2"/>
          <p:cNvSpPr>
            <a:spLocks noGrp="1" noChangeArrowheads="1"/>
          </p:cNvSpPr>
          <p:nvPr>
            <p:ph type="title"/>
          </p:nvPr>
        </p:nvSpPr>
        <p:spPr/>
        <p:txBody>
          <a:bodyPr/>
          <a:lstStyle/>
          <a:p>
            <a:r>
              <a:rPr lang="en-US" altLang="en-US"/>
              <a:t>ROM Example: </a:t>
            </a:r>
            <a:r>
              <a:rPr lang="en-US" altLang="en-US" sz="3200"/>
              <a:t>Digital Telephone Answering Machine Using a Flash Memory</a:t>
            </a:r>
          </a:p>
        </p:txBody>
      </p:sp>
      <p:sp>
        <p:nvSpPr>
          <p:cNvPr id="600067" name="Rectangle 3"/>
          <p:cNvSpPr>
            <a:spLocks noGrp="1" noChangeArrowheads="1"/>
          </p:cNvSpPr>
          <p:nvPr>
            <p:ph type="body" idx="1"/>
          </p:nvPr>
        </p:nvSpPr>
        <p:spPr>
          <a:xfrm>
            <a:off x="215900" y="1219200"/>
            <a:ext cx="3544888" cy="4732338"/>
          </a:xfrm>
        </p:spPr>
        <p:txBody>
          <a:bodyPr/>
          <a:lstStyle/>
          <a:p>
            <a:r>
              <a:rPr lang="en-US" altLang="en-US" sz="2000"/>
              <a:t>High-level state machine</a:t>
            </a:r>
          </a:p>
          <a:p>
            <a:pPr lvl="1"/>
            <a:r>
              <a:rPr lang="en-US" altLang="en-US" sz="1800">
                <a:solidFill>
                  <a:srgbClr val="00FF00"/>
                </a:solidFill>
              </a:rPr>
              <a:t>Once </a:t>
            </a:r>
            <a:r>
              <a:rPr lang="en-US" altLang="en-US" sz="1800" i="1">
                <a:solidFill>
                  <a:srgbClr val="00FF00"/>
                </a:solidFill>
              </a:rPr>
              <a:t>rec=1</a:t>
            </a:r>
            <a:r>
              <a:rPr lang="en-US" altLang="en-US" sz="1800">
                <a:solidFill>
                  <a:srgbClr val="00FF00"/>
                </a:solidFill>
              </a:rPr>
              <a:t>, begin erasing flash by setting </a:t>
            </a:r>
            <a:r>
              <a:rPr lang="en-US" altLang="en-US" sz="1800" i="1">
                <a:solidFill>
                  <a:srgbClr val="00FF00"/>
                </a:solidFill>
              </a:rPr>
              <a:t>er=1</a:t>
            </a:r>
          </a:p>
          <a:p>
            <a:pPr lvl="1"/>
            <a:r>
              <a:rPr lang="en-US" altLang="en-US" sz="1800">
                <a:solidFill>
                  <a:srgbClr val="FF0000"/>
                </a:solidFill>
              </a:rPr>
              <a:t>Wait for flash to finish erasing by waiting for </a:t>
            </a:r>
            <a:r>
              <a:rPr lang="en-US" altLang="en-US" sz="1800" i="1">
                <a:solidFill>
                  <a:srgbClr val="FF0000"/>
                </a:solidFill>
              </a:rPr>
              <a:t>bu=0</a:t>
            </a:r>
          </a:p>
          <a:p>
            <a:pPr lvl="1"/>
            <a:r>
              <a:rPr lang="en-US" altLang="en-US" sz="1800">
                <a:solidFill>
                  <a:srgbClr val="0033CC"/>
                </a:solidFill>
              </a:rPr>
              <a:t>Execute loop that sets local register </a:t>
            </a:r>
            <a:r>
              <a:rPr lang="en-US" altLang="en-US" sz="1800" i="1">
                <a:solidFill>
                  <a:srgbClr val="0033CC"/>
                </a:solidFill>
              </a:rPr>
              <a:t>a</a:t>
            </a:r>
            <a:r>
              <a:rPr lang="en-US" altLang="en-US" sz="1800">
                <a:solidFill>
                  <a:srgbClr val="0033CC"/>
                </a:solidFill>
              </a:rPr>
              <a:t> from 0 to 4095, reading analog-to-digital converter and writing to flash for each </a:t>
            </a:r>
            <a:r>
              <a:rPr lang="en-US" altLang="en-US" sz="1800" i="1">
                <a:solidFill>
                  <a:srgbClr val="0033CC"/>
                </a:solidFill>
              </a:rPr>
              <a:t>a</a:t>
            </a:r>
          </a:p>
          <a:p>
            <a:pPr lvl="1"/>
            <a:endParaRPr lang="en-US" altLang="en-US" sz="1800"/>
          </a:p>
          <a:p>
            <a:pPr lvl="1"/>
            <a:endParaRPr lang="en-US" altLang="en-US" sz="1800"/>
          </a:p>
        </p:txBody>
      </p:sp>
      <p:sp>
        <p:nvSpPr>
          <p:cNvPr id="600159" name="Rectangle 95"/>
          <p:cNvSpPr>
            <a:spLocks noChangeArrowheads="1"/>
          </p:cNvSpPr>
          <p:nvPr/>
        </p:nvSpPr>
        <p:spPr bwMode="auto">
          <a:xfrm>
            <a:off x="3817938" y="20685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d</a:t>
            </a:r>
            <a:endParaRPr lang="en-US" altLang="en-US" sz="2400"/>
          </a:p>
        </p:txBody>
      </p:sp>
      <p:sp>
        <p:nvSpPr>
          <p:cNvPr id="600160" name="Rectangle 96"/>
          <p:cNvSpPr>
            <a:spLocks noChangeArrowheads="1"/>
          </p:cNvSpPr>
          <p:nvPr/>
        </p:nvSpPr>
        <p:spPr bwMode="auto">
          <a:xfrm>
            <a:off x="3817938" y="19796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a:t>
            </a:r>
            <a:endParaRPr lang="en-US" altLang="en-US" sz="2400"/>
          </a:p>
        </p:txBody>
      </p:sp>
      <p:sp>
        <p:nvSpPr>
          <p:cNvPr id="600161" name="Rectangle 97"/>
          <p:cNvSpPr>
            <a:spLocks noChangeArrowheads="1"/>
          </p:cNvSpPr>
          <p:nvPr/>
        </p:nvSpPr>
        <p:spPr bwMode="auto">
          <a:xfrm>
            <a:off x="4360863" y="20685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0162" name="Rectangle 98"/>
          <p:cNvSpPr>
            <a:spLocks noChangeArrowheads="1"/>
          </p:cNvSpPr>
          <p:nvPr/>
        </p:nvSpPr>
        <p:spPr bwMode="auto">
          <a:xfrm>
            <a:off x="4360863" y="20129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w</a:t>
            </a:r>
            <a:endParaRPr lang="en-US" altLang="en-US" sz="2400"/>
          </a:p>
        </p:txBody>
      </p:sp>
      <p:sp>
        <p:nvSpPr>
          <p:cNvPr id="600163" name="Rectangle 99"/>
          <p:cNvSpPr>
            <a:spLocks noChangeArrowheads="1"/>
          </p:cNvSpPr>
          <p:nvPr/>
        </p:nvSpPr>
        <p:spPr bwMode="auto">
          <a:xfrm>
            <a:off x="4687888" y="20685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en</a:t>
            </a:r>
            <a:endParaRPr lang="en-US" altLang="en-US" sz="2400"/>
          </a:p>
        </p:txBody>
      </p:sp>
      <p:grpSp>
        <p:nvGrpSpPr>
          <p:cNvPr id="600422" name="Group 358"/>
          <p:cNvGrpSpPr>
            <a:grpSpLocks/>
          </p:cNvGrpSpPr>
          <p:nvPr/>
        </p:nvGrpSpPr>
        <p:grpSpPr bwMode="auto">
          <a:xfrm>
            <a:off x="4521200" y="1301750"/>
            <a:ext cx="4452938" cy="2311400"/>
            <a:chOff x="2848" y="820"/>
            <a:chExt cx="2805" cy="1456"/>
          </a:xfrm>
        </p:grpSpPr>
        <p:sp>
          <p:nvSpPr>
            <p:cNvPr id="600068" name="Line 4"/>
            <p:cNvSpPr>
              <a:spLocks noChangeShapeType="1"/>
            </p:cNvSpPr>
            <p:nvPr/>
          </p:nvSpPr>
          <p:spPr bwMode="auto">
            <a:xfrm>
              <a:off x="3834" y="1461"/>
              <a:ext cx="1211"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69" name="Line 5"/>
            <p:cNvSpPr>
              <a:spLocks noChangeShapeType="1"/>
            </p:cNvSpPr>
            <p:nvPr/>
          </p:nvSpPr>
          <p:spPr bwMode="auto">
            <a:xfrm>
              <a:off x="3719" y="1461"/>
              <a:ext cx="1"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70" name="Freeform 6"/>
            <p:cNvSpPr>
              <a:spLocks/>
            </p:cNvSpPr>
            <p:nvPr/>
          </p:nvSpPr>
          <p:spPr bwMode="auto">
            <a:xfrm>
              <a:off x="3719" y="1402"/>
              <a:ext cx="115" cy="122"/>
            </a:xfrm>
            <a:custGeom>
              <a:avLst/>
              <a:gdLst>
                <a:gd name="T0" fmla="*/ 0 w 132"/>
                <a:gd name="T1" fmla="*/ 166 h 166"/>
                <a:gd name="T2" fmla="*/ 132 w 132"/>
                <a:gd name="T3" fmla="*/ 81 h 166"/>
                <a:gd name="T4" fmla="*/ 0 w 132"/>
                <a:gd name="T5" fmla="*/ 0 h 166"/>
                <a:gd name="T6" fmla="*/ 0 w 132"/>
                <a:gd name="T7" fmla="*/ 166 h 166"/>
              </a:gdLst>
              <a:ahLst/>
              <a:cxnLst>
                <a:cxn ang="0">
                  <a:pos x="T0" y="T1"/>
                </a:cxn>
                <a:cxn ang="0">
                  <a:pos x="T2" y="T3"/>
                </a:cxn>
                <a:cxn ang="0">
                  <a:pos x="T4" y="T5"/>
                </a:cxn>
                <a:cxn ang="0">
                  <a:pos x="T6" y="T7"/>
                </a:cxn>
              </a:cxnLst>
              <a:rect l="0" t="0" r="r" b="b"/>
              <a:pathLst>
                <a:path w="132" h="166">
                  <a:moveTo>
                    <a:pt x="0" y="166"/>
                  </a:moveTo>
                  <a:lnTo>
                    <a:pt x="132" y="81"/>
                  </a:lnTo>
                  <a:lnTo>
                    <a:pt x="0" y="0"/>
                  </a:lnTo>
                  <a:lnTo>
                    <a:pt x="0" y="166"/>
                  </a:lnTo>
                  <a:close/>
                </a:path>
              </a:pathLst>
            </a:custGeom>
            <a:solidFill>
              <a:srgbClr val="FFFFFF"/>
            </a:solidFill>
            <a:ln w="14288" cap="flat">
              <a:solidFill>
                <a:srgbClr val="0078C1"/>
              </a:solidFill>
              <a:prstDash val="solid"/>
              <a:miter lim="800000"/>
              <a:headEnd/>
              <a:tailEnd/>
            </a:ln>
          </p:spPr>
          <p:txBody>
            <a:bodyPr/>
            <a:lstStyle/>
            <a:p>
              <a:endParaRPr lang="en-US"/>
            </a:p>
          </p:txBody>
        </p:sp>
        <p:sp>
          <p:nvSpPr>
            <p:cNvPr id="600071" name="Line 7"/>
            <p:cNvSpPr>
              <a:spLocks noChangeShapeType="1"/>
            </p:cNvSpPr>
            <p:nvPr/>
          </p:nvSpPr>
          <p:spPr bwMode="auto">
            <a:xfrm flipH="1">
              <a:off x="3508" y="1647"/>
              <a:ext cx="203"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72" name="Freeform 8"/>
            <p:cNvSpPr>
              <a:spLocks/>
            </p:cNvSpPr>
            <p:nvPr/>
          </p:nvSpPr>
          <p:spPr bwMode="auto">
            <a:xfrm>
              <a:off x="3429" y="1629"/>
              <a:ext cx="87" cy="37"/>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73" name="Line 9"/>
            <p:cNvSpPr>
              <a:spLocks noChangeShapeType="1"/>
            </p:cNvSpPr>
            <p:nvPr/>
          </p:nvSpPr>
          <p:spPr bwMode="auto">
            <a:xfrm>
              <a:off x="4676" y="1735"/>
              <a:ext cx="325" cy="1"/>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74" name="Freeform 10"/>
            <p:cNvSpPr>
              <a:spLocks/>
            </p:cNvSpPr>
            <p:nvPr/>
          </p:nvSpPr>
          <p:spPr bwMode="auto">
            <a:xfrm>
              <a:off x="4990" y="1716"/>
              <a:ext cx="87" cy="37"/>
            </a:xfrm>
            <a:custGeom>
              <a:avLst/>
              <a:gdLst>
                <a:gd name="T0" fmla="*/ 100 w 100"/>
                <a:gd name="T1" fmla="*/ 25 h 50"/>
                <a:gd name="T2" fmla="*/ 0 w 100"/>
                <a:gd name="T3" fmla="*/ 50 h 50"/>
                <a:gd name="T4" fmla="*/ 0 w 100"/>
                <a:gd name="T5" fmla="*/ 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50"/>
                  </a:lnTo>
                  <a:lnTo>
                    <a:pt x="0" y="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75" name="Freeform 11"/>
            <p:cNvSpPr>
              <a:spLocks/>
            </p:cNvSpPr>
            <p:nvPr/>
          </p:nvSpPr>
          <p:spPr bwMode="auto">
            <a:xfrm>
              <a:off x="4676" y="2075"/>
              <a:ext cx="87" cy="37"/>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76" name="Line 12"/>
            <p:cNvSpPr>
              <a:spLocks noChangeShapeType="1"/>
            </p:cNvSpPr>
            <p:nvPr/>
          </p:nvSpPr>
          <p:spPr bwMode="auto">
            <a:xfrm>
              <a:off x="3427" y="1461"/>
              <a:ext cx="214" cy="1"/>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77" name="Freeform 13"/>
            <p:cNvSpPr>
              <a:spLocks/>
            </p:cNvSpPr>
            <p:nvPr/>
          </p:nvSpPr>
          <p:spPr bwMode="auto">
            <a:xfrm>
              <a:off x="3627" y="1443"/>
              <a:ext cx="87" cy="3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78" name="Freeform 14"/>
            <p:cNvSpPr>
              <a:spLocks/>
            </p:cNvSpPr>
            <p:nvPr/>
          </p:nvSpPr>
          <p:spPr bwMode="auto">
            <a:xfrm>
              <a:off x="4993" y="1443"/>
              <a:ext cx="87" cy="37"/>
            </a:xfrm>
            <a:custGeom>
              <a:avLst/>
              <a:gdLst>
                <a:gd name="T0" fmla="*/ 100 w 100"/>
                <a:gd name="T1" fmla="*/ 25 h 50"/>
                <a:gd name="T2" fmla="*/ 0 w 100"/>
                <a:gd name="T3" fmla="*/ 0 h 50"/>
                <a:gd name="T4" fmla="*/ 0 w 100"/>
                <a:gd name="T5" fmla="*/ 50 h 50"/>
                <a:gd name="T6" fmla="*/ 100 w 100"/>
                <a:gd name="T7" fmla="*/ 25 h 50"/>
              </a:gdLst>
              <a:ahLst/>
              <a:cxnLst>
                <a:cxn ang="0">
                  <a:pos x="T0" y="T1"/>
                </a:cxn>
                <a:cxn ang="0">
                  <a:pos x="T2" y="T3"/>
                </a:cxn>
                <a:cxn ang="0">
                  <a:pos x="T4" y="T5"/>
                </a:cxn>
                <a:cxn ang="0">
                  <a:pos x="T6" y="T7"/>
                </a:cxn>
              </a:cxnLst>
              <a:rect l="0" t="0" r="r" b="b"/>
              <a:pathLst>
                <a:path w="100" h="50">
                  <a:moveTo>
                    <a:pt x="100" y="25"/>
                  </a:moveTo>
                  <a:lnTo>
                    <a:pt x="0" y="0"/>
                  </a:lnTo>
                  <a:lnTo>
                    <a:pt x="0" y="50"/>
                  </a:lnTo>
                  <a:lnTo>
                    <a:pt x="10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79" name="Line 15"/>
            <p:cNvSpPr>
              <a:spLocks noChangeShapeType="1"/>
            </p:cNvSpPr>
            <p:nvPr/>
          </p:nvSpPr>
          <p:spPr bwMode="auto">
            <a:xfrm flipV="1">
              <a:off x="4415" y="1271"/>
              <a:ext cx="1" cy="33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80" name="Freeform 16"/>
            <p:cNvSpPr>
              <a:spLocks/>
            </p:cNvSpPr>
            <p:nvPr/>
          </p:nvSpPr>
          <p:spPr bwMode="auto">
            <a:xfrm>
              <a:off x="4393" y="1208"/>
              <a:ext cx="44" cy="74"/>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81" name="Line 17"/>
            <p:cNvSpPr>
              <a:spLocks noChangeShapeType="1"/>
            </p:cNvSpPr>
            <p:nvPr/>
          </p:nvSpPr>
          <p:spPr bwMode="auto">
            <a:xfrm flipV="1">
              <a:off x="4238" y="1271"/>
              <a:ext cx="1" cy="33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82" name="Freeform 18"/>
            <p:cNvSpPr>
              <a:spLocks/>
            </p:cNvSpPr>
            <p:nvPr/>
          </p:nvSpPr>
          <p:spPr bwMode="auto">
            <a:xfrm>
              <a:off x="4216" y="1208"/>
              <a:ext cx="44" cy="74"/>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83" name="Line 19"/>
            <p:cNvSpPr>
              <a:spLocks noChangeShapeType="1"/>
            </p:cNvSpPr>
            <p:nvPr/>
          </p:nvSpPr>
          <p:spPr bwMode="auto">
            <a:xfrm flipV="1">
              <a:off x="4154" y="1935"/>
              <a:ext cx="1" cy="7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84" name="Freeform 20"/>
            <p:cNvSpPr>
              <a:spLocks/>
            </p:cNvSpPr>
            <p:nvPr/>
          </p:nvSpPr>
          <p:spPr bwMode="auto">
            <a:xfrm>
              <a:off x="4132" y="1873"/>
              <a:ext cx="43" cy="74"/>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85" name="Line 21"/>
            <p:cNvSpPr>
              <a:spLocks noChangeShapeType="1"/>
            </p:cNvSpPr>
            <p:nvPr/>
          </p:nvSpPr>
          <p:spPr bwMode="auto">
            <a:xfrm flipV="1">
              <a:off x="4380" y="1935"/>
              <a:ext cx="0" cy="78"/>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86" name="Freeform 22"/>
            <p:cNvSpPr>
              <a:spLocks/>
            </p:cNvSpPr>
            <p:nvPr/>
          </p:nvSpPr>
          <p:spPr bwMode="auto">
            <a:xfrm>
              <a:off x="4358" y="1873"/>
              <a:ext cx="43" cy="74"/>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87" name="Line 23"/>
            <p:cNvSpPr>
              <a:spLocks noChangeShapeType="1"/>
            </p:cNvSpPr>
            <p:nvPr/>
          </p:nvSpPr>
          <p:spPr bwMode="auto">
            <a:xfrm flipV="1">
              <a:off x="4589" y="1271"/>
              <a:ext cx="1" cy="333"/>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88" name="Freeform 24"/>
            <p:cNvSpPr>
              <a:spLocks/>
            </p:cNvSpPr>
            <p:nvPr/>
          </p:nvSpPr>
          <p:spPr bwMode="auto">
            <a:xfrm>
              <a:off x="4567" y="1208"/>
              <a:ext cx="44" cy="74"/>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89" name="Freeform 25"/>
            <p:cNvSpPr>
              <a:spLocks/>
            </p:cNvSpPr>
            <p:nvPr/>
          </p:nvSpPr>
          <p:spPr bwMode="auto">
            <a:xfrm>
              <a:off x="4749" y="1202"/>
              <a:ext cx="89" cy="443"/>
            </a:xfrm>
            <a:custGeom>
              <a:avLst/>
              <a:gdLst>
                <a:gd name="T0" fmla="*/ 0 w 103"/>
                <a:gd name="T1" fmla="*/ 603 h 603"/>
                <a:gd name="T2" fmla="*/ 103 w 103"/>
                <a:gd name="T3" fmla="*/ 603 h 603"/>
                <a:gd name="T4" fmla="*/ 103 w 103"/>
                <a:gd name="T5" fmla="*/ 0 h 603"/>
              </a:gdLst>
              <a:ahLst/>
              <a:cxnLst>
                <a:cxn ang="0">
                  <a:pos x="T0" y="T1"/>
                </a:cxn>
                <a:cxn ang="0">
                  <a:pos x="T2" y="T3"/>
                </a:cxn>
                <a:cxn ang="0">
                  <a:pos x="T4" y="T5"/>
                </a:cxn>
              </a:cxnLst>
              <a:rect l="0" t="0" r="r" b="b"/>
              <a:pathLst>
                <a:path w="103" h="603">
                  <a:moveTo>
                    <a:pt x="0" y="603"/>
                  </a:moveTo>
                  <a:lnTo>
                    <a:pt x="103" y="603"/>
                  </a:lnTo>
                  <a:lnTo>
                    <a:pt x="103"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090" name="Freeform 26"/>
            <p:cNvSpPr>
              <a:spLocks/>
            </p:cNvSpPr>
            <p:nvPr/>
          </p:nvSpPr>
          <p:spPr bwMode="auto">
            <a:xfrm>
              <a:off x="4676" y="1627"/>
              <a:ext cx="87" cy="36"/>
            </a:xfrm>
            <a:custGeom>
              <a:avLst/>
              <a:gdLst>
                <a:gd name="T0" fmla="*/ 0 w 100"/>
                <a:gd name="T1" fmla="*/ 25 h 50"/>
                <a:gd name="T2" fmla="*/ 100 w 100"/>
                <a:gd name="T3" fmla="*/ 50 h 50"/>
                <a:gd name="T4" fmla="*/ 100 w 100"/>
                <a:gd name="T5" fmla="*/ 0 h 50"/>
                <a:gd name="T6" fmla="*/ 0 w 100"/>
                <a:gd name="T7" fmla="*/ 25 h 50"/>
              </a:gdLst>
              <a:ahLst/>
              <a:cxnLst>
                <a:cxn ang="0">
                  <a:pos x="T0" y="T1"/>
                </a:cxn>
                <a:cxn ang="0">
                  <a:pos x="T2" y="T3"/>
                </a:cxn>
                <a:cxn ang="0">
                  <a:pos x="T4" y="T5"/>
                </a:cxn>
                <a:cxn ang="0">
                  <a:pos x="T6" y="T7"/>
                </a:cxn>
              </a:cxnLst>
              <a:rect l="0" t="0" r="r" b="b"/>
              <a:pathLst>
                <a:path w="100" h="50">
                  <a:moveTo>
                    <a:pt x="0" y="25"/>
                  </a:moveTo>
                  <a:lnTo>
                    <a:pt x="100" y="50"/>
                  </a:lnTo>
                  <a:lnTo>
                    <a:pt x="100" y="0"/>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91" name="Line 27"/>
            <p:cNvSpPr>
              <a:spLocks noChangeShapeType="1"/>
            </p:cNvSpPr>
            <p:nvPr/>
          </p:nvSpPr>
          <p:spPr bwMode="auto">
            <a:xfrm flipV="1">
              <a:off x="4081" y="1271"/>
              <a:ext cx="1" cy="333"/>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92" name="Freeform 28"/>
            <p:cNvSpPr>
              <a:spLocks/>
            </p:cNvSpPr>
            <p:nvPr/>
          </p:nvSpPr>
          <p:spPr bwMode="auto">
            <a:xfrm>
              <a:off x="4059" y="1208"/>
              <a:ext cx="43" cy="74"/>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93" name="Line 29"/>
            <p:cNvSpPr>
              <a:spLocks noChangeShapeType="1"/>
            </p:cNvSpPr>
            <p:nvPr/>
          </p:nvSpPr>
          <p:spPr bwMode="auto">
            <a:xfrm flipV="1">
              <a:off x="3934" y="1271"/>
              <a:ext cx="1" cy="142"/>
            </a:xfrm>
            <a:prstGeom prst="line">
              <a:avLst/>
            </a:prstGeom>
            <a:noFill/>
            <a:ln w="2857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94" name="Freeform 30"/>
            <p:cNvSpPr>
              <a:spLocks/>
            </p:cNvSpPr>
            <p:nvPr/>
          </p:nvSpPr>
          <p:spPr bwMode="auto">
            <a:xfrm>
              <a:off x="3912" y="1208"/>
              <a:ext cx="44" cy="74"/>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95" name="Line 31"/>
            <p:cNvSpPr>
              <a:spLocks noChangeShapeType="1"/>
            </p:cNvSpPr>
            <p:nvPr/>
          </p:nvSpPr>
          <p:spPr bwMode="auto">
            <a:xfrm flipV="1">
              <a:off x="3801" y="1544"/>
              <a:ext cx="1" cy="62"/>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096" name="Freeform 32"/>
            <p:cNvSpPr>
              <a:spLocks/>
            </p:cNvSpPr>
            <p:nvPr/>
          </p:nvSpPr>
          <p:spPr bwMode="auto">
            <a:xfrm>
              <a:off x="3779" y="1482"/>
              <a:ext cx="44" cy="73"/>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97" name="Freeform 33"/>
            <p:cNvSpPr>
              <a:spLocks/>
            </p:cNvSpPr>
            <p:nvPr/>
          </p:nvSpPr>
          <p:spPr bwMode="auto">
            <a:xfrm>
              <a:off x="3912" y="1383"/>
              <a:ext cx="44" cy="74"/>
            </a:xfrm>
            <a:custGeom>
              <a:avLst/>
              <a:gdLst>
                <a:gd name="T0" fmla="*/ 25 w 50"/>
                <a:gd name="T1" fmla="*/ 100 h 100"/>
                <a:gd name="T2" fmla="*/ 0 w 50"/>
                <a:gd name="T3" fmla="*/ 0 h 100"/>
                <a:gd name="T4" fmla="*/ 50 w 50"/>
                <a:gd name="T5" fmla="*/ 0 h 100"/>
                <a:gd name="T6" fmla="*/ 25 w 50"/>
                <a:gd name="T7" fmla="*/ 100 h 100"/>
              </a:gdLst>
              <a:ahLst/>
              <a:cxnLst>
                <a:cxn ang="0">
                  <a:pos x="T0" y="T1"/>
                </a:cxn>
                <a:cxn ang="0">
                  <a:pos x="T2" y="T3"/>
                </a:cxn>
                <a:cxn ang="0">
                  <a:pos x="T4" y="T5"/>
                </a:cxn>
                <a:cxn ang="0">
                  <a:pos x="T6" y="T7"/>
                </a:cxn>
              </a:cxnLst>
              <a:rect l="0" t="0" r="r" b="b"/>
              <a:pathLst>
                <a:path w="50" h="100">
                  <a:moveTo>
                    <a:pt x="25" y="100"/>
                  </a:moveTo>
                  <a:lnTo>
                    <a:pt x="0" y="0"/>
                  </a:lnTo>
                  <a:lnTo>
                    <a:pt x="50" y="0"/>
                  </a:lnTo>
                  <a:lnTo>
                    <a:pt x="25" y="10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098" name="Freeform 34"/>
            <p:cNvSpPr>
              <a:spLocks/>
            </p:cNvSpPr>
            <p:nvPr/>
          </p:nvSpPr>
          <p:spPr bwMode="auto">
            <a:xfrm>
              <a:off x="3717" y="1778"/>
              <a:ext cx="89" cy="79"/>
            </a:xfrm>
            <a:custGeom>
              <a:avLst/>
              <a:gdLst>
                <a:gd name="T0" fmla="*/ 0 w 103"/>
                <a:gd name="T1" fmla="*/ 107 h 107"/>
                <a:gd name="T2" fmla="*/ 103 w 103"/>
                <a:gd name="T3" fmla="*/ 54 h 107"/>
                <a:gd name="T4" fmla="*/ 0 w 103"/>
                <a:gd name="T5" fmla="*/ 0 h 107"/>
              </a:gdLst>
              <a:ahLst/>
              <a:cxnLst>
                <a:cxn ang="0">
                  <a:pos x="T0" y="T1"/>
                </a:cxn>
                <a:cxn ang="0">
                  <a:pos x="T2" y="T3"/>
                </a:cxn>
                <a:cxn ang="0">
                  <a:pos x="T4" y="T5"/>
                </a:cxn>
              </a:cxnLst>
              <a:rect l="0" t="0" r="r" b="b"/>
              <a:pathLst>
                <a:path w="103" h="107">
                  <a:moveTo>
                    <a:pt x="0" y="107"/>
                  </a:moveTo>
                  <a:lnTo>
                    <a:pt x="103" y="54"/>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099" name="Freeform 35"/>
            <p:cNvSpPr>
              <a:spLocks/>
            </p:cNvSpPr>
            <p:nvPr/>
          </p:nvSpPr>
          <p:spPr bwMode="auto">
            <a:xfrm>
              <a:off x="3717" y="1103"/>
              <a:ext cx="89" cy="76"/>
            </a:xfrm>
            <a:custGeom>
              <a:avLst/>
              <a:gdLst>
                <a:gd name="T0" fmla="*/ 0 w 103"/>
                <a:gd name="T1" fmla="*/ 103 h 103"/>
                <a:gd name="T2" fmla="*/ 103 w 103"/>
                <a:gd name="T3" fmla="*/ 50 h 103"/>
                <a:gd name="T4" fmla="*/ 0 w 103"/>
                <a:gd name="T5" fmla="*/ 0 h 103"/>
              </a:gdLst>
              <a:ahLst/>
              <a:cxnLst>
                <a:cxn ang="0">
                  <a:pos x="T0" y="T1"/>
                </a:cxn>
                <a:cxn ang="0">
                  <a:pos x="T2" y="T3"/>
                </a:cxn>
                <a:cxn ang="0">
                  <a:pos x="T4" y="T5"/>
                </a:cxn>
              </a:cxnLst>
              <a:rect l="0" t="0" r="r" b="b"/>
              <a:pathLst>
                <a:path w="103" h="103">
                  <a:moveTo>
                    <a:pt x="0" y="103"/>
                  </a:moveTo>
                  <a:lnTo>
                    <a:pt x="103" y="50"/>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00" name="Freeform 36"/>
            <p:cNvSpPr>
              <a:spLocks/>
            </p:cNvSpPr>
            <p:nvPr/>
          </p:nvSpPr>
          <p:spPr bwMode="auto">
            <a:xfrm>
              <a:off x="2851" y="1675"/>
              <a:ext cx="89" cy="76"/>
            </a:xfrm>
            <a:custGeom>
              <a:avLst/>
              <a:gdLst>
                <a:gd name="T0" fmla="*/ 0 w 103"/>
                <a:gd name="T1" fmla="*/ 103 h 103"/>
                <a:gd name="T2" fmla="*/ 103 w 103"/>
                <a:gd name="T3" fmla="*/ 53 h 103"/>
                <a:gd name="T4" fmla="*/ 0 w 103"/>
                <a:gd name="T5" fmla="*/ 0 h 103"/>
              </a:gdLst>
              <a:ahLst/>
              <a:cxnLst>
                <a:cxn ang="0">
                  <a:pos x="T0" y="T1"/>
                </a:cxn>
                <a:cxn ang="0">
                  <a:pos x="T2" y="T3"/>
                </a:cxn>
                <a:cxn ang="0">
                  <a:pos x="T4" y="T5"/>
                </a:cxn>
              </a:cxnLst>
              <a:rect l="0" t="0" r="r" b="b"/>
              <a:pathLst>
                <a:path w="103" h="103">
                  <a:moveTo>
                    <a:pt x="0" y="103"/>
                  </a:moveTo>
                  <a:lnTo>
                    <a:pt x="103"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01" name="Freeform 37"/>
            <p:cNvSpPr>
              <a:spLocks/>
            </p:cNvSpPr>
            <p:nvPr/>
          </p:nvSpPr>
          <p:spPr bwMode="auto">
            <a:xfrm>
              <a:off x="4045" y="1477"/>
              <a:ext cx="74" cy="60"/>
            </a:xfrm>
            <a:custGeom>
              <a:avLst/>
              <a:gdLst>
                <a:gd name="T0" fmla="*/ 85 w 85"/>
                <a:gd name="T1" fmla="*/ 0 h 81"/>
                <a:gd name="T2" fmla="*/ 0 w 85"/>
                <a:gd name="T3" fmla="*/ 81 h 81"/>
                <a:gd name="T4" fmla="*/ 85 w 85"/>
                <a:gd name="T5" fmla="*/ 0 h 81"/>
              </a:gdLst>
              <a:ahLst/>
              <a:cxnLst>
                <a:cxn ang="0">
                  <a:pos x="T0" y="T1"/>
                </a:cxn>
                <a:cxn ang="0">
                  <a:pos x="T2" y="T3"/>
                </a:cxn>
                <a:cxn ang="0">
                  <a:pos x="T4" y="T5"/>
                </a:cxn>
              </a:cxnLst>
              <a:rect l="0" t="0" r="r" b="b"/>
              <a:pathLst>
                <a:path w="85" h="81">
                  <a:moveTo>
                    <a:pt x="85" y="0"/>
                  </a:moveTo>
                  <a:lnTo>
                    <a:pt x="0" y="81"/>
                  </a:lnTo>
                  <a:lnTo>
                    <a:pt x="8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102" name="Line 38"/>
            <p:cNvSpPr>
              <a:spLocks noChangeShapeType="1"/>
            </p:cNvSpPr>
            <p:nvPr/>
          </p:nvSpPr>
          <p:spPr bwMode="auto">
            <a:xfrm flipH="1">
              <a:off x="4045" y="1477"/>
              <a:ext cx="74" cy="60"/>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03" name="Freeform 39"/>
            <p:cNvSpPr>
              <a:spLocks/>
            </p:cNvSpPr>
            <p:nvPr/>
          </p:nvSpPr>
          <p:spPr bwMode="auto">
            <a:xfrm>
              <a:off x="3492" y="1432"/>
              <a:ext cx="70" cy="62"/>
            </a:xfrm>
            <a:custGeom>
              <a:avLst/>
              <a:gdLst>
                <a:gd name="T0" fmla="*/ 81 w 81"/>
                <a:gd name="T1" fmla="*/ 0 h 84"/>
                <a:gd name="T2" fmla="*/ 0 w 81"/>
                <a:gd name="T3" fmla="*/ 84 h 84"/>
                <a:gd name="T4" fmla="*/ 81 w 81"/>
                <a:gd name="T5" fmla="*/ 0 h 84"/>
              </a:gdLst>
              <a:ahLst/>
              <a:cxnLst>
                <a:cxn ang="0">
                  <a:pos x="T0" y="T1"/>
                </a:cxn>
                <a:cxn ang="0">
                  <a:pos x="T2" y="T3"/>
                </a:cxn>
                <a:cxn ang="0">
                  <a:pos x="T4" y="T5"/>
                </a:cxn>
              </a:cxnLst>
              <a:rect l="0" t="0" r="r" b="b"/>
              <a:pathLst>
                <a:path w="81" h="84">
                  <a:moveTo>
                    <a:pt x="81" y="0"/>
                  </a:moveTo>
                  <a:lnTo>
                    <a:pt x="0" y="84"/>
                  </a:lnTo>
                  <a:lnTo>
                    <a:pt x="8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104" name="Line 40"/>
            <p:cNvSpPr>
              <a:spLocks noChangeShapeType="1"/>
            </p:cNvSpPr>
            <p:nvPr/>
          </p:nvSpPr>
          <p:spPr bwMode="auto">
            <a:xfrm flipH="1">
              <a:off x="3492" y="1432"/>
              <a:ext cx="70" cy="62"/>
            </a:xfrm>
            <a:prstGeom prst="line">
              <a:avLst/>
            </a:prstGeom>
            <a:noFill/>
            <a:ln w="95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05" name="Rectangle 41"/>
            <p:cNvSpPr>
              <a:spLocks noChangeArrowheads="1"/>
            </p:cNvSpPr>
            <p:nvPr/>
          </p:nvSpPr>
          <p:spPr bwMode="auto">
            <a:xfrm>
              <a:off x="2945" y="1414"/>
              <a:ext cx="35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analog-to-</a:t>
              </a:r>
              <a:endParaRPr lang="en-US" altLang="en-US" sz="1800"/>
            </a:p>
          </p:txBody>
        </p:sp>
        <p:sp>
          <p:nvSpPr>
            <p:cNvPr id="600109" name="Rectangle 45"/>
            <p:cNvSpPr>
              <a:spLocks noChangeArrowheads="1"/>
            </p:cNvSpPr>
            <p:nvPr/>
          </p:nvSpPr>
          <p:spPr bwMode="auto">
            <a:xfrm>
              <a:off x="3021" y="1498"/>
              <a:ext cx="20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digital</a:t>
              </a:r>
              <a:endParaRPr lang="en-US" altLang="en-US" sz="1800"/>
            </a:p>
          </p:txBody>
        </p:sp>
        <p:sp>
          <p:nvSpPr>
            <p:cNvPr id="600112" name="Rectangle 48"/>
            <p:cNvSpPr>
              <a:spLocks noChangeArrowheads="1"/>
            </p:cNvSpPr>
            <p:nvPr/>
          </p:nvSpPr>
          <p:spPr bwMode="auto">
            <a:xfrm>
              <a:off x="2961" y="1579"/>
              <a:ext cx="33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converter</a:t>
              </a:r>
              <a:endParaRPr lang="en-US" altLang="en-US" sz="1800"/>
            </a:p>
          </p:txBody>
        </p:sp>
        <p:sp>
          <p:nvSpPr>
            <p:cNvPr id="600120" name="Rectangle 56"/>
            <p:cNvSpPr>
              <a:spLocks noChangeArrowheads="1"/>
            </p:cNvSpPr>
            <p:nvPr/>
          </p:nvSpPr>
          <p:spPr bwMode="auto">
            <a:xfrm>
              <a:off x="2848" y="1322"/>
              <a:ext cx="573" cy="454"/>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21" name="Freeform 57"/>
            <p:cNvSpPr>
              <a:spLocks/>
            </p:cNvSpPr>
            <p:nvPr/>
          </p:nvSpPr>
          <p:spPr bwMode="auto">
            <a:xfrm>
              <a:off x="5082" y="1763"/>
              <a:ext cx="91" cy="75"/>
            </a:xfrm>
            <a:custGeom>
              <a:avLst/>
              <a:gdLst>
                <a:gd name="T0" fmla="*/ 0 w 104"/>
                <a:gd name="T1" fmla="*/ 103 h 103"/>
                <a:gd name="T2" fmla="*/ 104 w 104"/>
                <a:gd name="T3" fmla="*/ 53 h 103"/>
                <a:gd name="T4" fmla="*/ 0 w 104"/>
                <a:gd name="T5" fmla="*/ 0 h 103"/>
              </a:gdLst>
              <a:ahLst/>
              <a:cxnLst>
                <a:cxn ang="0">
                  <a:pos x="T0" y="T1"/>
                </a:cxn>
                <a:cxn ang="0">
                  <a:pos x="T2" y="T3"/>
                </a:cxn>
                <a:cxn ang="0">
                  <a:pos x="T4" y="T5"/>
                </a:cxn>
              </a:cxnLst>
              <a:rect l="0" t="0" r="r" b="b"/>
              <a:pathLst>
                <a:path w="104" h="103">
                  <a:moveTo>
                    <a:pt x="0" y="103"/>
                  </a:moveTo>
                  <a:lnTo>
                    <a:pt x="104" y="53"/>
                  </a:lnTo>
                  <a:lnTo>
                    <a:pt x="0" y="0"/>
                  </a:lnTo>
                </a:path>
              </a:pathLst>
            </a:custGeom>
            <a:noFill/>
            <a:ln w="9525"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22" name="Rectangle 58"/>
            <p:cNvSpPr>
              <a:spLocks noChangeArrowheads="1"/>
            </p:cNvSpPr>
            <p:nvPr/>
          </p:nvSpPr>
          <p:spPr bwMode="auto">
            <a:xfrm>
              <a:off x="5187" y="1501"/>
              <a:ext cx="32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digital-to-</a:t>
              </a:r>
              <a:endParaRPr lang="en-US" altLang="en-US" sz="1800"/>
            </a:p>
          </p:txBody>
        </p:sp>
        <p:sp>
          <p:nvSpPr>
            <p:cNvPr id="600128" name="Rectangle 64"/>
            <p:cNvSpPr>
              <a:spLocks noChangeArrowheads="1"/>
            </p:cNvSpPr>
            <p:nvPr/>
          </p:nvSpPr>
          <p:spPr bwMode="auto">
            <a:xfrm>
              <a:off x="5242" y="1586"/>
              <a:ext cx="23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analog</a:t>
              </a:r>
              <a:endParaRPr lang="en-US" altLang="en-US" sz="1800"/>
            </a:p>
          </p:txBody>
        </p:sp>
        <p:sp>
          <p:nvSpPr>
            <p:cNvPr id="600129" name="Rectangle 65"/>
            <p:cNvSpPr>
              <a:spLocks noChangeArrowheads="1"/>
            </p:cNvSpPr>
            <p:nvPr/>
          </p:nvSpPr>
          <p:spPr bwMode="auto">
            <a:xfrm>
              <a:off x="5193" y="1667"/>
              <a:ext cx="33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converter</a:t>
              </a:r>
              <a:endParaRPr lang="en-US" altLang="en-US" sz="1800"/>
            </a:p>
          </p:txBody>
        </p:sp>
        <p:sp>
          <p:nvSpPr>
            <p:cNvPr id="600137" name="Freeform 73"/>
            <p:cNvSpPr>
              <a:spLocks/>
            </p:cNvSpPr>
            <p:nvPr/>
          </p:nvSpPr>
          <p:spPr bwMode="auto">
            <a:xfrm>
              <a:off x="5080" y="1408"/>
              <a:ext cx="573" cy="455"/>
            </a:xfrm>
            <a:custGeom>
              <a:avLst/>
              <a:gdLst>
                <a:gd name="T0" fmla="*/ 660 w 660"/>
                <a:gd name="T1" fmla="*/ 369 h 619"/>
                <a:gd name="T2" fmla="*/ 660 w 660"/>
                <a:gd name="T3" fmla="*/ 619 h 619"/>
                <a:gd name="T4" fmla="*/ 0 w 660"/>
                <a:gd name="T5" fmla="*/ 619 h 619"/>
                <a:gd name="T6" fmla="*/ 0 w 660"/>
                <a:gd name="T7" fmla="*/ 0 h 619"/>
                <a:gd name="T8" fmla="*/ 660 w 660"/>
                <a:gd name="T9" fmla="*/ 0 h 619"/>
                <a:gd name="T10" fmla="*/ 660 w 660"/>
                <a:gd name="T11" fmla="*/ 369 h 619"/>
              </a:gdLst>
              <a:ahLst/>
              <a:cxnLst>
                <a:cxn ang="0">
                  <a:pos x="T0" y="T1"/>
                </a:cxn>
                <a:cxn ang="0">
                  <a:pos x="T2" y="T3"/>
                </a:cxn>
                <a:cxn ang="0">
                  <a:pos x="T4" y="T5"/>
                </a:cxn>
                <a:cxn ang="0">
                  <a:pos x="T6" y="T7"/>
                </a:cxn>
                <a:cxn ang="0">
                  <a:pos x="T8" y="T9"/>
                </a:cxn>
                <a:cxn ang="0">
                  <a:pos x="T10" y="T11"/>
                </a:cxn>
              </a:cxnLst>
              <a:rect l="0" t="0" r="r" b="b"/>
              <a:pathLst>
                <a:path w="660" h="619">
                  <a:moveTo>
                    <a:pt x="660" y="369"/>
                  </a:moveTo>
                  <a:lnTo>
                    <a:pt x="660" y="619"/>
                  </a:lnTo>
                  <a:lnTo>
                    <a:pt x="0" y="619"/>
                  </a:lnTo>
                  <a:lnTo>
                    <a:pt x="0" y="0"/>
                  </a:lnTo>
                  <a:lnTo>
                    <a:pt x="660" y="0"/>
                  </a:lnTo>
                  <a:lnTo>
                    <a:pt x="660" y="369"/>
                  </a:lnTo>
                </a:path>
              </a:pathLst>
            </a:custGeom>
            <a:noFill/>
            <a:ln w="14288"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38" name="Rectangle 74"/>
            <p:cNvSpPr>
              <a:spLocks noChangeArrowheads="1"/>
            </p:cNvSpPr>
            <p:nvPr/>
          </p:nvSpPr>
          <p:spPr bwMode="auto">
            <a:xfrm>
              <a:off x="3464" y="1682"/>
              <a:ext cx="19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ad_ld</a:t>
              </a:r>
              <a:endParaRPr lang="en-US" altLang="en-US" sz="1800"/>
            </a:p>
          </p:txBody>
        </p:sp>
        <p:sp>
          <p:nvSpPr>
            <p:cNvPr id="600139" name="Rectangle 75"/>
            <p:cNvSpPr>
              <a:spLocks noChangeArrowheads="1"/>
            </p:cNvSpPr>
            <p:nvPr/>
          </p:nvSpPr>
          <p:spPr bwMode="auto">
            <a:xfrm>
              <a:off x="4753" y="1756"/>
              <a:ext cx="194"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da_ld</a:t>
              </a:r>
              <a:endParaRPr lang="en-US" altLang="en-US" sz="1800"/>
            </a:p>
          </p:txBody>
        </p:sp>
        <p:sp>
          <p:nvSpPr>
            <p:cNvPr id="600140" name="Rectangle 76"/>
            <p:cNvSpPr>
              <a:spLocks noChangeArrowheads="1"/>
            </p:cNvSpPr>
            <p:nvPr/>
          </p:nvSpPr>
          <p:spPr bwMode="auto">
            <a:xfrm>
              <a:off x="3714" y="1606"/>
              <a:ext cx="956" cy="264"/>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41" name="Rectangle 77"/>
            <p:cNvSpPr>
              <a:spLocks noChangeArrowheads="1"/>
            </p:cNvSpPr>
            <p:nvPr/>
          </p:nvSpPr>
          <p:spPr bwMode="auto">
            <a:xfrm>
              <a:off x="3714" y="820"/>
              <a:ext cx="1249" cy="382"/>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42" name="Rectangle 78"/>
            <p:cNvSpPr>
              <a:spLocks noChangeArrowheads="1"/>
            </p:cNvSpPr>
            <p:nvPr/>
          </p:nvSpPr>
          <p:spPr bwMode="auto">
            <a:xfrm>
              <a:off x="4256" y="1526"/>
              <a:ext cx="14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Rrw</a:t>
              </a:r>
              <a:endParaRPr lang="en-US" altLang="en-US" sz="1800"/>
            </a:p>
          </p:txBody>
        </p:sp>
        <p:sp>
          <p:nvSpPr>
            <p:cNvPr id="600145" name="Rectangle 81"/>
            <p:cNvSpPr>
              <a:spLocks noChangeArrowheads="1"/>
            </p:cNvSpPr>
            <p:nvPr/>
          </p:nvSpPr>
          <p:spPr bwMode="auto">
            <a:xfrm>
              <a:off x="4436" y="1526"/>
              <a:ext cx="14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Ren</a:t>
              </a:r>
              <a:endParaRPr lang="en-US" altLang="en-US" sz="1800"/>
            </a:p>
          </p:txBody>
        </p:sp>
        <p:sp>
          <p:nvSpPr>
            <p:cNvPr id="600147" name="Rectangle 83"/>
            <p:cNvSpPr>
              <a:spLocks noChangeArrowheads="1"/>
            </p:cNvSpPr>
            <p:nvPr/>
          </p:nvSpPr>
          <p:spPr bwMode="auto">
            <a:xfrm>
              <a:off x="4611" y="1525"/>
              <a:ext cx="7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er</a:t>
              </a:r>
              <a:endParaRPr lang="en-US" altLang="en-US" sz="1800"/>
            </a:p>
          </p:txBody>
        </p:sp>
        <p:sp>
          <p:nvSpPr>
            <p:cNvPr id="600148" name="Rectangle 84"/>
            <p:cNvSpPr>
              <a:spLocks noChangeArrowheads="1"/>
            </p:cNvSpPr>
            <p:nvPr/>
          </p:nvSpPr>
          <p:spPr bwMode="auto">
            <a:xfrm>
              <a:off x="4866" y="1525"/>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bu</a:t>
              </a:r>
              <a:endParaRPr lang="en-US" altLang="en-US" sz="1800"/>
            </a:p>
          </p:txBody>
        </p:sp>
        <p:sp>
          <p:nvSpPr>
            <p:cNvPr id="600149" name="Rectangle 85"/>
            <p:cNvSpPr>
              <a:spLocks noChangeArrowheads="1"/>
            </p:cNvSpPr>
            <p:nvPr/>
          </p:nvSpPr>
          <p:spPr bwMode="auto">
            <a:xfrm>
              <a:off x="4113" y="1525"/>
              <a:ext cx="10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Ra</a:t>
              </a:r>
              <a:endParaRPr lang="en-US" altLang="en-US" sz="1800"/>
            </a:p>
          </p:txBody>
        </p:sp>
        <p:sp>
          <p:nvSpPr>
            <p:cNvPr id="600151" name="Rectangle 87"/>
            <p:cNvSpPr>
              <a:spLocks noChangeArrowheads="1"/>
            </p:cNvSpPr>
            <p:nvPr/>
          </p:nvSpPr>
          <p:spPr bwMode="auto">
            <a:xfrm>
              <a:off x="3949" y="1465"/>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12</a:t>
              </a:r>
              <a:endParaRPr lang="en-US" altLang="en-US" sz="1800"/>
            </a:p>
          </p:txBody>
        </p:sp>
        <p:sp>
          <p:nvSpPr>
            <p:cNvPr id="600152" name="Rectangle 88"/>
            <p:cNvSpPr>
              <a:spLocks noChangeArrowheads="1"/>
            </p:cNvSpPr>
            <p:nvPr/>
          </p:nvSpPr>
          <p:spPr bwMode="auto">
            <a:xfrm>
              <a:off x="3502" y="1346"/>
              <a:ext cx="88"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16</a:t>
              </a:r>
              <a:endParaRPr lang="en-US" altLang="en-US" sz="1800"/>
            </a:p>
          </p:txBody>
        </p:sp>
        <p:sp>
          <p:nvSpPr>
            <p:cNvPr id="600153" name="Rectangle 89"/>
            <p:cNvSpPr>
              <a:spLocks noChangeArrowheads="1"/>
            </p:cNvSpPr>
            <p:nvPr/>
          </p:nvSpPr>
          <p:spPr bwMode="auto">
            <a:xfrm>
              <a:off x="4016" y="1690"/>
              <a:ext cx="350"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processor</a:t>
              </a:r>
              <a:endParaRPr lang="en-US" altLang="en-US" sz="1800"/>
            </a:p>
          </p:txBody>
        </p:sp>
        <p:sp>
          <p:nvSpPr>
            <p:cNvPr id="600158" name="Rectangle 94"/>
            <p:cNvSpPr>
              <a:spLocks noChangeArrowheads="1"/>
            </p:cNvSpPr>
            <p:nvPr/>
          </p:nvSpPr>
          <p:spPr bwMode="auto">
            <a:xfrm>
              <a:off x="3499" y="1521"/>
              <a:ext cx="242"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ad_buf</a:t>
              </a:r>
              <a:endParaRPr lang="en-US" altLang="en-US" sz="1800"/>
            </a:p>
          </p:txBody>
        </p:sp>
        <p:sp>
          <p:nvSpPr>
            <p:cNvPr id="600167" name="Rectangle 103"/>
            <p:cNvSpPr>
              <a:spLocks noChangeArrowheads="1"/>
            </p:cNvSpPr>
            <p:nvPr/>
          </p:nvSpPr>
          <p:spPr bwMode="auto">
            <a:xfrm>
              <a:off x="4061" y="863"/>
              <a:ext cx="52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4096x16 Flash</a:t>
              </a:r>
              <a:endParaRPr lang="en-US" altLang="en-US" sz="1800"/>
            </a:p>
          </p:txBody>
        </p:sp>
        <p:sp>
          <p:nvSpPr>
            <p:cNvPr id="600172" name="Oval 108"/>
            <p:cNvSpPr>
              <a:spLocks noChangeArrowheads="1"/>
            </p:cNvSpPr>
            <p:nvPr/>
          </p:nvSpPr>
          <p:spPr bwMode="auto">
            <a:xfrm>
              <a:off x="4485" y="2033"/>
              <a:ext cx="141" cy="122"/>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73" name="Line 109"/>
            <p:cNvSpPr>
              <a:spLocks noChangeShapeType="1"/>
            </p:cNvSpPr>
            <p:nvPr/>
          </p:nvSpPr>
          <p:spPr bwMode="auto">
            <a:xfrm>
              <a:off x="4510" y="2047"/>
              <a:ext cx="92"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74" name="Line 110"/>
            <p:cNvSpPr>
              <a:spLocks noChangeShapeType="1"/>
            </p:cNvSpPr>
            <p:nvPr/>
          </p:nvSpPr>
          <p:spPr bwMode="auto">
            <a:xfrm>
              <a:off x="4493" y="2070"/>
              <a:ext cx="128"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75" name="Line 111"/>
            <p:cNvSpPr>
              <a:spLocks noChangeShapeType="1"/>
            </p:cNvSpPr>
            <p:nvPr/>
          </p:nvSpPr>
          <p:spPr bwMode="auto">
            <a:xfrm>
              <a:off x="4488" y="2094"/>
              <a:ext cx="138" cy="0"/>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76" name="Line 112"/>
            <p:cNvSpPr>
              <a:spLocks noChangeShapeType="1"/>
            </p:cNvSpPr>
            <p:nvPr/>
          </p:nvSpPr>
          <p:spPr bwMode="auto">
            <a:xfrm>
              <a:off x="4491" y="2114"/>
              <a:ext cx="133"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77" name="Line 113"/>
            <p:cNvSpPr>
              <a:spLocks noChangeShapeType="1"/>
            </p:cNvSpPr>
            <p:nvPr/>
          </p:nvSpPr>
          <p:spPr bwMode="auto">
            <a:xfrm>
              <a:off x="3758" y="2070"/>
              <a:ext cx="127"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78" name="Line 114"/>
            <p:cNvSpPr>
              <a:spLocks noChangeShapeType="1"/>
            </p:cNvSpPr>
            <p:nvPr/>
          </p:nvSpPr>
          <p:spPr bwMode="auto">
            <a:xfrm>
              <a:off x="3752" y="2094"/>
              <a:ext cx="138" cy="0"/>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79" name="Line 115"/>
            <p:cNvSpPr>
              <a:spLocks noChangeShapeType="1"/>
            </p:cNvSpPr>
            <p:nvPr/>
          </p:nvSpPr>
          <p:spPr bwMode="auto">
            <a:xfrm>
              <a:off x="3755" y="2114"/>
              <a:ext cx="133"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80" name="Line 116"/>
            <p:cNvSpPr>
              <a:spLocks noChangeShapeType="1"/>
            </p:cNvSpPr>
            <p:nvPr/>
          </p:nvSpPr>
          <p:spPr bwMode="auto">
            <a:xfrm>
              <a:off x="4510" y="2137"/>
              <a:ext cx="97" cy="1"/>
            </a:xfrm>
            <a:prstGeom prst="line">
              <a:avLst/>
            </a:prstGeom>
            <a:noFill/>
            <a:ln w="9525">
              <a:solidFill>
                <a:srgbClr val="0078C1"/>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0181" name="Rectangle 117"/>
            <p:cNvSpPr>
              <a:spLocks noChangeArrowheads="1"/>
            </p:cNvSpPr>
            <p:nvPr/>
          </p:nvSpPr>
          <p:spPr bwMode="auto">
            <a:xfrm>
              <a:off x="3975" y="1978"/>
              <a:ext cx="125" cy="37"/>
            </a:xfrm>
            <a:prstGeom prst="rect">
              <a:avLst/>
            </a:prstGeom>
            <a:solidFill>
              <a:srgbClr val="0078C1"/>
            </a:solidFill>
            <a:ln w="9525">
              <a:solidFill>
                <a:srgbClr val="0078C1"/>
              </a:solidFill>
              <a:miter lim="800000"/>
              <a:headEnd/>
              <a:tailEnd/>
            </a:ln>
          </p:spPr>
          <p:txBody>
            <a:bodyPr/>
            <a:lstStyle/>
            <a:p>
              <a:endParaRPr lang="en-US"/>
            </a:p>
          </p:txBody>
        </p:sp>
        <p:sp>
          <p:nvSpPr>
            <p:cNvPr id="600182" name="Rectangle 118"/>
            <p:cNvSpPr>
              <a:spLocks noChangeArrowheads="1"/>
            </p:cNvSpPr>
            <p:nvPr/>
          </p:nvSpPr>
          <p:spPr bwMode="auto">
            <a:xfrm>
              <a:off x="4186" y="1929"/>
              <a:ext cx="111"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rec</a:t>
              </a:r>
              <a:endParaRPr lang="en-US" altLang="en-US" sz="1800"/>
            </a:p>
          </p:txBody>
        </p:sp>
        <p:sp>
          <p:nvSpPr>
            <p:cNvPr id="600184" name="Rectangle 120"/>
            <p:cNvSpPr>
              <a:spLocks noChangeArrowheads="1"/>
            </p:cNvSpPr>
            <p:nvPr/>
          </p:nvSpPr>
          <p:spPr bwMode="auto">
            <a:xfrm>
              <a:off x="4306" y="2019"/>
              <a:ext cx="14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play</a:t>
              </a:r>
              <a:endParaRPr lang="en-US" altLang="en-US" sz="1800"/>
            </a:p>
          </p:txBody>
        </p:sp>
        <p:sp>
          <p:nvSpPr>
            <p:cNvPr id="600187" name="Rectangle 123"/>
            <p:cNvSpPr>
              <a:spLocks noChangeArrowheads="1"/>
            </p:cNvSpPr>
            <p:nvPr/>
          </p:nvSpPr>
          <p:spPr bwMode="auto">
            <a:xfrm>
              <a:off x="3926" y="2019"/>
              <a:ext cx="22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record</a:t>
              </a:r>
              <a:endParaRPr lang="en-US" altLang="en-US" sz="1800"/>
            </a:p>
          </p:txBody>
        </p:sp>
        <p:sp>
          <p:nvSpPr>
            <p:cNvPr id="600193" name="Rectangle 129"/>
            <p:cNvSpPr>
              <a:spLocks noChangeArrowheads="1"/>
            </p:cNvSpPr>
            <p:nvPr/>
          </p:nvSpPr>
          <p:spPr bwMode="auto">
            <a:xfrm>
              <a:off x="3587" y="2180"/>
              <a:ext cx="416"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microphone</a:t>
              </a:r>
              <a:endParaRPr lang="en-US" altLang="en-US" sz="1800"/>
            </a:p>
          </p:txBody>
        </p:sp>
        <p:sp>
          <p:nvSpPr>
            <p:cNvPr id="600196" name="Rectangle 132"/>
            <p:cNvSpPr>
              <a:spLocks noChangeArrowheads="1"/>
            </p:cNvSpPr>
            <p:nvPr/>
          </p:nvSpPr>
          <p:spPr bwMode="auto">
            <a:xfrm>
              <a:off x="4418" y="2180"/>
              <a:ext cx="283" cy="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0">
                  <a:solidFill>
                    <a:srgbClr val="000000"/>
                  </a:solidFill>
                  <a:latin typeface="Myriad Roman" charset="0"/>
                </a:rPr>
                <a:t>speaker</a:t>
              </a:r>
              <a:endParaRPr lang="en-US" altLang="en-US" sz="1800"/>
            </a:p>
          </p:txBody>
        </p:sp>
        <p:sp>
          <p:nvSpPr>
            <p:cNvPr id="600197" name="Freeform 133"/>
            <p:cNvSpPr>
              <a:spLocks/>
            </p:cNvSpPr>
            <p:nvPr/>
          </p:nvSpPr>
          <p:spPr bwMode="auto">
            <a:xfrm>
              <a:off x="4705" y="1866"/>
              <a:ext cx="654" cy="228"/>
            </a:xfrm>
            <a:custGeom>
              <a:avLst/>
              <a:gdLst>
                <a:gd name="T0" fmla="*/ 753 w 753"/>
                <a:gd name="T1" fmla="*/ 0 h 310"/>
                <a:gd name="T2" fmla="*/ 753 w 753"/>
                <a:gd name="T3" fmla="*/ 310 h 310"/>
                <a:gd name="T4" fmla="*/ 0 w 753"/>
                <a:gd name="T5" fmla="*/ 310 h 310"/>
              </a:gdLst>
              <a:ahLst/>
              <a:cxnLst>
                <a:cxn ang="0">
                  <a:pos x="T0" y="T1"/>
                </a:cxn>
                <a:cxn ang="0">
                  <a:pos x="T2" y="T3"/>
                </a:cxn>
                <a:cxn ang="0">
                  <a:pos x="T4" y="T5"/>
                </a:cxn>
              </a:cxnLst>
              <a:rect l="0" t="0" r="r" b="b"/>
              <a:pathLst>
                <a:path w="753" h="310">
                  <a:moveTo>
                    <a:pt x="753" y="0"/>
                  </a:moveTo>
                  <a:lnTo>
                    <a:pt x="753" y="310"/>
                  </a:lnTo>
                  <a:lnTo>
                    <a:pt x="0" y="31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198" name="Freeform 134"/>
            <p:cNvSpPr>
              <a:spLocks/>
            </p:cNvSpPr>
            <p:nvPr/>
          </p:nvSpPr>
          <p:spPr bwMode="auto">
            <a:xfrm>
              <a:off x="3111" y="1778"/>
              <a:ext cx="44" cy="74"/>
            </a:xfrm>
            <a:custGeom>
              <a:avLst/>
              <a:gdLst>
                <a:gd name="T0" fmla="*/ 25 w 50"/>
                <a:gd name="T1" fmla="*/ 0 h 100"/>
                <a:gd name="T2" fmla="*/ 0 w 50"/>
                <a:gd name="T3" fmla="*/ 100 h 100"/>
                <a:gd name="T4" fmla="*/ 50 w 50"/>
                <a:gd name="T5" fmla="*/ 100 h 100"/>
                <a:gd name="T6" fmla="*/ 25 w 50"/>
                <a:gd name="T7" fmla="*/ 0 h 100"/>
              </a:gdLst>
              <a:ahLst/>
              <a:cxnLst>
                <a:cxn ang="0">
                  <a:pos x="T0" y="T1"/>
                </a:cxn>
                <a:cxn ang="0">
                  <a:pos x="T2" y="T3"/>
                </a:cxn>
                <a:cxn ang="0">
                  <a:pos x="T4" y="T5"/>
                </a:cxn>
                <a:cxn ang="0">
                  <a:pos x="T6" y="T7"/>
                </a:cxn>
              </a:cxnLst>
              <a:rect l="0" t="0" r="r" b="b"/>
              <a:pathLst>
                <a:path w="50" h="100">
                  <a:moveTo>
                    <a:pt x="25" y="0"/>
                  </a:moveTo>
                  <a:lnTo>
                    <a:pt x="0" y="100"/>
                  </a:lnTo>
                  <a:lnTo>
                    <a:pt x="50" y="100"/>
                  </a:lnTo>
                  <a:lnTo>
                    <a:pt x="2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199" name="Freeform 135"/>
            <p:cNvSpPr>
              <a:spLocks/>
            </p:cNvSpPr>
            <p:nvPr/>
          </p:nvSpPr>
          <p:spPr bwMode="auto">
            <a:xfrm>
              <a:off x="3133" y="1804"/>
              <a:ext cx="581" cy="290"/>
            </a:xfrm>
            <a:custGeom>
              <a:avLst/>
              <a:gdLst>
                <a:gd name="T0" fmla="*/ 669 w 669"/>
                <a:gd name="T1" fmla="*/ 394 h 394"/>
                <a:gd name="T2" fmla="*/ 0 w 669"/>
                <a:gd name="T3" fmla="*/ 394 h 394"/>
                <a:gd name="T4" fmla="*/ 0 w 669"/>
                <a:gd name="T5" fmla="*/ 0 h 394"/>
              </a:gdLst>
              <a:ahLst/>
              <a:cxnLst>
                <a:cxn ang="0">
                  <a:pos x="T0" y="T1"/>
                </a:cxn>
                <a:cxn ang="0">
                  <a:pos x="T2" y="T3"/>
                </a:cxn>
                <a:cxn ang="0">
                  <a:pos x="T4" y="T5"/>
                </a:cxn>
              </a:cxnLst>
              <a:rect l="0" t="0" r="r" b="b"/>
              <a:pathLst>
                <a:path w="669" h="394">
                  <a:moveTo>
                    <a:pt x="669" y="394"/>
                  </a:moveTo>
                  <a:lnTo>
                    <a:pt x="0" y="394"/>
                  </a:lnTo>
                  <a:lnTo>
                    <a:pt x="0" y="0"/>
                  </a:ln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00" name="Rectangle 136"/>
            <p:cNvSpPr>
              <a:spLocks noChangeArrowheads="1"/>
            </p:cNvSpPr>
            <p:nvPr/>
          </p:nvSpPr>
          <p:spPr bwMode="auto">
            <a:xfrm>
              <a:off x="3714" y="2015"/>
              <a:ext cx="956" cy="159"/>
            </a:xfrm>
            <a:prstGeom prst="rect">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00257" name="Group 193"/>
          <p:cNvGrpSpPr>
            <a:grpSpLocks/>
          </p:cNvGrpSpPr>
          <p:nvPr/>
        </p:nvGrpSpPr>
        <p:grpSpPr bwMode="auto">
          <a:xfrm>
            <a:off x="5227638" y="4129088"/>
            <a:ext cx="1190625" cy="920750"/>
            <a:chOff x="3293" y="2601"/>
            <a:chExt cx="750" cy="580"/>
          </a:xfrm>
        </p:grpSpPr>
        <p:sp>
          <p:nvSpPr>
            <p:cNvPr id="600202" name="Freeform 138"/>
            <p:cNvSpPr>
              <a:spLocks/>
            </p:cNvSpPr>
            <p:nvPr/>
          </p:nvSpPr>
          <p:spPr bwMode="auto">
            <a:xfrm>
              <a:off x="3939" y="2825"/>
              <a:ext cx="104" cy="53"/>
            </a:xfrm>
            <a:custGeom>
              <a:avLst/>
              <a:gdLst>
                <a:gd name="T0" fmla="*/ 104 w 104"/>
                <a:gd name="T1" fmla="*/ 53 h 53"/>
                <a:gd name="T2" fmla="*/ 16 w 104"/>
                <a:gd name="T3" fmla="*/ 0 h 53"/>
                <a:gd name="T4" fmla="*/ 0 w 104"/>
                <a:gd name="T5" fmla="*/ 47 h 53"/>
                <a:gd name="T6" fmla="*/ 104 w 104"/>
                <a:gd name="T7" fmla="*/ 53 h 53"/>
              </a:gdLst>
              <a:ahLst/>
              <a:cxnLst>
                <a:cxn ang="0">
                  <a:pos x="T0" y="T1"/>
                </a:cxn>
                <a:cxn ang="0">
                  <a:pos x="T2" y="T3"/>
                </a:cxn>
                <a:cxn ang="0">
                  <a:pos x="T4" y="T5"/>
                </a:cxn>
                <a:cxn ang="0">
                  <a:pos x="T6" y="T7"/>
                </a:cxn>
              </a:cxnLst>
              <a:rect l="0" t="0" r="r" b="b"/>
              <a:pathLst>
                <a:path w="104" h="53">
                  <a:moveTo>
                    <a:pt x="104" y="53"/>
                  </a:moveTo>
                  <a:lnTo>
                    <a:pt x="16" y="0"/>
                  </a:lnTo>
                  <a:lnTo>
                    <a:pt x="0" y="47"/>
                  </a:lnTo>
                  <a:lnTo>
                    <a:pt x="104"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206" name="Freeform 142"/>
            <p:cNvSpPr>
              <a:spLocks/>
            </p:cNvSpPr>
            <p:nvPr/>
          </p:nvSpPr>
          <p:spPr bwMode="auto">
            <a:xfrm>
              <a:off x="3771" y="2819"/>
              <a:ext cx="218" cy="66"/>
            </a:xfrm>
            <a:custGeom>
              <a:avLst/>
              <a:gdLst>
                <a:gd name="T0" fmla="*/ 0 w 70"/>
                <a:gd name="T1" fmla="*/ 21 h 21"/>
                <a:gd name="T2" fmla="*/ 70 w 70"/>
                <a:gd name="T3" fmla="*/ 13 h 21"/>
              </a:gdLst>
              <a:ahLst/>
              <a:cxnLst>
                <a:cxn ang="0">
                  <a:pos x="T0" y="T1"/>
                </a:cxn>
                <a:cxn ang="0">
                  <a:pos x="T2" y="T3"/>
                </a:cxn>
              </a:cxnLst>
              <a:rect l="0" t="0" r="r" b="b"/>
              <a:pathLst>
                <a:path w="70" h="21">
                  <a:moveTo>
                    <a:pt x="0" y="21"/>
                  </a:moveTo>
                  <a:cubicBezTo>
                    <a:pt x="0" y="21"/>
                    <a:pt x="34" y="0"/>
                    <a:pt x="70" y="1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09" name="Rectangle 145"/>
            <p:cNvSpPr>
              <a:spLocks noChangeArrowheads="1"/>
            </p:cNvSpPr>
            <p:nvPr/>
          </p:nvSpPr>
          <p:spPr bwMode="auto">
            <a:xfrm>
              <a:off x="3642" y="2884"/>
              <a:ext cx="6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T</a:t>
              </a:r>
              <a:endParaRPr lang="en-US" altLang="en-US" sz="2400">
                <a:solidFill>
                  <a:srgbClr val="FF0000"/>
                </a:solidFill>
              </a:endParaRPr>
            </a:p>
          </p:txBody>
        </p:sp>
        <p:sp>
          <p:nvSpPr>
            <p:cNvPr id="600212" name="Rectangle 148"/>
            <p:cNvSpPr>
              <a:spLocks noChangeArrowheads="1"/>
            </p:cNvSpPr>
            <p:nvPr/>
          </p:nvSpPr>
          <p:spPr bwMode="auto">
            <a:xfrm>
              <a:off x="3575" y="3056"/>
              <a:ext cx="1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er=0</a:t>
              </a:r>
              <a:endParaRPr lang="en-US" altLang="en-US" sz="2400">
                <a:solidFill>
                  <a:srgbClr val="FF0000"/>
                </a:solidFill>
              </a:endParaRPr>
            </a:p>
          </p:txBody>
        </p:sp>
        <p:sp>
          <p:nvSpPr>
            <p:cNvPr id="600229" name="Freeform 165"/>
            <p:cNvSpPr>
              <a:spLocks/>
            </p:cNvSpPr>
            <p:nvPr/>
          </p:nvSpPr>
          <p:spPr bwMode="auto">
            <a:xfrm>
              <a:off x="3461" y="2825"/>
              <a:ext cx="103" cy="53"/>
            </a:xfrm>
            <a:custGeom>
              <a:avLst/>
              <a:gdLst>
                <a:gd name="T0" fmla="*/ 103 w 103"/>
                <a:gd name="T1" fmla="*/ 53 h 53"/>
                <a:gd name="T2" fmla="*/ 16 w 103"/>
                <a:gd name="T3" fmla="*/ 0 h 53"/>
                <a:gd name="T4" fmla="*/ 0 w 103"/>
                <a:gd name="T5" fmla="*/ 47 h 53"/>
                <a:gd name="T6" fmla="*/ 103 w 103"/>
                <a:gd name="T7" fmla="*/ 53 h 53"/>
              </a:gdLst>
              <a:ahLst/>
              <a:cxnLst>
                <a:cxn ang="0">
                  <a:pos x="T0" y="T1"/>
                </a:cxn>
                <a:cxn ang="0">
                  <a:pos x="T2" y="T3"/>
                </a:cxn>
                <a:cxn ang="0">
                  <a:pos x="T4" y="T5"/>
                </a:cxn>
                <a:cxn ang="0">
                  <a:pos x="T6" y="T7"/>
                </a:cxn>
              </a:cxnLst>
              <a:rect l="0" t="0" r="r" b="b"/>
              <a:pathLst>
                <a:path w="103" h="53">
                  <a:moveTo>
                    <a:pt x="103" y="53"/>
                  </a:moveTo>
                  <a:lnTo>
                    <a:pt x="16" y="0"/>
                  </a:lnTo>
                  <a:lnTo>
                    <a:pt x="0" y="47"/>
                  </a:lnTo>
                  <a:lnTo>
                    <a:pt x="103"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231" name="Freeform 167"/>
            <p:cNvSpPr>
              <a:spLocks/>
            </p:cNvSpPr>
            <p:nvPr/>
          </p:nvSpPr>
          <p:spPr bwMode="auto">
            <a:xfrm>
              <a:off x="3646" y="2725"/>
              <a:ext cx="47" cy="103"/>
            </a:xfrm>
            <a:custGeom>
              <a:avLst/>
              <a:gdLst>
                <a:gd name="T0" fmla="*/ 6 w 47"/>
                <a:gd name="T1" fmla="*/ 103 h 103"/>
                <a:gd name="T2" fmla="*/ 47 w 47"/>
                <a:gd name="T3" fmla="*/ 10 h 103"/>
                <a:gd name="T4" fmla="*/ 0 w 47"/>
                <a:gd name="T5" fmla="*/ 0 h 103"/>
                <a:gd name="T6" fmla="*/ 6 w 47"/>
                <a:gd name="T7" fmla="*/ 103 h 103"/>
              </a:gdLst>
              <a:ahLst/>
              <a:cxnLst>
                <a:cxn ang="0">
                  <a:pos x="T0" y="T1"/>
                </a:cxn>
                <a:cxn ang="0">
                  <a:pos x="T2" y="T3"/>
                </a:cxn>
                <a:cxn ang="0">
                  <a:pos x="T4" y="T5"/>
                </a:cxn>
                <a:cxn ang="0">
                  <a:pos x="T6" y="T7"/>
                </a:cxn>
              </a:cxnLst>
              <a:rect l="0" t="0" r="r" b="b"/>
              <a:pathLst>
                <a:path w="47" h="103">
                  <a:moveTo>
                    <a:pt x="6" y="103"/>
                  </a:moveTo>
                  <a:lnTo>
                    <a:pt x="47" y="10"/>
                  </a:lnTo>
                  <a:lnTo>
                    <a:pt x="0" y="0"/>
                  </a:lnTo>
                  <a:lnTo>
                    <a:pt x="6" y="1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232" name="Freeform 168"/>
            <p:cNvSpPr>
              <a:spLocks/>
            </p:cNvSpPr>
            <p:nvPr/>
          </p:nvSpPr>
          <p:spPr bwMode="auto">
            <a:xfrm>
              <a:off x="3293" y="2819"/>
              <a:ext cx="218" cy="66"/>
            </a:xfrm>
            <a:custGeom>
              <a:avLst/>
              <a:gdLst>
                <a:gd name="T0" fmla="*/ 0 w 70"/>
                <a:gd name="T1" fmla="*/ 21 h 21"/>
                <a:gd name="T2" fmla="*/ 70 w 70"/>
                <a:gd name="T3" fmla="*/ 13 h 21"/>
              </a:gdLst>
              <a:ahLst/>
              <a:cxnLst>
                <a:cxn ang="0">
                  <a:pos x="T0" y="T1"/>
                </a:cxn>
                <a:cxn ang="0">
                  <a:pos x="T2" y="T3"/>
                </a:cxn>
              </a:cxnLst>
              <a:rect l="0" t="0" r="r" b="b"/>
              <a:pathLst>
                <a:path w="70" h="21">
                  <a:moveTo>
                    <a:pt x="0" y="21"/>
                  </a:moveTo>
                  <a:cubicBezTo>
                    <a:pt x="0" y="21"/>
                    <a:pt x="34" y="0"/>
                    <a:pt x="70" y="1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35" name="Freeform 171"/>
            <p:cNvSpPr>
              <a:spLocks/>
            </p:cNvSpPr>
            <p:nvPr/>
          </p:nvSpPr>
          <p:spPr bwMode="auto">
            <a:xfrm>
              <a:off x="3664" y="2660"/>
              <a:ext cx="182" cy="193"/>
            </a:xfrm>
            <a:custGeom>
              <a:avLst/>
              <a:gdLst>
                <a:gd name="T0" fmla="*/ 25 w 58"/>
                <a:gd name="T1" fmla="*/ 62 h 62"/>
                <a:gd name="T2" fmla="*/ 33 w 58"/>
                <a:gd name="T3" fmla="*/ 18 h 62"/>
                <a:gd name="T4" fmla="*/ 0 w 58"/>
                <a:gd name="T5" fmla="*/ 34 h 62"/>
              </a:gdLst>
              <a:ahLst/>
              <a:cxnLst>
                <a:cxn ang="0">
                  <a:pos x="T0" y="T1"/>
                </a:cxn>
                <a:cxn ang="0">
                  <a:pos x="T2" y="T3"/>
                </a:cxn>
                <a:cxn ang="0">
                  <a:pos x="T4" y="T5"/>
                </a:cxn>
              </a:cxnLst>
              <a:rect l="0" t="0" r="r" b="b"/>
              <a:pathLst>
                <a:path w="58" h="62">
                  <a:moveTo>
                    <a:pt x="25" y="62"/>
                  </a:moveTo>
                  <a:cubicBezTo>
                    <a:pt x="25" y="62"/>
                    <a:pt x="58" y="34"/>
                    <a:pt x="33" y="18"/>
                  </a:cubicBezTo>
                  <a:cubicBezTo>
                    <a:pt x="33" y="18"/>
                    <a:pt x="5" y="0"/>
                    <a:pt x="0" y="34"/>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36" name="Rectangle 172"/>
            <p:cNvSpPr>
              <a:spLocks noChangeArrowheads="1"/>
            </p:cNvSpPr>
            <p:nvPr/>
          </p:nvSpPr>
          <p:spPr bwMode="auto">
            <a:xfrm>
              <a:off x="3769" y="2601"/>
              <a:ext cx="1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bu</a:t>
              </a:r>
              <a:endParaRPr lang="en-US" altLang="en-US" sz="2400">
                <a:solidFill>
                  <a:srgbClr val="FF0000"/>
                </a:solidFill>
              </a:endParaRPr>
            </a:p>
          </p:txBody>
        </p:sp>
        <p:sp>
          <p:nvSpPr>
            <p:cNvPr id="600237" name="Rectangle 173"/>
            <p:cNvSpPr>
              <a:spLocks noChangeArrowheads="1"/>
            </p:cNvSpPr>
            <p:nvPr/>
          </p:nvSpPr>
          <p:spPr bwMode="auto">
            <a:xfrm>
              <a:off x="3835" y="2887"/>
              <a:ext cx="13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FF0000"/>
                  </a:solidFill>
                  <a:latin typeface="Myriad Roman" charset="0"/>
                </a:rPr>
                <a:t>bu’</a:t>
              </a:r>
              <a:endParaRPr lang="en-US" altLang="en-US" sz="2400">
                <a:solidFill>
                  <a:srgbClr val="FF0000"/>
                </a:solidFill>
              </a:endParaRPr>
            </a:p>
          </p:txBody>
        </p:sp>
        <p:sp>
          <p:nvSpPr>
            <p:cNvPr id="600250" name="Oval 186"/>
            <p:cNvSpPr>
              <a:spLocks noChangeArrowheads="1"/>
            </p:cNvSpPr>
            <p:nvPr/>
          </p:nvSpPr>
          <p:spPr bwMode="auto">
            <a:xfrm>
              <a:off x="3552" y="2822"/>
              <a:ext cx="231"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00256" name="Group 192"/>
          <p:cNvGrpSpPr>
            <a:grpSpLocks/>
          </p:cNvGrpSpPr>
          <p:nvPr/>
        </p:nvGrpSpPr>
        <p:grpSpPr bwMode="auto">
          <a:xfrm>
            <a:off x="4810125" y="4479925"/>
            <a:ext cx="436563" cy="1016000"/>
            <a:chOff x="3030" y="2822"/>
            <a:chExt cx="275" cy="640"/>
          </a:xfrm>
        </p:grpSpPr>
        <p:sp>
          <p:nvSpPr>
            <p:cNvPr id="600211" name="Rectangle 147"/>
            <p:cNvSpPr>
              <a:spLocks noChangeArrowheads="1"/>
            </p:cNvSpPr>
            <p:nvPr/>
          </p:nvSpPr>
          <p:spPr bwMode="auto">
            <a:xfrm>
              <a:off x="3094" y="3170"/>
              <a:ext cx="1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er=1</a:t>
              </a:r>
              <a:endParaRPr lang="en-US" altLang="en-US" sz="2400">
                <a:solidFill>
                  <a:srgbClr val="00FF00"/>
                </a:solidFill>
              </a:endParaRPr>
            </a:p>
          </p:txBody>
        </p:sp>
        <p:sp>
          <p:nvSpPr>
            <p:cNvPr id="600213" name="Rectangle 149"/>
            <p:cNvSpPr>
              <a:spLocks noChangeArrowheads="1"/>
            </p:cNvSpPr>
            <p:nvPr/>
          </p:nvSpPr>
          <p:spPr bwMode="auto">
            <a:xfrm>
              <a:off x="3078" y="3337"/>
              <a:ext cx="3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r</a:t>
              </a:r>
              <a:endParaRPr lang="en-US" altLang="en-US" sz="2400">
                <a:solidFill>
                  <a:srgbClr val="00FF00"/>
                </a:solidFill>
              </a:endParaRPr>
            </a:p>
          </p:txBody>
        </p:sp>
        <p:sp>
          <p:nvSpPr>
            <p:cNvPr id="600214" name="Rectangle 150"/>
            <p:cNvSpPr>
              <a:spLocks noChangeArrowheads="1"/>
            </p:cNvSpPr>
            <p:nvPr/>
          </p:nvSpPr>
          <p:spPr bwMode="auto">
            <a:xfrm>
              <a:off x="3109" y="3337"/>
              <a:ext cx="9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ec</a:t>
              </a:r>
              <a:endParaRPr lang="en-US" altLang="en-US" sz="2400">
                <a:solidFill>
                  <a:srgbClr val="00FF00"/>
                </a:solidFill>
              </a:endParaRPr>
            </a:p>
          </p:txBody>
        </p:sp>
        <p:sp>
          <p:nvSpPr>
            <p:cNvPr id="600230" name="Freeform 166"/>
            <p:cNvSpPr>
              <a:spLocks/>
            </p:cNvSpPr>
            <p:nvPr/>
          </p:nvSpPr>
          <p:spPr bwMode="auto">
            <a:xfrm>
              <a:off x="3030" y="3003"/>
              <a:ext cx="56" cy="103"/>
            </a:xfrm>
            <a:custGeom>
              <a:avLst/>
              <a:gdLst>
                <a:gd name="T0" fmla="*/ 56 w 56"/>
                <a:gd name="T1" fmla="*/ 0 h 103"/>
                <a:gd name="T2" fmla="*/ 0 w 56"/>
                <a:gd name="T3" fmla="*/ 88 h 103"/>
                <a:gd name="T4" fmla="*/ 47 w 56"/>
                <a:gd name="T5" fmla="*/ 103 h 103"/>
                <a:gd name="T6" fmla="*/ 56 w 56"/>
                <a:gd name="T7" fmla="*/ 0 h 103"/>
              </a:gdLst>
              <a:ahLst/>
              <a:cxnLst>
                <a:cxn ang="0">
                  <a:pos x="T0" y="T1"/>
                </a:cxn>
                <a:cxn ang="0">
                  <a:pos x="T2" y="T3"/>
                </a:cxn>
                <a:cxn ang="0">
                  <a:pos x="T4" y="T5"/>
                </a:cxn>
                <a:cxn ang="0">
                  <a:pos x="T6" y="T7"/>
                </a:cxn>
              </a:cxnLst>
              <a:rect l="0" t="0" r="r" b="b"/>
              <a:pathLst>
                <a:path w="56" h="103">
                  <a:moveTo>
                    <a:pt x="56" y="0"/>
                  </a:moveTo>
                  <a:lnTo>
                    <a:pt x="0" y="88"/>
                  </a:lnTo>
                  <a:lnTo>
                    <a:pt x="47" y="103"/>
                  </a:lnTo>
                  <a:lnTo>
                    <a:pt x="5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233" name="Rectangle 169"/>
            <p:cNvSpPr>
              <a:spLocks noChangeArrowheads="1"/>
            </p:cNvSpPr>
            <p:nvPr/>
          </p:nvSpPr>
          <p:spPr bwMode="auto">
            <a:xfrm>
              <a:off x="3164" y="2884"/>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FF00"/>
                  </a:solidFill>
                  <a:latin typeface="Myriad Roman" charset="0"/>
                </a:rPr>
                <a:t>S</a:t>
              </a:r>
              <a:endParaRPr lang="en-US" altLang="en-US" sz="2400">
                <a:solidFill>
                  <a:srgbClr val="00FF00"/>
                </a:solidFill>
              </a:endParaRPr>
            </a:p>
          </p:txBody>
        </p:sp>
        <p:sp>
          <p:nvSpPr>
            <p:cNvPr id="600239" name="Freeform 175"/>
            <p:cNvSpPr>
              <a:spLocks/>
            </p:cNvSpPr>
            <p:nvPr/>
          </p:nvSpPr>
          <p:spPr bwMode="auto">
            <a:xfrm>
              <a:off x="3039" y="3041"/>
              <a:ext cx="35" cy="359"/>
            </a:xfrm>
            <a:custGeom>
              <a:avLst/>
              <a:gdLst>
                <a:gd name="T0" fmla="*/ 11 w 11"/>
                <a:gd name="T1" fmla="*/ 0 h 115"/>
                <a:gd name="T2" fmla="*/ 0 w 11"/>
                <a:gd name="T3" fmla="*/ 74 h 115"/>
                <a:gd name="T4" fmla="*/ 0 w 11"/>
                <a:gd name="T5" fmla="*/ 115 h 115"/>
              </a:gdLst>
              <a:ahLst/>
              <a:cxnLst>
                <a:cxn ang="0">
                  <a:pos x="T0" y="T1"/>
                </a:cxn>
                <a:cxn ang="0">
                  <a:pos x="T2" y="T3"/>
                </a:cxn>
                <a:cxn ang="0">
                  <a:pos x="T4" y="T5"/>
                </a:cxn>
              </a:cxnLst>
              <a:rect l="0" t="0" r="r" b="b"/>
              <a:pathLst>
                <a:path w="11" h="115">
                  <a:moveTo>
                    <a:pt x="11" y="0"/>
                  </a:moveTo>
                  <a:cubicBezTo>
                    <a:pt x="11" y="0"/>
                    <a:pt x="0" y="18"/>
                    <a:pt x="0" y="74"/>
                  </a:cubicBezTo>
                  <a:cubicBezTo>
                    <a:pt x="0" y="115"/>
                    <a:pt x="0" y="115"/>
                    <a:pt x="0" y="115"/>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51" name="Oval 187"/>
            <p:cNvSpPr>
              <a:spLocks noChangeArrowheads="1"/>
            </p:cNvSpPr>
            <p:nvPr/>
          </p:nvSpPr>
          <p:spPr bwMode="auto">
            <a:xfrm>
              <a:off x="3074" y="2822"/>
              <a:ext cx="231"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00423" name="Group 359"/>
          <p:cNvGrpSpPr>
            <a:grpSpLocks/>
          </p:cNvGrpSpPr>
          <p:nvPr/>
        </p:nvGrpSpPr>
        <p:grpSpPr bwMode="auto">
          <a:xfrm>
            <a:off x="4938713" y="3919538"/>
            <a:ext cx="3195637" cy="2178050"/>
            <a:chOff x="3111" y="2469"/>
            <a:chExt cx="2013" cy="1372"/>
          </a:xfrm>
        </p:grpSpPr>
        <p:sp>
          <p:nvSpPr>
            <p:cNvPr id="600219" name="Rectangle 155"/>
            <p:cNvSpPr>
              <a:spLocks noChangeArrowheads="1"/>
            </p:cNvSpPr>
            <p:nvPr/>
          </p:nvSpPr>
          <p:spPr bwMode="auto">
            <a:xfrm>
              <a:off x="3503" y="2469"/>
              <a:ext cx="11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Local register: a (13 bits)</a:t>
              </a:r>
              <a:endParaRPr lang="en-US" altLang="en-US" sz="2400">
                <a:solidFill>
                  <a:srgbClr val="0033CC"/>
                </a:solidFill>
              </a:endParaRPr>
            </a:p>
          </p:txBody>
        </p:sp>
        <p:sp>
          <p:nvSpPr>
            <p:cNvPr id="600203" name="Freeform 139"/>
            <p:cNvSpPr>
              <a:spLocks/>
            </p:cNvSpPr>
            <p:nvPr/>
          </p:nvSpPr>
          <p:spPr bwMode="auto">
            <a:xfrm>
              <a:off x="4699" y="3778"/>
              <a:ext cx="103" cy="63"/>
            </a:xfrm>
            <a:custGeom>
              <a:avLst/>
              <a:gdLst>
                <a:gd name="T0" fmla="*/ 0 w 103"/>
                <a:gd name="T1" fmla="*/ 63 h 63"/>
                <a:gd name="T2" fmla="*/ 103 w 103"/>
                <a:gd name="T3" fmla="*/ 47 h 63"/>
                <a:gd name="T4" fmla="*/ 81 w 103"/>
                <a:gd name="T5" fmla="*/ 0 h 63"/>
                <a:gd name="T6" fmla="*/ 0 w 103"/>
                <a:gd name="T7" fmla="*/ 63 h 63"/>
              </a:gdLst>
              <a:ahLst/>
              <a:cxnLst>
                <a:cxn ang="0">
                  <a:pos x="T0" y="T1"/>
                </a:cxn>
                <a:cxn ang="0">
                  <a:pos x="T2" y="T3"/>
                </a:cxn>
                <a:cxn ang="0">
                  <a:pos x="T4" y="T5"/>
                </a:cxn>
                <a:cxn ang="0">
                  <a:pos x="T6" y="T7"/>
                </a:cxn>
              </a:cxnLst>
              <a:rect l="0" t="0" r="r" b="b"/>
              <a:pathLst>
                <a:path w="103" h="63">
                  <a:moveTo>
                    <a:pt x="0" y="63"/>
                  </a:moveTo>
                  <a:lnTo>
                    <a:pt x="103" y="47"/>
                  </a:lnTo>
                  <a:lnTo>
                    <a:pt x="81" y="0"/>
                  </a:lnTo>
                  <a:lnTo>
                    <a:pt x="0" y="6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204" name="Freeform 140"/>
            <p:cNvSpPr>
              <a:spLocks/>
            </p:cNvSpPr>
            <p:nvPr/>
          </p:nvSpPr>
          <p:spPr bwMode="auto">
            <a:xfrm>
              <a:off x="4702" y="3138"/>
              <a:ext cx="81" cy="94"/>
            </a:xfrm>
            <a:custGeom>
              <a:avLst/>
              <a:gdLst>
                <a:gd name="T0" fmla="*/ 81 w 81"/>
                <a:gd name="T1" fmla="*/ 94 h 94"/>
                <a:gd name="T2" fmla="*/ 37 w 81"/>
                <a:gd name="T3" fmla="*/ 0 h 94"/>
                <a:gd name="T4" fmla="*/ 0 w 81"/>
                <a:gd name="T5" fmla="*/ 31 h 94"/>
                <a:gd name="T6" fmla="*/ 81 w 81"/>
                <a:gd name="T7" fmla="*/ 94 h 94"/>
              </a:gdLst>
              <a:ahLst/>
              <a:cxnLst>
                <a:cxn ang="0">
                  <a:pos x="T0" y="T1"/>
                </a:cxn>
                <a:cxn ang="0">
                  <a:pos x="T2" y="T3"/>
                </a:cxn>
                <a:cxn ang="0">
                  <a:pos x="T4" y="T5"/>
                </a:cxn>
                <a:cxn ang="0">
                  <a:pos x="T6" y="T7"/>
                </a:cxn>
              </a:cxnLst>
              <a:rect l="0" t="0" r="r" b="b"/>
              <a:pathLst>
                <a:path w="81" h="94">
                  <a:moveTo>
                    <a:pt x="81" y="94"/>
                  </a:moveTo>
                  <a:lnTo>
                    <a:pt x="37" y="0"/>
                  </a:lnTo>
                  <a:lnTo>
                    <a:pt x="0" y="31"/>
                  </a:lnTo>
                  <a:lnTo>
                    <a:pt x="81" y="9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205" name="Freeform 141"/>
            <p:cNvSpPr>
              <a:spLocks/>
            </p:cNvSpPr>
            <p:nvPr/>
          </p:nvSpPr>
          <p:spPr bwMode="auto">
            <a:xfrm>
              <a:off x="4239" y="2822"/>
              <a:ext cx="100" cy="47"/>
            </a:xfrm>
            <a:custGeom>
              <a:avLst/>
              <a:gdLst>
                <a:gd name="T0" fmla="*/ 0 w 100"/>
                <a:gd name="T1" fmla="*/ 34 h 47"/>
                <a:gd name="T2" fmla="*/ 100 w 100"/>
                <a:gd name="T3" fmla="*/ 47 h 47"/>
                <a:gd name="T4" fmla="*/ 97 w 100"/>
                <a:gd name="T5" fmla="*/ 0 h 47"/>
                <a:gd name="T6" fmla="*/ 0 w 100"/>
                <a:gd name="T7" fmla="*/ 34 h 47"/>
              </a:gdLst>
              <a:ahLst/>
              <a:cxnLst>
                <a:cxn ang="0">
                  <a:pos x="T0" y="T1"/>
                </a:cxn>
                <a:cxn ang="0">
                  <a:pos x="T2" y="T3"/>
                </a:cxn>
                <a:cxn ang="0">
                  <a:pos x="T4" y="T5"/>
                </a:cxn>
                <a:cxn ang="0">
                  <a:pos x="T6" y="T7"/>
                </a:cxn>
              </a:cxnLst>
              <a:rect l="0" t="0" r="r" b="b"/>
              <a:pathLst>
                <a:path w="100" h="47">
                  <a:moveTo>
                    <a:pt x="0" y="34"/>
                  </a:moveTo>
                  <a:lnTo>
                    <a:pt x="100" y="47"/>
                  </a:lnTo>
                  <a:lnTo>
                    <a:pt x="97" y="0"/>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0207" name="Freeform 143"/>
            <p:cNvSpPr>
              <a:spLocks/>
            </p:cNvSpPr>
            <p:nvPr/>
          </p:nvSpPr>
          <p:spPr bwMode="auto">
            <a:xfrm>
              <a:off x="4264" y="2891"/>
              <a:ext cx="500" cy="322"/>
            </a:xfrm>
            <a:custGeom>
              <a:avLst/>
              <a:gdLst>
                <a:gd name="T0" fmla="*/ 0 w 160"/>
                <a:gd name="T1" fmla="*/ 9 h 103"/>
                <a:gd name="T2" fmla="*/ 160 w 160"/>
                <a:gd name="T3" fmla="*/ 103 h 103"/>
              </a:gdLst>
              <a:ahLst/>
              <a:cxnLst>
                <a:cxn ang="0">
                  <a:pos x="T0" y="T1"/>
                </a:cxn>
                <a:cxn ang="0">
                  <a:pos x="T2" y="T3"/>
                </a:cxn>
              </a:cxnLst>
              <a:rect l="0" t="0" r="r" b="b"/>
              <a:pathLst>
                <a:path w="160" h="103">
                  <a:moveTo>
                    <a:pt x="0" y="9"/>
                  </a:moveTo>
                  <a:cubicBezTo>
                    <a:pt x="0" y="9"/>
                    <a:pt x="91" y="0"/>
                    <a:pt x="160" y="103"/>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08" name="Freeform 144"/>
            <p:cNvSpPr>
              <a:spLocks/>
            </p:cNvSpPr>
            <p:nvPr/>
          </p:nvSpPr>
          <p:spPr bwMode="auto">
            <a:xfrm>
              <a:off x="4277" y="2803"/>
              <a:ext cx="575" cy="413"/>
            </a:xfrm>
            <a:custGeom>
              <a:avLst/>
              <a:gdLst>
                <a:gd name="T0" fmla="*/ 0 w 184"/>
                <a:gd name="T1" fmla="*/ 15 h 132"/>
                <a:gd name="T2" fmla="*/ 184 w 184"/>
                <a:gd name="T3" fmla="*/ 132 h 132"/>
              </a:gdLst>
              <a:ahLst/>
              <a:cxnLst>
                <a:cxn ang="0">
                  <a:pos x="T0" y="T1"/>
                </a:cxn>
                <a:cxn ang="0">
                  <a:pos x="T2" y="T3"/>
                </a:cxn>
              </a:cxnLst>
              <a:rect l="0" t="0" r="r" b="b"/>
              <a:pathLst>
                <a:path w="184" h="132">
                  <a:moveTo>
                    <a:pt x="0" y="15"/>
                  </a:moveTo>
                  <a:cubicBezTo>
                    <a:pt x="0" y="15"/>
                    <a:pt x="179" y="0"/>
                    <a:pt x="184" y="132"/>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15" name="Rectangle 151"/>
            <p:cNvSpPr>
              <a:spLocks noChangeArrowheads="1"/>
            </p:cNvSpPr>
            <p:nvPr/>
          </p:nvSpPr>
          <p:spPr bwMode="auto">
            <a:xfrm>
              <a:off x="4585" y="3613"/>
              <a:ext cx="3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a=4096</a:t>
              </a:r>
              <a:endParaRPr lang="en-US" altLang="en-US" sz="2400">
                <a:solidFill>
                  <a:srgbClr val="0033CC"/>
                </a:solidFill>
              </a:endParaRPr>
            </a:p>
          </p:txBody>
        </p:sp>
        <p:sp>
          <p:nvSpPr>
            <p:cNvPr id="600216" name="Rectangle 152"/>
            <p:cNvSpPr>
              <a:spLocks noChangeArrowheads="1"/>
            </p:cNvSpPr>
            <p:nvPr/>
          </p:nvSpPr>
          <p:spPr bwMode="auto">
            <a:xfrm>
              <a:off x="4529" y="2753"/>
              <a:ext cx="35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a&lt;4096</a:t>
              </a:r>
              <a:endParaRPr lang="en-US" altLang="en-US" sz="2400">
                <a:solidFill>
                  <a:srgbClr val="0033CC"/>
                </a:solidFill>
              </a:endParaRPr>
            </a:p>
          </p:txBody>
        </p:sp>
        <p:sp>
          <p:nvSpPr>
            <p:cNvPr id="600217" name="Rectangle 153"/>
            <p:cNvSpPr>
              <a:spLocks noChangeArrowheads="1"/>
            </p:cNvSpPr>
            <p:nvPr/>
          </p:nvSpPr>
          <p:spPr bwMode="auto">
            <a:xfrm>
              <a:off x="4113" y="2884"/>
              <a:ext cx="75"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U</a:t>
              </a:r>
              <a:endParaRPr lang="en-US" altLang="en-US" sz="2400">
                <a:solidFill>
                  <a:srgbClr val="0033CC"/>
                </a:solidFill>
              </a:endParaRPr>
            </a:p>
          </p:txBody>
        </p:sp>
        <p:sp>
          <p:nvSpPr>
            <p:cNvPr id="600218" name="Rectangle 154"/>
            <p:cNvSpPr>
              <a:spLocks noChangeArrowheads="1"/>
            </p:cNvSpPr>
            <p:nvPr/>
          </p:nvSpPr>
          <p:spPr bwMode="auto">
            <a:xfrm>
              <a:off x="4808" y="3281"/>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V</a:t>
              </a:r>
              <a:endParaRPr lang="en-US" altLang="en-US" sz="2400">
                <a:solidFill>
                  <a:srgbClr val="0033CC"/>
                </a:solidFill>
              </a:endParaRPr>
            </a:p>
          </p:txBody>
        </p:sp>
        <p:sp>
          <p:nvSpPr>
            <p:cNvPr id="600234" name="Freeform 170"/>
            <p:cNvSpPr>
              <a:spLocks/>
            </p:cNvSpPr>
            <p:nvPr/>
          </p:nvSpPr>
          <p:spPr bwMode="auto">
            <a:xfrm>
              <a:off x="4755" y="3428"/>
              <a:ext cx="369" cy="391"/>
            </a:xfrm>
            <a:custGeom>
              <a:avLst/>
              <a:gdLst>
                <a:gd name="T0" fmla="*/ 50 w 118"/>
                <a:gd name="T1" fmla="*/ 0 h 125"/>
                <a:gd name="T2" fmla="*/ 0 w 118"/>
                <a:gd name="T3" fmla="*/ 125 h 125"/>
              </a:gdLst>
              <a:ahLst/>
              <a:cxnLst>
                <a:cxn ang="0">
                  <a:pos x="T0" y="T1"/>
                </a:cxn>
                <a:cxn ang="0">
                  <a:pos x="T2" y="T3"/>
                </a:cxn>
              </a:cxnLst>
              <a:rect l="0" t="0" r="r" b="b"/>
              <a:pathLst>
                <a:path w="118" h="125">
                  <a:moveTo>
                    <a:pt x="50" y="0"/>
                  </a:moveTo>
                  <a:cubicBezTo>
                    <a:pt x="50" y="0"/>
                    <a:pt x="118" y="83"/>
                    <a:pt x="0" y="125"/>
                  </a:cubicBezTo>
                </a:path>
              </a:pathLst>
            </a:custGeom>
            <a:noFill/>
            <a:ln w="190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40" name="Rectangle 176"/>
            <p:cNvSpPr>
              <a:spLocks noChangeArrowheads="1"/>
            </p:cNvSpPr>
            <p:nvPr/>
          </p:nvSpPr>
          <p:spPr bwMode="auto">
            <a:xfrm>
              <a:off x="3969" y="3075"/>
              <a:ext cx="37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ad_ld=1</a:t>
              </a:r>
              <a:endParaRPr lang="en-US" altLang="en-US" sz="2400">
                <a:solidFill>
                  <a:srgbClr val="0033CC"/>
                </a:solidFill>
              </a:endParaRPr>
            </a:p>
          </p:txBody>
        </p:sp>
        <p:sp>
          <p:nvSpPr>
            <p:cNvPr id="600241" name="Rectangle 177"/>
            <p:cNvSpPr>
              <a:spLocks noChangeArrowheads="1"/>
            </p:cNvSpPr>
            <p:nvPr/>
          </p:nvSpPr>
          <p:spPr bwMode="auto">
            <a:xfrm>
              <a:off x="3969" y="3187"/>
              <a:ext cx="43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ad_buf=1</a:t>
              </a:r>
              <a:endParaRPr lang="en-US" altLang="en-US" sz="2400">
                <a:solidFill>
                  <a:srgbClr val="0033CC"/>
                </a:solidFill>
              </a:endParaRPr>
            </a:p>
          </p:txBody>
        </p:sp>
        <p:sp>
          <p:nvSpPr>
            <p:cNvPr id="600242" name="Rectangle 178"/>
            <p:cNvSpPr>
              <a:spLocks noChangeArrowheads="1"/>
            </p:cNvSpPr>
            <p:nvPr/>
          </p:nvSpPr>
          <p:spPr bwMode="auto">
            <a:xfrm>
              <a:off x="3969" y="3300"/>
              <a:ext cx="2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Ra=a</a:t>
              </a:r>
              <a:endParaRPr lang="en-US" altLang="en-US" sz="2400">
                <a:solidFill>
                  <a:srgbClr val="0033CC"/>
                </a:solidFill>
              </a:endParaRPr>
            </a:p>
          </p:txBody>
        </p:sp>
        <p:sp>
          <p:nvSpPr>
            <p:cNvPr id="600244" name="Rectangle 180"/>
            <p:cNvSpPr>
              <a:spLocks noChangeArrowheads="1"/>
            </p:cNvSpPr>
            <p:nvPr/>
          </p:nvSpPr>
          <p:spPr bwMode="auto">
            <a:xfrm>
              <a:off x="3969" y="3412"/>
              <a:ext cx="30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Rrw=1</a:t>
              </a:r>
              <a:endParaRPr lang="en-US" altLang="en-US" sz="2400">
                <a:solidFill>
                  <a:srgbClr val="0033CC"/>
                </a:solidFill>
              </a:endParaRPr>
            </a:p>
          </p:txBody>
        </p:sp>
        <p:sp>
          <p:nvSpPr>
            <p:cNvPr id="600247" name="Rectangle 183"/>
            <p:cNvSpPr>
              <a:spLocks noChangeArrowheads="1"/>
            </p:cNvSpPr>
            <p:nvPr/>
          </p:nvSpPr>
          <p:spPr bwMode="auto">
            <a:xfrm>
              <a:off x="3969" y="3525"/>
              <a:ext cx="3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Ren=1</a:t>
              </a:r>
              <a:endParaRPr lang="en-US" altLang="en-US" sz="2400">
                <a:solidFill>
                  <a:srgbClr val="0033CC"/>
                </a:solidFill>
              </a:endParaRPr>
            </a:p>
          </p:txBody>
        </p:sp>
        <p:sp>
          <p:nvSpPr>
            <p:cNvPr id="600249" name="Rectangle 185"/>
            <p:cNvSpPr>
              <a:spLocks noChangeArrowheads="1"/>
            </p:cNvSpPr>
            <p:nvPr/>
          </p:nvSpPr>
          <p:spPr bwMode="auto">
            <a:xfrm>
              <a:off x="3969" y="3639"/>
              <a:ext cx="29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a=a+1</a:t>
              </a:r>
              <a:endParaRPr lang="en-US" altLang="en-US" sz="2400">
                <a:solidFill>
                  <a:srgbClr val="0033CC"/>
                </a:solidFill>
              </a:endParaRPr>
            </a:p>
          </p:txBody>
        </p:sp>
        <p:sp>
          <p:nvSpPr>
            <p:cNvPr id="600210" name="Rectangle 146"/>
            <p:cNvSpPr>
              <a:spLocks noChangeArrowheads="1"/>
            </p:cNvSpPr>
            <p:nvPr/>
          </p:nvSpPr>
          <p:spPr bwMode="auto">
            <a:xfrm>
              <a:off x="3111" y="3056"/>
              <a:ext cx="17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33CC"/>
                  </a:solidFill>
                  <a:latin typeface="Myriad Roman" charset="0"/>
                </a:rPr>
                <a:t>a=0</a:t>
              </a:r>
              <a:endParaRPr lang="en-US" altLang="en-US" sz="2400">
                <a:solidFill>
                  <a:srgbClr val="0033CC"/>
                </a:solidFill>
              </a:endParaRPr>
            </a:p>
          </p:txBody>
        </p:sp>
        <p:sp>
          <p:nvSpPr>
            <p:cNvPr id="600252" name="Oval 188"/>
            <p:cNvSpPr>
              <a:spLocks noChangeArrowheads="1"/>
            </p:cNvSpPr>
            <p:nvPr/>
          </p:nvSpPr>
          <p:spPr bwMode="auto">
            <a:xfrm>
              <a:off x="4033" y="2822"/>
              <a:ext cx="231"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0253" name="Oval 189"/>
            <p:cNvSpPr>
              <a:spLocks noChangeArrowheads="1"/>
            </p:cNvSpPr>
            <p:nvPr/>
          </p:nvSpPr>
          <p:spPr bwMode="auto">
            <a:xfrm>
              <a:off x="4721" y="3219"/>
              <a:ext cx="231" cy="234"/>
            </a:xfrm>
            <a:prstGeom prst="ellipse">
              <a:avLst/>
            </a:prstGeom>
            <a:noFill/>
            <a:ln w="14288">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600255" name="Text Box 191"/>
          <p:cNvSpPr txBox="1">
            <a:spLocks noChangeArrowheads="1"/>
          </p:cNvSpPr>
          <p:nvPr/>
        </p:nvSpPr>
        <p:spPr bwMode="auto">
          <a:xfrm>
            <a:off x="8574088" y="4416425"/>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002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0025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6004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3"/>
          <p:cNvSpPr>
            <a:spLocks noGrp="1"/>
          </p:cNvSpPr>
          <p:nvPr>
            <p:ph type="sldNum" sz="quarter" idx="10"/>
          </p:nvPr>
        </p:nvSpPr>
        <p:spPr/>
        <p:txBody>
          <a:bodyPr/>
          <a:lstStyle/>
          <a:p>
            <a:fld id="{0466DDFC-4282-43F5-B2B7-743338146866}" type="slidenum">
              <a:rPr lang="en-US" altLang="en-US"/>
              <a:pPr/>
              <a:t>82</a:t>
            </a:fld>
            <a:endParaRPr lang="en-US" altLang="en-US"/>
          </a:p>
        </p:txBody>
      </p:sp>
      <p:sp>
        <p:nvSpPr>
          <p:cNvPr id="601090" name="Rectangle 2"/>
          <p:cNvSpPr>
            <a:spLocks noGrp="1" noChangeArrowheads="1"/>
          </p:cNvSpPr>
          <p:nvPr>
            <p:ph type="title"/>
          </p:nvPr>
        </p:nvSpPr>
        <p:spPr/>
        <p:txBody>
          <a:bodyPr/>
          <a:lstStyle/>
          <a:p>
            <a:r>
              <a:rPr lang="en-US" altLang="en-US"/>
              <a:t>Blurring of Distinction Between ROM and RAM</a:t>
            </a:r>
          </a:p>
        </p:txBody>
      </p:sp>
      <p:sp>
        <p:nvSpPr>
          <p:cNvPr id="601091" name="Rectangle 3"/>
          <p:cNvSpPr>
            <a:spLocks noGrp="1" noChangeArrowheads="1"/>
          </p:cNvSpPr>
          <p:nvPr>
            <p:ph type="body" idx="1"/>
          </p:nvPr>
        </p:nvSpPr>
        <p:spPr/>
        <p:txBody>
          <a:bodyPr/>
          <a:lstStyle/>
          <a:p>
            <a:pPr>
              <a:lnSpc>
                <a:spcPct val="90000"/>
              </a:lnSpc>
            </a:pPr>
            <a:r>
              <a:rPr lang="en-US" altLang="en-US" sz="2000"/>
              <a:t>We said that</a:t>
            </a:r>
          </a:p>
          <a:p>
            <a:pPr lvl="1">
              <a:lnSpc>
                <a:spcPct val="90000"/>
              </a:lnSpc>
            </a:pPr>
            <a:r>
              <a:rPr lang="en-US" altLang="en-US" sz="1800"/>
              <a:t>RAM is readable and writable</a:t>
            </a:r>
          </a:p>
          <a:p>
            <a:pPr lvl="1">
              <a:lnSpc>
                <a:spcPct val="90000"/>
              </a:lnSpc>
            </a:pPr>
            <a:r>
              <a:rPr lang="en-US" altLang="en-US" sz="1800"/>
              <a:t>ROM is read-only</a:t>
            </a:r>
          </a:p>
          <a:p>
            <a:pPr>
              <a:lnSpc>
                <a:spcPct val="90000"/>
              </a:lnSpc>
            </a:pPr>
            <a:r>
              <a:rPr lang="en-US" altLang="en-US" sz="2000"/>
              <a:t>But some ROMs act almost like RAMs</a:t>
            </a:r>
          </a:p>
          <a:p>
            <a:pPr lvl="1">
              <a:lnSpc>
                <a:spcPct val="90000"/>
              </a:lnSpc>
            </a:pPr>
            <a:r>
              <a:rPr lang="en-US" altLang="en-US" sz="1800"/>
              <a:t>EEPROM and Flash are in-system programmable</a:t>
            </a:r>
          </a:p>
          <a:p>
            <a:pPr lvl="2">
              <a:lnSpc>
                <a:spcPct val="90000"/>
              </a:lnSpc>
            </a:pPr>
            <a:r>
              <a:rPr lang="en-US" altLang="en-US" sz="1600"/>
              <a:t>Essentially means that writes are slow</a:t>
            </a:r>
          </a:p>
          <a:p>
            <a:pPr lvl="3">
              <a:lnSpc>
                <a:spcPct val="90000"/>
              </a:lnSpc>
            </a:pPr>
            <a:r>
              <a:rPr lang="en-US" altLang="en-US" sz="1400"/>
              <a:t>Also, number of writes may be limited (perhaps a few million times)</a:t>
            </a:r>
          </a:p>
          <a:p>
            <a:pPr>
              <a:lnSpc>
                <a:spcPct val="90000"/>
              </a:lnSpc>
            </a:pPr>
            <a:r>
              <a:rPr lang="en-US" altLang="en-US" sz="2000"/>
              <a:t>And, some RAMs act almost like ROMs</a:t>
            </a:r>
          </a:p>
          <a:p>
            <a:pPr lvl="1">
              <a:lnSpc>
                <a:spcPct val="90000"/>
              </a:lnSpc>
            </a:pPr>
            <a:r>
              <a:rPr lang="en-US" altLang="en-US" sz="1800"/>
              <a:t>Non-volatile RAMs: Can save their data without the power supply</a:t>
            </a:r>
          </a:p>
          <a:p>
            <a:pPr lvl="2">
              <a:lnSpc>
                <a:spcPct val="90000"/>
              </a:lnSpc>
            </a:pPr>
            <a:r>
              <a:rPr lang="en-US" altLang="en-US" sz="1600"/>
              <a:t>One type: Built-in battery, may work for up to 10 years</a:t>
            </a:r>
          </a:p>
          <a:p>
            <a:pPr lvl="2">
              <a:lnSpc>
                <a:spcPct val="90000"/>
              </a:lnSpc>
            </a:pPr>
            <a:r>
              <a:rPr lang="en-US" altLang="en-US" sz="1600"/>
              <a:t>Another type: Includes ROM backup for RAM – controller writes RAM contents to ROM before turning off</a:t>
            </a:r>
          </a:p>
          <a:p>
            <a:pPr>
              <a:lnSpc>
                <a:spcPct val="90000"/>
              </a:lnSpc>
            </a:pPr>
            <a:r>
              <a:rPr lang="en-US" altLang="en-US" sz="2000"/>
              <a:t>New memory technologies evolving that merge RAM and ROM benefits</a:t>
            </a:r>
          </a:p>
          <a:p>
            <a:pPr lvl="1">
              <a:lnSpc>
                <a:spcPct val="90000"/>
              </a:lnSpc>
            </a:pPr>
            <a:r>
              <a:rPr lang="en-US" altLang="en-US" sz="1800"/>
              <a:t>e.g., MRAM</a:t>
            </a:r>
          </a:p>
          <a:p>
            <a:pPr>
              <a:lnSpc>
                <a:spcPct val="90000"/>
              </a:lnSpc>
            </a:pPr>
            <a:r>
              <a:rPr lang="en-US" altLang="en-US" sz="2000"/>
              <a:t>Bottom line</a:t>
            </a:r>
          </a:p>
          <a:p>
            <a:pPr lvl="1">
              <a:lnSpc>
                <a:spcPct val="90000"/>
              </a:lnSpc>
            </a:pPr>
            <a:r>
              <a:rPr lang="en-US" altLang="en-US" sz="1800"/>
              <a:t>Lot of choices available to designer, must find best fit with design goals</a:t>
            </a:r>
          </a:p>
          <a:p>
            <a:pPr lvl="2">
              <a:lnSpc>
                <a:spcPct val="90000"/>
              </a:lnSpc>
            </a:pPr>
            <a:endParaRPr lang="en-US" altLang="en-US" sz="1600"/>
          </a:p>
          <a:p>
            <a:pPr lvl="1">
              <a:lnSpc>
                <a:spcPct val="90000"/>
              </a:lnSpc>
            </a:pPr>
            <a:endParaRPr lang="en-US" altLang="en-US" sz="1800"/>
          </a:p>
        </p:txBody>
      </p:sp>
      <p:sp>
        <p:nvSpPr>
          <p:cNvPr id="601094" name="Rectangle 6"/>
          <p:cNvSpPr>
            <a:spLocks noChangeArrowheads="1"/>
          </p:cNvSpPr>
          <p:nvPr/>
        </p:nvSpPr>
        <p:spPr bwMode="auto">
          <a:xfrm>
            <a:off x="6172200" y="1744663"/>
            <a:ext cx="709613" cy="34766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t>EEPROM</a:t>
            </a:r>
          </a:p>
        </p:txBody>
      </p:sp>
      <p:sp>
        <p:nvSpPr>
          <p:cNvPr id="601092" name="Text Box 4"/>
          <p:cNvSpPr txBox="1">
            <a:spLocks noChangeArrowheads="1"/>
          </p:cNvSpPr>
          <p:nvPr/>
        </p:nvSpPr>
        <p:spPr bwMode="auto">
          <a:xfrm>
            <a:off x="5462588" y="1419225"/>
            <a:ext cx="901700" cy="4064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ROM</a:t>
            </a:r>
          </a:p>
        </p:txBody>
      </p:sp>
      <p:sp>
        <p:nvSpPr>
          <p:cNvPr id="601097" name="Rectangle 9"/>
          <p:cNvSpPr>
            <a:spLocks noChangeArrowheads="1"/>
          </p:cNvSpPr>
          <p:nvPr/>
        </p:nvSpPr>
        <p:spPr bwMode="auto">
          <a:xfrm>
            <a:off x="6640513" y="1504950"/>
            <a:ext cx="709612" cy="347663"/>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Flash</a:t>
            </a:r>
          </a:p>
        </p:txBody>
      </p:sp>
      <p:sp>
        <p:nvSpPr>
          <p:cNvPr id="601099" name="Rectangle 11"/>
          <p:cNvSpPr>
            <a:spLocks noChangeArrowheads="1"/>
          </p:cNvSpPr>
          <p:nvPr/>
        </p:nvSpPr>
        <p:spPr bwMode="auto">
          <a:xfrm>
            <a:off x="7154863" y="1747838"/>
            <a:ext cx="709612" cy="34766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t>NVRAM</a:t>
            </a:r>
          </a:p>
        </p:txBody>
      </p:sp>
      <p:sp>
        <p:nvSpPr>
          <p:cNvPr id="601095" name="Text Box 7"/>
          <p:cNvSpPr txBox="1">
            <a:spLocks noChangeArrowheads="1"/>
          </p:cNvSpPr>
          <p:nvPr/>
        </p:nvSpPr>
        <p:spPr bwMode="auto">
          <a:xfrm>
            <a:off x="7519988" y="1395413"/>
            <a:ext cx="901700" cy="406400"/>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a:t>RAM</a:t>
            </a:r>
          </a:p>
        </p:txBody>
      </p:sp>
      <p:sp>
        <p:nvSpPr>
          <p:cNvPr id="601101" name="Text Box 13"/>
          <p:cNvSpPr txBox="1">
            <a:spLocks noChangeArrowheads="1"/>
          </p:cNvSpPr>
          <p:nvPr/>
        </p:nvSpPr>
        <p:spPr bwMode="auto">
          <a:xfrm>
            <a:off x="8610600" y="1722438"/>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01094"/>
                                        </p:tgtEl>
                                        <p:attrNameLst>
                                          <p:attrName>style.visibility</p:attrName>
                                        </p:attrNameLst>
                                      </p:cBhvr>
                                      <p:to>
                                        <p:strVal val="visible"/>
                                      </p:to>
                                    </p:set>
                                    <p:animEffect transition="in" filter="dissolve">
                                      <p:cBhvr>
                                        <p:cTn id="7" dur="500"/>
                                        <p:tgtEl>
                                          <p:spTgt spid="601094"/>
                                        </p:tgtEl>
                                      </p:cBhvr>
                                    </p:animEffect>
                                  </p:childTnLst>
                                </p:cTn>
                              </p:par>
                            </p:childTnLst>
                          </p:cTn>
                        </p:par>
                        <p:par>
                          <p:cTn id="8" fill="hold" nodeType="afterGroup">
                            <p:stCondLst>
                              <p:cond delay="500"/>
                            </p:stCondLst>
                            <p:childTnLst>
                              <p:par>
                                <p:cTn id="9" presetID="9" presetClass="entr" presetSubtype="0" fill="hold" grpId="0" nodeType="afterEffect">
                                  <p:stCondLst>
                                    <p:cond delay="1000"/>
                                  </p:stCondLst>
                                  <p:childTnLst>
                                    <p:set>
                                      <p:cBhvr>
                                        <p:cTn id="10" dur="1" fill="hold">
                                          <p:stCondLst>
                                            <p:cond delay="0"/>
                                          </p:stCondLst>
                                        </p:cTn>
                                        <p:tgtEl>
                                          <p:spTgt spid="601097"/>
                                        </p:tgtEl>
                                        <p:attrNameLst>
                                          <p:attrName>style.visibility</p:attrName>
                                        </p:attrNameLst>
                                      </p:cBhvr>
                                      <p:to>
                                        <p:strVal val="visible"/>
                                      </p:to>
                                    </p:set>
                                    <p:animEffect transition="in" filter="dissolve">
                                      <p:cBhvr>
                                        <p:cTn id="11" dur="500"/>
                                        <p:tgtEl>
                                          <p:spTgt spid="601097"/>
                                        </p:tgtEl>
                                      </p:cBhvr>
                                    </p:animEffect>
                                  </p:childTnLst>
                                </p:cTn>
                              </p:par>
                            </p:childTnLst>
                          </p:cTn>
                        </p:par>
                        <p:par>
                          <p:cTn id="12" fill="hold" nodeType="afterGroup">
                            <p:stCondLst>
                              <p:cond delay="2000"/>
                            </p:stCondLst>
                            <p:childTnLst>
                              <p:par>
                                <p:cTn id="13" presetID="9" presetClass="entr" presetSubtype="0" fill="hold" grpId="0" nodeType="afterEffect">
                                  <p:stCondLst>
                                    <p:cond delay="1000"/>
                                  </p:stCondLst>
                                  <p:childTnLst>
                                    <p:set>
                                      <p:cBhvr>
                                        <p:cTn id="14" dur="1" fill="hold">
                                          <p:stCondLst>
                                            <p:cond delay="0"/>
                                          </p:stCondLst>
                                        </p:cTn>
                                        <p:tgtEl>
                                          <p:spTgt spid="601099"/>
                                        </p:tgtEl>
                                        <p:attrNameLst>
                                          <p:attrName>style.visibility</p:attrName>
                                        </p:attrNameLst>
                                      </p:cBhvr>
                                      <p:to>
                                        <p:strVal val="visible"/>
                                      </p:to>
                                    </p:set>
                                    <p:animEffect transition="in" filter="dissolve">
                                      <p:cBhvr>
                                        <p:cTn id="15" dur="500"/>
                                        <p:tgtEl>
                                          <p:spTgt spid="601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1094" grpId="0" animBg="1" autoUpdateAnimBg="0"/>
      <p:bldP spid="601097" grpId="0" animBg="1" autoUpdateAnimBg="0"/>
      <p:bldP spid="601099" grpId="0" animBg="1" autoUpdateAnimBg="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Slide Number Placeholder 3"/>
          <p:cNvSpPr>
            <a:spLocks noGrp="1"/>
          </p:cNvSpPr>
          <p:nvPr>
            <p:ph type="sldNum" sz="quarter" idx="10"/>
          </p:nvPr>
        </p:nvSpPr>
        <p:spPr/>
        <p:txBody>
          <a:bodyPr/>
          <a:lstStyle/>
          <a:p>
            <a:fld id="{435DE109-70AF-4E20-A028-7E71B400D550}" type="slidenum">
              <a:rPr lang="en-US" altLang="en-US"/>
              <a:pPr/>
              <a:t>83</a:t>
            </a:fld>
            <a:endParaRPr lang="en-US" altLang="en-US"/>
          </a:p>
        </p:txBody>
      </p:sp>
      <p:sp>
        <p:nvSpPr>
          <p:cNvPr id="602114" name="Rectangle 2"/>
          <p:cNvSpPr>
            <a:spLocks noGrp="1" noChangeArrowheads="1"/>
          </p:cNvSpPr>
          <p:nvPr>
            <p:ph type="title"/>
          </p:nvPr>
        </p:nvSpPr>
        <p:spPr/>
        <p:txBody>
          <a:bodyPr/>
          <a:lstStyle/>
          <a:p>
            <a:r>
              <a:rPr lang="en-US" altLang="en-US" u="sng"/>
              <a:t>Queues</a:t>
            </a:r>
          </a:p>
        </p:txBody>
      </p:sp>
      <p:sp>
        <p:nvSpPr>
          <p:cNvPr id="602115" name="Rectangle 3"/>
          <p:cNvSpPr>
            <a:spLocks noGrp="1" noChangeArrowheads="1"/>
          </p:cNvSpPr>
          <p:nvPr>
            <p:ph type="body" idx="1"/>
          </p:nvPr>
        </p:nvSpPr>
        <p:spPr>
          <a:xfrm>
            <a:off x="228600" y="1219200"/>
            <a:ext cx="5014913" cy="4876800"/>
          </a:xfrm>
        </p:spPr>
        <p:txBody>
          <a:bodyPr/>
          <a:lstStyle/>
          <a:p>
            <a:pPr>
              <a:lnSpc>
                <a:spcPct val="90000"/>
              </a:lnSpc>
            </a:pPr>
            <a:r>
              <a:rPr lang="en-US" altLang="en-US"/>
              <a:t>A queue is another component sometimes used during RTL design</a:t>
            </a:r>
          </a:p>
          <a:p>
            <a:pPr>
              <a:lnSpc>
                <a:spcPct val="90000"/>
              </a:lnSpc>
            </a:pPr>
            <a:r>
              <a:rPr lang="en-US" altLang="en-US" b="1" i="1">
                <a:solidFill>
                  <a:srgbClr val="0033CC"/>
                </a:solidFill>
              </a:rPr>
              <a:t>Queue</a:t>
            </a:r>
            <a:r>
              <a:rPr lang="en-US" altLang="en-US"/>
              <a:t>: A list written to at the back, from read from the front</a:t>
            </a:r>
          </a:p>
          <a:p>
            <a:pPr lvl="1">
              <a:lnSpc>
                <a:spcPct val="90000"/>
              </a:lnSpc>
            </a:pPr>
            <a:r>
              <a:rPr lang="en-US" altLang="en-US"/>
              <a:t>Like a list of waiting restaurant customers</a:t>
            </a:r>
          </a:p>
          <a:p>
            <a:pPr>
              <a:lnSpc>
                <a:spcPct val="90000"/>
              </a:lnSpc>
            </a:pPr>
            <a:r>
              <a:rPr lang="en-US" altLang="en-US"/>
              <a:t>Writing called a </a:t>
            </a:r>
            <a:r>
              <a:rPr lang="en-US" altLang="en-US" b="1" i="1"/>
              <a:t>push</a:t>
            </a:r>
            <a:r>
              <a:rPr lang="en-US" altLang="en-US"/>
              <a:t>, reading called a </a:t>
            </a:r>
            <a:r>
              <a:rPr lang="en-US" altLang="en-US" b="1" i="1"/>
              <a:t>pop</a:t>
            </a:r>
          </a:p>
          <a:p>
            <a:pPr>
              <a:lnSpc>
                <a:spcPct val="90000"/>
              </a:lnSpc>
            </a:pPr>
            <a:r>
              <a:rPr lang="en-US" altLang="en-US"/>
              <a:t>Because first item written into a queue will be the first item read out, also called a </a:t>
            </a:r>
            <a:r>
              <a:rPr lang="en-US" altLang="en-US" b="1" i="1">
                <a:solidFill>
                  <a:srgbClr val="0033CC"/>
                </a:solidFill>
              </a:rPr>
              <a:t>FIFO</a:t>
            </a:r>
            <a:r>
              <a:rPr lang="en-US" altLang="en-US"/>
              <a:t> (first-in-first-out)</a:t>
            </a:r>
          </a:p>
          <a:p>
            <a:pPr>
              <a:lnSpc>
                <a:spcPct val="90000"/>
              </a:lnSpc>
            </a:pPr>
            <a:endParaRPr lang="en-US" altLang="en-US"/>
          </a:p>
          <a:p>
            <a:pPr>
              <a:lnSpc>
                <a:spcPct val="90000"/>
              </a:lnSpc>
            </a:pPr>
            <a:endParaRPr lang="en-US" altLang="en-US"/>
          </a:p>
        </p:txBody>
      </p:sp>
      <p:sp>
        <p:nvSpPr>
          <p:cNvPr id="602116" name="Text Box 4"/>
          <p:cNvSpPr txBox="1">
            <a:spLocks noChangeArrowheads="1"/>
          </p:cNvSpPr>
          <p:nvPr/>
        </p:nvSpPr>
        <p:spPr bwMode="auto">
          <a:xfrm>
            <a:off x="8458200" y="152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5.7</a:t>
            </a:r>
          </a:p>
        </p:txBody>
      </p:sp>
      <p:pic>
        <p:nvPicPr>
          <p:cNvPr id="602121"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69100" y="2578100"/>
            <a:ext cx="30797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2122"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4450" y="2563813"/>
            <a:ext cx="30797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2123"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6150" y="2563813"/>
            <a:ext cx="307975" cy="60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2127" name="Rectangle 15"/>
          <p:cNvSpPr>
            <a:spLocks noChangeArrowheads="1"/>
          </p:cNvSpPr>
          <p:nvPr/>
        </p:nvSpPr>
        <p:spPr bwMode="auto">
          <a:xfrm>
            <a:off x="7173913" y="2589213"/>
            <a:ext cx="280987" cy="582612"/>
          </a:xfrm>
          <a:prstGeom prst="rect">
            <a:avLst/>
          </a:prstGeom>
          <a:solidFill>
            <a:srgbClr val="7BACDC"/>
          </a:solidFill>
          <a:ln w="17463">
            <a:solidFill>
              <a:srgbClr val="0078C1"/>
            </a:solidFill>
            <a:miter lim="800000"/>
            <a:headEnd/>
            <a:tailEnd/>
          </a:ln>
        </p:spPr>
        <p:txBody>
          <a:bodyPr/>
          <a:lstStyle/>
          <a:p>
            <a:endParaRPr lang="en-US"/>
          </a:p>
        </p:txBody>
      </p:sp>
      <p:sp>
        <p:nvSpPr>
          <p:cNvPr id="602128" name="Rectangle 16"/>
          <p:cNvSpPr>
            <a:spLocks noChangeArrowheads="1"/>
          </p:cNvSpPr>
          <p:nvPr/>
        </p:nvSpPr>
        <p:spPr bwMode="auto">
          <a:xfrm>
            <a:off x="7551738" y="2589213"/>
            <a:ext cx="280987" cy="582612"/>
          </a:xfrm>
          <a:prstGeom prst="rect">
            <a:avLst/>
          </a:prstGeom>
          <a:solidFill>
            <a:srgbClr val="7BACDC"/>
          </a:solidFill>
          <a:ln w="17463">
            <a:solidFill>
              <a:srgbClr val="0078C1"/>
            </a:solidFill>
            <a:miter lim="800000"/>
            <a:headEnd/>
            <a:tailEnd/>
          </a:ln>
        </p:spPr>
        <p:txBody>
          <a:bodyPr/>
          <a:lstStyle/>
          <a:p>
            <a:endParaRPr lang="en-US"/>
          </a:p>
        </p:txBody>
      </p:sp>
      <p:sp>
        <p:nvSpPr>
          <p:cNvPr id="602129" name="Rectangle 17"/>
          <p:cNvSpPr>
            <a:spLocks noChangeArrowheads="1"/>
          </p:cNvSpPr>
          <p:nvPr/>
        </p:nvSpPr>
        <p:spPr bwMode="auto">
          <a:xfrm>
            <a:off x="5176838" y="2589213"/>
            <a:ext cx="280987" cy="582612"/>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2130" name="Rectangle 18"/>
          <p:cNvSpPr>
            <a:spLocks noChangeArrowheads="1"/>
          </p:cNvSpPr>
          <p:nvPr/>
        </p:nvSpPr>
        <p:spPr bwMode="auto">
          <a:xfrm>
            <a:off x="7929563" y="2589213"/>
            <a:ext cx="279400" cy="582612"/>
          </a:xfrm>
          <a:prstGeom prst="rect">
            <a:avLst/>
          </a:prstGeom>
          <a:solidFill>
            <a:srgbClr val="7BACDC"/>
          </a:solidFill>
          <a:ln w="17463">
            <a:solidFill>
              <a:srgbClr val="0078C1"/>
            </a:solidFill>
            <a:miter lim="800000"/>
            <a:headEnd/>
            <a:tailEnd/>
          </a:ln>
        </p:spPr>
        <p:txBody>
          <a:bodyPr/>
          <a:lstStyle/>
          <a:p>
            <a:endParaRPr lang="en-US"/>
          </a:p>
        </p:txBody>
      </p:sp>
      <p:sp>
        <p:nvSpPr>
          <p:cNvPr id="602131" name="Rectangle 19"/>
          <p:cNvSpPr>
            <a:spLocks noChangeArrowheads="1"/>
          </p:cNvSpPr>
          <p:nvPr/>
        </p:nvSpPr>
        <p:spPr bwMode="auto">
          <a:xfrm>
            <a:off x="5943600" y="2462213"/>
            <a:ext cx="2368550" cy="852487"/>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2132" name="Line 20"/>
          <p:cNvSpPr>
            <a:spLocks noChangeShapeType="1"/>
          </p:cNvSpPr>
          <p:nvPr/>
        </p:nvSpPr>
        <p:spPr bwMode="auto">
          <a:xfrm>
            <a:off x="5468938" y="2874963"/>
            <a:ext cx="1309687" cy="158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2133" name="Freeform 21"/>
          <p:cNvSpPr>
            <a:spLocks/>
          </p:cNvSpPr>
          <p:nvPr/>
        </p:nvSpPr>
        <p:spPr bwMode="auto">
          <a:xfrm>
            <a:off x="6745288" y="2828925"/>
            <a:ext cx="182562" cy="92075"/>
          </a:xfrm>
          <a:custGeom>
            <a:avLst/>
            <a:gdLst>
              <a:gd name="T0" fmla="*/ 115 w 115"/>
              <a:gd name="T1" fmla="*/ 29 h 58"/>
              <a:gd name="T2" fmla="*/ 0 w 115"/>
              <a:gd name="T3" fmla="*/ 0 h 58"/>
              <a:gd name="T4" fmla="*/ 0 w 115"/>
              <a:gd name="T5" fmla="*/ 58 h 58"/>
              <a:gd name="T6" fmla="*/ 115 w 115"/>
              <a:gd name="T7" fmla="*/ 29 h 58"/>
            </a:gdLst>
            <a:ahLst/>
            <a:cxnLst>
              <a:cxn ang="0">
                <a:pos x="T0" y="T1"/>
              </a:cxn>
              <a:cxn ang="0">
                <a:pos x="T2" y="T3"/>
              </a:cxn>
              <a:cxn ang="0">
                <a:pos x="T4" y="T5"/>
              </a:cxn>
              <a:cxn ang="0">
                <a:pos x="T6" y="T7"/>
              </a:cxn>
            </a:cxnLst>
            <a:rect l="0" t="0" r="r" b="b"/>
            <a:pathLst>
              <a:path w="115" h="58">
                <a:moveTo>
                  <a:pt x="115" y="29"/>
                </a:moveTo>
                <a:lnTo>
                  <a:pt x="0" y="0"/>
                </a:lnTo>
                <a:lnTo>
                  <a:pt x="0" y="58"/>
                </a:lnTo>
                <a:lnTo>
                  <a:pt x="115"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2134" name="Line 22"/>
          <p:cNvSpPr>
            <a:spLocks noChangeShapeType="1"/>
          </p:cNvSpPr>
          <p:nvPr/>
        </p:nvSpPr>
        <p:spPr bwMode="auto">
          <a:xfrm>
            <a:off x="6927850" y="2108200"/>
            <a:ext cx="1588" cy="314325"/>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2135" name="Freeform 23"/>
          <p:cNvSpPr>
            <a:spLocks/>
          </p:cNvSpPr>
          <p:nvPr/>
        </p:nvSpPr>
        <p:spPr bwMode="auto">
          <a:xfrm>
            <a:off x="6881813" y="2387600"/>
            <a:ext cx="92075" cy="184150"/>
          </a:xfrm>
          <a:custGeom>
            <a:avLst/>
            <a:gdLst>
              <a:gd name="T0" fmla="*/ 29 w 58"/>
              <a:gd name="T1" fmla="*/ 116 h 116"/>
              <a:gd name="T2" fmla="*/ 58 w 58"/>
              <a:gd name="T3" fmla="*/ 0 h 116"/>
              <a:gd name="T4" fmla="*/ 0 w 58"/>
              <a:gd name="T5" fmla="*/ 0 h 116"/>
              <a:gd name="T6" fmla="*/ 29 w 58"/>
              <a:gd name="T7" fmla="*/ 116 h 116"/>
            </a:gdLst>
            <a:ahLst/>
            <a:cxnLst>
              <a:cxn ang="0">
                <a:pos x="T0" y="T1"/>
              </a:cxn>
              <a:cxn ang="0">
                <a:pos x="T2" y="T3"/>
              </a:cxn>
              <a:cxn ang="0">
                <a:pos x="T4" y="T5"/>
              </a:cxn>
              <a:cxn ang="0">
                <a:pos x="T6" y="T7"/>
              </a:cxn>
            </a:cxnLst>
            <a:rect l="0" t="0" r="r" b="b"/>
            <a:pathLst>
              <a:path w="58" h="116">
                <a:moveTo>
                  <a:pt x="29" y="116"/>
                </a:moveTo>
                <a:lnTo>
                  <a:pt x="58" y="0"/>
                </a:lnTo>
                <a:lnTo>
                  <a:pt x="0" y="0"/>
                </a:lnTo>
                <a:lnTo>
                  <a:pt x="29"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2136" name="Line 24"/>
          <p:cNvSpPr>
            <a:spLocks noChangeShapeType="1"/>
          </p:cNvSpPr>
          <p:nvPr/>
        </p:nvSpPr>
        <p:spPr bwMode="auto">
          <a:xfrm>
            <a:off x="8061325" y="2108200"/>
            <a:ext cx="1588" cy="314325"/>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2137" name="Freeform 25"/>
          <p:cNvSpPr>
            <a:spLocks/>
          </p:cNvSpPr>
          <p:nvPr/>
        </p:nvSpPr>
        <p:spPr bwMode="auto">
          <a:xfrm>
            <a:off x="8015288" y="2387600"/>
            <a:ext cx="92075" cy="184150"/>
          </a:xfrm>
          <a:custGeom>
            <a:avLst/>
            <a:gdLst>
              <a:gd name="T0" fmla="*/ 29 w 58"/>
              <a:gd name="T1" fmla="*/ 116 h 116"/>
              <a:gd name="T2" fmla="*/ 58 w 58"/>
              <a:gd name="T3" fmla="*/ 0 h 116"/>
              <a:gd name="T4" fmla="*/ 0 w 58"/>
              <a:gd name="T5" fmla="*/ 0 h 116"/>
              <a:gd name="T6" fmla="*/ 29 w 58"/>
              <a:gd name="T7" fmla="*/ 116 h 116"/>
            </a:gdLst>
            <a:ahLst/>
            <a:cxnLst>
              <a:cxn ang="0">
                <a:pos x="T0" y="T1"/>
              </a:cxn>
              <a:cxn ang="0">
                <a:pos x="T2" y="T3"/>
              </a:cxn>
              <a:cxn ang="0">
                <a:pos x="T4" y="T5"/>
              </a:cxn>
              <a:cxn ang="0">
                <a:pos x="T6" y="T7"/>
              </a:cxn>
            </a:cxnLst>
            <a:rect l="0" t="0" r="r" b="b"/>
            <a:pathLst>
              <a:path w="58" h="116">
                <a:moveTo>
                  <a:pt x="29" y="116"/>
                </a:moveTo>
                <a:lnTo>
                  <a:pt x="58" y="0"/>
                </a:lnTo>
                <a:lnTo>
                  <a:pt x="0" y="0"/>
                </a:lnTo>
                <a:lnTo>
                  <a:pt x="29" y="1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2138" name="Line 26"/>
          <p:cNvSpPr>
            <a:spLocks noChangeShapeType="1"/>
          </p:cNvSpPr>
          <p:nvPr/>
        </p:nvSpPr>
        <p:spPr bwMode="auto">
          <a:xfrm>
            <a:off x="8078788" y="2874963"/>
            <a:ext cx="650875" cy="158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2139" name="Freeform 27"/>
          <p:cNvSpPr>
            <a:spLocks/>
          </p:cNvSpPr>
          <p:nvPr/>
        </p:nvSpPr>
        <p:spPr bwMode="auto">
          <a:xfrm>
            <a:off x="8696325" y="2828925"/>
            <a:ext cx="182563" cy="92075"/>
          </a:xfrm>
          <a:custGeom>
            <a:avLst/>
            <a:gdLst>
              <a:gd name="T0" fmla="*/ 115 w 115"/>
              <a:gd name="T1" fmla="*/ 29 h 58"/>
              <a:gd name="T2" fmla="*/ 0 w 115"/>
              <a:gd name="T3" fmla="*/ 0 h 58"/>
              <a:gd name="T4" fmla="*/ 0 w 115"/>
              <a:gd name="T5" fmla="*/ 58 h 58"/>
              <a:gd name="T6" fmla="*/ 115 w 115"/>
              <a:gd name="T7" fmla="*/ 29 h 58"/>
            </a:gdLst>
            <a:ahLst/>
            <a:cxnLst>
              <a:cxn ang="0">
                <a:pos x="T0" y="T1"/>
              </a:cxn>
              <a:cxn ang="0">
                <a:pos x="T2" y="T3"/>
              </a:cxn>
              <a:cxn ang="0">
                <a:pos x="T4" y="T5"/>
              </a:cxn>
              <a:cxn ang="0">
                <a:pos x="T6" y="T7"/>
              </a:cxn>
            </a:cxnLst>
            <a:rect l="0" t="0" r="r" b="b"/>
            <a:pathLst>
              <a:path w="115" h="58">
                <a:moveTo>
                  <a:pt x="115" y="29"/>
                </a:moveTo>
                <a:lnTo>
                  <a:pt x="0" y="0"/>
                </a:lnTo>
                <a:lnTo>
                  <a:pt x="0" y="58"/>
                </a:lnTo>
                <a:lnTo>
                  <a:pt x="115"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2140" name="Rectangle 28"/>
          <p:cNvSpPr>
            <a:spLocks noChangeArrowheads="1"/>
          </p:cNvSpPr>
          <p:nvPr/>
        </p:nvSpPr>
        <p:spPr bwMode="auto">
          <a:xfrm>
            <a:off x="7874000" y="186055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front</a:t>
            </a:r>
            <a:endParaRPr lang="en-US" altLang="en-US"/>
          </a:p>
        </p:txBody>
      </p:sp>
      <p:sp>
        <p:nvSpPr>
          <p:cNvPr id="602145" name="Rectangle 33"/>
          <p:cNvSpPr>
            <a:spLocks noChangeArrowheads="1"/>
          </p:cNvSpPr>
          <p:nvPr/>
        </p:nvSpPr>
        <p:spPr bwMode="auto">
          <a:xfrm>
            <a:off x="6753225" y="1860550"/>
            <a:ext cx="4032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back</a:t>
            </a:r>
            <a:endParaRPr lang="en-US" altLang="en-US"/>
          </a:p>
        </p:txBody>
      </p:sp>
      <p:sp>
        <p:nvSpPr>
          <p:cNvPr id="602146" name="Rectangle 34"/>
          <p:cNvSpPr>
            <a:spLocks noChangeArrowheads="1"/>
          </p:cNvSpPr>
          <p:nvPr/>
        </p:nvSpPr>
        <p:spPr bwMode="auto">
          <a:xfrm>
            <a:off x="5154613" y="3405188"/>
            <a:ext cx="9112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write items</a:t>
            </a:r>
            <a:endParaRPr lang="en-US" altLang="en-US"/>
          </a:p>
        </p:txBody>
      </p:sp>
      <p:sp>
        <p:nvSpPr>
          <p:cNvPr id="602153" name="Rectangle 41"/>
          <p:cNvSpPr>
            <a:spLocks noChangeArrowheads="1"/>
          </p:cNvSpPr>
          <p:nvPr/>
        </p:nvSpPr>
        <p:spPr bwMode="auto">
          <a:xfrm>
            <a:off x="5154613" y="3611563"/>
            <a:ext cx="86677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to the back</a:t>
            </a:r>
            <a:endParaRPr lang="en-US" altLang="en-US"/>
          </a:p>
        </p:txBody>
      </p:sp>
      <p:sp>
        <p:nvSpPr>
          <p:cNvPr id="602155" name="Rectangle 43"/>
          <p:cNvSpPr>
            <a:spLocks noChangeArrowheads="1"/>
          </p:cNvSpPr>
          <p:nvPr/>
        </p:nvSpPr>
        <p:spPr bwMode="auto">
          <a:xfrm>
            <a:off x="5154613" y="3819525"/>
            <a:ext cx="9842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of the queue</a:t>
            </a:r>
            <a:endParaRPr lang="en-US" altLang="en-US"/>
          </a:p>
        </p:txBody>
      </p:sp>
      <p:sp>
        <p:nvSpPr>
          <p:cNvPr id="602156" name="Rectangle 44"/>
          <p:cNvSpPr>
            <a:spLocks noChangeArrowheads="1"/>
          </p:cNvSpPr>
          <p:nvPr/>
        </p:nvSpPr>
        <p:spPr bwMode="auto">
          <a:xfrm>
            <a:off x="7758113" y="3405188"/>
            <a:ext cx="8175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a:solidFill>
                  <a:srgbClr val="000000"/>
                </a:solidFill>
                <a:latin typeface="Myriad Roman" charset="0"/>
              </a:rPr>
              <a:t>read (and</a:t>
            </a:r>
            <a:endParaRPr lang="en-US" altLang="en-US"/>
          </a:p>
        </p:txBody>
      </p:sp>
      <p:sp>
        <p:nvSpPr>
          <p:cNvPr id="602158" name="Rectangle 46"/>
          <p:cNvSpPr>
            <a:spLocks noChangeArrowheads="1"/>
          </p:cNvSpPr>
          <p:nvPr/>
        </p:nvSpPr>
        <p:spPr bwMode="auto">
          <a:xfrm>
            <a:off x="7758113" y="3611563"/>
            <a:ext cx="11223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remove) items</a:t>
            </a:r>
            <a:endParaRPr lang="en-US" altLang="en-US"/>
          </a:p>
        </p:txBody>
      </p:sp>
      <p:sp>
        <p:nvSpPr>
          <p:cNvPr id="602165" name="Rectangle 53"/>
          <p:cNvSpPr>
            <a:spLocks noChangeArrowheads="1"/>
          </p:cNvSpPr>
          <p:nvPr/>
        </p:nvSpPr>
        <p:spPr bwMode="auto">
          <a:xfrm>
            <a:off x="7758113" y="3819525"/>
            <a:ext cx="9540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from front of</a:t>
            </a:r>
            <a:endParaRPr lang="en-US" altLang="en-US"/>
          </a:p>
        </p:txBody>
      </p:sp>
      <p:sp>
        <p:nvSpPr>
          <p:cNvPr id="602172" name="Rectangle 60"/>
          <p:cNvSpPr>
            <a:spLocks noChangeArrowheads="1"/>
          </p:cNvSpPr>
          <p:nvPr/>
        </p:nvSpPr>
        <p:spPr bwMode="auto">
          <a:xfrm>
            <a:off x="7758113" y="4025900"/>
            <a:ext cx="78740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the queue</a:t>
            </a:r>
            <a:endParaRPr lang="en-US"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Slide Number Placeholder 3"/>
          <p:cNvSpPr>
            <a:spLocks noGrp="1"/>
          </p:cNvSpPr>
          <p:nvPr>
            <p:ph type="sldNum" sz="quarter" idx="10"/>
          </p:nvPr>
        </p:nvSpPr>
        <p:spPr/>
        <p:txBody>
          <a:bodyPr/>
          <a:lstStyle/>
          <a:p>
            <a:fld id="{7CE9AB27-310C-4CED-BAF1-76C8FA88A283}" type="slidenum">
              <a:rPr lang="en-US" altLang="en-US"/>
              <a:pPr/>
              <a:t>84</a:t>
            </a:fld>
            <a:endParaRPr lang="en-US" altLang="en-US"/>
          </a:p>
        </p:txBody>
      </p:sp>
      <p:sp>
        <p:nvSpPr>
          <p:cNvPr id="599042" name="Rectangle 2"/>
          <p:cNvSpPr>
            <a:spLocks noGrp="1" noChangeArrowheads="1"/>
          </p:cNvSpPr>
          <p:nvPr>
            <p:ph type="title"/>
          </p:nvPr>
        </p:nvSpPr>
        <p:spPr/>
        <p:txBody>
          <a:bodyPr/>
          <a:lstStyle/>
          <a:p>
            <a:r>
              <a:rPr lang="en-US" altLang="en-US"/>
              <a:t>Queues</a:t>
            </a:r>
          </a:p>
        </p:txBody>
      </p:sp>
      <p:sp>
        <p:nvSpPr>
          <p:cNvPr id="599043" name="Rectangle 3"/>
          <p:cNvSpPr>
            <a:spLocks noGrp="1" noChangeArrowheads="1"/>
          </p:cNvSpPr>
          <p:nvPr>
            <p:ph type="body" idx="1"/>
          </p:nvPr>
        </p:nvSpPr>
        <p:spPr>
          <a:xfrm>
            <a:off x="228600" y="1219200"/>
            <a:ext cx="4349750" cy="4876800"/>
          </a:xfrm>
        </p:spPr>
        <p:txBody>
          <a:bodyPr/>
          <a:lstStyle/>
          <a:p>
            <a:pPr>
              <a:lnSpc>
                <a:spcPct val="90000"/>
              </a:lnSpc>
            </a:pPr>
            <a:r>
              <a:rPr lang="en-US" altLang="en-US" sz="2000"/>
              <a:t>Queue has addresses, and two pointers: </a:t>
            </a:r>
            <a:r>
              <a:rPr lang="en-US" altLang="en-US" sz="2000" i="1"/>
              <a:t>rear</a:t>
            </a:r>
            <a:r>
              <a:rPr lang="en-US" altLang="en-US" sz="2000"/>
              <a:t> and </a:t>
            </a:r>
            <a:r>
              <a:rPr lang="en-US" altLang="en-US" sz="2000" i="1"/>
              <a:t>front</a:t>
            </a:r>
          </a:p>
          <a:p>
            <a:pPr lvl="1">
              <a:lnSpc>
                <a:spcPct val="90000"/>
              </a:lnSpc>
            </a:pPr>
            <a:r>
              <a:rPr lang="en-US" altLang="en-US" sz="1800"/>
              <a:t>Initially both point to 0</a:t>
            </a:r>
          </a:p>
          <a:p>
            <a:pPr>
              <a:lnSpc>
                <a:spcPct val="90000"/>
              </a:lnSpc>
            </a:pPr>
            <a:r>
              <a:rPr lang="en-US" altLang="en-US" sz="2000"/>
              <a:t>Push (write)</a:t>
            </a:r>
          </a:p>
          <a:p>
            <a:pPr lvl="1">
              <a:lnSpc>
                <a:spcPct val="90000"/>
              </a:lnSpc>
            </a:pPr>
            <a:r>
              <a:rPr lang="en-US" altLang="en-US" sz="1800"/>
              <a:t>Item written to address pointed to by </a:t>
            </a:r>
            <a:r>
              <a:rPr lang="en-US" altLang="en-US" sz="1800" i="1"/>
              <a:t>rear</a:t>
            </a:r>
          </a:p>
          <a:p>
            <a:pPr lvl="1">
              <a:lnSpc>
                <a:spcPct val="90000"/>
              </a:lnSpc>
            </a:pPr>
            <a:r>
              <a:rPr lang="en-US" altLang="en-US" sz="1800" i="1"/>
              <a:t>rear</a:t>
            </a:r>
            <a:r>
              <a:rPr lang="en-US" altLang="en-US" sz="1800"/>
              <a:t> incremented</a:t>
            </a:r>
          </a:p>
          <a:p>
            <a:pPr>
              <a:lnSpc>
                <a:spcPct val="90000"/>
              </a:lnSpc>
            </a:pPr>
            <a:r>
              <a:rPr lang="en-US" altLang="en-US" sz="2000"/>
              <a:t>Pop (read)</a:t>
            </a:r>
          </a:p>
          <a:p>
            <a:pPr lvl="1">
              <a:lnSpc>
                <a:spcPct val="90000"/>
              </a:lnSpc>
            </a:pPr>
            <a:r>
              <a:rPr lang="en-US" altLang="en-US" sz="1800"/>
              <a:t>Item read from address pointed to by </a:t>
            </a:r>
            <a:r>
              <a:rPr lang="en-US" altLang="en-US" sz="1800" i="1"/>
              <a:t>front</a:t>
            </a:r>
          </a:p>
          <a:p>
            <a:pPr lvl="1">
              <a:lnSpc>
                <a:spcPct val="90000"/>
              </a:lnSpc>
            </a:pPr>
            <a:r>
              <a:rPr lang="en-US" altLang="en-US" sz="1800" i="1"/>
              <a:t>front</a:t>
            </a:r>
            <a:r>
              <a:rPr lang="en-US" altLang="en-US" sz="1800"/>
              <a:t> incremented</a:t>
            </a:r>
          </a:p>
          <a:p>
            <a:pPr>
              <a:lnSpc>
                <a:spcPct val="90000"/>
              </a:lnSpc>
            </a:pPr>
            <a:r>
              <a:rPr lang="en-US" altLang="en-US" sz="2000"/>
              <a:t>If front or rear reaches 7, next (incremented) value should be 0 (for a queue with addresses 0 to 7)</a:t>
            </a:r>
          </a:p>
          <a:p>
            <a:pPr lvl="1">
              <a:lnSpc>
                <a:spcPct val="90000"/>
              </a:lnSpc>
            </a:pPr>
            <a:endParaRPr lang="en-US" altLang="en-US" sz="1800"/>
          </a:p>
        </p:txBody>
      </p:sp>
      <p:grpSp>
        <p:nvGrpSpPr>
          <p:cNvPr id="599263" name="Group 223"/>
          <p:cNvGrpSpPr>
            <a:grpSpLocks/>
          </p:cNvGrpSpPr>
          <p:nvPr/>
        </p:nvGrpSpPr>
        <p:grpSpPr bwMode="auto">
          <a:xfrm>
            <a:off x="5064125" y="1065213"/>
            <a:ext cx="3128963" cy="1296987"/>
            <a:chOff x="3190" y="671"/>
            <a:chExt cx="1971" cy="817"/>
          </a:xfrm>
        </p:grpSpPr>
        <p:pic>
          <p:nvPicPr>
            <p:cNvPr id="599172" name="Picture 1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0" y="880"/>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73" name="Picture 1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 y="880"/>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74" name="Picture 1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2" y="880"/>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75" name="Picture 1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 y="880"/>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76" name="Picture 1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6" y="880"/>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77" name="Picture 1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 y="880"/>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78" name="Picture 13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8" y="880"/>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79" name="Picture 1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 y="880"/>
              <a:ext cx="181"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9203" name="Rectangle 163"/>
            <p:cNvSpPr>
              <a:spLocks noChangeArrowheads="1"/>
            </p:cNvSpPr>
            <p:nvPr/>
          </p:nvSpPr>
          <p:spPr bwMode="auto">
            <a:xfrm>
              <a:off x="3190" y="810"/>
              <a:ext cx="1971" cy="533"/>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9206" name="Rectangle 166"/>
            <p:cNvSpPr>
              <a:spLocks noChangeArrowheads="1"/>
            </p:cNvSpPr>
            <p:nvPr/>
          </p:nvSpPr>
          <p:spPr bwMode="auto">
            <a:xfrm>
              <a:off x="4963" y="1354"/>
              <a:ext cx="99"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 f</a:t>
              </a:r>
              <a:endParaRPr lang="en-US" altLang="en-US"/>
            </a:p>
          </p:txBody>
        </p:sp>
        <p:sp>
          <p:nvSpPr>
            <p:cNvPr id="599207" name="Rectangle 167"/>
            <p:cNvSpPr>
              <a:spLocks noChangeArrowheads="1"/>
            </p:cNvSpPr>
            <p:nvPr/>
          </p:nvSpPr>
          <p:spPr bwMode="auto">
            <a:xfrm>
              <a:off x="4981" y="67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0</a:t>
              </a:r>
              <a:endParaRPr lang="en-US" altLang="en-US"/>
            </a:p>
          </p:txBody>
        </p:sp>
        <p:sp>
          <p:nvSpPr>
            <p:cNvPr id="599208" name="Rectangle 168"/>
            <p:cNvSpPr>
              <a:spLocks noChangeArrowheads="1"/>
            </p:cNvSpPr>
            <p:nvPr/>
          </p:nvSpPr>
          <p:spPr bwMode="auto">
            <a:xfrm>
              <a:off x="4747" y="67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a:t>
              </a:r>
              <a:endParaRPr lang="en-US" altLang="en-US"/>
            </a:p>
          </p:txBody>
        </p:sp>
        <p:sp>
          <p:nvSpPr>
            <p:cNvPr id="599209" name="Rectangle 169"/>
            <p:cNvSpPr>
              <a:spLocks noChangeArrowheads="1"/>
            </p:cNvSpPr>
            <p:nvPr/>
          </p:nvSpPr>
          <p:spPr bwMode="auto">
            <a:xfrm>
              <a:off x="4506" y="67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2</a:t>
              </a:r>
              <a:endParaRPr lang="en-US" altLang="en-US"/>
            </a:p>
          </p:txBody>
        </p:sp>
        <p:sp>
          <p:nvSpPr>
            <p:cNvPr id="599210" name="Rectangle 170"/>
            <p:cNvSpPr>
              <a:spLocks noChangeArrowheads="1"/>
            </p:cNvSpPr>
            <p:nvPr/>
          </p:nvSpPr>
          <p:spPr bwMode="auto">
            <a:xfrm>
              <a:off x="4274" y="67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3</a:t>
              </a:r>
              <a:endParaRPr lang="en-US" altLang="en-US"/>
            </a:p>
          </p:txBody>
        </p:sp>
        <p:sp>
          <p:nvSpPr>
            <p:cNvPr id="599211" name="Rectangle 171"/>
            <p:cNvSpPr>
              <a:spLocks noChangeArrowheads="1"/>
            </p:cNvSpPr>
            <p:nvPr/>
          </p:nvSpPr>
          <p:spPr bwMode="auto">
            <a:xfrm>
              <a:off x="4038" y="67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4</a:t>
              </a:r>
              <a:endParaRPr lang="en-US" altLang="en-US"/>
            </a:p>
          </p:txBody>
        </p:sp>
        <p:sp>
          <p:nvSpPr>
            <p:cNvPr id="599212" name="Rectangle 172"/>
            <p:cNvSpPr>
              <a:spLocks noChangeArrowheads="1"/>
            </p:cNvSpPr>
            <p:nvPr/>
          </p:nvSpPr>
          <p:spPr bwMode="auto">
            <a:xfrm>
              <a:off x="3804" y="67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5</a:t>
              </a:r>
              <a:endParaRPr lang="en-US" altLang="en-US"/>
            </a:p>
          </p:txBody>
        </p:sp>
        <p:sp>
          <p:nvSpPr>
            <p:cNvPr id="599213" name="Rectangle 173"/>
            <p:cNvSpPr>
              <a:spLocks noChangeArrowheads="1"/>
            </p:cNvSpPr>
            <p:nvPr/>
          </p:nvSpPr>
          <p:spPr bwMode="auto">
            <a:xfrm>
              <a:off x="3572" y="67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6</a:t>
              </a:r>
              <a:endParaRPr lang="en-US" altLang="en-US"/>
            </a:p>
          </p:txBody>
        </p:sp>
        <p:sp>
          <p:nvSpPr>
            <p:cNvPr id="599214" name="Rectangle 174"/>
            <p:cNvSpPr>
              <a:spLocks noChangeArrowheads="1"/>
            </p:cNvSpPr>
            <p:nvPr/>
          </p:nvSpPr>
          <p:spPr bwMode="auto">
            <a:xfrm>
              <a:off x="3340" y="67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7</a:t>
              </a:r>
              <a:endParaRPr lang="en-US" altLang="en-US"/>
            </a:p>
          </p:txBody>
        </p:sp>
      </p:grpSp>
      <p:grpSp>
        <p:nvGrpSpPr>
          <p:cNvPr id="599264" name="Group 224"/>
          <p:cNvGrpSpPr>
            <a:grpSpLocks/>
          </p:cNvGrpSpPr>
          <p:nvPr/>
        </p:nvGrpSpPr>
        <p:grpSpPr bwMode="auto">
          <a:xfrm>
            <a:off x="4576763" y="2366963"/>
            <a:ext cx="3616325" cy="1296987"/>
            <a:chOff x="2883" y="1491"/>
            <a:chExt cx="2278" cy="817"/>
          </a:xfrm>
        </p:grpSpPr>
        <p:pic>
          <p:nvPicPr>
            <p:cNvPr id="599180" name="Picture 1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0" y="1699"/>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81" name="Picture 14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 y="1699"/>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82" name="Picture 1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2" y="1699"/>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83" name="Picture 1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 y="1699"/>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84" name="Picture 14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6" y="1699"/>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85" name="Picture 14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 y="1699"/>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86" name="Picture 14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8" y="1699"/>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9204" name="Line 164"/>
            <p:cNvSpPr>
              <a:spLocks noChangeShapeType="1"/>
            </p:cNvSpPr>
            <p:nvPr/>
          </p:nvSpPr>
          <p:spPr bwMode="auto">
            <a:xfrm>
              <a:off x="2965" y="1895"/>
              <a:ext cx="118" cy="1"/>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9205" name="Freeform 165"/>
            <p:cNvSpPr>
              <a:spLocks/>
            </p:cNvSpPr>
            <p:nvPr/>
          </p:nvSpPr>
          <p:spPr bwMode="auto">
            <a:xfrm>
              <a:off x="3061" y="1866"/>
              <a:ext cx="115" cy="58"/>
            </a:xfrm>
            <a:custGeom>
              <a:avLst/>
              <a:gdLst>
                <a:gd name="T0" fmla="*/ 115 w 115"/>
                <a:gd name="T1" fmla="*/ 29 h 58"/>
                <a:gd name="T2" fmla="*/ 0 w 115"/>
                <a:gd name="T3" fmla="*/ 0 h 58"/>
                <a:gd name="T4" fmla="*/ 0 w 115"/>
                <a:gd name="T5" fmla="*/ 58 h 58"/>
                <a:gd name="T6" fmla="*/ 115 w 115"/>
                <a:gd name="T7" fmla="*/ 29 h 58"/>
              </a:gdLst>
              <a:ahLst/>
              <a:cxnLst>
                <a:cxn ang="0">
                  <a:pos x="T0" y="T1"/>
                </a:cxn>
                <a:cxn ang="0">
                  <a:pos x="T2" y="T3"/>
                </a:cxn>
                <a:cxn ang="0">
                  <a:pos x="T4" y="T5"/>
                </a:cxn>
                <a:cxn ang="0">
                  <a:pos x="T6" y="T7"/>
                </a:cxn>
              </a:cxnLst>
              <a:rect l="0" t="0" r="r" b="b"/>
              <a:pathLst>
                <a:path w="115" h="58">
                  <a:moveTo>
                    <a:pt x="115" y="29"/>
                  </a:moveTo>
                  <a:lnTo>
                    <a:pt x="0" y="0"/>
                  </a:lnTo>
                  <a:lnTo>
                    <a:pt x="0" y="58"/>
                  </a:lnTo>
                  <a:lnTo>
                    <a:pt x="115"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9215" name="Rectangle 175"/>
            <p:cNvSpPr>
              <a:spLocks noChangeArrowheads="1"/>
            </p:cNvSpPr>
            <p:nvPr/>
          </p:nvSpPr>
          <p:spPr bwMode="auto">
            <a:xfrm>
              <a:off x="4921" y="1709"/>
              <a:ext cx="176" cy="365"/>
            </a:xfrm>
            <a:prstGeom prst="rect">
              <a:avLst/>
            </a:prstGeom>
            <a:solidFill>
              <a:srgbClr val="C7D8F0"/>
            </a:solidFill>
            <a:ln w="17463">
              <a:solidFill>
                <a:srgbClr val="0078C1"/>
              </a:solidFill>
              <a:miter lim="800000"/>
              <a:headEnd/>
              <a:tailEnd/>
            </a:ln>
          </p:spPr>
          <p:txBody>
            <a:bodyPr/>
            <a:lstStyle/>
            <a:p>
              <a:endParaRPr lang="en-US"/>
            </a:p>
          </p:txBody>
        </p:sp>
        <p:sp>
          <p:nvSpPr>
            <p:cNvPr id="599216" name="Rectangle 176"/>
            <p:cNvSpPr>
              <a:spLocks noChangeArrowheads="1"/>
            </p:cNvSpPr>
            <p:nvPr/>
          </p:nvSpPr>
          <p:spPr bwMode="auto">
            <a:xfrm>
              <a:off x="3190" y="1630"/>
              <a:ext cx="1971" cy="534"/>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9217" name="Rectangle 177"/>
            <p:cNvSpPr>
              <a:spLocks noChangeArrowheads="1"/>
            </p:cNvSpPr>
            <p:nvPr/>
          </p:nvSpPr>
          <p:spPr bwMode="auto">
            <a:xfrm>
              <a:off x="4994" y="2174"/>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f</a:t>
              </a:r>
              <a:endParaRPr lang="en-US" altLang="en-US"/>
            </a:p>
          </p:txBody>
        </p:sp>
        <p:sp>
          <p:nvSpPr>
            <p:cNvPr id="599218" name="Rectangle 178"/>
            <p:cNvSpPr>
              <a:spLocks noChangeArrowheads="1"/>
            </p:cNvSpPr>
            <p:nvPr/>
          </p:nvSpPr>
          <p:spPr bwMode="auto">
            <a:xfrm>
              <a:off x="4763" y="2174"/>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a:t>
              </a:r>
              <a:endParaRPr lang="en-US" altLang="en-US"/>
            </a:p>
          </p:txBody>
        </p:sp>
        <p:sp>
          <p:nvSpPr>
            <p:cNvPr id="599219" name="Rectangle 179"/>
            <p:cNvSpPr>
              <a:spLocks noChangeArrowheads="1"/>
            </p:cNvSpPr>
            <p:nvPr/>
          </p:nvSpPr>
          <p:spPr bwMode="auto">
            <a:xfrm>
              <a:off x="4981" y="14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0</a:t>
              </a:r>
              <a:endParaRPr lang="en-US" altLang="en-US"/>
            </a:p>
          </p:txBody>
        </p:sp>
        <p:sp>
          <p:nvSpPr>
            <p:cNvPr id="599220" name="Rectangle 180"/>
            <p:cNvSpPr>
              <a:spLocks noChangeArrowheads="1"/>
            </p:cNvSpPr>
            <p:nvPr/>
          </p:nvSpPr>
          <p:spPr bwMode="auto">
            <a:xfrm>
              <a:off x="4975" y="1817"/>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a:t>
              </a:r>
              <a:endParaRPr lang="en-US" altLang="en-US"/>
            </a:p>
          </p:txBody>
        </p:sp>
        <p:sp>
          <p:nvSpPr>
            <p:cNvPr id="599221" name="Rectangle 181"/>
            <p:cNvSpPr>
              <a:spLocks noChangeArrowheads="1"/>
            </p:cNvSpPr>
            <p:nvPr/>
          </p:nvSpPr>
          <p:spPr bwMode="auto">
            <a:xfrm>
              <a:off x="4747" y="14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a:t>
              </a:r>
              <a:endParaRPr lang="en-US" altLang="en-US"/>
            </a:p>
          </p:txBody>
        </p:sp>
        <p:sp>
          <p:nvSpPr>
            <p:cNvPr id="599222" name="Rectangle 182"/>
            <p:cNvSpPr>
              <a:spLocks noChangeArrowheads="1"/>
            </p:cNvSpPr>
            <p:nvPr/>
          </p:nvSpPr>
          <p:spPr bwMode="auto">
            <a:xfrm>
              <a:off x="4506" y="14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2</a:t>
              </a:r>
              <a:endParaRPr lang="en-US" altLang="en-US"/>
            </a:p>
          </p:txBody>
        </p:sp>
        <p:sp>
          <p:nvSpPr>
            <p:cNvPr id="599223" name="Rectangle 183"/>
            <p:cNvSpPr>
              <a:spLocks noChangeArrowheads="1"/>
            </p:cNvSpPr>
            <p:nvPr/>
          </p:nvSpPr>
          <p:spPr bwMode="auto">
            <a:xfrm>
              <a:off x="4274" y="14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3</a:t>
              </a:r>
              <a:endParaRPr lang="en-US" altLang="en-US"/>
            </a:p>
          </p:txBody>
        </p:sp>
        <p:sp>
          <p:nvSpPr>
            <p:cNvPr id="599224" name="Rectangle 184"/>
            <p:cNvSpPr>
              <a:spLocks noChangeArrowheads="1"/>
            </p:cNvSpPr>
            <p:nvPr/>
          </p:nvSpPr>
          <p:spPr bwMode="auto">
            <a:xfrm>
              <a:off x="4038" y="14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4</a:t>
              </a:r>
              <a:endParaRPr lang="en-US" altLang="en-US"/>
            </a:p>
          </p:txBody>
        </p:sp>
        <p:sp>
          <p:nvSpPr>
            <p:cNvPr id="599225" name="Rectangle 185"/>
            <p:cNvSpPr>
              <a:spLocks noChangeArrowheads="1"/>
            </p:cNvSpPr>
            <p:nvPr/>
          </p:nvSpPr>
          <p:spPr bwMode="auto">
            <a:xfrm>
              <a:off x="3804" y="14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5</a:t>
              </a:r>
              <a:endParaRPr lang="en-US" altLang="en-US"/>
            </a:p>
          </p:txBody>
        </p:sp>
        <p:sp>
          <p:nvSpPr>
            <p:cNvPr id="599226" name="Rectangle 186"/>
            <p:cNvSpPr>
              <a:spLocks noChangeArrowheads="1"/>
            </p:cNvSpPr>
            <p:nvPr/>
          </p:nvSpPr>
          <p:spPr bwMode="auto">
            <a:xfrm>
              <a:off x="3572" y="14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6</a:t>
              </a:r>
              <a:endParaRPr lang="en-US" altLang="en-US"/>
            </a:p>
          </p:txBody>
        </p:sp>
        <p:sp>
          <p:nvSpPr>
            <p:cNvPr id="599227" name="Rectangle 187"/>
            <p:cNvSpPr>
              <a:spLocks noChangeArrowheads="1"/>
            </p:cNvSpPr>
            <p:nvPr/>
          </p:nvSpPr>
          <p:spPr bwMode="auto">
            <a:xfrm>
              <a:off x="3340" y="1491"/>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7</a:t>
              </a:r>
              <a:endParaRPr lang="en-US" altLang="en-US"/>
            </a:p>
          </p:txBody>
        </p:sp>
        <p:sp>
          <p:nvSpPr>
            <p:cNvPr id="599228" name="Rectangle 188"/>
            <p:cNvSpPr>
              <a:spLocks noChangeArrowheads="1"/>
            </p:cNvSpPr>
            <p:nvPr/>
          </p:nvSpPr>
          <p:spPr bwMode="auto">
            <a:xfrm>
              <a:off x="2883" y="1830"/>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a:t>
              </a:r>
              <a:endParaRPr lang="en-US" altLang="en-US"/>
            </a:p>
          </p:txBody>
        </p:sp>
      </p:grpSp>
      <p:grpSp>
        <p:nvGrpSpPr>
          <p:cNvPr id="599265" name="Group 225"/>
          <p:cNvGrpSpPr>
            <a:grpSpLocks/>
          </p:cNvGrpSpPr>
          <p:nvPr/>
        </p:nvGrpSpPr>
        <p:grpSpPr bwMode="auto">
          <a:xfrm>
            <a:off x="4583113" y="3671888"/>
            <a:ext cx="3609975" cy="1296987"/>
            <a:chOff x="2887" y="2313"/>
            <a:chExt cx="2274" cy="817"/>
          </a:xfrm>
        </p:grpSpPr>
        <p:pic>
          <p:nvPicPr>
            <p:cNvPr id="599187" name="Picture 1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0" y="252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88" name="Picture 1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 y="252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89" name="Picture 14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2" y="252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0" name="Picture 1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 y="252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1" name="Picture 15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6" y="252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2" name="Picture 1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 y="252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9229" name="Line 189"/>
            <p:cNvSpPr>
              <a:spLocks noChangeShapeType="1"/>
            </p:cNvSpPr>
            <p:nvPr/>
          </p:nvSpPr>
          <p:spPr bwMode="auto">
            <a:xfrm>
              <a:off x="2965" y="2722"/>
              <a:ext cx="118" cy="1"/>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9230" name="Freeform 190"/>
            <p:cNvSpPr>
              <a:spLocks/>
            </p:cNvSpPr>
            <p:nvPr/>
          </p:nvSpPr>
          <p:spPr bwMode="auto">
            <a:xfrm>
              <a:off x="3061" y="2694"/>
              <a:ext cx="115" cy="57"/>
            </a:xfrm>
            <a:custGeom>
              <a:avLst/>
              <a:gdLst>
                <a:gd name="T0" fmla="*/ 115 w 115"/>
                <a:gd name="T1" fmla="*/ 28 h 57"/>
                <a:gd name="T2" fmla="*/ 0 w 115"/>
                <a:gd name="T3" fmla="*/ 0 h 57"/>
                <a:gd name="T4" fmla="*/ 0 w 115"/>
                <a:gd name="T5" fmla="*/ 57 h 57"/>
                <a:gd name="T6" fmla="*/ 115 w 115"/>
                <a:gd name="T7" fmla="*/ 28 h 57"/>
              </a:gdLst>
              <a:ahLst/>
              <a:cxnLst>
                <a:cxn ang="0">
                  <a:pos x="T0" y="T1"/>
                </a:cxn>
                <a:cxn ang="0">
                  <a:pos x="T2" y="T3"/>
                </a:cxn>
                <a:cxn ang="0">
                  <a:pos x="T4" y="T5"/>
                </a:cxn>
                <a:cxn ang="0">
                  <a:pos x="T6" y="T7"/>
                </a:cxn>
              </a:cxnLst>
              <a:rect l="0" t="0" r="r" b="b"/>
              <a:pathLst>
                <a:path w="115" h="57">
                  <a:moveTo>
                    <a:pt x="115" y="28"/>
                  </a:moveTo>
                  <a:lnTo>
                    <a:pt x="0" y="0"/>
                  </a:lnTo>
                  <a:lnTo>
                    <a:pt x="0" y="57"/>
                  </a:lnTo>
                  <a:lnTo>
                    <a:pt x="115"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9231" name="Rectangle 191"/>
            <p:cNvSpPr>
              <a:spLocks noChangeArrowheads="1"/>
            </p:cNvSpPr>
            <p:nvPr/>
          </p:nvSpPr>
          <p:spPr bwMode="auto">
            <a:xfrm>
              <a:off x="4684" y="2529"/>
              <a:ext cx="176" cy="365"/>
            </a:xfrm>
            <a:prstGeom prst="rect">
              <a:avLst/>
            </a:prstGeom>
            <a:solidFill>
              <a:srgbClr val="C7D8F0"/>
            </a:solidFill>
            <a:ln w="17463">
              <a:solidFill>
                <a:srgbClr val="0078C1"/>
              </a:solidFill>
              <a:miter lim="800000"/>
              <a:headEnd/>
              <a:tailEnd/>
            </a:ln>
          </p:spPr>
          <p:txBody>
            <a:bodyPr/>
            <a:lstStyle/>
            <a:p>
              <a:endParaRPr lang="en-US"/>
            </a:p>
          </p:txBody>
        </p:sp>
        <p:sp>
          <p:nvSpPr>
            <p:cNvPr id="599232" name="Rectangle 192"/>
            <p:cNvSpPr>
              <a:spLocks noChangeArrowheads="1"/>
            </p:cNvSpPr>
            <p:nvPr/>
          </p:nvSpPr>
          <p:spPr bwMode="auto">
            <a:xfrm>
              <a:off x="4921" y="2529"/>
              <a:ext cx="176" cy="365"/>
            </a:xfrm>
            <a:prstGeom prst="rect">
              <a:avLst/>
            </a:prstGeom>
            <a:solidFill>
              <a:srgbClr val="C7D8F0"/>
            </a:solidFill>
            <a:ln w="17463">
              <a:solidFill>
                <a:srgbClr val="0078C1"/>
              </a:solidFill>
              <a:miter lim="800000"/>
              <a:headEnd/>
              <a:tailEnd/>
            </a:ln>
          </p:spPr>
          <p:txBody>
            <a:bodyPr/>
            <a:lstStyle/>
            <a:p>
              <a:endParaRPr lang="en-US"/>
            </a:p>
          </p:txBody>
        </p:sp>
        <p:sp>
          <p:nvSpPr>
            <p:cNvPr id="599233" name="Rectangle 193"/>
            <p:cNvSpPr>
              <a:spLocks noChangeArrowheads="1"/>
            </p:cNvSpPr>
            <p:nvPr/>
          </p:nvSpPr>
          <p:spPr bwMode="auto">
            <a:xfrm>
              <a:off x="3190" y="2450"/>
              <a:ext cx="1971" cy="534"/>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99234" name="Rectangle 194"/>
            <p:cNvSpPr>
              <a:spLocks noChangeArrowheads="1"/>
            </p:cNvSpPr>
            <p:nvPr/>
          </p:nvSpPr>
          <p:spPr bwMode="auto">
            <a:xfrm>
              <a:off x="4994" y="2996"/>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f</a:t>
              </a:r>
              <a:endParaRPr lang="en-US" altLang="en-US"/>
            </a:p>
          </p:txBody>
        </p:sp>
        <p:sp>
          <p:nvSpPr>
            <p:cNvPr id="599235" name="Rectangle 195"/>
            <p:cNvSpPr>
              <a:spLocks noChangeArrowheads="1"/>
            </p:cNvSpPr>
            <p:nvPr/>
          </p:nvSpPr>
          <p:spPr bwMode="auto">
            <a:xfrm>
              <a:off x="4519" y="2996"/>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a:t>
              </a:r>
              <a:endParaRPr lang="en-US" altLang="en-US"/>
            </a:p>
          </p:txBody>
        </p:sp>
        <p:sp>
          <p:nvSpPr>
            <p:cNvPr id="599236" name="Rectangle 196"/>
            <p:cNvSpPr>
              <a:spLocks noChangeArrowheads="1"/>
            </p:cNvSpPr>
            <p:nvPr/>
          </p:nvSpPr>
          <p:spPr bwMode="auto">
            <a:xfrm>
              <a:off x="4981" y="231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0</a:t>
              </a:r>
              <a:endParaRPr lang="en-US" altLang="en-US"/>
            </a:p>
          </p:txBody>
        </p:sp>
        <p:sp>
          <p:nvSpPr>
            <p:cNvPr id="599237" name="Rectangle 197"/>
            <p:cNvSpPr>
              <a:spLocks noChangeArrowheads="1"/>
            </p:cNvSpPr>
            <p:nvPr/>
          </p:nvSpPr>
          <p:spPr bwMode="auto">
            <a:xfrm>
              <a:off x="4975" y="263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a:t>
              </a:r>
              <a:endParaRPr lang="en-US" altLang="en-US"/>
            </a:p>
          </p:txBody>
        </p:sp>
        <p:sp>
          <p:nvSpPr>
            <p:cNvPr id="599238" name="Rectangle 198"/>
            <p:cNvSpPr>
              <a:spLocks noChangeArrowheads="1"/>
            </p:cNvSpPr>
            <p:nvPr/>
          </p:nvSpPr>
          <p:spPr bwMode="auto">
            <a:xfrm>
              <a:off x="4747" y="2639"/>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B</a:t>
              </a:r>
              <a:endParaRPr lang="en-US" altLang="en-US"/>
            </a:p>
          </p:txBody>
        </p:sp>
        <p:sp>
          <p:nvSpPr>
            <p:cNvPr id="599239" name="Rectangle 199"/>
            <p:cNvSpPr>
              <a:spLocks noChangeArrowheads="1"/>
            </p:cNvSpPr>
            <p:nvPr/>
          </p:nvSpPr>
          <p:spPr bwMode="auto">
            <a:xfrm>
              <a:off x="4747" y="231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a:t>
              </a:r>
              <a:endParaRPr lang="en-US" altLang="en-US"/>
            </a:p>
          </p:txBody>
        </p:sp>
        <p:sp>
          <p:nvSpPr>
            <p:cNvPr id="599240" name="Rectangle 200"/>
            <p:cNvSpPr>
              <a:spLocks noChangeArrowheads="1"/>
            </p:cNvSpPr>
            <p:nvPr/>
          </p:nvSpPr>
          <p:spPr bwMode="auto">
            <a:xfrm>
              <a:off x="4506" y="231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2</a:t>
              </a:r>
              <a:endParaRPr lang="en-US" altLang="en-US"/>
            </a:p>
          </p:txBody>
        </p:sp>
        <p:sp>
          <p:nvSpPr>
            <p:cNvPr id="599241" name="Rectangle 201"/>
            <p:cNvSpPr>
              <a:spLocks noChangeArrowheads="1"/>
            </p:cNvSpPr>
            <p:nvPr/>
          </p:nvSpPr>
          <p:spPr bwMode="auto">
            <a:xfrm>
              <a:off x="4274" y="231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3</a:t>
              </a:r>
              <a:endParaRPr lang="en-US" altLang="en-US"/>
            </a:p>
          </p:txBody>
        </p:sp>
        <p:sp>
          <p:nvSpPr>
            <p:cNvPr id="599242" name="Rectangle 202"/>
            <p:cNvSpPr>
              <a:spLocks noChangeArrowheads="1"/>
            </p:cNvSpPr>
            <p:nvPr/>
          </p:nvSpPr>
          <p:spPr bwMode="auto">
            <a:xfrm>
              <a:off x="4038" y="231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4</a:t>
              </a:r>
              <a:endParaRPr lang="en-US" altLang="en-US"/>
            </a:p>
          </p:txBody>
        </p:sp>
        <p:sp>
          <p:nvSpPr>
            <p:cNvPr id="599243" name="Rectangle 203"/>
            <p:cNvSpPr>
              <a:spLocks noChangeArrowheads="1"/>
            </p:cNvSpPr>
            <p:nvPr/>
          </p:nvSpPr>
          <p:spPr bwMode="auto">
            <a:xfrm>
              <a:off x="3804" y="231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5</a:t>
              </a:r>
              <a:endParaRPr lang="en-US" altLang="en-US"/>
            </a:p>
          </p:txBody>
        </p:sp>
        <p:sp>
          <p:nvSpPr>
            <p:cNvPr id="599244" name="Rectangle 204"/>
            <p:cNvSpPr>
              <a:spLocks noChangeArrowheads="1"/>
            </p:cNvSpPr>
            <p:nvPr/>
          </p:nvSpPr>
          <p:spPr bwMode="auto">
            <a:xfrm>
              <a:off x="3572" y="231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6</a:t>
              </a:r>
              <a:endParaRPr lang="en-US" altLang="en-US"/>
            </a:p>
          </p:txBody>
        </p:sp>
        <p:sp>
          <p:nvSpPr>
            <p:cNvPr id="599245" name="Rectangle 205"/>
            <p:cNvSpPr>
              <a:spLocks noChangeArrowheads="1"/>
            </p:cNvSpPr>
            <p:nvPr/>
          </p:nvSpPr>
          <p:spPr bwMode="auto">
            <a:xfrm>
              <a:off x="3340" y="231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7</a:t>
              </a:r>
              <a:endParaRPr lang="en-US" altLang="en-US"/>
            </a:p>
          </p:txBody>
        </p:sp>
        <p:sp>
          <p:nvSpPr>
            <p:cNvPr id="599246" name="Rectangle 206"/>
            <p:cNvSpPr>
              <a:spLocks noChangeArrowheads="1"/>
            </p:cNvSpPr>
            <p:nvPr/>
          </p:nvSpPr>
          <p:spPr bwMode="auto">
            <a:xfrm>
              <a:off x="2887" y="265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B</a:t>
              </a:r>
              <a:endParaRPr lang="en-US" altLang="en-US"/>
            </a:p>
          </p:txBody>
        </p:sp>
      </p:grpSp>
      <p:grpSp>
        <p:nvGrpSpPr>
          <p:cNvPr id="599266" name="Group 226"/>
          <p:cNvGrpSpPr>
            <a:grpSpLocks/>
          </p:cNvGrpSpPr>
          <p:nvPr/>
        </p:nvGrpSpPr>
        <p:grpSpPr bwMode="auto">
          <a:xfrm>
            <a:off x="5064125" y="4972050"/>
            <a:ext cx="3595688" cy="1296988"/>
            <a:chOff x="3190" y="3132"/>
            <a:chExt cx="2265" cy="817"/>
          </a:xfrm>
        </p:grpSpPr>
        <p:pic>
          <p:nvPicPr>
            <p:cNvPr id="599193" name="Picture 15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0"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4" name="Picture 15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5" name="Picture 15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2"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6" name="Picture 15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7" name="Picture 15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6"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8" name="Picture 15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9199" name="Picture 15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 y="3337"/>
              <a:ext cx="181"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99247" name="Rectangle 207"/>
            <p:cNvSpPr>
              <a:spLocks noChangeArrowheads="1"/>
            </p:cNvSpPr>
            <p:nvPr/>
          </p:nvSpPr>
          <p:spPr bwMode="auto">
            <a:xfrm>
              <a:off x="4684" y="3349"/>
              <a:ext cx="176" cy="366"/>
            </a:xfrm>
            <a:prstGeom prst="rect">
              <a:avLst/>
            </a:prstGeom>
            <a:solidFill>
              <a:srgbClr val="C7D8F0"/>
            </a:solidFill>
            <a:ln w="17463">
              <a:solidFill>
                <a:srgbClr val="0078C1"/>
              </a:solidFill>
              <a:miter lim="800000"/>
              <a:headEnd/>
              <a:tailEnd/>
            </a:ln>
          </p:spPr>
          <p:txBody>
            <a:bodyPr/>
            <a:lstStyle/>
            <a:p>
              <a:endParaRPr lang="en-US"/>
            </a:p>
          </p:txBody>
        </p:sp>
        <p:sp>
          <p:nvSpPr>
            <p:cNvPr id="599248" name="Rectangle 208"/>
            <p:cNvSpPr>
              <a:spLocks noChangeArrowheads="1"/>
            </p:cNvSpPr>
            <p:nvPr/>
          </p:nvSpPr>
          <p:spPr bwMode="auto">
            <a:xfrm>
              <a:off x="4761" y="3815"/>
              <a:ext cx="31"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f</a:t>
              </a:r>
              <a:endParaRPr lang="en-US" altLang="en-US"/>
            </a:p>
          </p:txBody>
        </p:sp>
        <p:sp>
          <p:nvSpPr>
            <p:cNvPr id="599249" name="Rectangle 209"/>
            <p:cNvSpPr>
              <a:spLocks noChangeArrowheads="1"/>
            </p:cNvSpPr>
            <p:nvPr/>
          </p:nvSpPr>
          <p:spPr bwMode="auto">
            <a:xfrm>
              <a:off x="4519" y="3815"/>
              <a:ext cx="37"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a:t>
              </a:r>
              <a:endParaRPr lang="en-US" altLang="en-US"/>
            </a:p>
          </p:txBody>
        </p:sp>
        <p:sp>
          <p:nvSpPr>
            <p:cNvPr id="599250" name="Rectangle 210"/>
            <p:cNvSpPr>
              <a:spLocks noChangeArrowheads="1"/>
            </p:cNvSpPr>
            <p:nvPr/>
          </p:nvSpPr>
          <p:spPr bwMode="auto">
            <a:xfrm>
              <a:off x="4981" y="313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0</a:t>
              </a:r>
              <a:endParaRPr lang="en-US" altLang="en-US"/>
            </a:p>
          </p:txBody>
        </p:sp>
        <p:sp>
          <p:nvSpPr>
            <p:cNvPr id="599251" name="Rectangle 211"/>
            <p:cNvSpPr>
              <a:spLocks noChangeArrowheads="1"/>
            </p:cNvSpPr>
            <p:nvPr/>
          </p:nvSpPr>
          <p:spPr bwMode="auto">
            <a:xfrm>
              <a:off x="4747" y="345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B</a:t>
              </a:r>
              <a:endParaRPr lang="en-US" altLang="en-US"/>
            </a:p>
          </p:txBody>
        </p:sp>
        <p:sp>
          <p:nvSpPr>
            <p:cNvPr id="599252" name="Rectangle 212"/>
            <p:cNvSpPr>
              <a:spLocks noChangeArrowheads="1"/>
            </p:cNvSpPr>
            <p:nvPr/>
          </p:nvSpPr>
          <p:spPr bwMode="auto">
            <a:xfrm>
              <a:off x="4747" y="313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a:t>
              </a:r>
              <a:endParaRPr lang="en-US" altLang="en-US"/>
            </a:p>
          </p:txBody>
        </p:sp>
        <p:sp>
          <p:nvSpPr>
            <p:cNvPr id="599253" name="Rectangle 213"/>
            <p:cNvSpPr>
              <a:spLocks noChangeArrowheads="1"/>
            </p:cNvSpPr>
            <p:nvPr/>
          </p:nvSpPr>
          <p:spPr bwMode="auto">
            <a:xfrm>
              <a:off x="4506" y="313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2</a:t>
              </a:r>
              <a:endParaRPr lang="en-US" altLang="en-US"/>
            </a:p>
          </p:txBody>
        </p:sp>
        <p:sp>
          <p:nvSpPr>
            <p:cNvPr id="599254" name="Rectangle 214"/>
            <p:cNvSpPr>
              <a:spLocks noChangeArrowheads="1"/>
            </p:cNvSpPr>
            <p:nvPr/>
          </p:nvSpPr>
          <p:spPr bwMode="auto">
            <a:xfrm>
              <a:off x="4274" y="313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3</a:t>
              </a:r>
              <a:endParaRPr lang="en-US" altLang="en-US"/>
            </a:p>
          </p:txBody>
        </p:sp>
        <p:sp>
          <p:nvSpPr>
            <p:cNvPr id="599255" name="Rectangle 215"/>
            <p:cNvSpPr>
              <a:spLocks noChangeArrowheads="1"/>
            </p:cNvSpPr>
            <p:nvPr/>
          </p:nvSpPr>
          <p:spPr bwMode="auto">
            <a:xfrm>
              <a:off x="4038" y="313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4</a:t>
              </a:r>
              <a:endParaRPr lang="en-US" altLang="en-US"/>
            </a:p>
          </p:txBody>
        </p:sp>
        <p:sp>
          <p:nvSpPr>
            <p:cNvPr id="599256" name="Rectangle 216"/>
            <p:cNvSpPr>
              <a:spLocks noChangeArrowheads="1"/>
            </p:cNvSpPr>
            <p:nvPr/>
          </p:nvSpPr>
          <p:spPr bwMode="auto">
            <a:xfrm>
              <a:off x="3804" y="313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5</a:t>
              </a:r>
              <a:endParaRPr lang="en-US" altLang="en-US"/>
            </a:p>
          </p:txBody>
        </p:sp>
        <p:sp>
          <p:nvSpPr>
            <p:cNvPr id="599257" name="Rectangle 217"/>
            <p:cNvSpPr>
              <a:spLocks noChangeArrowheads="1"/>
            </p:cNvSpPr>
            <p:nvPr/>
          </p:nvSpPr>
          <p:spPr bwMode="auto">
            <a:xfrm>
              <a:off x="3572" y="313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6</a:t>
              </a:r>
              <a:endParaRPr lang="en-US" altLang="en-US"/>
            </a:p>
          </p:txBody>
        </p:sp>
        <p:sp>
          <p:nvSpPr>
            <p:cNvPr id="599258" name="Rectangle 218"/>
            <p:cNvSpPr>
              <a:spLocks noChangeArrowheads="1"/>
            </p:cNvSpPr>
            <p:nvPr/>
          </p:nvSpPr>
          <p:spPr bwMode="auto">
            <a:xfrm>
              <a:off x="3340" y="3132"/>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7</a:t>
              </a:r>
              <a:endParaRPr lang="en-US" altLang="en-US"/>
            </a:p>
          </p:txBody>
        </p:sp>
        <p:sp>
          <p:nvSpPr>
            <p:cNvPr id="599259" name="Line 219"/>
            <p:cNvSpPr>
              <a:spLocks noChangeShapeType="1"/>
            </p:cNvSpPr>
            <p:nvPr/>
          </p:nvSpPr>
          <p:spPr bwMode="auto">
            <a:xfrm>
              <a:off x="5161" y="3543"/>
              <a:ext cx="118" cy="1"/>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599260" name="Freeform 220"/>
            <p:cNvSpPr>
              <a:spLocks/>
            </p:cNvSpPr>
            <p:nvPr/>
          </p:nvSpPr>
          <p:spPr bwMode="auto">
            <a:xfrm>
              <a:off x="5258" y="3514"/>
              <a:ext cx="114" cy="57"/>
            </a:xfrm>
            <a:custGeom>
              <a:avLst/>
              <a:gdLst>
                <a:gd name="T0" fmla="*/ 114 w 114"/>
                <a:gd name="T1" fmla="*/ 29 h 57"/>
                <a:gd name="T2" fmla="*/ 0 w 114"/>
                <a:gd name="T3" fmla="*/ 0 h 57"/>
                <a:gd name="T4" fmla="*/ 0 w 114"/>
                <a:gd name="T5" fmla="*/ 57 h 57"/>
                <a:gd name="T6" fmla="*/ 114 w 114"/>
                <a:gd name="T7" fmla="*/ 29 h 57"/>
              </a:gdLst>
              <a:ahLst/>
              <a:cxnLst>
                <a:cxn ang="0">
                  <a:pos x="T0" y="T1"/>
                </a:cxn>
                <a:cxn ang="0">
                  <a:pos x="T2" y="T3"/>
                </a:cxn>
                <a:cxn ang="0">
                  <a:pos x="T4" y="T5"/>
                </a:cxn>
                <a:cxn ang="0">
                  <a:pos x="T6" y="T7"/>
                </a:cxn>
              </a:cxnLst>
              <a:rect l="0" t="0" r="r" b="b"/>
              <a:pathLst>
                <a:path w="114" h="57">
                  <a:moveTo>
                    <a:pt x="114" y="29"/>
                  </a:moveTo>
                  <a:lnTo>
                    <a:pt x="0" y="0"/>
                  </a:lnTo>
                  <a:lnTo>
                    <a:pt x="0" y="57"/>
                  </a:lnTo>
                  <a:lnTo>
                    <a:pt x="11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99261" name="Rectangle 221"/>
            <p:cNvSpPr>
              <a:spLocks noChangeArrowheads="1"/>
            </p:cNvSpPr>
            <p:nvPr/>
          </p:nvSpPr>
          <p:spPr bwMode="auto">
            <a:xfrm>
              <a:off x="5380" y="3478"/>
              <a:ext cx="7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a:t>
              </a:r>
              <a:endParaRPr lang="en-US" altLang="en-US"/>
            </a:p>
          </p:txBody>
        </p:sp>
        <p:sp>
          <p:nvSpPr>
            <p:cNvPr id="599262" name="Rectangle 222"/>
            <p:cNvSpPr>
              <a:spLocks noChangeArrowheads="1"/>
            </p:cNvSpPr>
            <p:nvPr/>
          </p:nvSpPr>
          <p:spPr bwMode="auto">
            <a:xfrm>
              <a:off x="3190" y="3271"/>
              <a:ext cx="1971" cy="533"/>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599267" name="Text Box 227"/>
          <p:cNvSpPr txBox="1">
            <a:spLocks noChangeArrowheads="1"/>
          </p:cNvSpPr>
          <p:nvPr/>
        </p:nvSpPr>
        <p:spPr bwMode="auto">
          <a:xfrm>
            <a:off x="8574088" y="292576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99268" name="Text Box 228"/>
          <p:cNvSpPr txBox="1">
            <a:spLocks noChangeArrowheads="1"/>
          </p:cNvSpPr>
          <p:nvPr/>
        </p:nvSpPr>
        <p:spPr bwMode="auto">
          <a:xfrm>
            <a:off x="8539163" y="416560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599269" name="Text Box 229"/>
          <p:cNvSpPr txBox="1">
            <a:spLocks noChangeArrowheads="1"/>
          </p:cNvSpPr>
          <p:nvPr/>
        </p:nvSpPr>
        <p:spPr bwMode="auto">
          <a:xfrm>
            <a:off x="8551863" y="519906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9926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9926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599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lide Number Placeholder 3"/>
          <p:cNvSpPr>
            <a:spLocks noGrp="1"/>
          </p:cNvSpPr>
          <p:nvPr>
            <p:ph type="sldNum" sz="quarter" idx="10"/>
          </p:nvPr>
        </p:nvSpPr>
        <p:spPr/>
        <p:txBody>
          <a:bodyPr/>
          <a:lstStyle/>
          <a:p>
            <a:fld id="{FD20B8AE-F3E8-4F15-BAF3-30B5DFE3A657}" type="slidenum">
              <a:rPr lang="en-US" altLang="en-US"/>
              <a:pPr/>
              <a:t>85</a:t>
            </a:fld>
            <a:endParaRPr lang="en-US" altLang="en-US"/>
          </a:p>
        </p:txBody>
      </p:sp>
      <p:sp>
        <p:nvSpPr>
          <p:cNvPr id="603138" name="Rectangle 2"/>
          <p:cNvSpPr>
            <a:spLocks noGrp="1" noChangeArrowheads="1"/>
          </p:cNvSpPr>
          <p:nvPr>
            <p:ph type="title"/>
          </p:nvPr>
        </p:nvSpPr>
        <p:spPr/>
        <p:txBody>
          <a:bodyPr/>
          <a:lstStyle/>
          <a:p>
            <a:r>
              <a:rPr lang="en-US" altLang="en-US"/>
              <a:t>Queues</a:t>
            </a:r>
          </a:p>
        </p:txBody>
      </p:sp>
      <p:sp>
        <p:nvSpPr>
          <p:cNvPr id="603139" name="Rectangle 3"/>
          <p:cNvSpPr>
            <a:spLocks noGrp="1" noChangeArrowheads="1"/>
          </p:cNvSpPr>
          <p:nvPr>
            <p:ph type="body" idx="1"/>
          </p:nvPr>
        </p:nvSpPr>
        <p:spPr>
          <a:xfrm>
            <a:off x="228600" y="1219200"/>
            <a:ext cx="5527675" cy="4876800"/>
          </a:xfrm>
        </p:spPr>
        <p:txBody>
          <a:bodyPr/>
          <a:lstStyle/>
          <a:p>
            <a:pPr>
              <a:lnSpc>
                <a:spcPct val="90000"/>
              </a:lnSpc>
            </a:pPr>
            <a:r>
              <a:rPr lang="en-US" altLang="en-US" sz="2000"/>
              <a:t>Treat memory as a circle</a:t>
            </a:r>
          </a:p>
          <a:p>
            <a:pPr lvl="1">
              <a:lnSpc>
                <a:spcPct val="90000"/>
              </a:lnSpc>
            </a:pPr>
            <a:r>
              <a:rPr lang="en-US" altLang="en-US" sz="1800"/>
              <a:t>If front or rear reaches 7, next (incremented) value should be 0 rather than 8 (for a queue with addresses 0 to 7)</a:t>
            </a:r>
          </a:p>
          <a:p>
            <a:pPr>
              <a:lnSpc>
                <a:spcPct val="90000"/>
              </a:lnSpc>
            </a:pPr>
            <a:r>
              <a:rPr lang="en-US" altLang="en-US" sz="2000"/>
              <a:t>Two conditions of interest</a:t>
            </a:r>
          </a:p>
          <a:p>
            <a:pPr lvl="1">
              <a:lnSpc>
                <a:spcPct val="90000"/>
              </a:lnSpc>
            </a:pPr>
            <a:r>
              <a:rPr lang="en-US" altLang="en-US" sz="1800"/>
              <a:t>Full queue – no room for more items</a:t>
            </a:r>
          </a:p>
          <a:p>
            <a:pPr lvl="2">
              <a:lnSpc>
                <a:spcPct val="90000"/>
              </a:lnSpc>
            </a:pPr>
            <a:r>
              <a:rPr lang="en-US" altLang="en-US" sz="1600"/>
              <a:t>In 8-entry queue, means 8 items present</a:t>
            </a:r>
          </a:p>
          <a:p>
            <a:pPr lvl="2">
              <a:lnSpc>
                <a:spcPct val="90000"/>
              </a:lnSpc>
            </a:pPr>
            <a:r>
              <a:rPr lang="en-US" altLang="en-US" sz="1600"/>
              <a:t>No further pushes allowed until a pop occurs</a:t>
            </a:r>
          </a:p>
          <a:p>
            <a:pPr lvl="2">
              <a:lnSpc>
                <a:spcPct val="90000"/>
              </a:lnSpc>
            </a:pPr>
            <a:r>
              <a:rPr lang="en-US" altLang="en-US" sz="1600"/>
              <a:t>Causes front=rear</a:t>
            </a:r>
          </a:p>
          <a:p>
            <a:pPr lvl="1">
              <a:lnSpc>
                <a:spcPct val="90000"/>
              </a:lnSpc>
            </a:pPr>
            <a:r>
              <a:rPr lang="en-US" altLang="en-US" sz="1800"/>
              <a:t>Empty queue – no items</a:t>
            </a:r>
          </a:p>
          <a:p>
            <a:pPr lvl="2">
              <a:lnSpc>
                <a:spcPct val="90000"/>
              </a:lnSpc>
            </a:pPr>
            <a:r>
              <a:rPr lang="en-US" altLang="en-US" sz="1600"/>
              <a:t>No pops allowed until a push occurs</a:t>
            </a:r>
          </a:p>
          <a:p>
            <a:pPr lvl="2">
              <a:lnSpc>
                <a:spcPct val="90000"/>
              </a:lnSpc>
            </a:pPr>
            <a:r>
              <a:rPr lang="en-US" altLang="en-US" sz="1600"/>
              <a:t>Causes front=rear</a:t>
            </a:r>
          </a:p>
          <a:p>
            <a:pPr lvl="1">
              <a:lnSpc>
                <a:spcPct val="90000"/>
              </a:lnSpc>
            </a:pPr>
            <a:r>
              <a:rPr lang="en-US" altLang="en-US" sz="1800"/>
              <a:t>Both conditions have front=rear</a:t>
            </a:r>
          </a:p>
          <a:p>
            <a:pPr lvl="2">
              <a:lnSpc>
                <a:spcPct val="90000"/>
              </a:lnSpc>
            </a:pPr>
            <a:r>
              <a:rPr lang="en-US" altLang="en-US" sz="1600"/>
              <a:t>To detect whether front=rear means full or empty, need state machine that detects if previous operation was push or pop, sets full or empty output signal (respectively)</a:t>
            </a:r>
          </a:p>
          <a:p>
            <a:pPr>
              <a:lnSpc>
                <a:spcPct val="90000"/>
              </a:lnSpc>
            </a:pPr>
            <a:endParaRPr lang="en-US" altLang="en-US" sz="2000"/>
          </a:p>
          <a:p>
            <a:pPr lvl="1">
              <a:lnSpc>
                <a:spcPct val="90000"/>
              </a:lnSpc>
            </a:pPr>
            <a:endParaRPr lang="en-US" altLang="en-US" sz="1800"/>
          </a:p>
        </p:txBody>
      </p:sp>
      <p:grpSp>
        <p:nvGrpSpPr>
          <p:cNvPr id="603190" name="Group 54"/>
          <p:cNvGrpSpPr>
            <a:grpSpLocks/>
          </p:cNvGrpSpPr>
          <p:nvPr/>
        </p:nvGrpSpPr>
        <p:grpSpPr bwMode="auto">
          <a:xfrm>
            <a:off x="5630863" y="1322388"/>
            <a:ext cx="3403600" cy="1238250"/>
            <a:chOff x="3190" y="3132"/>
            <a:chExt cx="2269" cy="825"/>
          </a:xfrm>
        </p:grpSpPr>
        <p:pic>
          <p:nvPicPr>
            <p:cNvPr id="603167" name="Picture 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0"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168" name="Picture 3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169" name="Picture 3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2"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170" name="Picture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9"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171" name="Picture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6"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172" name="Picture 3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 y="3333"/>
              <a:ext cx="182"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173" name="Picture 3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 y="3337"/>
              <a:ext cx="181"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3174" name="Rectangle 38"/>
            <p:cNvSpPr>
              <a:spLocks noChangeArrowheads="1"/>
            </p:cNvSpPr>
            <p:nvPr/>
          </p:nvSpPr>
          <p:spPr bwMode="auto">
            <a:xfrm>
              <a:off x="4684" y="3349"/>
              <a:ext cx="176" cy="366"/>
            </a:xfrm>
            <a:prstGeom prst="rect">
              <a:avLst/>
            </a:prstGeom>
            <a:solidFill>
              <a:srgbClr val="C7D8F0"/>
            </a:solidFill>
            <a:ln w="17463">
              <a:solidFill>
                <a:srgbClr val="0078C1"/>
              </a:solidFill>
              <a:miter lim="800000"/>
              <a:headEnd/>
              <a:tailEnd/>
            </a:ln>
          </p:spPr>
          <p:txBody>
            <a:bodyPr/>
            <a:lstStyle/>
            <a:p>
              <a:endParaRPr lang="en-US"/>
            </a:p>
          </p:txBody>
        </p:sp>
        <p:sp>
          <p:nvSpPr>
            <p:cNvPr id="603175" name="Rectangle 39"/>
            <p:cNvSpPr>
              <a:spLocks noChangeArrowheads="1"/>
            </p:cNvSpPr>
            <p:nvPr/>
          </p:nvSpPr>
          <p:spPr bwMode="auto">
            <a:xfrm>
              <a:off x="4761" y="3815"/>
              <a:ext cx="3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f</a:t>
              </a:r>
              <a:endParaRPr lang="en-US" altLang="en-US"/>
            </a:p>
          </p:txBody>
        </p:sp>
        <p:sp>
          <p:nvSpPr>
            <p:cNvPr id="603176" name="Rectangle 40"/>
            <p:cNvSpPr>
              <a:spLocks noChangeArrowheads="1"/>
            </p:cNvSpPr>
            <p:nvPr/>
          </p:nvSpPr>
          <p:spPr bwMode="auto">
            <a:xfrm>
              <a:off x="4519" y="3815"/>
              <a:ext cx="39" cy="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a:t>
              </a:r>
              <a:endParaRPr lang="en-US" altLang="en-US"/>
            </a:p>
          </p:txBody>
        </p:sp>
        <p:sp>
          <p:nvSpPr>
            <p:cNvPr id="603177" name="Rectangle 41"/>
            <p:cNvSpPr>
              <a:spLocks noChangeArrowheads="1"/>
            </p:cNvSpPr>
            <p:nvPr/>
          </p:nvSpPr>
          <p:spPr bwMode="auto">
            <a:xfrm>
              <a:off x="4981" y="3132"/>
              <a:ext cx="6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0</a:t>
              </a:r>
              <a:endParaRPr lang="en-US" altLang="en-US"/>
            </a:p>
          </p:txBody>
        </p:sp>
        <p:sp>
          <p:nvSpPr>
            <p:cNvPr id="603178" name="Rectangle 42"/>
            <p:cNvSpPr>
              <a:spLocks noChangeArrowheads="1"/>
            </p:cNvSpPr>
            <p:nvPr/>
          </p:nvSpPr>
          <p:spPr bwMode="auto">
            <a:xfrm>
              <a:off x="4747" y="3458"/>
              <a:ext cx="7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B</a:t>
              </a:r>
              <a:endParaRPr lang="en-US" altLang="en-US"/>
            </a:p>
          </p:txBody>
        </p:sp>
        <p:sp>
          <p:nvSpPr>
            <p:cNvPr id="603179" name="Rectangle 43"/>
            <p:cNvSpPr>
              <a:spLocks noChangeArrowheads="1"/>
            </p:cNvSpPr>
            <p:nvPr/>
          </p:nvSpPr>
          <p:spPr bwMode="auto">
            <a:xfrm>
              <a:off x="4747" y="3132"/>
              <a:ext cx="6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a:t>
              </a:r>
              <a:endParaRPr lang="en-US" altLang="en-US"/>
            </a:p>
          </p:txBody>
        </p:sp>
        <p:sp>
          <p:nvSpPr>
            <p:cNvPr id="603180" name="Rectangle 44"/>
            <p:cNvSpPr>
              <a:spLocks noChangeArrowheads="1"/>
            </p:cNvSpPr>
            <p:nvPr/>
          </p:nvSpPr>
          <p:spPr bwMode="auto">
            <a:xfrm>
              <a:off x="4507" y="3132"/>
              <a:ext cx="6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2</a:t>
              </a:r>
              <a:endParaRPr lang="en-US" altLang="en-US"/>
            </a:p>
          </p:txBody>
        </p:sp>
        <p:sp>
          <p:nvSpPr>
            <p:cNvPr id="603181" name="Rectangle 45"/>
            <p:cNvSpPr>
              <a:spLocks noChangeArrowheads="1"/>
            </p:cNvSpPr>
            <p:nvPr/>
          </p:nvSpPr>
          <p:spPr bwMode="auto">
            <a:xfrm>
              <a:off x="4274" y="3132"/>
              <a:ext cx="6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3</a:t>
              </a:r>
              <a:endParaRPr lang="en-US" altLang="en-US"/>
            </a:p>
          </p:txBody>
        </p:sp>
        <p:sp>
          <p:nvSpPr>
            <p:cNvPr id="603182" name="Rectangle 46"/>
            <p:cNvSpPr>
              <a:spLocks noChangeArrowheads="1"/>
            </p:cNvSpPr>
            <p:nvPr/>
          </p:nvSpPr>
          <p:spPr bwMode="auto">
            <a:xfrm>
              <a:off x="4038" y="3132"/>
              <a:ext cx="6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4</a:t>
              </a:r>
              <a:endParaRPr lang="en-US" altLang="en-US"/>
            </a:p>
          </p:txBody>
        </p:sp>
        <p:sp>
          <p:nvSpPr>
            <p:cNvPr id="603183" name="Rectangle 47"/>
            <p:cNvSpPr>
              <a:spLocks noChangeArrowheads="1"/>
            </p:cNvSpPr>
            <p:nvPr/>
          </p:nvSpPr>
          <p:spPr bwMode="auto">
            <a:xfrm>
              <a:off x="3804" y="3132"/>
              <a:ext cx="65"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5</a:t>
              </a:r>
              <a:endParaRPr lang="en-US" altLang="en-US"/>
            </a:p>
          </p:txBody>
        </p:sp>
        <p:sp>
          <p:nvSpPr>
            <p:cNvPr id="603184" name="Rectangle 48"/>
            <p:cNvSpPr>
              <a:spLocks noChangeArrowheads="1"/>
            </p:cNvSpPr>
            <p:nvPr/>
          </p:nvSpPr>
          <p:spPr bwMode="auto">
            <a:xfrm>
              <a:off x="3572" y="313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6</a:t>
              </a:r>
              <a:endParaRPr lang="en-US" altLang="en-US"/>
            </a:p>
          </p:txBody>
        </p:sp>
        <p:sp>
          <p:nvSpPr>
            <p:cNvPr id="603185" name="Rectangle 49"/>
            <p:cNvSpPr>
              <a:spLocks noChangeArrowheads="1"/>
            </p:cNvSpPr>
            <p:nvPr/>
          </p:nvSpPr>
          <p:spPr bwMode="auto">
            <a:xfrm>
              <a:off x="3340" y="3132"/>
              <a:ext cx="66"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7</a:t>
              </a:r>
              <a:endParaRPr lang="en-US" altLang="en-US"/>
            </a:p>
          </p:txBody>
        </p:sp>
        <p:sp>
          <p:nvSpPr>
            <p:cNvPr id="603186" name="Line 50"/>
            <p:cNvSpPr>
              <a:spLocks noChangeShapeType="1"/>
            </p:cNvSpPr>
            <p:nvPr/>
          </p:nvSpPr>
          <p:spPr bwMode="auto">
            <a:xfrm>
              <a:off x="5161" y="3543"/>
              <a:ext cx="118" cy="1"/>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3187" name="Freeform 51"/>
            <p:cNvSpPr>
              <a:spLocks/>
            </p:cNvSpPr>
            <p:nvPr/>
          </p:nvSpPr>
          <p:spPr bwMode="auto">
            <a:xfrm>
              <a:off x="5258" y="3514"/>
              <a:ext cx="114" cy="57"/>
            </a:xfrm>
            <a:custGeom>
              <a:avLst/>
              <a:gdLst>
                <a:gd name="T0" fmla="*/ 114 w 114"/>
                <a:gd name="T1" fmla="*/ 29 h 57"/>
                <a:gd name="T2" fmla="*/ 0 w 114"/>
                <a:gd name="T3" fmla="*/ 0 h 57"/>
                <a:gd name="T4" fmla="*/ 0 w 114"/>
                <a:gd name="T5" fmla="*/ 57 h 57"/>
                <a:gd name="T6" fmla="*/ 114 w 114"/>
                <a:gd name="T7" fmla="*/ 29 h 57"/>
              </a:gdLst>
              <a:ahLst/>
              <a:cxnLst>
                <a:cxn ang="0">
                  <a:pos x="T0" y="T1"/>
                </a:cxn>
                <a:cxn ang="0">
                  <a:pos x="T2" y="T3"/>
                </a:cxn>
                <a:cxn ang="0">
                  <a:pos x="T4" y="T5"/>
                </a:cxn>
                <a:cxn ang="0">
                  <a:pos x="T6" y="T7"/>
                </a:cxn>
              </a:cxnLst>
              <a:rect l="0" t="0" r="r" b="b"/>
              <a:pathLst>
                <a:path w="114" h="57">
                  <a:moveTo>
                    <a:pt x="114" y="29"/>
                  </a:moveTo>
                  <a:lnTo>
                    <a:pt x="0" y="0"/>
                  </a:lnTo>
                  <a:lnTo>
                    <a:pt x="0" y="57"/>
                  </a:lnTo>
                  <a:lnTo>
                    <a:pt x="11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3188" name="Rectangle 52"/>
            <p:cNvSpPr>
              <a:spLocks noChangeArrowheads="1"/>
            </p:cNvSpPr>
            <p:nvPr/>
          </p:nvSpPr>
          <p:spPr bwMode="auto">
            <a:xfrm>
              <a:off x="5380" y="3478"/>
              <a:ext cx="79"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a:t>
              </a:r>
              <a:endParaRPr lang="en-US" altLang="en-US"/>
            </a:p>
          </p:txBody>
        </p:sp>
        <p:sp>
          <p:nvSpPr>
            <p:cNvPr id="603189" name="Rectangle 53"/>
            <p:cNvSpPr>
              <a:spLocks noChangeArrowheads="1"/>
            </p:cNvSpPr>
            <p:nvPr/>
          </p:nvSpPr>
          <p:spPr bwMode="auto">
            <a:xfrm>
              <a:off x="3190" y="3271"/>
              <a:ext cx="1971" cy="533"/>
            </a:xfrm>
            <a:prstGeom prst="rect">
              <a:avLst/>
            </a:prstGeom>
            <a:noFill/>
            <a:ln w="17463">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grpSp>
        <p:nvGrpSpPr>
          <p:cNvPr id="603220" name="Group 84"/>
          <p:cNvGrpSpPr>
            <a:grpSpLocks/>
          </p:cNvGrpSpPr>
          <p:nvPr/>
        </p:nvGrpSpPr>
        <p:grpSpPr bwMode="auto">
          <a:xfrm>
            <a:off x="5835650" y="2795588"/>
            <a:ext cx="2976563" cy="3151187"/>
            <a:chOff x="3645" y="1738"/>
            <a:chExt cx="2042" cy="2192"/>
          </a:xfrm>
        </p:grpSpPr>
        <p:sp>
          <p:nvSpPr>
            <p:cNvPr id="603198" name="Rectangle 62"/>
            <p:cNvSpPr>
              <a:spLocks noChangeArrowheads="1"/>
            </p:cNvSpPr>
            <p:nvPr/>
          </p:nvSpPr>
          <p:spPr bwMode="auto">
            <a:xfrm>
              <a:off x="4050" y="2130"/>
              <a:ext cx="194" cy="404"/>
            </a:xfrm>
            <a:prstGeom prst="rect">
              <a:avLst/>
            </a:prstGeom>
            <a:solidFill>
              <a:srgbClr val="C7D8F0"/>
            </a:solidFill>
            <a:ln w="19050">
              <a:solidFill>
                <a:srgbClr val="0078C1"/>
              </a:solidFill>
              <a:miter lim="800000"/>
              <a:headEnd/>
              <a:tailEnd/>
            </a:ln>
          </p:spPr>
          <p:txBody>
            <a:bodyPr/>
            <a:lstStyle/>
            <a:p>
              <a:endParaRPr lang="en-US"/>
            </a:p>
          </p:txBody>
        </p:sp>
        <p:sp>
          <p:nvSpPr>
            <p:cNvPr id="603199" name="Rectangle 63"/>
            <p:cNvSpPr>
              <a:spLocks noChangeArrowheads="1"/>
            </p:cNvSpPr>
            <p:nvPr/>
          </p:nvSpPr>
          <p:spPr bwMode="auto">
            <a:xfrm>
              <a:off x="4109" y="2254"/>
              <a:ext cx="93"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B</a:t>
              </a:r>
              <a:endParaRPr lang="en-US" altLang="en-US"/>
            </a:p>
          </p:txBody>
        </p:sp>
        <p:sp>
          <p:nvSpPr>
            <p:cNvPr id="603200" name="Oval 64"/>
            <p:cNvSpPr>
              <a:spLocks noChangeArrowheads="1"/>
            </p:cNvSpPr>
            <p:nvPr/>
          </p:nvSpPr>
          <p:spPr bwMode="auto">
            <a:xfrm>
              <a:off x="3733" y="1900"/>
              <a:ext cx="1849" cy="1850"/>
            </a:xfrm>
            <a:prstGeom prst="ellipse">
              <a:avLst/>
            </a:prstGeom>
            <a:noFill/>
            <a:ln w="19050">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3201" name="Oval 65"/>
            <p:cNvSpPr>
              <a:spLocks noChangeArrowheads="1"/>
            </p:cNvSpPr>
            <p:nvPr/>
          </p:nvSpPr>
          <p:spPr bwMode="auto">
            <a:xfrm>
              <a:off x="4260" y="2427"/>
              <a:ext cx="799" cy="800"/>
            </a:xfrm>
            <a:prstGeom prst="ellipse">
              <a:avLst/>
            </a:prstGeom>
            <a:noFill/>
            <a:ln w="19050">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3202" name="Rectangle 66"/>
            <p:cNvSpPr>
              <a:spLocks noChangeArrowheads="1"/>
            </p:cNvSpPr>
            <p:nvPr/>
          </p:nvSpPr>
          <p:spPr bwMode="auto">
            <a:xfrm>
              <a:off x="3970" y="1991"/>
              <a:ext cx="69"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1</a:t>
              </a:r>
              <a:endParaRPr lang="en-US" altLang="en-US"/>
            </a:p>
          </p:txBody>
        </p:sp>
        <p:sp>
          <p:nvSpPr>
            <p:cNvPr id="603203" name="Rectangle 67"/>
            <p:cNvSpPr>
              <a:spLocks noChangeArrowheads="1"/>
            </p:cNvSpPr>
            <p:nvPr/>
          </p:nvSpPr>
          <p:spPr bwMode="auto">
            <a:xfrm>
              <a:off x="5276" y="1991"/>
              <a:ext cx="70"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7</a:t>
              </a:r>
              <a:endParaRPr lang="en-US" altLang="en-US"/>
            </a:p>
          </p:txBody>
        </p:sp>
        <p:sp>
          <p:nvSpPr>
            <p:cNvPr id="603204" name="Rectangle 68"/>
            <p:cNvSpPr>
              <a:spLocks noChangeArrowheads="1"/>
            </p:cNvSpPr>
            <p:nvPr/>
          </p:nvSpPr>
          <p:spPr bwMode="auto">
            <a:xfrm>
              <a:off x="3645" y="2761"/>
              <a:ext cx="70"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2</a:t>
              </a:r>
              <a:endParaRPr lang="en-US" altLang="en-US"/>
            </a:p>
          </p:txBody>
        </p:sp>
        <p:sp>
          <p:nvSpPr>
            <p:cNvPr id="603205" name="Rectangle 69"/>
            <p:cNvSpPr>
              <a:spLocks noChangeArrowheads="1"/>
            </p:cNvSpPr>
            <p:nvPr/>
          </p:nvSpPr>
          <p:spPr bwMode="auto">
            <a:xfrm>
              <a:off x="5617" y="2761"/>
              <a:ext cx="70"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6</a:t>
              </a:r>
              <a:endParaRPr lang="en-US" altLang="en-US"/>
            </a:p>
          </p:txBody>
        </p:sp>
        <p:sp>
          <p:nvSpPr>
            <p:cNvPr id="603206" name="Rectangle 70"/>
            <p:cNvSpPr>
              <a:spLocks noChangeArrowheads="1"/>
            </p:cNvSpPr>
            <p:nvPr/>
          </p:nvSpPr>
          <p:spPr bwMode="auto">
            <a:xfrm>
              <a:off x="3966" y="3520"/>
              <a:ext cx="70"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3</a:t>
              </a:r>
              <a:endParaRPr lang="en-US" altLang="en-US"/>
            </a:p>
          </p:txBody>
        </p:sp>
        <p:sp>
          <p:nvSpPr>
            <p:cNvPr id="603207" name="Rectangle 71"/>
            <p:cNvSpPr>
              <a:spLocks noChangeArrowheads="1"/>
            </p:cNvSpPr>
            <p:nvPr/>
          </p:nvSpPr>
          <p:spPr bwMode="auto">
            <a:xfrm>
              <a:off x="5268" y="3520"/>
              <a:ext cx="69"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5</a:t>
              </a:r>
              <a:endParaRPr lang="en-US" altLang="en-US"/>
            </a:p>
          </p:txBody>
        </p:sp>
        <p:sp>
          <p:nvSpPr>
            <p:cNvPr id="603208" name="Rectangle 72"/>
            <p:cNvSpPr>
              <a:spLocks noChangeArrowheads="1"/>
            </p:cNvSpPr>
            <p:nvPr/>
          </p:nvSpPr>
          <p:spPr bwMode="auto">
            <a:xfrm>
              <a:off x="4623" y="3760"/>
              <a:ext cx="70"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4</a:t>
              </a:r>
              <a:endParaRPr lang="en-US" altLang="en-US"/>
            </a:p>
          </p:txBody>
        </p:sp>
        <p:sp>
          <p:nvSpPr>
            <p:cNvPr id="603209" name="Rectangle 73"/>
            <p:cNvSpPr>
              <a:spLocks noChangeArrowheads="1"/>
            </p:cNvSpPr>
            <p:nvPr/>
          </p:nvSpPr>
          <p:spPr bwMode="auto">
            <a:xfrm>
              <a:off x="4623" y="1738"/>
              <a:ext cx="70"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Myriad Roman" charset="0"/>
                </a:rPr>
                <a:t>0</a:t>
              </a:r>
              <a:endParaRPr lang="en-US" altLang="en-US"/>
            </a:p>
          </p:txBody>
        </p:sp>
        <p:sp>
          <p:nvSpPr>
            <p:cNvPr id="603210" name="Rectangle 74"/>
            <p:cNvSpPr>
              <a:spLocks noChangeArrowheads="1"/>
            </p:cNvSpPr>
            <p:nvPr/>
          </p:nvSpPr>
          <p:spPr bwMode="auto">
            <a:xfrm>
              <a:off x="4442" y="2600"/>
              <a:ext cx="4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f</a:t>
              </a:r>
              <a:endParaRPr lang="en-US" altLang="en-US"/>
            </a:p>
          </p:txBody>
        </p:sp>
        <p:sp>
          <p:nvSpPr>
            <p:cNvPr id="603211" name="Rectangle 75"/>
            <p:cNvSpPr>
              <a:spLocks noChangeArrowheads="1"/>
            </p:cNvSpPr>
            <p:nvPr/>
          </p:nvSpPr>
          <p:spPr bwMode="auto">
            <a:xfrm>
              <a:off x="4413" y="2862"/>
              <a:ext cx="3" cy="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00">
                  <a:solidFill>
                    <a:srgbClr val="000000"/>
                  </a:solidFill>
                  <a:latin typeface="Myriad Roman" charset="0"/>
                </a:rPr>
                <a:t>r</a:t>
              </a:r>
              <a:endParaRPr lang="en-US" altLang="en-US"/>
            </a:p>
          </p:txBody>
        </p:sp>
        <p:sp>
          <p:nvSpPr>
            <p:cNvPr id="603212" name="Rectangle 76"/>
            <p:cNvSpPr>
              <a:spLocks noChangeArrowheads="1"/>
            </p:cNvSpPr>
            <p:nvPr/>
          </p:nvSpPr>
          <p:spPr bwMode="auto">
            <a:xfrm>
              <a:off x="4317" y="2814"/>
              <a:ext cx="40" cy="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a:t>
              </a:r>
              <a:endParaRPr lang="en-US" altLang="en-US"/>
            </a:p>
          </p:txBody>
        </p:sp>
        <p:pic>
          <p:nvPicPr>
            <p:cNvPr id="603213" name="Picture 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 y="1958"/>
              <a:ext cx="194"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214" name="Picture 7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9" y="2155"/>
              <a:ext cx="194"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215" name="Picture 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5" y="2612"/>
              <a:ext cx="194"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216" name="Picture 8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9" y="3087"/>
              <a:ext cx="194"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217" name="Picture 8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6" y="3296"/>
              <a:ext cx="194"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218" name="Picture 8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0" y="3110"/>
              <a:ext cx="194"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3219" name="Picture 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6" y="2641"/>
              <a:ext cx="194" cy="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03221" name="Text Box 85"/>
          <p:cNvSpPr txBox="1">
            <a:spLocks noChangeArrowheads="1"/>
          </p:cNvSpPr>
          <p:nvPr/>
        </p:nvSpPr>
        <p:spPr bwMode="auto">
          <a:xfrm>
            <a:off x="8634413" y="3225800"/>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603220"/>
                                        </p:tgtEl>
                                        <p:attrNameLst>
                                          <p:attrName>style.visibility</p:attrName>
                                        </p:attrNameLst>
                                      </p:cBhvr>
                                      <p:to>
                                        <p:strVal val="visible"/>
                                      </p:to>
                                    </p:set>
                                    <p:anim calcmode="lin" valueType="num">
                                      <p:cBhvr additive="base">
                                        <p:cTn id="7" dur="500" fill="hold"/>
                                        <p:tgtEl>
                                          <p:spTgt spid="603220"/>
                                        </p:tgtEl>
                                        <p:attrNameLst>
                                          <p:attrName>ppt_x</p:attrName>
                                        </p:attrNameLst>
                                      </p:cBhvr>
                                      <p:tavLst>
                                        <p:tav tm="0">
                                          <p:val>
                                            <p:strVal val="#ppt_x"/>
                                          </p:val>
                                        </p:tav>
                                        <p:tav tm="100000">
                                          <p:val>
                                            <p:strVal val="#ppt_x"/>
                                          </p:val>
                                        </p:tav>
                                      </p:tavLst>
                                    </p:anim>
                                    <p:anim calcmode="lin" valueType="num">
                                      <p:cBhvr additive="base">
                                        <p:cTn id="8" dur="500" fill="hold"/>
                                        <p:tgtEl>
                                          <p:spTgt spid="60322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DEB6C03C-2F81-4079-A15C-A97F7D21D451}" type="slidenum">
              <a:rPr lang="en-US" altLang="en-US"/>
              <a:pPr/>
              <a:t>86</a:t>
            </a:fld>
            <a:endParaRPr lang="en-US" altLang="en-US"/>
          </a:p>
        </p:txBody>
      </p:sp>
      <p:sp>
        <p:nvSpPr>
          <p:cNvPr id="604162" name="Rectangle 2"/>
          <p:cNvSpPr>
            <a:spLocks noGrp="1" noChangeArrowheads="1"/>
          </p:cNvSpPr>
          <p:nvPr>
            <p:ph type="title"/>
          </p:nvPr>
        </p:nvSpPr>
        <p:spPr/>
        <p:txBody>
          <a:bodyPr/>
          <a:lstStyle/>
          <a:p>
            <a:r>
              <a:rPr lang="en-US" altLang="en-US"/>
              <a:t>Queue Implementation</a:t>
            </a:r>
          </a:p>
        </p:txBody>
      </p:sp>
      <p:sp>
        <p:nvSpPr>
          <p:cNvPr id="604163" name="Rectangle 3"/>
          <p:cNvSpPr>
            <a:spLocks noGrp="1" noChangeArrowheads="1"/>
          </p:cNvSpPr>
          <p:nvPr>
            <p:ph type="body" idx="1"/>
          </p:nvPr>
        </p:nvSpPr>
        <p:spPr>
          <a:xfrm>
            <a:off x="228600" y="1219200"/>
            <a:ext cx="4110038" cy="4876800"/>
          </a:xfrm>
        </p:spPr>
        <p:txBody>
          <a:bodyPr/>
          <a:lstStyle/>
          <a:p>
            <a:pPr>
              <a:lnSpc>
                <a:spcPct val="90000"/>
              </a:lnSpc>
            </a:pPr>
            <a:r>
              <a:rPr lang="en-US" altLang="en-US"/>
              <a:t>Can use register file for item storage</a:t>
            </a:r>
          </a:p>
          <a:p>
            <a:pPr>
              <a:lnSpc>
                <a:spcPct val="90000"/>
              </a:lnSpc>
            </a:pPr>
            <a:r>
              <a:rPr lang="en-US" altLang="en-US"/>
              <a:t>Implement </a:t>
            </a:r>
            <a:r>
              <a:rPr lang="en-US" altLang="en-US" i="1"/>
              <a:t>rear</a:t>
            </a:r>
            <a:r>
              <a:rPr lang="en-US" altLang="en-US"/>
              <a:t> and </a:t>
            </a:r>
            <a:r>
              <a:rPr lang="en-US" altLang="en-US" i="1"/>
              <a:t>front</a:t>
            </a:r>
            <a:r>
              <a:rPr lang="en-US" altLang="en-US"/>
              <a:t> using up counters</a:t>
            </a:r>
          </a:p>
          <a:p>
            <a:pPr lvl="1">
              <a:lnSpc>
                <a:spcPct val="90000"/>
              </a:lnSpc>
            </a:pPr>
            <a:r>
              <a:rPr lang="en-US" altLang="en-US"/>
              <a:t>rear used as register file’s write address, front as read address</a:t>
            </a:r>
          </a:p>
          <a:p>
            <a:pPr>
              <a:lnSpc>
                <a:spcPct val="90000"/>
              </a:lnSpc>
            </a:pPr>
            <a:r>
              <a:rPr lang="en-US" altLang="en-US"/>
              <a:t>Simple controller would set control lines for pushes and pops, and also detect full and empty situations</a:t>
            </a:r>
          </a:p>
          <a:p>
            <a:pPr lvl="1">
              <a:lnSpc>
                <a:spcPct val="90000"/>
              </a:lnSpc>
            </a:pPr>
            <a:r>
              <a:rPr lang="en-US" altLang="en-US"/>
              <a:t>FSM for controller not shown</a:t>
            </a:r>
          </a:p>
        </p:txBody>
      </p:sp>
      <p:pic>
        <p:nvPicPr>
          <p:cNvPr id="60416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9438" y="1179513"/>
            <a:ext cx="4705350" cy="475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6AF4AB1-540E-4ADB-9CBA-B66A4DF31DC0}" type="slidenum">
              <a:rPr lang="en-US" altLang="en-US"/>
              <a:pPr/>
              <a:t>87</a:t>
            </a:fld>
            <a:endParaRPr lang="en-US" altLang="en-US"/>
          </a:p>
        </p:txBody>
      </p:sp>
      <p:sp>
        <p:nvSpPr>
          <p:cNvPr id="605186" name="Rectangle 2"/>
          <p:cNvSpPr>
            <a:spLocks noGrp="1" noChangeArrowheads="1"/>
          </p:cNvSpPr>
          <p:nvPr>
            <p:ph type="title"/>
          </p:nvPr>
        </p:nvSpPr>
        <p:spPr/>
        <p:txBody>
          <a:bodyPr/>
          <a:lstStyle/>
          <a:p>
            <a:r>
              <a:rPr lang="en-US" altLang="en-US"/>
              <a:t>Common Uses of a Queue</a:t>
            </a:r>
          </a:p>
        </p:txBody>
      </p:sp>
      <p:sp>
        <p:nvSpPr>
          <p:cNvPr id="605187" name="Rectangle 3"/>
          <p:cNvSpPr>
            <a:spLocks noGrp="1" noChangeArrowheads="1"/>
          </p:cNvSpPr>
          <p:nvPr>
            <p:ph type="body" idx="1"/>
          </p:nvPr>
        </p:nvSpPr>
        <p:spPr/>
        <p:txBody>
          <a:bodyPr/>
          <a:lstStyle/>
          <a:p>
            <a:r>
              <a:rPr lang="en-US" altLang="en-US"/>
              <a:t>Computer keyboard</a:t>
            </a:r>
          </a:p>
          <a:p>
            <a:pPr lvl="1"/>
            <a:r>
              <a:rPr lang="en-US" altLang="en-US"/>
              <a:t>Pushes pressed keys onto queue, meanwhile pops and sends to computer</a:t>
            </a:r>
          </a:p>
          <a:p>
            <a:r>
              <a:rPr lang="en-US" altLang="en-US"/>
              <a:t>Digital video recorder</a:t>
            </a:r>
          </a:p>
          <a:p>
            <a:pPr lvl="1"/>
            <a:r>
              <a:rPr lang="en-US" altLang="en-US"/>
              <a:t>Pushes captured frames, meanwhile pops frames, compresses them, and stores them</a:t>
            </a:r>
          </a:p>
          <a:p>
            <a:r>
              <a:rPr lang="en-US" altLang="en-US"/>
              <a:t>Computer network routers</a:t>
            </a:r>
          </a:p>
          <a:p>
            <a:pPr lvl="1"/>
            <a:r>
              <a:rPr lang="en-US" altLang="en-US"/>
              <a:t>Pushes incoming packets onto queue, meanwhile pops packets, processes destination information, and forwards each packet out over appropriate port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p:cNvSpPr>
            <a:spLocks noGrp="1"/>
          </p:cNvSpPr>
          <p:nvPr>
            <p:ph type="sldNum" sz="quarter" idx="10"/>
          </p:nvPr>
        </p:nvSpPr>
        <p:spPr/>
        <p:txBody>
          <a:bodyPr/>
          <a:lstStyle/>
          <a:p>
            <a:fld id="{3CFC3184-7D57-412D-BE98-7786250D1040}" type="slidenum">
              <a:rPr lang="en-US" altLang="en-US"/>
              <a:pPr/>
              <a:t>88</a:t>
            </a:fld>
            <a:endParaRPr lang="en-US" altLang="en-US"/>
          </a:p>
        </p:txBody>
      </p:sp>
      <p:sp>
        <p:nvSpPr>
          <p:cNvPr id="606210" name="Rectangle 2"/>
          <p:cNvSpPr>
            <a:spLocks noGrp="1" noChangeArrowheads="1"/>
          </p:cNvSpPr>
          <p:nvPr>
            <p:ph type="title"/>
          </p:nvPr>
        </p:nvSpPr>
        <p:spPr/>
        <p:txBody>
          <a:bodyPr/>
          <a:lstStyle/>
          <a:p>
            <a:r>
              <a:rPr lang="en-US" altLang="en-US"/>
              <a:t>Queue Usage Example</a:t>
            </a:r>
          </a:p>
        </p:txBody>
      </p:sp>
      <p:sp>
        <p:nvSpPr>
          <p:cNvPr id="606211" name="Rectangle 3"/>
          <p:cNvSpPr>
            <a:spLocks noGrp="1" noChangeArrowheads="1"/>
          </p:cNvSpPr>
          <p:nvPr>
            <p:ph type="body" idx="1"/>
          </p:nvPr>
        </p:nvSpPr>
        <p:spPr>
          <a:xfrm>
            <a:off x="228600" y="1219200"/>
            <a:ext cx="4460875" cy="4876800"/>
          </a:xfrm>
        </p:spPr>
        <p:txBody>
          <a:bodyPr/>
          <a:lstStyle/>
          <a:p>
            <a:pPr>
              <a:lnSpc>
                <a:spcPct val="90000"/>
              </a:lnSpc>
            </a:pPr>
            <a:r>
              <a:rPr lang="en-US" altLang="en-US"/>
              <a:t>Example series of pushes and pops</a:t>
            </a:r>
          </a:p>
          <a:p>
            <a:pPr lvl="1">
              <a:lnSpc>
                <a:spcPct val="90000"/>
              </a:lnSpc>
            </a:pPr>
            <a:r>
              <a:rPr lang="en-US" altLang="en-US"/>
              <a:t>Note how rear and front pointers move</a:t>
            </a:r>
          </a:p>
          <a:p>
            <a:pPr lvl="1">
              <a:lnSpc>
                <a:spcPct val="90000"/>
              </a:lnSpc>
            </a:pPr>
            <a:r>
              <a:rPr lang="en-US" altLang="en-US"/>
              <a:t>Note that popping doesn’t really remove the data from the queue, but that data is no longer accessible</a:t>
            </a:r>
          </a:p>
          <a:p>
            <a:pPr lvl="1">
              <a:lnSpc>
                <a:spcPct val="90000"/>
              </a:lnSpc>
            </a:pPr>
            <a:r>
              <a:rPr lang="en-US" altLang="en-US"/>
              <a:t>Note how rear (and front) wraps around from address 7 to 0</a:t>
            </a:r>
          </a:p>
          <a:p>
            <a:pPr>
              <a:lnSpc>
                <a:spcPct val="90000"/>
              </a:lnSpc>
            </a:pPr>
            <a:r>
              <a:rPr lang="en-US" altLang="en-US"/>
              <a:t>Note: pushing a full queue is an error</a:t>
            </a:r>
          </a:p>
          <a:p>
            <a:pPr lvl="1">
              <a:lnSpc>
                <a:spcPct val="90000"/>
              </a:lnSpc>
            </a:pPr>
            <a:r>
              <a:rPr lang="en-US" altLang="en-US"/>
              <a:t>As is popping an empty queue</a:t>
            </a:r>
          </a:p>
        </p:txBody>
      </p:sp>
      <p:pic>
        <p:nvPicPr>
          <p:cNvPr id="6062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925" y="1106488"/>
            <a:ext cx="3776663" cy="524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lide Number Placeholder 3"/>
          <p:cNvSpPr>
            <a:spLocks noGrp="1"/>
          </p:cNvSpPr>
          <p:nvPr>
            <p:ph type="sldNum" sz="quarter" idx="10"/>
          </p:nvPr>
        </p:nvSpPr>
        <p:spPr/>
        <p:txBody>
          <a:bodyPr/>
          <a:lstStyle/>
          <a:p>
            <a:fld id="{40324A26-C1B2-4EC0-A316-0FE56A9A6535}" type="slidenum">
              <a:rPr lang="en-US" altLang="en-US"/>
              <a:pPr/>
              <a:t>89</a:t>
            </a:fld>
            <a:endParaRPr lang="en-US" altLang="en-US"/>
          </a:p>
        </p:txBody>
      </p:sp>
      <p:sp>
        <p:nvSpPr>
          <p:cNvPr id="607234" name="Rectangle 2"/>
          <p:cNvSpPr>
            <a:spLocks noGrp="1" noChangeArrowheads="1"/>
          </p:cNvSpPr>
          <p:nvPr>
            <p:ph type="title"/>
          </p:nvPr>
        </p:nvSpPr>
        <p:spPr/>
        <p:txBody>
          <a:bodyPr/>
          <a:lstStyle/>
          <a:p>
            <a:r>
              <a:rPr lang="en-US" altLang="en-US" u="sng"/>
              <a:t>Hierarchy – A Key Design Concept</a:t>
            </a:r>
          </a:p>
        </p:txBody>
      </p:sp>
      <p:sp>
        <p:nvSpPr>
          <p:cNvPr id="607235" name="Rectangle 3"/>
          <p:cNvSpPr>
            <a:spLocks noGrp="1" noChangeArrowheads="1"/>
          </p:cNvSpPr>
          <p:nvPr>
            <p:ph type="body" idx="1"/>
          </p:nvPr>
        </p:nvSpPr>
        <p:spPr>
          <a:xfrm>
            <a:off x="228600" y="1219200"/>
            <a:ext cx="5326063" cy="4757738"/>
          </a:xfrm>
        </p:spPr>
        <p:txBody>
          <a:bodyPr/>
          <a:lstStyle/>
          <a:p>
            <a:pPr>
              <a:lnSpc>
                <a:spcPct val="90000"/>
              </a:lnSpc>
            </a:pPr>
            <a:endParaRPr lang="en-US" altLang="en-US" sz="2000"/>
          </a:p>
          <a:p>
            <a:pPr>
              <a:lnSpc>
                <a:spcPct val="90000"/>
              </a:lnSpc>
            </a:pPr>
            <a:r>
              <a:rPr lang="en-US" altLang="en-US" sz="2000"/>
              <a:t>Hierarchy</a:t>
            </a:r>
          </a:p>
          <a:p>
            <a:pPr lvl="1">
              <a:lnSpc>
                <a:spcPct val="90000"/>
              </a:lnSpc>
            </a:pPr>
            <a:r>
              <a:rPr lang="en-US" altLang="en-US" sz="1800"/>
              <a:t> An organization with a few items at the top, with each item decomposed into other items</a:t>
            </a:r>
          </a:p>
          <a:p>
            <a:pPr lvl="1">
              <a:lnSpc>
                <a:spcPct val="90000"/>
              </a:lnSpc>
            </a:pPr>
            <a:r>
              <a:rPr lang="en-US" altLang="en-US" sz="1800"/>
              <a:t>Common example: A country</a:t>
            </a:r>
          </a:p>
          <a:p>
            <a:pPr lvl="2">
              <a:lnSpc>
                <a:spcPct val="90000"/>
              </a:lnSpc>
            </a:pPr>
            <a:r>
              <a:rPr lang="en-US" altLang="en-US" sz="1600"/>
              <a:t>1 item at the top (the country)</a:t>
            </a:r>
          </a:p>
          <a:p>
            <a:pPr lvl="2">
              <a:lnSpc>
                <a:spcPct val="90000"/>
              </a:lnSpc>
            </a:pPr>
            <a:r>
              <a:rPr lang="en-US" altLang="en-US" sz="1600"/>
              <a:t>Country item decomposed into state/province items</a:t>
            </a:r>
          </a:p>
          <a:p>
            <a:pPr lvl="2">
              <a:lnSpc>
                <a:spcPct val="90000"/>
              </a:lnSpc>
            </a:pPr>
            <a:r>
              <a:rPr lang="en-US" altLang="en-US" sz="1600"/>
              <a:t>Each state/province item decomposed into city items</a:t>
            </a:r>
          </a:p>
          <a:p>
            <a:pPr>
              <a:lnSpc>
                <a:spcPct val="90000"/>
              </a:lnSpc>
            </a:pPr>
            <a:r>
              <a:rPr lang="en-US" altLang="en-US" sz="2000"/>
              <a:t>Hierarchy helps us </a:t>
            </a:r>
            <a:r>
              <a:rPr lang="en-US" altLang="en-US" sz="2000" b="1" i="1"/>
              <a:t>manage complexity</a:t>
            </a:r>
          </a:p>
          <a:p>
            <a:pPr lvl="1">
              <a:lnSpc>
                <a:spcPct val="90000"/>
              </a:lnSpc>
            </a:pPr>
            <a:r>
              <a:rPr lang="en-US" altLang="en-US" sz="1800"/>
              <a:t> To go from transistors to gates, muxes, decoders, registers, ALUs, controllers, datapaths, memories, queues, etc. </a:t>
            </a:r>
          </a:p>
          <a:p>
            <a:pPr lvl="1">
              <a:lnSpc>
                <a:spcPct val="90000"/>
              </a:lnSpc>
            </a:pPr>
            <a:r>
              <a:rPr lang="en-US" altLang="en-US" sz="1800"/>
              <a:t>Imagine trying to comprehend a controller and datapath at the level of gates</a:t>
            </a:r>
          </a:p>
        </p:txBody>
      </p:sp>
      <p:sp>
        <p:nvSpPr>
          <p:cNvPr id="607236" name="Text Box 4"/>
          <p:cNvSpPr txBox="1">
            <a:spLocks noChangeArrowheads="1"/>
          </p:cNvSpPr>
          <p:nvPr/>
        </p:nvSpPr>
        <p:spPr bwMode="auto">
          <a:xfrm>
            <a:off x="8458200" y="152400"/>
            <a:ext cx="533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t>5.8</a:t>
            </a:r>
          </a:p>
        </p:txBody>
      </p:sp>
      <p:sp>
        <p:nvSpPr>
          <p:cNvPr id="607280" name="Rectangle 48"/>
          <p:cNvSpPr>
            <a:spLocks noChangeArrowheads="1"/>
          </p:cNvSpPr>
          <p:nvPr/>
        </p:nvSpPr>
        <p:spPr bwMode="auto">
          <a:xfrm>
            <a:off x="4754563"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7281" name="Rectangle 49"/>
          <p:cNvSpPr>
            <a:spLocks noChangeArrowheads="1"/>
          </p:cNvSpPr>
          <p:nvPr/>
        </p:nvSpPr>
        <p:spPr bwMode="auto">
          <a:xfrm>
            <a:off x="4754563"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7282" name="Rectangle 50"/>
          <p:cNvSpPr>
            <a:spLocks noChangeArrowheads="1"/>
          </p:cNvSpPr>
          <p:nvPr/>
        </p:nvSpPr>
        <p:spPr bwMode="auto">
          <a:xfrm>
            <a:off x="4754563"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7283" name="Rectangle 51"/>
          <p:cNvSpPr>
            <a:spLocks noChangeArrowheads="1"/>
          </p:cNvSpPr>
          <p:nvPr/>
        </p:nvSpPr>
        <p:spPr bwMode="auto">
          <a:xfrm>
            <a:off x="4754563"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7284" name="Rectangle 52"/>
          <p:cNvSpPr>
            <a:spLocks noChangeArrowheads="1"/>
          </p:cNvSpPr>
          <p:nvPr/>
        </p:nvSpPr>
        <p:spPr bwMode="auto">
          <a:xfrm>
            <a:off x="4754563"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7285" name="Rectangle 53"/>
          <p:cNvSpPr>
            <a:spLocks noChangeArrowheads="1"/>
          </p:cNvSpPr>
          <p:nvPr/>
        </p:nvSpPr>
        <p:spPr bwMode="auto">
          <a:xfrm>
            <a:off x="4754563"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sz="2400"/>
          </a:p>
        </p:txBody>
      </p:sp>
      <p:sp>
        <p:nvSpPr>
          <p:cNvPr id="607286" name="Rectangle 54"/>
          <p:cNvSpPr>
            <a:spLocks noChangeArrowheads="1"/>
          </p:cNvSpPr>
          <p:nvPr/>
        </p:nvSpPr>
        <p:spPr bwMode="auto">
          <a:xfrm>
            <a:off x="3563938"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7287" name="Rectangle 55"/>
          <p:cNvSpPr>
            <a:spLocks noChangeArrowheads="1"/>
          </p:cNvSpPr>
          <p:nvPr/>
        </p:nvSpPr>
        <p:spPr bwMode="auto">
          <a:xfrm>
            <a:off x="3563938"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7288" name="Rectangle 56"/>
          <p:cNvSpPr>
            <a:spLocks noChangeArrowheads="1"/>
          </p:cNvSpPr>
          <p:nvPr/>
        </p:nvSpPr>
        <p:spPr bwMode="auto">
          <a:xfrm>
            <a:off x="3563938"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7289" name="Rectangle 57"/>
          <p:cNvSpPr>
            <a:spLocks noChangeArrowheads="1"/>
          </p:cNvSpPr>
          <p:nvPr/>
        </p:nvSpPr>
        <p:spPr bwMode="auto">
          <a:xfrm>
            <a:off x="3563938"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7290" name="Rectangle 58"/>
          <p:cNvSpPr>
            <a:spLocks noChangeArrowheads="1"/>
          </p:cNvSpPr>
          <p:nvPr/>
        </p:nvSpPr>
        <p:spPr bwMode="auto">
          <a:xfrm>
            <a:off x="3563938"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7291" name="Rectangle 59"/>
          <p:cNvSpPr>
            <a:spLocks noChangeArrowheads="1"/>
          </p:cNvSpPr>
          <p:nvPr/>
        </p:nvSpPr>
        <p:spPr bwMode="auto">
          <a:xfrm>
            <a:off x="3563938"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sz="2400"/>
          </a:p>
        </p:txBody>
      </p:sp>
      <p:sp>
        <p:nvSpPr>
          <p:cNvPr id="607292" name="Rectangle 60"/>
          <p:cNvSpPr>
            <a:spLocks noChangeArrowheads="1"/>
          </p:cNvSpPr>
          <p:nvPr/>
        </p:nvSpPr>
        <p:spPr bwMode="auto">
          <a:xfrm>
            <a:off x="2684463" y="47752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7293" name="Rectangle 61"/>
          <p:cNvSpPr>
            <a:spLocks noChangeArrowheads="1"/>
          </p:cNvSpPr>
          <p:nvPr/>
        </p:nvSpPr>
        <p:spPr bwMode="auto">
          <a:xfrm>
            <a:off x="2684463" y="48577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7294" name="Rectangle 62"/>
          <p:cNvSpPr>
            <a:spLocks noChangeArrowheads="1"/>
          </p:cNvSpPr>
          <p:nvPr/>
        </p:nvSpPr>
        <p:spPr bwMode="auto">
          <a:xfrm>
            <a:off x="2684463" y="49085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7295" name="Rectangle 63"/>
          <p:cNvSpPr>
            <a:spLocks noChangeArrowheads="1"/>
          </p:cNvSpPr>
          <p:nvPr/>
        </p:nvSpPr>
        <p:spPr bwMode="auto">
          <a:xfrm>
            <a:off x="2684463" y="49942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7296" name="Rectangle 64"/>
          <p:cNvSpPr>
            <a:spLocks noChangeArrowheads="1"/>
          </p:cNvSpPr>
          <p:nvPr/>
        </p:nvSpPr>
        <p:spPr bwMode="auto">
          <a:xfrm>
            <a:off x="2684463" y="51958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7297" name="Rectangle 65"/>
          <p:cNvSpPr>
            <a:spLocks noChangeArrowheads="1"/>
          </p:cNvSpPr>
          <p:nvPr/>
        </p:nvSpPr>
        <p:spPr bwMode="auto">
          <a:xfrm>
            <a:off x="2684463" y="5265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1</a:t>
            </a:r>
            <a:endParaRPr lang="en-US" altLang="en-US" sz="2400"/>
          </a:p>
        </p:txBody>
      </p:sp>
      <p:sp>
        <p:nvSpPr>
          <p:cNvPr id="607237" name="Freeform 5"/>
          <p:cNvSpPr>
            <a:spLocks/>
          </p:cNvSpPr>
          <p:nvPr/>
        </p:nvSpPr>
        <p:spPr bwMode="auto">
          <a:xfrm>
            <a:off x="5591175" y="1246188"/>
            <a:ext cx="3033713" cy="1679575"/>
          </a:xfrm>
          <a:custGeom>
            <a:avLst/>
            <a:gdLst>
              <a:gd name="T0" fmla="*/ 0 w 638"/>
              <a:gd name="T1" fmla="*/ 334 h 413"/>
              <a:gd name="T2" fmla="*/ 79 w 638"/>
              <a:gd name="T3" fmla="*/ 413 h 413"/>
              <a:gd name="T4" fmla="*/ 559 w 638"/>
              <a:gd name="T5" fmla="*/ 413 h 413"/>
              <a:gd name="T6" fmla="*/ 638 w 638"/>
              <a:gd name="T7" fmla="*/ 334 h 413"/>
              <a:gd name="T8" fmla="*/ 638 w 638"/>
              <a:gd name="T9" fmla="*/ 79 h 413"/>
              <a:gd name="T10" fmla="*/ 559 w 638"/>
              <a:gd name="T11" fmla="*/ 0 h 413"/>
              <a:gd name="T12" fmla="*/ 79 w 638"/>
              <a:gd name="T13" fmla="*/ 0 h 413"/>
              <a:gd name="T14" fmla="*/ 0 w 638"/>
              <a:gd name="T15" fmla="*/ 79 h 413"/>
              <a:gd name="T16" fmla="*/ 0 w 638"/>
              <a:gd name="T17" fmla="*/ 334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8" h="413">
                <a:moveTo>
                  <a:pt x="0" y="334"/>
                </a:moveTo>
                <a:cubicBezTo>
                  <a:pt x="0" y="378"/>
                  <a:pt x="35" y="413"/>
                  <a:pt x="79" y="413"/>
                </a:cubicBezTo>
                <a:cubicBezTo>
                  <a:pt x="559" y="413"/>
                  <a:pt x="559" y="413"/>
                  <a:pt x="559" y="413"/>
                </a:cubicBezTo>
                <a:cubicBezTo>
                  <a:pt x="603" y="413"/>
                  <a:pt x="638" y="378"/>
                  <a:pt x="638" y="334"/>
                </a:cubicBezTo>
                <a:cubicBezTo>
                  <a:pt x="638" y="79"/>
                  <a:pt x="638" y="79"/>
                  <a:pt x="638" y="79"/>
                </a:cubicBezTo>
                <a:cubicBezTo>
                  <a:pt x="638" y="35"/>
                  <a:pt x="603" y="0"/>
                  <a:pt x="559" y="0"/>
                </a:cubicBezTo>
                <a:cubicBezTo>
                  <a:pt x="79" y="0"/>
                  <a:pt x="79" y="0"/>
                  <a:pt x="79" y="0"/>
                </a:cubicBezTo>
                <a:cubicBezTo>
                  <a:pt x="35" y="0"/>
                  <a:pt x="0" y="35"/>
                  <a:pt x="0" y="79"/>
                </a:cubicBezTo>
                <a:lnTo>
                  <a:pt x="0" y="334"/>
                </a:lnTo>
                <a:close/>
              </a:path>
            </a:pathLst>
          </a:custGeom>
          <a:noFill/>
          <a:ln w="492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239" name="Freeform 7"/>
          <p:cNvSpPr>
            <a:spLocks/>
          </p:cNvSpPr>
          <p:nvPr/>
        </p:nvSpPr>
        <p:spPr bwMode="auto">
          <a:xfrm>
            <a:off x="6475413" y="1230313"/>
            <a:ext cx="323850" cy="1687512"/>
          </a:xfrm>
          <a:custGeom>
            <a:avLst/>
            <a:gdLst>
              <a:gd name="T0" fmla="*/ 38 w 68"/>
              <a:gd name="T1" fmla="*/ 0 h 415"/>
              <a:gd name="T2" fmla="*/ 24 w 68"/>
              <a:gd name="T3" fmla="*/ 186 h 415"/>
              <a:gd name="T4" fmla="*/ 39 w 68"/>
              <a:gd name="T5" fmla="*/ 340 h 415"/>
              <a:gd name="T6" fmla="*/ 68 w 68"/>
              <a:gd name="T7" fmla="*/ 415 h 415"/>
            </a:gdLst>
            <a:ahLst/>
            <a:cxnLst>
              <a:cxn ang="0">
                <a:pos x="T0" y="T1"/>
              </a:cxn>
              <a:cxn ang="0">
                <a:pos x="T2" y="T3"/>
              </a:cxn>
              <a:cxn ang="0">
                <a:pos x="T4" y="T5"/>
              </a:cxn>
              <a:cxn ang="0">
                <a:pos x="T6" y="T7"/>
              </a:cxn>
            </a:cxnLst>
            <a:rect l="0" t="0" r="r" b="b"/>
            <a:pathLst>
              <a:path w="68" h="415">
                <a:moveTo>
                  <a:pt x="38" y="0"/>
                </a:moveTo>
                <a:cubicBezTo>
                  <a:pt x="38" y="0"/>
                  <a:pt x="59" y="58"/>
                  <a:pt x="24" y="186"/>
                </a:cubicBezTo>
                <a:cubicBezTo>
                  <a:pt x="24" y="186"/>
                  <a:pt x="0" y="284"/>
                  <a:pt x="39" y="340"/>
                </a:cubicBezTo>
                <a:cubicBezTo>
                  <a:pt x="39" y="340"/>
                  <a:pt x="68" y="387"/>
                  <a:pt x="68" y="415"/>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240" name="Freeform 8"/>
          <p:cNvSpPr>
            <a:spLocks/>
          </p:cNvSpPr>
          <p:nvPr/>
        </p:nvSpPr>
        <p:spPr bwMode="auto">
          <a:xfrm>
            <a:off x="5595938" y="1717675"/>
            <a:ext cx="989012" cy="293688"/>
          </a:xfrm>
          <a:custGeom>
            <a:avLst/>
            <a:gdLst>
              <a:gd name="T0" fmla="*/ 0 w 208"/>
              <a:gd name="T1" fmla="*/ 15 h 72"/>
              <a:gd name="T2" fmla="*/ 144 w 208"/>
              <a:gd name="T3" fmla="*/ 40 h 72"/>
              <a:gd name="T4" fmla="*/ 177 w 208"/>
              <a:gd name="T5" fmla="*/ 54 h 72"/>
              <a:gd name="T6" fmla="*/ 191 w 208"/>
              <a:gd name="T7" fmla="*/ 62 h 72"/>
              <a:gd name="T8" fmla="*/ 208 w 208"/>
              <a:gd name="T9" fmla="*/ 72 h 72"/>
            </a:gdLst>
            <a:ahLst/>
            <a:cxnLst>
              <a:cxn ang="0">
                <a:pos x="T0" y="T1"/>
              </a:cxn>
              <a:cxn ang="0">
                <a:pos x="T2" y="T3"/>
              </a:cxn>
              <a:cxn ang="0">
                <a:pos x="T4" y="T5"/>
              </a:cxn>
              <a:cxn ang="0">
                <a:pos x="T6" y="T7"/>
              </a:cxn>
              <a:cxn ang="0">
                <a:pos x="T8" y="T9"/>
              </a:cxn>
            </a:cxnLst>
            <a:rect l="0" t="0" r="r" b="b"/>
            <a:pathLst>
              <a:path w="208" h="72">
                <a:moveTo>
                  <a:pt x="0" y="15"/>
                </a:moveTo>
                <a:cubicBezTo>
                  <a:pt x="0" y="15"/>
                  <a:pt x="49" y="0"/>
                  <a:pt x="144" y="40"/>
                </a:cubicBezTo>
                <a:cubicBezTo>
                  <a:pt x="177" y="54"/>
                  <a:pt x="177" y="54"/>
                  <a:pt x="177" y="54"/>
                </a:cubicBezTo>
                <a:cubicBezTo>
                  <a:pt x="181" y="57"/>
                  <a:pt x="186" y="59"/>
                  <a:pt x="191" y="62"/>
                </a:cubicBezTo>
                <a:cubicBezTo>
                  <a:pt x="208" y="72"/>
                  <a:pt x="208" y="72"/>
                  <a:pt x="208" y="72"/>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241" name="Freeform 9"/>
          <p:cNvSpPr>
            <a:spLocks/>
          </p:cNvSpPr>
          <p:nvPr/>
        </p:nvSpPr>
        <p:spPr bwMode="auto">
          <a:xfrm>
            <a:off x="5595938" y="2381250"/>
            <a:ext cx="1003300" cy="130175"/>
          </a:xfrm>
          <a:custGeom>
            <a:avLst/>
            <a:gdLst>
              <a:gd name="T0" fmla="*/ 0 w 211"/>
              <a:gd name="T1" fmla="*/ 19 h 32"/>
              <a:gd name="T2" fmla="*/ 188 w 211"/>
              <a:gd name="T3" fmla="*/ 23 h 32"/>
              <a:gd name="T4" fmla="*/ 211 w 211"/>
              <a:gd name="T5" fmla="*/ 32 h 32"/>
            </a:gdLst>
            <a:ahLst/>
            <a:cxnLst>
              <a:cxn ang="0">
                <a:pos x="T0" y="T1"/>
              </a:cxn>
              <a:cxn ang="0">
                <a:pos x="T2" y="T3"/>
              </a:cxn>
              <a:cxn ang="0">
                <a:pos x="T4" y="T5"/>
              </a:cxn>
            </a:cxnLst>
            <a:rect l="0" t="0" r="r" b="b"/>
            <a:pathLst>
              <a:path w="211" h="32">
                <a:moveTo>
                  <a:pt x="0" y="19"/>
                </a:moveTo>
                <a:cubicBezTo>
                  <a:pt x="0" y="19"/>
                  <a:pt x="105" y="0"/>
                  <a:pt x="188" y="23"/>
                </a:cubicBezTo>
                <a:cubicBezTo>
                  <a:pt x="211" y="32"/>
                  <a:pt x="211" y="32"/>
                  <a:pt x="211" y="32"/>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242" name="Freeform 10"/>
          <p:cNvSpPr>
            <a:spLocks/>
          </p:cNvSpPr>
          <p:nvPr/>
        </p:nvSpPr>
        <p:spPr bwMode="auto">
          <a:xfrm>
            <a:off x="7285038" y="1255713"/>
            <a:ext cx="327025" cy="1657350"/>
          </a:xfrm>
          <a:custGeom>
            <a:avLst/>
            <a:gdLst>
              <a:gd name="T0" fmla="*/ 69 w 69"/>
              <a:gd name="T1" fmla="*/ 0 h 408"/>
              <a:gd name="T2" fmla="*/ 41 w 69"/>
              <a:gd name="T3" fmla="*/ 161 h 408"/>
              <a:gd name="T4" fmla="*/ 13 w 69"/>
              <a:gd name="T5" fmla="*/ 408 h 408"/>
            </a:gdLst>
            <a:ahLst/>
            <a:cxnLst>
              <a:cxn ang="0">
                <a:pos x="T0" y="T1"/>
              </a:cxn>
              <a:cxn ang="0">
                <a:pos x="T2" y="T3"/>
              </a:cxn>
              <a:cxn ang="0">
                <a:pos x="T4" y="T5"/>
              </a:cxn>
            </a:cxnLst>
            <a:rect l="0" t="0" r="r" b="b"/>
            <a:pathLst>
              <a:path w="69" h="408">
                <a:moveTo>
                  <a:pt x="69" y="0"/>
                </a:moveTo>
                <a:cubicBezTo>
                  <a:pt x="69" y="0"/>
                  <a:pt x="68" y="86"/>
                  <a:pt x="41" y="161"/>
                </a:cubicBezTo>
                <a:cubicBezTo>
                  <a:pt x="41" y="161"/>
                  <a:pt x="0" y="350"/>
                  <a:pt x="13" y="408"/>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243" name="Freeform 11"/>
          <p:cNvSpPr>
            <a:spLocks/>
          </p:cNvSpPr>
          <p:nvPr/>
        </p:nvSpPr>
        <p:spPr bwMode="auto">
          <a:xfrm>
            <a:off x="7426325" y="2170113"/>
            <a:ext cx="1189038" cy="11112"/>
          </a:xfrm>
          <a:custGeom>
            <a:avLst/>
            <a:gdLst>
              <a:gd name="T0" fmla="*/ 0 w 250"/>
              <a:gd name="T1" fmla="*/ 3 h 3"/>
              <a:gd name="T2" fmla="*/ 191 w 250"/>
              <a:gd name="T3" fmla="*/ 0 h 3"/>
              <a:gd name="T4" fmla="*/ 229 w 250"/>
              <a:gd name="T5" fmla="*/ 1 h 3"/>
              <a:gd name="T6" fmla="*/ 250 w 250"/>
              <a:gd name="T7" fmla="*/ 1 h 3"/>
            </a:gdLst>
            <a:ahLst/>
            <a:cxnLst>
              <a:cxn ang="0">
                <a:pos x="T0" y="T1"/>
              </a:cxn>
              <a:cxn ang="0">
                <a:pos x="T2" y="T3"/>
              </a:cxn>
              <a:cxn ang="0">
                <a:pos x="T4" y="T5"/>
              </a:cxn>
              <a:cxn ang="0">
                <a:pos x="T6" y="T7"/>
              </a:cxn>
            </a:cxnLst>
            <a:rect l="0" t="0" r="r" b="b"/>
            <a:pathLst>
              <a:path w="250" h="3">
                <a:moveTo>
                  <a:pt x="0" y="3"/>
                </a:moveTo>
                <a:cubicBezTo>
                  <a:pt x="0" y="3"/>
                  <a:pt x="112" y="0"/>
                  <a:pt x="191" y="0"/>
                </a:cubicBezTo>
                <a:cubicBezTo>
                  <a:pt x="229" y="1"/>
                  <a:pt x="229" y="1"/>
                  <a:pt x="229" y="1"/>
                </a:cubicBezTo>
                <a:cubicBezTo>
                  <a:pt x="236" y="1"/>
                  <a:pt x="243" y="1"/>
                  <a:pt x="250" y="1"/>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244" name="Freeform 12"/>
          <p:cNvSpPr>
            <a:spLocks/>
          </p:cNvSpPr>
          <p:nvPr/>
        </p:nvSpPr>
        <p:spPr bwMode="auto">
          <a:xfrm>
            <a:off x="6565900" y="1881188"/>
            <a:ext cx="927100" cy="234950"/>
          </a:xfrm>
          <a:custGeom>
            <a:avLst/>
            <a:gdLst>
              <a:gd name="T0" fmla="*/ 0 w 195"/>
              <a:gd name="T1" fmla="*/ 58 h 58"/>
              <a:gd name="T2" fmla="*/ 133 w 195"/>
              <a:gd name="T3" fmla="*/ 13 h 58"/>
              <a:gd name="T4" fmla="*/ 170 w 195"/>
              <a:gd name="T5" fmla="*/ 5 h 58"/>
              <a:gd name="T6" fmla="*/ 195 w 195"/>
              <a:gd name="T7" fmla="*/ 0 h 58"/>
            </a:gdLst>
            <a:ahLst/>
            <a:cxnLst>
              <a:cxn ang="0">
                <a:pos x="T0" y="T1"/>
              </a:cxn>
              <a:cxn ang="0">
                <a:pos x="T2" y="T3"/>
              </a:cxn>
              <a:cxn ang="0">
                <a:pos x="T4" y="T5"/>
              </a:cxn>
              <a:cxn ang="0">
                <a:pos x="T6" y="T7"/>
              </a:cxn>
            </a:cxnLst>
            <a:rect l="0" t="0" r="r" b="b"/>
            <a:pathLst>
              <a:path w="195" h="58">
                <a:moveTo>
                  <a:pt x="0" y="58"/>
                </a:moveTo>
                <a:cubicBezTo>
                  <a:pt x="0" y="58"/>
                  <a:pt x="49" y="34"/>
                  <a:pt x="133" y="13"/>
                </a:cubicBezTo>
                <a:cubicBezTo>
                  <a:pt x="170" y="5"/>
                  <a:pt x="170" y="5"/>
                  <a:pt x="170" y="5"/>
                </a:cubicBezTo>
                <a:cubicBezTo>
                  <a:pt x="183" y="2"/>
                  <a:pt x="182" y="2"/>
                  <a:pt x="195" y="0"/>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265" name="Rectangle 33"/>
          <p:cNvSpPr>
            <a:spLocks noChangeArrowheads="1"/>
          </p:cNvSpPr>
          <p:nvPr/>
        </p:nvSpPr>
        <p:spPr bwMode="auto">
          <a:xfrm>
            <a:off x="7767638" y="1671638"/>
            <a:ext cx="385762"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CityF</a:t>
            </a:r>
            <a:endParaRPr lang="en-US" altLang="en-US" sz="2400"/>
          </a:p>
        </p:txBody>
      </p:sp>
      <p:sp>
        <p:nvSpPr>
          <p:cNvPr id="607298" name="Rectangle 66"/>
          <p:cNvSpPr>
            <a:spLocks noChangeArrowheads="1"/>
          </p:cNvSpPr>
          <p:nvPr/>
        </p:nvSpPr>
        <p:spPr bwMode="auto">
          <a:xfrm>
            <a:off x="6711950" y="2706688"/>
            <a:ext cx="7350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Country A</a:t>
            </a:r>
            <a:endParaRPr lang="en-US" altLang="en-US" sz="2400"/>
          </a:p>
        </p:txBody>
      </p:sp>
      <p:sp>
        <p:nvSpPr>
          <p:cNvPr id="607311" name="Rectangle 79"/>
          <p:cNvSpPr>
            <a:spLocks noChangeArrowheads="1"/>
          </p:cNvSpPr>
          <p:nvPr/>
        </p:nvSpPr>
        <p:spPr bwMode="auto">
          <a:xfrm>
            <a:off x="66484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7317" name="Rectangle 85"/>
          <p:cNvSpPr>
            <a:spLocks noChangeArrowheads="1"/>
          </p:cNvSpPr>
          <p:nvPr/>
        </p:nvSpPr>
        <p:spPr bwMode="auto">
          <a:xfrm>
            <a:off x="58737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7323" name="Rectangle 91"/>
          <p:cNvSpPr>
            <a:spLocks noChangeArrowheads="1"/>
          </p:cNvSpPr>
          <p:nvPr/>
        </p:nvSpPr>
        <p:spPr bwMode="auto">
          <a:xfrm>
            <a:off x="5173663" y="47545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7308" name="Rectangle 76"/>
          <p:cNvSpPr>
            <a:spLocks noChangeArrowheads="1"/>
          </p:cNvSpPr>
          <p:nvPr/>
        </p:nvSpPr>
        <p:spPr bwMode="auto">
          <a:xfrm>
            <a:off x="7145338"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7309" name="Rectangle 77"/>
          <p:cNvSpPr>
            <a:spLocks noChangeArrowheads="1"/>
          </p:cNvSpPr>
          <p:nvPr/>
        </p:nvSpPr>
        <p:spPr bwMode="auto">
          <a:xfrm>
            <a:off x="7145338"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7310" name="Rectangle 78"/>
          <p:cNvSpPr>
            <a:spLocks noChangeArrowheads="1"/>
          </p:cNvSpPr>
          <p:nvPr/>
        </p:nvSpPr>
        <p:spPr bwMode="auto">
          <a:xfrm>
            <a:off x="7145338"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7312" name="Rectangle 80"/>
          <p:cNvSpPr>
            <a:spLocks noChangeArrowheads="1"/>
          </p:cNvSpPr>
          <p:nvPr/>
        </p:nvSpPr>
        <p:spPr bwMode="auto">
          <a:xfrm>
            <a:off x="7145338"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7314" name="Rectangle 82"/>
          <p:cNvSpPr>
            <a:spLocks noChangeArrowheads="1"/>
          </p:cNvSpPr>
          <p:nvPr/>
        </p:nvSpPr>
        <p:spPr bwMode="auto">
          <a:xfrm>
            <a:off x="6153150"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7315" name="Rectangle 83"/>
          <p:cNvSpPr>
            <a:spLocks noChangeArrowheads="1"/>
          </p:cNvSpPr>
          <p:nvPr/>
        </p:nvSpPr>
        <p:spPr bwMode="auto">
          <a:xfrm>
            <a:off x="6153150"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7316" name="Rectangle 84"/>
          <p:cNvSpPr>
            <a:spLocks noChangeArrowheads="1"/>
          </p:cNvSpPr>
          <p:nvPr/>
        </p:nvSpPr>
        <p:spPr bwMode="auto">
          <a:xfrm>
            <a:off x="6153150"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7318" name="Rectangle 86"/>
          <p:cNvSpPr>
            <a:spLocks noChangeArrowheads="1"/>
          </p:cNvSpPr>
          <p:nvPr/>
        </p:nvSpPr>
        <p:spPr bwMode="auto">
          <a:xfrm>
            <a:off x="6153150"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7319" name="Rectangle 87"/>
          <p:cNvSpPr>
            <a:spLocks noChangeArrowheads="1"/>
          </p:cNvSpPr>
          <p:nvPr/>
        </p:nvSpPr>
        <p:spPr bwMode="auto">
          <a:xfrm>
            <a:off x="6153150" y="49593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a:p>
        </p:txBody>
      </p:sp>
      <p:sp>
        <p:nvSpPr>
          <p:cNvPr id="607320" name="Rectangle 88"/>
          <p:cNvSpPr>
            <a:spLocks noChangeArrowheads="1"/>
          </p:cNvSpPr>
          <p:nvPr/>
        </p:nvSpPr>
        <p:spPr bwMode="auto">
          <a:xfrm>
            <a:off x="5256213" y="44148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7321" name="Rectangle 89"/>
          <p:cNvSpPr>
            <a:spLocks noChangeArrowheads="1"/>
          </p:cNvSpPr>
          <p:nvPr/>
        </p:nvSpPr>
        <p:spPr bwMode="auto">
          <a:xfrm>
            <a:off x="5256213" y="45069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7322" name="Rectangle 90"/>
          <p:cNvSpPr>
            <a:spLocks noChangeArrowheads="1"/>
          </p:cNvSpPr>
          <p:nvPr/>
        </p:nvSpPr>
        <p:spPr bwMode="auto">
          <a:xfrm>
            <a:off x="5256213" y="45624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7324" name="Rectangle 92"/>
          <p:cNvSpPr>
            <a:spLocks noChangeArrowheads="1"/>
          </p:cNvSpPr>
          <p:nvPr/>
        </p:nvSpPr>
        <p:spPr bwMode="auto">
          <a:xfrm>
            <a:off x="5256213" y="4884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7325" name="Rectangle 93"/>
          <p:cNvSpPr>
            <a:spLocks noChangeArrowheads="1"/>
          </p:cNvSpPr>
          <p:nvPr/>
        </p:nvSpPr>
        <p:spPr bwMode="auto">
          <a:xfrm>
            <a:off x="5256213" y="49625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1</a:t>
            </a:r>
            <a:endParaRPr lang="en-US" altLang="en-US"/>
          </a:p>
        </p:txBody>
      </p:sp>
      <p:sp>
        <p:nvSpPr>
          <p:cNvPr id="607335" name="Text Box 103"/>
          <p:cNvSpPr txBox="1">
            <a:spLocks noChangeArrowheads="1"/>
          </p:cNvSpPr>
          <p:nvPr/>
        </p:nvSpPr>
        <p:spPr bwMode="auto">
          <a:xfrm rot="5400000">
            <a:off x="5970588" y="1971675"/>
            <a:ext cx="1060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Province 1</a:t>
            </a:r>
          </a:p>
        </p:txBody>
      </p:sp>
      <p:sp>
        <p:nvSpPr>
          <p:cNvPr id="607336" name="Text Box 104"/>
          <p:cNvSpPr txBox="1">
            <a:spLocks noChangeArrowheads="1"/>
          </p:cNvSpPr>
          <p:nvPr/>
        </p:nvSpPr>
        <p:spPr bwMode="auto">
          <a:xfrm rot="5400000">
            <a:off x="6753225" y="1898650"/>
            <a:ext cx="1060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Province 2</a:t>
            </a:r>
          </a:p>
        </p:txBody>
      </p:sp>
      <p:sp>
        <p:nvSpPr>
          <p:cNvPr id="607337" name="Text Box 105"/>
          <p:cNvSpPr txBox="1">
            <a:spLocks noChangeArrowheads="1"/>
          </p:cNvSpPr>
          <p:nvPr/>
        </p:nvSpPr>
        <p:spPr bwMode="auto">
          <a:xfrm rot="5400000">
            <a:off x="7870825" y="1933575"/>
            <a:ext cx="1060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Province 3</a:t>
            </a:r>
          </a:p>
        </p:txBody>
      </p:sp>
      <p:sp>
        <p:nvSpPr>
          <p:cNvPr id="607339" name="Freeform 107"/>
          <p:cNvSpPr>
            <a:spLocks/>
          </p:cNvSpPr>
          <p:nvPr/>
        </p:nvSpPr>
        <p:spPr bwMode="auto">
          <a:xfrm>
            <a:off x="5627688" y="3508375"/>
            <a:ext cx="3033712" cy="1679575"/>
          </a:xfrm>
          <a:custGeom>
            <a:avLst/>
            <a:gdLst>
              <a:gd name="T0" fmla="*/ 0 w 638"/>
              <a:gd name="T1" fmla="*/ 334 h 413"/>
              <a:gd name="T2" fmla="*/ 79 w 638"/>
              <a:gd name="T3" fmla="*/ 413 h 413"/>
              <a:gd name="T4" fmla="*/ 559 w 638"/>
              <a:gd name="T5" fmla="*/ 413 h 413"/>
              <a:gd name="T6" fmla="*/ 638 w 638"/>
              <a:gd name="T7" fmla="*/ 334 h 413"/>
              <a:gd name="T8" fmla="*/ 638 w 638"/>
              <a:gd name="T9" fmla="*/ 79 h 413"/>
              <a:gd name="T10" fmla="*/ 559 w 638"/>
              <a:gd name="T11" fmla="*/ 0 h 413"/>
              <a:gd name="T12" fmla="*/ 79 w 638"/>
              <a:gd name="T13" fmla="*/ 0 h 413"/>
              <a:gd name="T14" fmla="*/ 0 w 638"/>
              <a:gd name="T15" fmla="*/ 79 h 413"/>
              <a:gd name="T16" fmla="*/ 0 w 638"/>
              <a:gd name="T17" fmla="*/ 334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38" h="413">
                <a:moveTo>
                  <a:pt x="0" y="334"/>
                </a:moveTo>
                <a:cubicBezTo>
                  <a:pt x="0" y="378"/>
                  <a:pt x="35" y="413"/>
                  <a:pt x="79" y="413"/>
                </a:cubicBezTo>
                <a:cubicBezTo>
                  <a:pt x="559" y="413"/>
                  <a:pt x="559" y="413"/>
                  <a:pt x="559" y="413"/>
                </a:cubicBezTo>
                <a:cubicBezTo>
                  <a:pt x="603" y="413"/>
                  <a:pt x="638" y="378"/>
                  <a:pt x="638" y="334"/>
                </a:cubicBezTo>
                <a:cubicBezTo>
                  <a:pt x="638" y="79"/>
                  <a:pt x="638" y="79"/>
                  <a:pt x="638" y="79"/>
                </a:cubicBezTo>
                <a:cubicBezTo>
                  <a:pt x="638" y="35"/>
                  <a:pt x="603" y="0"/>
                  <a:pt x="559" y="0"/>
                </a:cubicBezTo>
                <a:cubicBezTo>
                  <a:pt x="79" y="0"/>
                  <a:pt x="79" y="0"/>
                  <a:pt x="79" y="0"/>
                </a:cubicBezTo>
                <a:cubicBezTo>
                  <a:pt x="35" y="0"/>
                  <a:pt x="0" y="35"/>
                  <a:pt x="0" y="79"/>
                </a:cubicBezTo>
                <a:lnTo>
                  <a:pt x="0" y="334"/>
                </a:lnTo>
                <a:close/>
              </a:path>
            </a:pathLst>
          </a:custGeom>
          <a:noFill/>
          <a:ln w="49213"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340" name="Freeform 108"/>
          <p:cNvSpPr>
            <a:spLocks/>
          </p:cNvSpPr>
          <p:nvPr/>
        </p:nvSpPr>
        <p:spPr bwMode="auto">
          <a:xfrm>
            <a:off x="6511925" y="3492500"/>
            <a:ext cx="323850" cy="1687513"/>
          </a:xfrm>
          <a:custGeom>
            <a:avLst/>
            <a:gdLst>
              <a:gd name="T0" fmla="*/ 38 w 68"/>
              <a:gd name="T1" fmla="*/ 0 h 415"/>
              <a:gd name="T2" fmla="*/ 24 w 68"/>
              <a:gd name="T3" fmla="*/ 186 h 415"/>
              <a:gd name="T4" fmla="*/ 39 w 68"/>
              <a:gd name="T5" fmla="*/ 340 h 415"/>
              <a:gd name="T6" fmla="*/ 68 w 68"/>
              <a:gd name="T7" fmla="*/ 415 h 415"/>
            </a:gdLst>
            <a:ahLst/>
            <a:cxnLst>
              <a:cxn ang="0">
                <a:pos x="T0" y="T1"/>
              </a:cxn>
              <a:cxn ang="0">
                <a:pos x="T2" y="T3"/>
              </a:cxn>
              <a:cxn ang="0">
                <a:pos x="T4" y="T5"/>
              </a:cxn>
              <a:cxn ang="0">
                <a:pos x="T6" y="T7"/>
              </a:cxn>
            </a:cxnLst>
            <a:rect l="0" t="0" r="r" b="b"/>
            <a:pathLst>
              <a:path w="68" h="415">
                <a:moveTo>
                  <a:pt x="38" y="0"/>
                </a:moveTo>
                <a:cubicBezTo>
                  <a:pt x="38" y="0"/>
                  <a:pt x="59" y="58"/>
                  <a:pt x="24" y="186"/>
                </a:cubicBezTo>
                <a:cubicBezTo>
                  <a:pt x="24" y="186"/>
                  <a:pt x="0" y="284"/>
                  <a:pt x="39" y="340"/>
                </a:cubicBezTo>
                <a:cubicBezTo>
                  <a:pt x="39" y="340"/>
                  <a:pt x="68" y="387"/>
                  <a:pt x="68" y="415"/>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343" name="Freeform 111"/>
          <p:cNvSpPr>
            <a:spLocks/>
          </p:cNvSpPr>
          <p:nvPr/>
        </p:nvSpPr>
        <p:spPr bwMode="auto">
          <a:xfrm>
            <a:off x="7321550" y="3517900"/>
            <a:ext cx="327025" cy="1657350"/>
          </a:xfrm>
          <a:custGeom>
            <a:avLst/>
            <a:gdLst>
              <a:gd name="T0" fmla="*/ 69 w 69"/>
              <a:gd name="T1" fmla="*/ 0 h 408"/>
              <a:gd name="T2" fmla="*/ 41 w 69"/>
              <a:gd name="T3" fmla="*/ 161 h 408"/>
              <a:gd name="T4" fmla="*/ 13 w 69"/>
              <a:gd name="T5" fmla="*/ 408 h 408"/>
            </a:gdLst>
            <a:ahLst/>
            <a:cxnLst>
              <a:cxn ang="0">
                <a:pos x="T0" y="T1"/>
              </a:cxn>
              <a:cxn ang="0">
                <a:pos x="T2" y="T3"/>
              </a:cxn>
              <a:cxn ang="0">
                <a:pos x="T4" y="T5"/>
              </a:cxn>
            </a:cxnLst>
            <a:rect l="0" t="0" r="r" b="b"/>
            <a:pathLst>
              <a:path w="69" h="408">
                <a:moveTo>
                  <a:pt x="69" y="0"/>
                </a:moveTo>
                <a:cubicBezTo>
                  <a:pt x="69" y="0"/>
                  <a:pt x="68" y="86"/>
                  <a:pt x="41" y="161"/>
                </a:cubicBezTo>
                <a:cubicBezTo>
                  <a:pt x="41" y="161"/>
                  <a:pt x="0" y="350"/>
                  <a:pt x="13" y="408"/>
                </a:cubicBezTo>
              </a:path>
            </a:pathLst>
          </a:custGeom>
          <a:noFill/>
          <a:ln w="19050" cap="flat">
            <a:solidFill>
              <a:srgbClr val="0078C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7387" name="Text Box 155"/>
          <p:cNvSpPr txBox="1">
            <a:spLocks noChangeArrowheads="1"/>
          </p:cNvSpPr>
          <p:nvPr/>
        </p:nvSpPr>
        <p:spPr bwMode="auto">
          <a:xfrm rot="5400000">
            <a:off x="6007100" y="4233863"/>
            <a:ext cx="1060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Province 1</a:t>
            </a:r>
          </a:p>
        </p:txBody>
      </p:sp>
      <p:sp>
        <p:nvSpPr>
          <p:cNvPr id="607388" name="Text Box 156"/>
          <p:cNvSpPr txBox="1">
            <a:spLocks noChangeArrowheads="1"/>
          </p:cNvSpPr>
          <p:nvPr/>
        </p:nvSpPr>
        <p:spPr bwMode="auto">
          <a:xfrm rot="5400000">
            <a:off x="6789738" y="4160838"/>
            <a:ext cx="1060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Province 2</a:t>
            </a:r>
          </a:p>
        </p:txBody>
      </p:sp>
      <p:sp>
        <p:nvSpPr>
          <p:cNvPr id="607389" name="Text Box 157"/>
          <p:cNvSpPr txBox="1">
            <a:spLocks noChangeArrowheads="1"/>
          </p:cNvSpPr>
          <p:nvPr/>
        </p:nvSpPr>
        <p:spPr bwMode="auto">
          <a:xfrm rot="5400000">
            <a:off x="7907338" y="4195763"/>
            <a:ext cx="10604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t>Province 3</a:t>
            </a:r>
          </a:p>
        </p:txBody>
      </p:sp>
      <p:sp>
        <p:nvSpPr>
          <p:cNvPr id="607390" name="Text Box 158"/>
          <p:cNvSpPr txBox="1">
            <a:spLocks noChangeArrowheads="1"/>
          </p:cNvSpPr>
          <p:nvPr/>
        </p:nvSpPr>
        <p:spPr bwMode="auto">
          <a:xfrm>
            <a:off x="5491163" y="2862263"/>
            <a:ext cx="34798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800"/>
              <a:t>Map showing all levels of hierarchy</a:t>
            </a:r>
          </a:p>
        </p:txBody>
      </p:sp>
      <p:sp>
        <p:nvSpPr>
          <p:cNvPr id="607391" name="Text Box 159"/>
          <p:cNvSpPr txBox="1">
            <a:spLocks noChangeArrowheads="1"/>
          </p:cNvSpPr>
          <p:nvPr/>
        </p:nvSpPr>
        <p:spPr bwMode="auto">
          <a:xfrm>
            <a:off x="5584825" y="5219700"/>
            <a:ext cx="3367088"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800"/>
              <a:t>Map showing just top two levels of hierarchy</a:t>
            </a:r>
          </a:p>
        </p:txBody>
      </p:sp>
      <p:sp>
        <p:nvSpPr>
          <p:cNvPr id="607392" name="Rectangle 160"/>
          <p:cNvSpPr>
            <a:spLocks noChangeArrowheads="1"/>
          </p:cNvSpPr>
          <p:nvPr/>
        </p:nvSpPr>
        <p:spPr bwMode="auto">
          <a:xfrm>
            <a:off x="7767638" y="2460625"/>
            <a:ext cx="41275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CityG</a:t>
            </a:r>
            <a:endParaRPr lang="en-US" altLang="en-US" sz="2400"/>
          </a:p>
        </p:txBody>
      </p:sp>
      <p:sp>
        <p:nvSpPr>
          <p:cNvPr id="607393" name="Rectangle 161"/>
          <p:cNvSpPr>
            <a:spLocks noChangeArrowheads="1"/>
          </p:cNvSpPr>
          <p:nvPr/>
        </p:nvSpPr>
        <p:spPr bwMode="auto">
          <a:xfrm>
            <a:off x="6700838" y="2263775"/>
            <a:ext cx="3937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CityE</a:t>
            </a:r>
            <a:endParaRPr lang="en-US" altLang="en-US" sz="2400"/>
          </a:p>
        </p:txBody>
      </p:sp>
      <p:sp>
        <p:nvSpPr>
          <p:cNvPr id="607394" name="Rectangle 162"/>
          <p:cNvSpPr>
            <a:spLocks noChangeArrowheads="1"/>
          </p:cNvSpPr>
          <p:nvPr/>
        </p:nvSpPr>
        <p:spPr bwMode="auto">
          <a:xfrm>
            <a:off x="6780213" y="1439863"/>
            <a:ext cx="4032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CityD</a:t>
            </a:r>
            <a:endParaRPr lang="en-US" altLang="en-US" sz="2400"/>
          </a:p>
        </p:txBody>
      </p:sp>
      <p:sp>
        <p:nvSpPr>
          <p:cNvPr id="607395" name="Rectangle 163"/>
          <p:cNvSpPr>
            <a:spLocks noChangeArrowheads="1"/>
          </p:cNvSpPr>
          <p:nvPr/>
        </p:nvSpPr>
        <p:spPr bwMode="auto">
          <a:xfrm>
            <a:off x="5919788" y="1449388"/>
            <a:ext cx="3937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CityA</a:t>
            </a:r>
            <a:endParaRPr lang="en-US" altLang="en-US" sz="2400"/>
          </a:p>
        </p:txBody>
      </p:sp>
      <p:sp>
        <p:nvSpPr>
          <p:cNvPr id="607396" name="Rectangle 164"/>
          <p:cNvSpPr>
            <a:spLocks noChangeArrowheads="1"/>
          </p:cNvSpPr>
          <p:nvPr/>
        </p:nvSpPr>
        <p:spPr bwMode="auto">
          <a:xfrm>
            <a:off x="5819775" y="2032000"/>
            <a:ext cx="393700"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CityB</a:t>
            </a:r>
            <a:endParaRPr lang="en-US" altLang="en-US" sz="2400"/>
          </a:p>
        </p:txBody>
      </p:sp>
      <p:sp>
        <p:nvSpPr>
          <p:cNvPr id="607397" name="Rectangle 165"/>
          <p:cNvSpPr>
            <a:spLocks noChangeArrowheads="1"/>
          </p:cNvSpPr>
          <p:nvPr/>
        </p:nvSpPr>
        <p:spPr bwMode="auto">
          <a:xfrm>
            <a:off x="5937250" y="2560638"/>
            <a:ext cx="403225"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CityC</a:t>
            </a:r>
            <a:endParaRPr lang="en-US" altLang="en-US" sz="2400"/>
          </a:p>
        </p:txBody>
      </p:sp>
      <p:sp>
        <p:nvSpPr>
          <p:cNvPr id="607398" name="Rectangle 166"/>
          <p:cNvSpPr>
            <a:spLocks noChangeArrowheads="1"/>
          </p:cNvSpPr>
          <p:nvPr/>
        </p:nvSpPr>
        <p:spPr bwMode="auto">
          <a:xfrm>
            <a:off x="6711950" y="4938713"/>
            <a:ext cx="7350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Country A</a:t>
            </a:r>
            <a:endParaRPr lang="en-US" altLang="en-US" sz="24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lide Number Placeholder 3"/>
          <p:cNvSpPr>
            <a:spLocks noGrp="1"/>
          </p:cNvSpPr>
          <p:nvPr>
            <p:ph type="sldNum" sz="quarter" idx="10"/>
          </p:nvPr>
        </p:nvSpPr>
        <p:spPr/>
        <p:txBody>
          <a:bodyPr/>
          <a:lstStyle/>
          <a:p>
            <a:fld id="{4444D2CA-7F74-4611-8F79-000EC284C171}" type="slidenum">
              <a:rPr lang="en-US" altLang="en-US"/>
              <a:pPr/>
              <a:t>90</a:t>
            </a:fld>
            <a:endParaRPr lang="en-US" altLang="en-US"/>
          </a:p>
        </p:txBody>
      </p:sp>
      <p:sp>
        <p:nvSpPr>
          <p:cNvPr id="608258" name="Rectangle 2"/>
          <p:cNvSpPr>
            <a:spLocks noGrp="1" noChangeArrowheads="1"/>
          </p:cNvSpPr>
          <p:nvPr>
            <p:ph type="title"/>
          </p:nvPr>
        </p:nvSpPr>
        <p:spPr/>
        <p:txBody>
          <a:bodyPr/>
          <a:lstStyle/>
          <a:p>
            <a:r>
              <a:rPr lang="en-US" altLang="en-US"/>
              <a:t>Hierarchy and Abstraction</a:t>
            </a:r>
          </a:p>
        </p:txBody>
      </p:sp>
      <p:sp>
        <p:nvSpPr>
          <p:cNvPr id="608259" name="Rectangle 3"/>
          <p:cNvSpPr>
            <a:spLocks noGrp="1" noChangeArrowheads="1"/>
          </p:cNvSpPr>
          <p:nvPr>
            <p:ph type="body" idx="1"/>
          </p:nvPr>
        </p:nvSpPr>
        <p:spPr>
          <a:xfrm>
            <a:off x="228600" y="1219200"/>
            <a:ext cx="5326063" cy="4757738"/>
          </a:xfrm>
        </p:spPr>
        <p:txBody>
          <a:bodyPr/>
          <a:lstStyle/>
          <a:p>
            <a:endParaRPr lang="en-US" altLang="en-US" sz="2000"/>
          </a:p>
          <a:p>
            <a:r>
              <a:rPr lang="en-US" altLang="en-US" sz="2000"/>
              <a:t>Abstraction</a:t>
            </a:r>
          </a:p>
          <a:p>
            <a:pPr lvl="1"/>
            <a:r>
              <a:rPr lang="en-US" altLang="en-US" sz="1800"/>
              <a:t>Hierarchy often involves not just grouping items into a new item, but also associating higher-level behavior with the new item, known as </a:t>
            </a:r>
            <a:r>
              <a:rPr lang="en-US" altLang="en-US" sz="1800" i="1" u="sng"/>
              <a:t>abstraction</a:t>
            </a:r>
            <a:endParaRPr lang="en-US" altLang="en-US" sz="1800"/>
          </a:p>
          <a:p>
            <a:pPr lvl="2"/>
            <a:r>
              <a:rPr lang="en-US" altLang="en-US" sz="1600"/>
              <a:t>e.g., an 8-bit adder has an understandable high-level behavior – it adds two 8-bit binary numbers</a:t>
            </a:r>
          </a:p>
          <a:p>
            <a:pPr lvl="1"/>
            <a:r>
              <a:rPr lang="en-US" altLang="en-US" sz="1800"/>
              <a:t>Frees designer from having to remember, or even from having to understand, the lower-level details</a:t>
            </a:r>
          </a:p>
        </p:txBody>
      </p:sp>
      <p:sp>
        <p:nvSpPr>
          <p:cNvPr id="608261" name="Rectangle 5"/>
          <p:cNvSpPr>
            <a:spLocks noChangeArrowheads="1"/>
          </p:cNvSpPr>
          <p:nvPr/>
        </p:nvSpPr>
        <p:spPr bwMode="auto">
          <a:xfrm>
            <a:off x="4754563"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8262" name="Rectangle 6"/>
          <p:cNvSpPr>
            <a:spLocks noChangeArrowheads="1"/>
          </p:cNvSpPr>
          <p:nvPr/>
        </p:nvSpPr>
        <p:spPr bwMode="auto">
          <a:xfrm>
            <a:off x="4754563"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8263" name="Rectangle 7"/>
          <p:cNvSpPr>
            <a:spLocks noChangeArrowheads="1"/>
          </p:cNvSpPr>
          <p:nvPr/>
        </p:nvSpPr>
        <p:spPr bwMode="auto">
          <a:xfrm>
            <a:off x="4754563"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8264" name="Rectangle 8"/>
          <p:cNvSpPr>
            <a:spLocks noChangeArrowheads="1"/>
          </p:cNvSpPr>
          <p:nvPr/>
        </p:nvSpPr>
        <p:spPr bwMode="auto">
          <a:xfrm>
            <a:off x="4754563"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8265" name="Rectangle 9"/>
          <p:cNvSpPr>
            <a:spLocks noChangeArrowheads="1"/>
          </p:cNvSpPr>
          <p:nvPr/>
        </p:nvSpPr>
        <p:spPr bwMode="auto">
          <a:xfrm>
            <a:off x="4754563"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8266" name="Rectangle 10"/>
          <p:cNvSpPr>
            <a:spLocks noChangeArrowheads="1"/>
          </p:cNvSpPr>
          <p:nvPr/>
        </p:nvSpPr>
        <p:spPr bwMode="auto">
          <a:xfrm>
            <a:off x="4754563"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sz="2400"/>
          </a:p>
        </p:txBody>
      </p:sp>
      <p:sp>
        <p:nvSpPr>
          <p:cNvPr id="608267" name="Rectangle 11"/>
          <p:cNvSpPr>
            <a:spLocks noChangeArrowheads="1"/>
          </p:cNvSpPr>
          <p:nvPr/>
        </p:nvSpPr>
        <p:spPr bwMode="auto">
          <a:xfrm>
            <a:off x="3563938"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8268" name="Rectangle 12"/>
          <p:cNvSpPr>
            <a:spLocks noChangeArrowheads="1"/>
          </p:cNvSpPr>
          <p:nvPr/>
        </p:nvSpPr>
        <p:spPr bwMode="auto">
          <a:xfrm>
            <a:off x="3563938"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8269" name="Rectangle 13"/>
          <p:cNvSpPr>
            <a:spLocks noChangeArrowheads="1"/>
          </p:cNvSpPr>
          <p:nvPr/>
        </p:nvSpPr>
        <p:spPr bwMode="auto">
          <a:xfrm>
            <a:off x="3563938"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8270" name="Rectangle 14"/>
          <p:cNvSpPr>
            <a:spLocks noChangeArrowheads="1"/>
          </p:cNvSpPr>
          <p:nvPr/>
        </p:nvSpPr>
        <p:spPr bwMode="auto">
          <a:xfrm>
            <a:off x="3563938"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8271" name="Rectangle 15"/>
          <p:cNvSpPr>
            <a:spLocks noChangeArrowheads="1"/>
          </p:cNvSpPr>
          <p:nvPr/>
        </p:nvSpPr>
        <p:spPr bwMode="auto">
          <a:xfrm>
            <a:off x="3563938"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8272" name="Rectangle 16"/>
          <p:cNvSpPr>
            <a:spLocks noChangeArrowheads="1"/>
          </p:cNvSpPr>
          <p:nvPr/>
        </p:nvSpPr>
        <p:spPr bwMode="auto">
          <a:xfrm>
            <a:off x="3563938"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sz="2400"/>
          </a:p>
        </p:txBody>
      </p:sp>
      <p:sp>
        <p:nvSpPr>
          <p:cNvPr id="608273" name="Rectangle 17"/>
          <p:cNvSpPr>
            <a:spLocks noChangeArrowheads="1"/>
          </p:cNvSpPr>
          <p:nvPr/>
        </p:nvSpPr>
        <p:spPr bwMode="auto">
          <a:xfrm>
            <a:off x="2684463" y="47752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8274" name="Rectangle 18"/>
          <p:cNvSpPr>
            <a:spLocks noChangeArrowheads="1"/>
          </p:cNvSpPr>
          <p:nvPr/>
        </p:nvSpPr>
        <p:spPr bwMode="auto">
          <a:xfrm>
            <a:off x="2684463" y="48577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8275" name="Rectangle 19"/>
          <p:cNvSpPr>
            <a:spLocks noChangeArrowheads="1"/>
          </p:cNvSpPr>
          <p:nvPr/>
        </p:nvSpPr>
        <p:spPr bwMode="auto">
          <a:xfrm>
            <a:off x="2684463" y="49085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8276" name="Rectangle 20"/>
          <p:cNvSpPr>
            <a:spLocks noChangeArrowheads="1"/>
          </p:cNvSpPr>
          <p:nvPr/>
        </p:nvSpPr>
        <p:spPr bwMode="auto">
          <a:xfrm>
            <a:off x="2684463" y="49942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8277" name="Rectangle 21"/>
          <p:cNvSpPr>
            <a:spLocks noChangeArrowheads="1"/>
          </p:cNvSpPr>
          <p:nvPr/>
        </p:nvSpPr>
        <p:spPr bwMode="auto">
          <a:xfrm>
            <a:off x="2684463" y="51958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8278" name="Rectangle 22"/>
          <p:cNvSpPr>
            <a:spLocks noChangeArrowheads="1"/>
          </p:cNvSpPr>
          <p:nvPr/>
        </p:nvSpPr>
        <p:spPr bwMode="auto">
          <a:xfrm>
            <a:off x="2684463" y="5265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1</a:t>
            </a:r>
            <a:endParaRPr lang="en-US" altLang="en-US" sz="2400"/>
          </a:p>
        </p:txBody>
      </p:sp>
      <p:sp>
        <p:nvSpPr>
          <p:cNvPr id="608328" name="Rectangle 72"/>
          <p:cNvSpPr>
            <a:spLocks noChangeArrowheads="1"/>
          </p:cNvSpPr>
          <p:nvPr/>
        </p:nvSpPr>
        <p:spPr bwMode="auto">
          <a:xfrm>
            <a:off x="66484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8329" name="Rectangle 73"/>
          <p:cNvSpPr>
            <a:spLocks noChangeArrowheads="1"/>
          </p:cNvSpPr>
          <p:nvPr/>
        </p:nvSpPr>
        <p:spPr bwMode="auto">
          <a:xfrm>
            <a:off x="58737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8330" name="Rectangle 74"/>
          <p:cNvSpPr>
            <a:spLocks noChangeArrowheads="1"/>
          </p:cNvSpPr>
          <p:nvPr/>
        </p:nvSpPr>
        <p:spPr bwMode="auto">
          <a:xfrm>
            <a:off x="5173663" y="47545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8331" name="Rectangle 75"/>
          <p:cNvSpPr>
            <a:spLocks noChangeArrowheads="1"/>
          </p:cNvSpPr>
          <p:nvPr/>
        </p:nvSpPr>
        <p:spPr bwMode="auto">
          <a:xfrm>
            <a:off x="7145338"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8332" name="Rectangle 76"/>
          <p:cNvSpPr>
            <a:spLocks noChangeArrowheads="1"/>
          </p:cNvSpPr>
          <p:nvPr/>
        </p:nvSpPr>
        <p:spPr bwMode="auto">
          <a:xfrm>
            <a:off x="7145338"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8333" name="Rectangle 77"/>
          <p:cNvSpPr>
            <a:spLocks noChangeArrowheads="1"/>
          </p:cNvSpPr>
          <p:nvPr/>
        </p:nvSpPr>
        <p:spPr bwMode="auto">
          <a:xfrm>
            <a:off x="7145338"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8334" name="Rectangle 78"/>
          <p:cNvSpPr>
            <a:spLocks noChangeArrowheads="1"/>
          </p:cNvSpPr>
          <p:nvPr/>
        </p:nvSpPr>
        <p:spPr bwMode="auto">
          <a:xfrm>
            <a:off x="7145338"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8335" name="Rectangle 79"/>
          <p:cNvSpPr>
            <a:spLocks noChangeArrowheads="1"/>
          </p:cNvSpPr>
          <p:nvPr/>
        </p:nvSpPr>
        <p:spPr bwMode="auto">
          <a:xfrm>
            <a:off x="7145338" y="49593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a:p>
        </p:txBody>
      </p:sp>
      <p:sp>
        <p:nvSpPr>
          <p:cNvPr id="608336" name="Rectangle 80"/>
          <p:cNvSpPr>
            <a:spLocks noChangeArrowheads="1"/>
          </p:cNvSpPr>
          <p:nvPr/>
        </p:nvSpPr>
        <p:spPr bwMode="auto">
          <a:xfrm>
            <a:off x="6153150"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8337" name="Rectangle 81"/>
          <p:cNvSpPr>
            <a:spLocks noChangeArrowheads="1"/>
          </p:cNvSpPr>
          <p:nvPr/>
        </p:nvSpPr>
        <p:spPr bwMode="auto">
          <a:xfrm>
            <a:off x="6153150"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8338" name="Rectangle 82"/>
          <p:cNvSpPr>
            <a:spLocks noChangeArrowheads="1"/>
          </p:cNvSpPr>
          <p:nvPr/>
        </p:nvSpPr>
        <p:spPr bwMode="auto">
          <a:xfrm>
            <a:off x="6153150"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8339" name="Rectangle 83"/>
          <p:cNvSpPr>
            <a:spLocks noChangeArrowheads="1"/>
          </p:cNvSpPr>
          <p:nvPr/>
        </p:nvSpPr>
        <p:spPr bwMode="auto">
          <a:xfrm>
            <a:off x="6153150"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8340" name="Rectangle 84"/>
          <p:cNvSpPr>
            <a:spLocks noChangeArrowheads="1"/>
          </p:cNvSpPr>
          <p:nvPr/>
        </p:nvSpPr>
        <p:spPr bwMode="auto">
          <a:xfrm>
            <a:off x="6153150" y="49593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a:p>
        </p:txBody>
      </p:sp>
      <p:sp>
        <p:nvSpPr>
          <p:cNvPr id="608341" name="Rectangle 85"/>
          <p:cNvSpPr>
            <a:spLocks noChangeArrowheads="1"/>
          </p:cNvSpPr>
          <p:nvPr/>
        </p:nvSpPr>
        <p:spPr bwMode="auto">
          <a:xfrm>
            <a:off x="5256213" y="44148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8342" name="Rectangle 86"/>
          <p:cNvSpPr>
            <a:spLocks noChangeArrowheads="1"/>
          </p:cNvSpPr>
          <p:nvPr/>
        </p:nvSpPr>
        <p:spPr bwMode="auto">
          <a:xfrm>
            <a:off x="5256213" y="45069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8343" name="Rectangle 87"/>
          <p:cNvSpPr>
            <a:spLocks noChangeArrowheads="1"/>
          </p:cNvSpPr>
          <p:nvPr/>
        </p:nvSpPr>
        <p:spPr bwMode="auto">
          <a:xfrm>
            <a:off x="5256213" y="45624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8344" name="Rectangle 88"/>
          <p:cNvSpPr>
            <a:spLocks noChangeArrowheads="1"/>
          </p:cNvSpPr>
          <p:nvPr/>
        </p:nvSpPr>
        <p:spPr bwMode="auto">
          <a:xfrm>
            <a:off x="5256213" y="4884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8345" name="Rectangle 89"/>
          <p:cNvSpPr>
            <a:spLocks noChangeArrowheads="1"/>
          </p:cNvSpPr>
          <p:nvPr/>
        </p:nvSpPr>
        <p:spPr bwMode="auto">
          <a:xfrm>
            <a:off x="5256213" y="49625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1</a:t>
            </a:r>
            <a:endParaRPr lang="en-US" altLang="en-US"/>
          </a:p>
        </p:txBody>
      </p:sp>
      <p:sp>
        <p:nvSpPr>
          <p:cNvPr id="608363" name="Rectangle 107"/>
          <p:cNvSpPr>
            <a:spLocks noChangeArrowheads="1"/>
          </p:cNvSpPr>
          <p:nvPr/>
        </p:nvSpPr>
        <p:spPr bwMode="auto">
          <a:xfrm>
            <a:off x="6418263" y="3140075"/>
            <a:ext cx="569912"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a7.. a0</a:t>
            </a:r>
            <a:endParaRPr lang="en-US" altLang="en-US" sz="3200"/>
          </a:p>
        </p:txBody>
      </p:sp>
      <p:sp>
        <p:nvSpPr>
          <p:cNvPr id="608364" name="Rectangle 108"/>
          <p:cNvSpPr>
            <a:spLocks noChangeArrowheads="1"/>
          </p:cNvSpPr>
          <p:nvPr/>
        </p:nvSpPr>
        <p:spPr bwMode="auto">
          <a:xfrm>
            <a:off x="7481888" y="3140075"/>
            <a:ext cx="5937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b7.. b0</a:t>
            </a:r>
            <a:endParaRPr lang="en-US" altLang="en-US" sz="3200"/>
          </a:p>
        </p:txBody>
      </p:sp>
      <p:sp>
        <p:nvSpPr>
          <p:cNvPr id="608365" name="Rectangle 109"/>
          <p:cNvSpPr>
            <a:spLocks noChangeArrowheads="1"/>
          </p:cNvSpPr>
          <p:nvPr/>
        </p:nvSpPr>
        <p:spPr bwMode="auto">
          <a:xfrm>
            <a:off x="7024688" y="4092575"/>
            <a:ext cx="54610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s7.. s0</a:t>
            </a:r>
            <a:endParaRPr lang="en-US" altLang="en-US" sz="3200"/>
          </a:p>
        </p:txBody>
      </p:sp>
      <p:sp>
        <p:nvSpPr>
          <p:cNvPr id="608366" name="Rectangle 110"/>
          <p:cNvSpPr>
            <a:spLocks noChangeArrowheads="1"/>
          </p:cNvSpPr>
          <p:nvPr/>
        </p:nvSpPr>
        <p:spPr bwMode="auto">
          <a:xfrm>
            <a:off x="6386513" y="4092575"/>
            <a:ext cx="952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a:t>
            </a:r>
            <a:endParaRPr lang="en-US" altLang="en-US" sz="3200"/>
          </a:p>
        </p:txBody>
      </p:sp>
      <p:sp>
        <p:nvSpPr>
          <p:cNvPr id="608367" name="Rectangle 111"/>
          <p:cNvSpPr>
            <a:spLocks noChangeArrowheads="1"/>
          </p:cNvSpPr>
          <p:nvPr/>
        </p:nvSpPr>
        <p:spPr bwMode="auto">
          <a:xfrm>
            <a:off x="6469063" y="4092575"/>
            <a:ext cx="107950"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o</a:t>
            </a:r>
            <a:endParaRPr lang="en-US" altLang="en-US" sz="3200"/>
          </a:p>
        </p:txBody>
      </p:sp>
      <p:sp>
        <p:nvSpPr>
          <p:cNvPr id="608368" name="Rectangle 112"/>
          <p:cNvSpPr>
            <a:spLocks noChangeArrowheads="1"/>
          </p:cNvSpPr>
          <p:nvPr/>
        </p:nvSpPr>
        <p:spPr bwMode="auto">
          <a:xfrm>
            <a:off x="8169275" y="3597275"/>
            <a:ext cx="155575" cy="25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ci</a:t>
            </a:r>
            <a:endParaRPr lang="en-US" altLang="en-US" sz="3200"/>
          </a:p>
        </p:txBody>
      </p:sp>
      <p:sp>
        <p:nvSpPr>
          <p:cNvPr id="608369" name="Line 113"/>
          <p:cNvSpPr>
            <a:spLocks noChangeShapeType="1"/>
          </p:cNvSpPr>
          <p:nvPr/>
        </p:nvSpPr>
        <p:spPr bwMode="auto">
          <a:xfrm>
            <a:off x="6246813" y="2759075"/>
            <a:ext cx="1587"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0" name="Line 114"/>
          <p:cNvSpPr>
            <a:spLocks noChangeShapeType="1"/>
          </p:cNvSpPr>
          <p:nvPr/>
        </p:nvSpPr>
        <p:spPr bwMode="auto">
          <a:xfrm>
            <a:off x="6364288" y="2759075"/>
            <a:ext cx="1587"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1" name="Line 115"/>
          <p:cNvSpPr>
            <a:spLocks noChangeShapeType="1"/>
          </p:cNvSpPr>
          <p:nvPr/>
        </p:nvSpPr>
        <p:spPr bwMode="auto">
          <a:xfrm>
            <a:off x="6480175" y="2759075"/>
            <a:ext cx="1588"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2" name="Line 116"/>
          <p:cNvSpPr>
            <a:spLocks noChangeShapeType="1"/>
          </p:cNvSpPr>
          <p:nvPr/>
        </p:nvSpPr>
        <p:spPr bwMode="auto">
          <a:xfrm>
            <a:off x="6602413" y="2759075"/>
            <a:ext cx="3175"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3" name="Line 117"/>
          <p:cNvSpPr>
            <a:spLocks noChangeShapeType="1"/>
          </p:cNvSpPr>
          <p:nvPr/>
        </p:nvSpPr>
        <p:spPr bwMode="auto">
          <a:xfrm>
            <a:off x="6719888" y="2759075"/>
            <a:ext cx="3175"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4" name="Line 118"/>
          <p:cNvSpPr>
            <a:spLocks noChangeShapeType="1"/>
          </p:cNvSpPr>
          <p:nvPr/>
        </p:nvSpPr>
        <p:spPr bwMode="auto">
          <a:xfrm>
            <a:off x="6835775" y="2759075"/>
            <a:ext cx="1588"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5" name="Line 119"/>
          <p:cNvSpPr>
            <a:spLocks noChangeShapeType="1"/>
          </p:cNvSpPr>
          <p:nvPr/>
        </p:nvSpPr>
        <p:spPr bwMode="auto">
          <a:xfrm>
            <a:off x="6953250" y="2759075"/>
            <a:ext cx="3175"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6" name="Line 120"/>
          <p:cNvSpPr>
            <a:spLocks noChangeShapeType="1"/>
          </p:cNvSpPr>
          <p:nvPr/>
        </p:nvSpPr>
        <p:spPr bwMode="auto">
          <a:xfrm>
            <a:off x="7069138" y="2759075"/>
            <a:ext cx="1587"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7" name="Line 121"/>
          <p:cNvSpPr>
            <a:spLocks noChangeShapeType="1"/>
          </p:cNvSpPr>
          <p:nvPr/>
        </p:nvSpPr>
        <p:spPr bwMode="auto">
          <a:xfrm>
            <a:off x="7442200" y="2759075"/>
            <a:ext cx="3175"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8" name="Line 122"/>
          <p:cNvSpPr>
            <a:spLocks noChangeShapeType="1"/>
          </p:cNvSpPr>
          <p:nvPr/>
        </p:nvSpPr>
        <p:spPr bwMode="auto">
          <a:xfrm>
            <a:off x="7559675" y="2759075"/>
            <a:ext cx="3175"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79" name="Line 123"/>
          <p:cNvSpPr>
            <a:spLocks noChangeShapeType="1"/>
          </p:cNvSpPr>
          <p:nvPr/>
        </p:nvSpPr>
        <p:spPr bwMode="auto">
          <a:xfrm>
            <a:off x="7326313" y="2759075"/>
            <a:ext cx="3175"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0" name="Line 124"/>
          <p:cNvSpPr>
            <a:spLocks noChangeShapeType="1"/>
          </p:cNvSpPr>
          <p:nvPr/>
        </p:nvSpPr>
        <p:spPr bwMode="auto">
          <a:xfrm>
            <a:off x="7675563" y="2759075"/>
            <a:ext cx="1587"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1" name="Line 125"/>
          <p:cNvSpPr>
            <a:spLocks noChangeShapeType="1"/>
          </p:cNvSpPr>
          <p:nvPr/>
        </p:nvSpPr>
        <p:spPr bwMode="auto">
          <a:xfrm>
            <a:off x="7793038" y="2759075"/>
            <a:ext cx="3175"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2" name="Line 126"/>
          <p:cNvSpPr>
            <a:spLocks noChangeShapeType="1"/>
          </p:cNvSpPr>
          <p:nvPr/>
        </p:nvSpPr>
        <p:spPr bwMode="auto">
          <a:xfrm>
            <a:off x="7915275" y="2759075"/>
            <a:ext cx="1588"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3" name="Line 127"/>
          <p:cNvSpPr>
            <a:spLocks noChangeShapeType="1"/>
          </p:cNvSpPr>
          <p:nvPr/>
        </p:nvSpPr>
        <p:spPr bwMode="auto">
          <a:xfrm>
            <a:off x="8032750" y="2759075"/>
            <a:ext cx="1588"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4" name="Line 128"/>
          <p:cNvSpPr>
            <a:spLocks noChangeShapeType="1"/>
          </p:cNvSpPr>
          <p:nvPr/>
        </p:nvSpPr>
        <p:spPr bwMode="auto">
          <a:xfrm>
            <a:off x="8148638" y="2759075"/>
            <a:ext cx="1587" cy="32861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5" name="Line 129"/>
          <p:cNvSpPr>
            <a:spLocks noChangeShapeType="1"/>
          </p:cNvSpPr>
          <p:nvPr/>
        </p:nvSpPr>
        <p:spPr bwMode="auto">
          <a:xfrm>
            <a:off x="6480175" y="4425950"/>
            <a:ext cx="1588" cy="33496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6" name="Line 130"/>
          <p:cNvSpPr>
            <a:spLocks noChangeShapeType="1"/>
          </p:cNvSpPr>
          <p:nvPr/>
        </p:nvSpPr>
        <p:spPr bwMode="auto">
          <a:xfrm>
            <a:off x="6953250" y="4425950"/>
            <a:ext cx="3175" cy="3270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7" name="Line 131"/>
          <p:cNvSpPr>
            <a:spLocks noChangeShapeType="1"/>
          </p:cNvSpPr>
          <p:nvPr/>
        </p:nvSpPr>
        <p:spPr bwMode="auto">
          <a:xfrm>
            <a:off x="7075488" y="4425950"/>
            <a:ext cx="1587" cy="3270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8" name="Line 132"/>
          <p:cNvSpPr>
            <a:spLocks noChangeShapeType="1"/>
          </p:cNvSpPr>
          <p:nvPr/>
        </p:nvSpPr>
        <p:spPr bwMode="auto">
          <a:xfrm>
            <a:off x="6824663" y="4425950"/>
            <a:ext cx="1587" cy="3270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89" name="Line 133"/>
          <p:cNvSpPr>
            <a:spLocks noChangeShapeType="1"/>
          </p:cNvSpPr>
          <p:nvPr/>
        </p:nvSpPr>
        <p:spPr bwMode="auto">
          <a:xfrm>
            <a:off x="7197725" y="4425950"/>
            <a:ext cx="3175" cy="3270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90" name="Line 134"/>
          <p:cNvSpPr>
            <a:spLocks noChangeShapeType="1"/>
          </p:cNvSpPr>
          <p:nvPr/>
        </p:nvSpPr>
        <p:spPr bwMode="auto">
          <a:xfrm>
            <a:off x="7319963" y="4425950"/>
            <a:ext cx="1587" cy="3270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91" name="Line 135"/>
          <p:cNvSpPr>
            <a:spLocks noChangeShapeType="1"/>
          </p:cNvSpPr>
          <p:nvPr/>
        </p:nvSpPr>
        <p:spPr bwMode="auto">
          <a:xfrm>
            <a:off x="7442200" y="4425950"/>
            <a:ext cx="3175" cy="3270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92" name="Line 136"/>
          <p:cNvSpPr>
            <a:spLocks noChangeShapeType="1"/>
          </p:cNvSpPr>
          <p:nvPr/>
        </p:nvSpPr>
        <p:spPr bwMode="auto">
          <a:xfrm>
            <a:off x="7559675" y="4425950"/>
            <a:ext cx="3175" cy="3270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93" name="Line 137"/>
          <p:cNvSpPr>
            <a:spLocks noChangeShapeType="1"/>
          </p:cNvSpPr>
          <p:nvPr/>
        </p:nvSpPr>
        <p:spPr bwMode="auto">
          <a:xfrm>
            <a:off x="7675563" y="4425950"/>
            <a:ext cx="1587" cy="327025"/>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94" name="Line 138"/>
          <p:cNvSpPr>
            <a:spLocks noChangeShapeType="1"/>
          </p:cNvSpPr>
          <p:nvPr/>
        </p:nvSpPr>
        <p:spPr bwMode="auto">
          <a:xfrm flipH="1">
            <a:off x="8353425" y="3752850"/>
            <a:ext cx="244475" cy="1588"/>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8395" name="Rectangle 139"/>
          <p:cNvSpPr>
            <a:spLocks noChangeArrowheads="1"/>
          </p:cNvSpPr>
          <p:nvPr/>
        </p:nvSpPr>
        <p:spPr bwMode="auto">
          <a:xfrm>
            <a:off x="6765925" y="3592513"/>
            <a:ext cx="939800"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700">
                <a:solidFill>
                  <a:srgbClr val="000000"/>
                </a:solidFill>
                <a:latin typeface="Myriad Roman" charset="0"/>
              </a:rPr>
              <a:t>8-bit adder</a:t>
            </a:r>
            <a:endParaRPr lang="en-US" altLang="en-US" sz="3200"/>
          </a:p>
        </p:txBody>
      </p:sp>
      <p:sp>
        <p:nvSpPr>
          <p:cNvPr id="608396" name="Rectangle 140"/>
          <p:cNvSpPr>
            <a:spLocks noChangeArrowheads="1"/>
          </p:cNvSpPr>
          <p:nvPr/>
        </p:nvSpPr>
        <p:spPr bwMode="auto">
          <a:xfrm>
            <a:off x="6037263" y="3087688"/>
            <a:ext cx="2322512" cy="133826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Slide Number Placeholder 3"/>
          <p:cNvSpPr>
            <a:spLocks noGrp="1"/>
          </p:cNvSpPr>
          <p:nvPr>
            <p:ph type="sldNum" sz="quarter" idx="10"/>
          </p:nvPr>
        </p:nvSpPr>
        <p:spPr/>
        <p:txBody>
          <a:bodyPr/>
          <a:lstStyle/>
          <a:p>
            <a:fld id="{0E8DBD05-DFD3-458B-9285-F50CFD6679F3}" type="slidenum">
              <a:rPr lang="en-US" altLang="en-US"/>
              <a:pPr/>
              <a:t>91</a:t>
            </a:fld>
            <a:endParaRPr lang="en-US" altLang="en-US"/>
          </a:p>
        </p:txBody>
      </p:sp>
      <p:sp>
        <p:nvSpPr>
          <p:cNvPr id="609282" name="Rectangle 2"/>
          <p:cNvSpPr>
            <a:spLocks noGrp="1" noChangeArrowheads="1"/>
          </p:cNvSpPr>
          <p:nvPr>
            <p:ph type="title"/>
          </p:nvPr>
        </p:nvSpPr>
        <p:spPr/>
        <p:txBody>
          <a:bodyPr/>
          <a:lstStyle/>
          <a:p>
            <a:r>
              <a:rPr lang="en-US" altLang="en-US"/>
              <a:t>Hierarchy and Composing Larger Components from Smaller Versions</a:t>
            </a:r>
          </a:p>
        </p:txBody>
      </p:sp>
      <p:sp>
        <p:nvSpPr>
          <p:cNvPr id="609283" name="Rectangle 3"/>
          <p:cNvSpPr>
            <a:spLocks noGrp="1" noChangeArrowheads="1"/>
          </p:cNvSpPr>
          <p:nvPr>
            <p:ph type="body" idx="1"/>
          </p:nvPr>
        </p:nvSpPr>
        <p:spPr>
          <a:xfrm>
            <a:off x="155575" y="1249363"/>
            <a:ext cx="5959475" cy="3000375"/>
          </a:xfrm>
        </p:spPr>
        <p:txBody>
          <a:bodyPr/>
          <a:lstStyle/>
          <a:p>
            <a:pPr>
              <a:lnSpc>
                <a:spcPct val="90000"/>
              </a:lnSpc>
            </a:pPr>
            <a:endParaRPr lang="en-US" altLang="en-US" sz="1800"/>
          </a:p>
          <a:p>
            <a:pPr>
              <a:lnSpc>
                <a:spcPct val="90000"/>
              </a:lnSpc>
            </a:pPr>
            <a:r>
              <a:rPr lang="en-US" altLang="en-US" sz="1800"/>
              <a:t>A common task is to compose smaller components into a larger one</a:t>
            </a:r>
          </a:p>
          <a:p>
            <a:pPr lvl="1">
              <a:lnSpc>
                <a:spcPct val="90000"/>
              </a:lnSpc>
            </a:pPr>
            <a:r>
              <a:rPr lang="en-US" altLang="en-US" sz="1600"/>
              <a:t>Gates: Suppose you have plenty of 3-input AND gates, but need a 9-input AND gate</a:t>
            </a:r>
          </a:p>
          <a:p>
            <a:pPr lvl="2">
              <a:lnSpc>
                <a:spcPct val="90000"/>
              </a:lnSpc>
            </a:pPr>
            <a:r>
              <a:rPr lang="en-US" altLang="en-US" sz="1400"/>
              <a:t>Can simple compose the 9-input gate from several 3-input gates</a:t>
            </a:r>
          </a:p>
          <a:p>
            <a:pPr lvl="1">
              <a:lnSpc>
                <a:spcPct val="90000"/>
              </a:lnSpc>
            </a:pPr>
            <a:r>
              <a:rPr lang="en-US" altLang="en-US" sz="1600"/>
              <a:t>Muxes: Suppose you have 4x1 and 2x1 muxes, but need an 8x1 mux</a:t>
            </a:r>
          </a:p>
          <a:p>
            <a:pPr lvl="2">
              <a:lnSpc>
                <a:spcPct val="90000"/>
              </a:lnSpc>
            </a:pPr>
            <a:r>
              <a:rPr lang="en-US" altLang="en-US" sz="1400"/>
              <a:t>s2 selects either top or bottom 4x1</a:t>
            </a:r>
          </a:p>
          <a:p>
            <a:pPr lvl="2">
              <a:lnSpc>
                <a:spcPct val="90000"/>
              </a:lnSpc>
            </a:pPr>
            <a:r>
              <a:rPr lang="en-US" altLang="en-US" sz="1400"/>
              <a:t>s1s0 select particular 4x1 input</a:t>
            </a:r>
          </a:p>
          <a:p>
            <a:pPr lvl="2">
              <a:lnSpc>
                <a:spcPct val="90000"/>
              </a:lnSpc>
            </a:pPr>
            <a:r>
              <a:rPr lang="en-US" altLang="en-US" sz="1400"/>
              <a:t>Implements 8x1 mux – 8 data inputs, 3 selects, one output</a:t>
            </a:r>
          </a:p>
        </p:txBody>
      </p:sp>
      <p:sp>
        <p:nvSpPr>
          <p:cNvPr id="609285" name="Rectangle 5"/>
          <p:cNvSpPr>
            <a:spLocks noChangeArrowheads="1"/>
          </p:cNvSpPr>
          <p:nvPr/>
        </p:nvSpPr>
        <p:spPr bwMode="auto">
          <a:xfrm>
            <a:off x="4754563"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9286" name="Rectangle 6"/>
          <p:cNvSpPr>
            <a:spLocks noChangeArrowheads="1"/>
          </p:cNvSpPr>
          <p:nvPr/>
        </p:nvSpPr>
        <p:spPr bwMode="auto">
          <a:xfrm>
            <a:off x="4754563"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9287" name="Rectangle 7"/>
          <p:cNvSpPr>
            <a:spLocks noChangeArrowheads="1"/>
          </p:cNvSpPr>
          <p:nvPr/>
        </p:nvSpPr>
        <p:spPr bwMode="auto">
          <a:xfrm>
            <a:off x="4754563"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9288" name="Rectangle 8"/>
          <p:cNvSpPr>
            <a:spLocks noChangeArrowheads="1"/>
          </p:cNvSpPr>
          <p:nvPr/>
        </p:nvSpPr>
        <p:spPr bwMode="auto">
          <a:xfrm>
            <a:off x="4754563"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9289" name="Rectangle 9"/>
          <p:cNvSpPr>
            <a:spLocks noChangeArrowheads="1"/>
          </p:cNvSpPr>
          <p:nvPr/>
        </p:nvSpPr>
        <p:spPr bwMode="auto">
          <a:xfrm>
            <a:off x="4754563"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9290" name="Rectangle 10"/>
          <p:cNvSpPr>
            <a:spLocks noChangeArrowheads="1"/>
          </p:cNvSpPr>
          <p:nvPr/>
        </p:nvSpPr>
        <p:spPr bwMode="auto">
          <a:xfrm>
            <a:off x="4754563"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sz="2400"/>
          </a:p>
        </p:txBody>
      </p:sp>
      <p:sp>
        <p:nvSpPr>
          <p:cNvPr id="609291" name="Rectangle 11"/>
          <p:cNvSpPr>
            <a:spLocks noChangeArrowheads="1"/>
          </p:cNvSpPr>
          <p:nvPr/>
        </p:nvSpPr>
        <p:spPr bwMode="auto">
          <a:xfrm>
            <a:off x="3563938"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9292" name="Rectangle 12"/>
          <p:cNvSpPr>
            <a:spLocks noChangeArrowheads="1"/>
          </p:cNvSpPr>
          <p:nvPr/>
        </p:nvSpPr>
        <p:spPr bwMode="auto">
          <a:xfrm>
            <a:off x="3563938"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9293" name="Rectangle 13"/>
          <p:cNvSpPr>
            <a:spLocks noChangeArrowheads="1"/>
          </p:cNvSpPr>
          <p:nvPr/>
        </p:nvSpPr>
        <p:spPr bwMode="auto">
          <a:xfrm>
            <a:off x="3563938"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9294" name="Rectangle 14"/>
          <p:cNvSpPr>
            <a:spLocks noChangeArrowheads="1"/>
          </p:cNvSpPr>
          <p:nvPr/>
        </p:nvSpPr>
        <p:spPr bwMode="auto">
          <a:xfrm>
            <a:off x="3563938"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9295" name="Rectangle 15"/>
          <p:cNvSpPr>
            <a:spLocks noChangeArrowheads="1"/>
          </p:cNvSpPr>
          <p:nvPr/>
        </p:nvSpPr>
        <p:spPr bwMode="auto">
          <a:xfrm>
            <a:off x="3563938"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9296" name="Rectangle 16"/>
          <p:cNvSpPr>
            <a:spLocks noChangeArrowheads="1"/>
          </p:cNvSpPr>
          <p:nvPr/>
        </p:nvSpPr>
        <p:spPr bwMode="auto">
          <a:xfrm>
            <a:off x="3563938"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sz="2400"/>
          </a:p>
        </p:txBody>
      </p:sp>
      <p:sp>
        <p:nvSpPr>
          <p:cNvPr id="609297" name="Rectangle 17"/>
          <p:cNvSpPr>
            <a:spLocks noChangeArrowheads="1"/>
          </p:cNvSpPr>
          <p:nvPr/>
        </p:nvSpPr>
        <p:spPr bwMode="auto">
          <a:xfrm>
            <a:off x="2684463" y="47752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09298" name="Rectangle 18"/>
          <p:cNvSpPr>
            <a:spLocks noChangeArrowheads="1"/>
          </p:cNvSpPr>
          <p:nvPr/>
        </p:nvSpPr>
        <p:spPr bwMode="auto">
          <a:xfrm>
            <a:off x="2684463" y="48577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09299" name="Rectangle 19"/>
          <p:cNvSpPr>
            <a:spLocks noChangeArrowheads="1"/>
          </p:cNvSpPr>
          <p:nvPr/>
        </p:nvSpPr>
        <p:spPr bwMode="auto">
          <a:xfrm>
            <a:off x="2684463" y="49085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09300" name="Rectangle 20"/>
          <p:cNvSpPr>
            <a:spLocks noChangeArrowheads="1"/>
          </p:cNvSpPr>
          <p:nvPr/>
        </p:nvSpPr>
        <p:spPr bwMode="auto">
          <a:xfrm>
            <a:off x="2684463" y="49942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09301" name="Rectangle 21"/>
          <p:cNvSpPr>
            <a:spLocks noChangeArrowheads="1"/>
          </p:cNvSpPr>
          <p:nvPr/>
        </p:nvSpPr>
        <p:spPr bwMode="auto">
          <a:xfrm>
            <a:off x="2684463" y="51958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09302" name="Rectangle 22"/>
          <p:cNvSpPr>
            <a:spLocks noChangeArrowheads="1"/>
          </p:cNvSpPr>
          <p:nvPr/>
        </p:nvSpPr>
        <p:spPr bwMode="auto">
          <a:xfrm>
            <a:off x="2684463" y="5265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1</a:t>
            </a:r>
            <a:endParaRPr lang="en-US" altLang="en-US" sz="2400"/>
          </a:p>
        </p:txBody>
      </p:sp>
      <p:sp>
        <p:nvSpPr>
          <p:cNvPr id="609303" name="Rectangle 23"/>
          <p:cNvSpPr>
            <a:spLocks noChangeArrowheads="1"/>
          </p:cNvSpPr>
          <p:nvPr/>
        </p:nvSpPr>
        <p:spPr bwMode="auto">
          <a:xfrm>
            <a:off x="66484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9304" name="Rectangle 24"/>
          <p:cNvSpPr>
            <a:spLocks noChangeArrowheads="1"/>
          </p:cNvSpPr>
          <p:nvPr/>
        </p:nvSpPr>
        <p:spPr bwMode="auto">
          <a:xfrm>
            <a:off x="58737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9305" name="Rectangle 25"/>
          <p:cNvSpPr>
            <a:spLocks noChangeArrowheads="1"/>
          </p:cNvSpPr>
          <p:nvPr/>
        </p:nvSpPr>
        <p:spPr bwMode="auto">
          <a:xfrm>
            <a:off x="5173663" y="47545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09306" name="Rectangle 26"/>
          <p:cNvSpPr>
            <a:spLocks noChangeArrowheads="1"/>
          </p:cNvSpPr>
          <p:nvPr/>
        </p:nvSpPr>
        <p:spPr bwMode="auto">
          <a:xfrm>
            <a:off x="7145338"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9307" name="Rectangle 27"/>
          <p:cNvSpPr>
            <a:spLocks noChangeArrowheads="1"/>
          </p:cNvSpPr>
          <p:nvPr/>
        </p:nvSpPr>
        <p:spPr bwMode="auto">
          <a:xfrm>
            <a:off x="7145338"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9308" name="Rectangle 28"/>
          <p:cNvSpPr>
            <a:spLocks noChangeArrowheads="1"/>
          </p:cNvSpPr>
          <p:nvPr/>
        </p:nvSpPr>
        <p:spPr bwMode="auto">
          <a:xfrm>
            <a:off x="7145338"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9309" name="Rectangle 29"/>
          <p:cNvSpPr>
            <a:spLocks noChangeArrowheads="1"/>
          </p:cNvSpPr>
          <p:nvPr/>
        </p:nvSpPr>
        <p:spPr bwMode="auto">
          <a:xfrm>
            <a:off x="7145338"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9310" name="Rectangle 30"/>
          <p:cNvSpPr>
            <a:spLocks noChangeArrowheads="1"/>
          </p:cNvSpPr>
          <p:nvPr/>
        </p:nvSpPr>
        <p:spPr bwMode="auto">
          <a:xfrm>
            <a:off x="7145338" y="49593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a:p>
        </p:txBody>
      </p:sp>
      <p:sp>
        <p:nvSpPr>
          <p:cNvPr id="609311" name="Rectangle 31"/>
          <p:cNvSpPr>
            <a:spLocks noChangeArrowheads="1"/>
          </p:cNvSpPr>
          <p:nvPr/>
        </p:nvSpPr>
        <p:spPr bwMode="auto">
          <a:xfrm>
            <a:off x="6153150"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9312" name="Rectangle 32"/>
          <p:cNvSpPr>
            <a:spLocks noChangeArrowheads="1"/>
          </p:cNvSpPr>
          <p:nvPr/>
        </p:nvSpPr>
        <p:spPr bwMode="auto">
          <a:xfrm>
            <a:off x="6153150"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9313" name="Rectangle 33"/>
          <p:cNvSpPr>
            <a:spLocks noChangeArrowheads="1"/>
          </p:cNvSpPr>
          <p:nvPr/>
        </p:nvSpPr>
        <p:spPr bwMode="auto">
          <a:xfrm>
            <a:off x="6153150"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9314" name="Rectangle 34"/>
          <p:cNvSpPr>
            <a:spLocks noChangeArrowheads="1"/>
          </p:cNvSpPr>
          <p:nvPr/>
        </p:nvSpPr>
        <p:spPr bwMode="auto">
          <a:xfrm>
            <a:off x="6153150"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9315" name="Rectangle 35"/>
          <p:cNvSpPr>
            <a:spLocks noChangeArrowheads="1"/>
          </p:cNvSpPr>
          <p:nvPr/>
        </p:nvSpPr>
        <p:spPr bwMode="auto">
          <a:xfrm>
            <a:off x="6153150" y="49593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a:p>
        </p:txBody>
      </p:sp>
      <p:sp>
        <p:nvSpPr>
          <p:cNvPr id="609316" name="Rectangle 36"/>
          <p:cNvSpPr>
            <a:spLocks noChangeArrowheads="1"/>
          </p:cNvSpPr>
          <p:nvPr/>
        </p:nvSpPr>
        <p:spPr bwMode="auto">
          <a:xfrm>
            <a:off x="5256213" y="44148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09317" name="Rectangle 37"/>
          <p:cNvSpPr>
            <a:spLocks noChangeArrowheads="1"/>
          </p:cNvSpPr>
          <p:nvPr/>
        </p:nvSpPr>
        <p:spPr bwMode="auto">
          <a:xfrm>
            <a:off x="5256213" y="45069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09318" name="Rectangle 38"/>
          <p:cNvSpPr>
            <a:spLocks noChangeArrowheads="1"/>
          </p:cNvSpPr>
          <p:nvPr/>
        </p:nvSpPr>
        <p:spPr bwMode="auto">
          <a:xfrm>
            <a:off x="5256213" y="45624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09319" name="Rectangle 39"/>
          <p:cNvSpPr>
            <a:spLocks noChangeArrowheads="1"/>
          </p:cNvSpPr>
          <p:nvPr/>
        </p:nvSpPr>
        <p:spPr bwMode="auto">
          <a:xfrm>
            <a:off x="5256213" y="4884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09320" name="Rectangle 40"/>
          <p:cNvSpPr>
            <a:spLocks noChangeArrowheads="1"/>
          </p:cNvSpPr>
          <p:nvPr/>
        </p:nvSpPr>
        <p:spPr bwMode="auto">
          <a:xfrm>
            <a:off x="5256213" y="49625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1</a:t>
            </a:r>
            <a:endParaRPr lang="en-US" altLang="en-US"/>
          </a:p>
        </p:txBody>
      </p:sp>
      <p:grpSp>
        <p:nvGrpSpPr>
          <p:cNvPr id="609387" name="Group 107"/>
          <p:cNvGrpSpPr>
            <a:grpSpLocks/>
          </p:cNvGrpSpPr>
          <p:nvPr/>
        </p:nvGrpSpPr>
        <p:grpSpPr bwMode="auto">
          <a:xfrm>
            <a:off x="2433638" y="4505325"/>
            <a:ext cx="2078037" cy="1730375"/>
            <a:chOff x="3896" y="895"/>
            <a:chExt cx="1309" cy="1090"/>
          </a:xfrm>
        </p:grpSpPr>
        <p:sp>
          <p:nvSpPr>
            <p:cNvPr id="609355" name="Line 75"/>
            <p:cNvSpPr>
              <a:spLocks noChangeShapeType="1"/>
            </p:cNvSpPr>
            <p:nvPr/>
          </p:nvSpPr>
          <p:spPr bwMode="auto">
            <a:xfrm flipV="1">
              <a:off x="4480" y="1238"/>
              <a:ext cx="97" cy="53"/>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56" name="Freeform 76"/>
            <p:cNvSpPr>
              <a:spLocks/>
            </p:cNvSpPr>
            <p:nvPr/>
          </p:nvSpPr>
          <p:spPr bwMode="auto">
            <a:xfrm>
              <a:off x="4549" y="1201"/>
              <a:ext cx="100" cy="69"/>
            </a:xfrm>
            <a:custGeom>
              <a:avLst/>
              <a:gdLst>
                <a:gd name="T0" fmla="*/ 100 w 100"/>
                <a:gd name="T1" fmla="*/ 0 h 69"/>
                <a:gd name="T2" fmla="*/ 0 w 100"/>
                <a:gd name="T3" fmla="*/ 25 h 69"/>
                <a:gd name="T4" fmla="*/ 25 w 100"/>
                <a:gd name="T5" fmla="*/ 69 h 69"/>
                <a:gd name="T6" fmla="*/ 100 w 100"/>
                <a:gd name="T7" fmla="*/ 0 h 69"/>
              </a:gdLst>
              <a:ahLst/>
              <a:cxnLst>
                <a:cxn ang="0">
                  <a:pos x="T0" y="T1"/>
                </a:cxn>
                <a:cxn ang="0">
                  <a:pos x="T2" y="T3"/>
                </a:cxn>
                <a:cxn ang="0">
                  <a:pos x="T4" y="T5"/>
                </a:cxn>
                <a:cxn ang="0">
                  <a:pos x="T6" y="T7"/>
                </a:cxn>
              </a:cxnLst>
              <a:rect l="0" t="0" r="r" b="b"/>
              <a:pathLst>
                <a:path w="100" h="69">
                  <a:moveTo>
                    <a:pt x="100" y="0"/>
                  </a:moveTo>
                  <a:lnTo>
                    <a:pt x="0" y="25"/>
                  </a:lnTo>
                  <a:lnTo>
                    <a:pt x="25" y="69"/>
                  </a:lnTo>
                  <a:lnTo>
                    <a:pt x="10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9357" name="Freeform 77"/>
            <p:cNvSpPr>
              <a:spLocks/>
            </p:cNvSpPr>
            <p:nvPr/>
          </p:nvSpPr>
          <p:spPr bwMode="auto">
            <a:xfrm>
              <a:off x="4787" y="895"/>
              <a:ext cx="328" cy="284"/>
            </a:xfrm>
            <a:custGeom>
              <a:avLst/>
              <a:gdLst>
                <a:gd name="T0" fmla="*/ 0 w 105"/>
                <a:gd name="T1" fmla="*/ 91 h 91"/>
                <a:gd name="T2" fmla="*/ 59 w 105"/>
                <a:gd name="T3" fmla="*/ 91 h 91"/>
                <a:gd name="T4" fmla="*/ 105 w 105"/>
                <a:gd name="T5" fmla="*/ 45 h 91"/>
                <a:gd name="T6" fmla="*/ 59 w 105"/>
                <a:gd name="T7" fmla="*/ 0 h 91"/>
                <a:gd name="T8" fmla="*/ 0 w 105"/>
                <a:gd name="T9" fmla="*/ 0 h 91"/>
                <a:gd name="T10" fmla="*/ 0 w 105"/>
                <a:gd name="T11" fmla="*/ 91 h 91"/>
              </a:gdLst>
              <a:ahLst/>
              <a:cxnLst>
                <a:cxn ang="0">
                  <a:pos x="T0" y="T1"/>
                </a:cxn>
                <a:cxn ang="0">
                  <a:pos x="T2" y="T3"/>
                </a:cxn>
                <a:cxn ang="0">
                  <a:pos x="T4" y="T5"/>
                </a:cxn>
                <a:cxn ang="0">
                  <a:pos x="T6" y="T7"/>
                </a:cxn>
                <a:cxn ang="0">
                  <a:pos x="T8" y="T9"/>
                </a:cxn>
                <a:cxn ang="0">
                  <a:pos x="T10" y="T11"/>
                </a:cxn>
              </a:cxnLst>
              <a:rect l="0" t="0" r="r" b="b"/>
              <a:pathLst>
                <a:path w="105" h="91">
                  <a:moveTo>
                    <a:pt x="0" y="91"/>
                  </a:moveTo>
                  <a:cubicBezTo>
                    <a:pt x="59" y="91"/>
                    <a:pt x="59" y="91"/>
                    <a:pt x="59" y="91"/>
                  </a:cubicBezTo>
                  <a:cubicBezTo>
                    <a:pt x="84" y="91"/>
                    <a:pt x="105" y="71"/>
                    <a:pt x="105" y="45"/>
                  </a:cubicBezTo>
                  <a:cubicBezTo>
                    <a:pt x="105" y="20"/>
                    <a:pt x="84" y="0"/>
                    <a:pt x="59" y="0"/>
                  </a:cubicBezTo>
                  <a:cubicBezTo>
                    <a:pt x="0" y="0"/>
                    <a:pt x="0" y="0"/>
                    <a:pt x="0" y="0"/>
                  </a:cubicBezTo>
                  <a:lnTo>
                    <a:pt x="0" y="91"/>
                  </a:lnTo>
                  <a:close/>
                </a:path>
              </a:pathLst>
            </a:custGeom>
            <a:solidFill>
              <a:srgbClr val="FFFFFF"/>
            </a:solidFill>
            <a:ln w="15875" cap="flat">
              <a:solidFill>
                <a:srgbClr val="0078C1"/>
              </a:solidFill>
              <a:prstDash val="solid"/>
              <a:miter lim="800000"/>
              <a:headEnd/>
              <a:tailEnd/>
            </a:ln>
          </p:spPr>
          <p:txBody>
            <a:bodyPr/>
            <a:lstStyle/>
            <a:p>
              <a:endParaRPr lang="en-US"/>
            </a:p>
          </p:txBody>
        </p:sp>
        <p:sp>
          <p:nvSpPr>
            <p:cNvPr id="609358" name="Line 78"/>
            <p:cNvSpPr>
              <a:spLocks noChangeShapeType="1"/>
            </p:cNvSpPr>
            <p:nvPr/>
          </p:nvSpPr>
          <p:spPr bwMode="auto">
            <a:xfrm>
              <a:off x="4699" y="910"/>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59" name="Line 79"/>
            <p:cNvSpPr>
              <a:spLocks noChangeShapeType="1"/>
            </p:cNvSpPr>
            <p:nvPr/>
          </p:nvSpPr>
          <p:spPr bwMode="auto">
            <a:xfrm>
              <a:off x="4699" y="941"/>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0" name="Line 80"/>
            <p:cNvSpPr>
              <a:spLocks noChangeShapeType="1"/>
            </p:cNvSpPr>
            <p:nvPr/>
          </p:nvSpPr>
          <p:spPr bwMode="auto">
            <a:xfrm>
              <a:off x="4699" y="973"/>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1" name="Line 81"/>
            <p:cNvSpPr>
              <a:spLocks noChangeShapeType="1"/>
            </p:cNvSpPr>
            <p:nvPr/>
          </p:nvSpPr>
          <p:spPr bwMode="auto">
            <a:xfrm>
              <a:off x="4699" y="1007"/>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2" name="Line 82"/>
            <p:cNvSpPr>
              <a:spLocks noChangeShapeType="1"/>
            </p:cNvSpPr>
            <p:nvPr/>
          </p:nvSpPr>
          <p:spPr bwMode="auto">
            <a:xfrm>
              <a:off x="4699" y="1038"/>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3" name="Line 83"/>
            <p:cNvSpPr>
              <a:spLocks noChangeShapeType="1"/>
            </p:cNvSpPr>
            <p:nvPr/>
          </p:nvSpPr>
          <p:spPr bwMode="auto">
            <a:xfrm>
              <a:off x="4699" y="1070"/>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4" name="Line 84"/>
            <p:cNvSpPr>
              <a:spLocks noChangeShapeType="1"/>
            </p:cNvSpPr>
            <p:nvPr/>
          </p:nvSpPr>
          <p:spPr bwMode="auto">
            <a:xfrm>
              <a:off x="4699" y="1104"/>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5" name="Line 85"/>
            <p:cNvSpPr>
              <a:spLocks noChangeShapeType="1"/>
            </p:cNvSpPr>
            <p:nvPr/>
          </p:nvSpPr>
          <p:spPr bwMode="auto">
            <a:xfrm>
              <a:off x="4699" y="1135"/>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6" name="Line 86"/>
            <p:cNvSpPr>
              <a:spLocks noChangeShapeType="1"/>
            </p:cNvSpPr>
            <p:nvPr/>
          </p:nvSpPr>
          <p:spPr bwMode="auto">
            <a:xfrm>
              <a:off x="4699" y="1166"/>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7" name="Line 87"/>
            <p:cNvSpPr>
              <a:spLocks noChangeShapeType="1"/>
            </p:cNvSpPr>
            <p:nvPr/>
          </p:nvSpPr>
          <p:spPr bwMode="auto">
            <a:xfrm>
              <a:off x="5115" y="1038"/>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68" name="Freeform 88"/>
            <p:cNvSpPr>
              <a:spLocks/>
            </p:cNvSpPr>
            <p:nvPr/>
          </p:nvSpPr>
          <p:spPr bwMode="auto">
            <a:xfrm>
              <a:off x="3983" y="1063"/>
              <a:ext cx="328" cy="285"/>
            </a:xfrm>
            <a:custGeom>
              <a:avLst/>
              <a:gdLst>
                <a:gd name="T0" fmla="*/ 0 w 105"/>
                <a:gd name="T1" fmla="*/ 91 h 91"/>
                <a:gd name="T2" fmla="*/ 59 w 105"/>
                <a:gd name="T3" fmla="*/ 91 h 91"/>
                <a:gd name="T4" fmla="*/ 105 w 105"/>
                <a:gd name="T5" fmla="*/ 46 h 91"/>
                <a:gd name="T6" fmla="*/ 59 w 105"/>
                <a:gd name="T7" fmla="*/ 0 h 91"/>
                <a:gd name="T8" fmla="*/ 0 w 105"/>
                <a:gd name="T9" fmla="*/ 0 h 91"/>
                <a:gd name="T10" fmla="*/ 0 w 105"/>
                <a:gd name="T11" fmla="*/ 91 h 91"/>
              </a:gdLst>
              <a:ahLst/>
              <a:cxnLst>
                <a:cxn ang="0">
                  <a:pos x="T0" y="T1"/>
                </a:cxn>
                <a:cxn ang="0">
                  <a:pos x="T2" y="T3"/>
                </a:cxn>
                <a:cxn ang="0">
                  <a:pos x="T4" y="T5"/>
                </a:cxn>
                <a:cxn ang="0">
                  <a:pos x="T6" y="T7"/>
                </a:cxn>
                <a:cxn ang="0">
                  <a:pos x="T8" y="T9"/>
                </a:cxn>
                <a:cxn ang="0">
                  <a:pos x="T10" y="T11"/>
                </a:cxn>
              </a:cxnLst>
              <a:rect l="0" t="0" r="r" b="b"/>
              <a:pathLst>
                <a:path w="105" h="91">
                  <a:moveTo>
                    <a:pt x="0" y="91"/>
                  </a:moveTo>
                  <a:cubicBezTo>
                    <a:pt x="59" y="91"/>
                    <a:pt x="59" y="91"/>
                    <a:pt x="59" y="91"/>
                  </a:cubicBezTo>
                  <a:cubicBezTo>
                    <a:pt x="84" y="91"/>
                    <a:pt x="105" y="71"/>
                    <a:pt x="105" y="46"/>
                  </a:cubicBezTo>
                  <a:cubicBezTo>
                    <a:pt x="105" y="20"/>
                    <a:pt x="84" y="0"/>
                    <a:pt x="59" y="0"/>
                  </a:cubicBezTo>
                  <a:cubicBezTo>
                    <a:pt x="0" y="0"/>
                    <a:pt x="0" y="0"/>
                    <a:pt x="0" y="0"/>
                  </a:cubicBezTo>
                  <a:lnTo>
                    <a:pt x="0" y="91"/>
                  </a:lnTo>
                  <a:close/>
                </a:path>
              </a:pathLst>
            </a:custGeom>
            <a:solidFill>
              <a:srgbClr val="FFFFFF"/>
            </a:solidFill>
            <a:ln w="15875" cap="flat">
              <a:solidFill>
                <a:srgbClr val="0078C1"/>
              </a:solidFill>
              <a:prstDash val="solid"/>
              <a:miter lim="800000"/>
              <a:headEnd/>
              <a:tailEnd/>
            </a:ln>
          </p:spPr>
          <p:txBody>
            <a:bodyPr/>
            <a:lstStyle/>
            <a:p>
              <a:endParaRPr lang="en-US"/>
            </a:p>
          </p:txBody>
        </p:sp>
        <p:sp>
          <p:nvSpPr>
            <p:cNvPr id="609369" name="Line 89"/>
            <p:cNvSpPr>
              <a:spLocks noChangeShapeType="1"/>
            </p:cNvSpPr>
            <p:nvPr/>
          </p:nvSpPr>
          <p:spPr bwMode="auto">
            <a:xfrm>
              <a:off x="3896" y="1135"/>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70" name="Line 90"/>
            <p:cNvSpPr>
              <a:spLocks noChangeShapeType="1"/>
            </p:cNvSpPr>
            <p:nvPr/>
          </p:nvSpPr>
          <p:spPr bwMode="auto">
            <a:xfrm>
              <a:off x="3896" y="1207"/>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71" name="Line 91"/>
            <p:cNvSpPr>
              <a:spLocks noChangeShapeType="1"/>
            </p:cNvSpPr>
            <p:nvPr/>
          </p:nvSpPr>
          <p:spPr bwMode="auto">
            <a:xfrm>
              <a:off x="3896" y="1279"/>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72" name="Freeform 92"/>
            <p:cNvSpPr>
              <a:spLocks/>
            </p:cNvSpPr>
            <p:nvPr/>
          </p:nvSpPr>
          <p:spPr bwMode="auto">
            <a:xfrm>
              <a:off x="3983" y="1382"/>
              <a:ext cx="328" cy="284"/>
            </a:xfrm>
            <a:custGeom>
              <a:avLst/>
              <a:gdLst>
                <a:gd name="T0" fmla="*/ 0 w 105"/>
                <a:gd name="T1" fmla="*/ 91 h 91"/>
                <a:gd name="T2" fmla="*/ 59 w 105"/>
                <a:gd name="T3" fmla="*/ 91 h 91"/>
                <a:gd name="T4" fmla="*/ 105 w 105"/>
                <a:gd name="T5" fmla="*/ 46 h 91"/>
                <a:gd name="T6" fmla="*/ 59 w 105"/>
                <a:gd name="T7" fmla="*/ 0 h 91"/>
                <a:gd name="T8" fmla="*/ 0 w 105"/>
                <a:gd name="T9" fmla="*/ 0 h 91"/>
                <a:gd name="T10" fmla="*/ 0 w 105"/>
                <a:gd name="T11" fmla="*/ 91 h 91"/>
              </a:gdLst>
              <a:ahLst/>
              <a:cxnLst>
                <a:cxn ang="0">
                  <a:pos x="T0" y="T1"/>
                </a:cxn>
                <a:cxn ang="0">
                  <a:pos x="T2" y="T3"/>
                </a:cxn>
                <a:cxn ang="0">
                  <a:pos x="T4" y="T5"/>
                </a:cxn>
                <a:cxn ang="0">
                  <a:pos x="T6" y="T7"/>
                </a:cxn>
                <a:cxn ang="0">
                  <a:pos x="T8" y="T9"/>
                </a:cxn>
                <a:cxn ang="0">
                  <a:pos x="T10" y="T11"/>
                </a:cxn>
              </a:cxnLst>
              <a:rect l="0" t="0" r="r" b="b"/>
              <a:pathLst>
                <a:path w="105" h="91">
                  <a:moveTo>
                    <a:pt x="0" y="91"/>
                  </a:moveTo>
                  <a:cubicBezTo>
                    <a:pt x="59" y="91"/>
                    <a:pt x="59" y="91"/>
                    <a:pt x="59" y="91"/>
                  </a:cubicBezTo>
                  <a:cubicBezTo>
                    <a:pt x="84" y="91"/>
                    <a:pt x="105" y="71"/>
                    <a:pt x="105" y="46"/>
                  </a:cubicBezTo>
                  <a:cubicBezTo>
                    <a:pt x="105" y="20"/>
                    <a:pt x="84" y="0"/>
                    <a:pt x="59" y="0"/>
                  </a:cubicBezTo>
                  <a:cubicBezTo>
                    <a:pt x="0" y="0"/>
                    <a:pt x="0" y="0"/>
                    <a:pt x="0" y="0"/>
                  </a:cubicBezTo>
                  <a:lnTo>
                    <a:pt x="0" y="91"/>
                  </a:lnTo>
                  <a:close/>
                </a:path>
              </a:pathLst>
            </a:custGeom>
            <a:solidFill>
              <a:srgbClr val="FFFFFF"/>
            </a:solidFill>
            <a:ln w="15875" cap="flat">
              <a:solidFill>
                <a:srgbClr val="0078C1"/>
              </a:solidFill>
              <a:prstDash val="solid"/>
              <a:miter lim="800000"/>
              <a:headEnd/>
              <a:tailEnd/>
            </a:ln>
          </p:spPr>
          <p:txBody>
            <a:bodyPr/>
            <a:lstStyle/>
            <a:p>
              <a:endParaRPr lang="en-US"/>
            </a:p>
          </p:txBody>
        </p:sp>
        <p:sp>
          <p:nvSpPr>
            <p:cNvPr id="609373" name="Line 93"/>
            <p:cNvSpPr>
              <a:spLocks noChangeShapeType="1"/>
            </p:cNvSpPr>
            <p:nvPr/>
          </p:nvSpPr>
          <p:spPr bwMode="auto">
            <a:xfrm>
              <a:off x="3896" y="1454"/>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74" name="Line 94"/>
            <p:cNvSpPr>
              <a:spLocks noChangeShapeType="1"/>
            </p:cNvSpPr>
            <p:nvPr/>
          </p:nvSpPr>
          <p:spPr bwMode="auto">
            <a:xfrm>
              <a:off x="3896" y="1526"/>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75" name="Line 95"/>
            <p:cNvSpPr>
              <a:spLocks noChangeShapeType="1"/>
            </p:cNvSpPr>
            <p:nvPr/>
          </p:nvSpPr>
          <p:spPr bwMode="auto">
            <a:xfrm>
              <a:off x="3896" y="1598"/>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76" name="Freeform 96"/>
            <p:cNvSpPr>
              <a:spLocks/>
            </p:cNvSpPr>
            <p:nvPr/>
          </p:nvSpPr>
          <p:spPr bwMode="auto">
            <a:xfrm>
              <a:off x="4505" y="1382"/>
              <a:ext cx="325" cy="284"/>
            </a:xfrm>
            <a:custGeom>
              <a:avLst/>
              <a:gdLst>
                <a:gd name="T0" fmla="*/ 0 w 104"/>
                <a:gd name="T1" fmla="*/ 91 h 91"/>
                <a:gd name="T2" fmla="*/ 59 w 104"/>
                <a:gd name="T3" fmla="*/ 91 h 91"/>
                <a:gd name="T4" fmla="*/ 104 w 104"/>
                <a:gd name="T5" fmla="*/ 46 h 91"/>
                <a:gd name="T6" fmla="*/ 59 w 104"/>
                <a:gd name="T7" fmla="*/ 0 h 91"/>
                <a:gd name="T8" fmla="*/ 0 w 104"/>
                <a:gd name="T9" fmla="*/ 0 h 91"/>
                <a:gd name="T10" fmla="*/ 0 w 104"/>
                <a:gd name="T11" fmla="*/ 91 h 91"/>
              </a:gdLst>
              <a:ahLst/>
              <a:cxnLst>
                <a:cxn ang="0">
                  <a:pos x="T0" y="T1"/>
                </a:cxn>
                <a:cxn ang="0">
                  <a:pos x="T2" y="T3"/>
                </a:cxn>
                <a:cxn ang="0">
                  <a:pos x="T4" y="T5"/>
                </a:cxn>
                <a:cxn ang="0">
                  <a:pos x="T6" y="T7"/>
                </a:cxn>
                <a:cxn ang="0">
                  <a:pos x="T8" y="T9"/>
                </a:cxn>
                <a:cxn ang="0">
                  <a:pos x="T10" y="T11"/>
                </a:cxn>
              </a:cxnLst>
              <a:rect l="0" t="0" r="r" b="b"/>
              <a:pathLst>
                <a:path w="104" h="91">
                  <a:moveTo>
                    <a:pt x="0" y="91"/>
                  </a:moveTo>
                  <a:cubicBezTo>
                    <a:pt x="59" y="91"/>
                    <a:pt x="59" y="91"/>
                    <a:pt x="59" y="91"/>
                  </a:cubicBezTo>
                  <a:cubicBezTo>
                    <a:pt x="84" y="91"/>
                    <a:pt x="104" y="71"/>
                    <a:pt x="104" y="46"/>
                  </a:cubicBezTo>
                  <a:cubicBezTo>
                    <a:pt x="104" y="20"/>
                    <a:pt x="84" y="0"/>
                    <a:pt x="59" y="0"/>
                  </a:cubicBezTo>
                  <a:cubicBezTo>
                    <a:pt x="0" y="0"/>
                    <a:pt x="0" y="0"/>
                    <a:pt x="0" y="0"/>
                  </a:cubicBezTo>
                  <a:lnTo>
                    <a:pt x="0" y="91"/>
                  </a:lnTo>
                  <a:close/>
                </a:path>
              </a:pathLst>
            </a:custGeom>
            <a:solidFill>
              <a:srgbClr val="FFFFFF"/>
            </a:solidFill>
            <a:ln w="15875" cap="flat">
              <a:solidFill>
                <a:srgbClr val="0078C1"/>
              </a:solidFill>
              <a:prstDash val="solid"/>
              <a:miter lim="800000"/>
              <a:headEnd/>
              <a:tailEnd/>
            </a:ln>
          </p:spPr>
          <p:txBody>
            <a:bodyPr/>
            <a:lstStyle/>
            <a:p>
              <a:endParaRPr lang="en-US"/>
            </a:p>
          </p:txBody>
        </p:sp>
        <p:sp>
          <p:nvSpPr>
            <p:cNvPr id="609377" name="Freeform 97"/>
            <p:cNvSpPr>
              <a:spLocks/>
            </p:cNvSpPr>
            <p:nvPr/>
          </p:nvSpPr>
          <p:spPr bwMode="auto">
            <a:xfrm>
              <a:off x="4311" y="1207"/>
              <a:ext cx="194" cy="247"/>
            </a:xfrm>
            <a:custGeom>
              <a:avLst/>
              <a:gdLst>
                <a:gd name="T0" fmla="*/ 0 w 194"/>
                <a:gd name="T1" fmla="*/ 0 h 247"/>
                <a:gd name="T2" fmla="*/ 85 w 194"/>
                <a:gd name="T3" fmla="*/ 0 h 247"/>
                <a:gd name="T4" fmla="*/ 85 w 194"/>
                <a:gd name="T5" fmla="*/ 247 h 247"/>
                <a:gd name="T6" fmla="*/ 194 w 194"/>
                <a:gd name="T7" fmla="*/ 247 h 247"/>
              </a:gdLst>
              <a:ahLst/>
              <a:cxnLst>
                <a:cxn ang="0">
                  <a:pos x="T0" y="T1"/>
                </a:cxn>
                <a:cxn ang="0">
                  <a:pos x="T2" y="T3"/>
                </a:cxn>
                <a:cxn ang="0">
                  <a:pos x="T4" y="T5"/>
                </a:cxn>
                <a:cxn ang="0">
                  <a:pos x="T6" y="T7"/>
                </a:cxn>
              </a:cxnLst>
              <a:rect l="0" t="0" r="r" b="b"/>
              <a:pathLst>
                <a:path w="194" h="247">
                  <a:moveTo>
                    <a:pt x="0" y="0"/>
                  </a:moveTo>
                  <a:lnTo>
                    <a:pt x="85" y="0"/>
                  </a:lnTo>
                  <a:lnTo>
                    <a:pt x="85" y="247"/>
                  </a:lnTo>
                  <a:lnTo>
                    <a:pt x="194" y="247"/>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9378" name="Line 98"/>
            <p:cNvSpPr>
              <a:spLocks noChangeShapeType="1"/>
            </p:cNvSpPr>
            <p:nvPr/>
          </p:nvSpPr>
          <p:spPr bwMode="auto">
            <a:xfrm>
              <a:off x="4311" y="1526"/>
              <a:ext cx="194"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79" name="Line 99"/>
            <p:cNvSpPr>
              <a:spLocks noChangeShapeType="1"/>
            </p:cNvSpPr>
            <p:nvPr/>
          </p:nvSpPr>
          <p:spPr bwMode="auto">
            <a:xfrm>
              <a:off x="4830" y="1526"/>
              <a:ext cx="9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80" name="Freeform 100"/>
            <p:cNvSpPr>
              <a:spLocks/>
            </p:cNvSpPr>
            <p:nvPr/>
          </p:nvSpPr>
          <p:spPr bwMode="auto">
            <a:xfrm>
              <a:off x="3983" y="1701"/>
              <a:ext cx="328" cy="284"/>
            </a:xfrm>
            <a:custGeom>
              <a:avLst/>
              <a:gdLst>
                <a:gd name="T0" fmla="*/ 0 w 105"/>
                <a:gd name="T1" fmla="*/ 91 h 91"/>
                <a:gd name="T2" fmla="*/ 59 w 105"/>
                <a:gd name="T3" fmla="*/ 91 h 91"/>
                <a:gd name="T4" fmla="*/ 105 w 105"/>
                <a:gd name="T5" fmla="*/ 46 h 91"/>
                <a:gd name="T6" fmla="*/ 59 w 105"/>
                <a:gd name="T7" fmla="*/ 0 h 91"/>
                <a:gd name="T8" fmla="*/ 0 w 105"/>
                <a:gd name="T9" fmla="*/ 0 h 91"/>
                <a:gd name="T10" fmla="*/ 0 w 105"/>
                <a:gd name="T11" fmla="*/ 91 h 91"/>
              </a:gdLst>
              <a:ahLst/>
              <a:cxnLst>
                <a:cxn ang="0">
                  <a:pos x="T0" y="T1"/>
                </a:cxn>
                <a:cxn ang="0">
                  <a:pos x="T2" y="T3"/>
                </a:cxn>
                <a:cxn ang="0">
                  <a:pos x="T4" y="T5"/>
                </a:cxn>
                <a:cxn ang="0">
                  <a:pos x="T6" y="T7"/>
                </a:cxn>
                <a:cxn ang="0">
                  <a:pos x="T8" y="T9"/>
                </a:cxn>
                <a:cxn ang="0">
                  <a:pos x="T10" y="T11"/>
                </a:cxn>
              </a:cxnLst>
              <a:rect l="0" t="0" r="r" b="b"/>
              <a:pathLst>
                <a:path w="105" h="91">
                  <a:moveTo>
                    <a:pt x="0" y="91"/>
                  </a:moveTo>
                  <a:cubicBezTo>
                    <a:pt x="59" y="91"/>
                    <a:pt x="59" y="91"/>
                    <a:pt x="59" y="91"/>
                  </a:cubicBezTo>
                  <a:cubicBezTo>
                    <a:pt x="84" y="91"/>
                    <a:pt x="105" y="71"/>
                    <a:pt x="105" y="46"/>
                  </a:cubicBezTo>
                  <a:cubicBezTo>
                    <a:pt x="105" y="20"/>
                    <a:pt x="84" y="0"/>
                    <a:pt x="59" y="0"/>
                  </a:cubicBezTo>
                  <a:cubicBezTo>
                    <a:pt x="0" y="0"/>
                    <a:pt x="0" y="0"/>
                    <a:pt x="0" y="0"/>
                  </a:cubicBezTo>
                  <a:lnTo>
                    <a:pt x="0" y="91"/>
                  </a:lnTo>
                  <a:close/>
                </a:path>
              </a:pathLst>
            </a:custGeom>
            <a:solidFill>
              <a:srgbClr val="FFFFFF"/>
            </a:solidFill>
            <a:ln w="15875" cap="flat">
              <a:solidFill>
                <a:srgbClr val="0078C1"/>
              </a:solidFill>
              <a:prstDash val="solid"/>
              <a:miter lim="800000"/>
              <a:headEnd/>
              <a:tailEnd/>
            </a:ln>
          </p:spPr>
          <p:txBody>
            <a:bodyPr/>
            <a:lstStyle/>
            <a:p>
              <a:endParaRPr lang="en-US"/>
            </a:p>
          </p:txBody>
        </p:sp>
        <p:sp>
          <p:nvSpPr>
            <p:cNvPr id="609381" name="Line 101"/>
            <p:cNvSpPr>
              <a:spLocks noChangeShapeType="1"/>
            </p:cNvSpPr>
            <p:nvPr/>
          </p:nvSpPr>
          <p:spPr bwMode="auto">
            <a:xfrm>
              <a:off x="3896" y="1773"/>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82" name="Line 102"/>
            <p:cNvSpPr>
              <a:spLocks noChangeShapeType="1"/>
            </p:cNvSpPr>
            <p:nvPr/>
          </p:nvSpPr>
          <p:spPr bwMode="auto">
            <a:xfrm>
              <a:off x="3896" y="1845"/>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09383" name="Freeform 103"/>
            <p:cNvSpPr>
              <a:spLocks/>
            </p:cNvSpPr>
            <p:nvPr/>
          </p:nvSpPr>
          <p:spPr bwMode="auto">
            <a:xfrm>
              <a:off x="4311" y="1598"/>
              <a:ext cx="194" cy="247"/>
            </a:xfrm>
            <a:custGeom>
              <a:avLst/>
              <a:gdLst>
                <a:gd name="T0" fmla="*/ 0 w 194"/>
                <a:gd name="T1" fmla="*/ 247 h 247"/>
                <a:gd name="T2" fmla="*/ 85 w 194"/>
                <a:gd name="T3" fmla="*/ 247 h 247"/>
                <a:gd name="T4" fmla="*/ 85 w 194"/>
                <a:gd name="T5" fmla="*/ 0 h 247"/>
                <a:gd name="T6" fmla="*/ 194 w 194"/>
                <a:gd name="T7" fmla="*/ 0 h 247"/>
              </a:gdLst>
              <a:ahLst/>
              <a:cxnLst>
                <a:cxn ang="0">
                  <a:pos x="T0" y="T1"/>
                </a:cxn>
                <a:cxn ang="0">
                  <a:pos x="T2" y="T3"/>
                </a:cxn>
                <a:cxn ang="0">
                  <a:pos x="T4" y="T5"/>
                </a:cxn>
                <a:cxn ang="0">
                  <a:pos x="T6" y="T7"/>
                </a:cxn>
              </a:cxnLst>
              <a:rect l="0" t="0" r="r" b="b"/>
              <a:pathLst>
                <a:path w="194" h="247">
                  <a:moveTo>
                    <a:pt x="0" y="247"/>
                  </a:moveTo>
                  <a:lnTo>
                    <a:pt x="85" y="247"/>
                  </a:lnTo>
                  <a:lnTo>
                    <a:pt x="85" y="0"/>
                  </a:lnTo>
                  <a:lnTo>
                    <a:pt x="194"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09384" name="Line 104"/>
            <p:cNvSpPr>
              <a:spLocks noChangeShapeType="1"/>
            </p:cNvSpPr>
            <p:nvPr/>
          </p:nvSpPr>
          <p:spPr bwMode="auto">
            <a:xfrm>
              <a:off x="3896" y="1916"/>
              <a:ext cx="9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grpSp>
      <p:pic>
        <p:nvPicPr>
          <p:cNvPr id="609386" name="Picture 1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9338" y="1382713"/>
            <a:ext cx="2890837" cy="4397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9388" name="Text Box 108"/>
          <p:cNvSpPr txBox="1">
            <a:spLocks noChangeArrowheads="1"/>
          </p:cNvSpPr>
          <p:nvPr/>
        </p:nvSpPr>
        <p:spPr bwMode="auto">
          <a:xfrm>
            <a:off x="8201025" y="197326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093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Slide Number Placeholder 3"/>
          <p:cNvSpPr>
            <a:spLocks noGrp="1"/>
          </p:cNvSpPr>
          <p:nvPr>
            <p:ph type="sldNum" sz="quarter" idx="10"/>
          </p:nvPr>
        </p:nvSpPr>
        <p:spPr/>
        <p:txBody>
          <a:bodyPr/>
          <a:lstStyle/>
          <a:p>
            <a:fld id="{13E7B0B7-17C5-4D78-8A57-178A0B009948}" type="slidenum">
              <a:rPr lang="en-US" altLang="en-US"/>
              <a:pPr/>
              <a:t>92</a:t>
            </a:fld>
            <a:endParaRPr lang="en-US" altLang="en-US"/>
          </a:p>
        </p:txBody>
      </p:sp>
      <p:sp>
        <p:nvSpPr>
          <p:cNvPr id="610306" name="Rectangle 2"/>
          <p:cNvSpPr>
            <a:spLocks noGrp="1" noChangeArrowheads="1"/>
          </p:cNvSpPr>
          <p:nvPr>
            <p:ph type="title"/>
          </p:nvPr>
        </p:nvSpPr>
        <p:spPr/>
        <p:txBody>
          <a:bodyPr/>
          <a:lstStyle/>
          <a:p>
            <a:r>
              <a:rPr lang="en-US" altLang="en-US"/>
              <a:t>Hierarchy and Composing Larger Components from Smaller Versions</a:t>
            </a:r>
          </a:p>
        </p:txBody>
      </p:sp>
      <p:sp>
        <p:nvSpPr>
          <p:cNvPr id="610307" name="Rectangle 3"/>
          <p:cNvSpPr>
            <a:spLocks noGrp="1" noChangeArrowheads="1"/>
          </p:cNvSpPr>
          <p:nvPr>
            <p:ph type="body" idx="1"/>
          </p:nvPr>
        </p:nvSpPr>
        <p:spPr>
          <a:xfrm>
            <a:off x="155575" y="1249363"/>
            <a:ext cx="8582025" cy="3000375"/>
          </a:xfrm>
        </p:spPr>
        <p:txBody>
          <a:bodyPr/>
          <a:lstStyle/>
          <a:p>
            <a:r>
              <a:rPr lang="en-US" altLang="en-US" sz="2000"/>
              <a:t>Composing memory very common</a:t>
            </a:r>
          </a:p>
          <a:p>
            <a:r>
              <a:rPr lang="en-US" altLang="en-US" sz="2000"/>
              <a:t>Making memory words wider</a:t>
            </a:r>
          </a:p>
          <a:p>
            <a:pPr lvl="1"/>
            <a:r>
              <a:rPr lang="en-US" altLang="en-US" sz="1800"/>
              <a:t>Easy – just place memories side-by-side until desired width obtained</a:t>
            </a:r>
          </a:p>
          <a:p>
            <a:pPr lvl="1"/>
            <a:r>
              <a:rPr lang="en-US" altLang="en-US" sz="1800"/>
              <a:t>Share address/control lines, concatenate data lines</a:t>
            </a:r>
          </a:p>
          <a:p>
            <a:pPr lvl="1"/>
            <a:r>
              <a:rPr lang="en-US" altLang="en-US" sz="1800"/>
              <a:t>Example: Compose 1024x8 ROMs into 1024x32 ROM</a:t>
            </a:r>
          </a:p>
          <a:p>
            <a:endParaRPr lang="en-US" altLang="en-US" sz="2000"/>
          </a:p>
        </p:txBody>
      </p:sp>
      <p:sp>
        <p:nvSpPr>
          <p:cNvPr id="610308" name="Rectangle 4"/>
          <p:cNvSpPr>
            <a:spLocks noChangeArrowheads="1"/>
          </p:cNvSpPr>
          <p:nvPr/>
        </p:nvSpPr>
        <p:spPr bwMode="auto">
          <a:xfrm>
            <a:off x="4754563"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10309" name="Rectangle 5"/>
          <p:cNvSpPr>
            <a:spLocks noChangeArrowheads="1"/>
          </p:cNvSpPr>
          <p:nvPr/>
        </p:nvSpPr>
        <p:spPr bwMode="auto">
          <a:xfrm>
            <a:off x="4754563"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10310" name="Rectangle 6"/>
          <p:cNvSpPr>
            <a:spLocks noChangeArrowheads="1"/>
          </p:cNvSpPr>
          <p:nvPr/>
        </p:nvSpPr>
        <p:spPr bwMode="auto">
          <a:xfrm>
            <a:off x="4754563"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10311" name="Rectangle 7"/>
          <p:cNvSpPr>
            <a:spLocks noChangeArrowheads="1"/>
          </p:cNvSpPr>
          <p:nvPr/>
        </p:nvSpPr>
        <p:spPr bwMode="auto">
          <a:xfrm>
            <a:off x="4754563"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10312" name="Rectangle 8"/>
          <p:cNvSpPr>
            <a:spLocks noChangeArrowheads="1"/>
          </p:cNvSpPr>
          <p:nvPr/>
        </p:nvSpPr>
        <p:spPr bwMode="auto">
          <a:xfrm>
            <a:off x="4754563"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10313" name="Rectangle 9"/>
          <p:cNvSpPr>
            <a:spLocks noChangeArrowheads="1"/>
          </p:cNvSpPr>
          <p:nvPr/>
        </p:nvSpPr>
        <p:spPr bwMode="auto">
          <a:xfrm>
            <a:off x="4754563"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sz="2400"/>
          </a:p>
        </p:txBody>
      </p:sp>
      <p:sp>
        <p:nvSpPr>
          <p:cNvPr id="610314" name="Rectangle 10"/>
          <p:cNvSpPr>
            <a:spLocks noChangeArrowheads="1"/>
          </p:cNvSpPr>
          <p:nvPr/>
        </p:nvSpPr>
        <p:spPr bwMode="auto">
          <a:xfrm>
            <a:off x="3563938"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10315" name="Rectangle 11"/>
          <p:cNvSpPr>
            <a:spLocks noChangeArrowheads="1"/>
          </p:cNvSpPr>
          <p:nvPr/>
        </p:nvSpPr>
        <p:spPr bwMode="auto">
          <a:xfrm>
            <a:off x="3563938"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10316" name="Rectangle 12"/>
          <p:cNvSpPr>
            <a:spLocks noChangeArrowheads="1"/>
          </p:cNvSpPr>
          <p:nvPr/>
        </p:nvSpPr>
        <p:spPr bwMode="auto">
          <a:xfrm>
            <a:off x="3563938"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10317" name="Rectangle 13"/>
          <p:cNvSpPr>
            <a:spLocks noChangeArrowheads="1"/>
          </p:cNvSpPr>
          <p:nvPr/>
        </p:nvSpPr>
        <p:spPr bwMode="auto">
          <a:xfrm>
            <a:off x="3563938"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10318" name="Rectangle 14"/>
          <p:cNvSpPr>
            <a:spLocks noChangeArrowheads="1"/>
          </p:cNvSpPr>
          <p:nvPr/>
        </p:nvSpPr>
        <p:spPr bwMode="auto">
          <a:xfrm>
            <a:off x="3563938"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10319" name="Rectangle 15"/>
          <p:cNvSpPr>
            <a:spLocks noChangeArrowheads="1"/>
          </p:cNvSpPr>
          <p:nvPr/>
        </p:nvSpPr>
        <p:spPr bwMode="auto">
          <a:xfrm>
            <a:off x="3563938"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sz="2400"/>
          </a:p>
        </p:txBody>
      </p:sp>
      <p:sp>
        <p:nvSpPr>
          <p:cNvPr id="610320" name="Rectangle 16"/>
          <p:cNvSpPr>
            <a:spLocks noChangeArrowheads="1"/>
          </p:cNvSpPr>
          <p:nvPr/>
        </p:nvSpPr>
        <p:spPr bwMode="auto">
          <a:xfrm>
            <a:off x="2684463" y="47752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10321" name="Rectangle 17"/>
          <p:cNvSpPr>
            <a:spLocks noChangeArrowheads="1"/>
          </p:cNvSpPr>
          <p:nvPr/>
        </p:nvSpPr>
        <p:spPr bwMode="auto">
          <a:xfrm>
            <a:off x="2684463" y="48577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10322" name="Rectangle 18"/>
          <p:cNvSpPr>
            <a:spLocks noChangeArrowheads="1"/>
          </p:cNvSpPr>
          <p:nvPr/>
        </p:nvSpPr>
        <p:spPr bwMode="auto">
          <a:xfrm>
            <a:off x="2684463" y="49085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10323" name="Rectangle 19"/>
          <p:cNvSpPr>
            <a:spLocks noChangeArrowheads="1"/>
          </p:cNvSpPr>
          <p:nvPr/>
        </p:nvSpPr>
        <p:spPr bwMode="auto">
          <a:xfrm>
            <a:off x="2684463" y="49942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10324" name="Rectangle 20"/>
          <p:cNvSpPr>
            <a:spLocks noChangeArrowheads="1"/>
          </p:cNvSpPr>
          <p:nvPr/>
        </p:nvSpPr>
        <p:spPr bwMode="auto">
          <a:xfrm>
            <a:off x="2684463" y="51958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10325" name="Rectangle 21"/>
          <p:cNvSpPr>
            <a:spLocks noChangeArrowheads="1"/>
          </p:cNvSpPr>
          <p:nvPr/>
        </p:nvSpPr>
        <p:spPr bwMode="auto">
          <a:xfrm>
            <a:off x="2684463" y="5265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1</a:t>
            </a:r>
            <a:endParaRPr lang="en-US" altLang="en-US" sz="2400"/>
          </a:p>
        </p:txBody>
      </p:sp>
      <p:sp>
        <p:nvSpPr>
          <p:cNvPr id="610326" name="Rectangle 22"/>
          <p:cNvSpPr>
            <a:spLocks noChangeArrowheads="1"/>
          </p:cNvSpPr>
          <p:nvPr/>
        </p:nvSpPr>
        <p:spPr bwMode="auto">
          <a:xfrm>
            <a:off x="66484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10329" name="Rectangle 25"/>
          <p:cNvSpPr>
            <a:spLocks noChangeArrowheads="1"/>
          </p:cNvSpPr>
          <p:nvPr/>
        </p:nvSpPr>
        <p:spPr bwMode="auto">
          <a:xfrm>
            <a:off x="7145338"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10330" name="Rectangle 26"/>
          <p:cNvSpPr>
            <a:spLocks noChangeArrowheads="1"/>
          </p:cNvSpPr>
          <p:nvPr/>
        </p:nvSpPr>
        <p:spPr bwMode="auto">
          <a:xfrm>
            <a:off x="7145338"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10331" name="Rectangle 27"/>
          <p:cNvSpPr>
            <a:spLocks noChangeArrowheads="1"/>
          </p:cNvSpPr>
          <p:nvPr/>
        </p:nvSpPr>
        <p:spPr bwMode="auto">
          <a:xfrm>
            <a:off x="7145338"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10332" name="Rectangle 28"/>
          <p:cNvSpPr>
            <a:spLocks noChangeArrowheads="1"/>
          </p:cNvSpPr>
          <p:nvPr/>
        </p:nvSpPr>
        <p:spPr bwMode="auto">
          <a:xfrm>
            <a:off x="7145338"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10333" name="Rectangle 29"/>
          <p:cNvSpPr>
            <a:spLocks noChangeArrowheads="1"/>
          </p:cNvSpPr>
          <p:nvPr/>
        </p:nvSpPr>
        <p:spPr bwMode="auto">
          <a:xfrm>
            <a:off x="7145338" y="49593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a:p>
        </p:txBody>
      </p:sp>
      <p:sp>
        <p:nvSpPr>
          <p:cNvPr id="610334" name="Rectangle 30"/>
          <p:cNvSpPr>
            <a:spLocks noChangeArrowheads="1"/>
          </p:cNvSpPr>
          <p:nvPr/>
        </p:nvSpPr>
        <p:spPr bwMode="auto">
          <a:xfrm>
            <a:off x="6153150"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10335" name="Rectangle 31"/>
          <p:cNvSpPr>
            <a:spLocks noChangeArrowheads="1"/>
          </p:cNvSpPr>
          <p:nvPr/>
        </p:nvSpPr>
        <p:spPr bwMode="auto">
          <a:xfrm>
            <a:off x="6153150"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10336" name="Rectangle 32"/>
          <p:cNvSpPr>
            <a:spLocks noChangeArrowheads="1"/>
          </p:cNvSpPr>
          <p:nvPr/>
        </p:nvSpPr>
        <p:spPr bwMode="auto">
          <a:xfrm>
            <a:off x="6153150"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10339" name="Rectangle 35"/>
          <p:cNvSpPr>
            <a:spLocks noChangeArrowheads="1"/>
          </p:cNvSpPr>
          <p:nvPr/>
        </p:nvSpPr>
        <p:spPr bwMode="auto">
          <a:xfrm>
            <a:off x="5256213" y="44148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10340" name="Rectangle 36"/>
          <p:cNvSpPr>
            <a:spLocks noChangeArrowheads="1"/>
          </p:cNvSpPr>
          <p:nvPr/>
        </p:nvSpPr>
        <p:spPr bwMode="auto">
          <a:xfrm>
            <a:off x="5256213" y="45069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10341" name="Rectangle 37"/>
          <p:cNvSpPr>
            <a:spLocks noChangeArrowheads="1"/>
          </p:cNvSpPr>
          <p:nvPr/>
        </p:nvSpPr>
        <p:spPr bwMode="auto">
          <a:xfrm>
            <a:off x="5256213" y="45624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10382" name="Line 78"/>
          <p:cNvSpPr>
            <a:spLocks noChangeShapeType="1"/>
          </p:cNvSpPr>
          <p:nvPr/>
        </p:nvSpPr>
        <p:spPr bwMode="auto">
          <a:xfrm>
            <a:off x="3559175" y="4271963"/>
            <a:ext cx="1588" cy="463550"/>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83" name="Freeform 79"/>
          <p:cNvSpPr>
            <a:spLocks/>
          </p:cNvSpPr>
          <p:nvPr/>
        </p:nvSpPr>
        <p:spPr bwMode="auto">
          <a:xfrm>
            <a:off x="3516313" y="4670425"/>
            <a:ext cx="87312" cy="174625"/>
          </a:xfrm>
          <a:custGeom>
            <a:avLst/>
            <a:gdLst>
              <a:gd name="T0" fmla="*/ 27 w 55"/>
              <a:gd name="T1" fmla="*/ 110 h 110"/>
              <a:gd name="T2" fmla="*/ 55 w 55"/>
              <a:gd name="T3" fmla="*/ 0 h 110"/>
              <a:gd name="T4" fmla="*/ 0 w 55"/>
              <a:gd name="T5" fmla="*/ 0 h 110"/>
              <a:gd name="T6" fmla="*/ 27 w 55"/>
              <a:gd name="T7" fmla="*/ 110 h 110"/>
            </a:gdLst>
            <a:ahLst/>
            <a:cxnLst>
              <a:cxn ang="0">
                <a:pos x="T0" y="T1"/>
              </a:cxn>
              <a:cxn ang="0">
                <a:pos x="T2" y="T3"/>
              </a:cxn>
              <a:cxn ang="0">
                <a:pos x="T4" y="T5"/>
              </a:cxn>
              <a:cxn ang="0">
                <a:pos x="T6" y="T7"/>
              </a:cxn>
            </a:cxnLst>
            <a:rect l="0" t="0" r="r" b="b"/>
            <a:pathLst>
              <a:path w="55" h="110">
                <a:moveTo>
                  <a:pt x="27" y="110"/>
                </a:moveTo>
                <a:lnTo>
                  <a:pt x="55" y="0"/>
                </a:lnTo>
                <a:lnTo>
                  <a:pt x="0" y="0"/>
                </a:lnTo>
                <a:lnTo>
                  <a:pt x="27"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384" name="Line 80"/>
          <p:cNvSpPr>
            <a:spLocks noChangeShapeType="1"/>
          </p:cNvSpPr>
          <p:nvPr/>
        </p:nvSpPr>
        <p:spPr bwMode="auto">
          <a:xfrm>
            <a:off x="2400300" y="3451225"/>
            <a:ext cx="361950" cy="1588"/>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85" name="Freeform 81"/>
          <p:cNvSpPr>
            <a:spLocks/>
          </p:cNvSpPr>
          <p:nvPr/>
        </p:nvSpPr>
        <p:spPr bwMode="auto">
          <a:xfrm>
            <a:off x="2728913" y="3413125"/>
            <a:ext cx="174625" cy="87313"/>
          </a:xfrm>
          <a:custGeom>
            <a:avLst/>
            <a:gdLst>
              <a:gd name="T0" fmla="*/ 110 w 110"/>
              <a:gd name="T1" fmla="*/ 28 h 55"/>
              <a:gd name="T2" fmla="*/ 0 w 110"/>
              <a:gd name="T3" fmla="*/ 0 h 55"/>
              <a:gd name="T4" fmla="*/ 0 w 110"/>
              <a:gd name="T5" fmla="*/ 55 h 55"/>
              <a:gd name="T6" fmla="*/ 110 w 110"/>
              <a:gd name="T7" fmla="*/ 28 h 55"/>
            </a:gdLst>
            <a:ahLst/>
            <a:cxnLst>
              <a:cxn ang="0">
                <a:pos x="T0" y="T1"/>
              </a:cxn>
              <a:cxn ang="0">
                <a:pos x="T2" y="T3"/>
              </a:cxn>
              <a:cxn ang="0">
                <a:pos x="T4" y="T5"/>
              </a:cxn>
              <a:cxn ang="0">
                <a:pos x="T6" y="T7"/>
              </a:cxn>
            </a:cxnLst>
            <a:rect l="0" t="0" r="r" b="b"/>
            <a:pathLst>
              <a:path w="110" h="55">
                <a:moveTo>
                  <a:pt x="110" y="28"/>
                </a:moveTo>
                <a:lnTo>
                  <a:pt x="0" y="0"/>
                </a:lnTo>
                <a:lnTo>
                  <a:pt x="0" y="55"/>
                </a:lnTo>
                <a:lnTo>
                  <a:pt x="11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386" name="Line 82"/>
          <p:cNvSpPr>
            <a:spLocks noChangeShapeType="1"/>
          </p:cNvSpPr>
          <p:nvPr/>
        </p:nvSpPr>
        <p:spPr bwMode="auto">
          <a:xfrm>
            <a:off x="2400300" y="4064000"/>
            <a:ext cx="361950" cy="1588"/>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87" name="Freeform 83"/>
          <p:cNvSpPr>
            <a:spLocks/>
          </p:cNvSpPr>
          <p:nvPr/>
        </p:nvSpPr>
        <p:spPr bwMode="auto">
          <a:xfrm>
            <a:off x="2728913" y="4019550"/>
            <a:ext cx="174625" cy="87313"/>
          </a:xfrm>
          <a:custGeom>
            <a:avLst/>
            <a:gdLst>
              <a:gd name="T0" fmla="*/ 110 w 110"/>
              <a:gd name="T1" fmla="*/ 28 h 55"/>
              <a:gd name="T2" fmla="*/ 0 w 110"/>
              <a:gd name="T3" fmla="*/ 0 h 55"/>
              <a:gd name="T4" fmla="*/ 0 w 110"/>
              <a:gd name="T5" fmla="*/ 55 h 55"/>
              <a:gd name="T6" fmla="*/ 110 w 110"/>
              <a:gd name="T7" fmla="*/ 28 h 55"/>
            </a:gdLst>
            <a:ahLst/>
            <a:cxnLst>
              <a:cxn ang="0">
                <a:pos x="T0" y="T1"/>
              </a:cxn>
              <a:cxn ang="0">
                <a:pos x="T2" y="T3"/>
              </a:cxn>
              <a:cxn ang="0">
                <a:pos x="T4" y="T5"/>
              </a:cxn>
              <a:cxn ang="0">
                <a:pos x="T6" y="T7"/>
              </a:cxn>
            </a:cxnLst>
            <a:rect l="0" t="0" r="r" b="b"/>
            <a:pathLst>
              <a:path w="110" h="55">
                <a:moveTo>
                  <a:pt x="110" y="28"/>
                </a:moveTo>
                <a:lnTo>
                  <a:pt x="0" y="0"/>
                </a:lnTo>
                <a:lnTo>
                  <a:pt x="0" y="55"/>
                </a:lnTo>
                <a:lnTo>
                  <a:pt x="11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388" name="Line 84"/>
          <p:cNvSpPr>
            <a:spLocks noChangeShapeType="1"/>
          </p:cNvSpPr>
          <p:nvPr/>
        </p:nvSpPr>
        <p:spPr bwMode="auto">
          <a:xfrm>
            <a:off x="3008313" y="4375150"/>
            <a:ext cx="698500" cy="684213"/>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89" name="Freeform 85"/>
          <p:cNvSpPr>
            <a:spLocks/>
          </p:cNvSpPr>
          <p:nvPr/>
        </p:nvSpPr>
        <p:spPr bwMode="auto">
          <a:xfrm>
            <a:off x="3652838" y="5010150"/>
            <a:ext cx="152400" cy="152400"/>
          </a:xfrm>
          <a:custGeom>
            <a:avLst/>
            <a:gdLst>
              <a:gd name="T0" fmla="*/ 96 w 96"/>
              <a:gd name="T1" fmla="*/ 96 h 96"/>
              <a:gd name="T2" fmla="*/ 38 w 96"/>
              <a:gd name="T3" fmla="*/ 0 h 96"/>
              <a:gd name="T4" fmla="*/ 0 w 96"/>
              <a:gd name="T5" fmla="*/ 37 h 96"/>
              <a:gd name="T6" fmla="*/ 96 w 96"/>
              <a:gd name="T7" fmla="*/ 96 h 96"/>
            </a:gdLst>
            <a:ahLst/>
            <a:cxnLst>
              <a:cxn ang="0">
                <a:pos x="T0" y="T1"/>
              </a:cxn>
              <a:cxn ang="0">
                <a:pos x="T2" y="T3"/>
              </a:cxn>
              <a:cxn ang="0">
                <a:pos x="T4" y="T5"/>
              </a:cxn>
              <a:cxn ang="0">
                <a:pos x="T6" y="T7"/>
              </a:cxn>
            </a:cxnLst>
            <a:rect l="0" t="0" r="r" b="b"/>
            <a:pathLst>
              <a:path w="96" h="96">
                <a:moveTo>
                  <a:pt x="96" y="96"/>
                </a:moveTo>
                <a:lnTo>
                  <a:pt x="38" y="0"/>
                </a:lnTo>
                <a:lnTo>
                  <a:pt x="0" y="37"/>
                </a:lnTo>
                <a:lnTo>
                  <a:pt x="96"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390" name="Line 86"/>
          <p:cNvSpPr>
            <a:spLocks noChangeShapeType="1"/>
          </p:cNvSpPr>
          <p:nvPr/>
        </p:nvSpPr>
        <p:spPr bwMode="auto">
          <a:xfrm>
            <a:off x="3767138" y="3451225"/>
            <a:ext cx="153987" cy="1588"/>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91" name="Freeform 87"/>
          <p:cNvSpPr>
            <a:spLocks/>
          </p:cNvSpPr>
          <p:nvPr/>
        </p:nvSpPr>
        <p:spPr bwMode="auto">
          <a:xfrm>
            <a:off x="3887788" y="3413125"/>
            <a:ext cx="174625" cy="87313"/>
          </a:xfrm>
          <a:custGeom>
            <a:avLst/>
            <a:gdLst>
              <a:gd name="T0" fmla="*/ 110 w 110"/>
              <a:gd name="T1" fmla="*/ 28 h 55"/>
              <a:gd name="T2" fmla="*/ 0 w 110"/>
              <a:gd name="T3" fmla="*/ 0 h 55"/>
              <a:gd name="T4" fmla="*/ 0 w 110"/>
              <a:gd name="T5" fmla="*/ 55 h 55"/>
              <a:gd name="T6" fmla="*/ 110 w 110"/>
              <a:gd name="T7" fmla="*/ 28 h 55"/>
            </a:gdLst>
            <a:ahLst/>
            <a:cxnLst>
              <a:cxn ang="0">
                <a:pos x="T0" y="T1"/>
              </a:cxn>
              <a:cxn ang="0">
                <a:pos x="T2" y="T3"/>
              </a:cxn>
              <a:cxn ang="0">
                <a:pos x="T4" y="T5"/>
              </a:cxn>
              <a:cxn ang="0">
                <a:pos x="T6" y="T7"/>
              </a:cxn>
            </a:cxnLst>
            <a:rect l="0" t="0" r="r" b="b"/>
            <a:pathLst>
              <a:path w="110" h="55">
                <a:moveTo>
                  <a:pt x="110" y="28"/>
                </a:moveTo>
                <a:lnTo>
                  <a:pt x="0" y="0"/>
                </a:lnTo>
                <a:lnTo>
                  <a:pt x="0" y="55"/>
                </a:lnTo>
                <a:lnTo>
                  <a:pt x="11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392" name="Line 88"/>
          <p:cNvSpPr>
            <a:spLocks noChangeShapeType="1"/>
          </p:cNvSpPr>
          <p:nvPr/>
        </p:nvSpPr>
        <p:spPr bwMode="auto">
          <a:xfrm>
            <a:off x="3773488" y="4064000"/>
            <a:ext cx="147637" cy="1588"/>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93" name="Freeform 89"/>
          <p:cNvSpPr>
            <a:spLocks/>
          </p:cNvSpPr>
          <p:nvPr/>
        </p:nvSpPr>
        <p:spPr bwMode="auto">
          <a:xfrm>
            <a:off x="3887788" y="4019550"/>
            <a:ext cx="174625" cy="87313"/>
          </a:xfrm>
          <a:custGeom>
            <a:avLst/>
            <a:gdLst>
              <a:gd name="T0" fmla="*/ 110 w 110"/>
              <a:gd name="T1" fmla="*/ 28 h 55"/>
              <a:gd name="T2" fmla="*/ 0 w 110"/>
              <a:gd name="T3" fmla="*/ 0 h 55"/>
              <a:gd name="T4" fmla="*/ 0 w 110"/>
              <a:gd name="T5" fmla="*/ 55 h 55"/>
              <a:gd name="T6" fmla="*/ 110 w 110"/>
              <a:gd name="T7" fmla="*/ 28 h 55"/>
            </a:gdLst>
            <a:ahLst/>
            <a:cxnLst>
              <a:cxn ang="0">
                <a:pos x="T0" y="T1"/>
              </a:cxn>
              <a:cxn ang="0">
                <a:pos x="T2" y="T3"/>
              </a:cxn>
              <a:cxn ang="0">
                <a:pos x="T4" y="T5"/>
              </a:cxn>
              <a:cxn ang="0">
                <a:pos x="T6" y="T7"/>
              </a:cxn>
            </a:cxnLst>
            <a:rect l="0" t="0" r="r" b="b"/>
            <a:pathLst>
              <a:path w="110" h="55">
                <a:moveTo>
                  <a:pt x="110" y="28"/>
                </a:moveTo>
                <a:lnTo>
                  <a:pt x="0" y="0"/>
                </a:lnTo>
                <a:lnTo>
                  <a:pt x="0" y="55"/>
                </a:lnTo>
                <a:lnTo>
                  <a:pt x="11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394" name="Line 90"/>
          <p:cNvSpPr>
            <a:spLocks noChangeShapeType="1"/>
          </p:cNvSpPr>
          <p:nvPr/>
        </p:nvSpPr>
        <p:spPr bwMode="auto">
          <a:xfrm>
            <a:off x="4932363" y="3451225"/>
            <a:ext cx="152400" cy="1588"/>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95" name="Freeform 91"/>
          <p:cNvSpPr>
            <a:spLocks/>
          </p:cNvSpPr>
          <p:nvPr/>
        </p:nvSpPr>
        <p:spPr bwMode="auto">
          <a:xfrm>
            <a:off x="5053013" y="3413125"/>
            <a:ext cx="174625" cy="87313"/>
          </a:xfrm>
          <a:custGeom>
            <a:avLst/>
            <a:gdLst>
              <a:gd name="T0" fmla="*/ 110 w 110"/>
              <a:gd name="T1" fmla="*/ 28 h 55"/>
              <a:gd name="T2" fmla="*/ 0 w 110"/>
              <a:gd name="T3" fmla="*/ 0 h 55"/>
              <a:gd name="T4" fmla="*/ 0 w 110"/>
              <a:gd name="T5" fmla="*/ 55 h 55"/>
              <a:gd name="T6" fmla="*/ 110 w 110"/>
              <a:gd name="T7" fmla="*/ 28 h 55"/>
            </a:gdLst>
            <a:ahLst/>
            <a:cxnLst>
              <a:cxn ang="0">
                <a:pos x="T0" y="T1"/>
              </a:cxn>
              <a:cxn ang="0">
                <a:pos x="T2" y="T3"/>
              </a:cxn>
              <a:cxn ang="0">
                <a:pos x="T4" y="T5"/>
              </a:cxn>
              <a:cxn ang="0">
                <a:pos x="T6" y="T7"/>
              </a:cxn>
            </a:cxnLst>
            <a:rect l="0" t="0" r="r" b="b"/>
            <a:pathLst>
              <a:path w="110" h="55">
                <a:moveTo>
                  <a:pt x="110" y="28"/>
                </a:moveTo>
                <a:lnTo>
                  <a:pt x="0" y="0"/>
                </a:lnTo>
                <a:lnTo>
                  <a:pt x="0" y="55"/>
                </a:lnTo>
                <a:lnTo>
                  <a:pt x="11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396" name="Line 92"/>
          <p:cNvSpPr>
            <a:spLocks noChangeShapeType="1"/>
          </p:cNvSpPr>
          <p:nvPr/>
        </p:nvSpPr>
        <p:spPr bwMode="auto">
          <a:xfrm>
            <a:off x="4932363" y="4064000"/>
            <a:ext cx="152400" cy="1588"/>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97" name="Freeform 93"/>
          <p:cNvSpPr>
            <a:spLocks/>
          </p:cNvSpPr>
          <p:nvPr/>
        </p:nvSpPr>
        <p:spPr bwMode="auto">
          <a:xfrm>
            <a:off x="5053013" y="4019550"/>
            <a:ext cx="174625" cy="87313"/>
          </a:xfrm>
          <a:custGeom>
            <a:avLst/>
            <a:gdLst>
              <a:gd name="T0" fmla="*/ 110 w 110"/>
              <a:gd name="T1" fmla="*/ 28 h 55"/>
              <a:gd name="T2" fmla="*/ 0 w 110"/>
              <a:gd name="T3" fmla="*/ 0 h 55"/>
              <a:gd name="T4" fmla="*/ 0 w 110"/>
              <a:gd name="T5" fmla="*/ 55 h 55"/>
              <a:gd name="T6" fmla="*/ 110 w 110"/>
              <a:gd name="T7" fmla="*/ 28 h 55"/>
            </a:gdLst>
            <a:ahLst/>
            <a:cxnLst>
              <a:cxn ang="0">
                <a:pos x="T0" y="T1"/>
              </a:cxn>
              <a:cxn ang="0">
                <a:pos x="T2" y="T3"/>
              </a:cxn>
              <a:cxn ang="0">
                <a:pos x="T4" y="T5"/>
              </a:cxn>
              <a:cxn ang="0">
                <a:pos x="T6" y="T7"/>
              </a:cxn>
            </a:cxnLst>
            <a:rect l="0" t="0" r="r" b="b"/>
            <a:pathLst>
              <a:path w="110" h="55">
                <a:moveTo>
                  <a:pt x="110" y="28"/>
                </a:moveTo>
                <a:lnTo>
                  <a:pt x="0" y="0"/>
                </a:lnTo>
                <a:lnTo>
                  <a:pt x="0" y="55"/>
                </a:lnTo>
                <a:lnTo>
                  <a:pt x="11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398" name="Line 94"/>
          <p:cNvSpPr>
            <a:spLocks noChangeShapeType="1"/>
          </p:cNvSpPr>
          <p:nvPr/>
        </p:nvSpPr>
        <p:spPr bwMode="auto">
          <a:xfrm>
            <a:off x="6091238" y="3451225"/>
            <a:ext cx="152400" cy="1588"/>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399" name="Freeform 95"/>
          <p:cNvSpPr>
            <a:spLocks/>
          </p:cNvSpPr>
          <p:nvPr/>
        </p:nvSpPr>
        <p:spPr bwMode="auto">
          <a:xfrm>
            <a:off x="6211888" y="3413125"/>
            <a:ext cx="174625" cy="87313"/>
          </a:xfrm>
          <a:custGeom>
            <a:avLst/>
            <a:gdLst>
              <a:gd name="T0" fmla="*/ 110 w 110"/>
              <a:gd name="T1" fmla="*/ 28 h 55"/>
              <a:gd name="T2" fmla="*/ 0 w 110"/>
              <a:gd name="T3" fmla="*/ 0 h 55"/>
              <a:gd name="T4" fmla="*/ 0 w 110"/>
              <a:gd name="T5" fmla="*/ 55 h 55"/>
              <a:gd name="T6" fmla="*/ 110 w 110"/>
              <a:gd name="T7" fmla="*/ 28 h 55"/>
            </a:gdLst>
            <a:ahLst/>
            <a:cxnLst>
              <a:cxn ang="0">
                <a:pos x="T0" y="T1"/>
              </a:cxn>
              <a:cxn ang="0">
                <a:pos x="T2" y="T3"/>
              </a:cxn>
              <a:cxn ang="0">
                <a:pos x="T4" y="T5"/>
              </a:cxn>
              <a:cxn ang="0">
                <a:pos x="T6" y="T7"/>
              </a:cxn>
            </a:cxnLst>
            <a:rect l="0" t="0" r="r" b="b"/>
            <a:pathLst>
              <a:path w="110" h="55">
                <a:moveTo>
                  <a:pt x="110" y="28"/>
                </a:moveTo>
                <a:lnTo>
                  <a:pt x="0" y="0"/>
                </a:lnTo>
                <a:lnTo>
                  <a:pt x="0" y="55"/>
                </a:lnTo>
                <a:lnTo>
                  <a:pt x="11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00" name="Line 96"/>
          <p:cNvSpPr>
            <a:spLocks noChangeShapeType="1"/>
          </p:cNvSpPr>
          <p:nvPr/>
        </p:nvSpPr>
        <p:spPr bwMode="auto">
          <a:xfrm>
            <a:off x="6091238" y="4064000"/>
            <a:ext cx="152400" cy="1588"/>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01" name="Freeform 97"/>
          <p:cNvSpPr>
            <a:spLocks/>
          </p:cNvSpPr>
          <p:nvPr/>
        </p:nvSpPr>
        <p:spPr bwMode="auto">
          <a:xfrm>
            <a:off x="6211888" y="4019550"/>
            <a:ext cx="174625" cy="87313"/>
          </a:xfrm>
          <a:custGeom>
            <a:avLst/>
            <a:gdLst>
              <a:gd name="T0" fmla="*/ 110 w 110"/>
              <a:gd name="T1" fmla="*/ 28 h 55"/>
              <a:gd name="T2" fmla="*/ 0 w 110"/>
              <a:gd name="T3" fmla="*/ 0 h 55"/>
              <a:gd name="T4" fmla="*/ 0 w 110"/>
              <a:gd name="T5" fmla="*/ 55 h 55"/>
              <a:gd name="T6" fmla="*/ 110 w 110"/>
              <a:gd name="T7" fmla="*/ 28 h 55"/>
            </a:gdLst>
            <a:ahLst/>
            <a:cxnLst>
              <a:cxn ang="0">
                <a:pos x="T0" y="T1"/>
              </a:cxn>
              <a:cxn ang="0">
                <a:pos x="T2" y="T3"/>
              </a:cxn>
              <a:cxn ang="0">
                <a:pos x="T4" y="T5"/>
              </a:cxn>
              <a:cxn ang="0">
                <a:pos x="T6" y="T7"/>
              </a:cxn>
            </a:cxnLst>
            <a:rect l="0" t="0" r="r" b="b"/>
            <a:pathLst>
              <a:path w="110" h="55">
                <a:moveTo>
                  <a:pt x="110" y="28"/>
                </a:moveTo>
                <a:lnTo>
                  <a:pt x="0" y="0"/>
                </a:lnTo>
                <a:lnTo>
                  <a:pt x="0" y="55"/>
                </a:lnTo>
                <a:lnTo>
                  <a:pt x="110"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02" name="Freeform 98"/>
          <p:cNvSpPr>
            <a:spLocks/>
          </p:cNvSpPr>
          <p:nvPr/>
        </p:nvSpPr>
        <p:spPr bwMode="auto">
          <a:xfrm>
            <a:off x="2455863" y="3379788"/>
            <a:ext cx="147637" cy="147637"/>
          </a:xfrm>
          <a:custGeom>
            <a:avLst/>
            <a:gdLst>
              <a:gd name="T0" fmla="*/ 93 w 93"/>
              <a:gd name="T1" fmla="*/ 0 h 93"/>
              <a:gd name="T2" fmla="*/ 0 w 93"/>
              <a:gd name="T3" fmla="*/ 93 h 93"/>
              <a:gd name="T4" fmla="*/ 93 w 93"/>
              <a:gd name="T5" fmla="*/ 0 h 93"/>
            </a:gdLst>
            <a:ahLst/>
            <a:cxnLst>
              <a:cxn ang="0">
                <a:pos x="T0" y="T1"/>
              </a:cxn>
              <a:cxn ang="0">
                <a:pos x="T2" y="T3"/>
              </a:cxn>
              <a:cxn ang="0">
                <a:pos x="T4" y="T5"/>
              </a:cxn>
            </a:cxnLst>
            <a:rect l="0" t="0" r="r" b="b"/>
            <a:pathLst>
              <a:path w="93" h="93">
                <a:moveTo>
                  <a:pt x="93" y="0"/>
                </a:moveTo>
                <a:lnTo>
                  <a:pt x="0" y="93"/>
                </a:lnTo>
                <a:lnTo>
                  <a:pt x="9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03" name="Line 99"/>
          <p:cNvSpPr>
            <a:spLocks noChangeShapeType="1"/>
          </p:cNvSpPr>
          <p:nvPr/>
        </p:nvSpPr>
        <p:spPr bwMode="auto">
          <a:xfrm flipH="1">
            <a:off x="2455863" y="3379788"/>
            <a:ext cx="147637" cy="147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04" name="Freeform 100"/>
          <p:cNvSpPr>
            <a:spLocks/>
          </p:cNvSpPr>
          <p:nvPr/>
        </p:nvSpPr>
        <p:spPr bwMode="auto">
          <a:xfrm>
            <a:off x="3489325" y="4440238"/>
            <a:ext cx="141288" cy="147637"/>
          </a:xfrm>
          <a:custGeom>
            <a:avLst/>
            <a:gdLst>
              <a:gd name="T0" fmla="*/ 89 w 89"/>
              <a:gd name="T1" fmla="*/ 0 h 93"/>
              <a:gd name="T2" fmla="*/ 0 w 89"/>
              <a:gd name="T3" fmla="*/ 93 h 93"/>
              <a:gd name="T4" fmla="*/ 89 w 89"/>
              <a:gd name="T5" fmla="*/ 0 h 93"/>
            </a:gdLst>
            <a:ahLst/>
            <a:cxnLst>
              <a:cxn ang="0">
                <a:pos x="T0" y="T1"/>
              </a:cxn>
              <a:cxn ang="0">
                <a:pos x="T2" y="T3"/>
              </a:cxn>
              <a:cxn ang="0">
                <a:pos x="T4" y="T5"/>
              </a:cxn>
            </a:cxnLst>
            <a:rect l="0" t="0" r="r" b="b"/>
            <a:pathLst>
              <a:path w="89" h="93">
                <a:moveTo>
                  <a:pt x="89" y="0"/>
                </a:moveTo>
                <a:lnTo>
                  <a:pt x="0" y="93"/>
                </a:lnTo>
                <a:lnTo>
                  <a:pt x="8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05" name="Line 101"/>
          <p:cNvSpPr>
            <a:spLocks noChangeShapeType="1"/>
          </p:cNvSpPr>
          <p:nvPr/>
        </p:nvSpPr>
        <p:spPr bwMode="auto">
          <a:xfrm flipH="1">
            <a:off x="3489325" y="4440238"/>
            <a:ext cx="141288" cy="147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06" name="Line 102"/>
          <p:cNvSpPr>
            <a:spLocks noChangeShapeType="1"/>
          </p:cNvSpPr>
          <p:nvPr/>
        </p:nvSpPr>
        <p:spPr bwMode="auto">
          <a:xfrm>
            <a:off x="4724400" y="4271963"/>
            <a:ext cx="1588" cy="463550"/>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07" name="Freeform 103"/>
          <p:cNvSpPr>
            <a:spLocks/>
          </p:cNvSpPr>
          <p:nvPr/>
        </p:nvSpPr>
        <p:spPr bwMode="auto">
          <a:xfrm>
            <a:off x="4679950" y="4670425"/>
            <a:ext cx="88900" cy="174625"/>
          </a:xfrm>
          <a:custGeom>
            <a:avLst/>
            <a:gdLst>
              <a:gd name="T0" fmla="*/ 28 w 56"/>
              <a:gd name="T1" fmla="*/ 110 h 110"/>
              <a:gd name="T2" fmla="*/ 56 w 56"/>
              <a:gd name="T3" fmla="*/ 0 h 110"/>
              <a:gd name="T4" fmla="*/ 0 w 56"/>
              <a:gd name="T5" fmla="*/ 0 h 110"/>
              <a:gd name="T6" fmla="*/ 28 w 56"/>
              <a:gd name="T7" fmla="*/ 110 h 110"/>
            </a:gdLst>
            <a:ahLst/>
            <a:cxnLst>
              <a:cxn ang="0">
                <a:pos x="T0" y="T1"/>
              </a:cxn>
              <a:cxn ang="0">
                <a:pos x="T2" y="T3"/>
              </a:cxn>
              <a:cxn ang="0">
                <a:pos x="T4" y="T5"/>
              </a:cxn>
              <a:cxn ang="0">
                <a:pos x="T6" y="T7"/>
              </a:cxn>
            </a:cxnLst>
            <a:rect l="0" t="0" r="r" b="b"/>
            <a:pathLst>
              <a:path w="56" h="110">
                <a:moveTo>
                  <a:pt x="28" y="110"/>
                </a:moveTo>
                <a:lnTo>
                  <a:pt x="56" y="0"/>
                </a:lnTo>
                <a:lnTo>
                  <a:pt x="0" y="0"/>
                </a:lnTo>
                <a:lnTo>
                  <a:pt x="28"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08" name="Freeform 104"/>
          <p:cNvSpPr>
            <a:spLocks/>
          </p:cNvSpPr>
          <p:nvPr/>
        </p:nvSpPr>
        <p:spPr bwMode="auto">
          <a:xfrm>
            <a:off x="4652963" y="4440238"/>
            <a:ext cx="147637" cy="147637"/>
          </a:xfrm>
          <a:custGeom>
            <a:avLst/>
            <a:gdLst>
              <a:gd name="T0" fmla="*/ 93 w 93"/>
              <a:gd name="T1" fmla="*/ 0 h 93"/>
              <a:gd name="T2" fmla="*/ 0 w 93"/>
              <a:gd name="T3" fmla="*/ 93 h 93"/>
              <a:gd name="T4" fmla="*/ 93 w 93"/>
              <a:gd name="T5" fmla="*/ 0 h 93"/>
            </a:gdLst>
            <a:ahLst/>
            <a:cxnLst>
              <a:cxn ang="0">
                <a:pos x="T0" y="T1"/>
              </a:cxn>
              <a:cxn ang="0">
                <a:pos x="T2" y="T3"/>
              </a:cxn>
              <a:cxn ang="0">
                <a:pos x="T4" y="T5"/>
              </a:cxn>
            </a:cxnLst>
            <a:rect l="0" t="0" r="r" b="b"/>
            <a:pathLst>
              <a:path w="93" h="93">
                <a:moveTo>
                  <a:pt x="93" y="0"/>
                </a:moveTo>
                <a:lnTo>
                  <a:pt x="0" y="93"/>
                </a:lnTo>
                <a:lnTo>
                  <a:pt x="9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09" name="Line 105"/>
          <p:cNvSpPr>
            <a:spLocks noChangeShapeType="1"/>
          </p:cNvSpPr>
          <p:nvPr/>
        </p:nvSpPr>
        <p:spPr bwMode="auto">
          <a:xfrm flipH="1">
            <a:off x="4652963" y="4440238"/>
            <a:ext cx="147637" cy="147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10" name="Line 106"/>
          <p:cNvSpPr>
            <a:spLocks noChangeShapeType="1"/>
          </p:cNvSpPr>
          <p:nvPr/>
        </p:nvSpPr>
        <p:spPr bwMode="auto">
          <a:xfrm>
            <a:off x="5894388" y="4271963"/>
            <a:ext cx="1587" cy="463550"/>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11" name="Freeform 107"/>
          <p:cNvSpPr>
            <a:spLocks/>
          </p:cNvSpPr>
          <p:nvPr/>
        </p:nvSpPr>
        <p:spPr bwMode="auto">
          <a:xfrm>
            <a:off x="5849938" y="4670425"/>
            <a:ext cx="88900" cy="174625"/>
          </a:xfrm>
          <a:custGeom>
            <a:avLst/>
            <a:gdLst>
              <a:gd name="T0" fmla="*/ 28 w 56"/>
              <a:gd name="T1" fmla="*/ 110 h 110"/>
              <a:gd name="T2" fmla="*/ 56 w 56"/>
              <a:gd name="T3" fmla="*/ 0 h 110"/>
              <a:gd name="T4" fmla="*/ 0 w 56"/>
              <a:gd name="T5" fmla="*/ 0 h 110"/>
              <a:gd name="T6" fmla="*/ 28 w 56"/>
              <a:gd name="T7" fmla="*/ 110 h 110"/>
            </a:gdLst>
            <a:ahLst/>
            <a:cxnLst>
              <a:cxn ang="0">
                <a:pos x="T0" y="T1"/>
              </a:cxn>
              <a:cxn ang="0">
                <a:pos x="T2" y="T3"/>
              </a:cxn>
              <a:cxn ang="0">
                <a:pos x="T4" y="T5"/>
              </a:cxn>
              <a:cxn ang="0">
                <a:pos x="T6" y="T7"/>
              </a:cxn>
            </a:cxnLst>
            <a:rect l="0" t="0" r="r" b="b"/>
            <a:pathLst>
              <a:path w="56" h="110">
                <a:moveTo>
                  <a:pt x="28" y="110"/>
                </a:moveTo>
                <a:lnTo>
                  <a:pt x="56" y="0"/>
                </a:lnTo>
                <a:lnTo>
                  <a:pt x="0" y="0"/>
                </a:lnTo>
                <a:lnTo>
                  <a:pt x="28"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12" name="Freeform 108"/>
          <p:cNvSpPr>
            <a:spLocks/>
          </p:cNvSpPr>
          <p:nvPr/>
        </p:nvSpPr>
        <p:spPr bwMode="auto">
          <a:xfrm>
            <a:off x="5822950" y="4440238"/>
            <a:ext cx="147638" cy="147637"/>
          </a:xfrm>
          <a:custGeom>
            <a:avLst/>
            <a:gdLst>
              <a:gd name="T0" fmla="*/ 93 w 93"/>
              <a:gd name="T1" fmla="*/ 0 h 93"/>
              <a:gd name="T2" fmla="*/ 0 w 93"/>
              <a:gd name="T3" fmla="*/ 93 h 93"/>
              <a:gd name="T4" fmla="*/ 93 w 93"/>
              <a:gd name="T5" fmla="*/ 0 h 93"/>
            </a:gdLst>
            <a:ahLst/>
            <a:cxnLst>
              <a:cxn ang="0">
                <a:pos x="T0" y="T1"/>
              </a:cxn>
              <a:cxn ang="0">
                <a:pos x="T2" y="T3"/>
              </a:cxn>
              <a:cxn ang="0">
                <a:pos x="T4" y="T5"/>
              </a:cxn>
            </a:cxnLst>
            <a:rect l="0" t="0" r="r" b="b"/>
            <a:pathLst>
              <a:path w="93" h="93">
                <a:moveTo>
                  <a:pt x="93" y="0"/>
                </a:moveTo>
                <a:lnTo>
                  <a:pt x="0" y="93"/>
                </a:lnTo>
                <a:lnTo>
                  <a:pt x="9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13" name="Line 109"/>
          <p:cNvSpPr>
            <a:spLocks noChangeShapeType="1"/>
          </p:cNvSpPr>
          <p:nvPr/>
        </p:nvSpPr>
        <p:spPr bwMode="auto">
          <a:xfrm flipH="1">
            <a:off x="5822950" y="4440238"/>
            <a:ext cx="147638" cy="147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14" name="Line 110"/>
          <p:cNvSpPr>
            <a:spLocks noChangeShapeType="1"/>
          </p:cNvSpPr>
          <p:nvPr/>
        </p:nvSpPr>
        <p:spPr bwMode="auto">
          <a:xfrm>
            <a:off x="7031038" y="4271963"/>
            <a:ext cx="1587" cy="463550"/>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15" name="Freeform 111"/>
          <p:cNvSpPr>
            <a:spLocks/>
          </p:cNvSpPr>
          <p:nvPr/>
        </p:nvSpPr>
        <p:spPr bwMode="auto">
          <a:xfrm>
            <a:off x="6988175" y="4670425"/>
            <a:ext cx="87313" cy="174625"/>
          </a:xfrm>
          <a:custGeom>
            <a:avLst/>
            <a:gdLst>
              <a:gd name="T0" fmla="*/ 27 w 55"/>
              <a:gd name="T1" fmla="*/ 110 h 110"/>
              <a:gd name="T2" fmla="*/ 55 w 55"/>
              <a:gd name="T3" fmla="*/ 0 h 110"/>
              <a:gd name="T4" fmla="*/ 0 w 55"/>
              <a:gd name="T5" fmla="*/ 0 h 110"/>
              <a:gd name="T6" fmla="*/ 27 w 55"/>
              <a:gd name="T7" fmla="*/ 110 h 110"/>
            </a:gdLst>
            <a:ahLst/>
            <a:cxnLst>
              <a:cxn ang="0">
                <a:pos x="T0" y="T1"/>
              </a:cxn>
              <a:cxn ang="0">
                <a:pos x="T2" y="T3"/>
              </a:cxn>
              <a:cxn ang="0">
                <a:pos x="T4" y="T5"/>
              </a:cxn>
              <a:cxn ang="0">
                <a:pos x="T6" y="T7"/>
              </a:cxn>
            </a:cxnLst>
            <a:rect l="0" t="0" r="r" b="b"/>
            <a:pathLst>
              <a:path w="55" h="110">
                <a:moveTo>
                  <a:pt x="27" y="110"/>
                </a:moveTo>
                <a:lnTo>
                  <a:pt x="55" y="0"/>
                </a:lnTo>
                <a:lnTo>
                  <a:pt x="0" y="0"/>
                </a:lnTo>
                <a:lnTo>
                  <a:pt x="27"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16" name="Freeform 112"/>
          <p:cNvSpPr>
            <a:spLocks/>
          </p:cNvSpPr>
          <p:nvPr/>
        </p:nvSpPr>
        <p:spPr bwMode="auto">
          <a:xfrm>
            <a:off x="6961188" y="4440238"/>
            <a:ext cx="141287" cy="147637"/>
          </a:xfrm>
          <a:custGeom>
            <a:avLst/>
            <a:gdLst>
              <a:gd name="T0" fmla="*/ 89 w 89"/>
              <a:gd name="T1" fmla="*/ 0 h 93"/>
              <a:gd name="T2" fmla="*/ 0 w 89"/>
              <a:gd name="T3" fmla="*/ 93 h 93"/>
              <a:gd name="T4" fmla="*/ 89 w 89"/>
              <a:gd name="T5" fmla="*/ 0 h 93"/>
            </a:gdLst>
            <a:ahLst/>
            <a:cxnLst>
              <a:cxn ang="0">
                <a:pos x="T0" y="T1"/>
              </a:cxn>
              <a:cxn ang="0">
                <a:pos x="T2" y="T3"/>
              </a:cxn>
              <a:cxn ang="0">
                <a:pos x="T4" y="T5"/>
              </a:cxn>
            </a:cxnLst>
            <a:rect l="0" t="0" r="r" b="b"/>
            <a:pathLst>
              <a:path w="89" h="93">
                <a:moveTo>
                  <a:pt x="89" y="0"/>
                </a:moveTo>
                <a:lnTo>
                  <a:pt x="0" y="93"/>
                </a:lnTo>
                <a:lnTo>
                  <a:pt x="89"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17" name="Line 113"/>
          <p:cNvSpPr>
            <a:spLocks noChangeShapeType="1"/>
          </p:cNvSpPr>
          <p:nvPr/>
        </p:nvSpPr>
        <p:spPr bwMode="auto">
          <a:xfrm flipH="1">
            <a:off x="6961188" y="4440238"/>
            <a:ext cx="141287" cy="147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23" name="Rectangle 119"/>
          <p:cNvSpPr>
            <a:spLocks noChangeArrowheads="1"/>
          </p:cNvSpPr>
          <p:nvPr/>
        </p:nvSpPr>
        <p:spPr bwMode="auto">
          <a:xfrm>
            <a:off x="3983038" y="5402263"/>
            <a:ext cx="6794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1024x32</a:t>
            </a:r>
            <a:endParaRPr lang="en-US" altLang="en-US"/>
          </a:p>
        </p:txBody>
      </p:sp>
      <p:sp>
        <p:nvSpPr>
          <p:cNvPr id="610426" name="Rectangle 122"/>
          <p:cNvSpPr>
            <a:spLocks noChangeArrowheads="1"/>
          </p:cNvSpPr>
          <p:nvPr/>
        </p:nvSpPr>
        <p:spPr bwMode="auto">
          <a:xfrm>
            <a:off x="4100513" y="5599113"/>
            <a:ext cx="4143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ROM</a:t>
            </a:r>
            <a:endParaRPr lang="en-US" altLang="en-US"/>
          </a:p>
        </p:txBody>
      </p:sp>
      <p:sp>
        <p:nvSpPr>
          <p:cNvPr id="610438" name="Rectangle 134"/>
          <p:cNvSpPr>
            <a:spLocks noChangeArrowheads="1"/>
          </p:cNvSpPr>
          <p:nvPr/>
        </p:nvSpPr>
        <p:spPr bwMode="auto">
          <a:xfrm>
            <a:off x="6591300" y="3527425"/>
            <a:ext cx="5810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1024x8</a:t>
            </a:r>
            <a:endParaRPr lang="en-US" altLang="en-US"/>
          </a:p>
        </p:txBody>
      </p:sp>
      <p:sp>
        <p:nvSpPr>
          <p:cNvPr id="610441" name="Rectangle 137"/>
          <p:cNvSpPr>
            <a:spLocks noChangeArrowheads="1"/>
          </p:cNvSpPr>
          <p:nvPr/>
        </p:nvSpPr>
        <p:spPr bwMode="auto">
          <a:xfrm>
            <a:off x="6656388" y="3724275"/>
            <a:ext cx="41433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ROM</a:t>
            </a:r>
            <a:endParaRPr lang="en-US" altLang="en-US"/>
          </a:p>
        </p:txBody>
      </p:sp>
      <p:sp>
        <p:nvSpPr>
          <p:cNvPr id="610453" name="Rectangle 149"/>
          <p:cNvSpPr>
            <a:spLocks noChangeArrowheads="1"/>
          </p:cNvSpPr>
          <p:nvPr/>
        </p:nvSpPr>
        <p:spPr bwMode="auto">
          <a:xfrm>
            <a:off x="4116388" y="5907088"/>
            <a:ext cx="344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a:t>
            </a:r>
            <a:endParaRPr lang="en-US" altLang="en-US"/>
          </a:p>
        </p:txBody>
      </p:sp>
      <p:sp>
        <p:nvSpPr>
          <p:cNvPr id="610461" name="Rectangle 157"/>
          <p:cNvSpPr>
            <a:spLocks noChangeArrowheads="1"/>
          </p:cNvSpPr>
          <p:nvPr/>
        </p:nvSpPr>
        <p:spPr bwMode="auto">
          <a:xfrm>
            <a:off x="6419850" y="3340100"/>
            <a:ext cx="354013"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addr</a:t>
            </a:r>
            <a:endParaRPr lang="en-US" altLang="en-US"/>
          </a:p>
        </p:txBody>
      </p:sp>
      <p:sp>
        <p:nvSpPr>
          <p:cNvPr id="610462" name="Rectangle 158"/>
          <p:cNvSpPr>
            <a:spLocks noChangeArrowheads="1"/>
          </p:cNvSpPr>
          <p:nvPr/>
        </p:nvSpPr>
        <p:spPr bwMode="auto">
          <a:xfrm>
            <a:off x="6423025" y="3952875"/>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t>
            </a:r>
            <a:endParaRPr lang="en-US" altLang="en-US"/>
          </a:p>
        </p:txBody>
      </p:sp>
      <p:sp>
        <p:nvSpPr>
          <p:cNvPr id="610463" name="Rectangle 159"/>
          <p:cNvSpPr>
            <a:spLocks noChangeArrowheads="1"/>
          </p:cNvSpPr>
          <p:nvPr/>
        </p:nvSpPr>
        <p:spPr bwMode="auto">
          <a:xfrm>
            <a:off x="6870700" y="4071938"/>
            <a:ext cx="34448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a:t>
            </a:r>
            <a:endParaRPr lang="en-US" altLang="en-US"/>
          </a:p>
        </p:txBody>
      </p:sp>
      <p:sp>
        <p:nvSpPr>
          <p:cNvPr id="610466" name="Rectangle 162"/>
          <p:cNvSpPr>
            <a:spLocks noChangeArrowheads="1"/>
          </p:cNvSpPr>
          <p:nvPr/>
        </p:nvSpPr>
        <p:spPr bwMode="auto">
          <a:xfrm>
            <a:off x="3659188" y="44275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8</a:t>
            </a:r>
            <a:endParaRPr lang="en-US" altLang="en-US"/>
          </a:p>
        </p:txBody>
      </p:sp>
      <p:sp>
        <p:nvSpPr>
          <p:cNvPr id="610467" name="Rectangle 163"/>
          <p:cNvSpPr>
            <a:spLocks noChangeArrowheads="1"/>
          </p:cNvSpPr>
          <p:nvPr/>
        </p:nvSpPr>
        <p:spPr bwMode="auto">
          <a:xfrm>
            <a:off x="4833938" y="44275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8</a:t>
            </a:r>
            <a:endParaRPr lang="en-US" altLang="en-US"/>
          </a:p>
        </p:txBody>
      </p:sp>
      <p:sp>
        <p:nvSpPr>
          <p:cNvPr id="610468" name="Line 164"/>
          <p:cNvSpPr>
            <a:spLocks noChangeShapeType="1"/>
          </p:cNvSpPr>
          <p:nvPr/>
        </p:nvSpPr>
        <p:spPr bwMode="auto">
          <a:xfrm>
            <a:off x="4276725" y="6130925"/>
            <a:ext cx="1588" cy="376238"/>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69" name="Freeform 165"/>
          <p:cNvSpPr>
            <a:spLocks/>
          </p:cNvSpPr>
          <p:nvPr/>
        </p:nvSpPr>
        <p:spPr bwMode="auto">
          <a:xfrm>
            <a:off x="4232275" y="6442075"/>
            <a:ext cx="87313" cy="174625"/>
          </a:xfrm>
          <a:custGeom>
            <a:avLst/>
            <a:gdLst>
              <a:gd name="T0" fmla="*/ 28 w 55"/>
              <a:gd name="T1" fmla="*/ 110 h 110"/>
              <a:gd name="T2" fmla="*/ 55 w 55"/>
              <a:gd name="T3" fmla="*/ 0 h 110"/>
              <a:gd name="T4" fmla="*/ 0 w 55"/>
              <a:gd name="T5" fmla="*/ 0 h 110"/>
              <a:gd name="T6" fmla="*/ 28 w 55"/>
              <a:gd name="T7" fmla="*/ 110 h 110"/>
            </a:gdLst>
            <a:ahLst/>
            <a:cxnLst>
              <a:cxn ang="0">
                <a:pos x="T0" y="T1"/>
              </a:cxn>
              <a:cxn ang="0">
                <a:pos x="T2" y="T3"/>
              </a:cxn>
              <a:cxn ang="0">
                <a:pos x="T4" y="T5"/>
              </a:cxn>
              <a:cxn ang="0">
                <a:pos x="T6" y="T7"/>
              </a:cxn>
            </a:cxnLst>
            <a:rect l="0" t="0" r="r" b="b"/>
            <a:pathLst>
              <a:path w="55" h="110">
                <a:moveTo>
                  <a:pt x="28" y="110"/>
                </a:moveTo>
                <a:lnTo>
                  <a:pt x="55" y="0"/>
                </a:lnTo>
                <a:lnTo>
                  <a:pt x="0" y="0"/>
                </a:lnTo>
                <a:lnTo>
                  <a:pt x="28" y="1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70" name="Freeform 166"/>
          <p:cNvSpPr>
            <a:spLocks/>
          </p:cNvSpPr>
          <p:nvPr/>
        </p:nvSpPr>
        <p:spPr bwMode="auto">
          <a:xfrm>
            <a:off x="4205288" y="6218238"/>
            <a:ext cx="147637" cy="147637"/>
          </a:xfrm>
          <a:custGeom>
            <a:avLst/>
            <a:gdLst>
              <a:gd name="T0" fmla="*/ 93 w 93"/>
              <a:gd name="T1" fmla="*/ 0 h 93"/>
              <a:gd name="T2" fmla="*/ 0 w 93"/>
              <a:gd name="T3" fmla="*/ 93 h 93"/>
              <a:gd name="T4" fmla="*/ 93 w 93"/>
              <a:gd name="T5" fmla="*/ 0 h 93"/>
            </a:gdLst>
            <a:ahLst/>
            <a:cxnLst>
              <a:cxn ang="0">
                <a:pos x="T0" y="T1"/>
              </a:cxn>
              <a:cxn ang="0">
                <a:pos x="T2" y="T3"/>
              </a:cxn>
              <a:cxn ang="0">
                <a:pos x="T4" y="T5"/>
              </a:cxn>
            </a:cxnLst>
            <a:rect l="0" t="0" r="r" b="b"/>
            <a:pathLst>
              <a:path w="93" h="93">
                <a:moveTo>
                  <a:pt x="93" y="0"/>
                </a:moveTo>
                <a:lnTo>
                  <a:pt x="0" y="93"/>
                </a:lnTo>
                <a:lnTo>
                  <a:pt x="9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71" name="Line 167"/>
          <p:cNvSpPr>
            <a:spLocks noChangeShapeType="1"/>
          </p:cNvSpPr>
          <p:nvPr/>
        </p:nvSpPr>
        <p:spPr bwMode="auto">
          <a:xfrm flipH="1">
            <a:off x="4205288" y="6218238"/>
            <a:ext cx="147637" cy="147637"/>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72" name="Rectangle 168"/>
          <p:cNvSpPr>
            <a:spLocks noChangeArrowheads="1"/>
          </p:cNvSpPr>
          <p:nvPr/>
        </p:nvSpPr>
        <p:spPr bwMode="auto">
          <a:xfrm>
            <a:off x="4371975" y="6203950"/>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32</a:t>
            </a:r>
            <a:endParaRPr lang="en-US" altLang="en-US"/>
          </a:p>
        </p:txBody>
      </p:sp>
      <p:sp>
        <p:nvSpPr>
          <p:cNvPr id="610473" name="Rectangle 169"/>
          <p:cNvSpPr>
            <a:spLocks noChangeArrowheads="1"/>
          </p:cNvSpPr>
          <p:nvPr/>
        </p:nvSpPr>
        <p:spPr bwMode="auto">
          <a:xfrm>
            <a:off x="5991225" y="44275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8</a:t>
            </a:r>
            <a:endParaRPr lang="en-US" altLang="en-US"/>
          </a:p>
        </p:txBody>
      </p:sp>
      <p:sp>
        <p:nvSpPr>
          <p:cNvPr id="610474" name="Rectangle 170"/>
          <p:cNvSpPr>
            <a:spLocks noChangeArrowheads="1"/>
          </p:cNvSpPr>
          <p:nvPr/>
        </p:nvSpPr>
        <p:spPr bwMode="auto">
          <a:xfrm>
            <a:off x="7127875" y="4427538"/>
            <a:ext cx="984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8</a:t>
            </a:r>
            <a:endParaRPr lang="en-US" altLang="en-US"/>
          </a:p>
        </p:txBody>
      </p:sp>
      <p:sp>
        <p:nvSpPr>
          <p:cNvPr id="610475" name="Rectangle 171"/>
          <p:cNvSpPr>
            <a:spLocks noChangeArrowheads="1"/>
          </p:cNvSpPr>
          <p:nvPr/>
        </p:nvSpPr>
        <p:spPr bwMode="auto">
          <a:xfrm>
            <a:off x="2447925" y="3178175"/>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10</a:t>
            </a:r>
            <a:endParaRPr lang="en-US" altLang="en-US"/>
          </a:p>
        </p:txBody>
      </p:sp>
      <p:sp>
        <p:nvSpPr>
          <p:cNvPr id="610476" name="Line 172"/>
          <p:cNvSpPr>
            <a:spLocks noChangeShapeType="1"/>
          </p:cNvSpPr>
          <p:nvPr/>
        </p:nvSpPr>
        <p:spPr bwMode="auto">
          <a:xfrm>
            <a:off x="3133725" y="5413375"/>
            <a:ext cx="360363" cy="1588"/>
          </a:xfrm>
          <a:prstGeom prst="line">
            <a:avLst/>
          </a:prstGeom>
          <a:noFill/>
          <a:ln w="333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77" name="Freeform 173"/>
          <p:cNvSpPr>
            <a:spLocks/>
          </p:cNvSpPr>
          <p:nvPr/>
        </p:nvSpPr>
        <p:spPr bwMode="auto">
          <a:xfrm>
            <a:off x="3460750" y="5375275"/>
            <a:ext cx="176213" cy="87313"/>
          </a:xfrm>
          <a:custGeom>
            <a:avLst/>
            <a:gdLst>
              <a:gd name="T0" fmla="*/ 111 w 111"/>
              <a:gd name="T1" fmla="*/ 28 h 55"/>
              <a:gd name="T2" fmla="*/ 0 w 111"/>
              <a:gd name="T3" fmla="*/ 0 h 55"/>
              <a:gd name="T4" fmla="*/ 0 w 111"/>
              <a:gd name="T5" fmla="*/ 55 h 55"/>
              <a:gd name="T6" fmla="*/ 111 w 111"/>
              <a:gd name="T7" fmla="*/ 28 h 55"/>
            </a:gdLst>
            <a:ahLst/>
            <a:cxnLst>
              <a:cxn ang="0">
                <a:pos x="T0" y="T1"/>
              </a:cxn>
              <a:cxn ang="0">
                <a:pos x="T2" y="T3"/>
              </a:cxn>
              <a:cxn ang="0">
                <a:pos x="T4" y="T5"/>
              </a:cxn>
              <a:cxn ang="0">
                <a:pos x="T6" y="T7"/>
              </a:cxn>
            </a:cxnLst>
            <a:rect l="0" t="0" r="r" b="b"/>
            <a:pathLst>
              <a:path w="111" h="55">
                <a:moveTo>
                  <a:pt x="111" y="28"/>
                </a:moveTo>
                <a:lnTo>
                  <a:pt x="0" y="0"/>
                </a:lnTo>
                <a:lnTo>
                  <a:pt x="0" y="55"/>
                </a:lnTo>
                <a:lnTo>
                  <a:pt x="111"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78" name="Line 174"/>
          <p:cNvSpPr>
            <a:spLocks noChangeShapeType="1"/>
          </p:cNvSpPr>
          <p:nvPr/>
        </p:nvSpPr>
        <p:spPr bwMode="auto">
          <a:xfrm>
            <a:off x="3133725" y="5851525"/>
            <a:ext cx="360363" cy="1588"/>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79" name="Freeform 175"/>
          <p:cNvSpPr>
            <a:spLocks/>
          </p:cNvSpPr>
          <p:nvPr/>
        </p:nvSpPr>
        <p:spPr bwMode="auto">
          <a:xfrm>
            <a:off x="3460750" y="5813425"/>
            <a:ext cx="176213" cy="87313"/>
          </a:xfrm>
          <a:custGeom>
            <a:avLst/>
            <a:gdLst>
              <a:gd name="T0" fmla="*/ 111 w 111"/>
              <a:gd name="T1" fmla="*/ 27 h 55"/>
              <a:gd name="T2" fmla="*/ 0 w 111"/>
              <a:gd name="T3" fmla="*/ 0 h 55"/>
              <a:gd name="T4" fmla="*/ 0 w 111"/>
              <a:gd name="T5" fmla="*/ 55 h 55"/>
              <a:gd name="T6" fmla="*/ 111 w 111"/>
              <a:gd name="T7" fmla="*/ 27 h 55"/>
            </a:gdLst>
            <a:ahLst/>
            <a:cxnLst>
              <a:cxn ang="0">
                <a:pos x="T0" y="T1"/>
              </a:cxn>
              <a:cxn ang="0">
                <a:pos x="T2" y="T3"/>
              </a:cxn>
              <a:cxn ang="0">
                <a:pos x="T4" y="T5"/>
              </a:cxn>
              <a:cxn ang="0">
                <a:pos x="T6" y="T7"/>
              </a:cxn>
            </a:cxnLst>
            <a:rect l="0" t="0" r="r" b="b"/>
            <a:pathLst>
              <a:path w="111" h="55">
                <a:moveTo>
                  <a:pt x="111" y="27"/>
                </a:moveTo>
                <a:lnTo>
                  <a:pt x="0" y="0"/>
                </a:lnTo>
                <a:lnTo>
                  <a:pt x="0" y="55"/>
                </a:lnTo>
                <a:lnTo>
                  <a:pt x="111"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80" name="Freeform 176"/>
          <p:cNvSpPr>
            <a:spLocks/>
          </p:cNvSpPr>
          <p:nvPr/>
        </p:nvSpPr>
        <p:spPr bwMode="auto">
          <a:xfrm>
            <a:off x="3187700" y="5343525"/>
            <a:ext cx="147638" cy="147638"/>
          </a:xfrm>
          <a:custGeom>
            <a:avLst/>
            <a:gdLst>
              <a:gd name="T0" fmla="*/ 93 w 93"/>
              <a:gd name="T1" fmla="*/ 0 h 93"/>
              <a:gd name="T2" fmla="*/ 0 w 93"/>
              <a:gd name="T3" fmla="*/ 93 h 93"/>
              <a:gd name="T4" fmla="*/ 93 w 93"/>
              <a:gd name="T5" fmla="*/ 0 h 93"/>
            </a:gdLst>
            <a:ahLst/>
            <a:cxnLst>
              <a:cxn ang="0">
                <a:pos x="T0" y="T1"/>
              </a:cxn>
              <a:cxn ang="0">
                <a:pos x="T2" y="T3"/>
              </a:cxn>
              <a:cxn ang="0">
                <a:pos x="T4" y="T5"/>
              </a:cxn>
            </a:cxnLst>
            <a:rect l="0" t="0" r="r" b="b"/>
            <a:pathLst>
              <a:path w="93" h="93">
                <a:moveTo>
                  <a:pt x="93" y="0"/>
                </a:moveTo>
                <a:lnTo>
                  <a:pt x="0" y="93"/>
                </a:lnTo>
                <a:lnTo>
                  <a:pt x="9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0481" name="Line 177"/>
          <p:cNvSpPr>
            <a:spLocks noChangeShapeType="1"/>
          </p:cNvSpPr>
          <p:nvPr/>
        </p:nvSpPr>
        <p:spPr bwMode="auto">
          <a:xfrm flipH="1">
            <a:off x="3187700" y="5343525"/>
            <a:ext cx="147638" cy="147638"/>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0482" name="Rectangle 178"/>
          <p:cNvSpPr>
            <a:spLocks noChangeArrowheads="1"/>
          </p:cNvSpPr>
          <p:nvPr/>
        </p:nvSpPr>
        <p:spPr bwMode="auto">
          <a:xfrm>
            <a:off x="3179763" y="5140325"/>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10</a:t>
            </a:r>
            <a:endParaRPr lang="en-US" altLang="en-US"/>
          </a:p>
        </p:txBody>
      </p:sp>
      <p:sp>
        <p:nvSpPr>
          <p:cNvPr id="610483" name="Rectangle 179"/>
          <p:cNvSpPr>
            <a:spLocks noChangeArrowheads="1"/>
          </p:cNvSpPr>
          <p:nvPr/>
        </p:nvSpPr>
        <p:spPr bwMode="auto">
          <a:xfrm>
            <a:off x="2368550" y="41417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en</a:t>
            </a:r>
            <a:endParaRPr lang="en-US" altLang="en-US"/>
          </a:p>
        </p:txBody>
      </p:sp>
      <p:sp>
        <p:nvSpPr>
          <p:cNvPr id="610484" name="Rectangle 180"/>
          <p:cNvSpPr>
            <a:spLocks noChangeArrowheads="1"/>
          </p:cNvSpPr>
          <p:nvPr/>
        </p:nvSpPr>
        <p:spPr bwMode="auto">
          <a:xfrm>
            <a:off x="3802063" y="59499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en</a:t>
            </a:r>
            <a:endParaRPr lang="en-US" altLang="en-US"/>
          </a:p>
        </p:txBody>
      </p:sp>
      <p:sp>
        <p:nvSpPr>
          <p:cNvPr id="610485" name="Rectangle 181"/>
          <p:cNvSpPr>
            <a:spLocks noChangeArrowheads="1"/>
          </p:cNvSpPr>
          <p:nvPr/>
        </p:nvSpPr>
        <p:spPr bwMode="auto">
          <a:xfrm>
            <a:off x="2368550" y="36258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addr</a:t>
            </a:r>
            <a:endParaRPr lang="en-US" altLang="en-US"/>
          </a:p>
        </p:txBody>
      </p:sp>
      <p:sp>
        <p:nvSpPr>
          <p:cNvPr id="610486" name="Rectangle 182"/>
          <p:cNvSpPr>
            <a:spLocks noChangeArrowheads="1"/>
          </p:cNvSpPr>
          <p:nvPr/>
        </p:nvSpPr>
        <p:spPr bwMode="auto">
          <a:xfrm>
            <a:off x="3802063" y="56102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addr</a:t>
            </a:r>
            <a:endParaRPr lang="en-US" altLang="en-US"/>
          </a:p>
        </p:txBody>
      </p:sp>
      <p:sp>
        <p:nvSpPr>
          <p:cNvPr id="610487" name="Rectangle 183"/>
          <p:cNvSpPr>
            <a:spLocks noChangeArrowheads="1"/>
          </p:cNvSpPr>
          <p:nvPr/>
        </p:nvSpPr>
        <p:spPr bwMode="auto">
          <a:xfrm>
            <a:off x="4919663" y="4784725"/>
            <a:ext cx="85566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data(31..0)</a:t>
            </a:r>
            <a:endParaRPr lang="en-US" altLang="en-US"/>
          </a:p>
        </p:txBody>
      </p:sp>
      <p:sp>
        <p:nvSpPr>
          <p:cNvPr id="610490" name="Rectangle 186"/>
          <p:cNvSpPr>
            <a:spLocks noChangeArrowheads="1"/>
          </p:cNvSpPr>
          <p:nvPr/>
        </p:nvSpPr>
        <p:spPr bwMode="auto">
          <a:xfrm>
            <a:off x="2909888" y="3227388"/>
            <a:ext cx="857250" cy="103822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0491" name="Rectangle 187"/>
          <p:cNvSpPr>
            <a:spLocks noChangeArrowheads="1"/>
          </p:cNvSpPr>
          <p:nvPr/>
        </p:nvSpPr>
        <p:spPr bwMode="auto">
          <a:xfrm>
            <a:off x="4073525" y="3227388"/>
            <a:ext cx="858838" cy="103822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0492" name="Rectangle 188"/>
          <p:cNvSpPr>
            <a:spLocks noChangeArrowheads="1"/>
          </p:cNvSpPr>
          <p:nvPr/>
        </p:nvSpPr>
        <p:spPr bwMode="auto">
          <a:xfrm>
            <a:off x="5232400" y="3227388"/>
            <a:ext cx="858838" cy="103822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0493" name="Rectangle 189"/>
          <p:cNvSpPr>
            <a:spLocks noChangeArrowheads="1"/>
          </p:cNvSpPr>
          <p:nvPr/>
        </p:nvSpPr>
        <p:spPr bwMode="auto">
          <a:xfrm>
            <a:off x="6397625" y="3227388"/>
            <a:ext cx="858838" cy="1038225"/>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0494" name="Rectangle 190"/>
          <p:cNvSpPr>
            <a:spLocks noChangeArrowheads="1"/>
          </p:cNvSpPr>
          <p:nvPr/>
        </p:nvSpPr>
        <p:spPr bwMode="auto">
          <a:xfrm>
            <a:off x="3646488" y="5167313"/>
            <a:ext cx="1252537" cy="957262"/>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0495" name="Rectangle 191"/>
          <p:cNvSpPr>
            <a:spLocks noChangeArrowheads="1"/>
          </p:cNvSpPr>
          <p:nvPr/>
        </p:nvSpPr>
        <p:spPr bwMode="auto">
          <a:xfrm>
            <a:off x="5443538" y="3527425"/>
            <a:ext cx="5810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1024x8</a:t>
            </a:r>
            <a:endParaRPr lang="en-US" altLang="en-US"/>
          </a:p>
        </p:txBody>
      </p:sp>
      <p:sp>
        <p:nvSpPr>
          <p:cNvPr id="610496" name="Rectangle 192"/>
          <p:cNvSpPr>
            <a:spLocks noChangeArrowheads="1"/>
          </p:cNvSpPr>
          <p:nvPr/>
        </p:nvSpPr>
        <p:spPr bwMode="auto">
          <a:xfrm>
            <a:off x="5508625" y="3724275"/>
            <a:ext cx="4143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ROM</a:t>
            </a:r>
            <a:endParaRPr lang="en-US" altLang="en-US"/>
          </a:p>
        </p:txBody>
      </p:sp>
      <p:sp>
        <p:nvSpPr>
          <p:cNvPr id="610497" name="Rectangle 193"/>
          <p:cNvSpPr>
            <a:spLocks noChangeArrowheads="1"/>
          </p:cNvSpPr>
          <p:nvPr/>
        </p:nvSpPr>
        <p:spPr bwMode="auto">
          <a:xfrm>
            <a:off x="5272088" y="3340100"/>
            <a:ext cx="3540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addr</a:t>
            </a:r>
            <a:endParaRPr lang="en-US" altLang="en-US"/>
          </a:p>
        </p:txBody>
      </p:sp>
      <p:sp>
        <p:nvSpPr>
          <p:cNvPr id="610498" name="Rectangle 194"/>
          <p:cNvSpPr>
            <a:spLocks noChangeArrowheads="1"/>
          </p:cNvSpPr>
          <p:nvPr/>
        </p:nvSpPr>
        <p:spPr bwMode="auto">
          <a:xfrm>
            <a:off x="5275263" y="3952875"/>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t>
            </a:r>
            <a:endParaRPr lang="en-US" altLang="en-US"/>
          </a:p>
        </p:txBody>
      </p:sp>
      <p:sp>
        <p:nvSpPr>
          <p:cNvPr id="610499" name="Rectangle 195"/>
          <p:cNvSpPr>
            <a:spLocks noChangeArrowheads="1"/>
          </p:cNvSpPr>
          <p:nvPr/>
        </p:nvSpPr>
        <p:spPr bwMode="auto">
          <a:xfrm>
            <a:off x="5722938" y="4071938"/>
            <a:ext cx="344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a:t>
            </a:r>
            <a:endParaRPr lang="en-US" altLang="en-US"/>
          </a:p>
        </p:txBody>
      </p:sp>
      <p:sp>
        <p:nvSpPr>
          <p:cNvPr id="610500" name="Rectangle 196"/>
          <p:cNvSpPr>
            <a:spLocks noChangeArrowheads="1"/>
          </p:cNvSpPr>
          <p:nvPr/>
        </p:nvSpPr>
        <p:spPr bwMode="auto">
          <a:xfrm>
            <a:off x="4278313" y="3527425"/>
            <a:ext cx="5810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1024x8</a:t>
            </a:r>
            <a:endParaRPr lang="en-US" altLang="en-US"/>
          </a:p>
        </p:txBody>
      </p:sp>
      <p:sp>
        <p:nvSpPr>
          <p:cNvPr id="610501" name="Rectangle 197"/>
          <p:cNvSpPr>
            <a:spLocks noChangeArrowheads="1"/>
          </p:cNvSpPr>
          <p:nvPr/>
        </p:nvSpPr>
        <p:spPr bwMode="auto">
          <a:xfrm>
            <a:off x="4343400" y="3724275"/>
            <a:ext cx="4143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ROM</a:t>
            </a:r>
            <a:endParaRPr lang="en-US" altLang="en-US"/>
          </a:p>
        </p:txBody>
      </p:sp>
      <p:sp>
        <p:nvSpPr>
          <p:cNvPr id="610502" name="Rectangle 198"/>
          <p:cNvSpPr>
            <a:spLocks noChangeArrowheads="1"/>
          </p:cNvSpPr>
          <p:nvPr/>
        </p:nvSpPr>
        <p:spPr bwMode="auto">
          <a:xfrm>
            <a:off x="4106863" y="3340100"/>
            <a:ext cx="3540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addr</a:t>
            </a:r>
            <a:endParaRPr lang="en-US" altLang="en-US"/>
          </a:p>
        </p:txBody>
      </p:sp>
      <p:sp>
        <p:nvSpPr>
          <p:cNvPr id="610503" name="Rectangle 199"/>
          <p:cNvSpPr>
            <a:spLocks noChangeArrowheads="1"/>
          </p:cNvSpPr>
          <p:nvPr/>
        </p:nvSpPr>
        <p:spPr bwMode="auto">
          <a:xfrm>
            <a:off x="4110038" y="3952875"/>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t>
            </a:r>
            <a:endParaRPr lang="en-US" altLang="en-US"/>
          </a:p>
        </p:txBody>
      </p:sp>
      <p:sp>
        <p:nvSpPr>
          <p:cNvPr id="610504" name="Rectangle 200"/>
          <p:cNvSpPr>
            <a:spLocks noChangeArrowheads="1"/>
          </p:cNvSpPr>
          <p:nvPr/>
        </p:nvSpPr>
        <p:spPr bwMode="auto">
          <a:xfrm>
            <a:off x="4557713" y="4071938"/>
            <a:ext cx="344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a:t>
            </a:r>
            <a:endParaRPr lang="en-US" altLang="en-US"/>
          </a:p>
        </p:txBody>
      </p:sp>
      <p:sp>
        <p:nvSpPr>
          <p:cNvPr id="610505" name="Rectangle 201"/>
          <p:cNvSpPr>
            <a:spLocks noChangeArrowheads="1"/>
          </p:cNvSpPr>
          <p:nvPr/>
        </p:nvSpPr>
        <p:spPr bwMode="auto">
          <a:xfrm>
            <a:off x="3122613" y="3527425"/>
            <a:ext cx="581025"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1024x8</a:t>
            </a:r>
            <a:endParaRPr lang="en-US" altLang="en-US"/>
          </a:p>
        </p:txBody>
      </p:sp>
      <p:sp>
        <p:nvSpPr>
          <p:cNvPr id="610506" name="Rectangle 202"/>
          <p:cNvSpPr>
            <a:spLocks noChangeArrowheads="1"/>
          </p:cNvSpPr>
          <p:nvPr/>
        </p:nvSpPr>
        <p:spPr bwMode="auto">
          <a:xfrm>
            <a:off x="3187700" y="3724275"/>
            <a:ext cx="414338"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ROM</a:t>
            </a:r>
            <a:endParaRPr lang="en-US" altLang="en-US"/>
          </a:p>
        </p:txBody>
      </p:sp>
      <p:sp>
        <p:nvSpPr>
          <p:cNvPr id="610507" name="Rectangle 203"/>
          <p:cNvSpPr>
            <a:spLocks noChangeArrowheads="1"/>
          </p:cNvSpPr>
          <p:nvPr/>
        </p:nvSpPr>
        <p:spPr bwMode="auto">
          <a:xfrm>
            <a:off x="2951163" y="3340100"/>
            <a:ext cx="354012"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addr</a:t>
            </a:r>
            <a:endParaRPr lang="en-US" altLang="en-US"/>
          </a:p>
        </p:txBody>
      </p:sp>
      <p:sp>
        <p:nvSpPr>
          <p:cNvPr id="610508" name="Rectangle 204"/>
          <p:cNvSpPr>
            <a:spLocks noChangeArrowheads="1"/>
          </p:cNvSpPr>
          <p:nvPr/>
        </p:nvSpPr>
        <p:spPr bwMode="auto">
          <a:xfrm>
            <a:off x="2954338" y="3952875"/>
            <a:ext cx="1968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en</a:t>
            </a:r>
            <a:endParaRPr lang="en-US" altLang="en-US"/>
          </a:p>
        </p:txBody>
      </p:sp>
      <p:sp>
        <p:nvSpPr>
          <p:cNvPr id="610509" name="Rectangle 205"/>
          <p:cNvSpPr>
            <a:spLocks noChangeArrowheads="1"/>
          </p:cNvSpPr>
          <p:nvPr/>
        </p:nvSpPr>
        <p:spPr bwMode="auto">
          <a:xfrm>
            <a:off x="3402013" y="4071938"/>
            <a:ext cx="344487"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400">
                <a:solidFill>
                  <a:srgbClr val="000000"/>
                </a:solidFill>
                <a:latin typeface="Myriad Roman" charset="0"/>
              </a:rPr>
              <a:t>data</a:t>
            </a:r>
            <a:endParaRPr lang="en-US" altLang="en-US"/>
          </a:p>
        </p:txBody>
      </p:sp>
      <p:pic>
        <p:nvPicPr>
          <p:cNvPr id="610510" name="Picture 20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750" y="3094038"/>
            <a:ext cx="4694238"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0512" name="Line 208"/>
          <p:cNvSpPr>
            <a:spLocks noChangeShapeType="1"/>
          </p:cNvSpPr>
          <p:nvPr/>
        </p:nvSpPr>
        <p:spPr bwMode="auto">
          <a:xfrm>
            <a:off x="4078288" y="3451225"/>
            <a:ext cx="83502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0513" name="Line 209"/>
          <p:cNvSpPr>
            <a:spLocks noChangeShapeType="1"/>
          </p:cNvSpPr>
          <p:nvPr/>
        </p:nvSpPr>
        <p:spPr bwMode="auto">
          <a:xfrm>
            <a:off x="4078288" y="4060825"/>
            <a:ext cx="83502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0514" name="Line 210"/>
          <p:cNvSpPr>
            <a:spLocks noChangeShapeType="1"/>
          </p:cNvSpPr>
          <p:nvPr/>
        </p:nvSpPr>
        <p:spPr bwMode="auto">
          <a:xfrm>
            <a:off x="2922588" y="3451225"/>
            <a:ext cx="83502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0515" name="Line 211"/>
          <p:cNvSpPr>
            <a:spLocks noChangeShapeType="1"/>
          </p:cNvSpPr>
          <p:nvPr/>
        </p:nvSpPr>
        <p:spPr bwMode="auto">
          <a:xfrm>
            <a:off x="2922588" y="4060825"/>
            <a:ext cx="83502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0516" name="Line 212"/>
          <p:cNvSpPr>
            <a:spLocks noChangeShapeType="1"/>
          </p:cNvSpPr>
          <p:nvPr/>
        </p:nvSpPr>
        <p:spPr bwMode="auto">
          <a:xfrm>
            <a:off x="5235575" y="3451225"/>
            <a:ext cx="83502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0517" name="Line 213"/>
          <p:cNvSpPr>
            <a:spLocks noChangeShapeType="1"/>
          </p:cNvSpPr>
          <p:nvPr/>
        </p:nvSpPr>
        <p:spPr bwMode="auto">
          <a:xfrm>
            <a:off x="5235575" y="4060825"/>
            <a:ext cx="83502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lide Number Placeholder 3"/>
          <p:cNvSpPr>
            <a:spLocks noGrp="1"/>
          </p:cNvSpPr>
          <p:nvPr>
            <p:ph type="sldNum" sz="quarter" idx="10"/>
          </p:nvPr>
        </p:nvSpPr>
        <p:spPr/>
        <p:txBody>
          <a:bodyPr/>
          <a:lstStyle/>
          <a:p>
            <a:fld id="{6035A5B3-C415-49C3-BED6-7C7D6F3F5C76}" type="slidenum">
              <a:rPr lang="en-US" altLang="en-US"/>
              <a:pPr/>
              <a:t>93</a:t>
            </a:fld>
            <a:endParaRPr lang="en-US" altLang="en-US"/>
          </a:p>
        </p:txBody>
      </p:sp>
      <p:pic>
        <p:nvPicPr>
          <p:cNvPr id="611520" name="Picture 19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5938" y="1274763"/>
            <a:ext cx="3384550" cy="292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1330" name="Rectangle 2"/>
          <p:cNvSpPr>
            <a:spLocks noGrp="1" noChangeArrowheads="1"/>
          </p:cNvSpPr>
          <p:nvPr>
            <p:ph type="title"/>
          </p:nvPr>
        </p:nvSpPr>
        <p:spPr/>
        <p:txBody>
          <a:bodyPr/>
          <a:lstStyle/>
          <a:p>
            <a:r>
              <a:rPr lang="en-US" altLang="en-US"/>
              <a:t>Hierarchy and Composing Larger Components from Smaller Versions</a:t>
            </a:r>
          </a:p>
        </p:txBody>
      </p:sp>
      <p:sp>
        <p:nvSpPr>
          <p:cNvPr id="611331" name="Rectangle 3"/>
          <p:cNvSpPr>
            <a:spLocks noGrp="1" noChangeArrowheads="1"/>
          </p:cNvSpPr>
          <p:nvPr>
            <p:ph type="body" idx="1"/>
          </p:nvPr>
        </p:nvSpPr>
        <p:spPr>
          <a:xfrm>
            <a:off x="0" y="1382713"/>
            <a:ext cx="5032375" cy="1846262"/>
          </a:xfrm>
        </p:spPr>
        <p:txBody>
          <a:bodyPr/>
          <a:lstStyle/>
          <a:p>
            <a:pPr>
              <a:lnSpc>
                <a:spcPct val="90000"/>
              </a:lnSpc>
            </a:pPr>
            <a:r>
              <a:rPr lang="en-US" altLang="en-US" sz="1800"/>
              <a:t>Creating memory with more words </a:t>
            </a:r>
          </a:p>
          <a:p>
            <a:pPr lvl="1">
              <a:lnSpc>
                <a:spcPct val="90000"/>
              </a:lnSpc>
            </a:pPr>
            <a:r>
              <a:rPr lang="en-US" altLang="en-US" sz="1600"/>
              <a:t>Put memories on top of one another until the number of desired words is achieved</a:t>
            </a:r>
          </a:p>
          <a:p>
            <a:pPr lvl="1">
              <a:lnSpc>
                <a:spcPct val="90000"/>
              </a:lnSpc>
            </a:pPr>
            <a:r>
              <a:rPr lang="en-US" altLang="en-US" sz="1600"/>
              <a:t>Use decoder to select among the memories</a:t>
            </a:r>
          </a:p>
          <a:p>
            <a:pPr lvl="2">
              <a:lnSpc>
                <a:spcPct val="90000"/>
              </a:lnSpc>
            </a:pPr>
            <a:r>
              <a:rPr lang="en-US" altLang="en-US" sz="1400"/>
              <a:t>Can use highest order address input(s) as decoder input</a:t>
            </a:r>
          </a:p>
          <a:p>
            <a:pPr lvl="2">
              <a:lnSpc>
                <a:spcPct val="90000"/>
              </a:lnSpc>
            </a:pPr>
            <a:r>
              <a:rPr lang="en-US" altLang="en-US" sz="1400"/>
              <a:t>Although actually, any address line could be used</a:t>
            </a:r>
          </a:p>
          <a:p>
            <a:pPr lvl="1">
              <a:lnSpc>
                <a:spcPct val="90000"/>
              </a:lnSpc>
            </a:pPr>
            <a:r>
              <a:rPr lang="en-US" altLang="en-US" sz="1600"/>
              <a:t>Example: Compose 1024x8 memories into 2048x8 memory</a:t>
            </a:r>
          </a:p>
        </p:txBody>
      </p:sp>
      <p:sp>
        <p:nvSpPr>
          <p:cNvPr id="611332" name="Rectangle 4"/>
          <p:cNvSpPr>
            <a:spLocks noChangeArrowheads="1"/>
          </p:cNvSpPr>
          <p:nvPr/>
        </p:nvSpPr>
        <p:spPr bwMode="auto">
          <a:xfrm>
            <a:off x="4754563"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11333" name="Rectangle 5"/>
          <p:cNvSpPr>
            <a:spLocks noChangeArrowheads="1"/>
          </p:cNvSpPr>
          <p:nvPr/>
        </p:nvSpPr>
        <p:spPr bwMode="auto">
          <a:xfrm>
            <a:off x="4754563"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11334" name="Rectangle 6"/>
          <p:cNvSpPr>
            <a:spLocks noChangeArrowheads="1"/>
          </p:cNvSpPr>
          <p:nvPr/>
        </p:nvSpPr>
        <p:spPr bwMode="auto">
          <a:xfrm>
            <a:off x="4754563"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11335" name="Rectangle 7"/>
          <p:cNvSpPr>
            <a:spLocks noChangeArrowheads="1"/>
          </p:cNvSpPr>
          <p:nvPr/>
        </p:nvSpPr>
        <p:spPr bwMode="auto">
          <a:xfrm>
            <a:off x="4754563"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11336" name="Rectangle 8"/>
          <p:cNvSpPr>
            <a:spLocks noChangeArrowheads="1"/>
          </p:cNvSpPr>
          <p:nvPr/>
        </p:nvSpPr>
        <p:spPr bwMode="auto">
          <a:xfrm>
            <a:off x="4754563"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11337" name="Rectangle 9"/>
          <p:cNvSpPr>
            <a:spLocks noChangeArrowheads="1"/>
          </p:cNvSpPr>
          <p:nvPr/>
        </p:nvSpPr>
        <p:spPr bwMode="auto">
          <a:xfrm>
            <a:off x="4754563"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sz="2400"/>
          </a:p>
        </p:txBody>
      </p:sp>
      <p:sp>
        <p:nvSpPr>
          <p:cNvPr id="611338" name="Rectangle 10"/>
          <p:cNvSpPr>
            <a:spLocks noChangeArrowheads="1"/>
          </p:cNvSpPr>
          <p:nvPr/>
        </p:nvSpPr>
        <p:spPr bwMode="auto">
          <a:xfrm>
            <a:off x="3563938" y="46767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11339" name="Rectangle 11"/>
          <p:cNvSpPr>
            <a:spLocks noChangeArrowheads="1"/>
          </p:cNvSpPr>
          <p:nvPr/>
        </p:nvSpPr>
        <p:spPr bwMode="auto">
          <a:xfrm>
            <a:off x="3563938" y="475932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11340" name="Rectangle 12"/>
          <p:cNvSpPr>
            <a:spLocks noChangeArrowheads="1"/>
          </p:cNvSpPr>
          <p:nvPr/>
        </p:nvSpPr>
        <p:spPr bwMode="auto">
          <a:xfrm>
            <a:off x="3563938" y="48085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11341" name="Rectangle 13"/>
          <p:cNvSpPr>
            <a:spLocks noChangeArrowheads="1"/>
          </p:cNvSpPr>
          <p:nvPr/>
        </p:nvSpPr>
        <p:spPr bwMode="auto">
          <a:xfrm>
            <a:off x="3563938" y="48942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11342" name="Rectangle 14"/>
          <p:cNvSpPr>
            <a:spLocks noChangeArrowheads="1"/>
          </p:cNvSpPr>
          <p:nvPr/>
        </p:nvSpPr>
        <p:spPr bwMode="auto">
          <a:xfrm>
            <a:off x="3563938" y="50958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11343" name="Rectangle 15"/>
          <p:cNvSpPr>
            <a:spLocks noChangeArrowheads="1"/>
          </p:cNvSpPr>
          <p:nvPr/>
        </p:nvSpPr>
        <p:spPr bwMode="auto">
          <a:xfrm>
            <a:off x="3563938" y="516731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sz="2400"/>
          </a:p>
        </p:txBody>
      </p:sp>
      <p:sp>
        <p:nvSpPr>
          <p:cNvPr id="611344" name="Rectangle 16"/>
          <p:cNvSpPr>
            <a:spLocks noChangeArrowheads="1"/>
          </p:cNvSpPr>
          <p:nvPr/>
        </p:nvSpPr>
        <p:spPr bwMode="auto">
          <a:xfrm>
            <a:off x="2684463" y="47752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sz="2400"/>
          </a:p>
        </p:txBody>
      </p:sp>
      <p:sp>
        <p:nvSpPr>
          <p:cNvPr id="611345" name="Rectangle 17"/>
          <p:cNvSpPr>
            <a:spLocks noChangeArrowheads="1"/>
          </p:cNvSpPr>
          <p:nvPr/>
        </p:nvSpPr>
        <p:spPr bwMode="auto">
          <a:xfrm>
            <a:off x="2684463" y="48577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sz="2400"/>
          </a:p>
        </p:txBody>
      </p:sp>
      <p:sp>
        <p:nvSpPr>
          <p:cNvPr id="611346" name="Rectangle 18"/>
          <p:cNvSpPr>
            <a:spLocks noChangeArrowheads="1"/>
          </p:cNvSpPr>
          <p:nvPr/>
        </p:nvSpPr>
        <p:spPr bwMode="auto">
          <a:xfrm>
            <a:off x="2684463" y="49085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sz="2400"/>
          </a:p>
        </p:txBody>
      </p:sp>
      <p:sp>
        <p:nvSpPr>
          <p:cNvPr id="611347" name="Rectangle 19"/>
          <p:cNvSpPr>
            <a:spLocks noChangeArrowheads="1"/>
          </p:cNvSpPr>
          <p:nvPr/>
        </p:nvSpPr>
        <p:spPr bwMode="auto">
          <a:xfrm>
            <a:off x="2684463" y="49942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sz="2400"/>
          </a:p>
        </p:txBody>
      </p:sp>
      <p:sp>
        <p:nvSpPr>
          <p:cNvPr id="611348" name="Rectangle 20"/>
          <p:cNvSpPr>
            <a:spLocks noChangeArrowheads="1"/>
          </p:cNvSpPr>
          <p:nvPr/>
        </p:nvSpPr>
        <p:spPr bwMode="auto">
          <a:xfrm>
            <a:off x="2684463" y="519588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sz="2400"/>
          </a:p>
        </p:txBody>
      </p:sp>
      <p:sp>
        <p:nvSpPr>
          <p:cNvPr id="611349" name="Rectangle 21"/>
          <p:cNvSpPr>
            <a:spLocks noChangeArrowheads="1"/>
          </p:cNvSpPr>
          <p:nvPr/>
        </p:nvSpPr>
        <p:spPr bwMode="auto">
          <a:xfrm>
            <a:off x="2684463" y="5265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1</a:t>
            </a:r>
            <a:endParaRPr lang="en-US" altLang="en-US" sz="2400"/>
          </a:p>
        </p:txBody>
      </p:sp>
      <p:sp>
        <p:nvSpPr>
          <p:cNvPr id="611350" name="Rectangle 22"/>
          <p:cNvSpPr>
            <a:spLocks noChangeArrowheads="1"/>
          </p:cNvSpPr>
          <p:nvPr/>
        </p:nvSpPr>
        <p:spPr bwMode="auto">
          <a:xfrm>
            <a:off x="66484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11351" name="Rectangle 23"/>
          <p:cNvSpPr>
            <a:spLocks noChangeArrowheads="1"/>
          </p:cNvSpPr>
          <p:nvPr/>
        </p:nvSpPr>
        <p:spPr bwMode="auto">
          <a:xfrm>
            <a:off x="5873750" y="47498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vin</a:t>
            </a:r>
            <a:endParaRPr lang="en-US" altLang="en-US"/>
          </a:p>
        </p:txBody>
      </p:sp>
      <p:sp>
        <p:nvSpPr>
          <p:cNvPr id="611353" name="Rectangle 25"/>
          <p:cNvSpPr>
            <a:spLocks noChangeArrowheads="1"/>
          </p:cNvSpPr>
          <p:nvPr/>
        </p:nvSpPr>
        <p:spPr bwMode="auto">
          <a:xfrm>
            <a:off x="7145338"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11354" name="Rectangle 26"/>
          <p:cNvSpPr>
            <a:spLocks noChangeArrowheads="1"/>
          </p:cNvSpPr>
          <p:nvPr/>
        </p:nvSpPr>
        <p:spPr bwMode="auto">
          <a:xfrm>
            <a:off x="7145338"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11355" name="Rectangle 27"/>
          <p:cNvSpPr>
            <a:spLocks noChangeArrowheads="1"/>
          </p:cNvSpPr>
          <p:nvPr/>
        </p:nvSpPr>
        <p:spPr bwMode="auto">
          <a:xfrm>
            <a:off x="7145338"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11356" name="Rectangle 28"/>
          <p:cNvSpPr>
            <a:spLocks noChangeArrowheads="1"/>
          </p:cNvSpPr>
          <p:nvPr/>
        </p:nvSpPr>
        <p:spPr bwMode="auto">
          <a:xfrm>
            <a:off x="7145338"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11357" name="Rectangle 29"/>
          <p:cNvSpPr>
            <a:spLocks noChangeArrowheads="1"/>
          </p:cNvSpPr>
          <p:nvPr/>
        </p:nvSpPr>
        <p:spPr bwMode="auto">
          <a:xfrm>
            <a:off x="7145338" y="49593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3</a:t>
            </a:r>
            <a:endParaRPr lang="en-US" altLang="en-US"/>
          </a:p>
        </p:txBody>
      </p:sp>
      <p:sp>
        <p:nvSpPr>
          <p:cNvPr id="611358" name="Rectangle 30"/>
          <p:cNvSpPr>
            <a:spLocks noChangeArrowheads="1"/>
          </p:cNvSpPr>
          <p:nvPr/>
        </p:nvSpPr>
        <p:spPr bwMode="auto">
          <a:xfrm>
            <a:off x="6153150" y="4411663"/>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sp>
        <p:nvSpPr>
          <p:cNvPr id="611359" name="Rectangle 31"/>
          <p:cNvSpPr>
            <a:spLocks noChangeArrowheads="1"/>
          </p:cNvSpPr>
          <p:nvPr/>
        </p:nvSpPr>
        <p:spPr bwMode="auto">
          <a:xfrm>
            <a:off x="6153150" y="45037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r</a:t>
            </a:r>
            <a:endParaRPr lang="en-US" altLang="en-US"/>
          </a:p>
        </p:txBody>
      </p:sp>
      <p:sp>
        <p:nvSpPr>
          <p:cNvPr id="611360" name="Rectangle 32"/>
          <p:cNvSpPr>
            <a:spLocks noChangeArrowheads="1"/>
          </p:cNvSpPr>
          <p:nvPr/>
        </p:nvSpPr>
        <p:spPr bwMode="auto">
          <a:xfrm>
            <a:off x="6153150" y="455930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o</a:t>
            </a:r>
            <a:endParaRPr lang="en-US" altLang="en-US"/>
          </a:p>
        </p:txBody>
      </p:sp>
      <p:sp>
        <p:nvSpPr>
          <p:cNvPr id="611361" name="Rectangle 33"/>
          <p:cNvSpPr>
            <a:spLocks noChangeArrowheads="1"/>
          </p:cNvSpPr>
          <p:nvPr/>
        </p:nvSpPr>
        <p:spPr bwMode="auto">
          <a:xfrm>
            <a:off x="6153150" y="4879975"/>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c</a:t>
            </a:r>
            <a:endParaRPr lang="en-US" altLang="en-US"/>
          </a:p>
        </p:txBody>
      </p:sp>
      <p:sp>
        <p:nvSpPr>
          <p:cNvPr id="611362" name="Rectangle 34"/>
          <p:cNvSpPr>
            <a:spLocks noChangeArrowheads="1"/>
          </p:cNvSpPr>
          <p:nvPr/>
        </p:nvSpPr>
        <p:spPr bwMode="auto">
          <a:xfrm>
            <a:off x="6153150" y="4959350"/>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 2</a:t>
            </a:r>
            <a:endParaRPr lang="en-US" altLang="en-US"/>
          </a:p>
        </p:txBody>
      </p:sp>
      <p:sp>
        <p:nvSpPr>
          <p:cNvPr id="611363" name="Rectangle 35"/>
          <p:cNvSpPr>
            <a:spLocks noChangeArrowheads="1"/>
          </p:cNvSpPr>
          <p:nvPr/>
        </p:nvSpPr>
        <p:spPr bwMode="auto">
          <a:xfrm>
            <a:off x="5256213" y="441483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P</a:t>
            </a:r>
            <a:endParaRPr lang="en-US" altLang="en-US"/>
          </a:p>
        </p:txBody>
      </p:sp>
      <p:grpSp>
        <p:nvGrpSpPr>
          <p:cNvPr id="611621" name="Group 293"/>
          <p:cNvGrpSpPr>
            <a:grpSpLocks/>
          </p:cNvGrpSpPr>
          <p:nvPr/>
        </p:nvGrpSpPr>
        <p:grpSpPr bwMode="auto">
          <a:xfrm>
            <a:off x="666750" y="3873500"/>
            <a:ext cx="4583113" cy="2830513"/>
            <a:chOff x="420" y="2440"/>
            <a:chExt cx="2887" cy="1783"/>
          </a:xfrm>
        </p:grpSpPr>
        <p:sp>
          <p:nvSpPr>
            <p:cNvPr id="611370" name="Rectangle 42"/>
            <p:cNvSpPr>
              <a:spLocks noChangeArrowheads="1"/>
            </p:cNvSpPr>
            <p:nvPr/>
          </p:nvSpPr>
          <p:spPr bwMode="auto">
            <a:xfrm>
              <a:off x="1539" y="2557"/>
              <a:ext cx="1049" cy="816"/>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11371" name="Rectangle 43"/>
            <p:cNvSpPr>
              <a:spLocks noChangeArrowheads="1"/>
            </p:cNvSpPr>
            <p:nvPr/>
          </p:nvSpPr>
          <p:spPr bwMode="auto">
            <a:xfrm>
              <a:off x="1539" y="3407"/>
              <a:ext cx="1042" cy="816"/>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11372" name="Rectangle 44"/>
            <p:cNvSpPr>
              <a:spLocks noChangeArrowheads="1"/>
            </p:cNvSpPr>
            <p:nvPr/>
          </p:nvSpPr>
          <p:spPr bwMode="auto">
            <a:xfrm>
              <a:off x="2940" y="2855"/>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1024x8</a:t>
              </a:r>
              <a:endParaRPr lang="en-US" altLang="en-US" sz="2400"/>
            </a:p>
          </p:txBody>
        </p:sp>
        <p:sp>
          <p:nvSpPr>
            <p:cNvPr id="611375" name="Rectangle 47"/>
            <p:cNvSpPr>
              <a:spLocks noChangeArrowheads="1"/>
            </p:cNvSpPr>
            <p:nvPr/>
          </p:nvSpPr>
          <p:spPr bwMode="auto">
            <a:xfrm>
              <a:off x="2989" y="2966"/>
              <a:ext cx="24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ROM</a:t>
              </a:r>
              <a:endParaRPr lang="en-US" altLang="en-US" sz="2400"/>
            </a:p>
          </p:txBody>
        </p:sp>
        <p:sp>
          <p:nvSpPr>
            <p:cNvPr id="611377" name="Rectangle 49"/>
            <p:cNvSpPr>
              <a:spLocks noChangeArrowheads="1"/>
            </p:cNvSpPr>
            <p:nvPr/>
          </p:nvSpPr>
          <p:spPr bwMode="auto">
            <a:xfrm>
              <a:off x="2882" y="2699"/>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a:t>
              </a:r>
              <a:endParaRPr lang="en-US" altLang="en-US" sz="2400"/>
            </a:p>
          </p:txBody>
        </p:sp>
        <p:sp>
          <p:nvSpPr>
            <p:cNvPr id="611378" name="Rectangle 50"/>
            <p:cNvSpPr>
              <a:spLocks noChangeArrowheads="1"/>
            </p:cNvSpPr>
            <p:nvPr/>
          </p:nvSpPr>
          <p:spPr bwMode="auto">
            <a:xfrm>
              <a:off x="2878" y="3120"/>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t>
              </a:r>
              <a:endParaRPr lang="en-US" altLang="en-US" sz="2400"/>
            </a:p>
          </p:txBody>
        </p:sp>
        <p:sp>
          <p:nvSpPr>
            <p:cNvPr id="611379" name="Rectangle 51"/>
            <p:cNvSpPr>
              <a:spLocks noChangeArrowheads="1"/>
            </p:cNvSpPr>
            <p:nvPr/>
          </p:nvSpPr>
          <p:spPr bwMode="auto">
            <a:xfrm>
              <a:off x="3098" y="3120"/>
              <a:ext cx="20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sz="2400"/>
            </a:p>
          </p:txBody>
        </p:sp>
        <p:sp>
          <p:nvSpPr>
            <p:cNvPr id="611382" name="Rectangle 54"/>
            <p:cNvSpPr>
              <a:spLocks noChangeArrowheads="1"/>
            </p:cNvSpPr>
            <p:nvPr/>
          </p:nvSpPr>
          <p:spPr bwMode="auto">
            <a:xfrm>
              <a:off x="2865" y="2670"/>
              <a:ext cx="442" cy="59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383" name="Rectangle 55"/>
            <p:cNvSpPr>
              <a:spLocks noChangeArrowheads="1"/>
            </p:cNvSpPr>
            <p:nvPr/>
          </p:nvSpPr>
          <p:spPr bwMode="auto">
            <a:xfrm>
              <a:off x="2940" y="3703"/>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1024x8</a:t>
              </a:r>
              <a:endParaRPr lang="en-US" altLang="en-US" sz="2400"/>
            </a:p>
          </p:txBody>
        </p:sp>
        <p:sp>
          <p:nvSpPr>
            <p:cNvPr id="611386" name="Rectangle 58"/>
            <p:cNvSpPr>
              <a:spLocks noChangeArrowheads="1"/>
            </p:cNvSpPr>
            <p:nvPr/>
          </p:nvSpPr>
          <p:spPr bwMode="auto">
            <a:xfrm>
              <a:off x="2989" y="3814"/>
              <a:ext cx="24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ROM</a:t>
              </a:r>
              <a:endParaRPr lang="en-US" altLang="en-US" sz="2400"/>
            </a:p>
          </p:txBody>
        </p:sp>
        <p:sp>
          <p:nvSpPr>
            <p:cNvPr id="611388" name="Rectangle 60"/>
            <p:cNvSpPr>
              <a:spLocks noChangeArrowheads="1"/>
            </p:cNvSpPr>
            <p:nvPr/>
          </p:nvSpPr>
          <p:spPr bwMode="auto">
            <a:xfrm>
              <a:off x="2882" y="3547"/>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a:t>
              </a:r>
              <a:endParaRPr lang="en-US" altLang="en-US" sz="2400"/>
            </a:p>
          </p:txBody>
        </p:sp>
        <p:sp>
          <p:nvSpPr>
            <p:cNvPr id="611389" name="Rectangle 61"/>
            <p:cNvSpPr>
              <a:spLocks noChangeArrowheads="1"/>
            </p:cNvSpPr>
            <p:nvPr/>
          </p:nvSpPr>
          <p:spPr bwMode="auto">
            <a:xfrm>
              <a:off x="2878" y="3968"/>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t>
              </a:r>
              <a:endParaRPr lang="en-US" altLang="en-US" sz="2400"/>
            </a:p>
          </p:txBody>
        </p:sp>
        <p:sp>
          <p:nvSpPr>
            <p:cNvPr id="611390" name="Rectangle 62"/>
            <p:cNvSpPr>
              <a:spLocks noChangeArrowheads="1"/>
            </p:cNvSpPr>
            <p:nvPr/>
          </p:nvSpPr>
          <p:spPr bwMode="auto">
            <a:xfrm>
              <a:off x="3098" y="3968"/>
              <a:ext cx="20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sz="2400"/>
            </a:p>
          </p:txBody>
        </p:sp>
        <p:sp>
          <p:nvSpPr>
            <p:cNvPr id="611393" name="Rectangle 65"/>
            <p:cNvSpPr>
              <a:spLocks noChangeArrowheads="1"/>
            </p:cNvSpPr>
            <p:nvPr/>
          </p:nvSpPr>
          <p:spPr bwMode="auto">
            <a:xfrm>
              <a:off x="2865" y="3517"/>
              <a:ext cx="442" cy="593"/>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394" name="Line 66"/>
            <p:cNvSpPr>
              <a:spLocks noChangeShapeType="1"/>
            </p:cNvSpPr>
            <p:nvPr/>
          </p:nvSpPr>
          <p:spPr bwMode="auto">
            <a:xfrm flipV="1">
              <a:off x="2607" y="3798"/>
              <a:ext cx="141" cy="5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395" name="Freeform 67"/>
            <p:cNvSpPr>
              <a:spLocks/>
            </p:cNvSpPr>
            <p:nvPr/>
          </p:nvSpPr>
          <p:spPr bwMode="auto">
            <a:xfrm>
              <a:off x="2725" y="3773"/>
              <a:ext cx="93" cy="56"/>
            </a:xfrm>
            <a:custGeom>
              <a:avLst/>
              <a:gdLst>
                <a:gd name="T0" fmla="*/ 103 w 103"/>
                <a:gd name="T1" fmla="*/ 0 h 56"/>
                <a:gd name="T2" fmla="*/ 0 w 103"/>
                <a:gd name="T3" fmla="*/ 6 h 56"/>
                <a:gd name="T4" fmla="*/ 15 w 103"/>
                <a:gd name="T5" fmla="*/ 56 h 56"/>
                <a:gd name="T6" fmla="*/ 103 w 103"/>
                <a:gd name="T7" fmla="*/ 0 h 56"/>
              </a:gdLst>
              <a:ahLst/>
              <a:cxnLst>
                <a:cxn ang="0">
                  <a:pos x="T0" y="T1"/>
                </a:cxn>
                <a:cxn ang="0">
                  <a:pos x="T2" y="T3"/>
                </a:cxn>
                <a:cxn ang="0">
                  <a:pos x="T4" y="T5"/>
                </a:cxn>
                <a:cxn ang="0">
                  <a:pos x="T6" y="T7"/>
                </a:cxn>
              </a:cxnLst>
              <a:rect l="0" t="0" r="r" b="b"/>
              <a:pathLst>
                <a:path w="103" h="56">
                  <a:moveTo>
                    <a:pt x="103" y="0"/>
                  </a:moveTo>
                  <a:lnTo>
                    <a:pt x="0" y="6"/>
                  </a:lnTo>
                  <a:lnTo>
                    <a:pt x="15" y="56"/>
                  </a:lnTo>
                  <a:lnTo>
                    <a:pt x="1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396" name="Line 68"/>
            <p:cNvSpPr>
              <a:spLocks noChangeShapeType="1"/>
            </p:cNvSpPr>
            <p:nvPr/>
          </p:nvSpPr>
          <p:spPr bwMode="auto">
            <a:xfrm flipV="1">
              <a:off x="2607" y="3007"/>
              <a:ext cx="141" cy="50"/>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397" name="Freeform 69"/>
            <p:cNvSpPr>
              <a:spLocks/>
            </p:cNvSpPr>
            <p:nvPr/>
          </p:nvSpPr>
          <p:spPr bwMode="auto">
            <a:xfrm>
              <a:off x="2725" y="2982"/>
              <a:ext cx="93" cy="53"/>
            </a:xfrm>
            <a:custGeom>
              <a:avLst/>
              <a:gdLst>
                <a:gd name="T0" fmla="*/ 103 w 103"/>
                <a:gd name="T1" fmla="*/ 0 h 53"/>
                <a:gd name="T2" fmla="*/ 0 w 103"/>
                <a:gd name="T3" fmla="*/ 6 h 53"/>
                <a:gd name="T4" fmla="*/ 15 w 103"/>
                <a:gd name="T5" fmla="*/ 53 h 53"/>
                <a:gd name="T6" fmla="*/ 103 w 103"/>
                <a:gd name="T7" fmla="*/ 0 h 53"/>
              </a:gdLst>
              <a:ahLst/>
              <a:cxnLst>
                <a:cxn ang="0">
                  <a:pos x="T0" y="T1"/>
                </a:cxn>
                <a:cxn ang="0">
                  <a:pos x="T2" y="T3"/>
                </a:cxn>
                <a:cxn ang="0">
                  <a:pos x="T4" y="T5"/>
                </a:cxn>
                <a:cxn ang="0">
                  <a:pos x="T6" y="T7"/>
                </a:cxn>
              </a:cxnLst>
              <a:rect l="0" t="0" r="r" b="b"/>
              <a:pathLst>
                <a:path w="103" h="53">
                  <a:moveTo>
                    <a:pt x="103" y="0"/>
                  </a:moveTo>
                  <a:lnTo>
                    <a:pt x="0" y="6"/>
                  </a:lnTo>
                  <a:lnTo>
                    <a:pt x="15" y="53"/>
                  </a:lnTo>
                  <a:lnTo>
                    <a:pt x="10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398" name="Rectangle 70"/>
            <p:cNvSpPr>
              <a:spLocks noChangeArrowheads="1"/>
            </p:cNvSpPr>
            <p:nvPr/>
          </p:nvSpPr>
          <p:spPr bwMode="auto">
            <a:xfrm>
              <a:off x="1468" y="2587"/>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0  0  0  0  0  0  0  0  0  0  0</a:t>
              </a:r>
              <a:endParaRPr lang="en-US" altLang="en-US" sz="2400"/>
            </a:p>
          </p:txBody>
        </p:sp>
        <p:sp>
          <p:nvSpPr>
            <p:cNvPr id="611399" name="Rectangle 71"/>
            <p:cNvSpPr>
              <a:spLocks noChangeArrowheads="1"/>
            </p:cNvSpPr>
            <p:nvPr/>
          </p:nvSpPr>
          <p:spPr bwMode="auto">
            <a:xfrm>
              <a:off x="1468" y="2724"/>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0  0  0  0  0  0  0  0  0  0  1</a:t>
              </a:r>
              <a:endParaRPr lang="en-US" altLang="en-US" sz="2400"/>
            </a:p>
          </p:txBody>
        </p:sp>
        <p:sp>
          <p:nvSpPr>
            <p:cNvPr id="611400" name="Rectangle 72"/>
            <p:cNvSpPr>
              <a:spLocks noChangeArrowheads="1"/>
            </p:cNvSpPr>
            <p:nvPr/>
          </p:nvSpPr>
          <p:spPr bwMode="auto">
            <a:xfrm>
              <a:off x="1468" y="2859"/>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0  0  0  0  0  0  0  0  0  1  0</a:t>
              </a:r>
              <a:endParaRPr lang="en-US" altLang="en-US" sz="2400"/>
            </a:p>
          </p:txBody>
        </p:sp>
        <p:sp>
          <p:nvSpPr>
            <p:cNvPr id="611401" name="Rectangle 73"/>
            <p:cNvSpPr>
              <a:spLocks noChangeArrowheads="1"/>
            </p:cNvSpPr>
            <p:nvPr/>
          </p:nvSpPr>
          <p:spPr bwMode="auto">
            <a:xfrm>
              <a:off x="1468" y="3112"/>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0  1  1  1  1  1  1  1  1  1  0</a:t>
              </a:r>
              <a:endParaRPr lang="en-US" altLang="en-US" sz="2400"/>
            </a:p>
          </p:txBody>
        </p:sp>
        <p:sp>
          <p:nvSpPr>
            <p:cNvPr id="611402" name="Rectangle 74"/>
            <p:cNvSpPr>
              <a:spLocks noChangeArrowheads="1"/>
            </p:cNvSpPr>
            <p:nvPr/>
          </p:nvSpPr>
          <p:spPr bwMode="auto">
            <a:xfrm>
              <a:off x="1468" y="3241"/>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0  1  1  1  1  1  1  1  1  1  1</a:t>
              </a:r>
              <a:endParaRPr lang="en-US" altLang="en-US" sz="2400"/>
            </a:p>
          </p:txBody>
        </p:sp>
        <p:sp>
          <p:nvSpPr>
            <p:cNvPr id="611403" name="Rectangle 75"/>
            <p:cNvSpPr>
              <a:spLocks noChangeArrowheads="1"/>
            </p:cNvSpPr>
            <p:nvPr/>
          </p:nvSpPr>
          <p:spPr bwMode="auto">
            <a:xfrm>
              <a:off x="1468" y="3426"/>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1  0  0  0  0  0  0  0  0  0  0</a:t>
              </a:r>
              <a:endParaRPr lang="en-US" altLang="en-US" sz="2400"/>
            </a:p>
          </p:txBody>
        </p:sp>
        <p:sp>
          <p:nvSpPr>
            <p:cNvPr id="611404" name="Rectangle 76"/>
            <p:cNvSpPr>
              <a:spLocks noChangeArrowheads="1"/>
            </p:cNvSpPr>
            <p:nvPr/>
          </p:nvSpPr>
          <p:spPr bwMode="auto">
            <a:xfrm>
              <a:off x="1468" y="3562"/>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1  0  0  0  0  0  0  0  0  0  1</a:t>
              </a:r>
              <a:endParaRPr lang="en-US" altLang="en-US" sz="2400"/>
            </a:p>
          </p:txBody>
        </p:sp>
        <p:sp>
          <p:nvSpPr>
            <p:cNvPr id="611405" name="Rectangle 77"/>
            <p:cNvSpPr>
              <a:spLocks noChangeArrowheads="1"/>
            </p:cNvSpPr>
            <p:nvPr/>
          </p:nvSpPr>
          <p:spPr bwMode="auto">
            <a:xfrm>
              <a:off x="1468" y="3695"/>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1  0  0  0  0  0  0  0  0  1  0</a:t>
              </a:r>
              <a:endParaRPr lang="en-US" altLang="en-US" sz="2400"/>
            </a:p>
          </p:txBody>
        </p:sp>
        <p:sp>
          <p:nvSpPr>
            <p:cNvPr id="611406" name="Rectangle 78"/>
            <p:cNvSpPr>
              <a:spLocks noChangeArrowheads="1"/>
            </p:cNvSpPr>
            <p:nvPr/>
          </p:nvSpPr>
          <p:spPr bwMode="auto">
            <a:xfrm>
              <a:off x="1468" y="3951"/>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1  1  1  1  1  1  1  1  1  1  0</a:t>
              </a:r>
              <a:endParaRPr lang="en-US" altLang="en-US" sz="2400"/>
            </a:p>
          </p:txBody>
        </p:sp>
        <p:sp>
          <p:nvSpPr>
            <p:cNvPr id="611407" name="Rectangle 79"/>
            <p:cNvSpPr>
              <a:spLocks noChangeArrowheads="1"/>
            </p:cNvSpPr>
            <p:nvPr/>
          </p:nvSpPr>
          <p:spPr bwMode="auto">
            <a:xfrm>
              <a:off x="1468" y="4080"/>
              <a:ext cx="12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1  1  1  1  1  1  1  1  1  1  1</a:t>
              </a:r>
              <a:endParaRPr lang="en-US" altLang="en-US" sz="2400"/>
            </a:p>
          </p:txBody>
        </p:sp>
        <p:sp>
          <p:nvSpPr>
            <p:cNvPr id="611408" name="Oval 80"/>
            <p:cNvSpPr>
              <a:spLocks noChangeArrowheads="1"/>
            </p:cNvSpPr>
            <p:nvPr/>
          </p:nvSpPr>
          <p:spPr bwMode="auto">
            <a:xfrm>
              <a:off x="2081" y="2485"/>
              <a:ext cx="23" cy="22"/>
            </a:xfrm>
            <a:prstGeom prst="ellipse">
              <a:avLst/>
            </a:prstGeom>
            <a:solidFill>
              <a:srgbClr val="000000"/>
            </a:solidFill>
            <a:ln w="6350">
              <a:solidFill>
                <a:srgbClr val="000000"/>
              </a:solidFill>
              <a:miter lim="800000"/>
              <a:headEnd/>
              <a:tailEnd/>
            </a:ln>
          </p:spPr>
          <p:txBody>
            <a:bodyPr/>
            <a:lstStyle/>
            <a:p>
              <a:endParaRPr lang="en-US"/>
            </a:p>
          </p:txBody>
        </p:sp>
        <p:sp>
          <p:nvSpPr>
            <p:cNvPr id="611409" name="Oval 81"/>
            <p:cNvSpPr>
              <a:spLocks noChangeArrowheads="1"/>
            </p:cNvSpPr>
            <p:nvPr/>
          </p:nvSpPr>
          <p:spPr bwMode="auto">
            <a:xfrm>
              <a:off x="2121" y="2485"/>
              <a:ext cx="20" cy="22"/>
            </a:xfrm>
            <a:prstGeom prst="ellipse">
              <a:avLst/>
            </a:prstGeom>
            <a:solidFill>
              <a:srgbClr val="000000"/>
            </a:solidFill>
            <a:ln w="6350">
              <a:solidFill>
                <a:srgbClr val="000000"/>
              </a:solidFill>
              <a:miter lim="800000"/>
              <a:headEnd/>
              <a:tailEnd/>
            </a:ln>
          </p:spPr>
          <p:txBody>
            <a:bodyPr/>
            <a:lstStyle/>
            <a:p>
              <a:endParaRPr lang="en-US"/>
            </a:p>
          </p:txBody>
        </p:sp>
        <p:sp>
          <p:nvSpPr>
            <p:cNvPr id="611410" name="Oval 82"/>
            <p:cNvSpPr>
              <a:spLocks noChangeArrowheads="1"/>
            </p:cNvSpPr>
            <p:nvPr/>
          </p:nvSpPr>
          <p:spPr bwMode="auto">
            <a:xfrm>
              <a:off x="2160" y="2485"/>
              <a:ext cx="20" cy="22"/>
            </a:xfrm>
            <a:prstGeom prst="ellipse">
              <a:avLst/>
            </a:prstGeom>
            <a:solidFill>
              <a:srgbClr val="000000"/>
            </a:solidFill>
            <a:ln w="6350">
              <a:solidFill>
                <a:srgbClr val="000000"/>
              </a:solidFill>
              <a:miter lim="800000"/>
              <a:headEnd/>
              <a:tailEnd/>
            </a:ln>
          </p:spPr>
          <p:txBody>
            <a:bodyPr/>
            <a:lstStyle/>
            <a:p>
              <a:endParaRPr lang="en-US"/>
            </a:p>
          </p:txBody>
        </p:sp>
        <p:sp>
          <p:nvSpPr>
            <p:cNvPr id="611411" name="Oval 83"/>
            <p:cNvSpPr>
              <a:spLocks noChangeArrowheads="1"/>
            </p:cNvSpPr>
            <p:nvPr/>
          </p:nvSpPr>
          <p:spPr bwMode="auto">
            <a:xfrm>
              <a:off x="1991" y="3038"/>
              <a:ext cx="20" cy="25"/>
            </a:xfrm>
            <a:prstGeom prst="ellipse">
              <a:avLst/>
            </a:prstGeom>
            <a:solidFill>
              <a:srgbClr val="000000"/>
            </a:solidFill>
            <a:ln w="6350">
              <a:solidFill>
                <a:srgbClr val="000000"/>
              </a:solidFill>
              <a:miter lim="800000"/>
              <a:headEnd/>
              <a:tailEnd/>
            </a:ln>
          </p:spPr>
          <p:txBody>
            <a:bodyPr/>
            <a:lstStyle/>
            <a:p>
              <a:endParaRPr lang="en-US"/>
            </a:p>
          </p:txBody>
        </p:sp>
        <p:sp>
          <p:nvSpPr>
            <p:cNvPr id="611412" name="Oval 84"/>
            <p:cNvSpPr>
              <a:spLocks noChangeArrowheads="1"/>
            </p:cNvSpPr>
            <p:nvPr/>
          </p:nvSpPr>
          <p:spPr bwMode="auto">
            <a:xfrm>
              <a:off x="2031" y="3038"/>
              <a:ext cx="20" cy="25"/>
            </a:xfrm>
            <a:prstGeom prst="ellipse">
              <a:avLst/>
            </a:prstGeom>
            <a:solidFill>
              <a:srgbClr val="000000"/>
            </a:solidFill>
            <a:ln w="6350">
              <a:solidFill>
                <a:srgbClr val="000000"/>
              </a:solidFill>
              <a:miter lim="800000"/>
              <a:headEnd/>
              <a:tailEnd/>
            </a:ln>
          </p:spPr>
          <p:txBody>
            <a:bodyPr/>
            <a:lstStyle/>
            <a:p>
              <a:endParaRPr lang="en-US"/>
            </a:p>
          </p:txBody>
        </p:sp>
        <p:sp>
          <p:nvSpPr>
            <p:cNvPr id="611413" name="Oval 85"/>
            <p:cNvSpPr>
              <a:spLocks noChangeArrowheads="1"/>
            </p:cNvSpPr>
            <p:nvPr/>
          </p:nvSpPr>
          <p:spPr bwMode="auto">
            <a:xfrm>
              <a:off x="2068" y="3038"/>
              <a:ext cx="22" cy="25"/>
            </a:xfrm>
            <a:prstGeom prst="ellipse">
              <a:avLst/>
            </a:prstGeom>
            <a:solidFill>
              <a:srgbClr val="000000"/>
            </a:solidFill>
            <a:ln w="6350">
              <a:solidFill>
                <a:srgbClr val="000000"/>
              </a:solidFill>
              <a:miter lim="800000"/>
              <a:headEnd/>
              <a:tailEnd/>
            </a:ln>
          </p:spPr>
          <p:txBody>
            <a:bodyPr/>
            <a:lstStyle/>
            <a:p>
              <a:endParaRPr lang="en-US"/>
            </a:p>
          </p:txBody>
        </p:sp>
        <p:sp>
          <p:nvSpPr>
            <p:cNvPr id="611414" name="Oval 86"/>
            <p:cNvSpPr>
              <a:spLocks noChangeArrowheads="1"/>
            </p:cNvSpPr>
            <p:nvPr/>
          </p:nvSpPr>
          <p:spPr bwMode="auto">
            <a:xfrm>
              <a:off x="1991" y="3873"/>
              <a:ext cx="20" cy="22"/>
            </a:xfrm>
            <a:prstGeom prst="ellipse">
              <a:avLst/>
            </a:prstGeom>
            <a:solidFill>
              <a:srgbClr val="000000"/>
            </a:solidFill>
            <a:ln w="6350">
              <a:solidFill>
                <a:srgbClr val="000000"/>
              </a:solidFill>
              <a:miter lim="800000"/>
              <a:headEnd/>
              <a:tailEnd/>
            </a:ln>
          </p:spPr>
          <p:txBody>
            <a:bodyPr/>
            <a:lstStyle/>
            <a:p>
              <a:endParaRPr lang="en-US"/>
            </a:p>
          </p:txBody>
        </p:sp>
        <p:sp>
          <p:nvSpPr>
            <p:cNvPr id="611415" name="Oval 87"/>
            <p:cNvSpPr>
              <a:spLocks noChangeArrowheads="1"/>
            </p:cNvSpPr>
            <p:nvPr/>
          </p:nvSpPr>
          <p:spPr bwMode="auto">
            <a:xfrm>
              <a:off x="2031" y="3873"/>
              <a:ext cx="20" cy="22"/>
            </a:xfrm>
            <a:prstGeom prst="ellipse">
              <a:avLst/>
            </a:prstGeom>
            <a:solidFill>
              <a:srgbClr val="000000"/>
            </a:solidFill>
            <a:ln w="6350">
              <a:solidFill>
                <a:srgbClr val="000000"/>
              </a:solidFill>
              <a:miter lim="800000"/>
              <a:headEnd/>
              <a:tailEnd/>
            </a:ln>
          </p:spPr>
          <p:txBody>
            <a:bodyPr/>
            <a:lstStyle/>
            <a:p>
              <a:endParaRPr lang="en-US"/>
            </a:p>
          </p:txBody>
        </p:sp>
        <p:sp>
          <p:nvSpPr>
            <p:cNvPr id="611416" name="Oval 88"/>
            <p:cNvSpPr>
              <a:spLocks noChangeArrowheads="1"/>
            </p:cNvSpPr>
            <p:nvPr/>
          </p:nvSpPr>
          <p:spPr bwMode="auto">
            <a:xfrm>
              <a:off x="2068" y="3873"/>
              <a:ext cx="22" cy="22"/>
            </a:xfrm>
            <a:prstGeom prst="ellipse">
              <a:avLst/>
            </a:prstGeom>
            <a:solidFill>
              <a:srgbClr val="000000"/>
            </a:solidFill>
            <a:ln w="6350">
              <a:solidFill>
                <a:srgbClr val="000000"/>
              </a:solidFill>
              <a:miter lim="800000"/>
              <a:headEnd/>
              <a:tailEnd/>
            </a:ln>
          </p:spPr>
          <p:txBody>
            <a:bodyPr/>
            <a:lstStyle/>
            <a:p>
              <a:endParaRPr lang="en-US"/>
            </a:p>
          </p:txBody>
        </p:sp>
        <p:sp>
          <p:nvSpPr>
            <p:cNvPr id="611417" name="Rectangle 89"/>
            <p:cNvSpPr>
              <a:spLocks noChangeArrowheads="1"/>
            </p:cNvSpPr>
            <p:nvPr/>
          </p:nvSpPr>
          <p:spPr bwMode="auto">
            <a:xfrm>
              <a:off x="2444" y="2440"/>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a0</a:t>
              </a:r>
              <a:endParaRPr lang="en-US" altLang="en-US" sz="2400"/>
            </a:p>
          </p:txBody>
        </p:sp>
        <p:sp>
          <p:nvSpPr>
            <p:cNvPr id="611418" name="Rectangle 90"/>
            <p:cNvSpPr>
              <a:spLocks noChangeArrowheads="1"/>
            </p:cNvSpPr>
            <p:nvPr/>
          </p:nvSpPr>
          <p:spPr bwMode="auto">
            <a:xfrm>
              <a:off x="1376" y="2440"/>
              <a:ext cx="17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a10</a:t>
              </a:r>
              <a:endParaRPr lang="en-US" altLang="en-US" sz="2400"/>
            </a:p>
          </p:txBody>
        </p:sp>
        <p:sp>
          <p:nvSpPr>
            <p:cNvPr id="611419" name="Rectangle 91"/>
            <p:cNvSpPr>
              <a:spLocks noChangeArrowheads="1"/>
            </p:cNvSpPr>
            <p:nvPr/>
          </p:nvSpPr>
          <p:spPr bwMode="auto">
            <a:xfrm>
              <a:off x="1554" y="2440"/>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a9</a:t>
              </a:r>
              <a:endParaRPr lang="en-US" altLang="en-US" sz="2400"/>
            </a:p>
          </p:txBody>
        </p:sp>
        <p:sp>
          <p:nvSpPr>
            <p:cNvPr id="611420" name="Rectangle 92"/>
            <p:cNvSpPr>
              <a:spLocks noChangeArrowheads="1"/>
            </p:cNvSpPr>
            <p:nvPr/>
          </p:nvSpPr>
          <p:spPr bwMode="auto">
            <a:xfrm>
              <a:off x="1668" y="2440"/>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a8</a:t>
              </a:r>
              <a:endParaRPr lang="en-US" altLang="en-US" sz="2400"/>
            </a:p>
          </p:txBody>
        </p:sp>
        <p:sp>
          <p:nvSpPr>
            <p:cNvPr id="611422" name="Text Box 94"/>
            <p:cNvSpPr txBox="1">
              <a:spLocks noChangeArrowheads="1"/>
            </p:cNvSpPr>
            <p:nvPr/>
          </p:nvSpPr>
          <p:spPr bwMode="auto">
            <a:xfrm>
              <a:off x="420" y="3114"/>
              <a:ext cx="1019"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t>a10 just chooses which memory to access</a:t>
              </a:r>
            </a:p>
          </p:txBody>
        </p:sp>
      </p:grpSp>
      <p:sp>
        <p:nvSpPr>
          <p:cNvPr id="611423" name="Text Box 95"/>
          <p:cNvSpPr txBox="1">
            <a:spLocks noChangeArrowheads="1"/>
          </p:cNvSpPr>
          <p:nvPr/>
        </p:nvSpPr>
        <p:spPr bwMode="auto">
          <a:xfrm>
            <a:off x="5930900" y="5149850"/>
            <a:ext cx="29718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i="1"/>
              <a:t>To create memory with more words and wider words, can first compose to enough words, then widen.</a:t>
            </a:r>
          </a:p>
        </p:txBody>
      </p:sp>
      <p:sp>
        <p:nvSpPr>
          <p:cNvPr id="611424" name="Text Box 96"/>
          <p:cNvSpPr txBox="1">
            <a:spLocks noChangeArrowheads="1"/>
          </p:cNvSpPr>
          <p:nvPr/>
        </p:nvSpPr>
        <p:spPr bwMode="auto">
          <a:xfrm>
            <a:off x="1703388" y="45831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sp>
        <p:nvSpPr>
          <p:cNvPr id="611425" name="Text Box 97"/>
          <p:cNvSpPr txBox="1">
            <a:spLocks noChangeArrowheads="1"/>
          </p:cNvSpPr>
          <p:nvPr/>
        </p:nvSpPr>
        <p:spPr bwMode="auto">
          <a:xfrm>
            <a:off x="5807075" y="5040313"/>
            <a:ext cx="2413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900" i="1">
                <a:solidFill>
                  <a:schemeClr val="accent2"/>
                </a:solidFill>
              </a:rPr>
              <a:t>a</a:t>
            </a:r>
          </a:p>
        </p:txBody>
      </p:sp>
      <p:grpSp>
        <p:nvGrpSpPr>
          <p:cNvPr id="611620" name="Group 292"/>
          <p:cNvGrpSpPr>
            <a:grpSpLocks/>
          </p:cNvGrpSpPr>
          <p:nvPr/>
        </p:nvGrpSpPr>
        <p:grpSpPr bwMode="auto">
          <a:xfrm>
            <a:off x="5195888" y="1265238"/>
            <a:ext cx="3713162" cy="3425825"/>
            <a:chOff x="3273" y="797"/>
            <a:chExt cx="2339" cy="2158"/>
          </a:xfrm>
        </p:grpSpPr>
        <p:sp>
          <p:nvSpPr>
            <p:cNvPr id="611530" name="Oval 202"/>
            <p:cNvSpPr>
              <a:spLocks noChangeArrowheads="1"/>
            </p:cNvSpPr>
            <p:nvPr/>
          </p:nvSpPr>
          <p:spPr bwMode="auto">
            <a:xfrm>
              <a:off x="4754" y="963"/>
              <a:ext cx="50" cy="53"/>
            </a:xfrm>
            <a:prstGeom prst="ellipse">
              <a:avLst/>
            </a:prstGeom>
            <a:solidFill>
              <a:srgbClr val="000000"/>
            </a:solidFill>
            <a:ln w="11113">
              <a:solidFill>
                <a:srgbClr val="000000"/>
              </a:solidFill>
              <a:miter lim="800000"/>
              <a:headEnd/>
              <a:tailEnd/>
            </a:ln>
          </p:spPr>
          <p:txBody>
            <a:bodyPr/>
            <a:lstStyle/>
            <a:p>
              <a:endParaRPr lang="en-US"/>
            </a:p>
          </p:txBody>
        </p:sp>
        <p:sp>
          <p:nvSpPr>
            <p:cNvPr id="611531" name="Line 203"/>
            <p:cNvSpPr>
              <a:spLocks noChangeShapeType="1"/>
            </p:cNvSpPr>
            <p:nvPr/>
          </p:nvSpPr>
          <p:spPr bwMode="auto">
            <a:xfrm flipH="1">
              <a:off x="4313" y="1937"/>
              <a:ext cx="264" cy="74"/>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32" name="Freeform 204"/>
            <p:cNvSpPr>
              <a:spLocks/>
            </p:cNvSpPr>
            <p:nvPr/>
          </p:nvSpPr>
          <p:spPr bwMode="auto">
            <a:xfrm>
              <a:off x="4250" y="1971"/>
              <a:ext cx="110" cy="56"/>
            </a:xfrm>
            <a:custGeom>
              <a:avLst/>
              <a:gdLst>
                <a:gd name="T0" fmla="*/ 0 w 110"/>
                <a:gd name="T1" fmla="*/ 56 h 56"/>
                <a:gd name="T2" fmla="*/ 110 w 110"/>
                <a:gd name="T3" fmla="*/ 53 h 56"/>
                <a:gd name="T4" fmla="*/ 93 w 110"/>
                <a:gd name="T5" fmla="*/ 0 h 56"/>
                <a:gd name="T6" fmla="*/ 0 w 110"/>
                <a:gd name="T7" fmla="*/ 56 h 56"/>
              </a:gdLst>
              <a:ahLst/>
              <a:cxnLst>
                <a:cxn ang="0">
                  <a:pos x="T0" y="T1"/>
                </a:cxn>
                <a:cxn ang="0">
                  <a:pos x="T2" y="T3"/>
                </a:cxn>
                <a:cxn ang="0">
                  <a:pos x="T4" y="T5"/>
                </a:cxn>
                <a:cxn ang="0">
                  <a:pos x="T6" y="T7"/>
                </a:cxn>
              </a:cxnLst>
              <a:rect l="0" t="0" r="r" b="b"/>
              <a:pathLst>
                <a:path w="110" h="56">
                  <a:moveTo>
                    <a:pt x="0" y="56"/>
                  </a:moveTo>
                  <a:lnTo>
                    <a:pt x="110" y="53"/>
                  </a:lnTo>
                  <a:lnTo>
                    <a:pt x="93" y="0"/>
                  </a:lnTo>
                  <a:lnTo>
                    <a:pt x="0" y="5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33" name="Freeform 205"/>
            <p:cNvSpPr>
              <a:spLocks/>
            </p:cNvSpPr>
            <p:nvPr/>
          </p:nvSpPr>
          <p:spPr bwMode="auto">
            <a:xfrm>
              <a:off x="3723" y="989"/>
              <a:ext cx="163" cy="297"/>
            </a:xfrm>
            <a:custGeom>
              <a:avLst/>
              <a:gdLst>
                <a:gd name="T0" fmla="*/ 163 w 163"/>
                <a:gd name="T1" fmla="*/ 297 h 297"/>
                <a:gd name="T2" fmla="*/ 0 w 163"/>
                <a:gd name="T3" fmla="*/ 297 h 297"/>
                <a:gd name="T4" fmla="*/ 0 w 163"/>
                <a:gd name="T5" fmla="*/ 0 h 297"/>
              </a:gdLst>
              <a:ahLst/>
              <a:cxnLst>
                <a:cxn ang="0">
                  <a:pos x="T0" y="T1"/>
                </a:cxn>
                <a:cxn ang="0">
                  <a:pos x="T2" y="T3"/>
                </a:cxn>
                <a:cxn ang="0">
                  <a:pos x="T4" y="T5"/>
                </a:cxn>
              </a:cxnLst>
              <a:rect l="0" t="0" r="r" b="b"/>
              <a:pathLst>
                <a:path w="163" h="297">
                  <a:moveTo>
                    <a:pt x="163" y="297"/>
                  </a:moveTo>
                  <a:lnTo>
                    <a:pt x="0" y="297"/>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534" name="Freeform 206"/>
            <p:cNvSpPr>
              <a:spLocks/>
            </p:cNvSpPr>
            <p:nvPr/>
          </p:nvSpPr>
          <p:spPr bwMode="auto">
            <a:xfrm>
              <a:off x="3866" y="1263"/>
              <a:ext cx="107" cy="54"/>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35" name="Freeform 207"/>
            <p:cNvSpPr>
              <a:spLocks/>
            </p:cNvSpPr>
            <p:nvPr/>
          </p:nvSpPr>
          <p:spPr bwMode="auto">
            <a:xfrm>
              <a:off x="3305" y="1614"/>
              <a:ext cx="942" cy="93"/>
            </a:xfrm>
            <a:custGeom>
              <a:avLst/>
              <a:gdLst>
                <a:gd name="T0" fmla="*/ 942 w 942"/>
                <a:gd name="T1" fmla="*/ 0 h 93"/>
                <a:gd name="T2" fmla="*/ 942 w 942"/>
                <a:gd name="T3" fmla="*/ 93 h 93"/>
                <a:gd name="T4" fmla="*/ 0 w 942"/>
                <a:gd name="T5" fmla="*/ 93 h 93"/>
              </a:gdLst>
              <a:ahLst/>
              <a:cxnLst>
                <a:cxn ang="0">
                  <a:pos x="T0" y="T1"/>
                </a:cxn>
                <a:cxn ang="0">
                  <a:pos x="T2" y="T3"/>
                </a:cxn>
                <a:cxn ang="0">
                  <a:pos x="T4" y="T5"/>
                </a:cxn>
              </a:cxnLst>
              <a:rect l="0" t="0" r="r" b="b"/>
              <a:pathLst>
                <a:path w="942" h="93">
                  <a:moveTo>
                    <a:pt x="942" y="0"/>
                  </a:moveTo>
                  <a:lnTo>
                    <a:pt x="942" y="93"/>
                  </a:lnTo>
                  <a:lnTo>
                    <a:pt x="0" y="93"/>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536" name="Freeform 208"/>
            <p:cNvSpPr>
              <a:spLocks/>
            </p:cNvSpPr>
            <p:nvPr/>
          </p:nvSpPr>
          <p:spPr bwMode="auto">
            <a:xfrm>
              <a:off x="4223" y="1527"/>
              <a:ext cx="54" cy="107"/>
            </a:xfrm>
            <a:custGeom>
              <a:avLst/>
              <a:gdLst>
                <a:gd name="T0" fmla="*/ 27 w 54"/>
                <a:gd name="T1" fmla="*/ 0 h 107"/>
                <a:gd name="T2" fmla="*/ 0 w 54"/>
                <a:gd name="T3" fmla="*/ 107 h 107"/>
                <a:gd name="T4" fmla="*/ 54 w 54"/>
                <a:gd name="T5" fmla="*/ 107 h 107"/>
                <a:gd name="T6" fmla="*/ 27 w 54"/>
                <a:gd name="T7" fmla="*/ 0 h 107"/>
              </a:gdLst>
              <a:ahLst/>
              <a:cxnLst>
                <a:cxn ang="0">
                  <a:pos x="T0" y="T1"/>
                </a:cxn>
                <a:cxn ang="0">
                  <a:pos x="T2" y="T3"/>
                </a:cxn>
                <a:cxn ang="0">
                  <a:pos x="T4" y="T5"/>
                </a:cxn>
                <a:cxn ang="0">
                  <a:pos x="T6" y="T7"/>
                </a:cxn>
              </a:cxnLst>
              <a:rect l="0" t="0" r="r" b="b"/>
              <a:pathLst>
                <a:path w="54" h="107">
                  <a:moveTo>
                    <a:pt x="27" y="0"/>
                  </a:moveTo>
                  <a:lnTo>
                    <a:pt x="0" y="107"/>
                  </a:lnTo>
                  <a:lnTo>
                    <a:pt x="54" y="107"/>
                  </a:lnTo>
                  <a:lnTo>
                    <a:pt x="2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37" name="Line 209"/>
            <p:cNvSpPr>
              <a:spLocks noChangeShapeType="1"/>
            </p:cNvSpPr>
            <p:nvPr/>
          </p:nvSpPr>
          <p:spPr bwMode="auto">
            <a:xfrm>
              <a:off x="4737" y="989"/>
              <a:ext cx="120"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38" name="Freeform 210"/>
            <p:cNvSpPr>
              <a:spLocks/>
            </p:cNvSpPr>
            <p:nvPr/>
          </p:nvSpPr>
          <p:spPr bwMode="auto">
            <a:xfrm>
              <a:off x="4837" y="966"/>
              <a:ext cx="107" cy="53"/>
            </a:xfrm>
            <a:custGeom>
              <a:avLst/>
              <a:gdLst>
                <a:gd name="T0" fmla="*/ 107 w 107"/>
                <a:gd name="T1" fmla="*/ 27 h 53"/>
                <a:gd name="T2" fmla="*/ 0 w 107"/>
                <a:gd name="T3" fmla="*/ 0 h 53"/>
                <a:gd name="T4" fmla="*/ 0 w 107"/>
                <a:gd name="T5" fmla="*/ 53 h 53"/>
                <a:gd name="T6" fmla="*/ 107 w 107"/>
                <a:gd name="T7" fmla="*/ 27 h 53"/>
              </a:gdLst>
              <a:ahLst/>
              <a:cxnLst>
                <a:cxn ang="0">
                  <a:pos x="T0" y="T1"/>
                </a:cxn>
                <a:cxn ang="0">
                  <a:pos x="T2" y="T3"/>
                </a:cxn>
                <a:cxn ang="0">
                  <a:pos x="T4" y="T5"/>
                </a:cxn>
                <a:cxn ang="0">
                  <a:pos x="T6" y="T7"/>
                </a:cxn>
              </a:cxnLst>
              <a:rect l="0" t="0" r="r" b="b"/>
              <a:pathLst>
                <a:path w="107" h="53">
                  <a:moveTo>
                    <a:pt x="107" y="27"/>
                  </a:moveTo>
                  <a:lnTo>
                    <a:pt x="0" y="0"/>
                  </a:lnTo>
                  <a:lnTo>
                    <a:pt x="0" y="53"/>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39" name="Freeform 211"/>
            <p:cNvSpPr>
              <a:spLocks/>
            </p:cNvSpPr>
            <p:nvPr/>
          </p:nvSpPr>
          <p:spPr bwMode="auto">
            <a:xfrm>
              <a:off x="3612" y="966"/>
              <a:ext cx="107" cy="53"/>
            </a:xfrm>
            <a:custGeom>
              <a:avLst/>
              <a:gdLst>
                <a:gd name="T0" fmla="*/ 107 w 107"/>
                <a:gd name="T1" fmla="*/ 27 h 53"/>
                <a:gd name="T2" fmla="*/ 0 w 107"/>
                <a:gd name="T3" fmla="*/ 0 h 53"/>
                <a:gd name="T4" fmla="*/ 0 w 107"/>
                <a:gd name="T5" fmla="*/ 53 h 53"/>
                <a:gd name="T6" fmla="*/ 107 w 107"/>
                <a:gd name="T7" fmla="*/ 27 h 53"/>
              </a:gdLst>
              <a:ahLst/>
              <a:cxnLst>
                <a:cxn ang="0">
                  <a:pos x="T0" y="T1"/>
                </a:cxn>
                <a:cxn ang="0">
                  <a:pos x="T2" y="T3"/>
                </a:cxn>
                <a:cxn ang="0">
                  <a:pos x="T4" y="T5"/>
                </a:cxn>
                <a:cxn ang="0">
                  <a:pos x="T6" y="T7"/>
                </a:cxn>
              </a:cxnLst>
              <a:rect l="0" t="0" r="r" b="b"/>
              <a:pathLst>
                <a:path w="107" h="53">
                  <a:moveTo>
                    <a:pt x="107" y="27"/>
                  </a:moveTo>
                  <a:lnTo>
                    <a:pt x="0" y="0"/>
                  </a:lnTo>
                  <a:lnTo>
                    <a:pt x="0" y="53"/>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40" name="Freeform 212"/>
            <p:cNvSpPr>
              <a:spLocks/>
            </p:cNvSpPr>
            <p:nvPr/>
          </p:nvSpPr>
          <p:spPr bwMode="auto">
            <a:xfrm>
              <a:off x="4540" y="1170"/>
              <a:ext cx="317" cy="267"/>
            </a:xfrm>
            <a:custGeom>
              <a:avLst/>
              <a:gdLst>
                <a:gd name="T0" fmla="*/ 317 w 317"/>
                <a:gd name="T1" fmla="*/ 267 h 267"/>
                <a:gd name="T2" fmla="*/ 177 w 317"/>
                <a:gd name="T3" fmla="*/ 267 h 267"/>
                <a:gd name="T4" fmla="*/ 177 w 317"/>
                <a:gd name="T5" fmla="*/ 0 h 267"/>
                <a:gd name="T6" fmla="*/ 0 w 317"/>
                <a:gd name="T7" fmla="*/ 0 h 267"/>
              </a:gdLst>
              <a:ahLst/>
              <a:cxnLst>
                <a:cxn ang="0">
                  <a:pos x="T0" y="T1"/>
                </a:cxn>
                <a:cxn ang="0">
                  <a:pos x="T2" y="T3"/>
                </a:cxn>
                <a:cxn ang="0">
                  <a:pos x="T4" y="T5"/>
                </a:cxn>
                <a:cxn ang="0">
                  <a:pos x="T6" y="T7"/>
                </a:cxn>
              </a:cxnLst>
              <a:rect l="0" t="0" r="r" b="b"/>
              <a:pathLst>
                <a:path w="317" h="267">
                  <a:moveTo>
                    <a:pt x="317" y="267"/>
                  </a:moveTo>
                  <a:lnTo>
                    <a:pt x="177" y="267"/>
                  </a:lnTo>
                  <a:lnTo>
                    <a:pt x="177"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541" name="Freeform 213"/>
            <p:cNvSpPr>
              <a:spLocks/>
            </p:cNvSpPr>
            <p:nvPr/>
          </p:nvSpPr>
          <p:spPr bwMode="auto">
            <a:xfrm>
              <a:off x="4837" y="1413"/>
              <a:ext cx="107" cy="54"/>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42" name="Rectangle 214"/>
            <p:cNvSpPr>
              <a:spLocks noChangeArrowheads="1"/>
            </p:cNvSpPr>
            <p:nvPr/>
          </p:nvSpPr>
          <p:spPr bwMode="auto">
            <a:xfrm>
              <a:off x="3851" y="2214"/>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2048x8</a:t>
              </a:r>
              <a:endParaRPr lang="en-US" altLang="en-US"/>
            </a:p>
          </p:txBody>
        </p:sp>
        <p:sp>
          <p:nvSpPr>
            <p:cNvPr id="611545" name="Rectangle 217"/>
            <p:cNvSpPr>
              <a:spLocks noChangeArrowheads="1"/>
            </p:cNvSpPr>
            <p:nvPr/>
          </p:nvSpPr>
          <p:spPr bwMode="auto">
            <a:xfrm>
              <a:off x="3895" y="2334"/>
              <a:ext cx="24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ROM</a:t>
              </a:r>
              <a:endParaRPr lang="en-US" altLang="en-US"/>
            </a:p>
          </p:txBody>
        </p:sp>
        <p:sp>
          <p:nvSpPr>
            <p:cNvPr id="611547" name="Rectangle 219"/>
            <p:cNvSpPr>
              <a:spLocks noChangeArrowheads="1"/>
            </p:cNvSpPr>
            <p:nvPr/>
          </p:nvSpPr>
          <p:spPr bwMode="auto">
            <a:xfrm>
              <a:off x="3905" y="2522"/>
              <a:ext cx="20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a:p>
          </p:txBody>
        </p:sp>
        <p:sp>
          <p:nvSpPr>
            <p:cNvPr id="611550" name="Line 222"/>
            <p:cNvSpPr>
              <a:spLocks noChangeShapeType="1"/>
            </p:cNvSpPr>
            <p:nvPr/>
          </p:nvSpPr>
          <p:spPr bwMode="auto">
            <a:xfrm>
              <a:off x="4003" y="2658"/>
              <a:ext cx="1" cy="231"/>
            </a:xfrm>
            <a:prstGeom prst="line">
              <a:avLst/>
            </a:prstGeom>
            <a:noFill/>
            <a:ln w="317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51" name="Freeform 223"/>
            <p:cNvSpPr>
              <a:spLocks/>
            </p:cNvSpPr>
            <p:nvPr/>
          </p:nvSpPr>
          <p:spPr bwMode="auto">
            <a:xfrm>
              <a:off x="3976" y="2849"/>
              <a:ext cx="54" cy="106"/>
            </a:xfrm>
            <a:custGeom>
              <a:avLst/>
              <a:gdLst>
                <a:gd name="T0" fmla="*/ 27 w 54"/>
                <a:gd name="T1" fmla="*/ 106 h 106"/>
                <a:gd name="T2" fmla="*/ 54 w 54"/>
                <a:gd name="T3" fmla="*/ 0 h 106"/>
                <a:gd name="T4" fmla="*/ 0 w 54"/>
                <a:gd name="T5" fmla="*/ 0 h 106"/>
                <a:gd name="T6" fmla="*/ 27 w 54"/>
                <a:gd name="T7" fmla="*/ 106 h 106"/>
              </a:gdLst>
              <a:ahLst/>
              <a:cxnLst>
                <a:cxn ang="0">
                  <a:pos x="T0" y="T1"/>
                </a:cxn>
                <a:cxn ang="0">
                  <a:pos x="T2" y="T3"/>
                </a:cxn>
                <a:cxn ang="0">
                  <a:pos x="T4" y="T5"/>
                </a:cxn>
                <a:cxn ang="0">
                  <a:pos x="T6" y="T7"/>
                </a:cxn>
              </a:cxnLst>
              <a:rect l="0" t="0" r="r" b="b"/>
              <a:pathLst>
                <a:path w="54" h="106">
                  <a:moveTo>
                    <a:pt x="27" y="106"/>
                  </a:moveTo>
                  <a:lnTo>
                    <a:pt x="54" y="0"/>
                  </a:lnTo>
                  <a:lnTo>
                    <a:pt x="0" y="0"/>
                  </a:lnTo>
                  <a:lnTo>
                    <a:pt x="27" y="10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52" name="Freeform 224"/>
            <p:cNvSpPr>
              <a:spLocks/>
            </p:cNvSpPr>
            <p:nvPr/>
          </p:nvSpPr>
          <p:spPr bwMode="auto">
            <a:xfrm>
              <a:off x="5558" y="2708"/>
              <a:ext cx="54" cy="107"/>
            </a:xfrm>
            <a:custGeom>
              <a:avLst/>
              <a:gdLst>
                <a:gd name="T0" fmla="*/ 27 w 54"/>
                <a:gd name="T1" fmla="*/ 107 h 107"/>
                <a:gd name="T2" fmla="*/ 54 w 54"/>
                <a:gd name="T3" fmla="*/ 0 h 107"/>
                <a:gd name="T4" fmla="*/ 0 w 54"/>
                <a:gd name="T5" fmla="*/ 0 h 107"/>
                <a:gd name="T6" fmla="*/ 27 w 54"/>
                <a:gd name="T7" fmla="*/ 107 h 107"/>
              </a:gdLst>
              <a:ahLst/>
              <a:cxnLst>
                <a:cxn ang="0">
                  <a:pos x="T0" y="T1"/>
                </a:cxn>
                <a:cxn ang="0">
                  <a:pos x="T2" y="T3"/>
                </a:cxn>
                <a:cxn ang="0">
                  <a:pos x="T4" y="T5"/>
                </a:cxn>
                <a:cxn ang="0">
                  <a:pos x="T6" y="T7"/>
                </a:cxn>
              </a:cxnLst>
              <a:rect l="0" t="0" r="r" b="b"/>
              <a:pathLst>
                <a:path w="54" h="107">
                  <a:moveTo>
                    <a:pt x="27" y="107"/>
                  </a:moveTo>
                  <a:lnTo>
                    <a:pt x="54" y="0"/>
                  </a:lnTo>
                  <a:lnTo>
                    <a:pt x="0" y="0"/>
                  </a:lnTo>
                  <a:lnTo>
                    <a:pt x="27" y="10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53" name="Freeform 225"/>
            <p:cNvSpPr>
              <a:spLocks/>
            </p:cNvSpPr>
            <p:nvPr/>
          </p:nvSpPr>
          <p:spPr bwMode="auto">
            <a:xfrm>
              <a:off x="3960" y="2712"/>
              <a:ext cx="90" cy="90"/>
            </a:xfrm>
            <a:custGeom>
              <a:avLst/>
              <a:gdLst>
                <a:gd name="T0" fmla="*/ 90 w 90"/>
                <a:gd name="T1" fmla="*/ 0 h 90"/>
                <a:gd name="T2" fmla="*/ 0 w 90"/>
                <a:gd name="T3" fmla="*/ 90 h 90"/>
                <a:gd name="T4" fmla="*/ 90 w 90"/>
                <a:gd name="T5" fmla="*/ 0 h 90"/>
              </a:gdLst>
              <a:ahLst/>
              <a:cxnLst>
                <a:cxn ang="0">
                  <a:pos x="T0" y="T1"/>
                </a:cxn>
                <a:cxn ang="0">
                  <a:pos x="T2" y="T3"/>
                </a:cxn>
                <a:cxn ang="0">
                  <a:pos x="T4" y="T5"/>
                </a:cxn>
              </a:cxnLst>
              <a:rect l="0" t="0" r="r" b="b"/>
              <a:pathLst>
                <a:path w="90" h="90">
                  <a:moveTo>
                    <a:pt x="90" y="0"/>
                  </a:moveTo>
                  <a:lnTo>
                    <a:pt x="0" y="90"/>
                  </a:lnTo>
                  <a:lnTo>
                    <a:pt x="9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54" name="Line 226"/>
            <p:cNvSpPr>
              <a:spLocks noChangeShapeType="1"/>
            </p:cNvSpPr>
            <p:nvPr/>
          </p:nvSpPr>
          <p:spPr bwMode="auto">
            <a:xfrm flipH="1">
              <a:off x="3960" y="2712"/>
              <a:ext cx="90" cy="9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55" name="Rectangle 227"/>
            <p:cNvSpPr>
              <a:spLocks noChangeArrowheads="1"/>
            </p:cNvSpPr>
            <p:nvPr/>
          </p:nvSpPr>
          <p:spPr bwMode="auto">
            <a:xfrm>
              <a:off x="4090" y="2703"/>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8</a:t>
              </a:r>
              <a:endParaRPr lang="en-US" altLang="en-US"/>
            </a:p>
          </p:txBody>
        </p:sp>
        <p:sp>
          <p:nvSpPr>
            <p:cNvPr id="611556" name="Line 228"/>
            <p:cNvSpPr>
              <a:spLocks noChangeShapeType="1"/>
            </p:cNvSpPr>
            <p:nvPr/>
          </p:nvSpPr>
          <p:spPr bwMode="auto">
            <a:xfrm>
              <a:off x="3305" y="2221"/>
              <a:ext cx="221" cy="1"/>
            </a:xfrm>
            <a:prstGeom prst="line">
              <a:avLst/>
            </a:prstGeom>
            <a:noFill/>
            <a:ln w="317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57" name="Freeform 229"/>
            <p:cNvSpPr>
              <a:spLocks/>
            </p:cNvSpPr>
            <p:nvPr/>
          </p:nvSpPr>
          <p:spPr bwMode="auto">
            <a:xfrm>
              <a:off x="3506" y="2198"/>
              <a:ext cx="106" cy="53"/>
            </a:xfrm>
            <a:custGeom>
              <a:avLst/>
              <a:gdLst>
                <a:gd name="T0" fmla="*/ 106 w 106"/>
                <a:gd name="T1" fmla="*/ 26 h 53"/>
                <a:gd name="T2" fmla="*/ 0 w 106"/>
                <a:gd name="T3" fmla="*/ 0 h 53"/>
                <a:gd name="T4" fmla="*/ 0 w 106"/>
                <a:gd name="T5" fmla="*/ 53 h 53"/>
                <a:gd name="T6" fmla="*/ 106 w 106"/>
                <a:gd name="T7" fmla="*/ 26 h 53"/>
              </a:gdLst>
              <a:ahLst/>
              <a:cxnLst>
                <a:cxn ang="0">
                  <a:pos x="T0" y="T1"/>
                </a:cxn>
                <a:cxn ang="0">
                  <a:pos x="T2" y="T3"/>
                </a:cxn>
                <a:cxn ang="0">
                  <a:pos x="T4" y="T5"/>
                </a:cxn>
                <a:cxn ang="0">
                  <a:pos x="T6" y="T7"/>
                </a:cxn>
              </a:cxnLst>
              <a:rect l="0" t="0" r="r" b="b"/>
              <a:pathLst>
                <a:path w="106" h="53">
                  <a:moveTo>
                    <a:pt x="106" y="26"/>
                  </a:moveTo>
                  <a:lnTo>
                    <a:pt x="0" y="0"/>
                  </a:lnTo>
                  <a:lnTo>
                    <a:pt x="0" y="53"/>
                  </a:lnTo>
                  <a:lnTo>
                    <a:pt x="106"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58" name="Line 230"/>
            <p:cNvSpPr>
              <a:spLocks noChangeShapeType="1"/>
            </p:cNvSpPr>
            <p:nvPr/>
          </p:nvSpPr>
          <p:spPr bwMode="auto">
            <a:xfrm>
              <a:off x="3305" y="2488"/>
              <a:ext cx="221" cy="1"/>
            </a:xfrm>
            <a:prstGeom prst="line">
              <a:avLst/>
            </a:prstGeom>
            <a:noFill/>
            <a:ln w="206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59" name="Freeform 231"/>
            <p:cNvSpPr>
              <a:spLocks/>
            </p:cNvSpPr>
            <p:nvPr/>
          </p:nvSpPr>
          <p:spPr bwMode="auto">
            <a:xfrm>
              <a:off x="3506" y="2465"/>
              <a:ext cx="106" cy="53"/>
            </a:xfrm>
            <a:custGeom>
              <a:avLst/>
              <a:gdLst>
                <a:gd name="T0" fmla="*/ 106 w 106"/>
                <a:gd name="T1" fmla="*/ 26 h 53"/>
                <a:gd name="T2" fmla="*/ 0 w 106"/>
                <a:gd name="T3" fmla="*/ 0 h 53"/>
                <a:gd name="T4" fmla="*/ 0 w 106"/>
                <a:gd name="T5" fmla="*/ 53 h 53"/>
                <a:gd name="T6" fmla="*/ 106 w 106"/>
                <a:gd name="T7" fmla="*/ 26 h 53"/>
              </a:gdLst>
              <a:ahLst/>
              <a:cxnLst>
                <a:cxn ang="0">
                  <a:pos x="T0" y="T1"/>
                </a:cxn>
                <a:cxn ang="0">
                  <a:pos x="T2" y="T3"/>
                </a:cxn>
                <a:cxn ang="0">
                  <a:pos x="T4" y="T5"/>
                </a:cxn>
                <a:cxn ang="0">
                  <a:pos x="T6" y="T7"/>
                </a:cxn>
              </a:cxnLst>
              <a:rect l="0" t="0" r="r" b="b"/>
              <a:pathLst>
                <a:path w="106" h="53">
                  <a:moveTo>
                    <a:pt x="106" y="26"/>
                  </a:moveTo>
                  <a:lnTo>
                    <a:pt x="0" y="0"/>
                  </a:lnTo>
                  <a:lnTo>
                    <a:pt x="0" y="53"/>
                  </a:lnTo>
                  <a:lnTo>
                    <a:pt x="106"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60" name="Freeform 232"/>
            <p:cNvSpPr>
              <a:spLocks/>
            </p:cNvSpPr>
            <p:nvPr/>
          </p:nvSpPr>
          <p:spPr bwMode="auto">
            <a:xfrm>
              <a:off x="3339" y="2178"/>
              <a:ext cx="90" cy="90"/>
            </a:xfrm>
            <a:custGeom>
              <a:avLst/>
              <a:gdLst>
                <a:gd name="T0" fmla="*/ 90 w 90"/>
                <a:gd name="T1" fmla="*/ 0 h 90"/>
                <a:gd name="T2" fmla="*/ 0 w 90"/>
                <a:gd name="T3" fmla="*/ 90 h 90"/>
                <a:gd name="T4" fmla="*/ 90 w 90"/>
                <a:gd name="T5" fmla="*/ 0 h 90"/>
              </a:gdLst>
              <a:ahLst/>
              <a:cxnLst>
                <a:cxn ang="0">
                  <a:pos x="T0" y="T1"/>
                </a:cxn>
                <a:cxn ang="0">
                  <a:pos x="T2" y="T3"/>
                </a:cxn>
                <a:cxn ang="0">
                  <a:pos x="T4" y="T5"/>
                </a:cxn>
              </a:cxnLst>
              <a:rect l="0" t="0" r="r" b="b"/>
              <a:pathLst>
                <a:path w="90" h="90">
                  <a:moveTo>
                    <a:pt x="90" y="0"/>
                  </a:moveTo>
                  <a:lnTo>
                    <a:pt x="0" y="90"/>
                  </a:lnTo>
                  <a:lnTo>
                    <a:pt x="9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61" name="Line 233"/>
            <p:cNvSpPr>
              <a:spLocks noChangeShapeType="1"/>
            </p:cNvSpPr>
            <p:nvPr/>
          </p:nvSpPr>
          <p:spPr bwMode="auto">
            <a:xfrm flipH="1">
              <a:off x="3339" y="2178"/>
              <a:ext cx="90" cy="9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62" name="Freeform 234"/>
            <p:cNvSpPr>
              <a:spLocks/>
            </p:cNvSpPr>
            <p:nvPr/>
          </p:nvSpPr>
          <p:spPr bwMode="auto">
            <a:xfrm>
              <a:off x="3339" y="946"/>
              <a:ext cx="90" cy="90"/>
            </a:xfrm>
            <a:custGeom>
              <a:avLst/>
              <a:gdLst>
                <a:gd name="T0" fmla="*/ 90 w 90"/>
                <a:gd name="T1" fmla="*/ 0 h 90"/>
                <a:gd name="T2" fmla="*/ 0 w 90"/>
                <a:gd name="T3" fmla="*/ 90 h 90"/>
                <a:gd name="T4" fmla="*/ 90 w 90"/>
                <a:gd name="T5" fmla="*/ 0 h 90"/>
              </a:gdLst>
              <a:ahLst/>
              <a:cxnLst>
                <a:cxn ang="0">
                  <a:pos x="T0" y="T1"/>
                </a:cxn>
                <a:cxn ang="0">
                  <a:pos x="T2" y="T3"/>
                </a:cxn>
                <a:cxn ang="0">
                  <a:pos x="T4" y="T5"/>
                </a:cxn>
              </a:cxnLst>
              <a:rect l="0" t="0" r="r" b="b"/>
              <a:pathLst>
                <a:path w="90" h="90">
                  <a:moveTo>
                    <a:pt x="90" y="0"/>
                  </a:moveTo>
                  <a:lnTo>
                    <a:pt x="0" y="90"/>
                  </a:lnTo>
                  <a:lnTo>
                    <a:pt x="9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63" name="Line 235"/>
            <p:cNvSpPr>
              <a:spLocks noChangeShapeType="1"/>
            </p:cNvSpPr>
            <p:nvPr/>
          </p:nvSpPr>
          <p:spPr bwMode="auto">
            <a:xfrm flipH="1">
              <a:off x="3339" y="946"/>
              <a:ext cx="90" cy="9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64" name="Rectangle 236"/>
            <p:cNvSpPr>
              <a:spLocks noChangeArrowheads="1"/>
            </p:cNvSpPr>
            <p:nvPr/>
          </p:nvSpPr>
          <p:spPr bwMode="auto">
            <a:xfrm>
              <a:off x="3334" y="2054"/>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11</a:t>
              </a:r>
              <a:endParaRPr lang="en-US" altLang="en-US"/>
            </a:p>
          </p:txBody>
        </p:sp>
        <p:sp>
          <p:nvSpPr>
            <p:cNvPr id="611565" name="Rectangle 237"/>
            <p:cNvSpPr>
              <a:spLocks noChangeArrowheads="1"/>
            </p:cNvSpPr>
            <p:nvPr/>
          </p:nvSpPr>
          <p:spPr bwMode="auto">
            <a:xfrm>
              <a:off x="3347" y="797"/>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11</a:t>
              </a:r>
              <a:endParaRPr lang="en-US" altLang="en-US"/>
            </a:p>
          </p:txBody>
        </p:sp>
        <p:sp>
          <p:nvSpPr>
            <p:cNvPr id="611566" name="Rectangle 238"/>
            <p:cNvSpPr>
              <a:spLocks noChangeArrowheads="1"/>
            </p:cNvSpPr>
            <p:nvPr/>
          </p:nvSpPr>
          <p:spPr bwMode="auto">
            <a:xfrm>
              <a:off x="3727" y="2548"/>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en</a:t>
              </a:r>
              <a:endParaRPr lang="en-US" altLang="en-US"/>
            </a:p>
          </p:txBody>
        </p:sp>
        <p:sp>
          <p:nvSpPr>
            <p:cNvPr id="611567" name="Rectangle 239"/>
            <p:cNvSpPr>
              <a:spLocks noChangeArrowheads="1"/>
            </p:cNvSpPr>
            <p:nvPr/>
          </p:nvSpPr>
          <p:spPr bwMode="auto">
            <a:xfrm>
              <a:off x="3727" y="2341"/>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addr</a:t>
              </a:r>
              <a:endParaRPr lang="en-US" altLang="en-US"/>
            </a:p>
          </p:txBody>
        </p:sp>
        <p:sp>
          <p:nvSpPr>
            <p:cNvPr id="611568" name="Freeform 240"/>
            <p:cNvSpPr>
              <a:spLocks/>
            </p:cNvSpPr>
            <p:nvPr/>
          </p:nvSpPr>
          <p:spPr bwMode="auto">
            <a:xfrm>
              <a:off x="5331" y="1523"/>
              <a:ext cx="254" cy="1225"/>
            </a:xfrm>
            <a:custGeom>
              <a:avLst/>
              <a:gdLst>
                <a:gd name="T0" fmla="*/ 0 w 254"/>
                <a:gd name="T1" fmla="*/ 0 h 1225"/>
                <a:gd name="T2" fmla="*/ 0 w 254"/>
                <a:gd name="T3" fmla="*/ 171 h 1225"/>
                <a:gd name="T4" fmla="*/ 254 w 254"/>
                <a:gd name="T5" fmla="*/ 171 h 1225"/>
                <a:gd name="T6" fmla="*/ 254 w 254"/>
                <a:gd name="T7" fmla="*/ 1225 h 1225"/>
              </a:gdLst>
              <a:ahLst/>
              <a:cxnLst>
                <a:cxn ang="0">
                  <a:pos x="T0" y="T1"/>
                </a:cxn>
                <a:cxn ang="0">
                  <a:pos x="T2" y="T3"/>
                </a:cxn>
                <a:cxn ang="0">
                  <a:pos x="T4" y="T5"/>
                </a:cxn>
                <a:cxn ang="0">
                  <a:pos x="T6" y="T7"/>
                </a:cxn>
              </a:cxnLst>
              <a:rect l="0" t="0" r="r" b="b"/>
              <a:pathLst>
                <a:path w="254" h="1225">
                  <a:moveTo>
                    <a:pt x="0" y="0"/>
                  </a:moveTo>
                  <a:lnTo>
                    <a:pt x="0" y="171"/>
                  </a:lnTo>
                  <a:lnTo>
                    <a:pt x="254" y="171"/>
                  </a:lnTo>
                  <a:lnTo>
                    <a:pt x="254" y="1225"/>
                  </a:lnTo>
                </a:path>
              </a:pathLst>
            </a:custGeom>
            <a:noFill/>
            <a:ln w="317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569" name="Freeform 241"/>
            <p:cNvSpPr>
              <a:spLocks/>
            </p:cNvSpPr>
            <p:nvPr/>
          </p:nvSpPr>
          <p:spPr bwMode="auto">
            <a:xfrm>
              <a:off x="5288" y="1567"/>
              <a:ext cx="87" cy="90"/>
            </a:xfrm>
            <a:custGeom>
              <a:avLst/>
              <a:gdLst>
                <a:gd name="T0" fmla="*/ 87 w 87"/>
                <a:gd name="T1" fmla="*/ 0 h 90"/>
                <a:gd name="T2" fmla="*/ 0 w 87"/>
                <a:gd name="T3" fmla="*/ 90 h 90"/>
                <a:gd name="T4" fmla="*/ 87 w 87"/>
                <a:gd name="T5" fmla="*/ 0 h 90"/>
              </a:gdLst>
              <a:ahLst/>
              <a:cxnLst>
                <a:cxn ang="0">
                  <a:pos x="T0" y="T1"/>
                </a:cxn>
                <a:cxn ang="0">
                  <a:pos x="T2" y="T3"/>
                </a:cxn>
                <a:cxn ang="0">
                  <a:pos x="T4" y="T5"/>
                </a:cxn>
              </a:cxnLst>
              <a:rect l="0" t="0" r="r" b="b"/>
              <a:pathLst>
                <a:path w="87" h="90">
                  <a:moveTo>
                    <a:pt x="87" y="0"/>
                  </a:moveTo>
                  <a:lnTo>
                    <a:pt x="0" y="90"/>
                  </a:lnTo>
                  <a:lnTo>
                    <a:pt x="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70" name="Line 242"/>
            <p:cNvSpPr>
              <a:spLocks noChangeShapeType="1"/>
            </p:cNvSpPr>
            <p:nvPr/>
          </p:nvSpPr>
          <p:spPr bwMode="auto">
            <a:xfrm flipH="1">
              <a:off x="5288" y="1567"/>
              <a:ext cx="87" cy="9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71" name="Rectangle 243"/>
            <p:cNvSpPr>
              <a:spLocks noChangeArrowheads="1"/>
            </p:cNvSpPr>
            <p:nvPr/>
          </p:nvSpPr>
          <p:spPr bwMode="auto">
            <a:xfrm>
              <a:off x="5047" y="1084"/>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1024x8</a:t>
              </a:r>
              <a:endParaRPr lang="en-US" altLang="en-US"/>
            </a:p>
          </p:txBody>
        </p:sp>
        <p:sp>
          <p:nvSpPr>
            <p:cNvPr id="611574" name="Rectangle 246"/>
            <p:cNvSpPr>
              <a:spLocks noChangeArrowheads="1"/>
            </p:cNvSpPr>
            <p:nvPr/>
          </p:nvSpPr>
          <p:spPr bwMode="auto">
            <a:xfrm>
              <a:off x="5092" y="1203"/>
              <a:ext cx="24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ROM</a:t>
              </a:r>
              <a:endParaRPr lang="en-US" altLang="en-US"/>
            </a:p>
          </p:txBody>
        </p:sp>
        <p:sp>
          <p:nvSpPr>
            <p:cNvPr id="611576" name="Rectangle 248"/>
            <p:cNvSpPr>
              <a:spLocks noChangeArrowheads="1"/>
            </p:cNvSpPr>
            <p:nvPr/>
          </p:nvSpPr>
          <p:spPr bwMode="auto">
            <a:xfrm>
              <a:off x="4964" y="918"/>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a:t>
              </a:r>
              <a:endParaRPr lang="en-US" altLang="en-US"/>
            </a:p>
          </p:txBody>
        </p:sp>
        <p:sp>
          <p:nvSpPr>
            <p:cNvPr id="611577" name="Rectangle 249"/>
            <p:cNvSpPr>
              <a:spLocks noChangeArrowheads="1"/>
            </p:cNvSpPr>
            <p:nvPr/>
          </p:nvSpPr>
          <p:spPr bwMode="auto">
            <a:xfrm>
              <a:off x="4960" y="1369"/>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t>
              </a:r>
              <a:endParaRPr lang="en-US" altLang="en-US"/>
            </a:p>
          </p:txBody>
        </p:sp>
        <p:sp>
          <p:nvSpPr>
            <p:cNvPr id="611578" name="Rectangle 250"/>
            <p:cNvSpPr>
              <a:spLocks noChangeArrowheads="1"/>
            </p:cNvSpPr>
            <p:nvPr/>
          </p:nvSpPr>
          <p:spPr bwMode="auto">
            <a:xfrm>
              <a:off x="5250" y="1369"/>
              <a:ext cx="20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a:p>
          </p:txBody>
        </p:sp>
        <p:sp>
          <p:nvSpPr>
            <p:cNvPr id="611581" name="Rectangle 253"/>
            <p:cNvSpPr>
              <a:spLocks noChangeArrowheads="1"/>
            </p:cNvSpPr>
            <p:nvPr/>
          </p:nvSpPr>
          <p:spPr bwMode="auto">
            <a:xfrm>
              <a:off x="5390" y="1555"/>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8</a:t>
              </a:r>
              <a:endParaRPr lang="en-US" altLang="en-US"/>
            </a:p>
          </p:txBody>
        </p:sp>
        <p:sp>
          <p:nvSpPr>
            <p:cNvPr id="611582" name="Freeform 254"/>
            <p:cNvSpPr>
              <a:spLocks/>
            </p:cNvSpPr>
            <p:nvPr/>
          </p:nvSpPr>
          <p:spPr bwMode="auto">
            <a:xfrm>
              <a:off x="4781" y="989"/>
              <a:ext cx="76" cy="872"/>
            </a:xfrm>
            <a:custGeom>
              <a:avLst/>
              <a:gdLst>
                <a:gd name="T0" fmla="*/ 76 w 76"/>
                <a:gd name="T1" fmla="*/ 872 h 872"/>
                <a:gd name="T2" fmla="*/ 0 w 76"/>
                <a:gd name="T3" fmla="*/ 872 h 872"/>
                <a:gd name="T4" fmla="*/ 0 w 76"/>
                <a:gd name="T5" fmla="*/ 0 h 872"/>
              </a:gdLst>
              <a:ahLst/>
              <a:cxnLst>
                <a:cxn ang="0">
                  <a:pos x="T0" y="T1"/>
                </a:cxn>
                <a:cxn ang="0">
                  <a:pos x="T2" y="T3"/>
                </a:cxn>
                <a:cxn ang="0">
                  <a:pos x="T4" y="T5"/>
                </a:cxn>
              </a:cxnLst>
              <a:rect l="0" t="0" r="r" b="b"/>
              <a:pathLst>
                <a:path w="76" h="872">
                  <a:moveTo>
                    <a:pt x="76" y="872"/>
                  </a:moveTo>
                  <a:lnTo>
                    <a:pt x="0" y="872"/>
                  </a:lnTo>
                  <a:lnTo>
                    <a:pt x="0" y="0"/>
                  </a:lnTo>
                </a:path>
              </a:pathLst>
            </a:custGeom>
            <a:noFill/>
            <a:ln w="317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583" name="Freeform 255"/>
            <p:cNvSpPr>
              <a:spLocks/>
            </p:cNvSpPr>
            <p:nvPr/>
          </p:nvSpPr>
          <p:spPr bwMode="auto">
            <a:xfrm>
              <a:off x="4837" y="1837"/>
              <a:ext cx="107" cy="54"/>
            </a:xfrm>
            <a:custGeom>
              <a:avLst/>
              <a:gdLst>
                <a:gd name="T0" fmla="*/ 107 w 107"/>
                <a:gd name="T1" fmla="*/ 27 h 54"/>
                <a:gd name="T2" fmla="*/ 0 w 107"/>
                <a:gd name="T3" fmla="*/ 0 h 54"/>
                <a:gd name="T4" fmla="*/ 0 w 107"/>
                <a:gd name="T5" fmla="*/ 54 h 54"/>
                <a:gd name="T6" fmla="*/ 107 w 107"/>
                <a:gd name="T7" fmla="*/ 27 h 54"/>
              </a:gdLst>
              <a:ahLst/>
              <a:cxnLst>
                <a:cxn ang="0">
                  <a:pos x="T0" y="T1"/>
                </a:cxn>
                <a:cxn ang="0">
                  <a:pos x="T2" y="T3"/>
                </a:cxn>
                <a:cxn ang="0">
                  <a:pos x="T4" y="T5"/>
                </a:cxn>
                <a:cxn ang="0">
                  <a:pos x="T6" y="T7"/>
                </a:cxn>
              </a:cxnLst>
              <a:rect l="0" t="0" r="r" b="b"/>
              <a:pathLst>
                <a:path w="107" h="54">
                  <a:moveTo>
                    <a:pt x="107" y="27"/>
                  </a:moveTo>
                  <a:lnTo>
                    <a:pt x="0" y="0"/>
                  </a:lnTo>
                  <a:lnTo>
                    <a:pt x="0" y="54"/>
                  </a:lnTo>
                  <a:lnTo>
                    <a:pt x="107"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84" name="Freeform 256"/>
            <p:cNvSpPr>
              <a:spLocks/>
            </p:cNvSpPr>
            <p:nvPr/>
          </p:nvSpPr>
          <p:spPr bwMode="auto">
            <a:xfrm>
              <a:off x="5472" y="2538"/>
              <a:ext cx="106" cy="54"/>
            </a:xfrm>
            <a:custGeom>
              <a:avLst/>
              <a:gdLst>
                <a:gd name="T0" fmla="*/ 106 w 106"/>
                <a:gd name="T1" fmla="*/ 27 h 54"/>
                <a:gd name="T2" fmla="*/ 0 w 106"/>
                <a:gd name="T3" fmla="*/ 0 h 54"/>
                <a:gd name="T4" fmla="*/ 0 w 106"/>
                <a:gd name="T5" fmla="*/ 54 h 54"/>
                <a:gd name="T6" fmla="*/ 106 w 106"/>
                <a:gd name="T7" fmla="*/ 27 h 54"/>
              </a:gdLst>
              <a:ahLst/>
              <a:cxnLst>
                <a:cxn ang="0">
                  <a:pos x="T0" y="T1"/>
                </a:cxn>
                <a:cxn ang="0">
                  <a:pos x="T2" y="T3"/>
                </a:cxn>
                <a:cxn ang="0">
                  <a:pos x="T4" y="T5"/>
                </a:cxn>
                <a:cxn ang="0">
                  <a:pos x="T6" y="T7"/>
                </a:cxn>
              </a:cxnLst>
              <a:rect l="0" t="0" r="r" b="b"/>
              <a:pathLst>
                <a:path w="106" h="54">
                  <a:moveTo>
                    <a:pt x="106" y="27"/>
                  </a:moveTo>
                  <a:lnTo>
                    <a:pt x="0" y="0"/>
                  </a:lnTo>
                  <a:lnTo>
                    <a:pt x="0" y="54"/>
                  </a:lnTo>
                  <a:lnTo>
                    <a:pt x="106"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85" name="Freeform 257"/>
            <p:cNvSpPr>
              <a:spLocks/>
            </p:cNvSpPr>
            <p:nvPr/>
          </p:nvSpPr>
          <p:spPr bwMode="auto">
            <a:xfrm>
              <a:off x="4537" y="1433"/>
              <a:ext cx="320" cy="875"/>
            </a:xfrm>
            <a:custGeom>
              <a:avLst/>
              <a:gdLst>
                <a:gd name="T0" fmla="*/ 320 w 320"/>
                <a:gd name="T1" fmla="*/ 875 h 875"/>
                <a:gd name="T2" fmla="*/ 140 w 320"/>
                <a:gd name="T3" fmla="*/ 875 h 875"/>
                <a:gd name="T4" fmla="*/ 140 w 320"/>
                <a:gd name="T5" fmla="*/ 0 h 875"/>
                <a:gd name="T6" fmla="*/ 0 w 320"/>
                <a:gd name="T7" fmla="*/ 0 h 875"/>
              </a:gdLst>
              <a:ahLst/>
              <a:cxnLst>
                <a:cxn ang="0">
                  <a:pos x="T0" y="T1"/>
                </a:cxn>
                <a:cxn ang="0">
                  <a:pos x="T2" y="T3"/>
                </a:cxn>
                <a:cxn ang="0">
                  <a:pos x="T4" y="T5"/>
                </a:cxn>
                <a:cxn ang="0">
                  <a:pos x="T6" y="T7"/>
                </a:cxn>
              </a:cxnLst>
              <a:rect l="0" t="0" r="r" b="b"/>
              <a:pathLst>
                <a:path w="320" h="875">
                  <a:moveTo>
                    <a:pt x="320" y="875"/>
                  </a:moveTo>
                  <a:lnTo>
                    <a:pt x="140" y="875"/>
                  </a:lnTo>
                  <a:lnTo>
                    <a:pt x="140" y="0"/>
                  </a:lnTo>
                  <a:lnTo>
                    <a:pt x="0" y="0"/>
                  </a:lnTo>
                </a:path>
              </a:pathLst>
            </a:custGeom>
            <a:noFill/>
            <a:ln w="20638"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586" name="Freeform 258"/>
            <p:cNvSpPr>
              <a:spLocks/>
            </p:cNvSpPr>
            <p:nvPr/>
          </p:nvSpPr>
          <p:spPr bwMode="auto">
            <a:xfrm>
              <a:off x="4837" y="2285"/>
              <a:ext cx="107" cy="53"/>
            </a:xfrm>
            <a:custGeom>
              <a:avLst/>
              <a:gdLst>
                <a:gd name="T0" fmla="*/ 107 w 107"/>
                <a:gd name="T1" fmla="*/ 26 h 53"/>
                <a:gd name="T2" fmla="*/ 0 w 107"/>
                <a:gd name="T3" fmla="*/ 0 h 53"/>
                <a:gd name="T4" fmla="*/ 0 w 107"/>
                <a:gd name="T5" fmla="*/ 53 h 53"/>
                <a:gd name="T6" fmla="*/ 107 w 107"/>
                <a:gd name="T7" fmla="*/ 26 h 53"/>
              </a:gdLst>
              <a:ahLst/>
              <a:cxnLst>
                <a:cxn ang="0">
                  <a:pos x="T0" y="T1"/>
                </a:cxn>
                <a:cxn ang="0">
                  <a:pos x="T2" y="T3"/>
                </a:cxn>
                <a:cxn ang="0">
                  <a:pos x="T4" y="T5"/>
                </a:cxn>
                <a:cxn ang="0">
                  <a:pos x="T6" y="T7"/>
                </a:cxn>
              </a:cxnLst>
              <a:rect l="0" t="0" r="r" b="b"/>
              <a:pathLst>
                <a:path w="107" h="53">
                  <a:moveTo>
                    <a:pt x="107" y="26"/>
                  </a:moveTo>
                  <a:lnTo>
                    <a:pt x="0" y="0"/>
                  </a:lnTo>
                  <a:lnTo>
                    <a:pt x="0" y="53"/>
                  </a:lnTo>
                  <a:lnTo>
                    <a:pt x="107"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87" name="Freeform 259"/>
            <p:cNvSpPr>
              <a:spLocks/>
            </p:cNvSpPr>
            <p:nvPr/>
          </p:nvSpPr>
          <p:spPr bwMode="auto">
            <a:xfrm>
              <a:off x="5331" y="2395"/>
              <a:ext cx="184" cy="170"/>
            </a:xfrm>
            <a:custGeom>
              <a:avLst/>
              <a:gdLst>
                <a:gd name="T0" fmla="*/ 0 w 184"/>
                <a:gd name="T1" fmla="*/ 0 h 170"/>
                <a:gd name="T2" fmla="*/ 0 w 184"/>
                <a:gd name="T3" fmla="*/ 170 h 170"/>
                <a:gd name="T4" fmla="*/ 184 w 184"/>
                <a:gd name="T5" fmla="*/ 170 h 170"/>
              </a:gdLst>
              <a:ahLst/>
              <a:cxnLst>
                <a:cxn ang="0">
                  <a:pos x="T0" y="T1"/>
                </a:cxn>
                <a:cxn ang="0">
                  <a:pos x="T2" y="T3"/>
                </a:cxn>
                <a:cxn ang="0">
                  <a:pos x="T4" y="T5"/>
                </a:cxn>
              </a:cxnLst>
              <a:rect l="0" t="0" r="r" b="b"/>
              <a:pathLst>
                <a:path w="184" h="170">
                  <a:moveTo>
                    <a:pt x="0" y="0"/>
                  </a:moveTo>
                  <a:lnTo>
                    <a:pt x="0" y="170"/>
                  </a:lnTo>
                  <a:lnTo>
                    <a:pt x="184" y="170"/>
                  </a:lnTo>
                </a:path>
              </a:pathLst>
            </a:custGeom>
            <a:noFill/>
            <a:ln w="31750" cap="flat">
              <a:solidFill>
                <a:srgbClr val="00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588" name="Freeform 260"/>
            <p:cNvSpPr>
              <a:spLocks/>
            </p:cNvSpPr>
            <p:nvPr/>
          </p:nvSpPr>
          <p:spPr bwMode="auto">
            <a:xfrm>
              <a:off x="5288" y="2438"/>
              <a:ext cx="87" cy="90"/>
            </a:xfrm>
            <a:custGeom>
              <a:avLst/>
              <a:gdLst>
                <a:gd name="T0" fmla="*/ 87 w 87"/>
                <a:gd name="T1" fmla="*/ 0 h 90"/>
                <a:gd name="T2" fmla="*/ 0 w 87"/>
                <a:gd name="T3" fmla="*/ 90 h 90"/>
                <a:gd name="T4" fmla="*/ 87 w 87"/>
                <a:gd name="T5" fmla="*/ 0 h 90"/>
              </a:gdLst>
              <a:ahLst/>
              <a:cxnLst>
                <a:cxn ang="0">
                  <a:pos x="T0" y="T1"/>
                </a:cxn>
                <a:cxn ang="0">
                  <a:pos x="T2" y="T3"/>
                </a:cxn>
                <a:cxn ang="0">
                  <a:pos x="T4" y="T5"/>
                </a:cxn>
              </a:cxnLst>
              <a:rect l="0" t="0" r="r" b="b"/>
              <a:pathLst>
                <a:path w="87" h="90">
                  <a:moveTo>
                    <a:pt x="87" y="0"/>
                  </a:moveTo>
                  <a:lnTo>
                    <a:pt x="0" y="90"/>
                  </a:lnTo>
                  <a:lnTo>
                    <a:pt x="87"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1589" name="Line 261"/>
            <p:cNvSpPr>
              <a:spLocks noChangeShapeType="1"/>
            </p:cNvSpPr>
            <p:nvPr/>
          </p:nvSpPr>
          <p:spPr bwMode="auto">
            <a:xfrm flipH="1">
              <a:off x="5288" y="2438"/>
              <a:ext cx="87" cy="90"/>
            </a:xfrm>
            <a:prstGeom prst="line">
              <a:avLst/>
            </a:prstGeom>
            <a:noFill/>
            <a:ln w="1111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590" name="Rectangle 262"/>
            <p:cNvSpPr>
              <a:spLocks noChangeArrowheads="1"/>
            </p:cNvSpPr>
            <p:nvPr/>
          </p:nvSpPr>
          <p:spPr bwMode="auto">
            <a:xfrm>
              <a:off x="5047" y="1954"/>
              <a:ext cx="34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1024x8</a:t>
              </a:r>
              <a:endParaRPr lang="en-US" altLang="en-US"/>
            </a:p>
          </p:txBody>
        </p:sp>
        <p:sp>
          <p:nvSpPr>
            <p:cNvPr id="611593" name="Rectangle 265"/>
            <p:cNvSpPr>
              <a:spLocks noChangeArrowheads="1"/>
            </p:cNvSpPr>
            <p:nvPr/>
          </p:nvSpPr>
          <p:spPr bwMode="auto">
            <a:xfrm>
              <a:off x="5092" y="2074"/>
              <a:ext cx="24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ROM</a:t>
              </a:r>
              <a:endParaRPr lang="en-US" altLang="en-US"/>
            </a:p>
          </p:txBody>
        </p:sp>
        <p:sp>
          <p:nvSpPr>
            <p:cNvPr id="611595" name="Rectangle 267"/>
            <p:cNvSpPr>
              <a:spLocks noChangeArrowheads="1"/>
            </p:cNvSpPr>
            <p:nvPr/>
          </p:nvSpPr>
          <p:spPr bwMode="auto">
            <a:xfrm>
              <a:off x="4964" y="1789"/>
              <a:ext cx="2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addr</a:t>
              </a:r>
              <a:endParaRPr lang="en-US" altLang="en-US"/>
            </a:p>
          </p:txBody>
        </p:sp>
        <p:sp>
          <p:nvSpPr>
            <p:cNvPr id="611596" name="Rectangle 268"/>
            <p:cNvSpPr>
              <a:spLocks noChangeArrowheads="1"/>
            </p:cNvSpPr>
            <p:nvPr/>
          </p:nvSpPr>
          <p:spPr bwMode="auto">
            <a:xfrm>
              <a:off x="4960" y="2240"/>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en</a:t>
              </a:r>
              <a:endParaRPr lang="en-US" altLang="en-US"/>
            </a:p>
          </p:txBody>
        </p:sp>
        <p:sp>
          <p:nvSpPr>
            <p:cNvPr id="611597" name="Rectangle 269"/>
            <p:cNvSpPr>
              <a:spLocks noChangeArrowheads="1"/>
            </p:cNvSpPr>
            <p:nvPr/>
          </p:nvSpPr>
          <p:spPr bwMode="auto">
            <a:xfrm>
              <a:off x="5250" y="2240"/>
              <a:ext cx="20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data</a:t>
              </a:r>
              <a:endParaRPr lang="en-US" altLang="en-US"/>
            </a:p>
          </p:txBody>
        </p:sp>
        <p:sp>
          <p:nvSpPr>
            <p:cNvPr id="611600" name="Rectangle 272"/>
            <p:cNvSpPr>
              <a:spLocks noChangeArrowheads="1"/>
            </p:cNvSpPr>
            <p:nvPr/>
          </p:nvSpPr>
          <p:spPr bwMode="auto">
            <a:xfrm>
              <a:off x="5390" y="2426"/>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8</a:t>
              </a:r>
              <a:endParaRPr lang="en-US" altLang="en-US"/>
            </a:p>
          </p:txBody>
        </p:sp>
        <p:sp>
          <p:nvSpPr>
            <p:cNvPr id="611601" name="Line 273"/>
            <p:cNvSpPr>
              <a:spLocks noChangeShapeType="1"/>
            </p:cNvSpPr>
            <p:nvPr/>
          </p:nvSpPr>
          <p:spPr bwMode="auto">
            <a:xfrm>
              <a:off x="3305" y="989"/>
              <a:ext cx="1552" cy="1"/>
            </a:xfrm>
            <a:prstGeom prst="line">
              <a:avLst/>
            </a:prstGeom>
            <a:noFill/>
            <a:ln w="31750">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US"/>
            </a:p>
          </p:txBody>
        </p:sp>
        <p:sp>
          <p:nvSpPr>
            <p:cNvPr id="611602" name="Rectangle 274"/>
            <p:cNvSpPr>
              <a:spLocks noChangeArrowheads="1"/>
            </p:cNvSpPr>
            <p:nvPr/>
          </p:nvSpPr>
          <p:spPr bwMode="auto">
            <a:xfrm>
              <a:off x="3866" y="857"/>
              <a:ext cx="29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a9..a0</a:t>
              </a:r>
              <a:endParaRPr lang="en-US" altLang="en-US"/>
            </a:p>
          </p:txBody>
        </p:sp>
        <p:sp>
          <p:nvSpPr>
            <p:cNvPr id="611603" name="Rectangle 275"/>
            <p:cNvSpPr>
              <a:spLocks noChangeArrowheads="1"/>
            </p:cNvSpPr>
            <p:nvPr/>
          </p:nvSpPr>
          <p:spPr bwMode="auto">
            <a:xfrm>
              <a:off x="3762" y="1127"/>
              <a:ext cx="17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a10</a:t>
              </a:r>
              <a:endParaRPr lang="en-US" altLang="en-US"/>
            </a:p>
          </p:txBody>
        </p:sp>
        <p:sp>
          <p:nvSpPr>
            <p:cNvPr id="611604" name="Rectangle 276"/>
            <p:cNvSpPr>
              <a:spLocks noChangeArrowheads="1"/>
            </p:cNvSpPr>
            <p:nvPr/>
          </p:nvSpPr>
          <p:spPr bwMode="auto">
            <a:xfrm>
              <a:off x="4400" y="1105"/>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d0</a:t>
              </a:r>
              <a:endParaRPr lang="en-US" altLang="en-US"/>
            </a:p>
          </p:txBody>
        </p:sp>
        <p:sp>
          <p:nvSpPr>
            <p:cNvPr id="611605" name="Rectangle 277"/>
            <p:cNvSpPr>
              <a:spLocks noChangeArrowheads="1"/>
            </p:cNvSpPr>
            <p:nvPr/>
          </p:nvSpPr>
          <p:spPr bwMode="auto">
            <a:xfrm>
              <a:off x="4409" y="1369"/>
              <a:ext cx="116"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d1</a:t>
              </a:r>
              <a:endParaRPr lang="en-US" altLang="en-US"/>
            </a:p>
          </p:txBody>
        </p:sp>
        <p:sp>
          <p:nvSpPr>
            <p:cNvPr id="611606" name="Rectangle 278"/>
            <p:cNvSpPr>
              <a:spLocks noChangeArrowheads="1"/>
            </p:cNvSpPr>
            <p:nvPr/>
          </p:nvSpPr>
          <p:spPr bwMode="auto">
            <a:xfrm>
              <a:off x="3273" y="1764"/>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en</a:t>
              </a:r>
              <a:endParaRPr lang="en-US" altLang="en-US"/>
            </a:p>
          </p:txBody>
        </p:sp>
        <p:sp>
          <p:nvSpPr>
            <p:cNvPr id="611607" name="Rectangle 279"/>
            <p:cNvSpPr>
              <a:spLocks noChangeArrowheads="1"/>
            </p:cNvSpPr>
            <p:nvPr/>
          </p:nvSpPr>
          <p:spPr bwMode="auto">
            <a:xfrm>
              <a:off x="3273" y="1096"/>
              <a:ext cx="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a:solidFill>
                    <a:srgbClr val="000000"/>
                  </a:solidFill>
                  <a:latin typeface="Myriad Roman" charset="0"/>
                </a:rPr>
                <a:t>addr</a:t>
              </a:r>
              <a:endParaRPr lang="en-US" altLang="en-US"/>
            </a:p>
          </p:txBody>
        </p:sp>
        <p:sp>
          <p:nvSpPr>
            <p:cNvPr id="611608" name="Rectangle 280"/>
            <p:cNvSpPr>
              <a:spLocks noChangeArrowheads="1"/>
            </p:cNvSpPr>
            <p:nvPr/>
          </p:nvSpPr>
          <p:spPr bwMode="auto">
            <a:xfrm>
              <a:off x="4165" y="1087"/>
              <a:ext cx="16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1x2</a:t>
              </a:r>
              <a:endParaRPr lang="en-US" altLang="en-US"/>
            </a:p>
          </p:txBody>
        </p:sp>
        <p:sp>
          <p:nvSpPr>
            <p:cNvPr id="611611" name="Rectangle 283"/>
            <p:cNvSpPr>
              <a:spLocks noChangeArrowheads="1"/>
            </p:cNvSpPr>
            <p:nvPr/>
          </p:nvSpPr>
          <p:spPr bwMode="auto">
            <a:xfrm>
              <a:off x="4164" y="1207"/>
              <a:ext cx="16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dcd</a:t>
              </a:r>
              <a:endParaRPr lang="en-US" altLang="en-US"/>
            </a:p>
          </p:txBody>
        </p:sp>
        <p:sp>
          <p:nvSpPr>
            <p:cNvPr id="611614" name="Rectangle 286"/>
            <p:cNvSpPr>
              <a:spLocks noChangeArrowheads="1"/>
            </p:cNvSpPr>
            <p:nvPr/>
          </p:nvSpPr>
          <p:spPr bwMode="auto">
            <a:xfrm>
              <a:off x="4003" y="1225"/>
              <a:ext cx="8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i0</a:t>
              </a:r>
              <a:endParaRPr lang="en-US" altLang="en-US"/>
            </a:p>
          </p:txBody>
        </p:sp>
        <p:sp>
          <p:nvSpPr>
            <p:cNvPr id="611615" name="Rectangle 287"/>
            <p:cNvSpPr>
              <a:spLocks noChangeArrowheads="1"/>
            </p:cNvSpPr>
            <p:nvPr/>
          </p:nvSpPr>
          <p:spPr bwMode="auto">
            <a:xfrm>
              <a:off x="4221" y="1390"/>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300">
                  <a:solidFill>
                    <a:srgbClr val="000000"/>
                  </a:solidFill>
                  <a:latin typeface="Myriad Roman" charset="0"/>
                </a:rPr>
                <a:t>e</a:t>
              </a:r>
              <a:endParaRPr lang="en-US" altLang="en-US"/>
            </a:p>
          </p:txBody>
        </p:sp>
        <p:sp>
          <p:nvSpPr>
            <p:cNvPr id="611616" name="Rectangle 288"/>
            <p:cNvSpPr>
              <a:spLocks noChangeArrowheads="1"/>
            </p:cNvSpPr>
            <p:nvPr/>
          </p:nvSpPr>
          <p:spPr bwMode="auto">
            <a:xfrm>
              <a:off x="4944" y="886"/>
              <a:ext cx="524" cy="634"/>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617" name="Rectangle 289"/>
            <p:cNvSpPr>
              <a:spLocks noChangeArrowheads="1"/>
            </p:cNvSpPr>
            <p:nvPr/>
          </p:nvSpPr>
          <p:spPr bwMode="auto">
            <a:xfrm>
              <a:off x="4944" y="1757"/>
              <a:ext cx="524" cy="634"/>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618" name="Rectangle 290"/>
            <p:cNvSpPr>
              <a:spLocks noChangeArrowheads="1"/>
            </p:cNvSpPr>
            <p:nvPr/>
          </p:nvSpPr>
          <p:spPr bwMode="auto">
            <a:xfrm>
              <a:off x="3619" y="2071"/>
              <a:ext cx="764" cy="584"/>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11619" name="Rectangle 291"/>
            <p:cNvSpPr>
              <a:spLocks noChangeArrowheads="1"/>
            </p:cNvSpPr>
            <p:nvPr/>
          </p:nvSpPr>
          <p:spPr bwMode="auto">
            <a:xfrm>
              <a:off x="3980" y="1083"/>
              <a:ext cx="557" cy="437"/>
            </a:xfrm>
            <a:prstGeom prst="rect">
              <a:avLst/>
            </a:prstGeom>
            <a:noFill/>
            <a:ln w="15875">
              <a:solidFill>
                <a:srgbClr val="0078C1"/>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162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114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423" grpId="0" autoUpdateAnimBg="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C40974B4-005C-48FE-8ACD-C6430C94F00E}" type="slidenum">
              <a:rPr lang="en-US" altLang="en-US"/>
              <a:pPr/>
              <a:t>94</a:t>
            </a:fld>
            <a:endParaRPr lang="en-US" altLang="en-US"/>
          </a:p>
        </p:txBody>
      </p:sp>
      <p:sp>
        <p:nvSpPr>
          <p:cNvPr id="462850" name="Rectangle 2"/>
          <p:cNvSpPr>
            <a:spLocks noGrp="1" noChangeArrowheads="1"/>
          </p:cNvSpPr>
          <p:nvPr>
            <p:ph type="title"/>
          </p:nvPr>
        </p:nvSpPr>
        <p:spPr/>
        <p:txBody>
          <a:bodyPr/>
          <a:lstStyle/>
          <a:p>
            <a:r>
              <a:rPr lang="en-US" altLang="en-US" u="sng"/>
              <a:t>Chapter Summary</a:t>
            </a:r>
          </a:p>
        </p:txBody>
      </p:sp>
      <p:sp>
        <p:nvSpPr>
          <p:cNvPr id="462851" name="Rectangle 3"/>
          <p:cNvSpPr>
            <a:spLocks noGrp="1" noChangeArrowheads="1"/>
          </p:cNvSpPr>
          <p:nvPr>
            <p:ph type="body" idx="1"/>
          </p:nvPr>
        </p:nvSpPr>
        <p:spPr/>
        <p:txBody>
          <a:bodyPr/>
          <a:lstStyle/>
          <a:p>
            <a:pPr lvl="1"/>
            <a:r>
              <a:rPr lang="en-US" altLang="en-US"/>
              <a:t>Modern digital design involves creating processor-level components</a:t>
            </a:r>
          </a:p>
          <a:p>
            <a:pPr lvl="1"/>
            <a:r>
              <a:rPr lang="en-US" altLang="en-US"/>
              <a:t>Four-step RTL method can be used</a:t>
            </a:r>
          </a:p>
          <a:p>
            <a:pPr lvl="2"/>
            <a:r>
              <a:rPr lang="en-US" altLang="en-US"/>
              <a:t>1. High-level state machine   2. Create datapath   3. Connect datapath to controller   4. Derive controller FSM</a:t>
            </a:r>
          </a:p>
          <a:p>
            <a:pPr lvl="1"/>
            <a:r>
              <a:rPr lang="en-US" altLang="en-US"/>
              <a:t>Several example</a:t>
            </a:r>
          </a:p>
          <a:p>
            <a:pPr lvl="2"/>
            <a:r>
              <a:rPr lang="en-US" altLang="en-US"/>
              <a:t>Control dominated, data dominated, and mix</a:t>
            </a:r>
          </a:p>
          <a:p>
            <a:pPr lvl="1"/>
            <a:r>
              <a:rPr lang="en-US" altLang="en-US"/>
              <a:t>Determining fastest clock frequency</a:t>
            </a:r>
          </a:p>
          <a:p>
            <a:pPr lvl="2"/>
            <a:r>
              <a:rPr lang="en-US" altLang="en-US"/>
              <a:t>By finding critical path</a:t>
            </a:r>
          </a:p>
          <a:p>
            <a:pPr lvl="1"/>
            <a:r>
              <a:rPr lang="en-US" altLang="en-US"/>
              <a:t>Behavioral-level design – C to gates</a:t>
            </a:r>
          </a:p>
          <a:p>
            <a:pPr lvl="2"/>
            <a:r>
              <a:rPr lang="en-US" altLang="en-US"/>
              <a:t>By using method to convert C (subset) to high-level state machine</a:t>
            </a:r>
          </a:p>
          <a:p>
            <a:pPr lvl="1"/>
            <a:r>
              <a:rPr lang="en-US" altLang="en-US"/>
              <a:t>Additional RTL components</a:t>
            </a:r>
          </a:p>
          <a:p>
            <a:pPr lvl="2"/>
            <a:r>
              <a:rPr lang="en-US" altLang="en-US"/>
              <a:t>Memory: RAM, ROM</a:t>
            </a:r>
          </a:p>
          <a:p>
            <a:pPr lvl="2"/>
            <a:r>
              <a:rPr lang="en-US" altLang="en-US"/>
              <a:t>Queues</a:t>
            </a:r>
          </a:p>
          <a:p>
            <a:pPr lvl="1"/>
            <a:r>
              <a:rPr lang="en-US" altLang="en-US"/>
              <a:t>Hierarchy: A key concept used throughout Chapters 2-5</a:t>
            </a:r>
          </a:p>
          <a:p>
            <a:pPr lvl="1"/>
            <a:endParaRPr lang="en-US" altLang="en-US"/>
          </a:p>
          <a:p>
            <a:pPr lvl="1"/>
            <a:endParaRPr lang="en-US" altLang="en-US"/>
          </a:p>
        </p:txBody>
      </p:sp>
    </p:spTree>
  </p:cSld>
  <p:clrMapOvr>
    <a:masterClrMapping/>
  </p:clrMapOvr>
</p:sld>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0000FF"/>
      </a:accent1>
      <a:accent2>
        <a:srgbClr val="FF0000"/>
      </a:accent2>
      <a:accent3>
        <a:srgbClr val="FFFFFF"/>
      </a:accent3>
      <a:accent4>
        <a:srgbClr val="000000"/>
      </a:accent4>
      <a:accent5>
        <a:srgbClr val="AAAAFF"/>
      </a:accent5>
      <a:accent6>
        <a:srgbClr val="E70000"/>
      </a:accent6>
      <a:hlink>
        <a:srgbClr val="CC00CC"/>
      </a:hlink>
      <a:folHlink>
        <a:srgbClr val="B2B2B2"/>
      </a:folHlink>
    </a:clrScheme>
    <a:fontScheme name="Default Design">
      <a:majorFont>
        <a:latin typeface="Arial Narrow"/>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16527</TotalTime>
  <Words>11547</Words>
  <Application>Microsoft Office PowerPoint</Application>
  <PresentationFormat>On-screen Show (4:3)</PresentationFormat>
  <Paragraphs>3552</Paragraphs>
  <Slides>94</Slides>
  <Notes>44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94</vt:i4>
      </vt:variant>
    </vt:vector>
  </HeadingPairs>
  <TitlesOfParts>
    <vt:vector size="102" baseType="lpstr">
      <vt:lpstr>Times New Roman</vt:lpstr>
      <vt:lpstr>Arial Narrow</vt:lpstr>
      <vt:lpstr>Arial</vt:lpstr>
      <vt:lpstr>Myriad Roman</vt:lpstr>
      <vt:lpstr>Tahoma</vt:lpstr>
      <vt:lpstr>Symbol</vt:lpstr>
      <vt:lpstr>Wingdings</vt:lpstr>
      <vt:lpstr>Default Design</vt:lpstr>
      <vt:lpstr>Digital Design</vt:lpstr>
      <vt:lpstr>Introduction</vt:lpstr>
      <vt:lpstr>RTL Design: Capture Behavior, Convert to Circuit</vt:lpstr>
      <vt:lpstr>RTL Design Method</vt:lpstr>
      <vt:lpstr>RTL Design Method: “Preview” Example</vt:lpstr>
      <vt:lpstr>Preview Example: Step 1 -- Capture High-Level State Machine</vt:lpstr>
      <vt:lpstr>Preview Example:  Step 2 -- Create Datapath</vt:lpstr>
      <vt:lpstr>Preview Example:  Step 3 –  Connect Datapath to a Controller</vt:lpstr>
      <vt:lpstr>Preview Example: Step 4 – Derive the Controller’s FSM</vt:lpstr>
      <vt:lpstr>Preview Example: Completing the Design</vt:lpstr>
      <vt:lpstr>Step 1: Create a High-Level State Machine</vt:lpstr>
      <vt:lpstr>Step 1 Example: Laser-Based Distance Measurer</vt:lpstr>
      <vt:lpstr>Step 1 Example: Laser-Based Distance Measurer</vt:lpstr>
      <vt:lpstr>Step 1 Example: Laser-Based Distance Measurer</vt:lpstr>
      <vt:lpstr>Step 1 Example: Laser-Based Distance Measurer</vt:lpstr>
      <vt:lpstr>Step 1 Example: Laser-Based Distance Measurer</vt:lpstr>
      <vt:lpstr>Step 1 Example: Laser-Based Distance Measurer</vt:lpstr>
      <vt:lpstr>Step 1 Example: Laser-Based Distance Measurer</vt:lpstr>
      <vt:lpstr>Step 2: Create a Datapath</vt:lpstr>
      <vt:lpstr>Step 2 Example: Laser-Based Distance Measurer</vt:lpstr>
      <vt:lpstr>Step 2 Example: Laser-Based Distance Measurer</vt:lpstr>
      <vt:lpstr>Step 2 Example Showing Mux Use</vt:lpstr>
      <vt:lpstr>Step 3: Connecting the Datapath to a Controller</vt:lpstr>
      <vt:lpstr>Step 4: Deriving the Controller’s FSM</vt:lpstr>
      <vt:lpstr>Step 4: Deriving the Controller’s FSM</vt:lpstr>
      <vt:lpstr>Step 4</vt:lpstr>
      <vt:lpstr>RTL Design Examples and Issues</vt:lpstr>
      <vt:lpstr>RTL Example: Bus Interface</vt:lpstr>
      <vt:lpstr>RTL Example: Bus Interface</vt:lpstr>
      <vt:lpstr>RTL Example: Bus Interface</vt:lpstr>
      <vt:lpstr>RTL Example: Bus Interface</vt:lpstr>
      <vt:lpstr>RTL Example: Video Compression – Sum of Absolute Differences</vt:lpstr>
      <vt:lpstr>RTL Example: Video Compression – Sum of Absolute Differences</vt:lpstr>
      <vt:lpstr>RTL Example: Video Compression – Sum of Absolute Differences</vt:lpstr>
      <vt:lpstr>RTL Example: Video Compression – Sum of Absolute Differences</vt:lpstr>
      <vt:lpstr>RTL Example: Video Compression – Sum of Absolute Differences</vt:lpstr>
      <vt:lpstr>RTL Example: Video Compression – Sum of Absolute Differences</vt:lpstr>
      <vt:lpstr>RTL Example: Video Compression – Sum of Absolute Differences</vt:lpstr>
      <vt:lpstr>RTL Design Pitfalls and Good Practice</vt:lpstr>
      <vt:lpstr>RTL Design Pitfalls and Good Practice</vt:lpstr>
      <vt:lpstr>RTL Design Pitfalls and Good Practice</vt:lpstr>
      <vt:lpstr>RTL Design Pitfalls and Good Practice</vt:lpstr>
      <vt:lpstr>Control vs. Data Dominated RTL Design</vt:lpstr>
      <vt:lpstr>Data Dominated RTL Design Example: FIR Filter</vt:lpstr>
      <vt:lpstr>Data Dominated RTL Design Example: FIR Filter</vt:lpstr>
      <vt:lpstr>Data Dominated RTL Design Example: FIR Filter</vt:lpstr>
      <vt:lpstr>Data Dominated RTL Design Example: FIR Filter</vt:lpstr>
      <vt:lpstr>Data Dominated RTL Design Example: FIR Filter</vt:lpstr>
      <vt:lpstr>Data Dominated RTL Design Example: FIR Filter</vt:lpstr>
      <vt:lpstr>Data Dominated RTL Design Example: FIR Filter</vt:lpstr>
      <vt:lpstr>Determining Clock Frequency</vt:lpstr>
      <vt:lpstr>Critical Path</vt:lpstr>
      <vt:lpstr>Critical Path Considering Wire Delays</vt:lpstr>
      <vt:lpstr>A Circuit May Have Numerous Paths</vt:lpstr>
      <vt:lpstr>Behavioral Level Design: C to Gates</vt:lpstr>
      <vt:lpstr>Behavioral-Level Design: Start with C (or Similar Language)</vt:lpstr>
      <vt:lpstr>Converting from C to High-Level State Machine</vt:lpstr>
      <vt:lpstr>Converting from C to High-Level State Machine</vt:lpstr>
      <vt:lpstr>Simple Example of Converting from C to High-Level State Machine</vt:lpstr>
      <vt:lpstr>Example: Converting Sum-of-Absolute-Differences C code to High-Level State Machine</vt:lpstr>
      <vt:lpstr>Memory Components</vt:lpstr>
      <vt:lpstr>Random Access Memory (RAM)</vt:lpstr>
      <vt:lpstr>RAM Internal Structure</vt:lpstr>
      <vt:lpstr>Static RAM (SRAM)</vt:lpstr>
      <vt:lpstr>Static RAM (SRAM)</vt:lpstr>
      <vt:lpstr>Dynamic RAM (DRAM)</vt:lpstr>
      <vt:lpstr>Comparing Memory Types</vt:lpstr>
      <vt:lpstr>Reading and Writing a RAM</vt:lpstr>
      <vt:lpstr>RAM Example: Digital Sound Recorder</vt:lpstr>
      <vt:lpstr>RAM Example: Digital Sound Recorder</vt:lpstr>
      <vt:lpstr>RAM Example: Digital Sound Recorder</vt:lpstr>
      <vt:lpstr>Read-Only Memory – ROM</vt:lpstr>
      <vt:lpstr>Read-Only Memory – ROM</vt:lpstr>
      <vt:lpstr>ROM Types</vt:lpstr>
      <vt:lpstr>ROM Types</vt:lpstr>
      <vt:lpstr>ROM Types</vt:lpstr>
      <vt:lpstr>ROM Types</vt:lpstr>
      <vt:lpstr>ROM Example: Talking Doll</vt:lpstr>
      <vt:lpstr>ROM Example: Talking Doll</vt:lpstr>
      <vt:lpstr>ROM Example: Digital Telephone Answering Machine Using a Flash Memory</vt:lpstr>
      <vt:lpstr>ROM Example: Digital Telephone Answering Machine Using a Flash Memory</vt:lpstr>
      <vt:lpstr>Blurring of Distinction Between ROM and RAM</vt:lpstr>
      <vt:lpstr>Queues</vt:lpstr>
      <vt:lpstr>Queues</vt:lpstr>
      <vt:lpstr>Queues</vt:lpstr>
      <vt:lpstr>Queue Implementation</vt:lpstr>
      <vt:lpstr>Common Uses of a Queue</vt:lpstr>
      <vt:lpstr>Queue Usage Example</vt:lpstr>
      <vt:lpstr>Hierarchy – A Key Design Concept</vt:lpstr>
      <vt:lpstr>Hierarchy and Abstraction</vt:lpstr>
      <vt:lpstr>Hierarchy and Composing Larger Components from Smaller Versions</vt:lpstr>
      <vt:lpstr>Hierarchy and Composing Larger Components from Smaller Versions</vt:lpstr>
      <vt:lpstr>Hierarchy and Composing Larger Components from Smaller Versions</vt:lpstr>
      <vt:lpstr>Chapter Summary</vt:lpstr>
    </vt:vector>
  </TitlesOfParts>
  <Company>University of California, COE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Design</dc:title>
  <dc:creator>Frank Vahid</dc:creator>
  <cp:lastModifiedBy>Dr.AhmedSaeed</cp:lastModifiedBy>
  <cp:revision>1169</cp:revision>
  <dcterms:created xsi:type="dcterms:W3CDTF">2005-09-03T16:33:34Z</dcterms:created>
  <dcterms:modified xsi:type="dcterms:W3CDTF">2017-04-07T04:39:17Z</dcterms:modified>
</cp:coreProperties>
</file>